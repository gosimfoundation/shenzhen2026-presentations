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rts/chart1.xml" ContentType="application/vnd.openxmlformats-officedocument.drawingml.chart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rts/chart2.xml" ContentType="application/vnd.openxmlformats-officedocument.drawingml.chart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53"/>
  </p:notesMasterIdLst>
  <p:sldIdLst>
    <p:sldId id="306" r:id="rId3"/>
    <p:sldId id="307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328" r:id="rId25"/>
    <p:sldId id="329" r:id="rId26"/>
    <p:sldId id="330" r:id="rId27"/>
    <p:sldId id="331" r:id="rId28"/>
    <p:sldId id="332" r:id="rId29"/>
    <p:sldId id="333" r:id="rId30"/>
    <p:sldId id="334" r:id="rId31"/>
    <p:sldId id="335" r:id="rId32"/>
    <p:sldId id="336" r:id="rId33"/>
    <p:sldId id="337" r:id="rId34"/>
    <p:sldId id="338" r:id="rId35"/>
    <p:sldId id="339" r:id="rId36"/>
    <p:sldId id="340" r:id="rId37"/>
    <p:sldId id="341" r:id="rId38"/>
    <p:sldId id="342" r:id="rId39"/>
    <p:sldId id="343" r:id="rId40"/>
    <p:sldId id="344" r:id="rId41"/>
    <p:sldId id="345" r:id="rId42"/>
    <p:sldId id="346" r:id="rId43"/>
    <p:sldId id="347" r:id="rId44"/>
    <p:sldId id="348" r:id="rId45"/>
    <p:sldId id="349" r:id="rId46"/>
    <p:sldId id="350" r:id="rId47"/>
    <p:sldId id="351" r:id="rId48"/>
    <p:sldId id="352" r:id="rId49"/>
    <p:sldId id="353" r:id="rId50"/>
    <p:sldId id="354" r:id="rId51"/>
    <p:sldId id="355" r:id="rId5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62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缓存命中率</c:f>
              <c:strCache>
                <c:ptCount val="1"/>
                <c:pt idx="0">
                  <c:v>缓存命中率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C18523"/>
              </a:solidFill>
            </c:spPr>
            <c:extLst>
              <c:ext xmlns:c16="http://schemas.microsoft.com/office/drawing/2014/chart" uri="{C3380CC4-5D6E-409C-BE32-E72D297353CC}">
                <c16:uniqueId val="{00000001-6803-4BBE-AD03-6D9BF1C3D8BF}"/>
              </c:ext>
            </c:extLst>
          </c:dPt>
          <c:dPt>
            <c:idx val="1"/>
            <c:invertIfNegative val="0"/>
            <c:bubble3D val="0"/>
            <c:spPr>
              <a:solidFill>
                <a:srgbClr val="3265A0"/>
              </a:solidFill>
            </c:spPr>
            <c:extLst>
              <c:ext xmlns:c16="http://schemas.microsoft.com/office/drawing/2014/chart" uri="{C3380CC4-5D6E-409C-BE32-E72D297353CC}">
                <c16:uniqueId val="{00000003-6803-4BBE-AD03-6D9BF1C3D8B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本地缓存基线</c:v>
                </c:pt>
                <c:pt idx="1">
                  <c:v>Mooncake Store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1.7000000000000001E-2</c:v>
                </c:pt>
                <c:pt idx="1">
                  <c:v>0.92200000000000004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03-4BBE-AD03-6D9BF1C3D8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8E2ED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725" b="0" i="0" u="none" strike="noStrike" kern="1200" baseline="0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8E2ED"/>
              </a:solidFill>
              <a:prstDash val="solid"/>
              <a:round/>
            </a:ln>
          </c:spPr>
        </c:majorGridlines>
        <c:numFmt formatCode="0.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575" b="0" i="0" u="none" strike="noStrike" kern="1200" baseline="0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  <a:endParaRPr lang="zh-CN"/>
          </a:p>
        </c:txPr>
        <c:crossAx val="48650112"/>
        <c:crosses val="autoZero"/>
        <c:crossBetween val="between"/>
        <c:majorUnit val="0.2"/>
      </c:valAx>
      <c:spPr>
        <a:noFill/>
      </c:spPr>
    </c:plotArea>
    <c:plotVisOnly val="1"/>
    <c:dispBlanksAs val="gap"/>
    <c:showDLblsOverMax val="0"/>
    <c:extLst>
      <c:ext uri="{0b15fc19-7d7d-44ad-8c2d-2c3a37ce22c3}">
        <chartProps xmlns="https://web.wps.cn/et/2018/main" chartId="{c42be192-9306-401e-a67a-d0c8e18d8ed0}"/>
      </c:ext>
    </c:extLst>
  </c:chart>
  <c:spPr>
    <a:noFill/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Baseline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C18523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首轮 p95</c:v>
                </c:pt>
                <c:pt idx="1">
                  <c:v>后续轮 p95</c:v>
                </c:pt>
              </c:strCache>
            </c:strRef>
          </c:cat>
          <c:val>
            <c:numRef>
              <c:f>'Chart Data'!$B$2:$B$3</c:f>
              <c:numCache>
                <c:formatCode>0" ms"</c:formatCode>
                <c:ptCount val="2"/>
                <c:pt idx="0">
                  <c:v>5295</c:v>
                </c:pt>
                <c:pt idx="1">
                  <c:v>4909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D4-4C27-BC42-082C575BDEF3}"/>
            </c:ext>
          </c:extLst>
        </c:ser>
        <c:ser>
          <c:idx val="1"/>
          <c:order val="1"/>
          <c:tx>
            <c:strRef>
              <c:f>Mooncake</c:f>
              <c:strCache>
                <c:ptCount val="1"/>
                <c:pt idx="0">
                  <c:v>Mooncake</c:v>
                </c:pt>
              </c:strCache>
            </c:strRef>
          </c:tx>
          <c:spPr>
            <a:solidFill>
              <a:srgbClr val="3265A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首轮 p95</c:v>
                </c:pt>
                <c:pt idx="1">
                  <c:v>后续轮 p95</c:v>
                </c:pt>
              </c:strCache>
            </c:strRef>
          </c:cat>
          <c:val>
            <c:numRef>
              <c:f>'Chart Data'!$D$2:$D$3</c:f>
              <c:numCache>
                <c:formatCode>0" ms"</c:formatCode>
                <c:ptCount val="2"/>
                <c:pt idx="0">
                  <c:v>339</c:v>
                </c:pt>
                <c:pt idx="1">
                  <c:v>770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D4-4C27-BC42-082C575BDE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8E2ED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725" b="0" i="0" u="none" strike="noStrike" kern="1200" baseline="0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6000"/>
          <c:min val="0"/>
        </c:scaling>
        <c:delete val="0"/>
        <c:axPos val="l"/>
        <c:majorGridlines>
          <c:spPr>
            <a:ln w="9525">
              <a:solidFill>
                <a:srgbClr val="D8E2ED"/>
              </a:solidFill>
              <a:prstDash val="solid"/>
              <a:round/>
            </a:ln>
          </c:spPr>
        </c:majorGridlines>
        <c:numFmt formatCode="0&quot; ms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575" b="0" i="0" u="none" strike="noStrike" kern="1200" baseline="0">
                <a:solidFill>
                  <a:srgbClr val="666666"/>
                </a:solidFill>
                <a:latin typeface="Source Han Sans CN"/>
                <a:ea typeface="Source Han Sans CN"/>
                <a:cs typeface="Source Han Sans CN"/>
              </a:defRPr>
            </a:pPr>
            <a:endParaRPr lang="zh-CN"/>
          </a:p>
        </c:txPr>
        <c:crossAx val="48650112"/>
        <c:crosses val="autoZero"/>
        <c:crossBetween val="between"/>
        <c:majorUnit val="2000"/>
      </c:valAx>
      <c:spPr>
        <a:noFill/>
      </c:spPr>
    </c:plotArea>
    <c:legend>
      <c:legendPos val="b"/>
      <c:overlay val="0"/>
      <c:txPr>
        <a:bodyPr rot="0" spcFirstLastPara="0" vertOverflow="ellipsis" vert="horz" wrap="square" anchor="ctr" anchorCtr="1"/>
        <a:lstStyle/>
        <a:p>
          <a:pPr>
            <a:defRPr lang="zh-CN" sz="1425" b="0" i="0" u="none" strike="noStrike" kern="1200" baseline="0">
              <a:solidFill>
                <a:schemeClr val="tx1"/>
              </a:solidFill>
              <a:latin typeface="Source Han Sans CN"/>
              <a:ea typeface="Source Han Sans CN"/>
              <a:cs typeface="Source Han Sans CN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aba76c6-e636-4df2-a86e-f8db5e8b20ce}"/>
      </c:ext>
    </c:extLst>
  </c:chart>
  <c:spPr>
    <a:noFill/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0:00–0:23</a:t>
            </a:r>
          </a:p>
          <a:p>
            <a:endParaRPr/>
          </a:p>
          <a:p>
            <a:r>
              <a:t>这次分享聚焦 Mooncake Store。先介绍项目和生态，再从智能体的多轮调用说明 KVCache 的复用机会，随后进入对象存储、分层缓存和生命周期设计。最后结合 vLLM、SGLang 与 Dynamo 的接入，以及 RL 样本和权重快照，讨论计算与状态解耦后的系统设计。</a:t>
            </a:r>
          </a:p>
          <a:p>
            <a:endParaRPr/>
          </a:p>
          <a:p>
            <a:r>
              <a:t>来源</a:t>
            </a:r>
          </a:p>
          <a:p>
            <a:r>
              <a:t>https://github.com/kvcache-ai/Mooncake</a:t>
            </a:r>
          </a:p>
          <a:p>
            <a:r>
              <a:t>/Users/chris1/Downloads/个人文件/4.14.pptx</a:t>
            </a:r>
          </a:p>
          <a:p>
            <a:r>
              <a:t>/Users/chris1/Downloads/个人文件/Dynamo/5.24.pptx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0:23–0:34</a:t>
            </a:r>
          </a:p>
          <a:p>
            <a:endParaRPr/>
          </a:p>
          <a:p>
            <a:r>
              <a:t>参与单位、软硬件支持与社区影响</a:t>
            </a:r>
          </a:p>
          <a:p>
            <a:endParaRPr/>
          </a:p>
          <a:p>
            <a:r>
              <a:t>来源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0:34–1:13</a:t>
            </a:r>
          </a:p>
          <a:p>
            <a:endParaRPr/>
          </a:p>
          <a:p>
            <a:r>
              <a:t>Mooncake 起源于月之暗面和清华大学围绕 Kimi 推理系统开展的研究。开源项目现在覆盖数据传输、共享对象存储和弹性专家并行。Transfer Engine 和 Store 已接入多个推理与训练框架，应用可以复用数据面，同时保留自己的调度、模型执行和缓存策略。仓库采用 Apache 2.0 许可。GitHub 在 2026 年 10 月 14 日显示 6,783 Stars 和 1,327 Forks。</a:t>
            </a:r>
          </a:p>
          <a:p>
            <a:endParaRPr/>
          </a:p>
          <a:p>
            <a:r>
              <a:t>来源</a:t>
            </a:r>
          </a:p>
          <a:p>
            <a:r>
              <a:t>https://github.com/kvcache-ai/Mooncake</a:t>
            </a:r>
          </a:p>
          <a:p>
            <a:r>
              <a:t>https://pytorch.org/blog/mooncake-joins-pytorch-ecosystem/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1:13–1:52</a:t>
            </a:r>
          </a:p>
          <a:p>
            <a:endParaRPr/>
          </a:p>
          <a:p>
            <a:r>
              <a:t>4.14 材料列出的核心团队包括阿里巴巴、清华大学、趋境科技和月之暗面。合作单位覆盖模型服务、推理框架、云平台与硬件厂商。vLLM 的共享缓存合作还包括 Inferact、蚂蚁、华为和其他社区成员，SGLang Elastic EP 的公开致谢包括火山引擎、京东、阿里云与 NVIDIA Dynamo。这里介绍参与项目建设和技术协作的单位，具体集成分别在后文展开。</a:t>
            </a:r>
          </a:p>
          <a:p>
            <a:endParaRPr/>
          </a:p>
          <a:p>
            <a:r>
              <a:t>来源</a:t>
            </a:r>
          </a:p>
          <a:p>
            <a:r>
              <a:t>/Users/chris1/Downloads/个人文件/4.14.pptx</a:t>
            </a:r>
          </a:p>
          <a:p>
            <a:r>
              <a:t>https://vllm-project.github.io/2026/05/06/mooncake-store.html</a:t>
            </a:r>
          </a:p>
          <a:p>
            <a:r>
              <a:t>https://www.lmsys.org/blog/2026-03-25-eep-partial-failure-tolerance/</a:t>
            </a:r>
          </a:p>
          <a:p>
            <a:r>
              <a:t>https://pytorch.org/blog/mooncake-joins-pytorch-ecosystem/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1:52–2:29</a:t>
            </a:r>
          </a:p>
          <a:p>
            <a:endParaRPr/>
          </a:p>
          <a:p>
            <a:r>
              <a:t>Mooncake 的官方硬件列表涵盖 NVIDIA、华为、AMD、寒武纪、摩尔线程、沐曦、海光、壁仞、平头哥、Sunrise、阿里云和 AWS。适配通过相应的内存识别、注册和传输后端实现。不同设备可用的内存类型、网络协议和构建依赖并不完全相同，下一页按实际传输路径介绍这些差异。</a:t>
            </a:r>
          </a:p>
          <a:p>
            <a:endParaRPr/>
          </a:p>
          <a:p>
            <a:r>
              <a:t>来源</a:t>
            </a:r>
          </a:p>
          <a:p>
            <a:r>
              <a:t>https://github.com/kvcache-ai/Mooncake</a:t>
            </a:r>
          </a:p>
          <a:p>
            <a:r>
              <a:t>https://kvcache-ai.github.io/Mooncake/getting_started/supported-protocols.html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2:29–3:20</a:t>
            </a:r>
          </a:p>
          <a:p>
            <a:endParaRPr/>
          </a:p>
          <a:p>
            <a:r>
              <a:t>Transfer Engine 为上层提供统一的批量传输接口，底层根据内存位置和可用设备执行数据移动。RDMA 路径可以结合多张网卡，NVLink 路径覆盖对应的 NVIDIA 互连环境。昇腾、海光和其他加速器通过各自运行时接入。这里的支持指对应后端已有接口或实现，实际部署需要选用匹配硬件的构建。TENT 的 EFA/FABRIC 当前以 DRAM 路径为主，TPU 后端仍属实验性支持。</a:t>
            </a:r>
          </a:p>
          <a:p>
            <a:endParaRPr/>
          </a:p>
          <a:p>
            <a:r>
              <a:t>来源</a:t>
            </a:r>
          </a:p>
          <a:p>
            <a:r>
              <a:t>https://kvcache-ai.github.io/Mooncake/getting_started/supported-protocols.html</a:t>
            </a:r>
          </a:p>
          <a:p>
            <a:r>
              <a:t>https://github.com/kvcache-ai/Mooncake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3:20–4:14</a:t>
            </a:r>
          </a:p>
          <a:p>
            <a:endParaRPr/>
          </a:p>
          <a:p>
            <a:r>
              <a:t>生态接入分为不同层次。vLLM 和 SGLang 直接调用 Mooncake 的传输和存储接口，Dynamo 在路由层使用缓存事件，也可以通过 NIXL 连接 Mooncake 传输后端。TensorRT-LLM、LMDeploy 等框架提供各自的 connector。选择接口时要对应具体用途：PD 直传、跨实例缓存共享、Omni 中间张量或弹性 EP。Dynamo 的原生 G4 Store 后端仍在开放 PR 中。</a:t>
            </a:r>
          </a:p>
          <a:p>
            <a:endParaRPr/>
          </a:p>
          <a:p>
            <a:r>
              <a:t>来源</a:t>
            </a:r>
          </a:p>
          <a:p>
            <a:r>
              <a:t>https://github.com/kvcache-ai/Mooncake</a:t>
            </a:r>
          </a:p>
          <a:p>
            <a:r>
              <a:t>/Users/chris1/Downloads/个人文件/Dynamo/5.24.pptx</a:t>
            </a:r>
          </a:p>
          <a:p>
            <a:r>
              <a:t>https://docs.dynamo.nvidia.com/dynamo/v1.5.1/knowledge-base/modular-components/backends/sg-lang/hi-cache</a:t>
            </a:r>
          </a:p>
          <a:p>
            <a:r>
              <a:t>https://github.com/ai-dynamo/dynamo/pull/9786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4:14–5:01</a:t>
            </a:r>
          </a:p>
          <a:p>
            <a:endParaRPr/>
          </a:p>
          <a:p>
            <a:r>
              <a:t>训练侧需要的不只是传输一块连续张量。Rollout 具有变长样本、按字段读取和多消费者交接，权重同步还涉及分片布局与版本切换。Miles、TransferQueue 和 TorchSpec 分别覆盖这些需求中的不同部分。LMCache 与 FlexKV 复用 Mooncake 的存储或传输能力，但保留自己的缓存管理。ROLL 的既有协作和新 DataProto 后端设计也在持续推进，新后端方案仍是 RFC。</a:t>
            </a:r>
          </a:p>
          <a:p>
            <a:endParaRPr/>
          </a:p>
          <a:p>
            <a:r>
              <a:t>来源</a:t>
            </a:r>
          </a:p>
          <a:p>
            <a:r>
              <a:t>https://github.com/kvcache-ai/Mooncake</a:t>
            </a:r>
          </a:p>
          <a:p>
            <a:r>
              <a:t>/Users/chris1/Downloads/个人文件/Dynamo/5.24.pptx</a:t>
            </a:r>
          </a:p>
          <a:p>
            <a:r>
              <a:t>https://github.com/MoonshotAI/checkpoint-engine</a:t>
            </a:r>
          </a:p>
          <a:p>
            <a:r>
              <a:t>https://pytorch.org/blog/torchspec-speculative-decoding-training-at-scale/</a:t>
            </a:r>
          </a:p>
          <a:p>
            <a:r>
              <a:t>https://kvcache.ai/blog/mooncake-rl-rollout-data-transfer/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5:01–5:43</a:t>
            </a:r>
          </a:p>
          <a:p>
            <a:endParaRPr/>
          </a:p>
          <a:p>
            <a:r>
              <a:t>Mooncake 的 KVCache-centric 解耦架构获得 FAST 2025 最佳论文。Transfer Engine 在 2024 年开源，Store 在 2025 年开源，随后与 vLLM、SGLang 和缓存中间件共同扩展到 PD 分离、共享 KVCache 和训练数据交接。2026 年 2 月，Mooncake 加入 PyTorch Ecosystem。工程影响体现在多个框架提供正式接口和案例，也体现在开源的生产 traces 为其他调度与推理研究提供负载。</a:t>
            </a:r>
          </a:p>
          <a:p>
            <a:endParaRPr/>
          </a:p>
          <a:p>
            <a:r>
              <a:t>来源</a:t>
            </a:r>
          </a:p>
          <a:p>
            <a:r>
              <a:t>https://www.usenix.org/conference/fast25/presentation/qin</a:t>
            </a:r>
          </a:p>
          <a:p>
            <a:r>
              <a:t>https://pytorch.org/blog/mooncake-joins-pytorch-ecosystem/</a:t>
            </a:r>
          </a:p>
          <a:p>
            <a:r>
              <a:t>https://github.com/kvcache-ai/Mooncake</a:t>
            </a:r>
          </a:p>
          <a:p>
            <a:r>
              <a:t>/Users/chris1/Downloads/个人文件/Dynamo/5.24.pptx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5:43–6:39</a:t>
            </a:r>
          </a:p>
          <a:p>
            <a:endParaRPr/>
          </a:p>
          <a:p>
            <a:r>
              <a:t>Transfer Engine 提供跨网络、跨内存类型的数据传输接口。Store 在它上面增加对象命名、分配、共享和生命周期管理。右侧 EP 服务专家并行。对 RL，Store 用于保存结构化 rollout 对象，Transfer Engine 用于权重的 P2P 传输。</a:t>
            </a:r>
          </a:p>
          <a:p>
            <a:endParaRPr/>
          </a:p>
          <a:p>
            <a:r>
              <a:t>来源</a:t>
            </a:r>
          </a:p>
          <a:p>
            <a:r>
              <a:t>Mooncake-Ke-2.pptx 第4页，原图</a:t>
            </a:r>
          </a:p>
          <a:p>
            <a:r>
              <a:t>Mooncake_A2M2026.pptx 第5、12页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6:39–7:26</a:t>
            </a:r>
          </a:p>
          <a:p>
            <a:endParaRPr/>
          </a:p>
          <a:p>
            <a:r>
              <a:t>解耦带来资源调度自由，也增加了阶段之间的数据交接。KVCache、rollout 和权重虽然都是张量，却有不同的访问方式和生命周期。缓存主要按前缀复用，样本需要保留行边界与字段，权重需要处理目标并行布局和版本。高效的数据面要适配这些语义，减少序列化、分配、注册和中间拷贝带来的等待。</a:t>
            </a:r>
          </a:p>
          <a:p>
            <a:endParaRPr/>
          </a:p>
          <a:p>
            <a:r>
              <a:t>来源</a:t>
            </a:r>
          </a:p>
          <a:p>
            <a:r>
              <a:t>https://github.com/kvcache-ai/Mooncake</a:t>
            </a:r>
          </a:p>
          <a:p>
            <a:r>
              <a:t>https://kvcache.ai/blog/mooncake-rl-rollout-data-transfer/</a:t>
            </a:r>
          </a:p>
          <a:p>
            <a:r>
              <a:t>https://www.lmsys.org/blog/2026-04-29-p2p-update/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7:26–7:37</a:t>
            </a:r>
          </a:p>
          <a:p>
            <a:endParaRPr/>
          </a:p>
          <a:p>
            <a:r>
              <a:t>缓存复用、跨实例访问与版本隔离</a:t>
            </a:r>
          </a:p>
          <a:p>
            <a:endParaRPr/>
          </a:p>
          <a:p>
            <a:r>
              <a:t>来源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7:37–8:28</a:t>
            </a:r>
          </a:p>
          <a:p>
            <a:endParaRPr/>
          </a:p>
          <a:p>
            <a:r>
              <a:t>vLLM 团队分析了 610 条 Codex / SWE-bench Pro 轨迹，轮数中位数为 33。到第 30 轮，上下文约为 80K tokens，而每轮只增加少量新输入和输出。输入输出比达到 131 比 1，说明重复处理历史上下文占据很大比例。接下来的问题是如何让这些前缀在容量受限、任务迁移和多实例调度时仍然可用。</a:t>
            </a:r>
          </a:p>
          <a:p>
            <a:endParaRPr/>
          </a:p>
          <a:p>
            <a:r>
              <a:t>来源</a:t>
            </a:r>
          </a:p>
          <a:p>
            <a:r>
              <a:t>https://vllm-project.github.io/2026/05/06/mooncake-store.html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8:28–9:15</a:t>
            </a:r>
          </a:p>
          <a:p>
            <a:endParaRPr/>
          </a:p>
          <a:p>
            <a:r>
              <a:t>多轮对话和工具调用会反复使用相同前缀。Rollout 依赖推理服务，复用 KVCache 可以减少重复 prefill。SGLang HiCache 与 Mooncake Store 把缓存放到 HBM、DRAM 和 SSD 等层次，扩大可复用容量。权重更新后，缓存需要按模型版本隔离或失效，具体由推理框架处理。</a:t>
            </a:r>
          </a:p>
          <a:p>
            <a:endParaRPr/>
          </a:p>
          <a:p>
            <a:r>
              <a:t>来源</a:t>
            </a:r>
          </a:p>
          <a:p>
            <a:r>
              <a:t>Mooncake多Agent场景下KVCache调度与复用.key「共享 KVCache」「动态分层」页</a:t>
            </a:r>
          </a:p>
          <a:p>
            <a:r>
              <a:t>Mooncake_A2M2026.pptx 第14页，原图</a:t>
            </a:r>
          </a:p>
          <a:p>
            <a:r>
              <a:t>https://github.com/radixark/miles/blob/e2a5a3e59235cf48314dcdd8be44636cbc7f7c71/docs/user-guide/fully-async.md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9:15–10:06</a:t>
            </a:r>
          </a:p>
          <a:p>
            <a:endParaRPr/>
          </a:p>
          <a:p>
            <a:r>
              <a:t>智能体调用通常在推理和工具执行之间交替。工具执行期间，GPU 可以服务其他任务，但历史 KVCache 仍可能在下一轮被使用。只放在本机内存会受到容量与实例调度的双重限制。共享池扩大可复用范围，版本隔离则保证取回的状态与当前模型和布局一致。共享缓存的容量、写入时机和路由策略需要共同设计。</a:t>
            </a:r>
          </a:p>
          <a:p>
            <a:endParaRPr/>
          </a:p>
          <a:p>
            <a:r>
              <a:t>来源</a:t>
            </a:r>
          </a:p>
          <a:p>
            <a:r>
              <a:t>https://vllm-project.github.io/2026/05/06/mooncake-store.html</a:t>
            </a:r>
          </a:p>
          <a:p>
            <a:r>
              <a:t>https://kvcache-ai.github.io/Mooncake/design/hicache-design.html</a:t>
            </a:r>
          </a:p>
          <a:p>
            <a:r>
              <a:t>https://kvcache-ai.github.io/Mooncake/design/store/mooncake-store.html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10:06–10:17</a:t>
            </a:r>
          </a:p>
          <a:p>
            <a:endParaRPr/>
          </a:p>
          <a:p>
            <a:r>
              <a:t>读写路径、副本、回收与恢复</a:t>
            </a:r>
          </a:p>
          <a:p>
            <a:endParaRPr/>
          </a:p>
          <a:p>
            <a:r>
              <a:t>来源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10:17–11:18</a:t>
            </a:r>
          </a:p>
          <a:p>
            <a:endParaRPr/>
          </a:p>
          <a:p>
            <a:r>
              <a:t>Store 中的 Client 有两个角色：应用通过它访问对象，它也可以贡献本地内存作为资源池的一部分。global_segment_size 为零时，可以只作为访问端。Master 处理资源注册、对象分配与副本位置，较大的数据不经过 Master。Client 既可以嵌入推理进程，也可以通过独立 Store 服务把存储生命周期与推理实例分开。</a:t>
            </a:r>
          </a:p>
          <a:p>
            <a:endParaRPr/>
          </a:p>
          <a:p>
            <a:r>
              <a:t>来源</a:t>
            </a:r>
          </a:p>
          <a:p>
            <a:r>
              <a:t>/Users/chris1/Downloads/个人文件/4.14.pptx</a:t>
            </a:r>
          </a:p>
          <a:p>
            <a:r>
              <a:t>https://kvcache-ai.github.io/Mooncake/design/store/mooncake-store.html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11:18–12:19</a:t>
            </a:r>
          </a:p>
          <a:p>
            <a:endParaRPr/>
          </a:p>
          <a:p>
            <a:r>
              <a:t>应用提交 key、payload 和副本策略。Master 先分配资源并返回目标位置，客户端再调用 Transfer Engine 执行数据传输。写入完成后提交对象状态，读者只使用已完成的副本。把元数据分配和数据移动拆开，可以避免所有 payload 都经过中心节点。对大批量样本或 KV blocks，批量 API 还能减少 RPC 和任务提交开销。</a:t>
            </a:r>
          </a:p>
          <a:p>
            <a:endParaRPr/>
          </a:p>
          <a:p>
            <a:r>
              <a:t>来源</a:t>
            </a:r>
          </a:p>
          <a:p>
            <a:r>
              <a:t>https://kvcache-ai.github.io/Mooncake/design/store/mooncake-store.html</a:t>
            </a:r>
          </a:p>
          <a:p>
            <a:r>
              <a:t>https://kvcache-ai.github.io/Mooncake/api-reference/python/mooncake-store.html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12:19–13:15</a:t>
            </a:r>
          </a:p>
          <a:p>
            <a:endParaRPr/>
          </a:p>
          <a:p>
            <a:r>
              <a:t>Get 的第一步是获得副本信息，随后由客户端选择合适的读取路径。读取期间需要保证源对象和目标缓冲区都有效，因此传输完成、租约与对象回收必须配合。主机内存、GPU 目标和 SSD 回读并不具有完全相同的数据路径。应用最终关心的是数据已经可供计算使用，而不只是请求已经提交。</a:t>
            </a:r>
          </a:p>
          <a:p>
            <a:endParaRPr/>
          </a:p>
          <a:p>
            <a:r>
              <a:t>来源</a:t>
            </a:r>
          </a:p>
          <a:p>
            <a:r>
              <a:t>https://kvcache-ai.github.io/Mooncake/design/store/mooncake-store.html</a:t>
            </a:r>
          </a:p>
          <a:p>
            <a:r>
              <a:t>https://kvcache-ai.github.io/Mooncake/api-reference/python/mooncake-store.html</a:t>
            </a:r>
          </a:p>
          <a:p>
            <a:r>
              <a:t>https://kvcache-ai.github.io/Mooncake/design/store/ssd-offload.html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13:15–14:06</a:t>
            </a:r>
          </a:p>
          <a:p>
            <a:endParaRPr/>
          </a:p>
          <a:p>
            <a:r>
              <a:t>简单接口适合接入验证，批量接口适合大量小块或多个样本同时交接。零拷贝形式允许调用者提供缓冲区，避免额外的对象序列化和临时内存。Multi-parts 或 slices 用于表达分散的数据布局。接口选择要和上层实际张量布局对应，同时维护缓冲区的注册和有效期。具体可用形式以当前语言绑定为准。</a:t>
            </a:r>
          </a:p>
          <a:p>
            <a:endParaRPr/>
          </a:p>
          <a:p>
            <a:r>
              <a:t>来源</a:t>
            </a:r>
          </a:p>
          <a:p>
            <a:r>
              <a:t>/Users/chris1/Downloads/个人文件/4.14.pptx</a:t>
            </a:r>
          </a:p>
          <a:p>
            <a:r>
              <a:t>https://kvcache-ai.github.io/Mooncake/api-reference/python/mooncake-store.html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14:06–14:57</a:t>
            </a:r>
          </a:p>
          <a:p>
            <a:endParaRPr/>
          </a:p>
          <a:p>
            <a:r>
              <a:t>同一套对象接口可以表达不同策略。热点前缀可以增加副本，减少所有读者竞争同一位置。preferred segment 为调度和拓扑优化提供放置提示。soft pin 和 hard pin 对应不同的保留强度。它们都需要与容量和对象生命周期配合，pin 并不意味着 GPU 驻留，也不保证一次传输已经完成。</a:t>
            </a:r>
          </a:p>
          <a:p>
            <a:endParaRPr/>
          </a:p>
          <a:p>
            <a:r>
              <a:t>来源</a:t>
            </a:r>
          </a:p>
          <a:p>
            <a:r>
              <a:t>https://kvcache-ai.github.io/Mooncake/design/store/mooncake-store.html</a:t>
            </a:r>
          </a:p>
          <a:p>
            <a:r>
              <a:t>https://kvcache-ai.github.io/Mooncake/api-reference/python/mooncake-store.html</a:t>
            </a:r>
          </a:p>
          <a:p>
            <a:r>
              <a:t>https://github.com/kvcache-ai/Mooncake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14:57–15:53</a:t>
            </a:r>
          </a:p>
          <a:p>
            <a:endParaRPr/>
          </a:p>
          <a:p>
            <a:r>
              <a:t>Store 提供对象级的机制，框架保留业务语义。对于 KVCache，key 通常来自 token 前缀和兼容身份；对于 rollout 或权重，key 可能对应样本与版本。对象失效或淘汰后，上层需要选择重新计算或重新生产。把这些责任明确分开，有利于复用 Store，同时避免把应用侧版本正确性交给通用传输层处理。</a:t>
            </a:r>
          </a:p>
          <a:p>
            <a:endParaRPr/>
          </a:p>
          <a:p>
            <a:r>
              <a:t>来源</a:t>
            </a:r>
          </a:p>
          <a:p>
            <a:r>
              <a:t>https://kvcache-ai.github.io/Mooncake/design/store/mooncake-store.html</a:t>
            </a:r>
          </a:p>
          <a:p>
            <a:r>
              <a:t>https://kvcache-ai.github.io/Mooncake/api-reference/python/mooncake-store.html</a:t>
            </a:r>
          </a:p>
          <a:p>
            <a:r>
              <a:t>https://kvcache-ai.github.io/Mooncake/design/hicache-design.html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15:53–16:49</a:t>
            </a:r>
          </a:p>
          <a:p>
            <a:endParaRPr/>
          </a:p>
          <a:p>
            <a:r>
              <a:t>这里把系统层级和 Store 本身区分开。GPU HBM 主要由推理引擎管理，HiCache 或 connector 连接主机缓存与外部 Store。Mooncake 可以聚合主机 DRAM，也支持 SSD offload。更慢的一层只有在取回代价小于重算代价、并且数据还会被复用时才有价值。框架的预取可以将部分取回时间与计算重叠。</a:t>
            </a:r>
          </a:p>
          <a:p>
            <a:endParaRPr/>
          </a:p>
          <a:p>
            <a:r>
              <a:t>来源</a:t>
            </a:r>
          </a:p>
          <a:p>
            <a:r>
              <a:t>/Users/chris1/Downloads/个人文件/4.14.pptx</a:t>
            </a:r>
          </a:p>
          <a:p>
            <a:r>
              <a:t>https://kvcache-ai.github.io/Mooncake/design/store/mooncake-store.html</a:t>
            </a:r>
          </a:p>
          <a:p>
            <a:r>
              <a:t>https://kvcache-ai.github.io/Mooncake/design/store/ssd-offload.html</a:t>
            </a:r>
          </a:p>
          <a:p>
            <a:r>
              <a:t>https://kvcache-ai.github.io/Mooncake/design/hicache-design.html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16:49–17:45</a:t>
            </a:r>
          </a:p>
          <a:p>
            <a:endParaRPr/>
          </a:p>
          <a:p>
            <a:r>
              <a:t>SSD offload 在 real client 中运行。Master 选择需要下沉的对象，客户端写盘成功后提交副本元数据。读请求没有可用内存副本时，可以找到对应磁盘副本。远端回读先由持有 SSD 的进程准备缓冲区，再通过 Transfer Engine 发送。Bucket 合并减少小文件开销，容量限制和水位控制负责回收磁盘空间。</a:t>
            </a:r>
          </a:p>
          <a:p>
            <a:endParaRPr/>
          </a:p>
          <a:p>
            <a:r>
              <a:t>来源</a:t>
            </a:r>
          </a:p>
          <a:p>
            <a:r>
              <a:t>https://kvcache-ai.github.io/Mooncake/design/store/ssd-offload.html</a:t>
            </a:r>
          </a:p>
          <a:p>
            <a:r>
              <a:t>https://kvcache-ai.github.io/Mooncake/design/store/mooncake-store.html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17:45–18:41</a:t>
            </a:r>
          </a:p>
          <a:p>
            <a:endParaRPr/>
          </a:p>
          <a:p>
            <a:r>
              <a:t>4.14 材料提出通过批量访问和 3FS 原生 API 改善 DFS 访问。当前主线提供 descriptor-based DFS 的 HF3FS USRBIO adapter：Master 分配共享文件中的范围，客户端按描述符读写。这个新适配器仍属实验性，尚不能套用 Store 一般的 HA、持久性和多租户保证。它适合说明 Mooncake 如何把对象管理与高性能文件系统的数据路径衔接起来。</a:t>
            </a:r>
          </a:p>
          <a:p>
            <a:endParaRPr/>
          </a:p>
          <a:p>
            <a:r>
              <a:t>来源</a:t>
            </a:r>
          </a:p>
          <a:p>
            <a:r>
              <a:t>/Users/chris1/Downloads/个人文件/4.14.pptx</a:t>
            </a:r>
          </a:p>
          <a:p>
            <a:r>
              <a:t>https://kvcache-ai.github.io/Mooncake/getting_started/plugin-usage/3FS-USRBIO-Plugin.html</a:t>
            </a:r>
          </a:p>
          <a:p>
            <a:r>
              <a:t>https://github.com/deepseek-ai/3FS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18:41–19:37</a:t>
            </a:r>
          </a:p>
          <a:p>
            <a:endParaRPr/>
          </a:p>
          <a:p>
            <a:r>
              <a:t>可以根据资源与运维需求选择嵌入式或独立部署。独立 Store 让推理进程重启、升级与缓存资源生命周期解耦。Master HA 需要选主和完整的元数据恢复，新 leader 完成追平后才能提供服务。元数据快照保存索引状态，实际对象数据仍依赖资源节点与副本。KVCache 作为可重算数据，和必须保存的模型权重也应设置不同策略。</a:t>
            </a:r>
          </a:p>
          <a:p>
            <a:endParaRPr/>
          </a:p>
          <a:p>
            <a:r>
              <a:t>来源</a:t>
            </a:r>
          </a:p>
          <a:p>
            <a:r>
              <a:t>https://kvcache-ai.github.io/Mooncake/design/store/mooncake-store.html</a:t>
            </a:r>
          </a:p>
          <a:p>
            <a:r>
              <a:t>https://kvcache-ai.github.io/Mooncake/design/store/ssd-offload.html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19:37–19:48</a:t>
            </a:r>
          </a:p>
          <a:p>
            <a:endParaRPr/>
          </a:p>
          <a:p>
            <a:r>
              <a:t>vLLM、SGLang、Dynamo 和云原生部署</a:t>
            </a:r>
          </a:p>
          <a:p>
            <a:endParaRPr/>
          </a:p>
          <a:p>
            <a:r>
              <a:t>来源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19:48–20:44</a:t>
            </a:r>
          </a:p>
          <a:p>
            <a:endParaRPr/>
          </a:p>
          <a:p>
            <a:r>
              <a:t>调度端按 token block 计算前缀标识并查询 Store，worker 端执行实际加载与写入。不同实例可以复用同一共享池中的缓存。TP、PP 或其他分片场景需要确认所需 shard 都可用，再把连续命中前缀交给推理引擎。MultiConnector 可以组合 PD 传输与 Store 缓存，MooncakeConnector 和 MooncakeStoreConnector 各自承担自己的路径。</a:t>
            </a:r>
          </a:p>
          <a:p>
            <a:endParaRPr/>
          </a:p>
          <a:p>
            <a:r>
              <a:t>来源</a:t>
            </a:r>
          </a:p>
          <a:p>
            <a:r>
              <a:t>/Users/chris1/Downloads/个人文件/Dynamo/5.24.pptx</a:t>
            </a:r>
          </a:p>
          <a:p>
            <a:r>
              <a:t>https://vllm-project.github.io/2026/05/06/mooncake-store.html</a:t>
            </a:r>
          </a:p>
          <a:p>
            <a:r>
              <a:t>https://kvcache-ai.github.io/Mooncake/performance/vllm/vllm-v1-mooncake-store.html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20:44–21:40</a:t>
            </a:r>
          </a:p>
          <a:p>
            <a:endParaRPr/>
          </a:p>
          <a:p>
            <a:r>
              <a:t>这组结果来自 Kimi-2.5 NVFP4 在 12 张 GB200 上的 1P1D 测试，prefill 为 TP4，decode 为 DP8 加 EP。共享池把缓存命中率从 1.7% 提升到 92.2%，同时改善吞吐和延迟。这里的倍数对应这一模型、拓扑和 Codex agentic traces，原因是大段重复前缀不再重新计算。扩容实验使用另外构造的合成多轮负载，两组实验不混用。</a:t>
            </a:r>
          </a:p>
          <a:p>
            <a:endParaRPr/>
          </a:p>
          <a:p>
            <a:r>
              <a:t>来源</a:t>
            </a:r>
          </a:p>
          <a:p>
            <a:r>
              <a:t>/Users/chris1/Downloads/个人文件/Dynamo/5.24.pptx</a:t>
            </a:r>
          </a:p>
          <a:p>
            <a:r>
              <a:t>https://kvcache-ai.github.io/Mooncake/performance/vllm/vllm-v1-mooncake-store.html</a:t>
            </a:r>
          </a:p>
          <a:p>
            <a:r>
              <a:t>https://vllm-project.github.io/2026/05/06/mooncake-store.html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21:40–22:27</a:t>
            </a:r>
          </a:p>
          <a:p>
            <a:endParaRPr/>
          </a:p>
          <a:p>
            <a:r>
              <a:t>扩容测试使用根据 agentic workload 构造的多轮负载，与前一页真实 traces 的延迟测试分开。GPU 数量从 12 增加到 60，会话数同步扩大。Round-robin 让后续轮次经常落到不同实例，检验跨节点缓存读取能力。该测试中缓存命中率一直超过 95%，吞吐近似线性增长。这里强调的是共享池在跨实例流量下的扩展表现。</a:t>
            </a:r>
          </a:p>
          <a:p>
            <a:endParaRPr/>
          </a:p>
          <a:p>
            <a:r>
              <a:t>来源</a:t>
            </a:r>
          </a:p>
          <a:p>
            <a:r>
              <a:t>https://kvcache-ai.github.io/Mooncake/performance/vllm/vllm-v1-mooncake-store.html</a:t>
            </a:r>
          </a:p>
          <a:p>
            <a:r>
              <a:t>https://vllm-project.github.io/2026/05/06/mooncake-store.html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22:27–23:23</a:t>
            </a:r>
          </a:p>
          <a:p>
            <a:endParaRPr/>
          </a:p>
          <a:p>
            <a:r>
              <a:t>HiCache 的 RadixTree 维护 token 前缀及各层缓存位置，Cache Controller 负责层间数据移动。Mooncake 接在 external storage 层，使多个 SGLang 实例共享缓存容量。框架负责 write-through、write-back 和预取时机，Store 负责底层对象管理与传输。这样既保留 SGLang 的前缀语义，也能利用集群中更大的主机内存池。</a:t>
            </a:r>
          </a:p>
          <a:p>
            <a:endParaRPr/>
          </a:p>
          <a:p>
            <a:r>
              <a:t>来源</a:t>
            </a:r>
          </a:p>
          <a:p>
            <a:r>
              <a:t>/Users/chris1/Downloads/个人文件/4.14.pptx</a:t>
            </a:r>
          </a:p>
          <a:p>
            <a:r>
              <a:t>https://kvcache-ai.github.io/Mooncake/design/hicache-design.html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23:23–24:14</a:t>
            </a:r>
          </a:p>
          <a:p>
            <a:endParaRPr/>
          </a:p>
          <a:p>
            <a:r>
              <a:t>官方多轮测试的逐轮分析采用 8 张 H800 和 8 张 RDMA 网卡，并把输出长度设为 1，突出 prefill 性能。前几轮本地 L2 仍能容纳前缀，避免远程读取会略快；随着上下文增长，L2 的缓存容量不够，命中率下降，而 Mooncake 的更大共享池保持较高命中。性能差异由可保留的数据量和实际读取成本共同决定，不能仅用网络带宽解释。</a:t>
            </a:r>
          </a:p>
          <a:p>
            <a:endParaRPr/>
          </a:p>
          <a:p>
            <a:r>
              <a:t>来源</a:t>
            </a:r>
          </a:p>
          <a:p>
            <a:r>
              <a:t>https://kvcache-ai.github.io/Mooncake/performance/sglang/sglang-hicache-benchmark-results-v1.html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24:14–25:15</a:t>
            </a:r>
          </a:p>
          <a:p>
            <a:endParaRPr/>
          </a:p>
          <a:p>
            <a:r>
              <a:t>同样一个前缀，驻留 GPU、存在 Host 或能够从共享池取回，成本并不相同。Dynamo 的 tier-aware 路由跟踪 worker 的分层事件，也接收 Mooncake 对象事件。这样，缓存已经移到 Host 或 Mooncake 时，路由器仍知道它可以被取回。它并不会把所有可取回缓存都当成 GPU 命中，仍需结合不同层级成本和 worker 负载。</a:t>
            </a:r>
          </a:p>
          <a:p>
            <a:endParaRPr/>
          </a:p>
          <a:p>
            <a:r>
              <a:t>来源</a:t>
            </a:r>
          </a:p>
          <a:p>
            <a:r>
              <a:t>https://docs.dynamo.nvidia.com/dynamo/v1.5.1/knowledge-base/modular-components/backends/sg-lang/hi-cache</a:t>
            </a:r>
          </a:p>
          <a:p>
            <a:r>
              <a:t>/Users/chris1/Downloads/个人文件/Dynamo/5.24.pptx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25:15–26:02</a:t>
            </a:r>
          </a:p>
          <a:p>
            <a:endParaRPr/>
          </a:p>
          <a:p>
            <a:r>
              <a:t>Conductor 是 Mooncake 的 KV 事件索引服务。Python ConductorClient 可以注册发布者、查询前缀命中、列出服务和查看全局状态。Register 建立订阅，ZMQ 缓存事件到达后填充索引，query 返回当前命中信息。路由器据此结合负载选择实例。Python 包需要启用 WITH_CONDUCTOR，并包含对应的原生扩展。</a:t>
            </a:r>
          </a:p>
          <a:p>
            <a:endParaRPr/>
          </a:p>
          <a:p>
            <a:r>
              <a:t>来源</a:t>
            </a:r>
          </a:p>
          <a:p>
            <a:r>
              <a:t>https://github.com/kvcache-ai/Mooncake/pull/4469</a:t>
            </a:r>
          </a:p>
          <a:p>
            <a:r>
              <a:t>https://github.com/kvcache-ai/Mooncake/pull/4606</a:t>
            </a:r>
          </a:p>
          <a:p>
            <a:r>
              <a:t>https://github.com/kvcache-ai/Mooncake/blob/342c8aeece6b4eefb76c6b8b31ccfac8dde07aa3/docs/source/api-reference/python/conductor.md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26:02–26:53</a:t>
            </a:r>
          </a:p>
          <a:p>
            <a:endParaRPr/>
          </a:p>
          <a:p>
            <a:r>
              <a:t>Dynamo 合作由多条路径组成。传输层通过 NIXL 插件使用 Mooncake，路由层结合 worker 的分层 KV 事件和 Mooncake 共享池对象事件，估计哪些前缀可以直接取回。平台侧有 CUDA 13、MNNVL 与 Rust API 等对接。KVBM 的 G4 原生 Store 后端仍是开放 PR，与现有共享缓存路由是不同功能。</a:t>
            </a:r>
          </a:p>
          <a:p>
            <a:endParaRPr/>
          </a:p>
          <a:p>
            <a:r>
              <a:t>来源</a:t>
            </a:r>
          </a:p>
          <a:p>
            <a:r>
              <a:t>/Users/chris1/Downloads/个人文件/Dynamo/5.24.pptx</a:t>
            </a:r>
          </a:p>
          <a:p>
            <a:r>
              <a:t>https://docs.dynamo.nvidia.com/dynamo/v1.5.1/knowledge-base/modular-components/backends/sg-lang/hi-cache</a:t>
            </a:r>
          </a:p>
          <a:p>
            <a:r>
              <a:t>https://github.com/ai-dynamo/dynamo/pull/9786</a:t>
            </a:r>
          </a:p>
          <a:p>
            <a:r>
              <a:t>https://github.com/ai-dynamo/nixl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26:53–27:40</a:t>
            </a:r>
          </a:p>
          <a:p>
            <a:endParaRPr/>
          </a:p>
          <a:p>
            <a:r>
              <a:t>SGLang 的 DeepSeek V3/R1 部署把多个优化组合在一起：PD 分离、DeepEP、DeepGEMM、EPLB 和 two-batch overlap。Mooncake 负责其中的 KVCache 数据路径，后续 Elastic EP 又加入了故障感知的专家通信。原案例的吞吐是整个系统在给定模型和负载下的结果，不能单独归因为某一个传输组件。</a:t>
            </a:r>
          </a:p>
          <a:p>
            <a:endParaRPr/>
          </a:p>
          <a:p>
            <a:r>
              <a:t>来源</a:t>
            </a:r>
          </a:p>
          <a:p>
            <a:r>
              <a:t>https://www.lmsys.org/blog/2025-05-05-large-scale-ep/</a:t>
            </a:r>
          </a:p>
          <a:p>
            <a:r>
              <a:t>https://www.lmsys.org/blog/2026-03-25-eep-partial-failure-tolerance/</a:t>
            </a:r>
          </a:p>
          <a:p>
            <a:r>
              <a:t>/Users/chris1/Downloads/个人文件/4.14.pptx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27:40–28:22</a:t>
            </a:r>
          </a:p>
          <a:p>
            <a:endParaRPr/>
          </a:p>
          <a:p>
            <a:r>
              <a:t>RBG 把 Router、Prefill、Decode、Master 和 Store 作为不同角色管理。推理进程通过 Mooncake Client 访问共享缓存，计算实例按负载扩缩容，存储资源池独立管理。RBG 和推理框架负责生命周期与调度，Mooncake 负责共享缓存和传输。</a:t>
            </a:r>
          </a:p>
          <a:p>
            <a:endParaRPr/>
          </a:p>
          <a:p>
            <a:r>
              <a:t>来源</a:t>
            </a:r>
          </a:p>
          <a:p>
            <a:r>
              <a:t>Mooncake_A2M2026.pptx 第37页，原图</a:t>
            </a:r>
          </a:p>
          <a:p>
            <a:r>
              <a:t>https://github.com/sgl-project/rbg/tree/main/examples/inference/ecosystem/mooncake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28:22–28:33</a:t>
            </a:r>
          </a:p>
          <a:p>
            <a:endParaRPr/>
          </a:p>
          <a:p>
            <a:r>
              <a:t>样本、权重与 KVCache 的不同生命周期</a:t>
            </a:r>
          </a:p>
          <a:p>
            <a:endParaRPr/>
          </a:p>
          <a:p>
            <a:r>
              <a:t>来源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28:33–29:24</a:t>
            </a:r>
          </a:p>
          <a:p>
            <a:endParaRPr/>
          </a:p>
          <a:p>
            <a:r>
              <a:t>PUT 先把字典拆成字段或叶子，根据 schema 选择编码，再把结构元数据和 typed payload 放入 bundle。GET 读取 manifest，找到成员并恢复原始字段。Payload 和元数据写完后才发布 manifest，trainer 因而能拿到完整字典。数值字段走专门的编码和传输路径，其他字段仍可能需要序列化。</a:t>
            </a:r>
          </a:p>
          <a:p>
            <a:endParaRPr/>
          </a:p>
          <a:p>
            <a:r>
              <a:t>来源</a:t>
            </a:r>
          </a:p>
          <a:p>
            <a:r>
              <a:t>Mooncake_A2M2026.pptx 第30页，原图</a:t>
            </a:r>
          </a:p>
          <a:p>
            <a:r>
              <a:t>https://kvcache.ai/blog/mooncake-rl-rollout-data-transfer/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29:24–30:15</a:t>
            </a:r>
          </a:p>
          <a:p>
            <a:endParaRPr/>
          </a:p>
          <a:p>
            <a:r>
              <a:t>Miles 默认使用 Ray Object Store 来交接 rollout 数据，也支持选择 Mooncake backend。当前 Miles 路径是完整字典交接，producer 在 PUT 完成后返回引用，trainer GET 完成后拿到同样的字典。Ray 仍然负责它原来的调度工作。配置 rollout object store 与配置权重传输是两个独立的选项，因此选了 Mooncake rollout backend，不代表权重更新会自动改为 P2P。</a:t>
            </a:r>
          </a:p>
          <a:p>
            <a:endParaRPr/>
          </a:p>
          <a:p>
            <a:r>
              <a:t>来源</a:t>
            </a:r>
          </a:p>
          <a:p>
            <a:r>
              <a:t>https://github.com/radixark/miles/blob/e2a5a3e59235cf48314dcdd8be44636cbc7f7c71/docs/advanced/mooncake-rollout-transfer.md</a:t>
            </a:r>
          </a:p>
          <a:p>
            <a:r>
              <a:t>https://kvcache.ai/blog/mooncake-rl-rollout-data-transfer/</a:t>
            </a:r>
          </a:p>
          <a:p>
            <a:r>
              <a:t>Mooncake-Ke-2.pptx 第13页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30:15–31:06</a:t>
            </a:r>
          </a:p>
          <a:p>
            <a:endParaRPr/>
          </a:p>
          <a:p>
            <a:r>
              <a:t>NeMo RL 通过 TransferQueue 交接 rollout 与 trainer 的数据，并加入可选 GPUDirect RDMA 路径。GPU 客户端直接与 Mooncake 管理的主机内存池传输 tensor，减少客户端 CPU staging。排队对象存放在共享 host memory 中。</a:t>
            </a:r>
          </a:p>
          <a:p>
            <a:endParaRPr/>
          </a:p>
          <a:p>
            <a:r>
              <a:t>来源</a:t>
            </a:r>
          </a:p>
          <a:p>
            <a:r>
              <a:t>https://github.com/NVIDIA-NeMo/RL/pull/3501</a:t>
            </a:r>
          </a:p>
          <a:p>
            <a:r>
              <a:t>https://github.com/NVIDIA-NeMo/RL/pull/2439</a:t>
            </a:r>
          </a:p>
          <a:p>
            <a:r>
              <a:t>https://github.com/Ascend/TransferQueue/blob/main/transfer_queue/storage/clients/mooncake_client.py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31:06–31:57</a:t>
            </a:r>
          </a:p>
          <a:p>
            <a:endParaRPr/>
          </a:p>
          <a:p>
            <a:r>
              <a:t>权重可以直接从训练进程发送，也可以先保存成 Store 快照。写入侧用 begin_weight_snapshot、write_tensor 和 commit 发布快照。读取侧加载 manifest、规划目标布局，再读取需要的对象范围。快照保存权重 payload 和布局信息，优化器状态等完整 checkpoint 内容需要另外管理。多个 worker 切换新权重的时机由框架协调。</a:t>
            </a:r>
          </a:p>
          <a:p>
            <a:endParaRPr/>
          </a:p>
          <a:p>
            <a:r>
              <a:t>来源</a:t>
            </a:r>
          </a:p>
          <a:p>
            <a:r>
              <a:t>https://github.com/kvcache-ai/Mooncake/blob/342c8aeece6b4eefb76c6b8b31ccfac8dde07aa3/docs/source/api-reference/python/mooncake-store.md</a:t>
            </a:r>
          </a:p>
          <a:p>
            <a:r>
              <a:t>https://github.com/kvcache-ai/Mooncake/blob/342c8aeece6b4eefb76c6b8b31ccfac8dde07aa3/docs/source/design/mooncake-reshard/model-weight-store-upload-planning.md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31:57–32:53</a:t>
            </a:r>
          </a:p>
          <a:p>
            <a:endParaRPr/>
          </a:p>
          <a:p>
            <a:r>
              <a:t>这几类对象虽然共用 Store，却不能使用同一种有效期规则。KVCache 依赖生成它的模型权重和布局，样本需要记录策略版本，权重快照则需要明确完整性与发布时机。全异步 RL 中，不同组件可能同时处理不同版本，因此数据对象的身份比简单的时间先后更重要。版本切换和消费者完成信号由框架管理，Store 提供对象存储和回收机制。</a:t>
            </a:r>
          </a:p>
          <a:p>
            <a:endParaRPr/>
          </a:p>
          <a:p>
            <a:r>
              <a:t>来源</a:t>
            </a:r>
          </a:p>
          <a:p>
            <a:r>
              <a:t>https://kvcache.ai/blog/mooncake-rl-rollout-data-transfer/</a:t>
            </a:r>
          </a:p>
          <a:p>
            <a:r>
              <a:t>https://www.lmsys.org/blog/2026-04-29-p2p-update/</a:t>
            </a:r>
          </a:p>
          <a:p>
            <a:r>
              <a:t>https://kvcache-ai.github.io/Mooncake/api-reference/python/mooncake-store.html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32:53–33:35</a:t>
            </a:r>
          </a:p>
          <a:p>
            <a:endParaRPr/>
          </a:p>
          <a:p>
            <a:r>
              <a:t>Store 的价值最终体现在应用指标中。先区分 token 命中率、对象命中率和实际字节流量，再观察数据读取需要等待多久。推理侧关注 TTFT 与尾延迟，RL 侧还需要观察样本陈旧度、策略版本和训练有效吞吐。相同的缓存容量或传输带宽，在不同上下文、调度方式和模型配置下可能产生不同收益。</a:t>
            </a:r>
          </a:p>
          <a:p>
            <a:endParaRPr/>
          </a:p>
          <a:p>
            <a:r>
              <a:t>来源</a:t>
            </a:r>
          </a:p>
          <a:p>
            <a:r>
              <a:t>https://kvcache-ai.github.io/Mooncake/performance/sglang/sglang-hicache-benchmark-results-v1.html</a:t>
            </a:r>
          </a:p>
          <a:p>
            <a:r>
              <a:t>https://kvcache-ai.github.io/Mooncake/performance/vllm/vllm-v1-mooncake-store.html</a:t>
            </a:r>
          </a:p>
          <a:p>
            <a:r>
              <a:t>https://kvcache.ai/blog/mooncake-rl-rollout-data-transfer/</a:t>
            </a:r>
          </a:p>
          <a:p>
            <a:r>
              <a:t>https://www.lmsys.org/blog/2026-04-29-p2p-update/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33:35–34:12</a:t>
            </a:r>
          </a:p>
          <a:p>
            <a:endParaRPr/>
          </a:p>
          <a:p>
            <a:r>
              <a:t>Mooncake Store 让计算实例之外的状态可以被管理和复用。对于 Agent 推理，它减少历史前缀的重复计算；对于 RL，它承接样本交接和权重快照。Store 提供的是共享对象机制，缓存策略、模型兼容和版本发布仍由框架控制。与 vLLM、SGLang、Dynamo 以及存储系统的协作，把这些机制放进完整的推理与训练路径。</a:t>
            </a:r>
          </a:p>
          <a:p>
            <a:endParaRPr/>
          </a:p>
          <a:p>
            <a:r>
              <a:t>来源</a:t>
            </a:r>
          </a:p>
          <a:p>
            <a:r>
              <a:t>https://kvcache-ai.github.io/Mooncake/design/store/mooncake-store.html</a:t>
            </a:r>
          </a:p>
          <a:p>
            <a:r>
              <a:t>https://github.com/kvcache-ai/Mooncake</a:t>
            </a:r>
          </a:p>
          <a:p>
            <a:r>
              <a:t>https://kvcache.ai/blog/mooncake-rl-rollout-data-transfer/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34:12–35:00</a:t>
            </a:r>
          </a:p>
          <a:p>
            <a:endParaRPr/>
          </a:p>
          <a:p>
            <a:r>
              <a:t>可以围绕共享 KVCache、Store 部署、分层缓存、3FS、缓存事件与 RL 对象生命周期交流。</a:t>
            </a:r>
          </a:p>
          <a:p>
            <a:endParaRPr/>
          </a:p>
          <a:p>
            <a:r>
              <a:t>来源</a:t>
            </a:r>
          </a:p>
          <a:p>
            <a:r>
              <a:t>https://github.com/kvcache-ai/Mooncake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备用页</a:t>
            </a:r>
          </a:p>
          <a:p>
            <a:endParaRPr/>
          </a:p>
          <a:p>
            <a:r>
              <a:t>4.14 和 5.24 材料给出的多会话测试中，首轮 p95 从 5295 毫秒降到 339 毫秒，后续轮 p95 从 4909 毫秒降到 770 毫秒，后续轮 p50 从 171 毫秒到 169 毫秒。材料显示 4GB、8GB 和 32GB 配置相近，但未给出完整模型、硬件与负载信息，因此这组结果用于说明该案例的尾延迟改善，不据此推导一般容量需求。</a:t>
            </a:r>
          </a:p>
          <a:p>
            <a:endParaRPr/>
          </a:p>
          <a:p>
            <a:r>
              <a:t>来源</a:t>
            </a:r>
          </a:p>
          <a:p>
            <a:r>
              <a:t>/Users/chris1/Downloads/个人文件/4.14.pptx</a:t>
            </a:r>
          </a:p>
          <a:p>
            <a:r>
              <a:t>/Users/chris1/Downloads/个人文件/Dynamo/5.24.pptx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备用页</a:t>
            </a:r>
          </a:p>
          <a:p>
            <a:endParaRPr/>
          </a:p>
          <a:p>
            <a:r>
              <a:t>租约、pin、版本身份和 HA 快照分别解决不同问题。持有 pin 不表示 KVCache 位于 GPU，也不能替代异步传输完成事件。恢复元数据不等于复制了所有 payload。模型版本隔离则由框架定义，即使对象依然存在，也不能自动用于更新后的模型。</a:t>
            </a:r>
          </a:p>
          <a:p>
            <a:endParaRPr/>
          </a:p>
          <a:p>
            <a:r>
              <a:t>来源</a:t>
            </a:r>
          </a:p>
          <a:p>
            <a:r>
              <a:t>https://kvcache-ai.github.io/Mooncake/api-reference/python/mooncake-store.html</a:t>
            </a:r>
          </a:p>
          <a:p>
            <a:r>
              <a:t>https://kvcache-ai.github.io/Mooncake/design/store/mooncake-store.html</a:t>
            </a:r>
          </a:p>
          <a:p>
            <a:r>
              <a:t>https://kvcache-ai.github.io/Mooncake/design/store/ssd-offload.html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备用页</a:t>
            </a:r>
          </a:p>
          <a:p>
            <a:endParaRPr/>
          </a:p>
          <a:p>
            <a:r>
              <a:t>DeepSeek 相关内容分为模型部署和开源组件两部分。SGLang 在 96 张 H100 的大规模部署中结合 Mooncake PD 传输、DeepEP、DeepGEMM 与 EPLB。Mooncake EP 保留 DeepEP 风格的专家通信接口，并增加活跃 rank 与故障处理。存储侧通过 HF3FS USRBIO 接入 DeepSeek 3FS，当前 descriptor-based DFS 适配器仍在实验阶段。这些是可核实的技术结合，不等同于宣布 DeepSeek 公司与 Mooncake 的商业合作。</a:t>
            </a:r>
          </a:p>
          <a:p>
            <a:endParaRPr/>
          </a:p>
          <a:p>
            <a:r>
              <a:t>来源</a:t>
            </a:r>
          </a:p>
          <a:p>
            <a:r>
              <a:t>/Users/chris1/Downloads/个人文件/4.14.pptx</a:t>
            </a:r>
          </a:p>
          <a:p>
            <a:r>
              <a:t>/Users/chris1/Downloads/个人文件/Dynamo/5.24.pptx</a:t>
            </a:r>
          </a:p>
          <a:p>
            <a:r>
              <a:t>https://www.lmsys.org/blog/2025-05-05-large-scale-ep/</a:t>
            </a:r>
          </a:p>
          <a:p>
            <a:r>
              <a:t>https://www.lmsys.org/blog/2026-03-25-eep-partial-failure-tolerance/</a:t>
            </a:r>
          </a:p>
          <a:p>
            <a:r>
              <a:t>https://kvcache-ai.github.io/Mooncake/getting_started/plugin-usage/3FS-USRBIO-Plugin.html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备用页</a:t>
            </a:r>
          </a:p>
          <a:p>
            <a:endParaRPr/>
          </a:p>
          <a:p>
            <a:r>
              <a:t>Store 的设计、API 和分层存储文档解释对象的具体行为。vLLM 与 HiCache 的性能页提供测试条件，Dynamo 文档介绍分层缓存路由。HF3FS adapter 的实验性状态及部署参数见官方插件文档。</a:t>
            </a:r>
          </a:p>
          <a:p>
            <a:endParaRPr/>
          </a:p>
          <a:p>
            <a:r>
              <a:t>来源</a:t>
            </a:r>
          </a:p>
          <a:p>
            <a:r>
              <a:t>https://github.com/kvcache-ai/Mooncake</a:t>
            </a:r>
          </a:p>
          <a:p>
            <a:r>
              <a:t>https://kvcache-ai.github.io/Mooncake/design/store/mooncake-store.html</a:t>
            </a:r>
          </a:p>
          <a:p>
            <a:r>
              <a:t>https://kvcache-ai.github.io/Mooncake/api-reference/python/mooncake-store.html</a:t>
            </a:r>
          </a:p>
          <a:p>
            <a:r>
              <a:t>https://vllm-project.github.io/2026/05/06/mooncake-store.html</a:t>
            </a:r>
          </a:p>
          <a:p>
            <a:r>
              <a:t>https://kvcache-ai.github.io/Mooncake/performance/sglang/sglang-hicache-benchmark-results-v1.html</a:t>
            </a:r>
          </a:p>
          <a:p>
            <a:r>
              <a:t>https://docs.dynamo.nvidia.com/dynamo/v1.5.1/knowledge-base/modular-components/backends/sg-lang/hi-cache</a:t>
            </a:r>
          </a:p>
          <a:p>
            <a:r>
              <a:t>https://kvcache-ai.github.io/Mooncake/getting_started/plugin-usage/3FS-USRBIO-Plugin.html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" y="580390"/>
            <a:ext cx="1892300" cy="4800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0" name="图片 6"/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25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405130" y="1818640"/>
            <a:ext cx="8556625" cy="2002155"/>
          </a:xfrm>
          <a:prstGeom prst="rect">
            <a:avLst/>
          </a:prstGeom>
          <a:noFill/>
        </p:spPr>
        <p:txBody>
          <a:bodyPr wrap="square" lIns="68584" tIns="34291" rIns="68584" bIns="34291" anchor="ctr">
            <a:noAutofit/>
          </a:bodyPr>
          <a:lstStyle>
            <a:lvl1pPr marL="0" indent="0" algn="l">
              <a:buNone/>
              <a:defRPr sz="60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+mj-lt"/>
              </a:defRPr>
            </a:lvl1pPr>
          </a:lstStyle>
          <a:p>
            <a:pPr marL="0" lvl="0">
              <a:buNone/>
            </a:pPr>
            <a:r>
              <a:t>单击此处添加标题</a:t>
            </a:r>
          </a:p>
        </p:txBody>
      </p:sp>
      <p:sp>
        <p:nvSpPr>
          <p:cNvPr id="6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405130" y="3820795"/>
            <a:ext cx="8556625" cy="798830"/>
          </a:xfrm>
          <a:prstGeom prst="rect">
            <a:avLst/>
          </a:prstGeom>
          <a:noFill/>
        </p:spPr>
        <p:txBody>
          <a:bodyPr wrap="square" lIns="68584" tIns="34291" rIns="68584" bIns="34291" anchor="ctr">
            <a:noAutofit/>
          </a:bodyPr>
          <a:lstStyle>
            <a:lvl1pPr marL="0" indent="0" algn="l">
              <a:buNone/>
              <a:defRPr sz="28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+mj-lt"/>
              </a:defRPr>
            </a:lvl1pPr>
          </a:lstStyle>
          <a:p>
            <a:pPr marL="0" lvl="0">
              <a:buNone/>
            </a:pPr>
            <a:r>
              <a:t>姓名</a:t>
            </a:r>
          </a:p>
        </p:txBody>
      </p:sp>
      <p:pic>
        <p:nvPicPr>
          <p:cNvPr id="33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55" y="469900"/>
            <a:ext cx="1404620" cy="3562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图片 3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431165" y="507365"/>
            <a:ext cx="5179060" cy="1228090"/>
          </a:xfrm>
          <a:prstGeom prst="rect">
            <a:avLst/>
          </a:prstGeom>
        </p:spPr>
      </p:pic>
      <p:pic>
        <p:nvPicPr>
          <p:cNvPr id="13" name="图片 5"/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5" name="图片 1"/>
          <p:cNvPicPr>
            <a:picLocks noChangeAspect="1"/>
          </p:cNvPicPr>
          <p:nvPr/>
        </p:nvPicPr>
        <p:blipFill>
          <a:blip r:embed="rId5">
            <a:biLevel thresh="50000"/>
            <a:lum bright="100000"/>
          </a:blip>
          <a:stretch>
            <a:fillRect/>
          </a:stretch>
        </p:blipFill>
        <p:spPr>
          <a:xfrm>
            <a:off x="11124565" y="6570663"/>
            <a:ext cx="832485" cy="212090"/>
          </a:xfrm>
          <a:prstGeom prst="rect">
            <a:avLst/>
          </a:prstGeom>
        </p:spPr>
      </p:pic>
      <p:pic>
        <p:nvPicPr>
          <p:cNvPr id="16" name="图片 7"/>
          <p:cNvPicPr>
            <a:picLocks noChangeAspect="1"/>
          </p:cNvPicPr>
          <p:nvPr/>
        </p:nvPicPr>
        <p:blipFill>
          <a:blip r:embed="rId6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图片 6"/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10" name="标题 1"/>
          <p:cNvSpPr>
            <a:spLocks noGrp="1"/>
          </p:cNvSpPr>
          <p:nvPr>
            <p:ph type="ctrTitle" hasCustomPrompt="1"/>
          </p:nvPr>
        </p:nvSpPr>
        <p:spPr>
          <a:xfrm>
            <a:off x="421005" y="825500"/>
            <a:ext cx="3550920" cy="2812415"/>
          </a:xfrm>
          <a:prstGeom prst="rect">
            <a:avLst/>
          </a:prstGeom>
        </p:spPr>
        <p:txBody>
          <a:bodyPr lIns="90000" tIns="46800" rIns="90000" bIns="46800" anchor="t">
            <a:noAutofit/>
          </a:bodyPr>
          <a:lstStyle>
            <a:lvl1pPr algn="ctr">
              <a:lnSpc>
                <a:spcPct val="100000"/>
              </a:lnSpc>
              <a:buNone/>
              <a:defRPr sz="20000" b="1" i="0">
                <a:gradFill>
                  <a:gsLst>
                    <a:gs pos="23000">
                      <a:schemeClr val="bg1"/>
                    </a:gs>
                    <a:gs pos="71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Source Han Sans CN Bold"/>
                <a:ea typeface="Source Han Sans CN Bold"/>
                <a:cs typeface="Source Han Sans CN Bold"/>
              </a:defRPr>
            </a:lvl1pPr>
          </a:lstStyle>
          <a:p>
            <a:r>
              <a:t>01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569209" y="2821715"/>
            <a:ext cx="8887193" cy="860046"/>
          </a:xfrm>
          <a:prstGeom prst="rect">
            <a:avLst/>
          </a:prstGeom>
          <a:noFill/>
        </p:spPr>
        <p:txBody>
          <a:bodyPr wrap="square" lIns="68584" tIns="34291" rIns="68584" bIns="34291" anchor="t">
            <a:noAutofit/>
          </a:bodyPr>
          <a:lstStyle>
            <a:lvl1pPr marL="0" indent="0" algn="l">
              <a:buNone/>
              <a:defRPr sz="48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defRPr>
            </a:lvl1pPr>
          </a:lstStyle>
          <a:p>
            <a:pPr marL="0" lvl="0">
              <a:buNone/>
            </a:pPr>
            <a:r>
              <a:t>单击此处添加标题</a:t>
            </a:r>
          </a:p>
        </p:txBody>
      </p:sp>
      <p:pic>
        <p:nvPicPr>
          <p:cNvPr id="1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55" y="469900"/>
            <a:ext cx="1404620" cy="3562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anchor="ctr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/>
                <a:ea typeface="Source Han Sans CN Bold"/>
                <a:cs typeface="Source Han Sans CN Bold"/>
              </a:defRPr>
            </a:lvl1pPr>
          </a:lstStyle>
          <a:p>
            <a:pPr marL="0" lvl="0">
              <a:buNone/>
            </a:pPr>
            <a:r>
              <a:t>单击此处添加标题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直接连接符 8"/>
          <p:cNvSpPr>
            <a:spLocks noGrp="1"/>
          </p:cNvSpPr>
          <p:nvPr/>
        </p:nvSpPr>
        <p:spPr>
          <a:xfrm>
            <a:off x="1794934" y="723900"/>
            <a:ext cx="10397066" cy="0"/>
          </a:xfrm>
          <a:prstGeom prst="line">
            <a:avLst/>
          </a:prstGeom>
          <a:ln w="28575">
            <a:solidFill>
              <a:srgbClr val="28509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11"/>
          <p:cNvSpPr>
            <a:spLocks noGrp="1"/>
          </p:cNvSpPr>
          <p:nvPr/>
        </p:nv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53" name="图片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54" name="图片 46"/>
          <p:cNvPicPr>
            <a:picLocks noChangeAspect="1"/>
          </p:cNvPicPr>
          <p:nvPr/>
        </p:nvPicPr>
        <p:blipFill>
          <a:blip r:embed="rId3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sp>
        <p:nvSpPr>
          <p:cNvPr id="11" name="标题 9"/>
          <p:cNvSpPr>
            <a:spLocks noGrp="1"/>
          </p:cNvSpPr>
          <p:nvPr>
            <p:ph type="title" hasCustomPrompt="1"/>
          </p:nvPr>
        </p:nvSpPr>
        <p:spPr>
          <a:xfrm>
            <a:off x="518160" y="1094105"/>
            <a:ext cx="11160000" cy="50400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buNone/>
              <a:defRPr sz="2000" b="0">
                <a:solidFill>
                  <a:srgbClr val="0A2540"/>
                </a:solidFill>
                <a:latin typeface="+mj-lt"/>
                <a:ea typeface="+mj-lt"/>
                <a:cs typeface="+mj-lt"/>
              </a:defRPr>
            </a:lvl1pPr>
          </a:lstStyle>
          <a:p>
            <a:endParaRPr/>
          </a:p>
        </p:txBody>
      </p:sp>
      <p:pic>
        <p:nvPicPr>
          <p:cNvPr id="56" name="图片 12"/>
          <p:cNvPicPr>
            <a:picLocks noChangeAspect="1"/>
          </p:cNvPicPr>
          <p:nvPr/>
        </p:nvPicPr>
        <p:blipFill>
          <a:blip r:embed="rId4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296" y="1449867"/>
            <a:ext cx="5441813" cy="4351338"/>
          </a:xfrm>
          <a:prstGeom prst="rect">
            <a:avLst/>
          </a:prstGeom>
        </p:spPr>
        <p:txBody>
          <a:bodyPr/>
          <a:lstStyle>
            <a:lvl1pPr>
              <a:buNone/>
              <a:defRPr sz="2000" b="0" i="0">
                <a:solidFill>
                  <a:srgbClr val="0A2540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 sz="1800" b="0" i="0">
                <a:solidFill>
                  <a:srgbClr val="0A2540"/>
                </a:solidFill>
                <a:latin typeface="+mj-lt"/>
                <a:ea typeface="+mj-lt"/>
                <a:cs typeface="+mj-lt"/>
              </a:defRPr>
            </a:lvl2pPr>
            <a:lvl3pPr>
              <a:buNone/>
              <a:defRPr sz="1600" b="0" i="0">
                <a:solidFill>
                  <a:srgbClr val="0A2540"/>
                </a:solidFill>
                <a:latin typeface="+mj-lt"/>
                <a:ea typeface="+mj-lt"/>
                <a:cs typeface="+mj-lt"/>
              </a:defRPr>
            </a:lvl3pPr>
            <a:lvl5pPr marL="1828800" indent="0">
              <a:buNone/>
              <a:defRPr/>
            </a:lvl5pPr>
          </a:lstStyle>
          <a:p>
            <a:pPr lvl="0">
              <a:buNone/>
            </a:pPr>
            <a:r>
              <a:t>单击此处添加内容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 hasCustomPrompt="1"/>
          </p:nvPr>
        </p:nvSpPr>
        <p:spPr>
          <a:xfrm>
            <a:off x="6356350" y="1430655"/>
            <a:ext cx="5283200" cy="4351655"/>
          </a:xfrm>
          <a:prstGeom prst="rect">
            <a:avLst/>
          </a:prstGeom>
        </p:spPr>
        <p:txBody>
          <a:bodyPr/>
          <a:lstStyle>
            <a:lvl1pPr>
              <a:buNone/>
              <a:defRPr sz="2000" b="0" i="0">
                <a:solidFill>
                  <a:srgbClr val="0A2540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 sz="1800" b="0" i="0">
                <a:solidFill>
                  <a:srgbClr val="0A2540"/>
                </a:solidFill>
                <a:latin typeface="+mj-lt"/>
                <a:ea typeface="+mj-lt"/>
                <a:cs typeface="+mj-lt"/>
              </a:defRPr>
            </a:lvl2pPr>
            <a:lvl3pPr>
              <a:buNone/>
              <a:defRPr sz="1600" b="0" i="0">
                <a:solidFill>
                  <a:srgbClr val="0A2540"/>
                </a:solidFill>
                <a:latin typeface="+mj-lt"/>
                <a:ea typeface="+mj-lt"/>
                <a:cs typeface="+mj-lt"/>
              </a:defRPr>
            </a:lvl3pPr>
            <a:lvl5pPr marL="1828800" indent="0">
              <a:buNone/>
              <a:defRPr/>
            </a:lvl5pPr>
          </a:lstStyle>
          <a:p>
            <a:pPr lvl="0">
              <a:buNone/>
            </a:pPr>
            <a:r>
              <a:t>单击此处添加内容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anchor="ctr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/>
                <a:ea typeface="Source Han Sans CN Bold"/>
                <a:cs typeface="Source Han Sans CN Bold"/>
              </a:defRPr>
            </a:lvl1pPr>
          </a:lstStyle>
          <a:p>
            <a:pPr marL="0" lvl="0">
              <a:buNone/>
            </a:pPr>
            <a:r>
              <a:t>单击此处添加标题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直接连接符 8"/>
          <p:cNvSpPr>
            <a:spLocks noGrp="1"/>
          </p:cNvSpPr>
          <p:nvPr/>
        </p:nvSpPr>
        <p:spPr>
          <a:xfrm>
            <a:off x="1794934" y="723900"/>
            <a:ext cx="10397066" cy="0"/>
          </a:xfrm>
          <a:prstGeom prst="line">
            <a:avLst/>
          </a:prstGeom>
          <a:ln w="28575">
            <a:solidFill>
              <a:srgbClr val="28509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11"/>
          <p:cNvSpPr>
            <a:spLocks noGrp="1"/>
          </p:cNvSpPr>
          <p:nvPr/>
        </p:nv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55" name="图片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56" name="图片 46"/>
          <p:cNvPicPr>
            <a:picLocks noChangeAspect="1"/>
          </p:cNvPicPr>
          <p:nvPr/>
        </p:nvPicPr>
        <p:blipFill>
          <a:blip r:embed="rId3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pic>
        <p:nvPicPr>
          <p:cNvPr id="57" name="图片 12"/>
          <p:cNvPicPr>
            <a:picLocks noChangeAspect="1"/>
          </p:cNvPicPr>
          <p:nvPr/>
        </p:nvPicPr>
        <p:blipFill>
          <a:blip r:embed="rId4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2"/>
          <p:cNvSpPr>
            <a:spLocks noGrp="1"/>
          </p:cNvSpPr>
          <p:nvPr>
            <p:ph type="pic" idx="1"/>
          </p:nvPr>
        </p:nvSpPr>
        <p:spPr>
          <a:xfrm>
            <a:off x="5457190" y="1449705"/>
            <a:ext cx="6172200" cy="46793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0A2540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20" name="标题 9"/>
          <p:cNvSpPr>
            <a:spLocks noGrp="1"/>
          </p:cNvSpPr>
          <p:nvPr>
            <p:ph type="title" hasCustomPrompt="1"/>
          </p:nvPr>
        </p:nvSpPr>
        <p:spPr>
          <a:xfrm>
            <a:off x="518160" y="1449705"/>
            <a:ext cx="4698365" cy="467995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buNone/>
              <a:defRPr sz="2000" b="0">
                <a:solidFill>
                  <a:srgbClr val="0A2540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单击此处添加内容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anchor="ctr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/>
                <a:ea typeface="Source Han Sans CN Bold"/>
                <a:cs typeface="Source Han Sans CN Bold"/>
              </a:defRPr>
            </a:lvl1pPr>
          </a:lstStyle>
          <a:p>
            <a:pPr marL="0" lvl="0">
              <a:buNone/>
            </a:pPr>
            <a:r>
              <a:t>单击此处添加标题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直接连接符 8"/>
          <p:cNvSpPr>
            <a:spLocks noGrp="1"/>
          </p:cNvSpPr>
          <p:nvPr/>
        </p:nvSpPr>
        <p:spPr>
          <a:xfrm>
            <a:off x="1794934" y="723900"/>
            <a:ext cx="10397066" cy="0"/>
          </a:xfrm>
          <a:prstGeom prst="line">
            <a:avLst/>
          </a:prstGeom>
          <a:ln w="28575">
            <a:solidFill>
              <a:srgbClr val="28509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11"/>
          <p:cNvSpPr>
            <a:spLocks noGrp="1"/>
          </p:cNvSpPr>
          <p:nvPr/>
        </p:nv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55" name="图片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56" name="图片 46"/>
          <p:cNvPicPr>
            <a:picLocks noChangeAspect="1"/>
          </p:cNvPicPr>
          <p:nvPr/>
        </p:nvPicPr>
        <p:blipFill>
          <a:blip r:embed="rId3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pic>
        <p:nvPicPr>
          <p:cNvPr id="57" name="图片 12"/>
          <p:cNvPicPr>
            <a:picLocks noChangeAspect="1"/>
          </p:cNvPicPr>
          <p:nvPr/>
        </p:nvPicPr>
        <p:blipFill>
          <a:blip r:embed="rId4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0" name="图片 12"/>
          <p:cNvPicPr>
            <a:picLocks noChangeAspect="1"/>
          </p:cNvPicPr>
          <p:nvPr/>
        </p:nvPicPr>
        <p:blipFill>
          <a:blip r:embed="rId3"/>
          <a:srcRect l="-636" r="268"/>
          <a:stretch>
            <a:fillRect/>
          </a:stretch>
        </p:blipFill>
        <p:spPr>
          <a:xfrm>
            <a:off x="541655" y="469900"/>
            <a:ext cx="1409700" cy="355600"/>
          </a:xfrm>
          <a:prstGeom prst="rect">
            <a:avLst/>
          </a:prstGeom>
        </p:spPr>
      </p:pic>
      <p:pic>
        <p:nvPicPr>
          <p:cNvPr id="31" name="图片 5"/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25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405130" y="2157095"/>
            <a:ext cx="8556625" cy="2002155"/>
          </a:xfrm>
          <a:prstGeom prst="rect">
            <a:avLst/>
          </a:prstGeom>
          <a:noFill/>
        </p:spPr>
        <p:txBody>
          <a:bodyPr wrap="square" lIns="68584" tIns="34291" rIns="68584" bIns="34291" anchor="ctr">
            <a:noAutofit/>
          </a:bodyPr>
          <a:lstStyle>
            <a:lvl1pPr marL="0" indent="0" algn="l">
              <a:buNone/>
              <a:defRPr sz="60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+mj-lt"/>
              </a:defRPr>
            </a:lvl1pPr>
          </a:lstStyle>
          <a:p>
            <a:pPr marL="0" lvl="0">
              <a:buNone/>
            </a:pPr>
            <a:r>
              <a:t>单击此处添加标题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" y="580390"/>
            <a:ext cx="1892300" cy="4800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0" name="图片 6"/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25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405130" y="1818640"/>
            <a:ext cx="8556625" cy="2002155"/>
          </a:xfrm>
          <a:prstGeom prst="rect">
            <a:avLst/>
          </a:prstGeom>
          <a:noFill/>
        </p:spPr>
        <p:txBody>
          <a:bodyPr wrap="square" lIns="68584" tIns="34291" rIns="68584" bIns="34291" anchor="ctr">
            <a:noAutofit/>
          </a:bodyPr>
          <a:lstStyle>
            <a:lvl1pPr marL="0" indent="0" algn="l">
              <a:buNone/>
              <a:defRPr sz="60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+mj-lt"/>
              </a:defRPr>
            </a:lvl1pPr>
          </a:lstStyle>
          <a:p>
            <a:pPr marL="0" lvl="0">
              <a:buNone/>
            </a:pPr>
            <a:r>
              <a:t>单击此处添加标题</a:t>
            </a:r>
          </a:p>
        </p:txBody>
      </p:sp>
      <p:sp>
        <p:nvSpPr>
          <p:cNvPr id="6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405130" y="3820795"/>
            <a:ext cx="8556625" cy="798830"/>
          </a:xfrm>
          <a:prstGeom prst="rect">
            <a:avLst/>
          </a:prstGeom>
          <a:noFill/>
        </p:spPr>
        <p:txBody>
          <a:bodyPr wrap="square" lIns="68584" tIns="34291" rIns="68584" bIns="34291" anchor="ctr">
            <a:noAutofit/>
          </a:bodyPr>
          <a:lstStyle>
            <a:lvl1pPr marL="0" indent="0" algn="l">
              <a:buNone/>
              <a:defRPr sz="28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+mj-lt"/>
              </a:defRPr>
            </a:lvl1pPr>
          </a:lstStyle>
          <a:p>
            <a:pPr marL="0" lvl="0">
              <a:buNone/>
            </a:pPr>
            <a:r>
              <a:t>姓名</a:t>
            </a:r>
          </a:p>
        </p:txBody>
      </p:sp>
      <p:pic>
        <p:nvPicPr>
          <p:cNvPr id="33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55" y="469900"/>
            <a:ext cx="1404620" cy="3562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图片 3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431165" y="507365"/>
            <a:ext cx="5179060" cy="1228090"/>
          </a:xfrm>
          <a:prstGeom prst="rect">
            <a:avLst/>
          </a:prstGeom>
        </p:spPr>
      </p:pic>
      <p:pic>
        <p:nvPicPr>
          <p:cNvPr id="13" name="图片 5"/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5" name="图片 1"/>
          <p:cNvPicPr>
            <a:picLocks noChangeAspect="1"/>
          </p:cNvPicPr>
          <p:nvPr/>
        </p:nvPicPr>
        <p:blipFill>
          <a:blip r:embed="rId5">
            <a:biLevel thresh="50000"/>
            <a:lum bright="100000"/>
          </a:blip>
          <a:stretch>
            <a:fillRect/>
          </a:stretch>
        </p:blipFill>
        <p:spPr>
          <a:xfrm>
            <a:off x="11124565" y="6570663"/>
            <a:ext cx="832485" cy="212090"/>
          </a:xfrm>
          <a:prstGeom prst="rect">
            <a:avLst/>
          </a:prstGeom>
        </p:spPr>
      </p:pic>
      <p:pic>
        <p:nvPicPr>
          <p:cNvPr id="16" name="图片 7"/>
          <p:cNvPicPr>
            <a:picLocks noChangeAspect="1"/>
          </p:cNvPicPr>
          <p:nvPr/>
        </p:nvPicPr>
        <p:blipFill>
          <a:blip r:embed="rId6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图片 6"/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10" name="标题 1"/>
          <p:cNvSpPr>
            <a:spLocks noGrp="1"/>
          </p:cNvSpPr>
          <p:nvPr>
            <p:ph type="ctrTitle" hasCustomPrompt="1"/>
          </p:nvPr>
        </p:nvSpPr>
        <p:spPr>
          <a:xfrm>
            <a:off x="421005" y="825500"/>
            <a:ext cx="3550920" cy="2812415"/>
          </a:xfrm>
          <a:prstGeom prst="rect">
            <a:avLst/>
          </a:prstGeom>
        </p:spPr>
        <p:txBody>
          <a:bodyPr lIns="90000" tIns="46800" rIns="90000" bIns="46800" anchor="t">
            <a:noAutofit/>
          </a:bodyPr>
          <a:lstStyle>
            <a:lvl1pPr algn="ctr">
              <a:lnSpc>
                <a:spcPct val="100000"/>
              </a:lnSpc>
              <a:buNone/>
              <a:defRPr sz="20000" b="1" i="0">
                <a:gradFill>
                  <a:gsLst>
                    <a:gs pos="23000">
                      <a:schemeClr val="bg1"/>
                    </a:gs>
                    <a:gs pos="71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Source Han Sans CN Bold"/>
                <a:ea typeface="Source Han Sans CN Bold"/>
                <a:cs typeface="Source Han Sans CN Bold"/>
              </a:defRPr>
            </a:lvl1pPr>
          </a:lstStyle>
          <a:p>
            <a:r>
              <a:t>01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569209" y="2821715"/>
            <a:ext cx="8887193" cy="860046"/>
          </a:xfrm>
          <a:prstGeom prst="rect">
            <a:avLst/>
          </a:prstGeom>
          <a:noFill/>
        </p:spPr>
        <p:txBody>
          <a:bodyPr wrap="square" lIns="68584" tIns="34291" rIns="68584" bIns="34291" anchor="t">
            <a:noAutofit/>
          </a:bodyPr>
          <a:lstStyle>
            <a:lvl1pPr marL="0" indent="0" algn="l">
              <a:buNone/>
              <a:defRPr sz="48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/>
                <a:ea typeface="Source Han Sans CN Bold"/>
                <a:cs typeface="Source Han Sans CN Bold"/>
              </a:defRPr>
            </a:lvl1pPr>
          </a:lstStyle>
          <a:p>
            <a:pPr marL="0" lvl="0">
              <a:buNone/>
            </a:pPr>
            <a:r>
              <a:t>单击此处添加标题</a:t>
            </a:r>
          </a:p>
        </p:txBody>
      </p:sp>
      <p:pic>
        <p:nvPicPr>
          <p:cNvPr id="1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55" y="469900"/>
            <a:ext cx="1404620" cy="3562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anchor="ctr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/>
                <a:ea typeface="Source Han Sans CN Bold"/>
                <a:cs typeface="Source Han Sans CN Bold"/>
              </a:defRPr>
            </a:lvl1pPr>
          </a:lstStyle>
          <a:p>
            <a:pPr marL="0" lvl="0">
              <a:buNone/>
            </a:pPr>
            <a:r>
              <a:t>单击此处添加标题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直接连接符 8"/>
          <p:cNvSpPr>
            <a:spLocks noGrp="1"/>
          </p:cNvSpPr>
          <p:nvPr/>
        </p:nvSpPr>
        <p:spPr>
          <a:xfrm>
            <a:off x="1794934" y="723900"/>
            <a:ext cx="10397066" cy="0"/>
          </a:xfrm>
          <a:prstGeom prst="line">
            <a:avLst/>
          </a:prstGeom>
          <a:ln w="28575">
            <a:solidFill>
              <a:srgbClr val="28509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11"/>
          <p:cNvSpPr>
            <a:spLocks noGrp="1"/>
          </p:cNvSpPr>
          <p:nvPr/>
        </p:nv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53" name="图片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54" name="图片 46"/>
          <p:cNvPicPr>
            <a:picLocks noChangeAspect="1"/>
          </p:cNvPicPr>
          <p:nvPr/>
        </p:nvPicPr>
        <p:blipFill>
          <a:blip r:embed="rId3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sp>
        <p:nvSpPr>
          <p:cNvPr id="11" name="标题 9"/>
          <p:cNvSpPr>
            <a:spLocks noGrp="1"/>
          </p:cNvSpPr>
          <p:nvPr>
            <p:ph type="title" hasCustomPrompt="1"/>
          </p:nvPr>
        </p:nvSpPr>
        <p:spPr>
          <a:xfrm>
            <a:off x="518160" y="1094105"/>
            <a:ext cx="11160000" cy="50400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buNone/>
              <a:defRPr sz="2000" b="0">
                <a:solidFill>
                  <a:srgbClr val="0A2540"/>
                </a:solidFill>
                <a:latin typeface="+mj-lt"/>
                <a:ea typeface="+mj-lt"/>
                <a:cs typeface="+mj-lt"/>
              </a:defRPr>
            </a:lvl1pPr>
          </a:lstStyle>
          <a:p>
            <a:endParaRPr/>
          </a:p>
        </p:txBody>
      </p:sp>
      <p:pic>
        <p:nvPicPr>
          <p:cNvPr id="56" name="图片 12"/>
          <p:cNvPicPr>
            <a:picLocks noChangeAspect="1"/>
          </p:cNvPicPr>
          <p:nvPr/>
        </p:nvPicPr>
        <p:blipFill>
          <a:blip r:embed="rId4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296" y="1449867"/>
            <a:ext cx="5441813" cy="4351338"/>
          </a:xfrm>
          <a:prstGeom prst="rect">
            <a:avLst/>
          </a:prstGeom>
        </p:spPr>
        <p:txBody>
          <a:bodyPr/>
          <a:lstStyle>
            <a:lvl1pPr>
              <a:buNone/>
              <a:defRPr sz="2000" b="0" i="0">
                <a:solidFill>
                  <a:srgbClr val="0A2540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 sz="1800" b="0" i="0">
                <a:solidFill>
                  <a:srgbClr val="0A2540"/>
                </a:solidFill>
                <a:latin typeface="+mj-lt"/>
                <a:ea typeface="+mj-lt"/>
                <a:cs typeface="+mj-lt"/>
              </a:defRPr>
            </a:lvl2pPr>
            <a:lvl3pPr>
              <a:buNone/>
              <a:defRPr sz="1600" b="0" i="0">
                <a:solidFill>
                  <a:srgbClr val="0A2540"/>
                </a:solidFill>
                <a:latin typeface="+mj-lt"/>
                <a:ea typeface="+mj-lt"/>
                <a:cs typeface="+mj-lt"/>
              </a:defRPr>
            </a:lvl3pPr>
            <a:lvl5pPr marL="1828800" indent="0">
              <a:buNone/>
              <a:defRPr/>
            </a:lvl5pPr>
          </a:lstStyle>
          <a:p>
            <a:pPr lvl="0">
              <a:buNone/>
            </a:pPr>
            <a:r>
              <a:t>单击此处添加内容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 hasCustomPrompt="1"/>
          </p:nvPr>
        </p:nvSpPr>
        <p:spPr>
          <a:xfrm>
            <a:off x="6356350" y="1430655"/>
            <a:ext cx="5283200" cy="4351655"/>
          </a:xfrm>
          <a:prstGeom prst="rect">
            <a:avLst/>
          </a:prstGeom>
        </p:spPr>
        <p:txBody>
          <a:bodyPr/>
          <a:lstStyle>
            <a:lvl1pPr>
              <a:buNone/>
              <a:defRPr sz="2000" b="0" i="0">
                <a:solidFill>
                  <a:srgbClr val="0A2540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 sz="1800" b="0" i="0">
                <a:solidFill>
                  <a:srgbClr val="0A2540"/>
                </a:solidFill>
                <a:latin typeface="+mj-lt"/>
                <a:ea typeface="+mj-lt"/>
                <a:cs typeface="+mj-lt"/>
              </a:defRPr>
            </a:lvl2pPr>
            <a:lvl3pPr>
              <a:buNone/>
              <a:defRPr sz="1600" b="0" i="0">
                <a:solidFill>
                  <a:srgbClr val="0A2540"/>
                </a:solidFill>
                <a:latin typeface="+mj-lt"/>
                <a:ea typeface="+mj-lt"/>
                <a:cs typeface="+mj-lt"/>
              </a:defRPr>
            </a:lvl3pPr>
            <a:lvl5pPr marL="1828800" indent="0">
              <a:buNone/>
              <a:defRPr/>
            </a:lvl5pPr>
          </a:lstStyle>
          <a:p>
            <a:pPr lvl="0">
              <a:buNone/>
            </a:pPr>
            <a:r>
              <a:t>单击此处添加内容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anchor="ctr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/>
                <a:ea typeface="Source Han Sans CN Bold"/>
                <a:cs typeface="Source Han Sans CN Bold"/>
              </a:defRPr>
            </a:lvl1pPr>
          </a:lstStyle>
          <a:p>
            <a:pPr marL="0" lvl="0">
              <a:buNone/>
            </a:pPr>
            <a:r>
              <a:t>单击此处添加标题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直接连接符 8"/>
          <p:cNvSpPr>
            <a:spLocks noGrp="1"/>
          </p:cNvSpPr>
          <p:nvPr/>
        </p:nvSpPr>
        <p:spPr>
          <a:xfrm>
            <a:off x="1794934" y="723900"/>
            <a:ext cx="10397066" cy="0"/>
          </a:xfrm>
          <a:prstGeom prst="line">
            <a:avLst/>
          </a:prstGeom>
          <a:ln w="28575">
            <a:solidFill>
              <a:srgbClr val="28509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11"/>
          <p:cNvSpPr>
            <a:spLocks noGrp="1"/>
          </p:cNvSpPr>
          <p:nvPr/>
        </p:nv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55" name="图片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56" name="图片 46"/>
          <p:cNvPicPr>
            <a:picLocks noChangeAspect="1"/>
          </p:cNvPicPr>
          <p:nvPr/>
        </p:nvPicPr>
        <p:blipFill>
          <a:blip r:embed="rId3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pic>
        <p:nvPicPr>
          <p:cNvPr id="57" name="图片 12"/>
          <p:cNvPicPr>
            <a:picLocks noChangeAspect="1"/>
          </p:cNvPicPr>
          <p:nvPr/>
        </p:nvPicPr>
        <p:blipFill>
          <a:blip r:embed="rId4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2"/>
          <p:cNvSpPr>
            <a:spLocks noGrp="1"/>
          </p:cNvSpPr>
          <p:nvPr>
            <p:ph type="pic" idx="1"/>
          </p:nvPr>
        </p:nvSpPr>
        <p:spPr>
          <a:xfrm>
            <a:off x="5457190" y="1449705"/>
            <a:ext cx="6172200" cy="46793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0A2540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20" name="标题 9"/>
          <p:cNvSpPr>
            <a:spLocks noGrp="1"/>
          </p:cNvSpPr>
          <p:nvPr>
            <p:ph type="title" hasCustomPrompt="1"/>
          </p:nvPr>
        </p:nvSpPr>
        <p:spPr>
          <a:xfrm>
            <a:off x="518160" y="1449705"/>
            <a:ext cx="4698365" cy="467995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buNone/>
              <a:defRPr sz="2000" b="0">
                <a:solidFill>
                  <a:srgbClr val="0A2540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单击此处添加内容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anchor="ctr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/>
                <a:ea typeface="Source Han Sans CN Bold"/>
                <a:cs typeface="Source Han Sans CN Bold"/>
              </a:defRPr>
            </a:lvl1pPr>
          </a:lstStyle>
          <a:p>
            <a:pPr marL="0" lvl="0">
              <a:buNone/>
            </a:pPr>
            <a:r>
              <a:t>单击此处添加标题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直接连接符 8"/>
          <p:cNvSpPr>
            <a:spLocks noGrp="1"/>
          </p:cNvSpPr>
          <p:nvPr/>
        </p:nvSpPr>
        <p:spPr>
          <a:xfrm>
            <a:off x="1794934" y="723900"/>
            <a:ext cx="10397066" cy="0"/>
          </a:xfrm>
          <a:prstGeom prst="line">
            <a:avLst/>
          </a:prstGeom>
          <a:ln w="28575">
            <a:solidFill>
              <a:srgbClr val="28509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11"/>
          <p:cNvSpPr>
            <a:spLocks noGrp="1"/>
          </p:cNvSpPr>
          <p:nvPr/>
        </p:nv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55" name="图片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56" name="图片 46"/>
          <p:cNvPicPr>
            <a:picLocks noChangeAspect="1"/>
          </p:cNvPicPr>
          <p:nvPr/>
        </p:nvPicPr>
        <p:blipFill>
          <a:blip r:embed="rId3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pic>
        <p:nvPicPr>
          <p:cNvPr id="57" name="图片 12"/>
          <p:cNvPicPr>
            <a:picLocks noChangeAspect="1"/>
          </p:cNvPicPr>
          <p:nvPr/>
        </p:nvPicPr>
        <p:blipFill>
          <a:blip r:embed="rId4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0" name="图片 12"/>
          <p:cNvPicPr>
            <a:picLocks noChangeAspect="1"/>
          </p:cNvPicPr>
          <p:nvPr/>
        </p:nvPicPr>
        <p:blipFill>
          <a:blip r:embed="rId3"/>
          <a:srcRect l="-636" r="268"/>
          <a:stretch>
            <a:fillRect/>
          </a:stretch>
        </p:blipFill>
        <p:spPr>
          <a:xfrm>
            <a:off x="541655" y="469900"/>
            <a:ext cx="1409700" cy="355600"/>
          </a:xfrm>
          <a:prstGeom prst="rect">
            <a:avLst/>
          </a:prstGeom>
        </p:spPr>
      </p:pic>
      <p:pic>
        <p:nvPicPr>
          <p:cNvPr id="31" name="图片 5"/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25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405130" y="2157095"/>
            <a:ext cx="8556625" cy="2002155"/>
          </a:xfrm>
          <a:prstGeom prst="rect">
            <a:avLst/>
          </a:prstGeom>
          <a:noFill/>
        </p:spPr>
        <p:txBody>
          <a:bodyPr wrap="square" lIns="68584" tIns="34291" rIns="68584" bIns="34291" anchor="ctr">
            <a:noAutofit/>
          </a:bodyPr>
          <a:lstStyle>
            <a:lvl1pPr marL="0" indent="0" algn="l">
              <a:buNone/>
              <a:defRPr sz="60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+mj-lt"/>
              </a:defRPr>
            </a:lvl1pPr>
          </a:lstStyle>
          <a:p>
            <a:pPr marL="0" lvl="0">
              <a:buNone/>
            </a:pPr>
            <a:r>
              <a:t>单击此处添加标题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"/>
          <a:ea typeface="思源黑体 CN"/>
          <a:cs typeface="思源黑体 CN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思源黑体 CN"/>
          <a:ea typeface="思源黑体 CN"/>
          <a:cs typeface="思源黑体 CN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思源黑体 CN"/>
          <a:ea typeface="思源黑体 CN"/>
          <a:cs typeface="思源黑体 CN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思源黑体 CN"/>
          <a:ea typeface="思源黑体 CN"/>
          <a:cs typeface="思源黑体 CN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思源黑体 CN"/>
          <a:ea typeface="思源黑体 CN"/>
          <a:cs typeface="思源黑体 CN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思源黑体 CN"/>
          <a:ea typeface="思源黑体 CN"/>
          <a:cs typeface="思源黑体 CN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"/>
          <a:ea typeface="思源黑体 CN"/>
          <a:cs typeface="思源黑体 CN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思源黑体 CN"/>
          <a:ea typeface="思源黑体 CN"/>
          <a:cs typeface="思源黑体 CN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思源黑体 CN"/>
          <a:ea typeface="思源黑体 CN"/>
          <a:cs typeface="思源黑体 CN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思源黑体 CN"/>
          <a:ea typeface="思源黑体 CN"/>
          <a:cs typeface="思源黑体 CN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思源黑体 CN"/>
          <a:ea typeface="思源黑体 CN"/>
          <a:cs typeface="思源黑体 CN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思源黑体 CN"/>
          <a:ea typeface="思源黑体 CN"/>
          <a:cs typeface="思源黑体 CN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jpeg"/><Relationship Id="rId10" Type="http://schemas.openxmlformats.org/officeDocument/2006/relationships/image" Target="../media/image17.jpe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21.png"/><Relationship Id="rId7" Type="http://schemas.openxmlformats.org/officeDocument/2006/relationships/image" Target="../media/image17.jpe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png"/><Relationship Id="rId11" Type="http://schemas.openxmlformats.org/officeDocument/2006/relationships/image" Target="../media/image27.png"/><Relationship Id="rId5" Type="http://schemas.openxmlformats.org/officeDocument/2006/relationships/image" Target="../media/image16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25.jpeg"/><Relationship Id="rId1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Grp="1"/>
          </p:cNvSpPr>
          <p:nvPr/>
        </p:nvSpPr>
        <p:spPr>
          <a:xfrm>
            <a:off x="581025" y="1924050"/>
            <a:ext cx="9906000" cy="2400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600" b="1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Mooncake Store：</a:t>
            </a:r>
          </a:p>
          <a:p>
            <a:pPr algn="l">
              <a:defRPr sz="36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600" b="1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解耦架构中面向智能体</a:t>
            </a:r>
          </a:p>
          <a:p>
            <a:pPr algn="l">
              <a:defRPr sz="36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600" b="1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强化学习的 KV 存储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4914900"/>
            <a:ext cx="8191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FFFFFF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GOSIM Shenzhen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+mj-lt"/>
                <a:ea typeface="+mj-lt"/>
                <a:cs typeface="+mj-lt"/>
              </a:rPr>
              <a:t>01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3038475"/>
            <a:ext cx="9763125" cy="885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67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675" b="1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Overall：项目与生态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4029075"/>
            <a:ext cx="8572500" cy="8667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0">
                <a:solidFill>
                  <a:srgbClr val="DFEAF6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DFEAF6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参与单位、软硬件支持与社区影响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Mooncake 项目概况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大规模推理与强化学习中的传输、存储和通信组件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03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30" y="2028825"/>
            <a:ext cx="4289240" cy="111442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666750" y="3448050"/>
            <a:ext cx="5191125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550" b="1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源自 Kimi 推理系统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095750"/>
            <a:ext cx="5191125" cy="942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Apache 2.0</a:t>
            </a:r>
          </a:p>
          <a:p>
            <a:pPr algn="l">
              <a:defRPr sz="2100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Transfer Engine / Store / EP / PG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86525" y="2124075"/>
            <a:ext cx="4572000" cy="9239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58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5850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6.8k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15100" y="3067050"/>
            <a:ext cx="428625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GitHub Stars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86525" y="3981450"/>
            <a:ext cx="4572000" cy="9239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58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5850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1.3k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515100" y="4914900"/>
            <a:ext cx="428625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GitHub Forks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333750" y="5638800"/>
            <a:ext cx="8201025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github.com/kvcache-ai/Mooncake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参与单位与社区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模型系统、云平台、芯片与开源框架共同参与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04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2038350"/>
            <a:ext cx="1952625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核心团队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66750" y="2609850"/>
            <a:ext cx="10858500" cy="5429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00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00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阿里巴巴 / 清华大学 / 趋境科技 / 月之暗面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3276600"/>
            <a:ext cx="10620375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合作单位与社区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3909521"/>
            <a:ext cx="2038350" cy="677258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475" y="3790950"/>
            <a:ext cx="914400" cy="91440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0225" y="3790950"/>
            <a:ext cx="914400" cy="91440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3942398"/>
            <a:ext cx="2038350" cy="61150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1725" y="3790950"/>
            <a:ext cx="914400" cy="91440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014" y="4838700"/>
            <a:ext cx="1234722" cy="71437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05075" y="5002590"/>
            <a:ext cx="1619250" cy="386596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43400" y="4947003"/>
            <a:ext cx="1619250" cy="497769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1075" y="4838700"/>
            <a:ext cx="1400551" cy="71437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4667" y="4838700"/>
            <a:ext cx="850016" cy="714375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08759" y="4838700"/>
            <a:ext cx="918482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支持的硬件与云平台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GPU、NPU、异构加速器与云网络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05</a:t>
            </a: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180034"/>
            <a:ext cx="2143125" cy="392906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762000" y="2781300"/>
            <a:ext cx="2143125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NVIDIA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0" y="2084243"/>
            <a:ext cx="2143125" cy="584489"/>
          </a:xfrm>
          <a:prstGeom prst="rect">
            <a:avLst/>
          </a:prstGeom>
        </p:spPr>
      </p:pic>
      <p:sp>
        <p:nvSpPr>
          <p:cNvPr id="7" name="矩形 6"/>
          <p:cNvSpPr>
            <a:spLocks noGrp="1"/>
          </p:cNvSpPr>
          <p:nvPr/>
        </p:nvSpPr>
        <p:spPr>
          <a:xfrm>
            <a:off x="3543300" y="2781300"/>
            <a:ext cx="2143125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华为昇腾</a:t>
            </a: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2120652"/>
            <a:ext cx="2143125" cy="511671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6324600" y="2781300"/>
            <a:ext cx="2143125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AMD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4883" y="2057400"/>
            <a:ext cx="1845158" cy="638175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9105900" y="2781300"/>
            <a:ext cx="2143125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寒武纪</a:t>
            </a: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67" y="3257550"/>
            <a:ext cx="2075991" cy="638175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762000" y="3981450"/>
            <a:ext cx="2143125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摩尔线程</a:t>
            </a: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3300" y="3317319"/>
            <a:ext cx="2143125" cy="518636"/>
          </a:xfrm>
          <a:prstGeom prst="rect">
            <a:avLst/>
          </a:prstGeom>
        </p:spPr>
      </p:pic>
      <p:sp>
        <p:nvSpPr>
          <p:cNvPr id="15" name="矩形 14"/>
          <p:cNvSpPr>
            <a:spLocks noGrp="1"/>
          </p:cNvSpPr>
          <p:nvPr/>
        </p:nvSpPr>
        <p:spPr>
          <a:xfrm>
            <a:off x="3543300" y="3981450"/>
            <a:ext cx="2143125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沐曦</a:t>
            </a: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3277547"/>
            <a:ext cx="2143125" cy="598181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6324600" y="3981450"/>
            <a:ext cx="2143125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海光</a:t>
            </a: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05900" y="3294459"/>
            <a:ext cx="2143125" cy="564356"/>
          </a:xfrm>
          <a:prstGeom prst="rect">
            <a:avLst/>
          </a:prstGeom>
        </p:spPr>
      </p:pic>
      <p:sp>
        <p:nvSpPr>
          <p:cNvPr id="19" name="矩形 18"/>
          <p:cNvSpPr>
            <a:spLocks noGrp="1"/>
          </p:cNvSpPr>
          <p:nvPr/>
        </p:nvSpPr>
        <p:spPr>
          <a:xfrm>
            <a:off x="9105900" y="3981450"/>
            <a:ext cx="2143125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壁仞</a:t>
            </a: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4475" y="4457700"/>
            <a:ext cx="638175" cy="638175"/>
          </a:xfrm>
          <a:prstGeom prst="rect">
            <a:avLst/>
          </a:prstGeom>
        </p:spPr>
      </p:pic>
      <p:sp>
        <p:nvSpPr>
          <p:cNvPr id="21" name="矩形 20"/>
          <p:cNvSpPr>
            <a:spLocks noGrp="1"/>
          </p:cNvSpPr>
          <p:nvPr/>
        </p:nvSpPr>
        <p:spPr>
          <a:xfrm>
            <a:off x="762000" y="5181600"/>
            <a:ext cx="2143125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平头哥</a:t>
            </a: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43300" y="4496023"/>
            <a:ext cx="2143125" cy="561530"/>
          </a:xfrm>
          <a:prstGeom prst="rect">
            <a:avLst/>
          </a:prstGeom>
        </p:spPr>
      </p:pic>
      <p:sp>
        <p:nvSpPr>
          <p:cNvPr id="23" name="矩形 22"/>
          <p:cNvSpPr>
            <a:spLocks noGrp="1"/>
          </p:cNvSpPr>
          <p:nvPr/>
        </p:nvSpPr>
        <p:spPr>
          <a:xfrm>
            <a:off x="3543300" y="5181600"/>
            <a:ext cx="2143125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Sunrise</a:t>
            </a: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4642842"/>
            <a:ext cx="2143125" cy="267891"/>
          </a:xfrm>
          <a:prstGeom prst="rect">
            <a:avLst/>
          </a:prstGeom>
        </p:spPr>
      </p:pic>
      <p:sp>
        <p:nvSpPr>
          <p:cNvPr id="25" name="矩形 24"/>
          <p:cNvSpPr>
            <a:spLocks noGrp="1"/>
          </p:cNvSpPr>
          <p:nvPr/>
        </p:nvSpPr>
        <p:spPr>
          <a:xfrm>
            <a:off x="6324600" y="5181600"/>
            <a:ext cx="2143125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阿里云</a:t>
            </a: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44725" y="4457700"/>
            <a:ext cx="1065475" cy="638175"/>
          </a:xfrm>
          <a:prstGeom prst="rect">
            <a:avLst/>
          </a:prstGeom>
        </p:spPr>
      </p:pic>
      <p:sp>
        <p:nvSpPr>
          <p:cNvPr id="27" name="矩形 26"/>
          <p:cNvSpPr>
            <a:spLocks noGrp="1"/>
          </p:cNvSpPr>
          <p:nvPr/>
        </p:nvSpPr>
        <p:spPr>
          <a:xfrm>
            <a:off x="9105900" y="5181600"/>
            <a:ext cx="2143125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AWS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设备内存与互连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运行时按设备和网络选择传输路径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06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609600" y="2009775"/>
          <a:ext cx="10972800" cy="3505200"/>
        </p:xfrm>
        <a:graphic>
          <a:graphicData uri="http://schemas.openxmlformats.org/drawingml/2006/table">
            <a:tbl>
              <a:tblPr/>
              <a:tblGrid>
                <a:gridCol w="31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设备 / 网络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传输路径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典型用途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NVIDIA CUDA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GPUDirect RDMA / NVLink / MNNVL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GPU KVCache 与权重传输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AMD / 海光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HIP / HSL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ROCm、DCU 设备通信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华为昇腾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Ascend / HCCL / UB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NPU 数据交换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MUSA / MACA / MLU / SUPA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对应运行时的设备内存适配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异构加速器传输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IB / RoCE / eRDMA / AWS EFA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RDMA / libfabric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跨节点高速网络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主机与存储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TCP / SHM / CXL / NVMe-oF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DRAM 共享与存储访问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推理软件生态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Mooncake 作为传输、缓存与通信后端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07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609600" y="2028825"/>
          <a:ext cx="10972800" cy="3400425"/>
        </p:xfrm>
        <a:graphic>
          <a:graphicData uri="http://schemas.openxmlformats.org/drawingml/2006/table">
            <a:tbl>
              <a:tblPr/>
              <a:tblGrid>
                <a:gridCol w="360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7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1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项目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Mooncake 组件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集成用途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vLLM / vLLM-Omni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TE、Store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PD 分离、共享 KV、多阶段数据交换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SGLang / SGLang-Omni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TE、Store、EP / PG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PD / EPD、HiCache、弹性 EP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NVIDIA Dynamo / NIXL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TE、Store 事件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传输插件、共享缓存路由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TensorRT-LLM / LMDeploy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TE、Store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KV 传输与共享存储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xLLM / RTP-LLM / vLLM-Ascend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TE 或 Store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异构部署、KV 池与缓存复用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训练与中间件生态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同一套对象存储承接多种数据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08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609600" y="2028825"/>
          <a:ext cx="10972800" cy="3400425"/>
        </p:xfrm>
        <a:graphic>
          <a:graphicData uri="http://schemas.openxmlformats.org/drawingml/2006/table">
            <a:tbl>
              <a:tblPr/>
              <a:tblGrid>
                <a:gridCol w="387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项目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数据对象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使用方式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Miles / Slime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Rollout、模型权重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对象后端与 P2P 权重更新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TransferQueue / NeMo RL / verl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训练样本、张量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异步数据队列与共享存储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TorchSpec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Hidden states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推理与草稿模型训练解耦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LMCache / FlexKV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KVCache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存储后端或 TE 传输后端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checkpoint-engine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模型权重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P2P checkpoint 分发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研究与工程影响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FAST 最佳论文、PyTorch 生态与跨框架集成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09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170817"/>
            <a:ext cx="4686300" cy="1163816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685800" y="3686175"/>
            <a:ext cx="485775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0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00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FAST 2025 最佳论文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343400"/>
            <a:ext cx="493395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KVCache-centric</a:t>
            </a:r>
          </a:p>
          <a:p>
            <a:pPr algn="l">
              <a:defRPr sz="20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Disaggregated Architecture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972175" y="2114550"/>
            <a:ext cx="10477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rPr>
              <a:t>2024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248525" y="2114550"/>
            <a:ext cx="4200525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Transfer Engine 开源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972175" y="3286125"/>
            <a:ext cx="10477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rPr>
              <a:t>2025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48525" y="3286125"/>
            <a:ext cx="4200525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Store 开源，接入 vLLM 与 SGLang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972175" y="4457700"/>
            <a:ext cx="10477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rPr>
              <a:t>2026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248525" y="4457700"/>
            <a:ext cx="4200525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加入 PyTorch Ecosystem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5"/>
          </p:nvPr>
        </p:nvSpPr>
        <p:spPr>
          <a:xfrm>
            <a:off x="609600" y="885825"/>
            <a:ext cx="10953750" cy="657225"/>
          </a:xfrm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Mooncake 的基础组件</a:t>
            </a:r>
          </a:p>
        </p:txBody>
      </p:sp>
      <p:sp>
        <p:nvSpPr>
          <p:cNvPr id="3" name="text-5-1"/>
          <p:cNvSpPr>
            <a:spLocks noGrp="1"/>
          </p:cNvSpPr>
          <p:nvPr/>
        </p:nvSpPr>
        <p:spPr>
          <a:xfrm>
            <a:off x="638175" y="1543050"/>
            <a:ext cx="10887075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Transfer Engine 负责传输，Store 负责共享对象存储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764" y="1906619"/>
            <a:ext cx="4635273" cy="3012091"/>
          </a:xfrm>
          <a:prstGeom prst="rect">
            <a:avLst/>
          </a:prstGeom>
        </p:spPr>
      </p:pic>
      <p:sp>
        <p:nvSpPr>
          <p:cNvPr id="6" name="text-5-3"/>
          <p:cNvSpPr>
            <a:spLocks noGrp="1"/>
          </p:cNvSpPr>
          <p:nvPr/>
        </p:nvSpPr>
        <p:spPr>
          <a:xfrm>
            <a:off x="7839075" y="2191226"/>
            <a:ext cx="3714750" cy="39528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255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5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Transfer Engine</a:t>
            </a:r>
          </a:p>
        </p:txBody>
      </p:sp>
      <p:sp>
        <p:nvSpPr>
          <p:cNvPr id="7" name="text-5-4"/>
          <p:cNvSpPr>
            <a:spLocks noGrp="1"/>
          </p:cNvSpPr>
          <p:nvPr/>
        </p:nvSpPr>
        <p:spPr>
          <a:xfrm>
            <a:off x="7839075" y="2657666"/>
            <a:ext cx="3619500" cy="73523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04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4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批量数据传输</a:t>
            </a:r>
          </a:p>
          <a:p>
            <a:pPr algn="l">
              <a:buNone/>
              <a:defRPr sz="204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4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拓扑与多网卡管理</a:t>
            </a:r>
          </a:p>
        </p:txBody>
      </p:sp>
      <p:sp>
        <p:nvSpPr>
          <p:cNvPr id="8" name="text-5-5"/>
          <p:cNvSpPr>
            <a:spLocks noGrp="1"/>
          </p:cNvSpPr>
          <p:nvPr/>
        </p:nvSpPr>
        <p:spPr>
          <a:xfrm>
            <a:off x="7839075" y="3519392"/>
            <a:ext cx="3714750" cy="39528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255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5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Mooncake Store</a:t>
            </a:r>
          </a:p>
        </p:txBody>
      </p:sp>
      <p:sp>
        <p:nvSpPr>
          <p:cNvPr id="9" name="text-5-6"/>
          <p:cNvSpPr>
            <a:spLocks noGrp="1"/>
          </p:cNvSpPr>
          <p:nvPr/>
        </p:nvSpPr>
        <p:spPr>
          <a:xfrm>
            <a:off x="7839075" y="3985832"/>
            <a:ext cx="3619500" cy="73523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04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4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共享对象与元数据</a:t>
            </a:r>
          </a:p>
          <a:p>
            <a:pPr algn="l">
              <a:buNone/>
              <a:defRPr sz="204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4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DRAM / SSD 资源池</a:t>
            </a:r>
          </a:p>
        </p:txBody>
      </p:sp>
      <p:sp>
        <p:nvSpPr>
          <p:cNvPr id="10" name="text-5-7"/>
          <p:cNvSpPr>
            <a:spLocks noGrp="1"/>
          </p:cNvSpPr>
          <p:nvPr/>
        </p:nvSpPr>
        <p:spPr>
          <a:xfrm>
            <a:off x="3333750" y="5657850"/>
            <a:ext cx="8201025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725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同一套基础设施承接 KVCache、rollout 数据和模型权重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计算与状态分别扩展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推理与训练框架决定计算，Mooncake 承接数据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11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2143125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KVCache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933700" y="2143125"/>
            <a:ext cx="84963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Prefill / Decode 间传输，多实例共享前缀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325755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Rollout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933700" y="3257550"/>
            <a:ext cx="84963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生产者与消费者解耦，按阶段读取样本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4371975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模型权重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933700" y="4371975"/>
            <a:ext cx="84963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从训练布局转换为推理布局，发布新版本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+mj-lt"/>
                <a:ea typeface="+mj-lt"/>
                <a:cs typeface="+mj-lt"/>
              </a:rPr>
              <a:t>02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3038475"/>
            <a:ext cx="9763125" cy="885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67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675" b="1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智能体与多轮上下文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4029075"/>
            <a:ext cx="8572500" cy="8667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0">
                <a:solidFill>
                  <a:srgbClr val="DFEAF6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DFEAF6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缓存复用、跨实例访问与版本隔离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Agent 调用中的重复前缀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Codex / SWE-bench Pro 轨迹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13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076450"/>
            <a:ext cx="10763250" cy="561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700" b="1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长上下文中，大部分内容来自上一轮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3000375"/>
          <a:ext cx="10972800" cy="2495552"/>
        </p:xfrm>
        <a:graphic>
          <a:graphicData uri="http://schemas.openxmlformats.org/drawingml/2006/table">
            <a:tbl>
              <a:tblPr/>
              <a:tblGrid>
                <a:gridCol w="675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Codex / SWE-bench Pro traces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观测值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样本量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610 条轨迹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轮数中位数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33 轮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第 30 轮上下文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约 80K tokens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平均输入 / 输出 token 比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131 : 1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5"/>
          </p:nvPr>
        </p:nvSpPr>
        <p:spPr>
          <a:xfrm>
            <a:off x="609600" y="885825"/>
            <a:ext cx="10953750" cy="657225"/>
          </a:xfrm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Agentic RL 中的 KVCache 复用</a:t>
            </a:r>
          </a:p>
        </p:txBody>
      </p:sp>
      <p:sp>
        <p:nvSpPr>
          <p:cNvPr id="3" name="text-16-1"/>
          <p:cNvSpPr>
            <a:spLocks noGrp="1"/>
          </p:cNvSpPr>
          <p:nvPr/>
        </p:nvSpPr>
        <p:spPr>
          <a:xfrm>
            <a:off x="638175" y="1543050"/>
            <a:ext cx="10887075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多轮对话与工具调用包含大量重复前缀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2052110"/>
            <a:ext cx="6877050" cy="2776449"/>
          </a:xfrm>
          <a:prstGeom prst="rect">
            <a:avLst/>
          </a:prstGeom>
        </p:spPr>
      </p:pic>
      <p:sp>
        <p:nvSpPr>
          <p:cNvPr id="6" name="text-16-3"/>
          <p:cNvSpPr>
            <a:spLocks noGrp="1"/>
          </p:cNvSpPr>
          <p:nvPr/>
        </p:nvSpPr>
        <p:spPr>
          <a:xfrm>
            <a:off x="8039100" y="2167509"/>
            <a:ext cx="3333750" cy="387382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395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395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共享前缀</a:t>
            </a:r>
          </a:p>
        </p:txBody>
      </p:sp>
      <p:sp>
        <p:nvSpPr>
          <p:cNvPr id="7" name="text-16-4"/>
          <p:cNvSpPr>
            <a:spLocks noGrp="1"/>
          </p:cNvSpPr>
          <p:nvPr/>
        </p:nvSpPr>
        <p:spPr>
          <a:xfrm>
            <a:off x="8039100" y="2626043"/>
            <a:ext cx="3371850" cy="82219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7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7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多轮会话与并行轨迹</a:t>
            </a:r>
          </a:p>
          <a:p>
            <a:pPr algn="l">
              <a:buNone/>
              <a:defRPr sz="197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7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复用已经计算的上下文</a:t>
            </a:r>
          </a:p>
        </p:txBody>
      </p:sp>
      <p:sp>
        <p:nvSpPr>
          <p:cNvPr id="8" name="text-16-5"/>
          <p:cNvSpPr>
            <a:spLocks noGrp="1"/>
          </p:cNvSpPr>
          <p:nvPr/>
        </p:nvSpPr>
        <p:spPr>
          <a:xfrm>
            <a:off x="8039100" y="3701225"/>
            <a:ext cx="3381375" cy="39528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395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395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分层存储</a:t>
            </a:r>
          </a:p>
        </p:txBody>
      </p:sp>
      <p:sp>
        <p:nvSpPr>
          <p:cNvPr id="9" name="text-16-6"/>
          <p:cNvSpPr>
            <a:spLocks noGrp="1"/>
          </p:cNvSpPr>
          <p:nvPr/>
        </p:nvSpPr>
        <p:spPr>
          <a:xfrm>
            <a:off x="8039100" y="4159758"/>
            <a:ext cx="3381375" cy="73523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7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7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HBM / DRAM / SSD</a:t>
            </a:r>
          </a:p>
          <a:p>
            <a:pPr algn="l">
              <a:buNone/>
              <a:defRPr sz="197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7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按容量与带宽权衡</a:t>
            </a:r>
          </a:p>
        </p:txBody>
      </p:sp>
      <p:sp>
        <p:nvSpPr>
          <p:cNvPr id="10" name="text-16-7"/>
          <p:cNvSpPr>
            <a:spLocks noGrp="1"/>
          </p:cNvSpPr>
          <p:nvPr/>
        </p:nvSpPr>
        <p:spPr>
          <a:xfrm>
            <a:off x="3333750" y="5657850"/>
            <a:ext cx="8201025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725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权重更新后，KVCache 需要按模型版本隔离或失效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跨实例复用需要共享 KV 池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15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2143125"/>
            <a:ext cx="1666875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容量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2562225" y="2143125"/>
            <a:ext cx="8867775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7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长会话占用持续增长，本机缓存容易被淘汰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66750" y="3305175"/>
            <a:ext cx="1666875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调度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562225" y="3305175"/>
            <a:ext cx="8867775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7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后续轮次可能落到另一个推理实例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4467225"/>
            <a:ext cx="1666875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版本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562225" y="4467225"/>
            <a:ext cx="8867775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7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同一 token 前缀也必须对应兼容的模型状态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+mj-lt"/>
                <a:ea typeface="+mj-lt"/>
                <a:cs typeface="+mj-lt"/>
              </a:rPr>
              <a:t>03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3038475"/>
            <a:ext cx="9763125" cy="885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67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675" b="1">
                <a:solidFill>
                  <a:srgbClr val="FFFFFF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Store 的对象与分层存储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4029075"/>
            <a:ext cx="8572500" cy="8667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0">
                <a:solidFill>
                  <a:srgbClr val="DFEAF6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DFEAF6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读写路径、副本、回收与恢复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Mooncake Store：共享对象与资源池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Master 管理元数据，Client 之间直接传输数据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17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811" y="2028825"/>
            <a:ext cx="7512377" cy="347662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333750" y="5638800"/>
            <a:ext cx="8201025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计算实例独立扩缩容，共享对象由 Store 管理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Put：分配、传输与提交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大对象数据直接写入目标 Client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18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2143125"/>
            <a:ext cx="2047875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1  分配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943225" y="2143125"/>
            <a:ext cx="8486775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Master 为对象选择 segment、空间与副本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3257550"/>
            <a:ext cx="2047875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2  传输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943225" y="3257550"/>
            <a:ext cx="8486775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Transfer Engine 将 payload 写入目标位置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4371975"/>
            <a:ext cx="2047875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3  提交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943225" y="4371975"/>
            <a:ext cx="8486775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传输成功后发布可读对象，失败路径释放预留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Get：查找副本并读入目标缓冲区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19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2143125"/>
            <a:ext cx="2047875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1  查询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2943225" y="2143125"/>
            <a:ext cx="8486775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Master 返回可用副本与位置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66750" y="3257550"/>
            <a:ext cx="2047875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2  读取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943225" y="3257550"/>
            <a:ext cx="8486775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优先选择合适路径，直接传入注册缓冲区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4371975"/>
            <a:ext cx="2047875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3  完成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943225" y="4371975"/>
            <a:ext cx="8486775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确认完成后，计算端再使用对应的数据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面向张量与批量访问的 API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按数据布局选择接口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20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609600" y="2038350"/>
          <a:ext cx="10972800" cy="3314700"/>
        </p:xfrm>
        <a:graphic>
          <a:graphicData uri="http://schemas.openxmlformats.org/drawingml/2006/table">
            <a:tbl>
              <a:tblPr/>
              <a:tblGrid>
                <a:gridCol w="401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接口形式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适用场景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Put / Get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简单对象读写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Batch Put / Get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批量 KV blocks 与样本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From / Into buffer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使用调用者提供的注册缓冲区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Multi-parts / slices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非连续张量、按字段或切片访问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副本与对象放置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访问热点和缓存价值影响放置策略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21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609600" y="2038350"/>
          <a:ext cx="10972800" cy="3314700"/>
        </p:xfrm>
        <a:graphic>
          <a:graphicData uri="http://schemas.openxmlformats.org/drawingml/2006/table">
            <a:tbl>
              <a:tblPr/>
              <a:tblGrid>
                <a:gridCol w="362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3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机制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作用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ReplicaConfig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指定副本数量与放置偏好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Preferred segment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倾向指定资源位置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Soft pin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提高重要对象的保留优先级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Hard pin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显式保护对象，配合释放与容量管理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对象生命周期与上层缓存策略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Store 与推理框架各自负责什么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22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609600" y="2009775"/>
          <a:ext cx="10972800" cy="3457576"/>
        </p:xfrm>
        <a:graphic>
          <a:graphicData uri="http://schemas.openxmlformats.org/drawingml/2006/table">
            <a:tbl>
              <a:tblPr/>
              <a:tblGrid>
                <a:gridCol w="204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7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环节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Store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推理 / 训练框架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56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对象标识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按 key 管理对象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定义前缀、模型版本与布局身份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56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有效读取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副本状态、租约与传输完成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确认数据可用于当前计算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56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淘汰与释放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内存分配、回收、pin 策略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决定保留哪些样本或前缀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56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重算与重试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返回命中、失败或缺失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选择回退计算与业务重试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分层缓存：HBM、DRAM 与 SSD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容量更大的层保存暂时离开 GPU 的状态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23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609600" y="2009775"/>
          <a:ext cx="10972800" cy="3457576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层级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主要角色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数据管理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5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GPU HBM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当前计算直接使用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推理引擎维护 KV slots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5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Host DRAM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低延迟换入与换出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HiCache / Connector 管理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5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Mooncake DRAM 池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跨实例共享、更大容量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Store 管理对象与副本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5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SSD / DFS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延长保留时间、降低容量成本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本地 offload 或 DFS 适配器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SSD Offload：写入、索引与回读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Master 维护对象的内存与磁盘副本位置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24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2143125"/>
            <a:ext cx="17907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写入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686050" y="2143125"/>
            <a:ext cx="874395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客户端后台将待淘汰对象写入 SSD bucket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3257550"/>
            <a:ext cx="17907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登记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686050" y="3257550"/>
            <a:ext cx="874395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写入完成后向 Master 登记磁盘副本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4371975"/>
            <a:ext cx="17907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回读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686050" y="4371975"/>
            <a:ext cx="874395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持有 SSD 的 Client 读入缓冲区，再通过 TE 传输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DeepSeek 3FS：原生 USRBIO 访问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HF3FS 适配器处于实验阶段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25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609600" y="2038350"/>
          <a:ext cx="10972800" cy="331470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2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部分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实现方式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对象布局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Master 在共享 shard 文件中分配范围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数据访问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Client 使用 USRBIO 访问副本描述的区间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批量读取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并发读取多个对象，发挥存储并行性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配置要求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一致的 root、shard 数、容量与对齐方式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部署与恢复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推理实例、Store 资源与 Master 分别管理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26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609600" y="2038350"/>
          <a:ext cx="10972800" cy="3314700"/>
        </p:xfrm>
        <a:graphic>
          <a:graphicData uri="http://schemas.openxmlformats.org/drawingml/2006/table">
            <a:tbl>
              <a:tblPr/>
              <a:tblGrid>
                <a:gridCol w="31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8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部署方式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资源与恢复路径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嵌入式 Client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应用进程内调用，可同时贡献内存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独立 Store 服务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缓存资源与计算实例独立扩缩容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Master HA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etcd 选主、元数据恢复和状态追平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日志与快照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恢复对象索引、segment 与权重元数据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+mj-lt"/>
                <a:ea typeface="+mj-lt"/>
                <a:cs typeface="+mj-lt"/>
              </a:rPr>
              <a:t>04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3038475"/>
            <a:ext cx="9763125" cy="885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67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675" b="1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框架集成与缓存复用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4029075"/>
            <a:ext cx="8572500" cy="8667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0">
                <a:solidFill>
                  <a:srgbClr val="DFEAF6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DFEAF6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vLLM、SGLang、Dynamo 和云原生部署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与 vLLM 的合作：共享 KVCache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MooncakeStoreConnector 接入 KVConnector 接口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28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275" y="2238375"/>
            <a:ext cx="6486525" cy="3086100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7572375" y="2105025"/>
            <a:ext cx="3914775" cy="3524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Scheduler</a:t>
            </a:r>
          </a:p>
          <a:p>
            <a:pPr algn="l">
              <a:defRPr sz="187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查询连续前缀与各 shard 命中</a:t>
            </a:r>
          </a:p>
          <a:p>
            <a:endParaRPr sz="1875">
              <a:latin typeface="Times New Roman" panose="02020603050405020304" charset="0"/>
              <a:ea typeface="宋体" panose="02010600030101010101" pitchFamily="2" charset="-122"/>
            </a:endParaRPr>
          </a:p>
          <a:p>
            <a:pPr algn="l">
              <a:defRPr sz="187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Worker</a:t>
            </a:r>
          </a:p>
          <a:p>
            <a:pPr algn="l">
              <a:defRPr sz="187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异步加载、写入与 RDMA 传输</a:t>
            </a:r>
          </a:p>
          <a:p>
            <a:endParaRPr sz="1875">
              <a:latin typeface="Times New Roman" panose="02020603050405020304" charset="0"/>
              <a:ea typeface="宋体" panose="02010600030101010101" pitchFamily="2" charset="-122"/>
            </a:endParaRPr>
          </a:p>
          <a:p>
            <a:pPr algn="l">
              <a:defRPr sz="187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MultiConnector</a:t>
            </a:r>
          </a:p>
          <a:p>
            <a:pPr algn="l">
              <a:defRPr sz="187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组合 PD 直传与共享 KV 池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vLLM Agentic trace 测试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Kimi-2.5 NVFP4，1P1D，12 × GB200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29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="685800" y="2085975"/>
          <a:ext cx="7029450" cy="3209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8591550" y="2038350"/>
            <a:ext cx="2847975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675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675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3.8×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610600" y="266700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吞吐提升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91550" y="3209925"/>
            <a:ext cx="2847975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675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675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46×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610600" y="3838575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P50 TTFT 加速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91550" y="4381500"/>
            <a:ext cx="2847975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675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675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8.6×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610600" y="501015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端到端延迟加速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333750" y="5638800"/>
            <a:ext cx="8201025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缓存命中率：1.7% 提升到 92.2%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vLLM 扩容：12 到 60 张 GB200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独立的合成多轮扩容测试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30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609600" y="2038350"/>
          <a:ext cx="10972800" cy="3314700"/>
        </p:xfrm>
        <a:graphic>
          <a:graphicData uri="http://schemas.openxmlformats.org/drawingml/2006/table">
            <a:tbl>
              <a:tblPr/>
              <a:tblGrid>
                <a:gridCol w="325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设置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数值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上下文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20K 公共前缀，首轮输入 10K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后续轮次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每轮新增 2,048 输入、900 输出，共 30 轮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并发会话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75、150、225、300、375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调度与结果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Round-robin，命中率持续高于 95%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SGLang HiCache：GPU、Host 与共享存储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Mooncake 提供 external storage backend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31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450" y="2009775"/>
            <a:ext cx="4533900" cy="3562350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7181850" y="2152650"/>
            <a:ext cx="4295775" cy="34194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HiRadixTree</a:t>
            </a:r>
          </a:p>
          <a:p>
            <a:pPr algn="l">
              <a:defRPr sz="202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记录前缀与分层缓存位置</a:t>
            </a:r>
          </a:p>
          <a:p>
            <a:endParaRPr sz="2025">
              <a:latin typeface="Times New Roman" panose="02020603050405020304" charset="0"/>
              <a:ea typeface="宋体" panose="02010600030101010101" pitchFamily="2" charset="-122"/>
            </a:endParaRPr>
          </a:p>
          <a:p>
            <a:pPr algn="l">
              <a:defRPr sz="202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Cache Controller</a:t>
            </a:r>
          </a:p>
          <a:p>
            <a:pPr algn="l">
              <a:defRPr sz="202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控制写入、预取与换入</a:t>
            </a:r>
          </a:p>
          <a:p>
            <a:endParaRPr sz="2025">
              <a:latin typeface="Times New Roman" panose="02020603050405020304" charset="0"/>
              <a:ea typeface="宋体" panose="02010600030101010101" pitchFamily="2" charset="-122"/>
            </a:endParaRPr>
          </a:p>
          <a:p>
            <a:pPr algn="l">
              <a:defRPr sz="202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Mooncake Store</a:t>
            </a:r>
          </a:p>
          <a:p>
            <a:pPr algn="l">
              <a:defRPr sz="202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提供跨实例共享对象池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HiCache 多轮测试：容量影响后续轮次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Qwen3-235B-A22B，8 × H800，输出长度设为 1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32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2143125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GPU only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933700" y="2143125"/>
            <a:ext cx="84963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GPU 容量限制可保留的历史前缀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3257550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Host L2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933700" y="3257550"/>
            <a:ext cx="84963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增加本机缓存后，早期轮次读取开销较低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4371975"/>
            <a:ext cx="20383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Mooncake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933700" y="4371975"/>
            <a:ext cx="84963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上下文继续增长时，共享池维持更多前缀命中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Dynamo：根据缓存层级选择 worker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路由同时考虑本机缓存与共享池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33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609600" y="2038350"/>
          <a:ext cx="10972800" cy="3314700"/>
        </p:xfrm>
        <a:graphic>
          <a:graphicData uri="http://schemas.openxmlformats.org/drawingml/2006/table">
            <a:tbl>
              <a:tblPr/>
              <a:tblGrid>
                <a:gridCol w="369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信息来源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路由器获得的信息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Worker KV events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GPU 与 Host 各层的 stored / removed 事件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Mooncake object events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共享池中可取回的对象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候选 worker 评分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本地命中、远端取回与重算的成本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Dynamo + HiCache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将可取回的前缀计入调度判断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5"/>
          </p:nvPr>
        </p:nvSpPr>
        <p:spPr>
          <a:xfrm>
            <a:off x="609600" y="885825"/>
            <a:ext cx="10953750" cy="657225"/>
          </a:xfrm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Mooncake Conductor：Python 缓存索引接口</a:t>
            </a:r>
          </a:p>
        </p:txBody>
      </p:sp>
      <p:sp>
        <p:nvSpPr>
          <p:cNvPr id="3" name="text-39-1"/>
          <p:cNvSpPr>
            <a:spLocks noGrp="1"/>
          </p:cNvSpPr>
          <p:nvPr/>
        </p:nvSpPr>
        <p:spPr>
          <a:xfrm>
            <a:off x="638175" y="1543050"/>
            <a:ext cx="10887075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通过 ConductorClient 订阅缓存事件、查询前缀命中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2009775"/>
          <a:ext cx="10972800" cy="3276600"/>
        </p:xfrm>
        <a:graphic>
          <a:graphicData uri="http://schemas.openxmlformats.org/drawingml/2006/table">
            <a:tbl>
              <a:tblPr/>
              <a:tblGrid>
                <a:gridCol w="373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API / 数据流</a:t>
                      </a:r>
                    </a:p>
                  </a:txBody>
                  <a:tcPr marL="142875" marR="114300" marT="10477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用途</a:t>
                      </a:r>
                    </a:p>
                  </a:txBody>
                  <a:tcPr marL="142875" marR="114300" marT="104775" marB="76200" anchor="ctr">
                    <a:solidFill>
                      <a:srgbClr val="2B3D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register() + KV events</a:t>
                      </a:r>
                    </a:p>
                  </a:txBody>
                  <a:tcPr marL="142875" marR="11430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注册发布者并持续接收缓存事件</a:t>
                      </a:r>
                    </a:p>
                  </a:txBody>
                  <a:tcPr marL="142875" marR="114300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query()</a:t>
                      </a:r>
                    </a:p>
                  </a:txBody>
                  <a:tcPr marL="142875" marR="11430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查询 prompt 在各实例的连续前缀命中</a:t>
                      </a:r>
                    </a:p>
                  </a:txBody>
                  <a:tcPr marL="142875" marR="114300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list / global view</a:t>
                      </a:r>
                    </a:p>
                  </a:txBody>
                  <a:tcPr marL="142875" marR="11430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查看服务与全局缓存索引状态</a:t>
                      </a:r>
                    </a:p>
                  </a:txBody>
                  <a:tcPr marL="142875" marR="114300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上层路由器</a:t>
                      </a:r>
                    </a:p>
                  </a:txBody>
                  <a:tcPr marL="142875" marR="11430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结合缓存局部性和负载选择服务实例</a:t>
                      </a:r>
                    </a:p>
                  </a:txBody>
                  <a:tcPr marL="142875" marR="114300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-39-3"/>
          <p:cNvSpPr>
            <a:spLocks noGrp="1"/>
          </p:cNvSpPr>
          <p:nvPr/>
        </p:nvSpPr>
        <p:spPr>
          <a:xfrm>
            <a:off x="3333750" y="5657850"/>
            <a:ext cx="8201025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725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缓存事件持续更新索引，query() 查询当前前缀命中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与 NVIDIA Dynamo 的合作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传输、缓存事件、路由与存储接口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35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609600" y="2038350"/>
          <a:ext cx="10972800" cy="3314700"/>
        </p:xfrm>
        <a:graphic>
          <a:graphicData uri="http://schemas.openxmlformats.org/drawingml/2006/table">
            <a:tbl>
              <a:tblPr/>
              <a:tblGrid>
                <a:gridCol w="338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91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合作方向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当前接口或进展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NIXL 传输插件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NIXL 可调用 Mooncake Transfer Engine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共享缓存路由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HiCache 分层事件与 Mooncake 对象事件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平台与工具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CUDA 13、MNNVL、Rust API、Mooncake traces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KVBM 的 G4 存储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Mooncake Store 后端处于开放 PR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DeepSeek 推理：PD 与专家并行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SGLang 的 PD 部署与 Elastic EP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36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609600" y="2038350"/>
          <a:ext cx="10972800" cy="3314700"/>
        </p:xfrm>
        <a:graphic>
          <a:graphicData uri="http://schemas.openxmlformats.org/drawingml/2006/table">
            <a:tbl>
              <a:tblPr/>
              <a:tblGrid>
                <a:gridCol w="380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7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部分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系统分工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Prefill / Decode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独立部署，使用 Mooncake 传输 KVCache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DeepEP / DeepGEMM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专家通信与 MoE 计算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EPLB / Two-batch overlap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专家负载均衡与计算通信重叠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Elastic EP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通过 Mooncake EP / PG 处理部分 rank 故障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5"/>
          </p:nvPr>
        </p:nvSpPr>
        <p:spPr>
          <a:xfrm>
            <a:off x="609600" y="885825"/>
            <a:ext cx="10953750" cy="657225"/>
          </a:xfrm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生产部署：RBG、SGLang 与 Mooncake</a:t>
            </a:r>
          </a:p>
        </p:txBody>
      </p:sp>
      <p:sp>
        <p:nvSpPr>
          <p:cNvPr id="3" name="text-41-1"/>
          <p:cNvSpPr>
            <a:spLocks noGrp="1"/>
          </p:cNvSpPr>
          <p:nvPr/>
        </p:nvSpPr>
        <p:spPr>
          <a:xfrm>
            <a:off x="638175" y="1543050"/>
            <a:ext cx="10887075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按角色管理计算与共享存储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05" y="1952625"/>
            <a:ext cx="4772790" cy="3438525"/>
          </a:xfrm>
          <a:prstGeom prst="rect">
            <a:avLst/>
          </a:prstGeom>
        </p:spPr>
      </p:pic>
      <p:sp>
        <p:nvSpPr>
          <p:cNvPr id="6" name="text-41-3"/>
          <p:cNvSpPr>
            <a:spLocks noGrp="1"/>
          </p:cNvSpPr>
          <p:nvPr/>
        </p:nvSpPr>
        <p:spPr>
          <a:xfrm>
            <a:off x="6096000" y="2124075"/>
            <a:ext cx="5114925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325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325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计算角色</a:t>
            </a:r>
          </a:p>
        </p:txBody>
      </p:sp>
      <p:sp>
        <p:nvSpPr>
          <p:cNvPr id="7" name="text-41-4"/>
          <p:cNvSpPr>
            <a:spLocks noGrp="1"/>
          </p:cNvSpPr>
          <p:nvPr/>
        </p:nvSpPr>
        <p:spPr>
          <a:xfrm>
            <a:off x="6105525" y="2647950"/>
            <a:ext cx="5143500" cy="838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Router、Prefill、Decode</a:t>
            </a:r>
          </a:p>
          <a:p>
            <a:pPr algn="l">
              <a:buNone/>
              <a:defRPr sz="2100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按负载独立扩缩容</a:t>
            </a:r>
          </a:p>
        </p:txBody>
      </p:sp>
      <p:sp>
        <p:nvSpPr>
          <p:cNvPr id="8" name="text-41-5"/>
          <p:cNvSpPr>
            <a:spLocks noGrp="1"/>
          </p:cNvSpPr>
          <p:nvPr/>
        </p:nvSpPr>
        <p:spPr>
          <a:xfrm>
            <a:off x="6096000" y="3857625"/>
            <a:ext cx="5114925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325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325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存储角色</a:t>
            </a:r>
          </a:p>
        </p:txBody>
      </p:sp>
      <p:sp>
        <p:nvSpPr>
          <p:cNvPr id="9" name="text-41-6"/>
          <p:cNvSpPr>
            <a:spLocks noGrp="1"/>
          </p:cNvSpPr>
          <p:nvPr/>
        </p:nvSpPr>
        <p:spPr>
          <a:xfrm>
            <a:off x="6105525" y="4381500"/>
            <a:ext cx="5143500" cy="838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Master 与 Store 独立部署</a:t>
            </a:r>
          </a:p>
          <a:p>
            <a:pPr algn="l">
              <a:buNone/>
              <a:defRPr sz="2100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跨实例共享缓存</a:t>
            </a:r>
          </a:p>
        </p:txBody>
      </p:sp>
      <p:sp>
        <p:nvSpPr>
          <p:cNvPr id="10" name="text-41-7"/>
          <p:cNvSpPr>
            <a:spLocks noGrp="1"/>
          </p:cNvSpPr>
          <p:nvPr/>
        </p:nvSpPr>
        <p:spPr>
          <a:xfrm>
            <a:off x="3333750" y="5657850"/>
            <a:ext cx="8201025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725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计算实例独立扩缩容，共享缓存由 Store 管理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+mj-lt"/>
                <a:ea typeface="+mj-lt"/>
                <a:cs typeface="+mj-lt"/>
              </a:rPr>
              <a:t>05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3038475"/>
            <a:ext cx="9763125" cy="885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67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675" b="1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强化学习中的共享状态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4029075"/>
            <a:ext cx="8572500" cy="8667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0">
                <a:solidFill>
                  <a:srgbClr val="DFEAF6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DFEAF6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样本、权重与 KVCache 的不同生命周期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5"/>
          </p:nvPr>
        </p:nvSpPr>
        <p:spPr>
          <a:xfrm>
            <a:off x="609600" y="885825"/>
            <a:ext cx="10953750" cy="657225"/>
          </a:xfrm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结构化对象：元数据与 payload 分开组织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l="3200" t="17000" r="3200" b="7000"/>
          <a:stretch>
            <a:fillRect/>
          </a:stretch>
        </p:blipFill>
        <p:spPr>
          <a:xfrm>
            <a:off x="2000336" y="1619250"/>
            <a:ext cx="8191327" cy="3857625"/>
          </a:xfrm>
          <a:prstGeom prst="rect">
            <a:avLst/>
          </a:prstGeom>
        </p:spPr>
      </p:pic>
      <p:sp>
        <p:nvSpPr>
          <p:cNvPr id="5" name="text-17-2"/>
          <p:cNvSpPr>
            <a:spLocks noGrp="1"/>
          </p:cNvSpPr>
          <p:nvPr/>
        </p:nvSpPr>
        <p:spPr>
          <a:xfrm>
            <a:off x="3333750" y="5657850"/>
            <a:ext cx="8201025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725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Schema 决定字段布局，manifest 记录对象组成，GET 恢复原始字段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5"/>
          </p:nvPr>
        </p:nvSpPr>
        <p:spPr>
          <a:xfrm>
            <a:off x="609600" y="885825"/>
            <a:ext cx="10953750" cy="657225"/>
          </a:xfrm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Miles：替换 rollout 的 Ray Object Store 路径</a:t>
            </a:r>
          </a:p>
        </p:txBody>
      </p:sp>
      <p:sp>
        <p:nvSpPr>
          <p:cNvPr id="3" name="text-24-1"/>
          <p:cNvSpPr>
            <a:spLocks noGrp="1"/>
          </p:cNvSpPr>
          <p:nvPr/>
        </p:nvSpPr>
        <p:spPr>
          <a:xfrm>
            <a:off x="638175" y="1543050"/>
            <a:ext cx="10887075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调度与训练接口保持原有语义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2009394"/>
          <a:ext cx="10972800" cy="2751201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r>
                        <a:rPr sz="1835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步骤</a:t>
                      </a:r>
                    </a:p>
                  </a:txBody>
                  <a:tcPr marL="142875" marR="114300" marT="10477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35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交接内容</a:t>
                      </a:r>
                    </a:p>
                  </a:txBody>
                  <a:tcPr marL="142875" marR="114300" marT="10477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35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负责组件</a:t>
                      </a:r>
                    </a:p>
                  </a:txBody>
                  <a:tcPr marL="142875" marR="114300" marT="104775" marB="76200" anchor="ctr">
                    <a:solidFill>
                      <a:srgbClr val="2B3D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8792">
                <a:tc>
                  <a:txBody>
                    <a:bodyPr/>
                    <a:lstStyle/>
                    <a:p>
                      <a:r>
                        <a:rPr sz="183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发布</a:t>
                      </a:r>
                    </a:p>
                  </a:txBody>
                  <a:tcPr marL="142875" marR="11430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3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完整 rollout dict 存入 Store，返回引用</a:t>
                      </a:r>
                    </a:p>
                  </a:txBody>
                  <a:tcPr marL="142875" marR="11430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3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Mooncake backend</a:t>
                      </a:r>
                    </a:p>
                  </a:txBody>
                  <a:tcPr marL="142875" marR="114300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8792">
                <a:tc>
                  <a:txBody>
                    <a:bodyPr/>
                    <a:lstStyle/>
                    <a:p>
                      <a:r>
                        <a:rPr sz="183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调度</a:t>
                      </a:r>
                    </a:p>
                  </a:txBody>
                  <a:tcPr marL="142875" marR="11430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3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传递轻量引用，决定 trainer 消费顺序</a:t>
                      </a:r>
                    </a:p>
                  </a:txBody>
                  <a:tcPr marL="142875" marR="11430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3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Miles / Ray</a:t>
                      </a:r>
                    </a:p>
                  </a:txBody>
                  <a:tcPr marL="142875" marR="114300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8792">
                <a:tc>
                  <a:txBody>
                    <a:bodyPr/>
                    <a:lstStyle/>
                    <a:p>
                      <a:r>
                        <a:rPr sz="183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读取与清理</a:t>
                      </a:r>
                    </a:p>
                  </a:txBody>
                  <a:tcPr marL="142875" marR="11430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3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恢复同一份字典，消费后释放结果和对象</a:t>
                      </a:r>
                    </a:p>
                  </a:txBody>
                  <a:tcPr marL="142875" marR="11430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3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Trainer + Mooncake</a:t>
                      </a:r>
                    </a:p>
                  </a:txBody>
                  <a:tcPr marL="142875" marR="114300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-24-3"/>
          <p:cNvSpPr>
            <a:spLocks noGrp="1"/>
          </p:cNvSpPr>
          <p:nvPr/>
        </p:nvSpPr>
        <p:spPr>
          <a:xfrm>
            <a:off x="3333750" y="563880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725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--object-store-backend mooncake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5"/>
          </p:nvPr>
        </p:nvSpPr>
        <p:spPr>
          <a:xfrm>
            <a:off x="609600" y="885825"/>
            <a:ext cx="10953750" cy="657225"/>
          </a:xfrm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NeMo RL：TransferQueue 数据面与可选 GDR</a:t>
            </a:r>
          </a:p>
        </p:txBody>
      </p:sp>
      <p:sp>
        <p:nvSpPr>
          <p:cNvPr id="3" name="text-33-1"/>
          <p:cNvSpPr>
            <a:spLocks noGrp="1"/>
          </p:cNvSpPr>
          <p:nvPr/>
        </p:nvSpPr>
        <p:spPr>
          <a:xfrm>
            <a:off x="638175" y="1543050"/>
            <a:ext cx="10887075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GPU tensor 直接读写共享主机内存池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2009775"/>
          <a:ext cx="10972800" cy="3257552"/>
        </p:xfrm>
        <a:graphic>
          <a:graphicData uri="http://schemas.openxmlformats.org/drawingml/2006/table">
            <a:tbl>
              <a:tblPr/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位置</a:t>
                      </a:r>
                    </a:p>
                  </a:txBody>
                  <a:tcPr marL="142875" marR="114300" marT="10477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职责</a:t>
                      </a:r>
                    </a:p>
                  </a:txBody>
                  <a:tcPr marL="142875" marR="114300" marT="104775" marB="76200" anchor="ctr">
                    <a:solidFill>
                      <a:srgbClr val="2B3D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Rollout / Trainer</a:t>
                      </a:r>
                    </a:p>
                  </a:txBody>
                  <a:tcPr marL="142875" marR="11430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生产或消费 GPU tensor</a:t>
                      </a:r>
                    </a:p>
                  </a:txBody>
                  <a:tcPr marL="142875" marR="114300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TransferQueue</a:t>
                      </a:r>
                    </a:p>
                  </a:txBody>
                  <a:tcPr marL="142875" marR="11430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元数据、字段可见性与消费调度</a:t>
                      </a:r>
                    </a:p>
                  </a:txBody>
                  <a:tcPr marL="142875" marR="114300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Mooncake GDR 路径</a:t>
                      </a:r>
                    </a:p>
                  </a:txBody>
                  <a:tcPr marL="142875" marR="11430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GPU 客户端与远端 host memory 直接传输</a:t>
                      </a:r>
                    </a:p>
                  </a:txBody>
                  <a:tcPr marL="142875" marR="114300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共享内存池</a:t>
                      </a:r>
                    </a:p>
                  </a:txBody>
                  <a:tcPr marL="142875" marR="114300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保存排队对象，管理生命周期与回收</a:t>
                      </a:r>
                    </a:p>
                  </a:txBody>
                  <a:tcPr marL="142875" marR="114300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-33-3"/>
          <p:cNvSpPr>
            <a:spLocks noGrp="1"/>
          </p:cNvSpPr>
          <p:nvPr/>
        </p:nvSpPr>
        <p:spPr>
          <a:xfrm>
            <a:off x="3333750" y="5657850"/>
            <a:ext cx="8201025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725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GDR 省去客户端 CPU staging，数据仍存放在共享 host memory 中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5"/>
          </p:nvPr>
        </p:nvSpPr>
        <p:spPr>
          <a:xfrm>
            <a:off x="609600" y="885825"/>
            <a:ext cx="10953750" cy="657225"/>
          </a:xfrm>
        </p:spPr>
        <p:txBody>
          <a:bodyPr>
            <a:noAutofit/>
          </a:bodyPr>
          <a:lstStyle/>
          <a:p>
            <a:pPr>
              <a:buNone/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Store 权重快照：保存后按目标布局读取</a:t>
            </a:r>
          </a:p>
        </p:txBody>
      </p:sp>
      <p:sp>
        <p:nvSpPr>
          <p:cNvPr id="4" name="text-32-2"/>
          <p:cNvSpPr>
            <a:spLocks noGrp="1"/>
          </p:cNvSpPr>
          <p:nvPr/>
        </p:nvSpPr>
        <p:spPr>
          <a:xfrm>
            <a:off x="628650" y="2072640"/>
            <a:ext cx="2286000" cy="51387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85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85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写入快照</a:t>
            </a:r>
          </a:p>
        </p:txBody>
      </p:sp>
      <p:sp>
        <p:nvSpPr>
          <p:cNvPr id="5" name="text-32-3"/>
          <p:cNvSpPr>
            <a:spLocks noGrp="1"/>
          </p:cNvSpPr>
          <p:nvPr/>
        </p:nvSpPr>
        <p:spPr>
          <a:xfrm>
            <a:off x="3152775" y="2072640"/>
            <a:ext cx="7953375" cy="648272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04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4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begin_weight_snapshot</a:t>
            </a:r>
          </a:p>
          <a:p>
            <a:pPr algn="l">
              <a:buNone/>
              <a:defRPr sz="204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4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write_tensor，再 commit</a:t>
            </a:r>
          </a:p>
        </p:txBody>
      </p:sp>
      <p:sp>
        <p:nvSpPr>
          <p:cNvPr id="6" name="text-32-4"/>
          <p:cNvSpPr>
            <a:spLocks noGrp="1"/>
          </p:cNvSpPr>
          <p:nvPr/>
        </p:nvSpPr>
        <p:spPr>
          <a:xfrm>
            <a:off x="628650" y="2981801"/>
            <a:ext cx="2286000" cy="51387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85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85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读取快照</a:t>
            </a:r>
          </a:p>
        </p:txBody>
      </p:sp>
      <p:sp>
        <p:nvSpPr>
          <p:cNvPr id="7" name="text-32-5"/>
          <p:cNvSpPr>
            <a:spLocks noGrp="1"/>
          </p:cNvSpPr>
          <p:nvPr/>
        </p:nvSpPr>
        <p:spPr>
          <a:xfrm>
            <a:off x="3152775" y="2981801"/>
            <a:ext cx="7953375" cy="648272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04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4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load_manifest、plan_load、load</a:t>
            </a:r>
          </a:p>
          <a:p>
            <a:pPr algn="l">
              <a:buNone/>
              <a:defRPr sz="204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4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按目标 placement 选择 payload ranges</a:t>
            </a:r>
          </a:p>
        </p:txBody>
      </p:sp>
      <p:sp>
        <p:nvSpPr>
          <p:cNvPr id="8" name="text-32-6"/>
          <p:cNvSpPr>
            <a:spLocks noGrp="1"/>
          </p:cNvSpPr>
          <p:nvPr/>
        </p:nvSpPr>
        <p:spPr>
          <a:xfrm>
            <a:off x="628650" y="3890963"/>
            <a:ext cx="2286000" cy="51387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85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85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版本约束</a:t>
            </a:r>
          </a:p>
        </p:txBody>
      </p:sp>
      <p:sp>
        <p:nvSpPr>
          <p:cNvPr id="9" name="text-32-7"/>
          <p:cNvSpPr>
            <a:spLocks noGrp="1"/>
          </p:cNvSpPr>
          <p:nvPr/>
        </p:nvSpPr>
        <p:spPr>
          <a:xfrm>
            <a:off x="3152775" y="3890963"/>
            <a:ext cx="7953375" cy="648272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04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4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固定 revision 与 weight generation</a:t>
            </a:r>
          </a:p>
          <a:p>
            <a:pPr algn="l">
              <a:buNone/>
              <a:defRPr sz="204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4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传输期间保持数据和内存有效</a:t>
            </a:r>
          </a:p>
        </p:txBody>
      </p:sp>
      <p:sp>
        <p:nvSpPr>
          <p:cNvPr id="10" name="text-32-8"/>
          <p:cNvSpPr>
            <a:spLocks noGrp="1"/>
          </p:cNvSpPr>
          <p:nvPr/>
        </p:nvSpPr>
        <p:spPr>
          <a:xfrm>
            <a:off x="3333750" y="5657850"/>
            <a:ext cx="8201025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725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Store 保存快照，框架负责激活新权重与切流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模型更新后的状态管理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权重版本贯穿 rollout、缓存与训练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43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609600" y="2028825"/>
          <a:ext cx="10972800" cy="3381375"/>
        </p:xfrm>
        <a:graphic>
          <a:graphicData uri="http://schemas.openxmlformats.org/drawingml/2006/table">
            <a:tbl>
              <a:tblPr/>
              <a:tblGrid>
                <a:gridCol w="211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对象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需要保留的身份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更新或释放时机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KVCache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模型版本、前缀、dtype、布局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权重切换后隔离或失效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Rollout 样本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样本 ID、策略版本、字段与行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消费者完成后释放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权重快照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版本 ID、分片布局、manifest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新版本就绪后切换与回收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系统性能：命中、等待与有效吞吐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44</a:t>
            </a:r>
          </a:p>
        </p:txBody>
      </p:sp>
      <p:graphicFrame>
        <p:nvGraphicFramePr>
          <p:cNvPr id="6" name="表格 5"/>
          <p:cNvGraphicFramePr/>
          <p:nvPr/>
        </p:nvGraphicFramePr>
        <p:xfrm>
          <a:off x="609600" y="2038350"/>
          <a:ext cx="10972800" cy="3314700"/>
        </p:xfrm>
        <a:graphic>
          <a:graphicData uri="http://schemas.openxmlformats.org/drawingml/2006/table">
            <a:tbl>
              <a:tblPr/>
              <a:tblGrid>
                <a:gridCol w="280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环节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观察指标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缓存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Token / byte 命中率，各层容量与淘汰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数据面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Put / Get 延迟、有效带宽、失败重试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推理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TTFT、TPOT、端到端 p95 / p99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强化学习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样本交接等待、权重更新、有效样本吞吐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Mooncake Store 的作用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45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2143125"/>
            <a:ext cx="2162175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共享容量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057525" y="2143125"/>
            <a:ext cx="8372475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7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让 KVCache 跨实例保留与复用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66750" y="3276600"/>
            <a:ext cx="2162175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数据交接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057525" y="3276600"/>
            <a:ext cx="8372475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7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以对象承接样本、hidden states 和权重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4410075"/>
            <a:ext cx="2162175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生命周期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057525" y="4410075"/>
            <a:ext cx="8372475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75" b="0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0">
                <a:solidFill>
                  <a:srgbClr val="263651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将计算扩缩容与缓存资源管理分开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sz="9600">
                <a:latin typeface="+mj-lt"/>
                <a:ea typeface="+mj-lt"/>
                <a:cs typeface="+mj-lt"/>
              </a:rPr>
              <a:t>Thanks!</a:t>
            </a:r>
          </a:p>
        </p:txBody>
      </p:sp>
      <p:sp>
        <p:nvSpPr>
          <p:cNvPr id="4" name="text-45-1"/>
          <p:cNvSpPr>
            <a:spLocks noGrp="1"/>
          </p:cNvSpPr>
          <p:nvPr/>
        </p:nvSpPr>
        <p:spPr>
          <a:xfrm>
            <a:off x="581025" y="3876675"/>
            <a:ext cx="68580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85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850" b="1">
                <a:solidFill>
                  <a:srgbClr val="FFFFFF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Q&amp;A</a:t>
            </a:r>
          </a:p>
        </p:txBody>
      </p:sp>
      <p:sp>
        <p:nvSpPr>
          <p:cNvPr id="5" name="text-45-2"/>
          <p:cNvSpPr>
            <a:spLocks noGrp="1"/>
          </p:cNvSpPr>
          <p:nvPr/>
        </p:nvSpPr>
        <p:spPr>
          <a:xfrm>
            <a:off x="600075" y="4638675"/>
            <a:ext cx="78676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025" b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0">
                <a:solidFill>
                  <a:srgbClr val="FFFFFF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github.com/kvcache-ai/Mooncake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EB48E6A-9D5A-F160-1EE0-DC4E205A6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209" y="2056184"/>
            <a:ext cx="2778602" cy="280156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OpenClaw 多会话案例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多会话请求的 p95 延迟（ms）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B01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="685800" y="2085975"/>
          <a:ext cx="1068705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3333750" y="5638800"/>
            <a:ext cx="8201025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3265A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1">
                <a:solidFill>
                  <a:srgbClr val="3265A0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该案例中，后续轮 p50 为 171 ms / 169 ms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几种保留机制的区别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B02</a:t>
            </a:r>
          </a:p>
        </p:txBody>
      </p:sp>
      <p:graphicFrame>
        <p:nvGraphicFramePr>
          <p:cNvPr id="6" name="表格 5"/>
          <p:cNvGraphicFramePr/>
          <p:nvPr/>
        </p:nvGraphicFramePr>
        <p:xfrm>
          <a:off x="609600" y="2038350"/>
          <a:ext cx="10972800" cy="3314700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机制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保护的内容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Lease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读写期间的对象或缓冲区有效性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Soft / hard pin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对象回收策略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模型版本隔离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KVCache 与当前计算的语义兼容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HA 元数据快照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Store 对象索引与资源状态恢复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DeepSeek 生态：模型推理与 3FS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38175" y="1562100"/>
            <a:ext cx="10887075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65778D"/>
                </a:solidFill>
                <a:latin typeface="Times New Roman" panose="02020603050405020304" charset="0"/>
                <a:ea typeface="宋体" panose="02010600030101010101" pitchFamily="2" charset="-122"/>
                <a:cs typeface="Source Han Sans CN"/>
              </a:rPr>
              <a:t>PD 分离、专家通信和分层缓存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B03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609600" y="2038350"/>
          <a:ext cx="10972800" cy="3314700"/>
        </p:xfrm>
        <a:graphic>
          <a:graphicData uri="http://schemas.openxmlformats.org/drawingml/2006/table">
            <a:tbl>
              <a:tblPr/>
              <a:tblGrid>
                <a:gridCol w="348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方向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与 Mooncake 的结合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DeepSeek V3 / R1 推理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SGLang 使用 Mooncake 进行 PD 数据传输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DeepEP 与 Elastic EP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兼容专家通信接口，加入 rank 故障感知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DeepSeek 3FS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Mooncake Store 对接 HF3FS USRBIO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当前进展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PD / EP 已有案例，3FS 新适配器仍属实验性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Grp="1"/>
          </p:cNvSpPr>
          <p:nvPr/>
        </p:nvSpPr>
        <p:spPr>
          <a:xfrm>
            <a:off x="609600" y="88582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000" b="1">
                <a:solidFill>
                  <a:srgbClr val="26365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000" b="1">
                <a:solidFill>
                  <a:srgbClr val="263651"/>
                </a:solidFill>
                <a:latin typeface="Arial" panose="020B0604020202020204" pitchFamily="34" charset="0"/>
                <a:ea typeface="黑体" panose="02010609060101010101" charset="-122"/>
                <a:cs typeface="Source Han Sans CN"/>
              </a:rPr>
              <a:t>代码、文档与技术资料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944225" y="6153150"/>
            <a:ext cx="6667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65778D"/>
                </a:solidFill>
                <a:latin typeface="Source Han Sans CN"/>
                <a:ea typeface="Source Han Sans CN"/>
                <a:cs typeface="Source Han Sans CN"/>
              </a:rPr>
              <a:t>B04</a:t>
            </a:r>
          </a:p>
        </p:txBody>
      </p:sp>
      <p:graphicFrame>
        <p:nvGraphicFramePr>
          <p:cNvPr id="6" name="表格 5"/>
          <p:cNvGraphicFramePr/>
          <p:nvPr/>
        </p:nvGraphicFramePr>
        <p:xfrm>
          <a:off x="609600" y="2000250"/>
          <a:ext cx="10972800" cy="3486150"/>
        </p:xfrm>
        <a:graphic>
          <a:graphicData uri="http://schemas.openxmlformats.org/drawingml/2006/table">
            <a:tbl>
              <a:tblPr/>
              <a:tblGrid>
                <a:gridCol w="291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5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主题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入口</a:t>
                      </a:r>
                    </a:p>
                  </a:txBody>
                  <a:tcPr marL="133350" marR="114300" marT="85725" marB="76200" anchor="ctr">
                    <a:solidFill>
                      <a:srgbClr val="2B3D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17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Store 架构与 API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kvcache-ai.github.io/Mooncake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17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vLLM 共享缓存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vllm-project.github.io/2026/05/06/mooncake-store.html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17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SGLang HiCache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Mooncake 文档：design/hicache-design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17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Dynamo 分层路由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Dynamo 文档：Using HiCache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17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3FS USRBIO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65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Source Han Sans CN"/>
                        </a:rPr>
                        <a:t>Mooncake 文档：3FS-USRBIO-Plugin</a:t>
                      </a:r>
                    </a:p>
                  </a:txBody>
                  <a:tcPr marL="133350" marR="114300" marT="8572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GOSIM-默认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GOSIM-默认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GOSIM-默认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"/>
        <a:ea typeface=""/>
        <a:cs typeface=""/>
        <a:font script="Jpan" typeface="游ゴシック Light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"/>
        <a:ea typeface=""/>
        <a:cs typeface=""/>
        <a:font script="Jpan" typeface="游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4800</Words>
  <Application>Microsoft Office PowerPoint</Application>
  <PresentationFormat>宽屏</PresentationFormat>
  <Paragraphs>918</Paragraphs>
  <Slides>50</Slides>
  <Notes>50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50</vt:i4>
      </vt:variant>
    </vt:vector>
  </HeadingPairs>
  <TitlesOfParts>
    <vt:vector size="57" baseType="lpstr">
      <vt:lpstr>Source Han Sans CN</vt:lpstr>
      <vt:lpstr>Source Han Sans CN Bold</vt:lpstr>
      <vt:lpstr>思源黑体 CN</vt:lpstr>
      <vt:lpstr>Arial</vt:lpstr>
      <vt:lpstr>Times New Roman</vt:lpstr>
      <vt:lpstr>GOSIM-默认</vt:lpstr>
      <vt:lpstr>1_GOSIM-默认</vt:lpstr>
      <vt:lpstr>PowerPoint 演示文稿</vt:lpstr>
      <vt:lpstr>01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02</vt:lpstr>
      <vt:lpstr>PowerPoint 演示文稿</vt:lpstr>
      <vt:lpstr>PowerPoint 演示文稿</vt:lpstr>
      <vt:lpstr>PowerPoint 演示文稿</vt:lpstr>
      <vt:lpstr>03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04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05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淇埼 梁</cp:lastModifiedBy>
  <cp:revision>2</cp:revision>
  <dcterms:created xsi:type="dcterms:W3CDTF">2026-10-16T09:37:14Z</dcterms:created>
  <dcterms:modified xsi:type="dcterms:W3CDTF">2026-10-17T04:09:46Z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A8BE2234311C4A3D95F7D1D171EFF01B_13</vt:lpwstr>
  </property>
  <property fmtid="{D5CDD505-2E9C-101B-9397-08002B2CF9AE}" pid="3" name="KSOProductBuildVer">
    <vt:lpwstr>2052-12.1.0.28505</vt:lpwstr>
  </property>
</Properties>
</file>