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media/image2.jpeg" ContentType="image/jpeg"/>
  <Override PartName="/ppt/media/image3.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7.xml" ContentType="application/vnd.openxmlformats-officedocument.presentationml.notesSlide+xml"/>
  <Override PartName="/ppt/charts/chart7.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Value</a:t>
            </a:r>
          </a:p>
        </c:rich>
      </c:tx>
      <c:layout>
        <c:manualLayout>
          <c:xMode val="edge"/>
          <c:yMode val="edge"/>
          <c:x val="0.476267"/>
          <c:y val="0"/>
          <c:w val="0.0474662"/>
          <c:h val="0.0951111"/>
        </c:manualLayout>
      </c:layout>
      <c:overlay val="1"/>
      <c:spPr>
        <a:noFill/>
        <a:effectLst/>
      </c:spPr>
    </c:title>
    <c:autoTitleDeleted val="1"/>
    <c:plotArea>
      <c:layout>
        <c:manualLayout>
          <c:layoutTarget val="inner"/>
          <c:xMode val="edge"/>
          <c:yMode val="edge"/>
          <c:x val="0.0502043"/>
          <c:y val="0.0951111"/>
          <c:w val="0.944796"/>
          <c:h val="0.736303"/>
        </c:manualLayout>
      </c:layout>
      <c:barChart>
        <c:barDir val="col"/>
        <c:grouping val="clustered"/>
        <c:varyColors val="0"/>
        <c:ser>
          <c:idx val="0"/>
          <c:order val="0"/>
          <c:tx>
            <c:v>Value</c:v>
          </c:tx>
          <c:spPr>
            <a:solidFill>
              <a:srgbClr val="9CAFCA"/>
            </a:solidFill>
            <a:ln w="12700" cap="flat">
              <a:noFill/>
              <a:miter lim="400000"/>
            </a:ln>
            <a:effectLst/>
          </c:spPr>
          <c:invertIfNegative val="0"/>
          <c:dPt>
            <c:idx val="0"/>
            <c:spPr>
              <a:solidFill>
                <a:srgbClr val="9CAFCA"/>
              </a:solidFill>
              <a:ln w="12700" cap="flat">
                <a:noFill/>
                <a:miter lim="400000"/>
              </a:ln>
              <a:effectLst/>
            </c:spPr>
          </c:dPt>
          <c:dPt>
            <c:idx val="1"/>
            <c:spPr>
              <a:solidFill>
                <a:srgbClr val="2D5093"/>
              </a:solidFill>
              <a:ln w="12700" cap="flat">
                <a:noFill/>
                <a:miter lim="400000"/>
              </a:ln>
              <a:effectLst/>
            </c:spPr>
          </c:dPt>
          <c:dLbls>
            <c:dLbl>
              <c:idx val="0"/>
              <c:numFmt formatCode="0.0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dLbl>
            <c:dLbl>
              <c:idx val="1"/>
              <c:numFmt formatCode="0.0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dLbl>
            <c:numFmt formatCode="0.0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showLeaderLines val="0"/>
          </c:dLbls>
          <c:cat>
            <c:strLit>
              <c:ptCount val="2"/>
              <c:pt idx="0">
                <c:v>GPU cache
only</c:v>
              </c:pt>
              <c:pt idx="1">
                <c:v>GPU + CPU
+ 3FS</c:v>
              </c:pt>
            </c:strLit>
          </c:cat>
          <c:val>
            <c:numLit>
              <c:ptCount val="2"/>
              <c:pt idx="0">
                <c:v>8.610000</c:v>
              </c:pt>
              <c:pt idx="1">
                <c:v>1.830000</c:v>
              </c:pt>
            </c:numLit>
          </c:val>
        </c:ser>
        <c:gapWidth val="10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BCCCE0"/>
            </a:solidFill>
            <a:prstDash val="solid"/>
            <a:round/>
          </a:ln>
        </c:spPr>
        <c:txPr>
          <a:bodyPr rot="0"/>
          <a:lstStyle/>
          <a:p>
            <a:pPr>
              <a:defRPr b="0" i="0" strike="noStrike" sz="1600" u="none">
                <a:solidFill>
                  <a:srgbClr val="223854"/>
                </a:solidFill>
                <a:latin typeface="Arial"/>
              </a:defRPr>
            </a:pPr>
          </a:p>
        </c:txPr>
        <c:crossAx val="2094734553"/>
        <c:crosses val="autoZero"/>
        <c:auto val="1"/>
        <c:lblAlgn val="ctr"/>
        <c:noMultiLvlLbl val="1"/>
      </c:catAx>
      <c:valAx>
        <c:axId val="2094734553"/>
        <c:scaling>
          <c:orientation val="minMax"/>
          <c:max val="10"/>
          <c:min val="0"/>
        </c:scaling>
        <c:delete val="0"/>
        <c:axPos val="l"/>
        <c:majorGridlines>
          <c:spPr>
            <a:ln w="12700" cap="flat">
              <a:solidFill>
                <a:srgbClr val="E1E8F0"/>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200" u="none">
                <a:solidFill>
                  <a:srgbClr val="576E89"/>
                </a:solidFill>
                <a:latin typeface="Arial"/>
              </a:defRPr>
            </a:pPr>
          </a:p>
        </c:txPr>
        <c:crossAx val="2094734552"/>
        <c:crosses val="autoZero"/>
        <c:crossBetween val="between"/>
        <c:majorUnit val="2"/>
        <c:minorUnit val="1"/>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538526"/>
          <c:y val="0.168578"/>
          <c:w val="0.941147"/>
          <c:h val="0.656473"/>
        </c:manualLayout>
      </c:layout>
      <c:barChart>
        <c:barDir val="col"/>
        <c:grouping val="clustered"/>
        <c:varyColors val="0"/>
        <c:ser>
          <c:idx val="0"/>
          <c:order val="0"/>
          <c:tx>
            <c:strRef>
              <c:f>Sheet1!$B$1</c:f>
              <c:strCache>
                <c:ptCount val="1"/>
                <c:pt idx="0">
                  <c:v>HiRadixCache + LRU</c:v>
                </c:pt>
              </c:strCache>
            </c:strRef>
          </c:tx>
          <c:spPr>
            <a:solidFill>
              <a:srgbClr val="9CAFCA"/>
            </a:solidFill>
            <a:ln w="12700" cap="flat">
              <a:noFill/>
              <a:miter lim="400000"/>
            </a:ln>
            <a:effectLst/>
          </c:spPr>
          <c:invertIfNegative val="0"/>
          <c:dLbls>
            <c:numFmt formatCode="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showLeaderLines val="0"/>
          </c:dLbls>
          <c:cat>
            <c:strRef>
              <c:f>Sheet1!$A$2:$A$4</c:f>
              <c:strCache>
                <c:ptCount val="3"/>
                <c:pt idx="0">
                  <c:v>Model A · BS 128
Device</c:v>
                </c:pt>
                <c:pt idx="1">
                  <c:v>Model B · BS 32
Device</c:v>
                </c:pt>
                <c:pt idx="2">
                  <c:v>Model B · BS 64
Device + Host</c:v>
                </c:pt>
              </c:strCache>
            </c:strRef>
          </c:cat>
          <c:val>
            <c:numRef>
              <c:f>Sheet1!$B$2:$B$4</c:f>
              <c:numCache>
                <c:ptCount val="3"/>
                <c:pt idx="0">
                  <c:v>0.420000</c:v>
                </c:pt>
                <c:pt idx="1">
                  <c:v>0.050000</c:v>
                </c:pt>
                <c:pt idx="2">
                  <c:v>0.580000</c:v>
                </c:pt>
              </c:numCache>
            </c:numRef>
          </c:val>
        </c:ser>
        <c:ser>
          <c:idx val="1"/>
          <c:order val="1"/>
          <c:tx>
            <c:strRef>
              <c:f>Sheet1!$C$1</c:f>
              <c:strCache>
                <c:ptCount val="1"/>
                <c:pt idx="0">
                  <c:v>Unified + Session-aware</c:v>
                </c:pt>
              </c:strCache>
            </c:strRef>
          </c:tx>
          <c:spPr>
            <a:solidFill>
              <a:srgbClr val="2D5093"/>
            </a:solidFill>
            <a:ln w="12700" cap="flat">
              <a:noFill/>
              <a:miter lim="400000"/>
            </a:ln>
            <a:effectLst/>
          </c:spPr>
          <c:invertIfNegative val="0"/>
          <c:dLbls>
            <c:numFmt formatCode="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showLeaderLines val="0"/>
          </c:dLbls>
          <c:cat>
            <c:strRef>
              <c:f>Sheet1!$A$2:$A$4</c:f>
              <c:strCache>
                <c:ptCount val="3"/>
                <c:pt idx="0">
                  <c:v>Model A · BS 128
Device</c:v>
                </c:pt>
                <c:pt idx="1">
                  <c:v>Model B · BS 32
Device</c:v>
                </c:pt>
                <c:pt idx="2">
                  <c:v>Model B · BS 64
Device + Host</c:v>
                </c:pt>
              </c:strCache>
            </c:strRef>
          </c:cat>
          <c:val>
            <c:numRef>
              <c:f>Sheet1!$C$2:$C$4</c:f>
              <c:numCache>
                <c:ptCount val="3"/>
                <c:pt idx="0">
                  <c:v>0.510000</c:v>
                </c:pt>
                <c:pt idx="1">
                  <c:v>0.340000</c:v>
                </c:pt>
                <c:pt idx="2">
                  <c:v>0.670000</c:v>
                </c:pt>
              </c:numCache>
            </c:numRef>
          </c:val>
        </c:ser>
        <c:gapWidth val="105"/>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BCCCE0"/>
            </a:solidFill>
            <a:prstDash val="solid"/>
            <a:round/>
          </a:ln>
        </c:spPr>
        <c:txPr>
          <a:bodyPr rot="0"/>
          <a:lstStyle/>
          <a:p>
            <a:pPr>
              <a:defRPr b="0" i="0" strike="noStrike" sz="1600" u="none">
                <a:solidFill>
                  <a:srgbClr val="223854"/>
                </a:solidFill>
                <a:latin typeface="Arial"/>
              </a:defRPr>
            </a:pPr>
          </a:p>
        </c:txPr>
        <c:crossAx val="2094734553"/>
        <c:crosses val="autoZero"/>
        <c:auto val="1"/>
        <c:lblAlgn val="ctr"/>
        <c:noMultiLvlLbl val="1"/>
      </c:catAx>
      <c:valAx>
        <c:axId val="2094734553"/>
        <c:scaling>
          <c:orientation val="minMax"/>
          <c:max val="1"/>
          <c:min val="0"/>
        </c:scaling>
        <c:delete val="0"/>
        <c:axPos val="l"/>
        <c:majorGridlines>
          <c:spPr>
            <a:ln w="12700" cap="flat">
              <a:solidFill>
                <a:srgbClr val="E1E8F0"/>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200" u="none">
                <a:solidFill>
                  <a:srgbClr val="576E89"/>
                </a:solidFill>
                <a:latin typeface="Arial"/>
              </a:defRPr>
            </a:pPr>
          </a:p>
        </c:txPr>
        <c:crossAx val="2094734552"/>
        <c:crosses val="autoZero"/>
        <c:crossBetween val="between"/>
        <c:majorUnit val="0.2"/>
        <c:minorUnit val="0.1"/>
      </c:valAx>
      <c:spPr>
        <a:noFill/>
        <a:ln w="12700" cap="flat">
          <a:noFill/>
          <a:miter lim="400000"/>
        </a:ln>
        <a:effectLst/>
      </c:spPr>
    </c:plotArea>
    <c:legend>
      <c:legendPos val="t"/>
      <c:layout>
        <c:manualLayout>
          <c:xMode val="edge"/>
          <c:yMode val="edge"/>
          <c:x val="0.289271"/>
          <c:y val="0"/>
          <c:w val="0.452359"/>
          <c:h val="0.0838333"/>
        </c:manualLayout>
      </c:layout>
      <c:overlay val="1"/>
      <c:spPr>
        <a:noFill/>
        <a:ln w="12700" cap="flat">
          <a:noFill/>
          <a:miter lim="400000"/>
        </a:ln>
        <a:effectLst/>
      </c:spPr>
      <c:txPr>
        <a:bodyPr rot="0"/>
        <a:lstStyle/>
        <a:p>
          <a:pPr>
            <a:defRPr b="0" i="0" strike="noStrike" sz="1400" u="none">
              <a:solidFill>
                <a:srgbClr val="223854"/>
              </a:solidFill>
              <a:latin typeface="Arial"/>
            </a:defRPr>
          </a:pPr>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Value</a:t>
            </a:r>
          </a:p>
        </c:rich>
      </c:tx>
      <c:layout>
        <c:manualLayout>
          <c:xMode val="edge"/>
          <c:yMode val="edge"/>
          <c:x val="0.466982"/>
          <c:y val="0"/>
          <c:w val="0.0660363"/>
          <c:h val="0.113763"/>
        </c:manualLayout>
      </c:layout>
      <c:overlay val="1"/>
      <c:spPr>
        <a:noFill/>
        <a:effectLst/>
      </c:spPr>
    </c:title>
    <c:autoTitleDeleted val="1"/>
    <c:plotArea>
      <c:layout>
        <c:manualLayout>
          <c:layoutTarget val="inner"/>
          <c:xMode val="edge"/>
          <c:yMode val="edge"/>
          <c:x val="0.116347"/>
          <c:y val="0.113763"/>
          <c:w val="0.878653"/>
          <c:h val="0.761643"/>
        </c:manualLayout>
      </c:layout>
      <c:barChart>
        <c:barDir val="col"/>
        <c:grouping val="clustered"/>
        <c:varyColors val="0"/>
        <c:ser>
          <c:idx val="0"/>
          <c:order val="0"/>
          <c:tx>
            <c:v>Value</c:v>
          </c:tx>
          <c:spPr>
            <a:solidFill>
              <a:srgbClr val="9CAFCA"/>
            </a:solidFill>
            <a:ln w="12700" cap="flat">
              <a:noFill/>
              <a:miter lim="400000"/>
            </a:ln>
            <a:effectLst/>
          </c:spPr>
          <c:invertIfNegative val="0"/>
          <c:dPt>
            <c:idx val="0"/>
            <c:spPr>
              <a:solidFill>
                <a:srgbClr val="9CAFCA"/>
              </a:solidFill>
              <a:ln w="12700" cap="flat">
                <a:noFill/>
                <a:miter lim="400000"/>
              </a:ln>
              <a:effectLst/>
            </c:spPr>
          </c:dPt>
          <c:dPt>
            <c:idx val="1"/>
            <c:spPr>
              <a:solidFill>
                <a:srgbClr val="2D5093"/>
              </a:solidFill>
              <a:ln w="12700" cap="flat">
                <a:noFill/>
                <a:miter lim="400000"/>
              </a:ln>
              <a:effectLst/>
            </c:spPr>
          </c:dPt>
          <c:dLbls>
            <c:dLbl>
              <c:idx val="0"/>
              <c:numFmt formatCode="0.0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dLbl>
            <c:dLbl>
              <c:idx val="1"/>
              <c:numFmt formatCode="0.0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dLbl>
            <c:numFmt formatCode="0.0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showLeaderLines val="0"/>
          </c:dLbls>
          <c:cat>
            <c:strLit>
              <c:ptCount val="2"/>
              <c:pt idx="0">
                <c:v>Baseline</c:v>
              </c:pt>
              <c:pt idx="1">
                <c:v>Branch caching</c:v>
              </c:pt>
            </c:strLit>
          </c:cat>
          <c:val>
            <c:numLit>
              <c:ptCount val="2"/>
              <c:pt idx="0">
                <c:v>0.438100</c:v>
              </c:pt>
              <c:pt idx="1">
                <c:v>0.607500</c:v>
              </c:pt>
            </c:numLit>
          </c:val>
        </c:ser>
        <c:gapWidth val="10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BCCCE0"/>
            </a:solidFill>
            <a:prstDash val="solid"/>
            <a:round/>
          </a:ln>
        </c:spPr>
        <c:txPr>
          <a:bodyPr rot="0"/>
          <a:lstStyle/>
          <a:p>
            <a:pPr>
              <a:defRPr b="0" i="0" strike="noStrike" sz="1400" u="none">
                <a:solidFill>
                  <a:srgbClr val="223854"/>
                </a:solidFill>
                <a:latin typeface="Arial"/>
              </a:defRPr>
            </a:pPr>
          </a:p>
        </c:txPr>
        <c:crossAx val="2094734553"/>
        <c:crosses val="autoZero"/>
        <c:auto val="1"/>
        <c:lblAlgn val="ctr"/>
        <c:noMultiLvlLbl val="1"/>
      </c:catAx>
      <c:valAx>
        <c:axId val="2094734553"/>
        <c:scaling>
          <c:orientation val="minMax"/>
          <c:max val="1"/>
          <c:min val="0"/>
        </c:scaling>
        <c:delete val="0"/>
        <c:axPos val="l"/>
        <c:majorGridlines>
          <c:spPr>
            <a:ln w="12700" cap="flat">
              <a:solidFill>
                <a:srgbClr val="E1E8F0"/>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200" u="none">
                <a:solidFill>
                  <a:srgbClr val="576E89"/>
                </a:solidFill>
                <a:latin typeface="Arial"/>
              </a:defRPr>
            </a:pPr>
          </a:p>
        </c:txPr>
        <c:crossAx val="2094734552"/>
        <c:crosses val="autoZero"/>
        <c:crossBetween val="between"/>
        <c:majorUnit val="0.25"/>
        <c:minorUnit val="0.125"/>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Value</a:t>
            </a:r>
          </a:p>
        </c:rich>
      </c:tx>
      <c:layout>
        <c:manualLayout>
          <c:xMode val="edge"/>
          <c:yMode val="edge"/>
          <c:x val="0.465763"/>
          <c:y val="0"/>
          <c:w val="0.0684746"/>
          <c:h val="0.113763"/>
        </c:manualLayout>
      </c:layout>
      <c:overlay val="1"/>
      <c:spPr>
        <a:noFill/>
        <a:effectLst/>
      </c:spPr>
    </c:title>
    <c:autoTitleDeleted val="1"/>
    <c:plotArea>
      <c:layout>
        <c:manualLayout>
          <c:layoutTarget val="inner"/>
          <c:xMode val="edge"/>
          <c:yMode val="edge"/>
          <c:x val="0.118802"/>
          <c:y val="0.113763"/>
          <c:w val="0.876198"/>
          <c:h val="0.761643"/>
        </c:manualLayout>
      </c:layout>
      <c:barChart>
        <c:barDir val="col"/>
        <c:grouping val="clustered"/>
        <c:varyColors val="0"/>
        <c:ser>
          <c:idx val="0"/>
          <c:order val="0"/>
          <c:tx>
            <c:v>Value</c:v>
          </c:tx>
          <c:spPr>
            <a:solidFill>
              <a:srgbClr val="9CAFCA"/>
            </a:solidFill>
            <a:ln w="12700" cap="flat">
              <a:noFill/>
              <a:miter lim="400000"/>
            </a:ln>
            <a:effectLst/>
          </c:spPr>
          <c:invertIfNegative val="0"/>
          <c:dPt>
            <c:idx val="0"/>
            <c:spPr>
              <a:solidFill>
                <a:srgbClr val="9CAFCA"/>
              </a:solidFill>
              <a:ln w="12700" cap="flat">
                <a:noFill/>
                <a:miter lim="400000"/>
              </a:ln>
              <a:effectLst/>
            </c:spPr>
          </c:dPt>
          <c:dPt>
            <c:idx val="1"/>
            <c:spPr>
              <a:solidFill>
                <a:srgbClr val="2D5093"/>
              </a:solidFill>
              <a:ln w="12700" cap="flat">
                <a:noFill/>
                <a:miter lim="400000"/>
              </a:ln>
              <a:effectLst/>
            </c:spPr>
          </c:dPt>
          <c:dLbls>
            <c:dLbl>
              <c:idx val="0"/>
              <c:numFmt formatCode="#,##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dLbl>
            <c:dLbl>
              <c:idx val="1"/>
              <c:numFmt formatCode="#,##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dLbl>
            <c:numFmt formatCode="#,##0" sourceLinked="0"/>
            <c:txPr>
              <a:bodyPr/>
              <a:lstStyle/>
              <a:p>
                <a:pPr>
                  <a:defRPr b="1" i="0" strike="noStrike" sz="2100" u="none">
                    <a:solidFill>
                      <a:srgbClr val="2D5093"/>
                    </a:solidFill>
                    <a:latin typeface="Arial"/>
                  </a:defRPr>
                </a:pPr>
              </a:p>
            </c:txPr>
            <c:dLblPos val="outEnd"/>
            <c:showLegendKey val="0"/>
            <c:showVal val="1"/>
            <c:showCatName val="0"/>
            <c:showSerName val="0"/>
            <c:showPercent val="0"/>
            <c:showBubbleSize val="0"/>
            <c:showLeaderLines val="0"/>
          </c:dLbls>
          <c:cat>
            <c:strLit>
              <c:ptCount val="2"/>
              <c:pt idx="0">
                <c:v>Baseline</c:v>
              </c:pt>
              <c:pt idx="1">
                <c:v>Branch caching</c:v>
              </c:pt>
            </c:strLit>
          </c:cat>
          <c:val>
            <c:numLit>
              <c:ptCount val="2"/>
              <c:pt idx="0">
                <c:v>1570.000000</c:v>
              </c:pt>
              <c:pt idx="1">
                <c:v>1070.000000</c:v>
              </c:pt>
            </c:numLit>
          </c:val>
        </c:ser>
        <c:gapWidth val="10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BCCCE0"/>
            </a:solidFill>
            <a:prstDash val="solid"/>
            <a:round/>
          </a:ln>
        </c:spPr>
        <c:txPr>
          <a:bodyPr rot="0"/>
          <a:lstStyle/>
          <a:p>
            <a:pPr>
              <a:defRPr b="0" i="0" strike="noStrike" sz="1400" u="none">
                <a:solidFill>
                  <a:srgbClr val="223854"/>
                </a:solidFill>
                <a:latin typeface="Arial"/>
              </a:defRPr>
            </a:pPr>
          </a:p>
        </c:txPr>
        <c:crossAx val="2094734553"/>
        <c:crosses val="autoZero"/>
        <c:auto val="1"/>
        <c:lblAlgn val="ctr"/>
        <c:noMultiLvlLbl val="1"/>
      </c:catAx>
      <c:valAx>
        <c:axId val="2094734553"/>
        <c:scaling>
          <c:orientation val="minMax"/>
          <c:max val="2000"/>
          <c:min val="0"/>
        </c:scaling>
        <c:delete val="0"/>
        <c:axPos val="l"/>
        <c:majorGridlines>
          <c:spPr>
            <a:ln w="12700" cap="flat">
              <a:solidFill>
                <a:srgbClr val="E1E8F0"/>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200" u="none">
                <a:solidFill>
                  <a:srgbClr val="576E89"/>
                </a:solidFill>
                <a:latin typeface="Arial"/>
              </a:defRPr>
            </a:pPr>
          </a:p>
        </c:txPr>
        <c:crossAx val="2094734552"/>
        <c:crosses val="autoZero"/>
        <c:crossBetween val="between"/>
        <c:majorUnit val="500"/>
        <c:minorUnit val="25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Result</a:t>
            </a:r>
          </a:p>
        </c:rich>
      </c:tx>
      <c:layout>
        <c:manualLayout>
          <c:xMode val="edge"/>
          <c:yMode val="edge"/>
          <c:x val="0.463125"/>
          <c:y val="0"/>
          <c:w val="0.0737501"/>
          <c:h val="0.16532"/>
        </c:manualLayout>
      </c:layout>
      <c:overlay val="1"/>
      <c:spPr>
        <a:noFill/>
        <a:effectLst/>
      </c:spPr>
    </c:title>
    <c:autoTitleDeleted val="1"/>
    <c:plotArea>
      <c:layout>
        <c:manualLayout>
          <c:layoutTarget val="inner"/>
          <c:xMode val="edge"/>
          <c:yMode val="edge"/>
          <c:x val="0.291128"/>
          <c:y val="0.16532"/>
          <c:w val="0.66273"/>
          <c:h val="0.784823"/>
        </c:manualLayout>
      </c:layout>
      <c:barChart>
        <c:barDir val="bar"/>
        <c:grouping val="clustered"/>
        <c:varyColors val="0"/>
        <c:ser>
          <c:idx val="0"/>
          <c:order val="0"/>
          <c:tx>
            <c:v>Result</c:v>
          </c:tx>
          <c:spPr>
            <a:solidFill>
              <a:srgbClr val="2B5294"/>
            </a:solidFill>
            <a:ln w="12700" cap="flat">
              <a:noFill/>
              <a:miter lim="400000"/>
            </a:ln>
            <a:effectLst/>
          </c:spPr>
          <c:invertIfNegative val="0"/>
          <c:dPt>
            <c:idx val="0"/>
            <c:spPr>
              <a:solidFill>
                <a:srgbClr val="2B5294"/>
              </a:solidFill>
              <a:ln w="12700" cap="flat">
                <a:noFill/>
                <a:miter lim="400000"/>
              </a:ln>
              <a:effectLst/>
            </c:spPr>
          </c:dPt>
          <c:dPt>
            <c:idx val="1"/>
            <c:spPr>
              <a:solidFill>
                <a:srgbClr val="2E75B8"/>
              </a:solidFill>
              <a:ln w="12700" cap="flat">
                <a:noFill/>
                <a:miter lim="400000"/>
              </a:ln>
              <a:effectLst/>
            </c:spPr>
          </c:dPt>
          <c:dPt>
            <c:idx val="2"/>
            <c:spPr>
              <a:solidFill>
                <a:srgbClr val="576D85"/>
              </a:solidFill>
              <a:ln w="12700" cap="flat">
                <a:noFill/>
                <a:miter lim="400000"/>
              </a:ln>
              <a:effectLst/>
            </c:spPr>
          </c:dPt>
          <c:dLbls>
            <c:dLbl>
              <c:idx val="0"/>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dLbl>
              <c:idx val="1"/>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dLbl>
              <c:idx val="2"/>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showLeaderLines val="0"/>
          </c:dLbls>
          <c:cat>
            <c:strLit>
              <c:ptCount val="3"/>
              <c:pt idx="0">
                <c:v>L1 + L2 + L3</c:v>
              </c:pt>
              <c:pt idx="1">
                <c:v>L1 + L2</c:v>
              </c:pt>
              <c:pt idx="2">
                <c:v>L1</c:v>
              </c:pt>
            </c:strLit>
          </c:cat>
          <c:val>
            <c:numLit>
              <c:ptCount val="3"/>
              <c:pt idx="0">
                <c:v>145.500000</c:v>
              </c:pt>
              <c:pt idx="1">
                <c:v>14.300000</c:v>
              </c:pt>
              <c:pt idx="2">
                <c:v>9.400000</c:v>
              </c:pt>
            </c:numLit>
          </c:val>
        </c:ser>
        <c:gapWidth val="78"/>
        <c:overlap val="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D4D4D4"/>
            </a:solidFill>
            <a:prstDash val="solid"/>
            <a:miter lim="800000"/>
          </a:ln>
        </c:spPr>
        <c:txPr>
          <a:bodyPr rot="0"/>
          <a:lstStyle/>
          <a:p>
            <a:pPr>
              <a:defRPr b="0" i="0" strike="noStrike" sz="1500" u="none">
                <a:solidFill>
                  <a:srgbClr val="666666"/>
                </a:solidFill>
                <a:latin typeface="Arial"/>
              </a:defRPr>
            </a:pPr>
          </a:p>
        </c:txPr>
        <c:crossAx val="2094734553"/>
        <c:crosses val="autoZero"/>
        <c:auto val="1"/>
        <c:lblAlgn val="ctr"/>
        <c:noMultiLvlLbl val="1"/>
      </c:catAx>
      <c:valAx>
        <c:axId val="2094734553"/>
        <c:scaling>
          <c:orientation val="minMax"/>
          <c:max val="160"/>
          <c:min val="0"/>
        </c:scaling>
        <c:delete val="0"/>
        <c:axPos val="b"/>
        <c:numFmt formatCode="0.#" sourceLinked="0"/>
        <c:majorTickMark val="none"/>
        <c:minorTickMark val="none"/>
        <c:tickLblPos val="none"/>
        <c:spPr>
          <a:ln w="12700" cap="flat">
            <a:noFill/>
            <a:prstDash val="solid"/>
            <a:miter lim="800000"/>
          </a:ln>
        </c:spPr>
        <c:txPr>
          <a:bodyPr rot="0"/>
          <a:lstStyle/>
          <a:p>
            <a:pPr>
              <a:defRPr b="0" i="0" strike="noStrike" sz="1500" u="none">
                <a:solidFill>
                  <a:srgbClr val="203752"/>
                </a:solidFill>
                <a:latin typeface="Arial"/>
              </a:defRPr>
            </a:pPr>
          </a:p>
        </c:txPr>
        <c:crossAx val="2094734552"/>
        <c:crosses val="autoZero"/>
        <c:crossBetween val="between"/>
        <c:majorUnit val="40"/>
        <c:minorUnit val="20"/>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Result</a:t>
            </a:r>
          </a:p>
        </c:rich>
      </c:tx>
      <c:layout>
        <c:manualLayout>
          <c:xMode val="edge"/>
          <c:yMode val="edge"/>
          <c:x val="0.461147"/>
          <c:y val="0"/>
          <c:w val="0.0777063"/>
          <c:h val="0.16532"/>
        </c:manualLayout>
      </c:layout>
      <c:overlay val="1"/>
      <c:spPr>
        <a:noFill/>
        <a:effectLst/>
      </c:spPr>
    </c:title>
    <c:autoTitleDeleted val="1"/>
    <c:plotArea>
      <c:layout>
        <c:manualLayout>
          <c:layoutTarget val="inner"/>
          <c:xMode val="edge"/>
          <c:yMode val="edge"/>
          <c:x val="0.306745"/>
          <c:y val="0.16532"/>
          <c:w val="0.688255"/>
          <c:h val="0.784823"/>
        </c:manualLayout>
      </c:layout>
      <c:barChart>
        <c:barDir val="bar"/>
        <c:grouping val="clustered"/>
        <c:varyColors val="0"/>
        <c:ser>
          <c:idx val="0"/>
          <c:order val="0"/>
          <c:tx>
            <c:v>Result</c:v>
          </c:tx>
          <c:spPr>
            <a:solidFill>
              <a:srgbClr val="2B5294"/>
            </a:solidFill>
            <a:ln w="12700" cap="flat">
              <a:noFill/>
              <a:miter lim="400000"/>
            </a:ln>
            <a:effectLst/>
          </c:spPr>
          <c:invertIfNegative val="0"/>
          <c:dPt>
            <c:idx val="0"/>
            <c:spPr>
              <a:solidFill>
                <a:srgbClr val="2B5294"/>
              </a:solidFill>
              <a:ln w="12700" cap="flat">
                <a:noFill/>
                <a:miter lim="400000"/>
              </a:ln>
              <a:effectLst/>
            </c:spPr>
          </c:dPt>
          <c:dPt>
            <c:idx val="1"/>
            <c:spPr>
              <a:solidFill>
                <a:srgbClr val="2E75B8"/>
              </a:solidFill>
              <a:ln w="12700" cap="flat">
                <a:noFill/>
                <a:miter lim="400000"/>
              </a:ln>
              <a:effectLst/>
            </c:spPr>
          </c:dPt>
          <c:dPt>
            <c:idx val="2"/>
            <c:spPr>
              <a:solidFill>
                <a:srgbClr val="576D85"/>
              </a:solidFill>
              <a:ln w="12700" cap="flat">
                <a:noFill/>
                <a:miter lim="400000"/>
              </a:ln>
              <a:effectLst/>
            </c:spPr>
          </c:dPt>
          <c:dLbls>
            <c:dLbl>
              <c:idx val="0"/>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dLbl>
              <c:idx val="1"/>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dLbl>
              <c:idx val="2"/>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dLbl>
            <c:numFmt formatCode="0.####" sourceLinked="0"/>
            <c:txPr>
              <a:bodyPr/>
              <a:lstStyle/>
              <a:p>
                <a:pPr>
                  <a:defRPr b="1" i="0" strike="noStrike" sz="1500" u="none">
                    <a:solidFill>
                      <a:srgbClr val="2B5294"/>
                    </a:solidFill>
                    <a:latin typeface="Arial"/>
                  </a:defRPr>
                </a:pPr>
              </a:p>
            </c:txPr>
            <c:dLblPos val="outEnd"/>
            <c:showLegendKey val="0"/>
            <c:showVal val="1"/>
            <c:showCatName val="0"/>
            <c:showSerName val="0"/>
            <c:showPercent val="0"/>
            <c:showBubbleSize val="0"/>
            <c:showLeaderLines val="0"/>
          </c:dLbls>
          <c:cat>
            <c:strLit>
              <c:ptCount val="3"/>
              <c:pt idx="0">
                <c:v>L1 + L2 + L3</c:v>
              </c:pt>
              <c:pt idx="1">
                <c:v>L1 + L2</c:v>
              </c:pt>
              <c:pt idx="2">
                <c:v>L1</c:v>
              </c:pt>
            </c:strLit>
          </c:cat>
          <c:val>
            <c:numLit>
              <c:ptCount val="3"/>
              <c:pt idx="0">
                <c:v>67.100000</c:v>
              </c:pt>
              <c:pt idx="1">
                <c:v>21.100000</c:v>
              </c:pt>
              <c:pt idx="2">
                <c:v>15.500000</c:v>
              </c:pt>
            </c:numLit>
          </c:val>
        </c:ser>
        <c:gapWidth val="78"/>
        <c:overlap val="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D4D4D4"/>
            </a:solidFill>
            <a:prstDash val="solid"/>
            <a:miter lim="800000"/>
          </a:ln>
        </c:spPr>
        <c:txPr>
          <a:bodyPr rot="0"/>
          <a:lstStyle/>
          <a:p>
            <a:pPr>
              <a:defRPr b="0" i="0" strike="noStrike" sz="1500" u="none">
                <a:solidFill>
                  <a:srgbClr val="666666"/>
                </a:solidFill>
                <a:latin typeface="Arial"/>
              </a:defRPr>
            </a:pPr>
          </a:p>
        </c:txPr>
        <c:crossAx val="2094734553"/>
        <c:crosses val="autoZero"/>
        <c:auto val="1"/>
        <c:lblAlgn val="ctr"/>
        <c:noMultiLvlLbl val="1"/>
      </c:catAx>
      <c:valAx>
        <c:axId val="2094734553"/>
        <c:scaling>
          <c:orientation val="minMax"/>
          <c:max val="160"/>
          <c:min val="0"/>
        </c:scaling>
        <c:delete val="0"/>
        <c:axPos val="b"/>
        <c:numFmt formatCode="0.####" sourceLinked="0"/>
        <c:majorTickMark val="none"/>
        <c:minorTickMark val="none"/>
        <c:tickLblPos val="none"/>
        <c:spPr>
          <a:ln w="12700" cap="flat">
            <a:noFill/>
            <a:prstDash val="solid"/>
            <a:miter lim="800000"/>
          </a:ln>
        </c:spPr>
        <c:txPr>
          <a:bodyPr rot="0"/>
          <a:lstStyle/>
          <a:p>
            <a:pPr>
              <a:defRPr b="0" i="0" strike="noStrike" sz="1500" u="none">
                <a:solidFill>
                  <a:srgbClr val="203752"/>
                </a:solidFill>
                <a:latin typeface="Arial"/>
              </a:defRPr>
            </a:pPr>
          </a:p>
        </c:txPr>
        <c:crossAx val="2094734552"/>
        <c:crosses val="autoZero"/>
        <c:crossBetween val="between"/>
        <c:majorUnit val="17.7778"/>
        <c:minorUnit val="8.88889"/>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Helvetica Neue"/>
              </a:defRPr>
            </a:pPr>
            <a:r>
              <a:rPr b="0" i="0" strike="noStrike" sz="1000" u="none">
                <a:solidFill>
                  <a:srgbClr val="000000"/>
                </a:solidFill>
                <a:latin typeface="Helvetica Neue"/>
              </a:rPr>
              <a:t>Throughput</a:t>
            </a:r>
          </a:p>
        </c:rich>
      </c:tx>
      <c:layout>
        <c:manualLayout>
          <c:xMode val="edge"/>
          <c:yMode val="edge"/>
          <c:x val="0.449983"/>
          <c:y val="0"/>
          <c:w val="0.100034"/>
          <c:h val="0.0951111"/>
        </c:manualLayout>
      </c:layout>
      <c:overlay val="1"/>
      <c:spPr>
        <a:noFill/>
        <a:effectLst/>
      </c:spPr>
    </c:title>
    <c:autoTitleDeleted val="1"/>
    <c:plotArea>
      <c:layout>
        <c:manualLayout>
          <c:layoutTarget val="inner"/>
          <c:xMode val="edge"/>
          <c:yMode val="edge"/>
          <c:x val="0.102259"/>
          <c:y val="0.0951111"/>
          <c:w val="0.892741"/>
          <c:h val="0.736303"/>
        </c:manualLayout>
      </c:layout>
      <c:barChart>
        <c:barDir val="col"/>
        <c:grouping val="clustered"/>
        <c:varyColors val="0"/>
        <c:ser>
          <c:idx val="0"/>
          <c:order val="0"/>
          <c:tx>
            <c:v>Throughput</c:v>
          </c:tx>
          <c:spPr>
            <a:solidFill>
              <a:srgbClr val="9CAFCA"/>
            </a:solidFill>
            <a:ln w="12700" cap="flat">
              <a:noFill/>
              <a:miter lim="400000"/>
            </a:ln>
            <a:effectLst/>
          </c:spPr>
          <c:invertIfNegative val="0"/>
          <c:dPt>
            <c:idx val="0"/>
            <c:spPr>
              <a:solidFill>
                <a:srgbClr val="9CAFCA"/>
              </a:solidFill>
              <a:ln w="12700" cap="flat">
                <a:noFill/>
                <a:miter lim="400000"/>
              </a:ln>
              <a:effectLst/>
            </c:spPr>
          </c:dPt>
          <c:dPt>
            <c:idx val="1"/>
            <c:spPr>
              <a:solidFill>
                <a:srgbClr val="2D5093"/>
              </a:solidFill>
              <a:ln w="12700" cap="flat">
                <a:noFill/>
                <a:miter lim="400000"/>
              </a:ln>
              <a:effectLst/>
            </c:spPr>
          </c:dPt>
          <c:dLbls>
            <c:dLbl>
              <c:idx val="0"/>
              <c:numFmt formatCode="#,##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dLbl>
            <c:dLbl>
              <c:idx val="1"/>
              <c:numFmt formatCode="#,##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dLbl>
            <c:numFmt formatCode="#,##0" sourceLinked="0"/>
            <c:txPr>
              <a:bodyPr/>
              <a:lstStyle/>
              <a:p>
                <a:pPr>
                  <a:defRPr b="1" i="0" strike="noStrike" sz="2300" u="none">
                    <a:solidFill>
                      <a:srgbClr val="2D5093"/>
                    </a:solidFill>
                    <a:latin typeface="Arial"/>
                  </a:defRPr>
                </a:pPr>
              </a:p>
            </c:txPr>
            <c:dLblPos val="outEnd"/>
            <c:showLegendKey val="0"/>
            <c:showVal val="1"/>
            <c:showCatName val="0"/>
            <c:showSerName val="0"/>
            <c:showPercent val="0"/>
            <c:showBubbleSize val="0"/>
            <c:showLeaderLines val="0"/>
          </c:dLbls>
          <c:cat>
            <c:strLit>
              <c:ptCount val="2"/>
              <c:pt idx="0">
                <c:v>Without checkpoint
reuse</c:v>
              </c:pt>
              <c:pt idx="1">
                <c:v>With checkpoint
reuse</c:v>
              </c:pt>
            </c:strLit>
          </c:cat>
          <c:val>
            <c:numLit>
              <c:ptCount val="2"/>
              <c:pt idx="0">
                <c:v>47771.000000</c:v>
              </c:pt>
              <c:pt idx="1">
                <c:v>53004.000000</c:v>
              </c:pt>
            </c:numLit>
          </c:val>
        </c:ser>
        <c:gapWidth val="10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BCCCE0"/>
            </a:solidFill>
            <a:prstDash val="solid"/>
            <a:round/>
          </a:ln>
        </c:spPr>
        <c:txPr>
          <a:bodyPr rot="0"/>
          <a:lstStyle/>
          <a:p>
            <a:pPr>
              <a:defRPr b="0" i="0" strike="noStrike" sz="1600" u="none">
                <a:solidFill>
                  <a:srgbClr val="223854"/>
                </a:solidFill>
                <a:latin typeface="Arial"/>
              </a:defRPr>
            </a:pPr>
          </a:p>
        </c:txPr>
        <c:crossAx val="2094734553"/>
        <c:crosses val="autoZero"/>
        <c:auto val="1"/>
        <c:lblAlgn val="ctr"/>
        <c:noMultiLvlLbl val="1"/>
      </c:catAx>
      <c:valAx>
        <c:axId val="2094734553"/>
        <c:scaling>
          <c:orientation val="minMax"/>
          <c:max val="60000"/>
          <c:min val="0"/>
        </c:scaling>
        <c:delete val="0"/>
        <c:axPos val="l"/>
        <c:majorGridlines>
          <c:spPr>
            <a:ln w="12700" cap="flat">
              <a:solidFill>
                <a:srgbClr val="E1E8F0"/>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300" u="none">
                <a:solidFill>
                  <a:srgbClr val="576E89"/>
                </a:solidFill>
                <a:latin typeface="Arial"/>
              </a:defRPr>
            </a:pPr>
          </a:p>
        </c:txPr>
        <c:crossAx val="2094734552"/>
        <c:crosses val="autoZero"/>
        <c:crossBetween val="between"/>
        <c:majorUnit val="20000"/>
        <c:minorUnit val="10000"/>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2" name="Shape 142"/>
          <p:cNvSpPr/>
          <p:nvPr>
            <p:ph type="sldImg"/>
          </p:nvPr>
        </p:nvSpPr>
        <p:spPr>
          <a:xfrm>
            <a:off x="1143000" y="685800"/>
            <a:ext cx="4572000" cy="3429000"/>
          </a:xfrm>
          <a:prstGeom prst="rect">
            <a:avLst/>
          </a:prstGeom>
        </p:spPr>
        <p:txBody>
          <a:bodyPr/>
          <a:lstStyle/>
          <a:p>
            <a:pPr/>
          </a:p>
        </p:txBody>
      </p:sp>
      <p:sp>
        <p:nvSpPr>
          <p:cNvPr id="143" name="Shape 14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31.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32.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33.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34.xml.rels><?xml version="1.0" encoding="UTF-8" standalone="yes"?><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buNone/>
            </a:pPr>
            <a:r>
              <a:t>02  目录：从工作负载到实际收益</a:t>
            </a:r>
          </a:p>
          <a:p>
            <a:pPr>
              <a:buNone/>
            </a:pPr>
            <a:r>
              <a:t>Contents</a:t>
            </a:r>
          </a:p>
          <a:p>
            <a:pPr>
              <a:buNone/>
            </a:pPr>
            <a:r>
              <a:t>今天分五部分。先看 Agent 为什么反复带回很长的历史。</a:t>
            </a:r>
          </a:p>
          <a:p>
            <a:pPr>
              <a:buNone/>
            </a:pPr>
            <a:r>
              <a:t>再讲 RadixAttention 如何使用prefix cache复用前缀，HiCache 如何跨层保存历史。</a:t>
            </a:r>
          </a:p>
          <a:p>
            <a:pPr>
              <a:buNone/>
            </a:pPr>
            <a:r>
              <a:t>以及 Unified Radix Tree 如何在hybrid model里面维护这样的prefix cache</a:t>
            </a:r>
          </a:p>
          <a:p>
            <a:pPr>
              <a:buNone/>
            </a:pPr>
            <a:r>
              <a:t>最后集中看混合模型和真实 Agent 轨迹上的两组独立评估，以及一些收益。</a:t>
            </a:r>
          </a:p>
          <a:p>
            <a:pPr>
              <a:buNone/>
            </a:pPr>
            <a:r>
              <a:t>先进入 Workloads，用真实数据建立问题。</a:t>
            </a:r>
          </a:p>
          <a:p>
            <a:pPr>
              <a:buNone/>
            </a:pPr>
            <a:r>
              <a:t/>
            </a:r>
          </a:p>
          <a:p>
            <a:pPr>
              <a:buNone/>
            </a:pPr>
            <a:r>
              <a:t>—— 原有备注 / 技术说明 ——</a:t>
            </a:r>
          </a:p>
          <a:p>
            <a:pPr>
              <a:buNone/>
            </a:pPr>
            <a:r>
              <a:t>Additional explanation and original data:</a:t>
            </a:r>
          </a:p>
          <a:p>
            <a:pPr>
              <a:buNone/>
            </a:pPr>
            <a:r>
              <a:t>Contents</a:t>
            </a:r>
          </a:p>
          <a:p>
            <a:pPr>
              <a:buNone/>
            </a:pPr>
            <a:r>
              <a:t>01</a:t>
            </a:r>
          </a:p>
          <a:p>
            <a:pPr>
              <a:buNone/>
            </a:pPr>
            <a:r>
              <a:t>Reuse</a:t>
            </a:r>
          </a:p>
          <a:p>
            <a:pPr>
              <a:buNone/>
            </a:pPr>
            <a:r>
              <a:t>RadixAttention</a:t>
            </a:r>
          </a:p>
          <a:p>
            <a:pPr>
              <a:buNone/>
            </a:pPr>
            <a:r>
              <a:t>02</a:t>
            </a:r>
          </a:p>
          <a:p>
            <a:pPr>
              <a:buNone/>
            </a:pPr>
            <a:r>
              <a:t>Tiers</a:t>
            </a:r>
          </a:p>
          <a:p>
            <a:pPr>
              <a:buNone/>
            </a:pPr>
            <a:r>
              <a:t>HiCache</a:t>
            </a:r>
          </a:p>
          <a:p>
            <a:pPr>
              <a:buNone/>
            </a:pPr>
            <a:r>
              <a:t>03</a:t>
            </a:r>
          </a:p>
          <a:p>
            <a:pPr>
              <a:buNone/>
            </a:pPr>
            <a:r>
              <a:t>Unification</a:t>
            </a:r>
          </a:p>
          <a:p>
            <a:pPr>
              <a:buNone/>
            </a:pPr>
            <a:r>
              <a:t>Unified Radix Tree</a:t>
            </a:r>
          </a:p>
        </p:txBody>
      </p:sp>
    </p:spTree>
  </p:cSld>
  <p:clrMapOvr>
    <a:masterClrMapping/>
  </p:clrMapOvr>
</p:notes>
</file>

<file path=ppt/notesSlides/notesSlide2.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buNone/>
            </a:pPr>
            <a:r>
              <a:t>03  第一部分：先看 Agent 的工作负载</a:t>
            </a:r>
          </a:p>
          <a:p>
            <a:pPr>
              <a:buNone/>
            </a:pPr>
            <a:r>
              <a:t>Workloads</a:t>
            </a:r>
          </a:p>
          <a:p>
            <a:pPr>
              <a:buNone/>
            </a:pPr>
            <a:r>
              <a:t>先看工作负载。传统的一问一答里，往往回答内容比提问更多</a:t>
            </a:r>
          </a:p>
          <a:p>
            <a:pPr>
              <a:buNone/>
            </a:pPr>
            <a:r>
              <a:t>但长时间运行的 Agent，会反复带回过往的所有对话历史。</a:t>
            </a:r>
          </a:p>
          <a:p>
            <a:pPr>
              <a:buNone/>
            </a:pPr>
            <a:r>
              <a:t>还会创建子 Agent、调用工具、重试请求。同一段前缀会出现</a:t>
            </a:r>
          </a:p>
          <a:p>
            <a:pPr>
              <a:buNone/>
            </a:pPr>
            <a:r>
              <a:t>在多个请求中，所以我们就会考虑：有多少计算其实已经做过。</a:t>
            </a:r>
          </a:p>
          <a:p>
            <a:pPr>
              <a:buNone/>
            </a:pPr>
            <a:r>
              <a:t>下一页看输入和输出的长度差距。</a:t>
            </a:r>
          </a:p>
          <a:p>
            <a:pPr>
              <a:buNone/>
            </a:pPr>
            <a:r>
              <a:t/>
            </a:r>
          </a:p>
          <a:p>
            <a:pPr>
              <a:buNone/>
            </a:pPr>
            <a:r>
              <a:t>—— 原有备注 / 技术说明 ——</a:t>
            </a:r>
          </a:p>
          <a:p>
            <a:pPr>
              <a:buNone/>
            </a:pPr>
            <a:r>
              <a:t>First, consider real workloads: inputs are long, outputs are relatively short, and the same context keeps appearing in later turns, sub-agents, and tool calls. The following data explains why KV reuse matters.</a:t>
            </a:r>
          </a:p>
        </p:txBody>
      </p:sp>
    </p:spTree>
  </p:cSld>
  <p:clrMapOvr>
    <a:masterClrMapping/>
  </p:clrMapOvr>
</p:notes>
</file>

<file path=ppt/notesSlides/notesSlide3.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buNone/>
            </a:pPr>
            <a:r>
              <a:t>04  长输入、短输出：213 比 1</a:t>
            </a:r>
          </a:p>
          <a:p>
            <a:pPr>
              <a:buNone/>
            </a:pPr>
            <a:r>
              <a:t>Agent Workloads: Long Inputs, Short Outputs</a:t>
            </a:r>
          </a:p>
          <a:p>
            <a:pPr>
              <a:buNone/>
            </a:pPr>
            <a:r>
              <a:t>这组数据来自 393 条真实的 Agent 编程轨迹。先看 p50：输入</a:t>
            </a:r>
          </a:p>
          <a:p>
            <a:pPr>
              <a:buNone/>
            </a:pPr>
            <a:r>
              <a:t>是 8.8 万 token，输出只有 413 个，两者相除大约是 213 比 1。</a:t>
            </a:r>
          </a:p>
          <a:p>
            <a:pPr>
              <a:buNone/>
            </a:pPr>
            <a:r>
              <a:t>再往长尾看，p99 输入已经到了 67.5 万 token。Agent 每次发起请求，</a:t>
            </a:r>
          </a:p>
          <a:p>
            <a:pPr>
              <a:buNone/>
            </a:pPr>
            <a:r>
              <a:t>都可能把很长的历史一起带回来，而本轮真正新增的内容只占一小部分。</a:t>
            </a:r>
          </a:p>
          <a:p>
            <a:pPr>
              <a:buNone/>
            </a:pPr>
            <a:r>
              <a:t>所以这里值得优化的是历史上下文的重复处理。</a:t>
            </a:r>
          </a:p>
          <a:p>
            <a:pPr>
              <a:buNone/>
            </a:pPr>
            <a:r>
              <a:t>先指 p50 和 213:1，再指 p99；下一页解释历史怎样被复用。</a:t>
            </a:r>
          </a:p>
          <a:p>
            <a:pPr>
              <a:buNone/>
            </a:pPr>
            <a:r>
              <a:t/>
            </a:r>
          </a:p>
          <a:p>
            <a:pPr>
              <a:buNone/>
            </a:pPr>
            <a:r>
              <a:t>—— 原有备注 / 技术说明 ——</a:t>
            </a:r>
          </a:p>
          <a:p>
            <a:pPr>
              <a:buNone/>
            </a:pPr>
            <a:r>
              <a:t>Long-running agents carry their history into every turn, making repeated prefill a major inference cost. The input and output figures are the p50 values of their respective distributions. The 213:1 ratio is the ratio of these two medians, not the median of per-request ratios. Full percentiles, evaluation scale, and background appear below.</a:t>
            </a:r>
          </a:p>
          <a:p>
            <a:pPr>
              <a:buNone/>
            </a:pPr>
            <a:r>
              <a:t>Additional explanation and original data:</a:t>
            </a:r>
          </a:p>
          <a:p>
            <a:pPr>
              <a:buNone/>
            </a:pPr>
            <a:r>
              <a:t>The shape of agent workloads: inputs are 200 times longer than outputs</a:t>
            </a:r>
          </a:p>
          <a:p>
            <a:pPr>
              <a:buNone/>
            </a:pPr>
            <a:r>
              <a:t>Measured ISL / OSL distributions from real agentic coding traces</a:t>
            </a:r>
          </a:p>
          <a:p>
            <a:pPr>
              <a:buNone/>
            </a:pPr>
            <a:r>
              <a:t>03</a:t>
            </a:r>
          </a:p>
          <a:p>
            <a:pPr>
              <a:buNone/>
            </a:pPr>
            <a:r>
              <a:t>Input ISL / Output OSL</a:t>
            </a:r>
          </a:p>
          <a:p>
            <a:pPr>
              <a:buNone/>
            </a:pPr>
            <a:r>
              <a:t>p50: 88k / 413</a:t>
            </a:r>
          </a:p>
          <a:p>
            <a:pPr>
              <a:buNone/>
            </a:pPr>
            <a:r>
              <a:t>p90: 272k / 2.2k</a:t>
            </a:r>
          </a:p>
          <a:p>
            <a:pPr>
              <a:buNone/>
            </a:pPr>
            <a:r>
              <a:t>p95: 404k / 3.7k</a:t>
            </a:r>
          </a:p>
          <a:p>
            <a:pPr>
              <a:buNone/>
            </a:pPr>
            <a:r>
              <a:t>p99: 675k / 8.6k</a:t>
            </a:r>
          </a:p>
          <a:p>
            <a:pPr>
              <a:buNone/>
            </a:pPr>
            <a:r>
              <a:t>213 : 1</a:t>
            </a:r>
          </a:p>
          <a:p>
            <a:pPr>
              <a:buNone/>
            </a:pPr>
            <a:r>
              <a:t>p50 input : output</a:t>
            </a:r>
          </a:p>
          <a:p>
            <a:pPr>
              <a:buNone/>
            </a:pPr>
            <a:r>
              <a:t>393 real agentic coding traces</a:t>
            </a:r>
          </a:p>
          <a:p>
            <a:pPr>
              <a:buNone/>
            </a:pPr>
            <a:r>
              <a:t>Over $3M invested, released under Apache-2.0</a:t>
            </a:r>
          </a:p>
          <a:p>
            <a:pPr>
              <a:buNone/>
            </a:pPr>
            <a:r>
              <a:t>Reproduced on approximately 2 MW and more than 1,000 chips</a:t>
            </a:r>
          </a:p>
          <a:p>
            <a:pPr>
              <a:buNone/>
            </a:pPr>
            <a:r>
              <a:t>Only a few hundred tokens are new in each turn. Most of the cost comes from repeatedly carrying the historical context.</a:t>
            </a:r>
          </a:p>
          <a:p>
            <a:pPr>
              <a:buNone/>
            </a:pPr>
            <a:r>
              <a:t>Source: SemiAnalysis AgentX public benchmark (393 real agentic coding traces, Apache-2.0; inferencex.semianalysis.com)</a:t>
            </a:r>
          </a:p>
        </p:txBody>
      </p:sp>
    </p:spTree>
  </p:cSld>
  <p:clrMapOvr>
    <a:masterClrMapping/>
  </p:clrMapOvr>
</p:notes>
</file>

<file path=ppt/notesSlides/notesSlide4.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236" name="Shape 236"/>
          <p:cNvSpPr/>
          <p:nvPr>
            <p:ph type="sldImg"/>
          </p:nvPr>
        </p:nvSpPr>
        <p:spPr>
          <a:prstGeom prst="rect">
            <a:avLst/>
          </a:prstGeom>
        </p:spPr>
        <p:txBody>
          <a:bodyPr/>
          <a:lstStyle/>
          <a:p>
            <a:pPr/>
          </a:p>
        </p:txBody>
      </p:sp>
      <p:sp>
        <p:nvSpPr>
          <p:cNvPr id="237" name="Shape 237"/>
          <p:cNvSpPr/>
          <p:nvPr>
            <p:ph type="body" sz="quarter" idx="1"/>
          </p:nvPr>
        </p:nvSpPr>
        <p:spPr>
          <a:prstGeom prst="rect">
            <a:avLst/>
          </a:prstGeom>
        </p:spPr>
        <p:txBody>
          <a:bodyPr/>
          <a:lstStyle/>
          <a:p>
            <a:pPr>
              <a:buNone/>
            </a:pPr>
            <a:r>
              <a:t>05  上下文复用：历史会向多个方向延伸</a:t>
            </a:r>
          </a:p>
          <a:p>
            <a:pPr>
              <a:buNone/>
            </a:pPr>
            <a:r>
              <a:t>How Agents Reuse Context</a:t>
            </a:r>
          </a:p>
          <a:p>
            <a:pPr>
              <a:buNone/>
            </a:pPr>
            <a:r>
              <a:t>看这张关系图。左边是共享历史，中间是当前这一轮。接下来，无论继续</a:t>
            </a:r>
          </a:p>
          <a:p>
            <a:pPr>
              <a:buNone/>
            </a:pPr>
            <a:r>
              <a:t>下一轮、创建子 Agent，还是拿到工具结果，都会沿用前面的上下文。</a:t>
            </a:r>
          </a:p>
          <a:p>
            <a:pPr>
              <a:buNone/>
            </a:pPr>
            <a:r>
              <a:t>它们的差别主要出现在后缀：下一轮追加对话，子 Agent 从某个位置分</a:t>
            </a:r>
          </a:p>
          <a:p>
            <a:pPr>
              <a:buNone/>
            </a:pPr>
            <a:r>
              <a:t>叉，或者agent调用工具。但分叉以前的那段 token，可以完全相同。</a:t>
            </a:r>
          </a:p>
          <a:p>
            <a:pPr>
              <a:buNone/>
            </a:pPr>
            <a:r>
              <a:t>这也解释了为什么适合用树：公共路径只需要表</a:t>
            </a:r>
          </a:p>
          <a:p>
            <a:pPr>
              <a:buNone/>
            </a:pPr>
            <a:r>
              <a:t>达一次，不同请求沿着这条路径走到各自的分支。</a:t>
            </a:r>
          </a:p>
          <a:p>
            <a:pPr>
              <a:buNone/>
            </a:pPr>
            <a:r>
              <a:t>依次指 Next turn、Sub-agent、Tool result；下一页展开三种模式。</a:t>
            </a:r>
          </a:p>
          <a:p>
            <a:pPr>
              <a:buNone/>
            </a:pPr>
            <a:r>
              <a:t/>
            </a:r>
          </a:p>
          <a:p>
            <a:pPr>
              <a:buNone/>
            </a:pPr>
            <a:r>
              <a:t>—— 原有备注 / 技术说明 ——</a:t>
            </a:r>
          </a:p>
          <a:p>
            <a:pPr>
              <a:buNone/>
            </a:pPr>
            <a:r>
              <a:t>Each node represents a contiguous token segment, and each edge represents an addition to the context. Sub-agents, tool results, and multi-turn continuations inherit the same historical prefix but have different suffixes. Organizing them by token prefix naturally forms a tree.</a:t>
            </a:r>
          </a:p>
          <a:p>
            <a:pPr>
              <a:buNone/>
            </a:pPr>
            <a:r>
              <a:t>Additional explanation and original data:</a:t>
            </a:r>
          </a:p>
          <a:p>
            <a:pPr>
              <a:buNone/>
            </a:pPr>
            <a:r>
              <a:t>Context reuse already forms a tree</a:t>
            </a:r>
          </a:p>
          <a:p>
            <a:pPr>
              <a:buNone/>
            </a:pPr>
            <a:r>
              <a:t>Multi-turn appends, sub-agent branches, tool loops, and retries</a:t>
            </a:r>
          </a:p>
          <a:p>
            <a:pPr>
              <a:buNone/>
            </a:pPr>
            <a:r>
              <a:t>04</a:t>
            </a:r>
          </a:p>
          <a:p>
            <a:pPr>
              <a:buNone/>
            </a:pPr>
            <a:r>
              <a:t>Reused historical prefix</a:t>
            </a:r>
          </a:p>
          <a:p>
            <a:pPr>
              <a:buNone/>
            </a:pPr>
            <a:r>
              <a:t>New tokens in this turn</a:t>
            </a:r>
          </a:p>
          <a:p>
            <a:pPr>
              <a:buNone/>
            </a:pPr>
            <a:r>
              <a:t>Multi-turn appends</a:t>
            </a:r>
          </a:p>
          <a:p>
            <a:pPr>
              <a:buNone/>
            </a:pPr>
            <a:r>
              <a:t>turn 1</a:t>
            </a:r>
          </a:p>
          <a:p>
            <a:pPr>
              <a:buNone/>
            </a:pPr>
            <a:r>
              <a:t>turn 2</a:t>
            </a:r>
          </a:p>
          <a:p>
            <a:pPr>
              <a:buNone/>
            </a:pPr>
            <a:r>
              <a:t>turn 3</a:t>
            </a:r>
          </a:p>
          <a:p>
            <a:pPr>
              <a:buNone/>
            </a:pPr>
            <a:r>
              <a:t>turn 4</a:t>
            </a:r>
          </a:p>
          <a:p>
            <a:pPr>
              <a:buNone/>
            </a:pPr>
            <a:r>
              <a:t>The context only grows. The next turn carries the entire history.</a:t>
            </a:r>
          </a:p>
          <a:p>
            <a:pPr>
              <a:buNone/>
            </a:pPr>
            <a:r>
              <a:t>Sub-agent branching</a:t>
            </a:r>
          </a:p>
          <a:p>
            <a:pPr>
              <a:buNone/>
            </a:pPr>
            <a:r>
              <a:t>shared prefix</a:t>
            </a:r>
          </a:p>
          <a:p>
            <a:pPr>
              <a:buNone/>
            </a:pPr>
            <a:r>
              <a:t>The prefix before the branch point is identical.</a:t>
            </a:r>
          </a:p>
          <a:p>
            <a:pPr>
              <a:buNone/>
            </a:pPr>
            <a:r>
              <a:t>Tool loops / retries</a:t>
            </a:r>
          </a:p>
          <a:p>
            <a:pPr>
              <a:buNone/>
            </a:pPr>
            <a:r>
              <a:t>tool</a:t>
            </a:r>
          </a:p>
          <a:p>
            <a:pPr>
              <a:buNone/>
            </a:pPr>
            <a:r>
              <a:t>Observation fed back into context</a:t>
            </a:r>
          </a:p>
          <a:p>
            <a:pPr>
              <a:buNone/>
            </a:pPr>
            <a:r>
              <a:t>The original context returns unchanged, with additions only at the end.</a:t>
            </a:r>
          </a:p>
          <a:p>
            <a:pPr>
              <a:buNone/>
            </a:pPr>
            <a:r>
              <a:t>Reuse forms a branching tree rather than a single linear history. This determines the cache data structure.</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5.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buNone/>
            </a:pPr>
            <a:r>
              <a:t>06  三种模式：追加、分叉和工具循环</a:t>
            </a:r>
          </a:p>
          <a:p>
            <a:pPr>
              <a:buNone/>
            </a:pPr>
            <a:r>
              <a:t>How Agents Reuse Context</a:t>
            </a:r>
          </a:p>
          <a:p>
            <a:pPr>
              <a:buNone/>
            </a:pPr>
            <a:r>
              <a:t>可以看到这里是具体的模式：左边是多轮追加。下一轮会带上之前的历史，再加一点</a:t>
            </a:r>
          </a:p>
          <a:p>
            <a:pPr>
              <a:buNone/>
            </a:pPr>
            <a:r>
              <a:t>新内容，所以旧前缀越来越长，本轮新增部分相对很短。</a:t>
            </a:r>
          </a:p>
          <a:p>
            <a:pPr>
              <a:buNone/>
            </a:pPr>
            <a:r>
              <a:t>中间是子 Agent 分叉。多个分支在分叉点以前共享同一个前缀，后面各自发</a:t>
            </a:r>
          </a:p>
          <a:p>
            <a:pPr>
              <a:buNone/>
            </a:pPr>
            <a:r>
              <a:t>展。</a:t>
            </a:r>
          </a:p>
          <a:p>
            <a:pPr>
              <a:buNone/>
            </a:pPr>
            <a:r>
              <a:t>右边是工具循环：发起工具调用，拿到观察，再把结果追加回上下文。</a:t>
            </a:r>
          </a:p>
          <a:p>
            <a:pPr>
              <a:buNone/>
            </a:pPr>
            <a:r>
              <a:t>重试也经常带回同样的前缀。把这些模式放在一起，缓存需要支持</a:t>
            </a:r>
          </a:p>
          <a:p>
            <a:pPr>
              <a:buNone/>
            </a:pPr>
            <a:r>
              <a:t>的不只是一个不断变长的序列，还包括同一段历史上的多条分支。</a:t>
            </a:r>
          </a:p>
          <a:p>
            <a:pPr>
              <a:buNone/>
            </a:pPr>
            <a:r>
              <a:t>按左、中、右讲图；进入 RadixAttention，解释树怎样实现复用。</a:t>
            </a:r>
          </a:p>
          <a:p>
            <a:pPr>
              <a:buNone/>
            </a:pPr>
            <a:r>
              <a:t/>
            </a:r>
          </a:p>
          <a:p>
            <a:pPr>
              <a:buNone/>
            </a:pPr>
            <a:r>
              <a:t>—— 原有备注 / 技术说明 ——</a:t>
            </a:r>
          </a:p>
          <a:p>
            <a:pPr>
              <a:buNone/>
            </a:pPr>
            <a:r>
              <a:t>Each node represents a contiguous token segment, and each edge represents an addition to the context. Sub-agents, tool results, and multi-turn continuations inherit the same historical prefix but have different suffixes. Organizing them by token prefix naturally forms a tree.</a:t>
            </a:r>
          </a:p>
          <a:p>
            <a:pPr>
              <a:buNone/>
            </a:pPr>
            <a:r>
              <a:t>Additional explanation and original data:</a:t>
            </a:r>
          </a:p>
          <a:p>
            <a:pPr>
              <a:buNone/>
            </a:pPr>
            <a:r>
              <a:t>Context reuse already forms a tree</a:t>
            </a:r>
          </a:p>
          <a:p>
            <a:pPr>
              <a:buNone/>
            </a:pPr>
            <a:r>
              <a:t>Multi-turn appends, sub-agent branches, tool loops, and retries</a:t>
            </a:r>
          </a:p>
          <a:p>
            <a:pPr>
              <a:buNone/>
            </a:pPr>
            <a:r>
              <a:t>04</a:t>
            </a:r>
          </a:p>
          <a:p>
            <a:pPr>
              <a:buNone/>
            </a:pPr>
            <a:r>
              <a:t>Reused historical prefix</a:t>
            </a:r>
          </a:p>
          <a:p>
            <a:pPr>
              <a:buNone/>
            </a:pPr>
            <a:r>
              <a:t>New tokens in this turn</a:t>
            </a:r>
          </a:p>
          <a:p>
            <a:pPr>
              <a:buNone/>
            </a:pPr>
            <a:r>
              <a:t>Multi-turn appends</a:t>
            </a:r>
          </a:p>
          <a:p>
            <a:pPr>
              <a:buNone/>
            </a:pPr>
            <a:r>
              <a:t>turn 1</a:t>
            </a:r>
          </a:p>
          <a:p>
            <a:pPr>
              <a:buNone/>
            </a:pPr>
            <a:r>
              <a:t>turn 2</a:t>
            </a:r>
          </a:p>
          <a:p>
            <a:pPr>
              <a:buNone/>
            </a:pPr>
            <a:r>
              <a:t>turn 3</a:t>
            </a:r>
          </a:p>
          <a:p>
            <a:pPr>
              <a:buNone/>
            </a:pPr>
            <a:r>
              <a:t>turn 4</a:t>
            </a:r>
          </a:p>
          <a:p>
            <a:pPr>
              <a:buNone/>
            </a:pPr>
            <a:r>
              <a:t>The context only grows. The next turn carries the entire history.</a:t>
            </a:r>
          </a:p>
          <a:p>
            <a:pPr>
              <a:buNone/>
            </a:pPr>
            <a:r>
              <a:t>Sub-agent branching</a:t>
            </a:r>
          </a:p>
          <a:p>
            <a:pPr>
              <a:buNone/>
            </a:pPr>
            <a:r>
              <a:t>shared prefix</a:t>
            </a:r>
          </a:p>
          <a:p>
            <a:pPr>
              <a:buNone/>
            </a:pPr>
            <a:r>
              <a:t>The prefix before the branch point is identical.</a:t>
            </a:r>
          </a:p>
          <a:p>
            <a:pPr>
              <a:buNone/>
            </a:pPr>
            <a:r>
              <a:t>Tool loops / retries</a:t>
            </a:r>
          </a:p>
          <a:p>
            <a:pPr>
              <a:buNone/>
            </a:pPr>
            <a:r>
              <a:t>tool</a:t>
            </a:r>
          </a:p>
          <a:p>
            <a:pPr>
              <a:buNone/>
            </a:pPr>
            <a:r>
              <a:t>Observation fed back into context</a:t>
            </a:r>
          </a:p>
          <a:p>
            <a:pPr>
              <a:buNone/>
            </a:pPr>
            <a:r>
              <a:t>The original context returns unchanged, with additions only at the end.</a:t>
            </a:r>
          </a:p>
          <a:p>
            <a:pPr>
              <a:buNone/>
            </a:pPr>
            <a:r>
              <a:t>Reuse forms a branching tree rather than a single linear history. This determines the cache data structure.</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6.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buNone/>
            </a:pPr>
            <a:r>
              <a:t>08  按 token 前缀匹配，只算新增后缀</a:t>
            </a:r>
          </a:p>
          <a:p>
            <a:pPr>
              <a:buNone/>
            </a:pPr>
            <a:r>
              <a:t>RadixAttention: KV Reuse by Token Prefix</a:t>
            </a:r>
          </a:p>
          <a:p>
            <a:pPr>
              <a:buNone/>
            </a:pPr>
            <a:r>
              <a:t>假设缓存里已经有 ABC，后面接的是 DE。现在来了一个新请求，</a:t>
            </a:r>
          </a:p>
          <a:p>
            <a:pPr>
              <a:buNone/>
            </a:pPr>
            <a:r>
              <a:t>内容是 ABCFG。前面的 ABC 完全一致，它的 KV 就可以复用。</a:t>
            </a:r>
          </a:p>
          <a:p>
            <a:pPr>
              <a:buNone/>
            </a:pPr>
            <a:r>
              <a:t>服务端只需要对 FG 做新的 prefill。请求完成后，把新算出</a:t>
            </a:r>
          </a:p>
          <a:p>
            <a:pPr>
              <a:buNone/>
            </a:pPr>
            <a:r>
              <a:t>的 KV 插回树中，后面的请求还可以继续命中这一条分支。</a:t>
            </a:r>
          </a:p>
          <a:p>
            <a:pPr>
              <a:buNone/>
            </a:pPr>
            <a:r>
              <a:t>指上方分支，再指下方“复用 ABC / 计算 FG”；下一页演示拆分。</a:t>
            </a:r>
          </a:p>
          <a:p>
            <a:pPr>
              <a:buNone/>
            </a:pPr>
            <a:r>
              <a:t/>
            </a:r>
          </a:p>
          <a:p>
            <a:pPr>
              <a:buNone/>
            </a:pPr>
            <a:r>
              <a:t>—— 原有备注 / 技术说明 ——</a:t>
            </a:r>
          </a:p>
          <a:p>
            <a:pPr>
              <a:buNone/>
            </a:pPr>
            <a:r>
              <a:t>Prefix identity comes from the complete token sequence, not semantic similarity. After finding the longest matching prefix, reuse the existing KV and prefill only the new suffix. When the request finishes, insert its new KV into the tree. Locks protect data in use, and eviction reclaims eligible nodes. The next slide demonstrates this process through node splitting.</a:t>
            </a:r>
          </a:p>
          <a:p>
            <a:pPr>
              <a:buNone/>
            </a:pPr>
            <a:r>
              <a:t>Additional explanation and original data:</a:t>
            </a:r>
          </a:p>
          <a:p>
            <a:pPr>
              <a:buNone/>
            </a:pPr>
            <a:r>
              <a:t>RadixAttention: organizing the KV cache as a prefix tree</a:t>
            </a:r>
          </a:p>
          <a:p>
            <a:pPr>
              <a:buNone/>
            </a:pPr>
            <a:r>
              <a:t>Reuse becomes the runtime default instead of a manual application optimization</a:t>
            </a:r>
          </a:p>
          <a:p>
            <a:pPr>
              <a:buNone/>
            </a:pPr>
            <a:r>
              <a:t>06</a:t>
            </a:r>
          </a:p>
          <a:p>
            <a:pPr>
              <a:buNone/>
            </a:pPr>
            <a:r>
              <a:t>·</a:t>
            </a:r>
          </a:p>
          <a:p>
            <a:pPr>
              <a:buNone/>
            </a:pPr>
            <a:r>
              <a:t>A B C</a:t>
            </a:r>
          </a:p>
          <a:p>
            <a:pPr>
              <a:buNone/>
            </a:pPr>
            <a:r>
              <a:t>D E</a:t>
            </a:r>
          </a:p>
          <a:p>
            <a:pPr>
              <a:buNone/>
            </a:pPr>
            <a:r>
              <a:t>F</a:t>
            </a:r>
          </a:p>
          <a:p>
            <a:pPr>
              <a:buNone/>
            </a:pPr>
            <a:r>
              <a:t>G</a:t>
            </a:r>
          </a:p>
          <a:p>
            <a:pPr>
              <a:buNone/>
            </a:pPr>
            <a:r>
              <a:t>H I</a:t>
            </a:r>
          </a:p>
          <a:p>
            <a:pPr>
              <a:buNone/>
            </a:pPr>
            <a:r>
              <a:t>J</a:t>
            </a:r>
          </a:p>
          <a:p>
            <a:pPr>
              <a:buNone/>
            </a:pPr>
            <a:r>
              <a:t>Bold path = this request's longest prefix match</a:t>
            </a:r>
          </a:p>
          <a:p>
            <a:pPr>
              <a:buNone/>
            </a:pPr>
            <a:r>
              <a:t>After a hit, pay only for the increment</a:t>
            </a:r>
          </a:p>
          <a:p>
            <a:pPr>
              <a:buNone/>
            </a:pPr>
            <a:r>
              <a:t>Request token sequence</a:t>
            </a:r>
          </a:p>
          <a:p>
            <a:pPr>
              <a:buNone/>
            </a:pPr>
            <a:r>
              <a:t>Matched prefix: reuse KV directly</a:t>
            </a:r>
          </a:p>
          <a:p>
            <a:pPr>
              <a:buNone/>
            </a:pPr>
            <a:r>
              <a:t>Suffix: the only part that needs prefill for this request</a:t>
            </a:r>
          </a:p>
          <a:p>
            <a:pPr>
              <a:buNone/>
            </a:pPr>
            <a:r>
              <a:t>Prefix identity comes from the token sequence itself.</a:t>
            </a:r>
          </a:p>
          <a:p>
            <a:pPr>
              <a:buNone/>
            </a:pPr>
            <a:r>
              <a:t>Applications do not need to declare which KV can be reused.</a:t>
            </a:r>
          </a:p>
          <a:p>
            <a:pPr>
              <a:buNone/>
            </a:pPr>
            <a:r>
              <a:t>Five tree operations underpin the complexity that follows</a:t>
            </a:r>
          </a:p>
          <a:p>
            <a:pPr>
              <a:buNone/>
            </a:pPr>
            <a:r>
              <a:t>match: longest-prefix match</a:t>
            </a:r>
          </a:p>
          <a:p>
            <a:pPr>
              <a:buNone/>
            </a:pPr>
            <a:r>
              <a:t>reuse: reuse the matching KV</a:t>
            </a:r>
          </a:p>
          <a:p>
            <a:pPr>
              <a:buNone/>
            </a:pPr>
            <a:r>
              <a:t>insert: write back new tokens</a:t>
            </a:r>
          </a:p>
          <a:p>
            <a:pPr>
              <a:buNone/>
            </a:pPr>
            <a:r>
              <a:t>lock: protect nodes in use</a:t>
            </a:r>
          </a:p>
          <a:p>
            <a:pPr>
              <a:buNone/>
            </a:pPr>
            <a:r>
              <a:t>evict: LRU reclamation</a:t>
            </a:r>
          </a:p>
          <a:p>
            <a:pPr>
              <a:buNone/>
            </a:pPr>
            <a:r>
              <a:t>After a request finishes, its KV stays in the tree for the next match. Reuse becomes the runtime default.</a:t>
            </a:r>
          </a:p>
        </p:txBody>
      </p:sp>
    </p:spTree>
  </p:cSld>
  <p:clrMapOvr>
    <a:masterClrMapping/>
  </p:clrMapOvr>
</p:notes>
</file>

<file path=ppt/notesSlides/notesSlide7.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405" name="Shape 405"/>
          <p:cNvSpPr/>
          <p:nvPr>
            <p:ph type="sldImg"/>
          </p:nvPr>
        </p:nvSpPr>
        <p:spPr>
          <a:prstGeom prst="rect">
            <a:avLst/>
          </a:prstGeom>
        </p:spPr>
        <p:txBody>
          <a:bodyPr/>
          <a:lstStyle/>
          <a:p>
            <a:pPr/>
          </a:p>
        </p:txBody>
      </p:sp>
      <p:sp>
        <p:nvSpPr>
          <p:cNvPr id="406" name="Shape 406"/>
          <p:cNvSpPr/>
          <p:nvPr>
            <p:ph type="body" sz="quarter" idx="1"/>
          </p:nvPr>
        </p:nvSpPr>
        <p:spPr>
          <a:prstGeom prst="rect">
            <a:avLst/>
          </a:prstGeom>
        </p:spPr>
        <p:txBody>
          <a:bodyPr/>
          <a:lstStyle/>
          <a:p>
            <a:pPr>
              <a:buNone/>
            </a:pPr>
            <a:r>
              <a:t>09  部分命中：匹配、拆分、插入</a:t>
            </a:r>
          </a:p>
          <a:p>
            <a:pPr>
              <a:buNone/>
            </a:pPr>
            <a:r>
              <a:t>RadixAttention: A Partial Prefix Hit</a:t>
            </a:r>
          </a:p>
          <a:p>
            <a:pPr>
              <a:buNone/>
            </a:pPr>
            <a:r>
              <a:t>初始时，ABCDE 可以压缩在一个节点里。新请求 ABCFG</a:t>
            </a:r>
          </a:p>
          <a:p>
            <a:pPr>
              <a:buNone/>
            </a:pPr>
            <a:r>
              <a:t> 到来后，从前往后匹配，在 C 后面发现 D 和 F 不同。</a:t>
            </a:r>
          </a:p>
          <a:p>
            <a:pPr>
              <a:buNone/>
            </a:pPr>
            <a:r>
              <a:t>这时把原节点拆成 ABC 和 DE。已有 KV 仍然保留，拆分</a:t>
            </a:r>
          </a:p>
          <a:p>
            <a:pPr>
              <a:buNone/>
            </a:pPr>
            <a:r>
              <a:t>改变的是树的组织方式；新请求复用 ABC，只计算 FG。</a:t>
            </a:r>
          </a:p>
          <a:p>
            <a:pPr>
              <a:buNone/>
            </a:pPr>
            <a:r>
              <a:t>最后把 FG 插成一个新分支。两条路径共享一份 ABC，各自保存后缀。图里是三</a:t>
            </a:r>
          </a:p>
          <a:p>
            <a:pPr>
              <a:buNone/>
            </a:pPr>
            <a:r>
              <a:t>个 token 复用、两个 token 新算；实际实现还要遵守 page size 的对齐要求。</a:t>
            </a:r>
          </a:p>
          <a:p>
            <a:pPr>
              <a:buNone/>
            </a:pPr>
            <a:r>
              <a:t>随原稿逐步展示：匹配到 C → 拆开 ABC/DE → 插入 FG。</a:t>
            </a:r>
          </a:p>
          <a:p>
            <a:pPr>
              <a:buNone/>
            </a:pPr>
            <a:r>
              <a:t/>
            </a:r>
          </a:p>
          <a:p>
            <a:pPr>
              <a:buNone/>
            </a:pPr>
            <a:r>
              <a:t>—— 原有备注 / 技术说明 ——</a:t>
            </a:r>
          </a:p>
          <a:p>
            <a:pPr>
              <a:buNone/>
            </a:pPr>
            <a:r>
              <a:t>A teaching example of RadixAttention. Partial prefix matching, node splitting, and branch insertion are shown at token granularity. The actual implementation must respect page_size alignment. The values 3 and 2 are token counts, not performance measurements. Reference: https://yichizhang.dev/AI-Infra-Visualized/lessons/unified-radix-cache/</a:t>
            </a:r>
          </a:p>
        </p:txBody>
      </p:sp>
    </p:spTree>
  </p:cSld>
  <p:clrMapOvr>
    <a:masterClrMapping/>
  </p:clrMapOvr>
</p:notes>
</file>

<file path=ppt/notesSlides/notesSlide8.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416" name="Shape 416"/>
          <p:cNvSpPr/>
          <p:nvPr>
            <p:ph type="sldImg"/>
          </p:nvPr>
        </p:nvSpPr>
        <p:spPr>
          <a:prstGeom prst="rect">
            <a:avLst/>
          </a:prstGeom>
        </p:spPr>
        <p:txBody>
          <a:bodyPr/>
          <a:lstStyle/>
          <a:p>
            <a:pPr/>
          </a:p>
        </p:txBody>
      </p:sp>
      <p:sp>
        <p:nvSpPr>
          <p:cNvPr id="417" name="Shape 417"/>
          <p:cNvSpPr/>
          <p:nvPr>
            <p:ph type="body" sz="quarter" idx="1"/>
          </p:nvPr>
        </p:nvSpPr>
        <p:spPr>
          <a:prstGeom prst="rect">
            <a:avLst/>
          </a:prstGeom>
        </p:spPr>
        <p:txBody>
          <a:bodyPr/>
          <a:lstStyle/>
          <a:p>
            <a:pPr>
              <a:buNone/>
            </a:pPr>
            <a:r>
              <a:t>11  显存容量：被移出 GPU，不必等于重新计算</a:t>
            </a:r>
          </a:p>
          <a:p>
            <a:pPr>
              <a:buNone/>
            </a:pPr>
            <a:r>
              <a:t>HiCache: The GPU Cache Capacity Limit</a:t>
            </a:r>
          </a:p>
          <a:p>
            <a:pPr>
              <a:buNone/>
            </a:pPr>
            <a:r>
              <a:t>在上下文不断增加，轮数增加、并发会话增加的真实场景中：可复用的历史 KV 会不</a:t>
            </a:r>
          </a:p>
          <a:p>
            <a:pPr>
              <a:buNone/>
            </a:pPr>
            <a:r>
              <a:t>断增长。中间的 GPU Cache 容量有限，总要腾出位置处理新的工作。</a:t>
            </a:r>
          </a:p>
          <a:p>
            <a:pPr>
              <a:buNone/>
            </a:pPr>
            <a:r>
              <a:t>如果被淘汰的前缀只在 GPU 上存在，下一轮再遇到它，就只能重新 </a:t>
            </a:r>
          </a:p>
          <a:p>
            <a:pPr>
              <a:buNone/>
            </a:pPr>
            <a:r>
              <a:t>prefill。HiCache 把历史保存在 CPU 内存或外部存储，需要时再搬回来。</a:t>
            </a:r>
          </a:p>
          <a:p>
            <a:pPr>
              <a:buNone/>
            </a:pPr>
            <a:r>
              <a:t>因此它不保证 GPU 永远不发生淘汰。它要减少的是淘汰之后的重</a:t>
            </a:r>
          </a:p>
          <a:p>
            <a:pPr>
              <a:buNone/>
            </a:pPr>
            <a:r>
              <a:t>复计算：状态暂时不在 GPU，仍然可能是一次可恢复的缓存命中。</a:t>
            </a:r>
          </a:p>
          <a:p>
            <a:pPr>
              <a:buNone/>
            </a:pPr>
            <a:r>
              <a:t>这样就变相的增大了prefix cache的存储能力。</a:t>
            </a:r>
          </a:p>
          <a:p>
            <a:pPr>
              <a:buNone/>
            </a:pPr>
            <a:r>
              <a:t>从增长的 KV 指到 GPU，再指 CPU/存储；下一页看跨实例复用。</a:t>
            </a:r>
          </a:p>
          <a:p>
            <a:pPr>
              <a:buNone/>
            </a:pPr>
            <a:r>
              <a:t/>
            </a:r>
          </a:p>
          <a:p>
            <a:pPr>
              <a:buNone/>
            </a:pPr>
            <a:r>
              <a:t>—— 原有备注 / 技术说明 ——</a:t>
            </a:r>
          </a:p>
          <a:p>
            <a:pPr>
              <a:buNone/>
            </a:pPr>
            <a:r>
              <a:t>GPU memory limits how much historical KV can remain resident. As sessions grow and more clients share the server, useful prefixes are evicted to make room for new work. A later request then repeats prefill unless a lower tier retained the state. HiCache separates retention from GPU residency: CPU memory and external storage keep prefixes that can be restored when needed. A GPU eviction can still occur even when HiCache prevents the resulting recomputation.</a:t>
            </a:r>
          </a:p>
          <a:p>
            <a:pPr>
              <a:buNone/>
            </a:pPr>
            <a:r>
              <a:t>Reference:</a:t>
            </a:r>
          </a:p>
          <a:p>
            <a:pPr>
              <a:buNone/>
            </a:pPr>
            <a:r>
              <a:t>https://yichizhang.dev/AI-Infra-Visualized/lessons/hicache/</a:t>
            </a:r>
          </a:p>
        </p:txBody>
      </p:sp>
    </p:spTree>
  </p:cSld>
  <p:clrMapOvr>
    <a:masterClrMapping/>
  </p:clrMapOvr>
</p:notes>
</file>

<file path=ppt/notesSlides/notesSlide9.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490" name="Shape 490"/>
          <p:cNvSpPr/>
          <p:nvPr>
            <p:ph type="sldImg"/>
          </p:nvPr>
        </p:nvSpPr>
        <p:spPr>
          <a:prstGeom prst="rect">
            <a:avLst/>
          </a:prstGeom>
        </p:spPr>
        <p:txBody>
          <a:bodyPr/>
          <a:lstStyle/>
          <a:p>
            <a:pPr/>
          </a:p>
        </p:txBody>
      </p:sp>
      <p:sp>
        <p:nvSpPr>
          <p:cNvPr id="491" name="Shape 491"/>
          <p:cNvSpPr/>
          <p:nvPr>
            <p:ph type="body" sz="quarter" idx="1"/>
          </p:nvPr>
        </p:nvSpPr>
        <p:spPr>
          <a:prstGeom prst="rect">
            <a:avLst/>
          </a:prstGeom>
        </p:spPr>
        <p:txBody>
          <a:bodyPr/>
          <a:lstStyle/>
          <a:p>
            <a:pPr>
              <a:buNone/>
            </a:pPr>
            <a:r>
              <a:t>12  共享 L3：实例 B 复用实例 A 的历史</a:t>
            </a:r>
          </a:p>
          <a:p>
            <a:pPr>
              <a:buNone/>
            </a:pPr>
            <a:r>
              <a:t>HiCache: Cache Reuse Across Instances via L3</a:t>
            </a:r>
          </a:p>
          <a:p>
            <a:pPr>
              <a:buNone/>
            </a:pPr>
            <a:r>
              <a:t>先看两台实例：A 和 B 各有自己的 GPU L1 和 Host L2，这两层属</a:t>
            </a:r>
          </a:p>
          <a:p>
            <a:pPr>
              <a:buNone/>
            </a:pPr>
            <a:r>
              <a:t>于本地资源。底下的 L3，在配置共享后端时可以被多个实例访问。</a:t>
            </a:r>
          </a:p>
          <a:p>
            <a:pPr>
              <a:buNone/>
            </a:pPr>
            <a:r>
              <a:t>A 把某段前缀备份到 L3 以后，B 遇到同样的前缀，就有机会从共享存储恢</a:t>
            </a:r>
          </a:p>
          <a:p>
            <a:pPr>
              <a:buNone/>
            </a:pPr>
            <a:r>
              <a:t>复，再加载到自己的 GPU 上使用。历史的生命周期因此可以超出单个实例。</a:t>
            </a:r>
          </a:p>
          <a:p>
            <a:pPr>
              <a:buNone/>
            </a:pPr>
            <a:r>
              <a:t>这里有个前提：后端确实是共享的。如果只是各自的本地磁盘，就不会自动</a:t>
            </a:r>
          </a:p>
          <a:p>
            <a:pPr>
              <a:buNone/>
            </a:pPr>
            <a:r>
              <a:t>获得跨实例复用。树负责定位前缀，HiCache 负责状态在哪一层、怎么搬。</a:t>
            </a:r>
          </a:p>
          <a:p>
            <a:pPr>
              <a:buNone/>
            </a:pPr>
            <a:r>
              <a:t>随图展示 A 备份、B 恢复；下一页把一次恢复过程拆开。</a:t>
            </a:r>
          </a:p>
          <a:p>
            <a:pPr>
              <a:buNone/>
            </a:pPr>
            <a:r>
              <a:t/>
            </a:r>
          </a:p>
          <a:p>
            <a:pPr>
              <a:buNone/>
            </a:pPr>
            <a:r>
              <a:t>—— 原有备注 / 技术说明 ——</a:t>
            </a:r>
          </a:p>
          <a:p>
            <a:pPr>
              <a:buNone/>
            </a:pPr>
            <a:r>
              <a:t>L1 and L2 belong to individual instances. With shared storage, B can prefetch a prefix backed up by A and then load it to the GPU. The diagram assumes a shared backend. A local-disk backend does not automatically enable sharing across instances. The GPU uses KV by model layer, while the host can store it by page for contiguous I/O. Write-through, write-back, and backend interface details are reserved for the spoken explanation.</a:t>
            </a:r>
          </a:p>
          <a:p>
            <a:pPr>
              <a:buNone/>
            </a:pPr>
            <a:r>
              <a:t>Additional explanation and original data:</a:t>
            </a:r>
          </a:p>
          <a:p>
            <a:pPr>
              <a:buNone/>
            </a:pPr>
            <a:r>
              <a:t>HiCache: local L1 / L2, shared L3 across instances</a:t>
            </a:r>
          </a:p>
          <a:p>
            <a:pPr>
              <a:buNone/>
            </a:pPr>
            <a:r>
              <a:t>History that no longer fits in GPU memory should still be a cache hit rather than require recomputation</a:t>
            </a:r>
          </a:p>
          <a:p>
            <a:pPr>
              <a:buNone/>
            </a:pPr>
            <a:r>
              <a:t>10</a:t>
            </a:r>
          </a:p>
          <a:p>
            <a:pPr>
              <a:buNone/>
            </a:pPr>
            <a:r>
              <a:t>SGLang Node A (node-local)</a:t>
            </a:r>
          </a:p>
          <a:p>
            <a:pPr>
              <a:buNone/>
            </a:pPr>
            <a:r>
              <a:t>GPU L1: HBM</a:t>
            </a:r>
          </a:p>
          <a:p>
            <a:pPr>
              <a:buNone/>
            </a:pPr>
            <a:r>
              <a:t>Layer-first layout, ready for direct kernel use</a:t>
            </a:r>
          </a:p>
          <a:p>
            <a:pPr>
              <a:buNone/>
            </a:pPr>
            <a:r>
              <a:t>Host L2: CPU DRAM</a:t>
            </a:r>
          </a:p>
          <a:p>
            <a:pPr>
              <a:buNone/>
            </a:pPr>
            <a:r>
              <a:t>Page-first layout, larger transfer blocks</a:t>
            </a:r>
          </a:p>
          <a:p>
            <a:pPr>
              <a:buNone/>
            </a:pPr>
            <a:r>
              <a:t>Write-through / write-back, overlapping transfers between tiers</a:t>
            </a:r>
          </a:p>
          <a:p>
            <a:pPr>
              <a:buNone/>
            </a:pPr>
            <a:r>
              <a:t>SGLang Node B (node-local)</a:t>
            </a:r>
          </a:p>
          <a:p>
            <a:pPr>
              <a:buNone/>
            </a:pPr>
            <a:r>
              <a:t>GPU L1: HBM</a:t>
            </a:r>
          </a:p>
          <a:p>
            <a:pPr>
              <a:buNone/>
            </a:pPr>
            <a:r>
              <a:t>Layer-first layout, ready for direct kernel use</a:t>
            </a:r>
          </a:p>
          <a:p>
            <a:pPr>
              <a:buNone/>
            </a:pPr>
            <a:r>
              <a:t>Host L2: CPU DRAM</a:t>
            </a:r>
          </a:p>
          <a:p>
            <a:pPr>
              <a:buNone/>
            </a:pPr>
            <a:r>
              <a:t>Page-first layout, larger transfer blocks</a:t>
            </a:r>
          </a:p>
          <a:p>
            <a:pPr>
              <a:buNone/>
            </a:pPr>
            <a:r>
              <a:t>Write-through / write-back, overlapping transfers between tiers</a:t>
            </a:r>
          </a:p>
          <a:p>
            <a:pPr>
              <a:buNone/>
            </a:pPr>
            <a:r>
              <a:t>Write-through backup</a:t>
            </a:r>
          </a:p>
          <a:p>
            <a:pPr>
              <a:buNone/>
            </a:pPr>
            <a:r>
              <a:t>Prefetch</a:t>
            </a:r>
          </a:p>
          <a:p>
            <a:pPr>
              <a:buNone/>
            </a:pPr>
            <a:r>
              <a:t>Write-through backup</a:t>
            </a:r>
          </a:p>
          <a:p>
            <a:pPr>
              <a:buNone/>
            </a:pPr>
            <a:r>
              <a:t>Prefetch</a:t>
            </a:r>
          </a:p>
          <a:p>
            <a:pPr>
              <a:buNone/>
            </a:pPr>
            <a:r>
              <a:t>External L3: globally shared</a:t>
            </a:r>
          </a:p>
          <a:p>
            <a:pPr>
              <a:buNone/>
            </a:pPr>
            <a:r>
              <a:t>Mooncake / 3FS / NIXL / local disk. Backends only need to implement get, exist, and set.</a:t>
            </a:r>
          </a:p>
          <a:p>
            <a:pPr>
              <a:buNone/>
            </a:pPr>
            <a:r>
              <a:t>Store one copy of a prefix and allow any instance to hit it. Cache lifetime is no longer tied to an instance.</a:t>
            </a:r>
          </a:p>
          <a:p>
            <a:pPr>
              <a:buNone/>
            </a:pPr>
            <a:r>
              <a:t>Prefix matching ≠ residency management: the tree provides coordinates, and HiCache determines the tier.</a:t>
            </a:r>
          </a:p>
          <a:p>
            <a:pPr>
              <a:buNone/>
            </a:pPr>
            <a:r>
              <a:t>Source: SGLang blog, “HiCache” (lmsys.org/blog, 2025-09-10)</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10.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558" name="Shape 558"/>
          <p:cNvSpPr/>
          <p:nvPr>
            <p:ph type="sldImg"/>
          </p:nvPr>
        </p:nvSpPr>
        <p:spPr>
          <a:prstGeom prst="rect">
            <a:avLst/>
          </a:prstGeom>
        </p:spPr>
        <p:txBody>
          <a:bodyPr/>
          <a:lstStyle/>
          <a:p>
            <a:pPr/>
          </a:p>
        </p:txBody>
      </p:sp>
      <p:sp>
        <p:nvSpPr>
          <p:cNvPr id="559" name="Shape 559"/>
          <p:cNvSpPr/>
          <p:nvPr>
            <p:ph type="body" sz="quarter" idx="1"/>
          </p:nvPr>
        </p:nvSpPr>
        <p:spPr>
          <a:prstGeom prst="rect">
            <a:avLst/>
          </a:prstGeom>
        </p:spPr>
        <p:txBody>
          <a:bodyPr/>
          <a:lstStyle/>
          <a:p>
            <a:pPr>
              <a:buNone/>
            </a:pPr>
            <a:r>
              <a:t>13  恢复路径：L3 到 Host，再到 GPU</a:t>
            </a:r>
          </a:p>
          <a:p>
            <a:pPr>
              <a:buNone/>
            </a:pPr>
            <a:r>
              <a:t>HiCache: Bringing Cached KV Back to the GPU</a:t>
            </a:r>
          </a:p>
          <a:p>
            <a:pPr>
              <a:buNone/>
            </a:pPr>
            <a:r>
              <a:t>这次命中的前缀分布在三个地方：AB、CD 已经在 GPU，EF 留在 Host，</a:t>
            </a:r>
          </a:p>
          <a:p>
            <a:pPr>
              <a:buNone/>
            </a:pPr>
            <a:r>
              <a:t>G 只在外部存储。前缀命中了，并不代表所有 KV 已经可以直接参与计算。</a:t>
            </a:r>
          </a:p>
          <a:p>
            <a:pPr>
              <a:buNone/>
            </a:pPr>
            <a:r>
              <a:t>按图上的顺序，先把 EF 从 Host 加载到 GPU；再把 G 从 L3 预</a:t>
            </a:r>
          </a:p>
          <a:p>
            <a:pPr>
              <a:buNone/>
            </a:pPr>
            <a:r>
              <a:t>取到 Host，最后把 G 加载到 GPU。这样计算所需的状态才完整。</a:t>
            </a:r>
          </a:p>
          <a:p>
            <a:pPr>
              <a:buNone/>
            </a:pPr>
            <a:r>
              <a:t>依次讲三个传输步骤；下一页看对首 token 延迟的影响。</a:t>
            </a:r>
          </a:p>
          <a:p>
            <a:pPr>
              <a:buNone/>
            </a:pPr>
            <a:r>
              <a:t/>
            </a:r>
          </a:p>
          <a:p>
            <a:pPr>
              <a:buNone/>
            </a:pPr>
            <a:r>
              <a:t>—— 原有备注 / 技术说明 ——</a:t>
            </a:r>
          </a:p>
          <a:p>
            <a:pPr>
              <a:buNone/>
            </a:pPr>
            <a:r>
              <a:t>The matched prefix consists of four illustrative blocks: AB, CD, EF, and G. Initially, AB/CD are in L1, EF is in L2, and G is in L3. Three clicks load EF, prefetch G to the host, and load G to the GPU. Transfers copy KV, leaving the data in lower tiers intact. The diagram shows only the copies needed for reads, not every possible backup. Steps are separated to explain dependencies. In practice, prefetch and transfer can overlap, and loading can be pipelined by model layer. Original configuration examples: --hicache-write-policy write_through; --hicache-storage-prefetch-policy timeout. Sources: https://yichizhang.dev/AI-Infra-Visualized/lessons/hicache/ and https://yichizhang.dev/AI-Infra-Visualized/lessons/unified-radix-cache/</a:t>
            </a:r>
          </a:p>
        </p:txBody>
      </p:sp>
    </p:spTree>
  </p:cSld>
  <p:clrMapOvr>
    <a:masterClrMapping/>
  </p:clrMapOvr>
</p:notes>
</file>

<file path=ppt/notesSlides/notesSlide11.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571" name="Shape 571"/>
          <p:cNvSpPr/>
          <p:nvPr>
            <p:ph type="sldImg"/>
          </p:nvPr>
        </p:nvSpPr>
        <p:spPr>
          <a:prstGeom prst="rect">
            <a:avLst/>
          </a:prstGeom>
        </p:spPr>
        <p:txBody>
          <a:bodyPr/>
          <a:lstStyle/>
          <a:p>
            <a:pPr/>
          </a:p>
        </p:txBody>
      </p:sp>
      <p:sp>
        <p:nvSpPr>
          <p:cNvPr id="572" name="Shape 572"/>
          <p:cNvSpPr/>
          <p:nvPr>
            <p:ph type="body" sz="quarter" idx="1"/>
          </p:nvPr>
        </p:nvSpPr>
        <p:spPr>
          <a:prstGeom prst="rect">
            <a:avLst/>
          </a:prstGeom>
        </p:spPr>
        <p:txBody>
          <a:bodyPr/>
          <a:lstStyle/>
          <a:p>
            <a:pPr>
              <a:buNone/>
            </a:pPr>
            <a:r>
              <a:t>14  HiCache 结果：平均 TTFT 降低 78.7%</a:t>
            </a:r>
          </a:p>
          <a:p>
            <a:pPr>
              <a:buNone/>
            </a:pPr>
            <a:r>
              <a:t>HiCache: Less Recomputation, Lower TTFT</a:t>
            </a:r>
          </a:p>
          <a:p>
            <a:pPr>
              <a:buNone/>
            </a:pPr>
            <a:r>
              <a:t>这组实验用 DeepSeek-R1 跑</a:t>
            </a:r>
          </a:p>
          <a:p>
            <a:pPr>
              <a:buNone/>
            </a:pPr>
            <a:r>
              <a:t>看左侧柱状图：浅色是仅用 GPU Cache，平均 TTFT 为 8.61 秒。</a:t>
            </a:r>
          </a:p>
          <a:p>
            <a:pPr>
              <a:buNone/>
            </a:pPr>
            <a:r>
              <a:t>深色加入 CPU 和 3FS 两层缓存，平均 TTFT 降到 1.83 秒。相对降幅78+</a:t>
            </a:r>
          </a:p>
          <a:p>
            <a:pPr>
              <a:buNone/>
            </a:pPr>
            <a:r>
              <a:t>历史可以恢复，就减少了重新 prefill 计算的等待，因此可以看到大大提升了TTFT。</a:t>
            </a:r>
          </a:p>
          <a:p>
            <a:pPr>
              <a:buNone/>
            </a:pPr>
            <a:r>
              <a:t>对照两根柱子读数，再进入混合模型与统一树。</a:t>
            </a:r>
          </a:p>
          <a:p>
            <a:pPr>
              <a:buNone/>
            </a:pPr>
            <a:r>
              <a:t/>
            </a:r>
          </a:p>
          <a:p>
            <a:pPr>
              <a:buNone/>
            </a:pPr>
            <a:r>
              <a:t>—— 原有备注 / 技术说明 ——</a:t>
            </a:r>
          </a:p>
          <a:p>
            <a:pPr>
              <a:buNone/>
            </a:pPr>
            <a:r>
              <a:t>The LooGLE benchmark runs DeepSeek-R1 on 8 H20-3e GPUs. Adding CPU and 3FS tiers reduces average TTFT from 8.61 s with GPU-only caching to 1.83 s. The reduction is (8.61 - 1.83) / 8.61 = 78.7%. This comparison uses ordinary L3, not the separately prefilled-L3 configuration. It measures TTFT, not eviction rate.</a:t>
            </a:r>
          </a:p>
          <a:p>
            <a:pPr>
              <a:buNone/>
            </a:pPr>
            <a:r>
              <a:t>References:</a:t>
            </a:r>
          </a:p>
          <a:p>
            <a:pPr>
              <a:buNone/>
            </a:pPr>
            <a:r>
              <a:t>https://yichizhang.dev/AI-Infra-Visualized/lessons/hicache/</a:t>
            </a:r>
          </a:p>
          <a:p>
            <a:pPr>
              <a:buNone/>
            </a:pPr>
            <a:r>
              <a:t>https://www.lmsys.org/blog/2025-09-10-sglang-hicache/</a:t>
            </a:r>
          </a:p>
        </p:txBody>
      </p:sp>
    </p:spTree>
  </p:cSld>
  <p:clrMapOvr>
    <a:masterClrMapping/>
  </p:clrMapOvr>
</p:notes>
</file>

<file path=ppt/notesSlides/notesSlide12.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734" name="Shape 734"/>
          <p:cNvSpPr/>
          <p:nvPr>
            <p:ph type="sldImg"/>
          </p:nvPr>
        </p:nvSpPr>
        <p:spPr>
          <a:prstGeom prst="rect">
            <a:avLst/>
          </a:prstGeom>
        </p:spPr>
        <p:txBody>
          <a:bodyPr/>
          <a:lstStyle/>
          <a:p>
            <a:pPr/>
          </a:p>
        </p:txBody>
      </p:sp>
      <p:sp>
        <p:nvSpPr>
          <p:cNvPr id="735" name="Shape 735"/>
          <p:cNvSpPr/>
          <p:nvPr>
            <p:ph type="body" sz="quarter" idx="1"/>
          </p:nvPr>
        </p:nvSpPr>
        <p:spPr>
          <a:prstGeom prst="rect">
            <a:avLst/>
          </a:prstGeom>
        </p:spPr>
        <p:txBody>
          <a:bodyPr/>
          <a:lstStyle/>
          <a:p>
            <a:pPr>
              <a:buNone/>
            </a:pPr>
            <a:r>
              <a:t>16  同一前缀，三种状态的有效范围</a:t>
            </a:r>
          </a:p>
          <a:p>
            <a:pPr>
              <a:buNone/>
            </a:pPr>
            <a:r>
              <a:t>One Prefix, Three Types of State</a:t>
            </a:r>
          </a:p>
          <a:p>
            <a:pPr>
              <a:buNone/>
            </a:pPr>
            <a:r>
              <a:t>先看 FULL：需要完整前缀上的 KV 都要有效。</a:t>
            </a:r>
          </a:p>
          <a:p>
            <a:pPr>
              <a:buNone/>
            </a:pPr>
            <a:r>
              <a:t>SWA：它关注的是当前位置前面一段连续的窗口，窗口外的状态可以释放。</a:t>
            </a:r>
          </a:p>
          <a:p>
            <a:pPr>
              <a:buNone/>
            </a:pPr>
            <a:r>
              <a:t>MAMBA 不一样，它保存离散的递归状态检查点。只有某</a:t>
            </a:r>
          </a:p>
          <a:p>
            <a:pPr>
              <a:buNone/>
            </a:pPr>
            <a:r>
              <a:t>个边界上确实保留了 checkpoint，才能直接从那里继续。</a:t>
            </a:r>
          </a:p>
          <a:p>
            <a:pPr>
              <a:buNone/>
            </a:pPr>
            <a:r>
              <a:t>所以，相同的 token 路径不代表相同的复用条件。我们既不能把已经缺失的状</a:t>
            </a:r>
          </a:p>
          <a:p>
            <a:pPr>
              <a:buNone/>
            </a:pPr>
            <a:r>
              <a:t>态当成可用，也不希望因为一种状态缺失，就把其他仍有价值的状态一并丢掉。</a:t>
            </a:r>
          </a:p>
          <a:p>
            <a:pPr>
              <a:buNone/>
            </a:pPr>
            <a:r>
              <a:t>按 FULL → SWA → MAMBA 展示；下一页解释旧设计的维护成本。</a:t>
            </a:r>
          </a:p>
          <a:p>
            <a:pPr>
              <a:buNone/>
            </a:pPr>
            <a:r>
              <a:t/>
            </a:r>
          </a:p>
          <a:p>
            <a:pPr>
              <a:buNone/>
            </a:pPr>
            <a:r>
              <a:t>—— 原有备注 / 技术说明 ——</a:t>
            </a:r>
          </a:p>
          <a:p>
            <a:pPr>
              <a:buNone/>
            </a:pPr>
            <a:r>
              <a:t>FULL needs the complete prefix from the root to the candidate boundary. SWA only requires a contiguous, valid trailing window before that boundary, and allows state outside the window to be released. MAMBA saves discrete recurrent checkpoints and can resume only at an exact checkpoint boundary. The cells represent illustrative token positions, not a specific model configuration.</a:t>
            </a:r>
          </a:p>
          <a:p>
            <a:pPr>
              <a:buNone/>
            </a:pPr>
            <a:r>
              <a:t>Additional explanation and original data:</a:t>
            </a:r>
          </a:p>
          <a:p>
            <a:pPr>
              <a:buNone/>
            </a:pPr>
            <a:r>
              <a:t>Hybrid models: one prefix, three different reuse boundaries</a:t>
            </a:r>
          </a:p>
          <a:p>
            <a:pPr>
              <a:buNone/>
            </a:pPr>
            <a:r>
              <a:t>FULL + SWA + MAMBA share a token sequence, but not validity rules</a:t>
            </a:r>
          </a:p>
          <a:p>
            <a:pPr>
              <a:buNone/>
            </a:pPr>
            <a:r>
              <a:t>13</a:t>
            </a:r>
          </a:p>
          <a:p>
            <a:pPr>
              <a:buNone/>
            </a:pPr>
            <a:r>
              <a:t>Token positions: 1–14</a:t>
            </a:r>
          </a:p>
          <a:p>
            <a:pPr>
              <a:buNone/>
            </a:pPr>
            <a:r>
              <a:t>FULL: reuse the entire matched prefix</a:t>
            </a:r>
          </a:p>
          <a:p>
            <a:pPr>
              <a:buNone/>
            </a:pPr>
            <a:r>
              <a:t>SWA: only the trailing window must remain contiguously valid</a:t>
            </a:r>
          </a:p>
          <a:p>
            <a:pPr>
              <a:buNone/>
            </a:pPr>
            <a:r>
              <a:t>MAMBA: reuse only at discrete checkpoints</a:t>
            </a:r>
          </a:p>
          <a:p>
            <a:pPr>
              <a:buNone/>
            </a:pPr>
            <a:r>
              <a:t>Solid line = this component remains valid at this position</a:t>
            </a:r>
          </a:p>
          <a:p>
            <a:pPr>
              <a:buNone/>
            </a:pPr>
            <a:r>
              <a:t>Dashed line = released or never stored</a:t>
            </a:r>
          </a:p>
          <a:p>
            <a:pPr>
              <a:buNone/>
            </a:pPr>
            <a:r>
              <a:t>Forcing one shared reuse boundary creates a problem.</a:t>
            </a:r>
          </a:p>
          <a:p>
            <a:pPr>
              <a:buNone/>
            </a:pPr>
            <a:r>
              <a:t>Taking the intersection discards large portions of KV that FULL could reuse. Taking the union can reuse SWA state that has already been released or MAMBA state that was never stored. The former wastes compute, and the latter produces incorrect results.</a:t>
            </a:r>
          </a:p>
          <a:p>
            <a:pPr>
              <a:buNone/>
            </a:pPr>
            <a:r>
              <a:t>Prefix identity is shared. The boundaries at which each component remains valid are not.</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13.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743" name="Shape 743"/>
          <p:cNvSpPr/>
          <p:nvPr>
            <p:ph type="sldImg"/>
          </p:nvPr>
        </p:nvSpPr>
        <p:spPr>
          <a:prstGeom prst="rect">
            <a:avLst/>
          </a:prstGeom>
        </p:spPr>
        <p:txBody>
          <a:bodyPr/>
          <a:lstStyle/>
          <a:p>
            <a:pPr/>
          </a:p>
        </p:txBody>
      </p:sp>
      <p:sp>
        <p:nvSpPr>
          <p:cNvPr id="744" name="Shape 744"/>
          <p:cNvSpPr/>
          <p:nvPr>
            <p:ph type="body" sz="quarter" idx="1"/>
          </p:nvPr>
        </p:nvSpPr>
        <p:spPr>
          <a:prstGeom prst="rect">
            <a:avLst/>
          </a:prstGeom>
        </p:spPr>
        <p:txBody>
          <a:bodyPr/>
          <a:lstStyle/>
          <a:p>
            <a:pPr>
              <a:buNone/>
            </a:pPr>
            <a:r>
              <a:t>17  旧设计：状态组合增加，树实现也增加</a:t>
            </a:r>
          </a:p>
          <a:p>
            <a:pPr>
              <a:buNone/>
            </a:pPr>
            <a:r>
              <a:t>Previous Design: More Combinations, More Trees</a:t>
            </a:r>
          </a:p>
          <a:p>
            <a:pPr>
              <a:buNone/>
            </a:pPr>
            <a:r>
              <a:t>旧设计里，不同状态和缓存能力分别对应多套树实现。图</a:t>
            </a:r>
          </a:p>
          <a:p>
            <a:pPr>
              <a:buNone/>
            </a:pPr>
            <a:r>
              <a:t>里列出了 Radix、SWA、Mamba、HiRadix 和 Pure SWA。</a:t>
            </a:r>
          </a:p>
          <a:p>
            <a:pPr>
              <a:buNone/>
            </a:pPr>
            <a:r>
              <a:t>它们都要做前缀匹配、节点拆分、加锁和淘汰。再加上 Host、Storage</a:t>
            </a:r>
          </a:p>
          <a:p>
            <a:pPr>
              <a:buNone/>
            </a:pPr>
            <a:r>
              <a:t> 的管理，每种组合都需要接一遍，修复也容易在多个实现之间重复。</a:t>
            </a:r>
          </a:p>
          <a:p>
            <a:pPr>
              <a:buNone/>
            </a:pPr>
            <a:r>
              <a:t>因此统一的目标很具体：把共同的树操作收在一起，同时保留每种状</a:t>
            </a:r>
          </a:p>
          <a:p>
            <a:pPr>
              <a:buNone/>
            </a:pPr>
            <a:r>
              <a:t>态自己的语义。不能为了统一接口，就假设它们的复用边界完全一样。</a:t>
            </a:r>
          </a:p>
          <a:p>
            <a:pPr>
              <a:buNone/>
            </a:pPr>
            <a:r>
              <a:t>指重复的 match / split / lock / evict；下一页给出统一后的结构。</a:t>
            </a:r>
          </a:p>
          <a:p>
            <a:pPr>
              <a:buNone/>
            </a:pPr>
            <a:r>
              <a:t/>
            </a:r>
          </a:p>
          <a:p>
            <a:pPr>
              <a:buNone/>
            </a:pPr>
            <a:r>
              <a:t>—— 原有备注 / 技术说明 ——</a:t>
            </a:r>
          </a:p>
          <a:p>
            <a:pPr>
              <a:buNone/>
            </a:pPr>
            <a:r>
              <a:t>The source material counted five prefix-tree implementations. The line counts describe that snapshot, not today's codebase. Duplication includes token topology, match, split, lock, LRU, and coordination across tiers. Unification should merge these mechanisms while preserving the state semantics of each component.</a:t>
            </a:r>
          </a:p>
          <a:p>
            <a:pPr>
              <a:buNone/>
            </a:pPr>
            <a:r>
              <a:t>Additional explanation and original data:</a:t>
            </a:r>
          </a:p>
          <a:p>
            <a:pPr>
              <a:buNone/>
            </a:pPr>
            <a:r>
              <a:t>The cost of the old abstraction: each new combination copies another tree</a:t>
            </a:r>
          </a:p>
          <a:p>
            <a:pPr>
              <a:buNone/>
            </a:pPr>
            <a:r>
              <a:t>Prefix-tree implementations under sglang/srt/mem_cache</a:t>
            </a:r>
          </a:p>
          <a:p>
            <a:pPr>
              <a:buNone/>
            </a:pPr>
            <a:r>
              <a:t>14</a:t>
            </a:r>
          </a:p>
          <a:p>
            <a:pPr>
              <a:buNone/>
            </a:pPr>
            <a:r>
              <a:t>RadixCache / radix_cache.py / 885 lines</a:t>
            </a:r>
          </a:p>
          <a:p>
            <a:pPr>
              <a:buNone/>
            </a:pPr>
            <a:r>
              <a:t>SWARadixCache / swa_radix_cache.py / 1,457 lines</a:t>
            </a:r>
          </a:p>
          <a:p>
            <a:pPr>
              <a:buNone/>
            </a:pPr>
            <a:r>
              <a:t>MambaRadixCache / mamba_radix_cache.py / 1,443 lines</a:t>
            </a:r>
          </a:p>
          <a:p>
            <a:pPr>
              <a:buNone/>
            </a:pPr>
            <a:r>
              <a:t>HiRadixCache / hiradix_cache.py / 2,021 lines</a:t>
            </a:r>
          </a:p>
          <a:p>
            <a:pPr>
              <a:buNone/>
            </a:pPr>
            <a:r>
              <a:t>PureSWARadixCache / pure_swa_radix_cache.py / 153 lines</a:t>
            </a:r>
          </a:p>
          <a:p>
            <a:pPr>
              <a:buNone/>
            </a:pPr>
            <a:r>
              <a:t>Each implementation repeats the same mechanisms:</a:t>
            </a:r>
          </a:p>
          <a:p>
            <a:pPr>
              <a:buNone/>
            </a:pPr>
            <a:r>
              <a:t>Longest-prefix match and node splitting</a:t>
            </a:r>
          </a:p>
          <a:p>
            <a:pPr>
              <a:buNone/>
            </a:pPr>
            <a:r>
              <a:t>Lock reference counts and LRU list maintenance</a:t>
            </a:r>
          </a:p>
          <a:p>
            <a:pPr>
              <a:buNone/>
            </a:pPr>
            <a:r>
              <a:t>Eviction order and host / device coordination</a:t>
            </a:r>
          </a:p>
          <a:p>
            <a:pPr>
              <a:buNone/>
            </a:pPr>
            <a:r>
              <a:t>TreeNode is defined 3 times, and LRUList twice.</a:t>
            </a:r>
          </a:p>
          <a:p>
            <a:pPr>
              <a:buNone/>
            </a:pPr>
            <a:r>
              <a:t>Now multiply by the storage dimension.</a:t>
            </a:r>
          </a:p>
          <a:p>
            <a:pPr>
              <a:buNone/>
            </a:pPr>
            <a:r>
              <a:t>HiCache L2 / L3, host locks, and storage transfers must align with each combination separately. The number of combinations multiplies rather than adds.</a:t>
            </a:r>
          </a:p>
          <a:p>
            <a:pPr>
              <a:buNone/>
            </a:pPr>
            <a:r>
              <a:t>Tree mechanisms should be unified, while each state type's reuse semantics should remain separate.</a:t>
            </a:r>
          </a:p>
          <a:p>
            <a:pPr>
              <a:buNone/>
            </a:pPr>
            <a:r>
              <a:t>Source: actual line counts under python/sglang/srt/mem_cache on sgl-project/sglang main (2026-09)</a:t>
            </a:r>
          </a:p>
        </p:txBody>
      </p:sp>
    </p:spTree>
  </p:cSld>
  <p:clrMapOvr>
    <a:masterClrMapping/>
  </p:clrMapOvr>
</p:notes>
</file>

<file path=ppt/notesSlides/notesSlide14.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824" name="Shape 824"/>
          <p:cNvSpPr/>
          <p:nvPr>
            <p:ph type="sldImg"/>
          </p:nvPr>
        </p:nvSpPr>
        <p:spPr>
          <a:prstGeom prst="rect">
            <a:avLst/>
          </a:prstGeom>
        </p:spPr>
        <p:txBody>
          <a:bodyPr/>
          <a:lstStyle/>
          <a:p>
            <a:pPr/>
          </a:p>
        </p:txBody>
      </p:sp>
      <p:sp>
        <p:nvSpPr>
          <p:cNvPr id="825" name="Shape 825"/>
          <p:cNvSpPr/>
          <p:nvPr>
            <p:ph type="body" sz="quarter" idx="1"/>
          </p:nvPr>
        </p:nvSpPr>
        <p:spPr>
          <a:prstGeom prst="rect">
            <a:avLst/>
          </a:prstGeom>
        </p:spPr>
        <p:txBody>
          <a:bodyPr/>
          <a:lstStyle/>
          <a:p>
            <a:pPr>
              <a:buNone/>
            </a:pPr>
            <a:r>
              <a:t>18  统一结构：一棵树，多个状态槽位</a:t>
            </a:r>
          </a:p>
          <a:p>
            <a:pPr>
              <a:buNone/>
            </a:pPr>
            <a:r>
              <a:t>Unified Radix Tree: One Tree, Multiple Components</a:t>
            </a:r>
          </a:p>
          <a:p>
            <a:pPr>
              <a:buNone/>
            </a:pPr>
            <a:r>
              <a:t>因此我们就寻求统一的一颗树结构。看：AB、CD、EF 表示公共的 token 拓扑。</a:t>
            </a:r>
          </a:p>
          <a:p>
            <a:pPr>
              <a:buNone/>
            </a:pPr>
            <a:r>
              <a:t>在同一个节点上，可以挂 FULL、SWA、MAMBA 各自的状态槽位。</a:t>
            </a:r>
          </a:p>
          <a:p>
            <a:pPr>
              <a:buNone/>
            </a:pPr>
            <a:r>
              <a:t>树负责共享的路径和节点操作，组件负责自己的状态含义。</a:t>
            </a:r>
          </a:p>
          <a:p>
            <a:pPr>
              <a:buNone/>
            </a:pPr>
            <a:r>
              <a:t>举例：FULL 和 SWA 的槽位关联对应的 KV，</a:t>
            </a:r>
          </a:p>
          <a:p>
            <a:pPr>
              <a:buNone/>
            </a:pPr>
            <a:r>
              <a:t>MAMBA 的槽位关联边界上的状态快照。</a:t>
            </a:r>
          </a:p>
          <a:p>
            <a:pPr>
              <a:buNone/>
            </a:pPr>
            <a:r>
              <a:t>图里假设这些槽位都存在；实际并不是每个节点都必须存齐所有状态。像 </a:t>
            </a:r>
          </a:p>
          <a:p>
            <a:pPr>
              <a:buNone/>
            </a:pPr>
            <a:r>
              <a:t>C128 这样的 sidecar，压缩 KV 随其来源组件一同移动，</a:t>
            </a:r>
          </a:p>
          <a:p>
            <a:pPr>
              <a:buNone/>
            </a:pPr>
            <a:r>
              <a:t>不能单独决定安全复用边界。</a:t>
            </a:r>
          </a:p>
          <a:p>
            <a:pPr>
              <a:buNone/>
            </a:pPr>
            <a:r>
              <a:t>依次指各组件槽位；下一页看多个组件怎样共同判断命中。</a:t>
            </a:r>
          </a:p>
          <a:p>
            <a:pPr>
              <a:buNone/>
            </a:pPr>
            <a:r>
              <a:t/>
            </a:r>
          </a:p>
          <a:p>
            <a:pPr>
              <a:buNone/>
            </a:pPr>
            <a:r>
              <a:t>—— 原有备注 / 技术说明 ——</a:t>
            </a:r>
          </a:p>
          <a:p>
            <a:pPr>
              <a:buNone/>
            </a:pPr>
            <a:r>
              <a:t>The three radix nodes in the diagram share token identity, and each component has its own state slot on each node. Three clicks reveal FULL, SWA, and MAMBA in sequence. FULL/SWA slots reference the corresponding KV indices, while MAMBA slots reference state snapshots at those boundaries. The example assumes the shown slots exist. It does not imply that every node always stores every state type. C128 follows its owning component as a sidecar and cannot independently determine the safe boundary. The unified tree core manages tree walks, splitting, and shared tree operations. The cache wrapper orchestrates pool operations, scheduling, and transfers. Source: https://yichizhang.dev/AI-Infra-Visualized/lessons/unified-radix-cache/</a:t>
            </a:r>
          </a:p>
        </p:txBody>
      </p:sp>
    </p:spTree>
  </p:cSld>
  <p:clrMapOvr>
    <a:masterClrMapping/>
  </p:clrMapOvr>
</p:notes>
</file>

<file path=ppt/notesSlides/notesSlide15.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275" name="Shape 1275"/>
          <p:cNvSpPr/>
          <p:nvPr>
            <p:ph type="sldImg"/>
          </p:nvPr>
        </p:nvSpPr>
        <p:spPr>
          <a:prstGeom prst="rect">
            <a:avLst/>
          </a:prstGeom>
        </p:spPr>
        <p:txBody>
          <a:bodyPr/>
          <a:lstStyle/>
          <a:p>
            <a:pPr/>
          </a:p>
        </p:txBody>
      </p:sp>
      <p:sp>
        <p:nvSpPr>
          <p:cNvPr id="1276" name="Shape 1276"/>
          <p:cNvSpPr/>
          <p:nvPr>
            <p:ph type="body" sz="quarter" idx="1"/>
          </p:nvPr>
        </p:nvSpPr>
        <p:spPr>
          <a:prstGeom prst="rect">
            <a:avLst/>
          </a:prstGeom>
        </p:spPr>
        <p:txBody>
          <a:bodyPr/>
          <a:lstStyle/>
          <a:p>
            <a:pPr>
              <a:buNone/>
            </a:pPr>
            <a:r>
              <a:t>19  安全边界：找所有组件都接受的最深节点</a:t>
            </a:r>
          </a:p>
          <a:p>
            <a:pPr>
              <a:buNone/>
            </a:pPr>
            <a:r>
              <a:t>Unified Radix Tree: Safe Reuse Boundaries</a:t>
            </a:r>
          </a:p>
          <a:p>
            <a:pPr>
              <a:buNone/>
            </a:pPr>
            <a:r>
              <a:t>沿匹配路径依次检查。n1、n2 都通过，边界可以向前推进。</a:t>
            </a:r>
          </a:p>
          <a:p>
            <a:pPr>
              <a:buNone/>
            </a:pPr>
            <a:r>
              <a:t>到 n3，SWA 的窗口不完整，这个候选点不能作为恢复位置。</a:t>
            </a:r>
          </a:p>
          <a:p>
            <a:pPr>
              <a:buNone/>
            </a:pPr>
            <a:r>
              <a:t>但检查不能就此停止。到了 n4，SWA 的窗口重新有效，其他组件也通过，</a:t>
            </a:r>
          </a:p>
          <a:p>
            <a:pPr>
              <a:buNone/>
            </a:pPr>
            <a:r>
              <a:t>于是安全边界可以推进到 n4。n5 又因为缺少 MAMBA checkpoint 被拒绝。</a:t>
            </a:r>
          </a:p>
          <a:p>
            <a:pPr>
              <a:buNone/>
            </a:pPr>
            <a:r>
              <a:t>最终从 n4 恢复，后面的 n5 重新计算。关键是找最深的、所有组件</a:t>
            </a:r>
          </a:p>
          <a:p>
            <a:pPr>
              <a:buNone/>
            </a:pPr>
            <a:r>
              <a:t>都接受的候选边界，而不是遇到第一个失败节点就提前结束遍历。</a:t>
            </a:r>
          </a:p>
          <a:p>
            <a:pPr>
              <a:buNone/>
            </a:pPr>
            <a:r>
              <a:t>跟随 n1 到 n5 的检查顺序，强调“n3 失败后仍继续检查”。</a:t>
            </a:r>
          </a:p>
          <a:p>
            <a:pPr>
              <a:buNone/>
            </a:pPr>
            <a:r>
              <a:t/>
            </a:r>
          </a:p>
          <a:p>
            <a:pPr>
              <a:buNone/>
            </a:pPr>
            <a:r>
              <a:t>—— 原有备注 / 技术说明 ——</a:t>
            </a:r>
          </a:p>
          <a:p>
            <a:pPr>
              <a:buNone/>
            </a:pPr>
            <a:r>
              <a:t>The animation retains the five-node teaching example from the original talk. FULL accepts every candidate. SWA rejects n3 because its window is incomplete, but its window can become valid again at n4. MAMBA rejects n5 because its checkpoint is missing. Traversal must not stop early at n3. The final boundary is n4, the deepest node accepted by every component. The prefix-reuse marker indicates the final safe boundary. It does not mean every shallower candidate was accepted by all components. The web reference uses four nodes, while this deck retains the original five-node example. Source: https://yichizhang.dev/AI-Infra-Visualized/lessons/unified-radix-cache/</a:t>
            </a:r>
          </a:p>
        </p:txBody>
      </p:sp>
    </p:spTree>
  </p:cSld>
  <p:clrMapOvr>
    <a:masterClrMapping/>
  </p:clrMapOvr>
</p:notes>
</file>

<file path=ppt/notesSlides/notesSlide16.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283" name="Shape 1283"/>
          <p:cNvSpPr/>
          <p:nvPr>
            <p:ph type="sldImg"/>
          </p:nvPr>
        </p:nvSpPr>
        <p:spPr>
          <a:prstGeom prst="rect">
            <a:avLst/>
          </a:prstGeom>
        </p:spPr>
        <p:txBody>
          <a:bodyPr/>
          <a:lstStyle/>
          <a:p>
            <a:pPr/>
          </a:p>
        </p:txBody>
      </p:sp>
      <p:sp>
        <p:nvSpPr>
          <p:cNvPr id="1284" name="Shape 1284"/>
          <p:cNvSpPr/>
          <p:nvPr>
            <p:ph type="body" sz="quarter" idx="1"/>
          </p:nvPr>
        </p:nvSpPr>
        <p:spPr>
          <a:prstGeom prst="rect">
            <a:avLst/>
          </a:prstGeom>
        </p:spPr>
        <p:txBody>
          <a:bodyPr/>
          <a:lstStyle/>
          <a:p>
            <a:pPr>
              <a:buNone/>
            </a:pPr>
            <a:r>
              <a:t>20  Component Hooks：树管流程，组件管规则</a:t>
            </a:r>
          </a:p>
          <a:p>
            <a:pPr>
              <a:buNone/>
            </a:pPr>
            <a:r>
              <a:t>Component Hooks: Core and Component Roles</a:t>
            </a:r>
          </a:p>
          <a:p>
            <a:pPr>
              <a:buNone/>
            </a:pPr>
            <a:r>
              <a:t>左边的 UnifiedTreeCore 管共享机制：怎么遍历、怎么拆节点，以及按什么顺</a:t>
            </a:r>
          </a:p>
          <a:p>
            <a:pPr>
              <a:buNone/>
            </a:pPr>
            <a:r>
              <a:t>序调用组件。match、insert、lock、evict 这些生命周期由同一套流程组织。</a:t>
            </a:r>
          </a:p>
          <a:p>
            <a:pPr>
              <a:buNone/>
            </a:pPr>
            <a:r>
              <a:t>右边的组件回答自己的问题：比如这个边界还能不能复用，节点拆开时状态怎么</a:t>
            </a:r>
          </a:p>
          <a:p>
            <a:pPr>
              <a:buNone/>
            </a:pPr>
            <a:r>
              <a:t>分，锁住哪一部分，淘汰时释放什么。</a:t>
            </a:r>
          </a:p>
          <a:p>
            <a:pPr>
              <a:buNone/>
            </a:pPr>
            <a:r>
              <a:t>这样，不必再复制一整棵树。</a:t>
            </a:r>
          </a:p>
          <a:p>
            <a:pPr>
              <a:buNone/>
            </a:pPr>
            <a:r>
              <a:t>树的共同机制可以复用，与组件各自的差异化隔开，大大减少维护难度。</a:t>
            </a:r>
          </a:p>
          <a:p>
            <a:pPr>
              <a:buNone/>
            </a:pPr>
            <a:r>
              <a:t>先讲左右职责，再指 hooks；接下来讲统一后能做的优化。</a:t>
            </a:r>
          </a:p>
          <a:p>
            <a:pPr>
              <a:buNone/>
            </a:pPr>
            <a:r>
              <a:t/>
            </a:r>
          </a:p>
          <a:p>
            <a:pPr>
              <a:buNone/>
            </a:pPr>
            <a:r>
              <a:t>—— 原有备注 / 技术说明 ——</a:t>
            </a:r>
          </a:p>
          <a:p>
            <a:pPr>
              <a:buNone/>
            </a:pPr>
            <a:r>
              <a:t>UnifiedTreeCore handles traversal, splitting, and the order of component calls. TreeComponent defines its own validity, state splitting, locks, and eviction semantics. PoolTransfer describes movement across tiers. Component hooks run throughout the tree lifecycle, so adding a state type does not require rewriting the entire tree.</a:t>
            </a:r>
          </a:p>
          <a:p>
            <a:pPr>
              <a:buNone/>
            </a:pPr>
            <a:r>
              <a:t>Additional explanation and original data:</a:t>
            </a:r>
          </a:p>
          <a:p>
            <a:pPr>
              <a:buNone/>
            </a:pPr>
            <a:r>
              <a:t>Component Hooks: separating the tree from its components</a:t>
            </a:r>
          </a:p>
          <a:p>
            <a:pPr>
              <a:buNone/>
            </a:pPr>
            <a:r>
              <a:t>The core fixes the mechanisms, and components implement the semantics</a:t>
            </a:r>
          </a:p>
          <a:p>
            <a:pPr>
              <a:buNone/>
            </a:pPr>
            <a:r>
              <a:t>17</a:t>
            </a:r>
          </a:p>
          <a:p>
            <a:pPr>
              <a:buNone/>
            </a:pPr>
            <a:r>
              <a:t>UnifiedTreeCore owns the mechanisms:</a:t>
            </a:r>
          </a:p>
          <a:p>
            <a:pPr>
              <a:buNone/>
            </a:pPr>
            <a:r>
              <a:t>Tree walks, node splitting, component call order, and pool orchestration</a:t>
            </a:r>
          </a:p>
          <a:p>
            <a:pPr>
              <a:buNone/>
            </a:pPr>
            <a:r>
              <a:t>match_prefix()</a:t>
            </a:r>
          </a:p>
          <a:p>
            <a:pPr>
              <a:buNone/>
            </a:pPr>
            <a:r>
              <a:t>begin_insert() · resume_insert() · end_insert()</a:t>
            </a:r>
          </a:p>
          <a:p>
            <a:pPr>
              <a:buNone/>
            </a:pPr>
            <a:r>
              <a:t>inc_lock_ref() · dec_lock_ref()</a:t>
            </a:r>
          </a:p>
          <a:p>
            <a:pPr>
              <a:buNone/>
            </a:pPr>
            <a:r>
              <a:t>evict_device_next_node() · evict_device_leaf()</a:t>
            </a:r>
          </a:p>
          <a:p>
            <a:pPr>
              <a:buNone/>
            </a:pPr>
            <a:r>
              <a:t>demote() · drive_host_eviction()</a:t>
            </a:r>
          </a:p>
          <a:p>
            <a:pPr>
              <a:buNone/>
            </a:pPr>
            <a:r>
              <a:t>TreeComponent owns the semantics.</a:t>
            </a:r>
          </a:p>
          <a:p>
            <a:pPr>
              <a:buNone/>
            </a:pPr>
            <a:r>
              <a:t>Each component answers questions about its own reuse boundaries:</a:t>
            </a:r>
          </a:p>
          <a:p>
            <a:pPr>
              <a:buNone/>
            </a:pPr>
            <a:r>
              <a:t>validator: is this node still reusable for me?</a:t>
            </a:r>
          </a:p>
          <a:p>
            <a:pPr>
              <a:buNone/>
            </a:pPr>
            <a:r>
              <a:t>split: how should my data split when a node splits?</a:t>
            </a:r>
          </a:p>
          <a:p>
            <a:pPr>
              <a:buNone/>
            </a:pPr>
            <a:r>
              <a:t>Component data and pool ownership</a:t>
            </a:r>
          </a:p>
          <a:p>
            <a:pPr>
              <a:buNone/>
            </a:pPr>
            <a:r>
              <a:t>Component-specific lock / eviction semantics</a:t>
            </a:r>
          </a:p>
          <a:p>
            <a:pPr>
              <a:buNone/>
            </a:pPr>
            <a:r>
              <a:t>PoolTransfer: a description of movement across tiers</a:t>
            </a:r>
          </a:p>
          <a:p>
            <a:pPr>
              <a:buNone/>
            </a:pPr>
            <a:r>
              <a:t>Components receive callbacks at these lifecycle points:</a:t>
            </a:r>
          </a:p>
          <a:p>
            <a:pPr>
              <a:buNone/>
            </a:pPr>
            <a:r>
              <a:t>match, split, insert, lock, evict, transfer</a:t>
            </a:r>
          </a:p>
          <a:p>
            <a:pPr>
              <a:buNone/>
            </a:pPr>
            <a:r>
              <a:t>Stable mechanisms, pluggable semantics. A new attention combination adds a component, without requiring another tree.</a:t>
            </a:r>
          </a:p>
        </p:txBody>
      </p:sp>
    </p:spTree>
  </p:cSld>
  <p:clrMapOvr>
    <a:masterClrMapping/>
  </p:clrMapOvr>
</p:notes>
</file>

<file path=ppt/notesSlides/notesSlide17.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287" name="Shape 1287"/>
          <p:cNvSpPr/>
          <p:nvPr>
            <p:ph type="sldImg"/>
          </p:nvPr>
        </p:nvSpPr>
        <p:spPr>
          <a:prstGeom prst="rect">
            <a:avLst/>
          </a:prstGeom>
        </p:spPr>
        <p:txBody>
          <a:bodyPr/>
          <a:lstStyle/>
          <a:p>
            <a:pPr/>
          </a:p>
        </p:txBody>
      </p:sp>
      <p:sp>
        <p:nvSpPr>
          <p:cNvPr id="1288" name="Shape 1288"/>
          <p:cNvSpPr/>
          <p:nvPr>
            <p:ph type="body" sz="quarter" idx="1"/>
          </p:nvPr>
        </p:nvSpPr>
        <p:spPr>
          <a:prstGeom prst="rect">
            <a:avLst/>
          </a:prstGeom>
        </p:spPr>
        <p:txBody>
          <a:bodyPr/>
          <a:lstStyle/>
          <a:p>
            <a:pPr>
              <a:buNone/>
            </a:pPr>
            <a:r>
              <a:t>21  统一之后：机制与对应结果</a:t>
            </a:r>
          </a:p>
          <a:p>
            <a:pPr>
              <a:buNone/>
            </a:pPr>
            <a:r>
              <a:t>Other Optimization Based On Unified Radix Tree</a:t>
            </a:r>
          </a:p>
          <a:p>
            <a:pPr>
              <a:buNone/>
            </a:pPr>
            <a:r>
              <a:t>统一结构之后，可以分别管理每一种状态的保留、使用和回收。</a:t>
            </a:r>
          </a:p>
          <a:p>
            <a:pPr>
              <a:buNone/>
            </a:pPr>
            <a:r>
              <a:t>接下来我会过一下我们根据unified radix tree的基础上，继续做的</a:t>
            </a:r>
          </a:p>
          <a:p>
            <a:pPr>
              <a:buNone/>
            </a:pPr>
            <a:r>
              <a:t>一些其他优化。</a:t>
            </a:r>
          </a:p>
          <a:p>
            <a:pPr>
              <a:buNone/>
            </a:pPr>
            <a:r>
              <a:t>先看会话如何影响下一轮复用。</a:t>
            </a:r>
          </a:p>
          <a:p>
            <a:pPr>
              <a:buNone/>
            </a:pPr>
            <a:r>
              <a:t/>
            </a:r>
          </a:p>
          <a:p>
            <a:pPr>
              <a:buNone/>
            </a:pPr>
            <a:r>
              <a:t>—— 原有备注 / 技术说明 ——</a:t>
            </a:r>
          </a:p>
          <a:p>
            <a:pPr>
              <a:buNone/>
            </a:pPr>
            <a:r>
              <a:t>中文演讲提词（对应第 21 页）</a:t>
            </a:r>
          </a:p>
          <a:p>
            <a:pPr>
              <a:buNone/>
            </a:pPr>
            <a:r>
              <a:t>统一结构之后，我们可以分别管理每一种状态的保留、使用和回收。</a:t>
            </a:r>
          </a:p>
          <a:p>
            <a:pPr>
              <a:buNone/>
            </a:pPr>
            <a:r>
              <a:t>先看会话如何影响保留，再看当前请求到底需要锁住哪些状态。</a:t>
            </a:r>
          </a:p>
          <a:p>
            <a:pPr>
              <a:buNone/>
            </a:pPr>
            <a:r>
              <a:t>随后讲组件淘汰、分叉点保留，最后讲缺失状态重新进入缓存时的正确性。</a:t>
            </a:r>
          </a:p>
          <a:p>
            <a:pPr>
              <a:buNone/>
            </a:pPr>
            <a:r>
              <a:t>这几项分别控制显存占用、后续复用和并发安全，配合起来才完整。</a:t>
            </a:r>
          </a:p>
          <a:p>
            <a:pPr>
              <a:buNone/>
            </a:pPr>
            <a:r>
              <a:t>过渡：先看会话对下一轮复用的影响，再进入组件锁。</a:t>
            </a:r>
          </a:p>
          <a:p>
            <a:pPr>
              <a:buNone/>
            </a:pPr>
            <a:r>
              <a:t>原有技术说明与来源：</a:t>
            </a:r>
          </a:p>
        </p:txBody>
      </p:sp>
    </p:spTree>
  </p:cSld>
  <p:clrMapOvr>
    <a:masterClrMapping/>
  </p:clrMapOvr>
</p:notes>
</file>

<file path=ppt/notesSlides/notesSlide18.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344" name="Shape 1344"/>
          <p:cNvSpPr/>
          <p:nvPr>
            <p:ph type="sldImg"/>
          </p:nvPr>
        </p:nvSpPr>
        <p:spPr>
          <a:prstGeom prst="rect">
            <a:avLst/>
          </a:prstGeom>
        </p:spPr>
        <p:txBody>
          <a:bodyPr/>
          <a:lstStyle/>
          <a:p>
            <a:pPr/>
          </a:p>
        </p:txBody>
      </p:sp>
      <p:sp>
        <p:nvSpPr>
          <p:cNvPr id="1345" name="Shape 1345"/>
          <p:cNvSpPr/>
          <p:nvPr>
            <p:ph type="body" sz="quarter" idx="1"/>
          </p:nvPr>
        </p:nvSpPr>
        <p:spPr>
          <a:prstGeom prst="rect">
            <a:avLst/>
          </a:prstGeom>
        </p:spPr>
        <p:txBody>
          <a:bodyPr/>
          <a:lstStyle/>
          <a:p>
            <a:pPr>
              <a:buNone/>
            </a:pPr>
            <a:r>
              <a:t>22  会话感知淘汰：给下一轮保留机会</a:t>
            </a:r>
          </a:p>
          <a:p>
            <a:pPr>
              <a:buNone/>
            </a:pPr>
            <a:r>
              <a:t>Session-aware Eviction: Cache for the Next Turn</a:t>
            </a:r>
          </a:p>
          <a:p>
            <a:pPr>
              <a:buNone/>
            </a:pPr>
            <a:r>
              <a:t>首先是会话感知的淘汰策略。例子里有五条缓存，全部没有锁，现在要释放两条。</a:t>
            </a:r>
          </a:p>
          <a:p>
            <a:pPr>
              <a:buNone/>
            </a:pPr>
            <a:r>
              <a:t>普通 LRU 只看最近使用时间，会先选最老的 A1 和 B1。</a:t>
            </a:r>
          </a:p>
          <a:p>
            <a:pPr>
              <a:buNone/>
            </a:pPr>
            <a:r>
              <a:t>但它们分别被会话 A、B 引用，下一轮可能还要用。Session-aware </a:t>
            </a:r>
          </a:p>
          <a:p>
            <a:pPr>
              <a:buNone/>
            </a:pPr>
            <a:r>
              <a:t>优先淘汰没有会话引用的 C1、C2，把仍被会话需要的历史尽量留下，</a:t>
            </a:r>
          </a:p>
          <a:p>
            <a:pPr>
              <a:buNone/>
            </a:pPr>
            <a:r>
              <a:t>这样提升缓存的命中几率</a:t>
            </a:r>
          </a:p>
          <a:p>
            <a:pPr>
              <a:buNone/>
            </a:pPr>
            <a:r>
              <a:t>当然，这只是提高优先级，不是永久 pin 住。B 关闭后，B1 的引用消失，但共</a:t>
            </a:r>
          </a:p>
          <a:p>
            <a:pPr>
              <a:buNone/>
            </a:pPr>
            <a:r>
              <a:t>享项 AB 仍被 A 引用。内存继续紧张时，有引用的条目也可以被淘汰。</a:t>
            </a:r>
          </a:p>
          <a:p>
            <a:pPr>
              <a:buNone/>
            </a:pPr>
            <a:r>
              <a:t>下一页先看两套缓存配置的命中率，再回到当前请求的组件锁。</a:t>
            </a:r>
          </a:p>
          <a:p>
            <a:pPr>
              <a:buNone/>
            </a:pPr>
            <a:r>
              <a:t/>
            </a:r>
          </a:p>
          <a:p>
            <a:pPr>
              <a:buNone/>
            </a:pPr>
            <a:r>
              <a:t>—— 原有备注 / 技术说明 ——</a:t>
            </a:r>
          </a:p>
          <a:p>
            <a:pPr>
              <a:buNone/>
            </a:pPr>
            <a:r>
              <a:t>中文演讲提词（对应第 22 页）</a:t>
            </a:r>
          </a:p>
          <a:p>
            <a:pPr>
              <a:buNone/>
            </a:pPr>
            <a:r>
              <a:t>例子里有五条缓存，全部没有锁，现在要释放两条。普通 LRU 只看最近使用时间，会先选最老的 A1 和 B1。但它们分别被会话 A、B 引用，下一轮可能还要用。Session-aware 优先淘汰没有会话引用的 C1、C2，把仍被会话需要的历史尽量留下。这只是提高优先级，不是永久 pin 住。B 关闭后，B1 的引用消失，但共享项 AB 仍被 A 引用。内存继续紧张时，有引用的条目也可以被淘汰。</a:t>
            </a:r>
          </a:p>
          <a:p>
            <a:pPr>
              <a:buNone/>
            </a:pPr>
            <a:r>
              <a:t>过渡：会话表示未来可能复用；下一页的锁保护当前正在使用的状态。</a:t>
            </a:r>
          </a:p>
          <a:p>
            <a:pPr>
              <a:buNone/>
            </a:pPr>
            <a:r>
              <a:t>原有技术说明与来源：</a:t>
            </a:r>
          </a:p>
          <a:p>
            <a:pPr>
              <a:buNone/>
            </a:pPr>
            <a:r>
              <a:t>Illustrative example, not a measured benchmark. Same unlocked FULL entries under both policies. The recency order is A1, B1, AB, C1, C2 from oldest to newest; all entries have equal illustrative cost. A1 and B1 are referenced by sessions A and B, AB by both. C1/C2 are unreferenced. Need two entries: LRU chooses A1/B1; session-aware chooses C1/C2. If more memory is needed, referenced entries remain evictable. Closing B removes its references without immediately deleting KV; AB retains A's reference. Component references follow each component's reuse boundary. Applies to L1/L2; external backend manages L3.</a:t>
            </a:r>
          </a:p>
          <a:p>
            <a:pPr>
              <a:buNone/>
            </a:pPr>
            <a:r>
              <a:t>Source: SGLang Unified Radix Cache blog (2026-08-11), and https://yichizhang.dev/AI-Infra-Visualized/lessons/unified-radix-cache/ . Implementation: https://github.com/sgl-project/sglang/blob/ba68306256d64c53d302dc5d2f3be9e388af0738/python/sglang/srt/mem_cache/unified_cache/unified_tree_core.py .</a:t>
            </a:r>
          </a:p>
        </p:txBody>
      </p:sp>
    </p:spTree>
  </p:cSld>
  <p:clrMapOvr>
    <a:masterClrMapping/>
  </p:clrMapOvr>
</p:notes>
</file>

<file path=ppt/notesSlides/notesSlide19.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354" name="Shape 1354"/>
          <p:cNvSpPr/>
          <p:nvPr>
            <p:ph type="sldImg"/>
          </p:nvPr>
        </p:nvSpPr>
        <p:spPr>
          <a:prstGeom prst="rect">
            <a:avLst/>
          </a:prstGeom>
        </p:spPr>
        <p:txBody>
          <a:bodyPr/>
          <a:lstStyle/>
          <a:p>
            <a:pPr/>
          </a:p>
        </p:txBody>
      </p:sp>
      <p:sp>
        <p:nvSpPr>
          <p:cNvPr id="1355" name="Shape 1355"/>
          <p:cNvSpPr/>
          <p:nvPr>
            <p:ph type="body" sz="quarter" idx="1"/>
          </p:nvPr>
        </p:nvSpPr>
        <p:spPr>
          <a:prstGeom prst="rect">
            <a:avLst/>
          </a:prstGeom>
        </p:spPr>
        <p:txBody>
          <a:bodyPr/>
          <a:lstStyle/>
          <a:p>
            <a:pPr>
              <a:buNone/>
            </a:pPr>
            <a:r>
              <a:t>23  SWE-bench：两套缓存配置的比较</a:t>
            </a:r>
          </a:p>
          <a:p>
            <a:pPr>
              <a:buNone/>
            </a:pPr>
            <a:r>
              <a:t>SWE-bench: Cache Configuration Comparison</a:t>
            </a:r>
          </a:p>
          <a:p>
            <a:pPr>
              <a:buNone/>
            </a:pPr>
            <a:r>
              <a:t>这里回放同一批 SWE-bench 轨迹，比较两套缓存配置。</a:t>
            </a:r>
          </a:p>
          <a:p>
            <a:pPr>
              <a:buNone/>
            </a:pPr>
            <a:r>
              <a:t>浅色是 HiRadixCache + LRU，深色是 Unified + Session-aware。</a:t>
            </a:r>
          </a:p>
          <a:p>
            <a:pPr>
              <a:buNone/>
            </a:pPr>
            <a:r>
              <a:t>第一组 Model A、BS 128：Device 命中率从 42% 提升到 51%。</a:t>
            </a:r>
          </a:p>
          <a:p>
            <a:pPr>
              <a:buNone/>
            </a:pPr>
            <a:r>
              <a:t>第二组 Model B、BS 32：Device 命中率从 5% 提升到 34%。</a:t>
            </a:r>
          </a:p>
          <a:p>
            <a:pPr>
              <a:buNone/>
            </a:pPr>
            <a:r>
              <a:t>第三组 Model B、BS 64：Device + Host 从 58% 提升到 67%。</a:t>
            </a:r>
          </a:p>
          <a:p>
            <a:pPr>
              <a:buNone/>
            </a:pPr>
            <a:r>
              <a:t>专项结果讲完，回到机制：当前正在使用的状态怎样保护。</a:t>
            </a:r>
          </a:p>
          <a:p>
            <a:pPr>
              <a:buNone/>
            </a:pPr>
            <a:r>
              <a:t/>
            </a:r>
          </a:p>
          <a:p>
            <a:pPr>
              <a:buNone/>
            </a:pPr>
            <a:r>
              <a:t>—— 原有备注 / 技术说明 ——</a:t>
            </a:r>
          </a:p>
          <a:p>
            <a:pPr>
              <a:buNone/>
            </a:pPr>
            <a:r>
              <a:t>These results come from the same SWE-bench trace replay in the source material. Model A is DeepSeek-V4-Pro: device hit rate at BS 128 rises from 42% to 51%. Model B is Qwen3.5-397B-A17B: device hit rate at BS 32 rises from 5% to 34%, and device + host hit rate at BS 64 rises from 58% to 67%. The baseline is HiRadixCache + LRU. The new setup enables both Unified Radix Cache and session-aware eviction, so the full difference cannot be attributed to one feature alone.</a:t>
            </a:r>
          </a:p>
          <a:p>
            <a:pPr>
              <a:buNone/>
            </a:pPr>
            <a:r>
              <a:t>Additional explanation and original data:</a:t>
            </a:r>
          </a:p>
          <a:p>
            <a:pPr>
              <a:buNone/>
            </a:pPr>
            <a:r>
              <a:t>Session-aware Eviction: LRU cannot express “needed next turn”</a:t>
            </a:r>
          </a:p>
          <a:p>
            <a:pPr>
              <a:buNone/>
            </a:pPr>
            <a:r>
              <a:t>Gaps between turns are exactly when ordinary LRU performs much of its reclamation</a:t>
            </a:r>
          </a:p>
          <a:p>
            <a:pPr>
              <a:buNone/>
            </a:pPr>
            <a:r>
              <a:t>20</a:t>
            </a:r>
          </a:p>
          <a:p>
            <a:pPr>
              <a:buNone/>
            </a:pPr>
            <a:r>
              <a:t>Problem and change</a:t>
            </a:r>
          </a:p>
          <a:p>
            <a:pPr>
              <a:buNone/>
            </a:pPr>
            <a:r>
              <a:t>LRU only considers which entry was used least recently. It can therefore evict a session needed in the next turn before an unrelated request.</a:t>
            </a:r>
          </a:p>
          <a:p>
            <a:pPr>
              <a:buNone/>
            </a:pPr>
            <a:r>
              <a:t>1. First evict entries with no session references.</a:t>
            </a:r>
          </a:p>
          <a:p>
            <a:pPr>
              <a:buNone/>
            </a:pPr>
            <a:r>
              <a:t>2. Then fall back to referenced entries. They remain evictable and are never pinned indefinitely.</a:t>
            </a:r>
          </a:p>
          <a:p>
            <a:pPr>
              <a:buNone/>
            </a:pPr>
            <a:r>
              <a:t>Each component registers its own references: FULL tracks the prefix path, SWA the trailing window, and MAMBA the frontier.</a:t>
            </a:r>
          </a:p>
          <a:p>
            <a:pPr>
              <a:buNone/>
            </a:pPr>
            <a:r>
              <a:t>This provides soft protection, not pinning. close_session removes the signal without deleting data, with bounded tombstones as a fallback.</a:t>
            </a:r>
          </a:p>
          <a:p>
            <a:pPr>
              <a:buNone/>
            </a:pPr>
            <a:r>
              <a:t>KV cache hit ratio: before → after</a:t>
            </a:r>
          </a:p>
          <a:p>
            <a:pPr>
              <a:buNone/>
            </a:pPr>
            <a:r>
              <a:t>MoE model A · BS 128: 42% → 51%</a:t>
            </a:r>
          </a:p>
          <a:p>
            <a:pPr>
              <a:buNone/>
            </a:pPr>
            <a:r>
              <a:t>MoE model B · BS 32: 5% → 34%</a:t>
            </a:r>
          </a:p>
          <a:p>
            <a:pPr>
              <a:buNone/>
            </a:pPr>
            <a:r>
              <a:t>MoE model B · BS 64: 58% → 67%</a:t>
            </a:r>
          </a:p>
          <a:p>
            <a:pPr>
              <a:buNone/>
            </a:pPr>
            <a:r>
              <a:t>session_id signals that the cache is likely to be needed next turn. It is not a lock.</a:t>
            </a:r>
          </a:p>
          <a:p>
            <a:pPr>
              <a:buNone/>
            </a:pPr>
            <a:r>
              <a:t>Source: SGLang blog, “Unified Radix Cache” (lmsys.org/blog, 2026-08-11), SWE-bench agent trace replay</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20.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406" name="Shape 1406"/>
          <p:cNvSpPr/>
          <p:nvPr>
            <p:ph type="sldImg"/>
          </p:nvPr>
        </p:nvSpPr>
        <p:spPr>
          <a:prstGeom prst="rect">
            <a:avLst/>
          </a:prstGeom>
        </p:spPr>
        <p:txBody>
          <a:bodyPr/>
          <a:lstStyle/>
          <a:p>
            <a:pPr/>
          </a:p>
        </p:txBody>
      </p:sp>
      <p:sp>
        <p:nvSpPr>
          <p:cNvPr id="1407" name="Shape 1407"/>
          <p:cNvSpPr/>
          <p:nvPr>
            <p:ph type="body" sz="quarter" idx="1"/>
          </p:nvPr>
        </p:nvSpPr>
        <p:spPr>
          <a:prstGeom prst="rect">
            <a:avLst/>
          </a:prstGeom>
        </p:spPr>
        <p:txBody>
          <a:bodyPr/>
          <a:lstStyle/>
          <a:p>
            <a:pPr>
              <a:buNone/>
            </a:pPr>
            <a:r>
              <a:t>24  组件锁：先确定哪些状态不能释放</a:t>
            </a:r>
          </a:p>
          <a:p>
            <a:pPr>
              <a:buNone/>
            </a:pPr>
            <a:r>
              <a:t>Component Locks: Protect Only Needed State</a:t>
            </a:r>
          </a:p>
          <a:p>
            <a:pPr>
              <a:buNone/>
            </a:pPr>
            <a:r>
              <a:t>那么在缓存中，不同组件，不同请求，很容易发生冲突，因此我们想到使用组件锁。</a:t>
            </a:r>
          </a:p>
          <a:p>
            <a:pPr>
              <a:buNone/>
            </a:pPr>
            <a:r>
              <a:t>以这个 8 块的请求为例，FULL 保护整个前缀路径，SWA 保护窗口内的第 6–8 块。</a:t>
            </a:r>
          </a:p>
          <a:p>
            <a:pPr>
              <a:buNone/>
            </a:pPr>
            <a:r>
              <a:t>Mamba 保护对应边界的 checkpoint，各组件按自己的需要持有锁。</a:t>
            </a:r>
          </a:p>
          <a:p>
            <a:pPr>
              <a:buNone/>
            </a:pPr>
            <a:r>
              <a:t>窗口前移后，不再需要的旧 SWA 可以解除这条请求持有的保护。</a:t>
            </a:r>
          </a:p>
          <a:p>
            <a:pPr>
              <a:buNone/>
            </a:pPr>
            <a:r>
              <a:t>FULL 仍在使用整条路径。</a:t>
            </a:r>
          </a:p>
          <a:p>
            <a:pPr>
              <a:buNone/>
            </a:pPr>
            <a:r>
              <a:t>但是并不意味着SWA或者Mamba等其他组件都要一直锁住。</a:t>
            </a:r>
          </a:p>
          <a:p>
            <a:pPr>
              <a:buNone/>
            </a:pPr>
            <a:r>
              <a:t>空白只表示这条请求没有保护它；其他请求仍可能持有锁。</a:t>
            </a:r>
          </a:p>
          <a:p>
            <a:pPr>
              <a:buNone/>
            </a:pPr>
            <a:r>
              <a:t>确认没有使用者保护后，才进入下一页的组件淘汰流程。</a:t>
            </a:r>
          </a:p>
          <a:p>
            <a:pPr>
              <a:buNone/>
            </a:pPr>
            <a:r>
              <a:t>锁限定不能释放的状态；下一页看满足淘汰条件后怎样级联回收。</a:t>
            </a:r>
          </a:p>
          <a:p>
            <a:pPr>
              <a:buNone/>
            </a:pPr>
            <a:r>
              <a:t/>
            </a:r>
          </a:p>
          <a:p>
            <a:pPr>
              <a:buNone/>
            </a:pPr>
            <a:r>
              <a:t>—— 原有备注 / 技术说明 ——</a:t>
            </a:r>
          </a:p>
          <a:p>
            <a:pPr>
              <a:buNone/>
            </a:pPr>
            <a:r>
              <a:t>中文演讲提词（对应第 23 页）</a:t>
            </a:r>
          </a:p>
          <a:p>
            <a:pPr>
              <a:buNone/>
            </a:pPr>
            <a:r>
              <a:t>请求走到第 8 块时，FULL 保护整个前缀路径，SWA 保护窗口内的第 6–8 块。</a:t>
            </a:r>
          </a:p>
          <a:p>
            <a:pPr>
              <a:buNone/>
            </a:pPr>
            <a:r>
              <a:t>Mamba 保护对应边界的 checkpoint，各组件按自己的需要持有锁。</a:t>
            </a:r>
          </a:p>
          <a:p>
            <a:pPr>
              <a:buNone/>
            </a:pPr>
            <a:r>
              <a:t>窗口前移后，不再需要的旧 SWA 可以解除这条请求持有的保护。</a:t>
            </a:r>
          </a:p>
          <a:p>
            <a:pPr>
              <a:buNone/>
            </a:pPr>
            <a:r>
              <a:t>因此，FULL 仍在使用整条路径，并不意味着沿途所有组件都要一直锁住。</a:t>
            </a:r>
          </a:p>
          <a:p>
            <a:pPr>
              <a:buNone/>
            </a:pPr>
            <a:r>
              <a:t>空白只表示这条请求没有保护它；其他请求仍可能持有锁。</a:t>
            </a:r>
          </a:p>
          <a:p>
            <a:pPr>
              <a:buNone/>
            </a:pPr>
            <a:r>
              <a:t>确认没有使用者保护后，才进入下一页的组件淘汰流程。</a:t>
            </a:r>
          </a:p>
          <a:p>
            <a:pPr>
              <a:buNone/>
            </a:pPr>
            <a:r>
              <a:t>过渡：先讲保护范围，再转向没有锁的状态如何回收。</a:t>
            </a:r>
          </a:p>
          <a:p>
            <a:pPr>
              <a:buNone/>
            </a:pPr>
            <a:r>
              <a:t>讲解补充：</a:t>
            </a:r>
          </a:p>
          <a:p>
            <a:pPr>
              <a:buNone/>
            </a:pPr>
            <a:r>
              <a:t>锁反映当前请求对各组件的需要。保护范围不同使不再需要的状态更早具备淘汰条件。SWA 的 early unlock 在具体实现中由请求推进和窗口边界触发；这里的逐块移动是保护范围的示意，不表示每个 token 都完整重建锁。</a:t>
            </a:r>
          </a:p>
          <a:p>
            <a:pPr>
              <a:buNone/>
            </a:pPr>
            <a:r>
              <a:t>原有技术说明与来源：</a:t>
            </a:r>
          </a:p>
          <a:p>
            <a:pPr>
              <a:buNone/>
            </a:pPr>
            <a:r>
              <a:t>Illustrative equal-size block model; real radix nodes may span different token lengths. The request endpoint is block 8. FULL protects the complete root-to-end path. SWA protects the trailing contiguous window (3 blocks here), with its UUID boundary bookkeeping. MAMBA protects the state/checkpoint at a single node. Blank cells mean not protected by this request; they do not imply that state is already absent, or that no other request/session protects it. MAMBA states and KV blocks have different units and sizes; this is a scope diagram, not a byte comparison. When the SWA endpoint advances to 9, the window moves from 6–8 to 7–9 and the old window's block 6 can lose this request's SWA lock. Other constraints still apply.</a:t>
            </a:r>
          </a:p>
          <a:p>
            <a:pPr>
              <a:buNone/>
            </a:pPr>
            <a:r>
              <a:t>Sources: https://github.com/sgl-project/sglang/blob/ba68306256d64c53d302dc5d2f3be9e388af0738/python/sglang/srt/mem_cache/unified_cache/components/full.py (inc_lock_ref); https://github.com/sgl-project/sglang/blob/ba68306256d64c53d302dc5d2f3be9e388af0738/python/sglang/srt/mem_cache/unified_cache/components/swa.py (inc_lock_ref / dec_lock_ref); https://github.com/sgl-project/sglang/blob/ba68306256d64c53d302dc5d2f3be9e388af0738/python/sglang/srt/mem_cache/unified_cache/components/mamba.py (inc_lock_ref).</a:t>
            </a:r>
          </a:p>
        </p:txBody>
      </p:sp>
    </p:spTree>
  </p:cSld>
  <p:clrMapOvr>
    <a:masterClrMapping/>
  </p:clrMapOvr>
</p:notes>
</file>

<file path=ppt/notesSlides/notesSlide21.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442" name="Shape 1442"/>
          <p:cNvSpPr/>
          <p:nvPr>
            <p:ph type="sldImg"/>
          </p:nvPr>
        </p:nvSpPr>
        <p:spPr>
          <a:prstGeom prst="rect">
            <a:avLst/>
          </a:prstGeom>
        </p:spPr>
        <p:txBody>
          <a:bodyPr/>
          <a:lstStyle/>
          <a:p>
            <a:pPr/>
          </a:p>
        </p:txBody>
      </p:sp>
      <p:sp>
        <p:nvSpPr>
          <p:cNvPr id="1443" name="Shape 1443"/>
          <p:cNvSpPr/>
          <p:nvPr>
            <p:ph type="body" sz="quarter" idx="1"/>
          </p:nvPr>
        </p:nvSpPr>
        <p:spPr>
          <a:prstGeom prst="rect">
            <a:avLst/>
          </a:prstGeom>
        </p:spPr>
        <p:txBody>
          <a:bodyPr/>
          <a:lstStyle/>
          <a:p>
            <a:pPr>
              <a:buNone/>
            </a:pPr>
            <a:r>
              <a:t>25  组件淘汰：内部节点上的级联规则</a:t>
            </a:r>
          </a:p>
          <a:p>
            <a:pPr>
              <a:buNone/>
            </a:pPr>
            <a:r>
              <a:t>Component Eviction: Priorities and Cascades</a:t>
            </a:r>
          </a:p>
          <a:p>
            <a:pPr>
              <a:buNone/>
            </a:pPr>
            <a:r>
              <a:t>当我们淘汰组件缓存的时候，会采用级联规则。顺序是Mamba小于SWA小于FULL</a:t>
            </a:r>
          </a:p>
          <a:p>
            <a:pPr>
              <a:buNone/>
            </a:pPr>
            <a:r>
              <a:t>SWA 被选中回收时，同节点的 Mamba 一起释放，FULL 保留。</a:t>
            </a:r>
          </a:p>
          <a:p>
            <a:pPr>
              <a:buNone/>
            </a:pPr>
            <a:r>
              <a:t>反过来，单独淘汰 Mamba，并不连带删除 SWA 或 FULL。</a:t>
            </a:r>
          </a:p>
          <a:p>
            <a:pPr>
              <a:buNone/>
            </a:pPr>
            <a:r>
              <a:t>原理是，淘汰顺位越高的比如MAMBA，被后续请求复用到的概率越小。</a:t>
            </a:r>
          </a:p>
          <a:p>
            <a:pPr>
              <a:buNone/>
            </a:pPr>
            <a:r>
              <a:t>而比如FULL如果淘汰了某一段，后续再要在已淘汰的基础上追加的话，就肯定需要重新计算了。</a:t>
            </a:r>
          </a:p>
          <a:p>
            <a:pPr>
              <a:buNone/>
            </a:pPr>
            <a:r>
              <a:t>当然，我们组件之间有淘汰策略，但是具体淘汰什么节点，其实也有先后顺序。</a:t>
            </a:r>
          </a:p>
          <a:p>
            <a:pPr>
              <a:buNone/>
            </a:pPr>
            <a:r>
              <a:t>逻辑是用分叉点的保存价值会更高，接下来我会讲分叉节点缓存，以及如何最大程度减少复用损失。</a:t>
            </a:r>
          </a:p>
          <a:p>
            <a:pPr>
              <a:buNone/>
            </a:pPr>
            <a:r>
              <a:t>淘汰释放空间；下一页看如何保留未来分叉需要的边界状态。</a:t>
            </a:r>
          </a:p>
          <a:p>
            <a:pPr>
              <a:buNone/>
            </a:pPr>
            <a:r>
              <a:t/>
            </a:r>
          </a:p>
          <a:p>
            <a:pPr>
              <a:buNone/>
            </a:pPr>
            <a:r>
              <a:t>—— 原有备注 / 技术说明 ——</a:t>
            </a:r>
          </a:p>
          <a:p>
            <a:pPr>
              <a:buNone/>
            </a:pPr>
            <a:r>
              <a:t>中文演讲提词（对应第 24 页）</a:t>
            </a:r>
          </a:p>
          <a:p>
            <a:pPr>
              <a:buNone/>
            </a:pPr>
            <a:r>
              <a:t>这里看同一个内部节点，并假设相关组件都满足淘汰条件。</a:t>
            </a:r>
          </a:p>
          <a:p>
            <a:pPr>
              <a:buNone/>
            </a:pPr>
            <a:r>
              <a:t>SWA 被选中回收时，同节点的 Mamba 一起释放，FULL 保留。</a:t>
            </a:r>
          </a:p>
          <a:p>
            <a:pPr>
              <a:buNone/>
            </a:pPr>
            <a:r>
              <a:t>反过来，单独淘汰 Mamba，并不连带删除 SWA 或 FULL。</a:t>
            </a:r>
          </a:p>
          <a:p>
            <a:pPr>
              <a:buNone/>
            </a:pPr>
            <a:r>
              <a:t>原因是这些路径上的 KV 还可能被后续节点的复用所需要。</a:t>
            </a:r>
          </a:p>
          <a:p>
            <a:pPr>
              <a:buNone/>
            </a:pPr>
            <a:r>
              <a:t>数字表示级联范围，不代表全局固定顺序，也不代表 Mamba 重算便宜。</a:t>
            </a:r>
          </a:p>
          <a:p>
            <a:pPr>
              <a:buNone/>
            </a:pPr>
            <a:r>
              <a:t>如果删掉某个边界唯一的 checkpoint，未来从那里继续仍可能重算很长。</a:t>
            </a:r>
          </a:p>
          <a:p>
            <a:pPr>
              <a:buNone/>
            </a:pPr>
            <a:r>
              <a:t>接下来用分叉点缓存，减少这种复用损失。</a:t>
            </a:r>
          </a:p>
          <a:p>
            <a:pPr>
              <a:buNone/>
            </a:pPr>
            <a:r>
              <a:t>过渡：淘汰释放空间；分叉点缓存尽量保留未来需要的恢复位置。</a:t>
            </a:r>
          </a:p>
          <a:p>
            <a:pPr>
              <a:buNone/>
            </a:pPr>
            <a:r>
              <a:t>讲解补充：</a:t>
            </a:r>
          </a:p>
          <a:p>
            <a:pPr>
              <a:buNone/>
            </a:pPr>
            <a:r>
              <a:t>内部节点的级联优先级为 FULL 2、SWA 1、MAMBA 0。它不是跨组件重算成本排序，也不是先删光 Mamba 再删 SWA 的全局顺序。各组件池按容量需求驱动淘汰。可整体淘汰叶子的优先级折叠为 0，通常原子释放叶子；本图不描述叶子。</a:t>
            </a:r>
          </a:p>
          <a:p>
            <a:pPr>
              <a:buNone/>
            </a:pPr>
            <a:r>
              <a:t>设计依据：路径 A→B→C→D→E 上，假设 C 和 E 有 Mamba checkpoint，E 的 SWA 窗口覆盖 C、D、E。删除 Mamba C 不影响直接从 E 的 checkpoint 恢复；C 的 SWA 仍是 E 所需窗口的一部分，不能随 Mamba C 一起删。如果删的是 SWA C，C 自己的混合状态边界就不完整，同节点 Mamba C 不能单独形成有效命中，因此按规则连带释放。</a:t>
            </a:r>
          </a:p>
          <a:p>
            <a:pPr>
              <a:buNone/>
            </a:pPr>
            <a:r>
              <a:t>代价：未来请求恰好在 C 分叉时，删除唯一的 Mamba C 可能导致长距离重算。若更早边界有完整状态，从那里恢复；没有更早有效状态和备份才可能从头重算。该规则没有证明 Mamba 总是最便宜，需结合命中位置、容量和重算距离理解。</a:t>
            </a:r>
          </a:p>
          <a:p>
            <a:pPr>
              <a:buNone/>
            </a:pPr>
            <a:r>
              <a:t>Source: https://github.com/sgl-project/sglang/blob/ba68306256d64c53d302dc5d2f3be9e388af0738/python/sglang/srt/mem_cache/unified_cache/components/base.py#L504-L530</a:t>
            </a:r>
          </a:p>
          <a:p>
            <a:pPr>
              <a:buNone/>
            </a:pPr>
            <a:r>
              <a:t>原有技术说明与来源：</a:t>
            </a:r>
          </a:p>
          <a:p>
            <a:pPr>
              <a:buNone/>
            </a:pPr>
            <a:r>
              <a:t>Example scope: one internal node, all shown components eligible and unlocked, with no session-reference constraints blocking the cascade. Internal-node priorities are MAMBA 0, SWA 1, FULL 2. Selecting SWA for eviction cascades to eligible components on that node with priority no greater than 1, so MAMBA is also released while FULL remains. These numbers govern the node-local cascade; they do not mean that every global eviction always chooses MAMBA first. Actual eviction is driven by the requested component budget, locks, node type and session references. Internal nodes can retain token topology with tombstoned component state. Leaf priorities and structural deletion rules differ.</a:t>
            </a:r>
          </a:p>
          <a:p>
            <a:pPr>
              <a:buNone/>
            </a:pPr>
            <a:r>
              <a:t>Sources: https://github.com/sgl-project/sglang/blob/ba68306256d64c53d302dc5d2f3be9e388af0738/python/sglang/srt/mem_cache/unified_cache/unified_tree_core.py (_evict_device_components, _should_cascade_evict); https://github.com/sgl-project/sglang/blob/ba68306256d64c53d302dc5d2f3be9e388af0738/python/sglang/srt/mem_cache/unified_cache/components/full.py ; https://github.com/sgl-project/sglang/blob/ba68306256d64c53d302dc5d2f3be9e388af0738/python/sglang/srt/mem_cache/unified_cache/components/swa.py ; https://github.com/sgl-project/sglang/blob/ba68306256d64c53d302dc5d2f3be9e388af0738/python/sglang/srt/mem_cache/unified_cache/components/base.py .</a:t>
            </a:r>
          </a:p>
        </p:txBody>
      </p:sp>
    </p:spTree>
  </p:cSld>
  <p:clrMapOvr>
    <a:masterClrMapping/>
  </p:clrMapOvr>
</p:notes>
</file>

<file path=ppt/notesSlides/notesSlide22.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497" name="Shape 1497"/>
          <p:cNvSpPr/>
          <p:nvPr>
            <p:ph type="sldImg"/>
          </p:nvPr>
        </p:nvSpPr>
        <p:spPr>
          <a:prstGeom prst="rect">
            <a:avLst/>
          </a:prstGeom>
        </p:spPr>
        <p:txBody>
          <a:bodyPr/>
          <a:lstStyle/>
          <a:p>
            <a:pPr/>
          </a:p>
        </p:txBody>
      </p:sp>
      <p:sp>
        <p:nvSpPr>
          <p:cNvPr id="1498" name="Shape 1498"/>
          <p:cNvSpPr/>
          <p:nvPr>
            <p:ph type="body" sz="quarter" idx="1"/>
          </p:nvPr>
        </p:nvSpPr>
        <p:spPr>
          <a:prstGeom prst="rect">
            <a:avLst/>
          </a:prstGeom>
        </p:spPr>
        <p:txBody>
          <a:bodyPr/>
          <a:lstStyle/>
          <a:p>
            <a:pPr>
              <a:buNone/>
            </a:pPr>
            <a:r>
              <a:t>26  分叉点缓存：保留具体边界的状态</a:t>
            </a:r>
          </a:p>
          <a:p>
            <a:pPr>
              <a:buNone/>
            </a:pPr>
            <a:r>
              <a:t>Branch Points: Keep State for the Next Fork</a:t>
            </a:r>
          </a:p>
          <a:p>
            <a:pPr>
              <a:buNone/>
            </a:pPr>
            <a:r>
              <a:t>举例：假设我们今天有一句话是：Today Alice went to，在 P4 分开，分别去 Beijing 或 Shanghai。</a:t>
            </a:r>
          </a:p>
          <a:p>
            <a:pPr>
              <a:buNone/>
            </a:pPr>
            <a:r>
              <a:t>SWA 窗口设为 2，旧分支走到 work 时，当前窗口已经是 for work。</a:t>
            </a:r>
          </a:p>
          <a:p>
            <a:pPr>
              <a:buNone/>
            </a:pPr>
            <a:r>
              <a:t>但从 P4 接 Shanghai，需要的窗口是 went to。</a:t>
            </a:r>
          </a:p>
          <a:p>
            <a:pPr>
              <a:buNone/>
            </a:pPr>
            <a:r>
              <a:t>可以看到这里的went to就是我们提到的分叉点，保存优先级更高</a:t>
            </a:r>
          </a:p>
          <a:p>
            <a:pPr>
              <a:buNone/>
            </a:pPr>
            <a:r>
              <a:t>若模型使用 Mamba/SWA，那么不保存分叉点的话；末尾状态不能倒推回来，所以需要重新计算1-4</a:t>
            </a:r>
          </a:p>
          <a:p>
            <a:pPr>
              <a:buNone/>
            </a:pPr>
            <a:r>
              <a:t>但是如果我们识别边界并计算经过它时保存状态，如下P4保存了，后续命中才能少算；</a:t>
            </a:r>
          </a:p>
          <a:p>
            <a:pPr>
              <a:buNone/>
            </a:pPr>
            <a:r>
              <a:t>先看 P4 的窗口与 checkpoint；下一页用专项实验验证分叉保留的效果。</a:t>
            </a:r>
          </a:p>
          <a:p>
            <a:pPr>
              <a:buNone/>
            </a:pPr>
            <a:r>
              <a:t/>
            </a:r>
          </a:p>
          <a:p>
            <a:pPr>
              <a:buNone/>
            </a:pPr>
            <a:r>
              <a:t>—— 原有备注 / 技术说明 ——</a:t>
            </a:r>
          </a:p>
          <a:p>
            <a:pPr>
              <a:buNone/>
            </a:pPr>
            <a:r>
              <a:t>中文演讲提词（对应第 25 页）</a:t>
            </a:r>
          </a:p>
          <a:p>
            <a:pPr>
              <a:buNone/>
            </a:pPr>
            <a:r>
              <a:t>两句话共享 Today Alice went to，在 P4 分开，分别去 Beijing 或 Shanghai。</a:t>
            </a:r>
          </a:p>
          <a:p>
            <a:pPr>
              <a:buNone/>
            </a:pPr>
            <a:r>
              <a:t>SWA 窗口设为 2，旧分支走到 work 时，当前窗口已经是 for work。</a:t>
            </a:r>
          </a:p>
          <a:p>
            <a:pPr>
              <a:buNone/>
            </a:pPr>
            <a:r>
              <a:t>但从 P4 接 Shanghai，需要的窗口是 went to，因此要在清理时额外留下。</a:t>
            </a:r>
          </a:p>
          <a:p>
            <a:pPr>
              <a:buNone/>
            </a:pPr>
            <a:r>
              <a:t>若模型使用 Mamba，还需要恰好对应 P4 的 C4；末尾状态不能倒推回来。</a:t>
            </a:r>
          </a:p>
          <a:p>
            <a:pPr>
              <a:buNone/>
            </a:pPr>
            <a:r>
              <a:t>识别边界并计算经过它时保存状态，后续命中才能少算；缓存仍可能被淘汰。</a:t>
            </a:r>
          </a:p>
          <a:p>
            <a:pPr>
              <a:buNone/>
            </a:pPr>
            <a:r>
              <a:t>如果需要的状态已经缺失，就要加载备份或重算。下一页讲重算后怎样放回。</a:t>
            </a:r>
          </a:p>
          <a:p>
            <a:pPr>
              <a:buNone/>
            </a:pPr>
            <a:r>
              <a:t>过渡：当前末尾窗口与 P4 窗口用途不同；保留边界提高未来复用机会。</a:t>
            </a:r>
          </a:p>
          <a:p>
            <a:pPr>
              <a:buNone/>
            </a:pPr>
            <a:r>
              <a:t>讲解补充：</a:t>
            </a:r>
          </a:p>
          <a:p>
            <a:pPr>
              <a:buNone/>
            </a:pPr>
            <a:r>
              <a:t>为了演示，每个单词视为一个 token，实际需遵守 tokenizer、page size 和 checkpoint 对齐规则。例子预设 P4 已被识别并在计算经过时缓存；不会预知所有未来分叉。第一次遇到已缺失状态的边界，仍可能先重算。Full Attention 和 SWA 是不同模型层/组件的 KV，不能互相替代。C4 只对应完整前四个 token，不能用后面的 checkpoint 倒推。保留分叉点降低未来重算概率，不构成淘汰正确性的保证，也没有永久免淘汰权。</a:t>
            </a:r>
          </a:p>
          <a:p>
            <a:pPr>
              <a:buNone/>
            </a:pPr>
            <a:r>
              <a:t>原有技术说明与来源：</a:t>
            </a:r>
          </a:p>
          <a:p>
            <a:pPr>
              <a:buNone/>
            </a:pPr>
            <a:r>
              <a:t>中文讲解：这页的“保留分叉点”，指在释放窗口外 SWA 时，额外留下已识别分叉边界所需的窗口，并不是提高所有 branching point 的全局淘汰优先级，也不是永久 pin 住。</a:t>
            </a:r>
          </a:p>
          <a:p>
            <a:pPr>
              <a:buNone/>
            </a:pPr>
            <a:r>
              <a:t>用句子举例：Today Alice went to Beijing for work。这里仅为了演示，把每个单词当作一个 token，忽略标点与真实分词、page-size 对齐。公共前缀 Today / Alice / went / to 是位置 1–4，P4 是分叉边界。SWA 窗口设为 2。旧分支走到 work 时，当前末尾窗口是 for / work，位于 6–7；P4 处所需的 went / to，位于 3–4，已经在当前窗口之外。</a:t>
            </a:r>
          </a:p>
          <a:p>
            <a:pPr>
              <a:buNone/>
            </a:pPr>
            <a:r>
              <a:t>如果识别并保留了 P4，就留下 Full Attention 层前 1–4 的 KV，以及 SWA 层 3–4 的 KV。如果模型还使用 Mamba，则在 P4 恢复还需要恰好对应这个边界的 checkpoint C4。FULL 和 SWA 对应不同组件/模型层的缓存，SWA KV 不是从 FULL KV 截取即可得到的；图里的单词是状态对应的 token 位置，不是说两种状态共用同一份数值。</a:t>
            </a:r>
          </a:p>
          <a:p>
            <a:pPr>
              <a:buNone/>
            </a:pPr>
            <a:r>
              <a:t>后来请求 Today Alice went to Shanghai for a meeting 到来，前四个词完全相同。在各组件状态有效、仍驻留或可从下层恢复的前提下，使用 P4 保留的状态，继续处理新后缀 Shanghai for a meeting。这里不使用旧分支末尾的 Mamba checkpoint 倒推 C4。</a:t>
            </a:r>
          </a:p>
          <a:p>
            <a:pPr>
              <a:buNone/>
            </a:pPr>
            <a:r>
              <a:t>Branching-point caching 不会预知所有未来分叉。如果第一次新分支到来时该边界状态已经被释放且无备份，第一次仍可能需要从更早的有效边界重新计算；在计算经过已识别的分叉边界时缓存对应状态，后续复用才受益。SWA PR #34565 的保留机制发生在包含分叉点的 chunk 计算、窗口外释放和插入流程中。</a:t>
            </a:r>
          </a:p>
          <a:p>
            <a:pPr>
              <a:buNone/>
            </a:pPr>
            <a:r>
              <a:t>与淘汰页的关系：可以保留 P4 这样的复用位置，同时释放其他位置的状态。某个其他节点的 SWA/Mamba 级联淘汰，不会自动删除 P4 的 checkpoint。若 P4 自身最终满足内存压力淘汰条件并被选中，相关 GPU anchor 也会失效；它不享有永久免淘汰权。Device 淘汰与 Host/Storage 副本的存在是不同问题。</a:t>
            </a:r>
          </a:p>
          <a:p>
            <a:pPr>
              <a:buNone/>
            </a:pPr>
            <a:r>
              <a:t>Sources:</a:t>
            </a:r>
          </a:p>
          <a:p>
            <a:pPr>
              <a:buNone/>
            </a:pPr>
            <a:r>
              <a:t>https://github.com/sgl-project/sglang/pull/34565</a:t>
            </a:r>
          </a:p>
          <a:p>
            <a:pPr>
              <a:buNone/>
            </a:pPr>
            <a:r>
              <a:t>https://github.com/sgl-project/sglang/blob/ba68306256d64c53d302dc5d2f3be9e388af0738/python/sglang/srt/mem_cache/unified_cache/components/swa.py</a:t>
            </a:r>
          </a:p>
          <a:p>
            <a:pPr>
              <a:buNone/>
            </a:pPr>
            <a:r>
              <a:t>https://github.com/sgl-project/sglang/blob/ba68306256d64c53d302dc5d2f3be9e388af0738/python/sglang/srt/mem_cache/unified_cache/unified_tree_core.py</a:t>
            </a:r>
          </a:p>
        </p:txBody>
      </p:sp>
    </p:spTree>
  </p:cSld>
  <p:clrMapOvr>
    <a:masterClrMapping/>
  </p:clrMapOvr>
</p:notes>
</file>

<file path=ppt/notesSlides/notesSlide23.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509" name="Shape 1509"/>
          <p:cNvSpPr/>
          <p:nvPr>
            <p:ph type="sldImg"/>
          </p:nvPr>
        </p:nvSpPr>
        <p:spPr>
          <a:prstGeom prst="rect">
            <a:avLst/>
          </a:prstGeom>
        </p:spPr>
        <p:txBody>
          <a:bodyPr/>
          <a:lstStyle/>
          <a:p>
            <a:pPr/>
          </a:p>
        </p:txBody>
      </p:sp>
      <p:sp>
        <p:nvSpPr>
          <p:cNvPr id="1510" name="Shape 1510"/>
          <p:cNvSpPr/>
          <p:nvPr>
            <p:ph type="body" sz="quarter" idx="1"/>
          </p:nvPr>
        </p:nvSpPr>
        <p:spPr>
          <a:prstGeom prst="rect">
            <a:avLst/>
          </a:prstGeom>
        </p:spPr>
        <p:txBody>
          <a:bodyPr/>
          <a:lstStyle/>
          <a:p>
            <a:pPr>
              <a:buNone/>
            </a:pPr>
            <a:r>
              <a:t>27  分叉点缓存：复用增加，等待减少</a:t>
            </a:r>
          </a:p>
          <a:p>
            <a:pPr>
              <a:buNone/>
            </a:pPr>
            <a:r>
              <a:t>Branch-point Caching: Reuse at Forks</a:t>
            </a:r>
          </a:p>
          <a:p>
            <a:pPr>
              <a:buNone/>
            </a:pPr>
            <a:r>
              <a:t>那么这个实验数据就是分叉点缓存的效果；</a:t>
            </a:r>
          </a:p>
          <a:p>
            <a:pPr>
              <a:buNone/>
            </a:pPr>
            <a:r>
              <a:t>左图是 token 命中率，从 43.81% 提升到 60.75%，越高越好。</a:t>
            </a:r>
          </a:p>
          <a:p>
            <a:pPr>
              <a:buNone/>
            </a:pPr>
            <a:r>
              <a:t>右图是平均 TTFT，从 1570 毫秒降到 1070 毫秒，越低越好。</a:t>
            </a:r>
          </a:p>
          <a:p>
            <a:pPr>
              <a:buNone/>
            </a:pPr>
            <a:r>
              <a:t>保留下次分叉所需的边界状态，能减少因窗口缺失导致的重算。因此，</a:t>
            </a:r>
          </a:p>
          <a:p>
            <a:pPr>
              <a:buNone/>
            </a:pPr>
            <a:r>
              <a:t>大大提高了缓存的效率。</a:t>
            </a:r>
          </a:p>
          <a:p>
            <a:pPr>
              <a:buNone/>
            </a:pPr>
            <a:r>
              <a:t>看完专项效果，下一页解释缺失状态重新算出后怎样安全放回。</a:t>
            </a:r>
          </a:p>
          <a:p>
            <a:pPr>
              <a:buNone/>
            </a:pPr>
            <a:r>
              <a:t/>
            </a:r>
          </a:p>
          <a:p>
            <a:pPr>
              <a:buNone/>
            </a:pPr>
            <a:r>
              <a:t>—— 原有备注 / 技术说明 ——</a:t>
            </a:r>
          </a:p>
          <a:p>
            <a:pPr>
              <a:buNone/>
            </a:pPr>
            <a:r>
              <a:t>The upper part shows the shared-prefix benchmark with out-of-window release enabled: token hit rate increases from 43.81% to 60.75%, and mean TTFT falls from 1,570 ms to 1,070 ms. The +3.87 percentage points at the bottom comes from a separate measurement of newly created sub-agent requests in real agentic traces. It must not be added to the hit rates above. These figures come from the benchmarks attached to #34565.</a:t>
            </a:r>
          </a:p>
          <a:p>
            <a:pPr>
              <a:buNone/>
            </a:pPr>
            <a:r>
              <a:t>Additional explanation and original data:</a:t>
            </a:r>
          </a:p>
          <a:p>
            <a:pPr>
              <a:buNone/>
            </a:pPr>
            <a:r>
              <a:t>Tradeoff: memory optimization and reuse boundaries</a:t>
            </a:r>
          </a:p>
          <a:p>
            <a:pPr>
              <a:buNone/>
            </a:pPr>
            <a:r>
              <a:t>The GPU memory saved may hold the exact window the next sub-agent needs</a:t>
            </a:r>
          </a:p>
          <a:p>
            <a:pPr>
              <a:buNone/>
            </a:pPr>
            <a:r>
              <a:t>22</a:t>
            </a:r>
          </a:p>
          <a:p>
            <a:pPr>
              <a:buNone/>
            </a:pPr>
            <a:r>
              <a:t>Problem</a:t>
            </a:r>
          </a:p>
          <a:p>
            <a:pPr>
              <a:buNone/>
            </a:pPr>
            <a:r>
              <a:t>With out-of-window release enabled by default, chunked prefill releases SWA state outside the sliding window, substantially reducing GPU memory use.</a:t>
            </a:r>
          </a:p>
          <a:p>
            <a:pPr>
              <a:buNone/>
            </a:pPr>
            <a:r>
              <a:t>But when a sub-agent branches from an earlier prefix:</a:t>
            </a:r>
          </a:p>
          <a:p>
            <a:pPr>
              <a:buNone/>
            </a:pPr>
            <a:r>
              <a:t>Full KV remains in the tree.</a:t>
            </a:r>
          </a:p>
          <a:p>
            <a:pPr>
              <a:buNone/>
            </a:pPr>
            <a:r>
              <a:t>The SWA window has already been released.</a:t>
            </a:r>
          </a:p>
          <a:p>
            <a:pPr>
              <a:buNone/>
            </a:pPr>
            <a:r>
              <a:t>As a result, the prefix must be recomputed even though Full KV could be reused.</a:t>
            </a:r>
          </a:p>
          <a:p>
            <a:pPr>
              <a:buNone/>
            </a:pPr>
            <a:r>
              <a:t>Fix: branch-point caching</a:t>
            </a:r>
          </a:p>
          <a:p>
            <a:pPr>
              <a:buNone/>
            </a:pPr>
            <a:r>
              <a:t>Reuse the existing Mamba branching mechanism to retain SWA state at branch boundaries when releasing slots outside the window.</a:t>
            </a:r>
          </a:p>
          <a:p>
            <a:pPr>
              <a:buNone/>
            </a:pPr>
            <a:r>
              <a:t>Compute the branching chunk</a:t>
            </a:r>
          </a:p>
          <a:p>
            <a:pPr>
              <a:buNone/>
            </a:pPr>
            <a:r>
              <a:t>Release out-of-window slots</a:t>
            </a:r>
          </a:p>
          <a:p>
            <a:pPr>
              <a:buNone/>
            </a:pPr>
            <a:r>
              <a:t>Insert the branch and finalize</a:t>
            </a:r>
          </a:p>
          <a:p>
            <a:pPr>
              <a:buNone/>
            </a:pPr>
            <a:r>
              <a:t>Shared-prefix benchmark (out-of-window release enabled)</a:t>
            </a:r>
          </a:p>
          <a:p>
            <a:pPr>
              <a:buNone/>
            </a:pPr>
            <a:r>
              <a:t>Token hit rate: 43.81% → 60.75%</a:t>
            </a:r>
          </a:p>
          <a:p>
            <a:pPr>
              <a:buNone/>
            </a:pPr>
            <a:r>
              <a:t>Mean TTFT: 1,570 ms → 1,070 ms</a:t>
            </a:r>
          </a:p>
          <a:p>
            <a:pPr>
              <a:buNone/>
            </a:pPr>
            <a:r>
              <a:t>For newly created sub-agent requests in real agentic traces, token hit rate improves by 3.87 percentage points in a separate measurement. Branching is common in agent workloads and needs an explicit representation in the tree.</a:t>
            </a:r>
          </a:p>
          <a:p>
            <a:pPr>
              <a:buNone/>
            </a:pPr>
            <a:r>
              <a:t>Fix: branch-point caching (#34565)</a:t>
            </a:r>
          </a:p>
          <a:p>
            <a:pPr>
              <a:buNone/>
            </a:pPr>
            <a:r>
              <a:t>Source: benchmarks attached to sgl-project/sglang #34565</a:t>
            </a:r>
          </a:p>
          <a:p>
            <a:pPr>
              <a:buNone/>
            </a:pPr>
            <a:r>
              <a:t>Animation references:</a:t>
            </a:r>
          </a:p>
          <a:p>
            <a:pPr>
              <a:buNone/>
            </a:pPr>
            <a:r>
              <a:t>https://yichizhang.dev/AI-Infra-Visualized/lessons/unified-radix-cache/</a:t>
            </a:r>
          </a:p>
          <a:p>
            <a:pPr>
              <a:buNone/>
            </a:pPr>
            <a:r>
              <a:t>https://yichizhang.dev/AI-Infra-Visualized/lessons/hicache/</a:t>
            </a:r>
          </a:p>
        </p:txBody>
      </p:sp>
    </p:spTree>
  </p:cSld>
  <p:clrMapOvr>
    <a:masterClrMapping/>
  </p:clrMapOvr>
</p:notes>
</file>

<file path=ppt/notesSlides/notesSlide24.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549" name="Shape 1549"/>
          <p:cNvSpPr/>
          <p:nvPr>
            <p:ph type="sldImg"/>
          </p:nvPr>
        </p:nvSpPr>
        <p:spPr>
          <a:prstGeom prst="rect">
            <a:avLst/>
          </a:prstGeom>
        </p:spPr>
        <p:txBody>
          <a:bodyPr/>
          <a:lstStyle/>
          <a:p>
            <a:pPr/>
          </a:p>
        </p:txBody>
      </p:sp>
      <p:sp>
        <p:nvSpPr>
          <p:cNvPr id="1550" name="Shape 1550"/>
          <p:cNvSpPr/>
          <p:nvPr>
            <p:ph type="body" sz="quarter" idx="1"/>
          </p:nvPr>
        </p:nvSpPr>
        <p:spPr>
          <a:prstGeom prst="rect">
            <a:avLst/>
          </a:prstGeom>
        </p:spPr>
        <p:txBody>
          <a:bodyPr/>
          <a:lstStyle/>
          <a:p>
            <a:pPr>
              <a:buNone/>
            </a:pPr>
            <a:r>
              <a:t>28  状态恢复：重算以后怎样安全放回缓存</a:t>
            </a:r>
          </a:p>
          <a:p>
            <a:pPr>
              <a:buNone/>
            </a:pPr>
            <a:r>
              <a:t>Cache Recovery: State and Read/Write Ordering</a:t>
            </a:r>
          </a:p>
          <a:p>
            <a:pPr>
              <a:buNone/>
            </a:pPr>
            <a:r>
              <a:t>那么统一了树也有一个新问题。就是重算之后如何把KV Cache安全放回缓存中。假设某个节点旧 FULL A 仍在使用，SWA 已缺失，就会需要重新计算；而新计算带来 FULL B 和 SWA B。</a:t>
            </a:r>
          </a:p>
          <a:p>
            <a:pPr>
              <a:buNone/>
            </a:pPr>
            <a:r>
              <a:t>合并时保留正在使用的 FULL A，接上新 SWA B，释放重复的 FULL B。</a:t>
            </a:r>
          </a:p>
          <a:p>
            <a:pPr>
              <a:buNone/>
            </a:pPr>
            <a:r>
              <a:t>而此时GPU 可能正在读取旧映射，调度器必须等相关读取结束，再发布映射更新。</a:t>
            </a:r>
          </a:p>
          <a:p>
            <a:pPr>
              <a:buNone/>
            </a:pPr>
            <a:r>
              <a:t>默认用 read-done 事件约束这些读写；</a:t>
            </a:r>
          </a:p>
          <a:p>
            <a:pPr>
              <a:buNone/>
            </a:pPr>
            <a:r>
              <a:t>从而，我们能够在保证状态合并和异步读写都正确的前提下。落实之前所提到的一系列策略。保留多少、释放什么，</a:t>
            </a:r>
          </a:p>
          <a:p>
            <a:pPr>
              <a:buNone/>
            </a:pPr>
            <a:r>
              <a:t>机制闭环完成；下一节看两组独立的真实工作负载评估。</a:t>
            </a:r>
          </a:p>
          <a:p>
            <a:pPr>
              <a:buNone/>
            </a:pPr>
            <a:r>
              <a:t/>
            </a:r>
          </a:p>
          <a:p>
            <a:pPr>
              <a:buNone/>
            </a:pPr>
            <a:r>
              <a:t>—— 原有备注 / 技术说明 ——</a:t>
            </a:r>
          </a:p>
          <a:p>
            <a:pPr>
              <a:buNone/>
            </a:pPr>
            <a:r>
              <a:t>中文演讲提词（对应第 26 页）</a:t>
            </a:r>
          </a:p>
          <a:p>
            <a:pPr>
              <a:buNone/>
            </a:pPr>
            <a:r>
              <a:t>旧节点的 FULL A 仍被使用，但 SWA 已缺失。另一个请求重算出 FULL B 和 SWA B。</a:t>
            </a:r>
          </a:p>
          <a:p>
            <a:pPr>
              <a:buNone/>
            </a:pPr>
            <a:r>
              <a:t>合并时保留正在使用的 FULL A，接上新 SWA B，释放重复的 FULL B。</a:t>
            </a:r>
          </a:p>
          <a:p>
            <a:pPr>
              <a:buNone/>
            </a:pPr>
            <a:r>
              <a:t>这里的恢复，是把新计算的状态放回树中，不是从 FULL 推导 SWA。</a:t>
            </a:r>
          </a:p>
          <a:p>
            <a:pPr>
              <a:buNone/>
            </a:pPr>
            <a:r>
              <a:t>GPU 可能还在读取旧映射，调度器必须等相关读取结束，再发布映射更新。</a:t>
            </a:r>
          </a:p>
          <a:p>
            <a:pPr>
              <a:buNone/>
            </a:pPr>
            <a:r>
              <a:t>默认用 read-done 事件约束这些读写；缓存槽位的复用还需单独管理。</a:t>
            </a:r>
          </a:p>
          <a:p>
            <a:pPr>
              <a:buNone/>
            </a:pPr>
            <a:r>
              <a:t>前面解决保留多少、释放什么，这里保证状态合并和异步读写都正确。</a:t>
            </a:r>
          </a:p>
          <a:p>
            <a:pPr>
              <a:buNone/>
            </a:pPr>
            <a:r>
              <a:t>过渡：机制讲完，下一部分看各自工作负载下的实际收益。</a:t>
            </a:r>
          </a:p>
          <a:p>
            <a:pPr>
              <a:buNone/>
            </a:pPr>
            <a:r>
              <a:t>讲解补充：</a:t>
            </a:r>
          </a:p>
          <a:p>
            <a:pPr>
              <a:buNone/>
            </a:pPr>
            <a:r>
              <a:t>F_A 与 F_B 是同一逻辑 token 前缀的两份 Full KV，S_B 来自新计算。已被锁定的 F_A 保持稳定，恢复操作把 S_B 的所有权/映射接到已有节点，再释放重复 Full。默认 read-done 事件用于相关共享元数据读取与后续写入之间的顺序；不能把它说成默认等待整个 forward 完成，也不能把它当成缓存槽位可以立即复用的充分条件。</a:t>
            </a:r>
          </a:p>
          <a:p>
            <a:pPr>
              <a:buNone/>
            </a:pPr>
            <a:r>
              <a:t>原有技术说明与来源：</a:t>
            </a:r>
          </a:p>
          <a:p>
            <a:pPr>
              <a:buNone/>
            </a:pPr>
            <a:r>
              <a:t>This replaces the obsolete unfinished-insert rollback explanation.</a:t>
            </a:r>
          </a:p>
          <a:p>
            <a:pPr>
              <a:buNone/>
            </a:pPr>
            <a:r>
              <a:t>1. PR #29352 final fix: if Full.lock_ref &gt; 0, preserve existing Full F_A while restoring missing SWA from incoming S_B and updating full_to_swa[F_A] = S_B. Only the incoming duplicate Full slice F_B is freed. Skipping all SWA recovery is not the final fix. This keeps the recovered node's state valid.</a:t>
            </a:r>
          </a:p>
          <a:p>
            <a:pPr>
              <a:buNone/>
            </a:pPr>
            <a:r>
              <a:t>2. Correct final state is not enough when an overlapped forward has already captured old cache identities. PR #31687 moved _apply_war_barrier immediately after run_batch. Default ordering uses the forward's read-done event to fence result-processing device mutations (request row rewrites and Full-to-SWA mapping publish/clear) behind the forward's metadata reads. PR #29353 was reworked on this basis: SGLANG_FORCE_COARSE_WAR_BARRIER is opt-in; a whole-forward wait is not the default. wait_stream does not block the host, so host-driven cache-slot reuse requires separate lifetime/deferred-free handling; the read-done line on this slide must not be interpreted as globally permitting slot reuse. The original Bug 3/4/5 insertion transaction and recovery-suppression workaround were removed after the root cause was identified.</a:t>
            </a:r>
          </a:p>
          <a:p>
            <a:pPr>
              <a:buNone/>
            </a:pPr>
            <a:r>
              <a:t>Related fixes: #29350 preserves SWA eviction boundaries during unfinished insertion; #29351 preserves valid FULL even when SWA is missing; #29354 clears stale deferred MAMBA COW/clear metadata when admission rejects a request and rolls back temporary non-session state.</a:t>
            </a:r>
          </a:p>
          <a:p>
            <a:pPr>
              <a:buNone/>
            </a:pPr>
            <a:r>
              <a:t>Sources: https://github.com/sgl-project/sglang/pull/29352 ; https://github.com/sgl-project/sglang/pull/29353 ; https://github.com/sgl-project/sglang/pull/31687 ; https://github.com/sgl-project/sglang/pull/29354 .</a:t>
            </a:r>
          </a:p>
        </p:txBody>
      </p:sp>
    </p:spTree>
  </p:cSld>
  <p:clrMapOvr>
    <a:masterClrMapping/>
  </p:clrMapOvr>
</p:notes>
</file>

<file path=ppt/notesSlides/notesSlide25.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554" name="Shape 1554"/>
          <p:cNvSpPr/>
          <p:nvPr>
            <p:ph type="sldImg"/>
          </p:nvPr>
        </p:nvSpPr>
        <p:spPr>
          <a:prstGeom prst="rect">
            <a:avLst/>
          </a:prstGeom>
        </p:spPr>
        <p:txBody>
          <a:bodyPr/>
          <a:lstStyle/>
          <a:p>
            <a:pPr/>
          </a:p>
        </p:txBody>
      </p:sp>
      <p:sp>
        <p:nvSpPr>
          <p:cNvPr id="1555" name="Shape 1555"/>
          <p:cNvSpPr/>
          <p:nvPr>
            <p:ph type="body" sz="quarter" idx="1"/>
          </p:nvPr>
        </p:nvSpPr>
        <p:spPr>
          <a:prstGeom prst="rect">
            <a:avLst/>
          </a:prstGeom>
        </p:spPr>
        <p:txBody>
          <a:bodyPr/>
          <a:lstStyle/>
          <a:p>
            <a:pPr>
              <a:buNone/>
            </a:pPr>
            <a:r>
              <a:t>29  第五部分：真实工作负载上的独立结果</a:t>
            </a:r>
          </a:p>
          <a:p>
            <a:pPr>
              <a:buNone/>
            </a:pPr>
            <a:r>
              <a:t>Real-Workload Results</a:t>
            </a:r>
          </a:p>
          <a:p>
            <a:pPr>
              <a:buNone/>
            </a:pPr>
            <a:r>
              <a:t>讲完了机制与优化</a:t>
            </a:r>
          </a:p>
          <a:p>
            <a:pPr>
              <a:buNone/>
            </a:pPr>
            <a:r>
              <a:t>接下来我们集中看两组评估：混合模型的 HiCache，以及递归 checkpoint。</a:t>
            </a:r>
          </a:p>
          <a:p>
            <a:pPr>
              <a:buNone/>
            </a:pPr>
            <a:r>
              <a:t>它们说明这些缓存能力在实际agentic推理负载下能带来什么收益。</a:t>
            </a:r>
          </a:p>
          <a:p>
            <a:pPr>
              <a:buNone/>
            </a:pPr>
            <a:r>
              <a:t>先看同一模型使用不同缓存层级时的变化。</a:t>
            </a:r>
          </a:p>
          <a:p>
            <a:pPr>
              <a:buNone/>
            </a:pPr>
            <a:r>
              <a:t/>
            </a:r>
          </a:p>
          <a:p>
            <a:pPr>
              <a:buNone/>
            </a:pPr>
            <a:r>
              <a:t>—— 原有备注 / 技术说明 ——</a:t>
            </a:r>
          </a:p>
          <a:p>
            <a:pPr>
              <a:buNone/>
            </a:pPr>
            <a:r>
              <a:t>This section presents two separate evaluations on real workloads: HiCache for hybrid models, and recurrent checkpoint reuse on agentic coding traces. Each has its own model, baseline and configuration. These results illustrate practical benefits; they do not measure the combined effect of every optimization discussed earlier. Session-aware configuration comparisons and branch-point results are presented immediately after their mechanisms.</a:t>
            </a:r>
          </a:p>
        </p:txBody>
      </p:sp>
    </p:spTree>
  </p:cSld>
  <p:clrMapOvr>
    <a:masterClrMapping/>
  </p:clrMapOvr>
</p:notes>
</file>

<file path=ppt/notesSlides/notesSlide26.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579" name="Shape 1579"/>
          <p:cNvSpPr/>
          <p:nvPr>
            <p:ph type="sldImg"/>
          </p:nvPr>
        </p:nvSpPr>
        <p:spPr>
          <a:prstGeom prst="rect">
            <a:avLst/>
          </a:prstGeom>
        </p:spPr>
        <p:txBody>
          <a:bodyPr/>
          <a:lstStyle/>
          <a:p>
            <a:pPr/>
          </a:p>
        </p:txBody>
      </p:sp>
      <p:sp>
        <p:nvSpPr>
          <p:cNvPr id="1580" name="Shape 1580"/>
          <p:cNvSpPr/>
          <p:nvPr>
            <p:ph type="body" sz="quarter" idx="1"/>
          </p:nvPr>
        </p:nvSpPr>
        <p:spPr>
          <a:prstGeom prst="rect">
            <a:avLst/>
          </a:prstGeom>
        </p:spPr>
        <p:txBody>
          <a:bodyPr/>
          <a:lstStyle/>
          <a:p>
            <a:pPr>
              <a:buNone/>
            </a:pPr>
            <a:r>
              <a:t>30  混合模型：更深的缓存层级保留长会话历史</a:t>
            </a:r>
          </a:p>
          <a:p>
            <a:pPr>
              <a:buNone/>
            </a:pPr>
            <a:r>
              <a:t>HiCache Results: Hybrid Models</a:t>
            </a:r>
          </a:p>
          <a:p>
            <a:pPr>
              <a:buNone/>
            </a:pPr>
            <a:r>
              <a:t>首先是HiCache的benchmark，我们分别对比了不同架构的模型。</a:t>
            </a:r>
          </a:p>
          <a:p>
            <a:pPr>
              <a:buNone/>
            </a:pPr>
            <a:r>
              <a:t>左边是 FULL 加 SWA。有效输入吞吐从只用 L1 时的 9.4k，增加到 L1 加 </a:t>
            </a:r>
          </a:p>
          <a:p>
            <a:pPr>
              <a:buNone/>
            </a:pPr>
            <a:r>
              <a:t>L2 的 14.3k，再到加入 L3 后的 145.5k token 每秒。后期命中率约 98%。</a:t>
            </a:r>
          </a:p>
          <a:p>
            <a:pPr>
              <a:buNone/>
            </a:pPr>
            <a:r>
              <a:t>右边加入了 MAMBA，三种配置分别是 15.5k、21.1k 和 67.1k；最终命中率 </a:t>
            </a:r>
          </a:p>
          <a:p>
            <a:pPr>
              <a:buNone/>
            </a:pPr>
            <a:r>
              <a:t>96.8%，平均 TTFT 是 1.23 秒。长会话超出本地容量后，L3 仍能留下历史。</a:t>
            </a:r>
          </a:p>
          <a:p>
            <a:pPr>
              <a:buNone/>
            </a:pPr>
            <a:r>
              <a:t>分别读左右柱状图；只在同一侧比较，下一页看独立的 checkpoint 结果。</a:t>
            </a:r>
          </a:p>
          <a:p>
            <a:pPr>
              <a:buNone/>
            </a:pPr>
            <a:r>
              <a:t/>
            </a:r>
          </a:p>
          <a:p>
            <a:pPr>
              <a:buNone/>
            </a:pPr>
            <a:r>
              <a:t>—— 原有备注 / 技术说明 ——</a:t>
            </a:r>
          </a:p>
          <a:p>
            <a:pPr>
              <a:buNone/>
            </a:pPr>
            <a:r>
              <a:t>Two separate model/workload evaluations. Compare L1, L1+L2, and L1+L2+L3 within each evaluation; absolute throughput is not a controlled cross-model comparison. Both charts use the same 0–160k tokens/s scale. Effective input throughput includes full prompt lengths, including cache hits; it is not the rate of new tokens computed by the GPU.</a:t>
            </a:r>
          </a:p>
          <a:p>
            <a:pPr>
              <a:buNone/>
            </a:pPr>
            <a:r>
              <a:t>FULL + SWA / DeepSeek-V4-Flash: FP8, 4×H200 TP4, 48 clients, 60 turns, 4,096 input / 16 output tokens per turn, L3 = 500 GiB distributed memory. L1 9.4k; L1+L2 14.3k; L1+L2+L3 145.5k tokens/s. Approximately 98% prefix hit rate in later turns; mean TTFT below 9 s with the deeper cache hierarchy.</a:t>
            </a:r>
          </a:p>
          <a:p>
            <a:pPr>
              <a:buNone/>
            </a:pPr>
            <a:r>
              <a:t>FULL + SWA + MAMBA / Inkling-Small: 8×H200 TP8, 64 clients, 30 turns, 1,216 input / 64 output tokens per turn. L1 15.5k; L1+L2 21.1k; L1+L2+L3 67.1k tokens/s. Final hit rate 96.8%; mean TTFT 1.23 s.</a:t>
            </a:r>
          </a:p>
          <a:p>
            <a:pPr>
              <a:buNone/>
            </a:pPr>
            <a:r>
              <a:t>After L1/L2 capacity is exhausted, TTFT rises as turns accumulate. External L3 retains long-session prefixes over time.</a:t>
            </a:r>
          </a:p>
          <a:p>
            <a:pPr>
              <a:buNone/>
            </a:pPr>
            <a:r>
              <a:t>Source: SGLang blog, Unified Radix Cache, 2026-08-11. https://www.lmsys.org/blog/2026-08-11-unified-radix-cache/</a:t>
            </a:r>
          </a:p>
        </p:txBody>
      </p:sp>
    </p:spTree>
  </p:cSld>
  <p:clrMapOvr>
    <a:masterClrMapping/>
  </p:clrMapOvr>
</p:notes>
</file>

<file path=ppt/notesSlides/notesSlide27.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593" name="Shape 1593"/>
          <p:cNvSpPr/>
          <p:nvPr>
            <p:ph type="sldImg"/>
          </p:nvPr>
        </p:nvSpPr>
        <p:spPr>
          <a:prstGeom prst="rect">
            <a:avLst/>
          </a:prstGeom>
        </p:spPr>
        <p:txBody>
          <a:bodyPr/>
          <a:lstStyle/>
          <a:p>
            <a:pPr/>
          </a:p>
        </p:txBody>
      </p:sp>
      <p:sp>
        <p:nvSpPr>
          <p:cNvPr id="1594" name="Shape 1594"/>
          <p:cNvSpPr/>
          <p:nvPr>
            <p:ph type="body" sz="quarter" idx="1"/>
          </p:nvPr>
        </p:nvSpPr>
        <p:spPr>
          <a:prstGeom prst="rect">
            <a:avLst/>
          </a:prstGeom>
        </p:spPr>
        <p:txBody>
          <a:bodyPr/>
          <a:lstStyle/>
          <a:p>
            <a:pPr>
              <a:buNone/>
            </a:pPr>
            <a:r>
              <a:t>31  第三方结果：递归 checkpoint 复用</a:t>
            </a:r>
          </a:p>
          <a:p>
            <a:pPr>
              <a:buNone/>
            </a:pPr>
            <a:r>
              <a:t>Independent Results: Recurrent Checkpoint Reuse</a:t>
            </a:r>
          </a:p>
          <a:p>
            <a:pPr>
              <a:buNone/>
            </a:pPr>
            <a:r>
              <a:t>这组结果来自 第三方 SemiAnalysis 对SGLang上真实 Agent 编程轨迹的评估。</a:t>
            </a:r>
          </a:p>
          <a:p>
            <a:pPr>
              <a:buNone/>
            </a:pPr>
            <a:r>
              <a:t>看浅色柱：不复用 checkpoint 时，每 GPU 吞吐为 47,771 tok/s。</a:t>
            </a:r>
          </a:p>
          <a:p>
            <a:pPr>
              <a:buNone/>
            </a:pPr>
            <a:r>
              <a:t>看深色柱：复用 FlashInfer GDN 递归 checkpoint 后达到 53,004。</a:t>
            </a:r>
          </a:p>
          <a:p>
            <a:pPr>
              <a:buNone/>
            </a:pPr>
            <a:r>
              <a:t>右侧汇总：吞吐提升约 11%，缓存命中率为 92.4%。</a:t>
            </a:r>
          </a:p>
          <a:p>
            <a:pPr>
              <a:buNone/>
            </a:pPr>
            <a:r>
              <a:t>这说明：递归状态也有可复用的边界，明确了保存 checkpoint 能带来实际收益。</a:t>
            </a:r>
          </a:p>
          <a:p>
            <a:pPr>
              <a:buNone/>
            </a:pPr>
            <a:r>
              <a:t>两组实际评估讲完，下一页看跨 Router、Worker 和 HiCache 的路线图。</a:t>
            </a:r>
          </a:p>
          <a:p>
            <a:pPr>
              <a:buNone/>
            </a:pPr>
            <a:r>
              <a:t/>
            </a:r>
          </a:p>
          <a:p>
            <a:pPr>
              <a:buNone/>
            </a:pPr>
            <a:r>
              <a:t>—— 原有备注 / 技术说明 ——</a:t>
            </a:r>
          </a:p>
          <a:p>
            <a:pPr>
              <a:buNone/>
            </a:pPr>
            <a:r>
              <a:t>SemiAnalysis evaluated real agentic coding traces. Saving FlashInfer GDN recurrent-state checkpoints raised throughput from 47,771 to 53,004 tok/s/GPU, an increase of approximately 11%, at a 92.4% cache-hit rate. These figures apply to the specific model and setup in that evaluation, not a fixed gain for all models. The evaluation also observed proactive release of out-of-window pages, compute locks limited to the window, and SWA state retained at branch points.</a:t>
            </a:r>
          </a:p>
          <a:p>
            <a:pPr>
              <a:buNone/>
            </a:pPr>
            <a:r>
              <a:t>Additional explanation and original data:</a:t>
            </a:r>
          </a:p>
          <a:p>
            <a:pPr>
              <a:buNone/>
            </a:pPr>
            <a:r>
              <a:t>Independent third-party evaluation: checkpoint reuse for recurrent state</a:t>
            </a:r>
          </a:p>
          <a:p>
            <a:pPr>
              <a:buNone/>
            </a:pPr>
            <a:r>
              <a:t>SemiAnalysis measured SGLang on real agentic coding traces</a:t>
            </a:r>
          </a:p>
          <a:p>
            <a:pPr>
              <a:buNone/>
            </a:pPr>
            <a:r>
              <a:t>19</a:t>
            </a:r>
          </a:p>
          <a:p>
            <a:pPr>
              <a:buNone/>
            </a:pPr>
            <a:r>
              <a:t>“FlashInfer GDN checkpoints for recurrent state raised throughput from 47,771 to 53,004 tok/s/GPU at a 92.4% cache-hit rate.”</a:t>
            </a:r>
          </a:p>
          <a:p>
            <a:pPr>
              <a:buNone/>
            </a:pPr>
            <a:r>
              <a:t>Saving checkpoints for recurrent state increased throughput from 47,771 to 53,004 tok/s/GPU, with a 92.4% cache-hit rate.</a:t>
            </a:r>
          </a:p>
          <a:p>
            <a:pPr>
              <a:buNone/>
            </a:pPr>
            <a:r>
              <a:t>+11% tok/s/GPU</a:t>
            </a:r>
          </a:p>
          <a:p>
            <a:pPr>
              <a:buNone/>
            </a:pPr>
            <a:r>
              <a:t>92.4% cache-hit rate</a:t>
            </a:r>
          </a:p>
          <a:p>
            <a:pPr>
              <a:buNone/>
            </a:pPr>
            <a:r>
              <a:t>The same evaluation described SGLang's handling of sliding windows and branches:</a:t>
            </a:r>
          </a:p>
          <a:p>
            <a:pPr>
              <a:buNone/>
            </a:pPr>
            <a:r>
              <a:t>Proactive release: pages outside the window are released proactively, before eviction pressure appears.</a:t>
            </a:r>
          </a:p>
          <a:p>
            <a:pPr>
              <a:buNone/>
            </a:pPr>
            <a:r>
              <a:t>Lock boundaries: compute locks are confined to a single window, limiting the pool space held by in-flight requests.</a:t>
            </a:r>
          </a:p>
          <a:p>
            <a:pPr>
              <a:buNone/>
            </a:pPr>
            <a:r>
              <a:t>Branch points: retain SWA state at branch points so a fork inherits the window instead of rebuilding it.</a:t>
            </a:r>
          </a:p>
          <a:p>
            <a:pPr>
              <a:buNone/>
            </a:pPr>
            <a:r>
              <a:t>Explicitly modeling recurrent-state reuse produces gains on real agent traces that a third party can reproduce.</a:t>
            </a:r>
          </a:p>
          <a:p>
            <a:pPr>
              <a:buNone/>
            </a:pPr>
            <a:r>
              <a:t>Source: SemiAnalysis AgentX public evaluation of SGLang. The quotation reproduces the original wording; the accompanying explanation translates the Chinese paraphrase.</a:t>
            </a:r>
          </a:p>
        </p:txBody>
      </p:sp>
    </p:spTree>
  </p:cSld>
  <p:clrMapOvr>
    <a:masterClrMapping/>
  </p:clrMapOvr>
</p:notes>
</file>

<file path=ppt/notesSlides/notesSlide28.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42" name="Shape 1642"/>
          <p:cNvSpPr/>
          <p:nvPr>
            <p:ph type="sldImg"/>
          </p:nvPr>
        </p:nvSpPr>
        <p:spPr>
          <a:prstGeom prst="rect">
            <a:avLst/>
          </a:prstGeom>
        </p:spPr>
        <p:txBody>
          <a:bodyPr/>
          <a:lstStyle/>
          <a:p>
            <a:pPr/>
          </a:p>
        </p:txBody>
      </p:sp>
      <p:sp>
        <p:nvSpPr>
          <p:cNvPr id="1643" name="Shape 1643"/>
          <p:cNvSpPr/>
          <p:nvPr>
            <p:ph type="body" sz="quarter" idx="1"/>
          </p:nvPr>
        </p:nvSpPr>
        <p:spPr>
          <a:prstGeom prst="rect">
            <a:avLst/>
          </a:prstGeom>
        </p:spPr>
        <p:txBody>
          <a:bodyPr/>
          <a:lstStyle/>
          <a:p>
            <a:pPr>
              <a:buNone/>
            </a:pPr>
            <a:r>
              <a:t>32  Roadmap：把复用扩展到整个服务栈</a:t>
            </a:r>
          </a:p>
          <a:p>
            <a:pPr>
              <a:buNone/>
            </a:pPr>
            <a:r>
              <a:t>Next: Context Caching Across the Serving Stack</a:t>
            </a:r>
          </a:p>
          <a:p>
            <a:pPr>
              <a:buNone/>
            </a:pPr>
            <a:r>
              <a:t>先看已有基础：Router 已加入compatibility与performance之间的选择；</a:t>
            </a:r>
          </a:p>
          <a:p>
            <a:pPr>
              <a:buNone/>
            </a:pPr>
            <a:r>
              <a:t>支持的统一缓存配置默认使用 Rust TreeCore；Mooncake 外部 linker 也已合并。</a:t>
            </a:r>
          </a:p>
          <a:p>
            <a:pPr>
              <a:buNone/>
            </a:pPr>
            <a:r>
              <a:t>正在推进的方向包括：路由时计算保住前缀能省多少 prefill，拒绝</a:t>
            </a:r>
          </a:p>
          <a:p>
            <a:pPr>
              <a:buNone/>
            </a:pPr>
            <a:r>
              <a:t>准入后继续找可用实例；</a:t>
            </a:r>
          </a:p>
          <a:p>
            <a:pPr>
              <a:buNone/>
            </a:pPr>
            <a:r>
              <a:t>HiCache 统一 L3 key，并探索工具调用间隙的预取等等。</a:t>
            </a:r>
          </a:p>
          <a:p>
            <a:pPr>
              <a:buNone/>
            </a:pPr>
            <a:r>
              <a:t>最终希望 Router、Worker、缓存层围绕会话共同协调。</a:t>
            </a:r>
          </a:p>
          <a:p>
            <a:pPr>
              <a:buNone/>
            </a:pPr>
            <a:r>
              <a:t>按 Merged → Open PRs → 底部目标讲，不把未来能力说成已全面上线。</a:t>
            </a:r>
          </a:p>
          <a:p>
            <a:pPr>
              <a:buNone/>
            </a:pPr>
            <a:r>
              <a:t/>
            </a:r>
          </a:p>
          <a:p>
            <a:pPr>
              <a:buNone/>
            </a:pPr>
            <a:r>
              <a:t>—— 原有备注 / 技术说明 ——</a:t>
            </a:r>
          </a:p>
          <a:p>
            <a:pPr>
              <a:buNone/>
            </a:pPr>
            <a:r>
              <a:t>Roadmap snapshot checked against SGLang GitHub PR status on 4 October 2026. These are implementation directions, not promised release dates or measured performance gains.</a:t>
            </a:r>
          </a:p>
          <a:p>
            <a:pPr>
              <a:buNone/>
            </a:pPr>
            <a:r>
              <a:t>Router: request placement should account for both cache affinity and load. MERGED #41990 (2 Oct) unified prefer/balanced modes for reorg session-aware and cache-aware policies, with admission fallback. OPEN #42430 includes cached prompt tokens saved by the cache owner when comparing diversion cost; session routing still passes zero because it lacks a prefix signal. OPEN #42432 retries power-of-two selection after excluding an engine rejected by admission, rather than failing while another engine could admit the request. These changes apply to the reorg router paths; do not generalize all behavior to every legacy policy. No live-engine throughput improvement is claimed in these PRs.</a:t>
            </a:r>
          </a:p>
          <a:p>
            <a:pPr>
              <a:buNone/>
            </a:pPr>
            <a:r>
              <a:t>https://github.com/sgl-project/sglang/pull/41990</a:t>
            </a:r>
          </a:p>
          <a:p>
            <a:pPr>
              <a:buNone/>
            </a:pPr>
            <a:r>
              <a:t>https://github.com/sgl-project/sglang/pull/42430</a:t>
            </a:r>
          </a:p>
          <a:p>
            <a:pPr>
              <a:buNone/>
            </a:pPr>
            <a:r>
              <a:t>https://github.com/sgl-project/sglang/pull/42432</a:t>
            </a:r>
          </a:p>
          <a:p>
            <a:pPr>
              <a:buNone/>
            </a:pPr>
            <a:r>
              <a:t>Worker: MERGED #39627 (29 Sep) makes Rust TreeCore the default for supported UnifiedRadixCache configurations and ports recent Python behavior. Python fallback remains for session-aware configurations, custom/unsupported components and other unsupported environments. The earlier roadmap checkbox is stale: replacing the tree core is no longer wholly future work. OPEN #38636 adds a generic RadixValue backend so the production tree can also run in a torch-free CPU simulator, plus insertion from a retained node to avoid rematching the full prefix. Ancestor validation still occurs; this is not a demonstrated constant-time insertion or measured GPU speedup.</a:t>
            </a:r>
          </a:p>
          <a:p>
            <a:pPr>
              <a:buNone/>
            </a:pPr>
            <a:r>
              <a:t>https://github.com/sgl-project/sglang/pull/39627</a:t>
            </a:r>
          </a:p>
          <a:p>
            <a:pPr>
              <a:buNone/>
            </a:pPr>
            <a:r>
              <a:t>https://github.com/sgl-project/sglang/pull/38636</a:t>
            </a:r>
          </a:p>
          <a:p>
            <a:pPr>
              <a:buNone/>
            </a:pPr>
            <a:r>
              <a:t>HiCache: MERGED #37381 (3 Sep) completes the opt-in Mooncake external-linker path, including end-to-end direct load-back. Umbrella #35687 was closed without merging because the work landed in split PRs; do not label that umbrella itself merged. OPEN #39727 introduces page_unified host layout and L3 object keys based on page identity, layer ranges and head groups instead of writer rank. This enables a route toward reuse across TP/PP topologies when deployments agree on chunk boundaries. It is library-only in that PR; integration remains separate (including open #39815).</a:t>
            </a:r>
          </a:p>
          <a:p>
            <a:pPr>
              <a:buNone/>
            </a:pPr>
            <a:r>
              <a:t>https://github.com/sgl-project/sglang/pull/37381</a:t>
            </a:r>
          </a:p>
          <a:p>
            <a:pPr>
              <a:buNone/>
            </a:pPr>
            <a:r>
              <a:t>https://github.com/sgl-project/sglang/pull/39727</a:t>
            </a:r>
          </a:p>
          <a:p>
            <a:pPr>
              <a:buNone/>
            </a:pPr>
            <a:r>
              <a:t>https://github.com/sgl-project/sglang/pull/39815</a:t>
            </a:r>
          </a:p>
          <a:p>
            <a:pPr>
              <a:buNone/>
            </a:pPr>
            <a:r>
              <a:t>OPEN #42434 is an experimental proactive prefetch API: restore an exact prefix from file L3 into resident host L2 during a tool-call gap, before the continuation request arrives. Narrow scope: FULL cache, one worker, TP=PP=DP=1, Python TreeCore, file storage backend. It does not support arbitrary distributed/hybrid configurations, proactive H2D, or permanent pinning; normal host-to-device restoration still occurs during generation. This is a separate prototype path, not evidence that the Mooncake linker plus Rust default already provide proactive tool-gap prefetch together.</a:t>
            </a:r>
          </a:p>
          <a:p>
            <a:pPr>
              <a:buNone/>
            </a:pPr>
            <a:r>
              <a:t>https://github.com/sgl-project/sglang/pull/42434</a:t>
            </a:r>
          </a:p>
          <a:p>
            <a:pPr>
              <a:buNone/>
            </a:pPr>
            <a:r>
              <a:t>Future cross-stack direction: roadmap #21846 proposes coordinating sessions/sub-agents/tool calls across routers, prefill/decode workers and cache tiers, plus supernode-wide cache sharing through routing and the linker. RFC #27574 describes programmatic prefetch/demote/retention intent: the orchestrator supplies intent while SGLang owns scheduling, allocation, cache identity and transfers. Retention intent is bounded and backend-specific, not permanent HBM pinning. Its old proof-of-concept #30796 was closed unmerged, so production retention APIs must not be presented as shipped. The bottom line is a direction synthesized from these roadmaps, not an announced delivery commitment.</a:t>
            </a:r>
          </a:p>
          <a:p>
            <a:pPr>
              <a:buNone/>
            </a:pPr>
            <a:r>
              <a:t>https://github.com/sgl-project/sglang/issues/21846</a:t>
            </a:r>
          </a:p>
          <a:p>
            <a:pPr>
              <a:buNone/>
            </a:pPr>
            <a:r>
              <a:t>https://github.com/sgl-project/sglang/issues/27574</a:t>
            </a:r>
          </a:p>
        </p:txBody>
      </p:sp>
    </p:spTree>
  </p:cSld>
  <p:clrMapOvr>
    <a:masterClrMapping/>
  </p:clrMapOvr>
</p:notes>
</file>

<file path=ppt/notesSlides/notesSlide29.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59" name="Shape 1659"/>
          <p:cNvSpPr/>
          <p:nvPr>
            <p:ph type="sldImg"/>
          </p:nvPr>
        </p:nvSpPr>
        <p:spPr>
          <a:prstGeom prst="rect">
            <a:avLst/>
          </a:prstGeom>
        </p:spPr>
        <p:txBody>
          <a:bodyPr/>
          <a:lstStyle/>
          <a:p>
            <a:pPr/>
          </a:p>
        </p:txBody>
      </p:sp>
      <p:sp>
        <p:nvSpPr>
          <p:cNvPr id="1660" name="Shape 1660"/>
          <p:cNvSpPr/>
          <p:nvPr>
            <p:ph type="body" sz="quarter" idx="1"/>
          </p:nvPr>
        </p:nvSpPr>
        <p:spPr>
          <a:prstGeom prst="rect">
            <a:avLst/>
          </a:prstGeom>
        </p:spPr>
        <p:txBody>
          <a:bodyPr/>
          <a:lstStyle/>
          <a:p>
            <a:pPr>
              <a:buNone/>
            </a:pPr>
            <a:r>
              <a:t>33  收尾：三个层次，三个问题</a:t>
            </a:r>
          </a:p>
          <a:p>
            <a:pPr>
              <a:buNone/>
            </a:pPr>
            <a:r>
              <a:t>Three Takeaways</a:t>
            </a:r>
          </a:p>
          <a:p>
            <a:pPr>
              <a:buNone/>
            </a:pPr>
            <a:r>
              <a:t>最后回顾一下开头：Agent 输入很长，新增输出相对很短，而且历</a:t>
            </a:r>
          </a:p>
          <a:p>
            <a:pPr>
              <a:buNone/>
            </a:pPr>
            <a:r>
              <a:t>史会不断分叉。这让上下文复用成为推理系统的一项核心工作。</a:t>
            </a:r>
          </a:p>
          <a:p>
            <a:pPr>
              <a:buNone/>
            </a:pPr>
            <a:r>
              <a:t>RadixAttention 回答哪些 token 可以复用；</a:t>
            </a:r>
          </a:p>
          <a:p>
            <a:pPr>
              <a:buNone/>
            </a:pPr>
            <a:r>
              <a:t>HiCache 回答状态放在哪一层、需要时怎样恢复；</a:t>
            </a:r>
          </a:p>
          <a:p>
            <a:pPr>
              <a:buNone/>
            </a:pPr>
            <a:r>
              <a:t>Unified Radix Tree 回答不同状态如何共享结构，又遵守各自的安全边界。</a:t>
            </a:r>
          </a:p>
          <a:p>
            <a:pPr>
              <a:buNone/>
            </a:pPr>
            <a:r>
              <a:t>把这三个问题接起来，才能在更多轮次、更高并发和混合模型</a:t>
            </a:r>
          </a:p>
          <a:p>
            <a:pPr>
              <a:buNone/>
            </a:pPr>
            <a:r>
              <a:t>下，持续复用已经做过的计算。这就是今天想分享的主要内容。</a:t>
            </a:r>
          </a:p>
          <a:p>
            <a:pPr>
              <a:buNone/>
            </a:pPr>
            <a:r>
              <a:t>停顿，翻到 Thank You，进入提问。</a:t>
            </a:r>
          </a:p>
          <a:p>
            <a:pPr>
              <a:buNone/>
            </a:pPr>
            <a:r>
              <a:t/>
            </a:r>
          </a:p>
          <a:p>
            <a:pPr>
              <a:buNone/>
            </a:pPr>
            <a:r>
              <a:t>—— 原有备注 / 技术说明 ——</a:t>
            </a:r>
          </a:p>
          <a:p>
            <a:pPr>
              <a:buNone/>
            </a:pPr>
            <a:r>
              <a:t>Return to the long inputs, short outputs, and branching workloads introduced at the start. RadixAttention determines which tokens can be reused. HiCache determines where state is stored and restored. Unified Radix Tree determines how different components share one tree and reuse state correctly. The measured results show how all three support the lifecycle of agent context.</a:t>
            </a:r>
          </a:p>
          <a:p>
            <a:pPr>
              <a:buNone/>
            </a:pPr>
            <a:r>
              <a:t>Additional explanation and original data:</a:t>
            </a:r>
          </a:p>
          <a:p>
            <a:pPr>
              <a:buNone/>
            </a:pPr>
            <a:r>
              <a:t>Three takeaways</a:t>
            </a:r>
          </a:p>
          <a:p>
            <a:pPr>
              <a:buNone/>
            </a:pPr>
            <a:r>
              <a:t>Three points to remember</a:t>
            </a:r>
          </a:p>
          <a:p>
            <a:pPr>
              <a:buNone/>
            </a:pPr>
            <a:r>
              <a:t>25</a:t>
            </a:r>
          </a:p>
          <a:p>
            <a:pPr>
              <a:buNone/>
            </a:pPr>
            <a:r>
              <a:t>1</a:t>
            </a:r>
          </a:p>
          <a:p>
            <a:pPr>
              <a:buNone/>
            </a:pPr>
            <a:r>
              <a:t>RadixAttention</a:t>
            </a:r>
          </a:p>
          <a:p>
            <a:pPr>
              <a:buNone/>
            </a:pPr>
            <a:r>
              <a:t>Match shared prefixes by token sequence, reuse existing KV, and compute only the new part of a request.</a:t>
            </a:r>
          </a:p>
          <a:p>
            <a:pPr>
              <a:buNone/>
            </a:pPr>
            <a:r>
              <a:t>2</a:t>
            </a:r>
          </a:p>
          <a:p>
            <a:pPr>
              <a:buNone/>
            </a:pPr>
            <a:r>
              <a:t>HiCache</a:t>
            </a:r>
          </a:p>
          <a:p>
            <a:pPr>
              <a:buNone/>
            </a:pPr>
            <a:r>
              <a:t>The same prefix can reside in GPU memory, host memory, and shared storage. After a hit, restore it to the GPU as needed.</a:t>
            </a:r>
          </a:p>
          <a:p>
            <a:pPr>
              <a:buNone/>
            </a:pPr>
            <a:r>
              <a:t>3</a:t>
            </a:r>
          </a:p>
          <a:p>
            <a:pPr>
              <a:buNone/>
            </a:pPr>
            <a:r>
              <a:t>Unified Radix Tree</a:t>
            </a:r>
          </a:p>
          <a:p>
            <a:pPr>
              <a:buNone/>
            </a:pPr>
            <a:r>
              <a:t>Share one token topology while each component defines its own safe reuse boundaries and composes through hooks.</a:t>
            </a:r>
          </a:p>
          <a:p>
            <a:pPr>
              <a:buNone/>
            </a:pPr>
            <a:r>
              <a:t>Context reuse → Context identity → Context lifecycle</a:t>
            </a:r>
          </a:p>
        </p:txBody>
      </p:sp>
    </p:spTree>
  </p:cSld>
  <p:clrMapOvr>
    <a:masterClrMapping/>
  </p:clrMapOvr>
</p:notes>
</file>

<file path=ppt/notesSlides/notesSlide30.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r>
              <a:t>01  开场：Agent 推理中的 KV 缓存</a:t>
            </a:r>
          </a:p>
          <a:p>
            <a:r>
              <a:t>KV Caching for Agentic Inference</a:t>
            </a:r>
          </a:p>
          <a:p>
            <a:r>
              <a:t>大家好，我是 Yichi，来自 RadixArk。今天想和大家聊一下，Agent 推理里的 </a:t>
            </a:r>
          </a:p>
          <a:p>
            <a:r>
              <a:t>KV Cache，为什么越来越重要，以及 SGLang 是怎么一步步处理这个问题的。</a:t>
            </a:r>
          </a:p>
          <a:p>
            <a:r>
              <a:t>也会分享一些SGL在KV Cache上的新的技术成果，希望能和各位互相交流学习</a:t>
            </a:r>
          </a:p>
          <a:p>
            <a:r>
              <a:t>翻到目录，先交代整场报告的路线。</a:t>
            </a:r>
          </a:p>
        </p:txBody>
      </p:sp>
    </p:spTree>
  </p:cSld>
  <p:clrMapOvr>
    <a:masterClrMapping/>
  </p:clrMapOvr>
</p:notes>
</file>

<file path=ppt/notesSlides/notesSlide31.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r>
              <a:t>07  第二部分：RadixAttention</a:t>
            </a:r>
          </a:p>
          <a:p>
            <a:r>
              <a:t>RadixAttention</a:t>
            </a:r>
          </a:p>
          <a:p>
            <a:r>
              <a:t>现在来看第一层解决方案：RadixAttention。它要回答的</a:t>
            </a:r>
          </a:p>
          <a:p>
            <a:r>
              <a:t>是，新请求中哪些 token 已经算过，可以直接使用已有 KV。</a:t>
            </a:r>
          </a:p>
          <a:p>
            <a:r>
              <a:t>前提是 token 前缀完全一致。接下来用一个很小</a:t>
            </a:r>
          </a:p>
          <a:p>
            <a:r>
              <a:t>的例子，说明匹配、拆分和插入是怎么连起来的。</a:t>
            </a:r>
          </a:p>
          <a:p>
            <a:r>
              <a:t>翻页，沿着 ABC 这段公共前缀讲。</a:t>
            </a:r>
          </a:p>
        </p:txBody>
      </p:sp>
    </p:spTree>
  </p:cSld>
  <p:clrMapOvr>
    <a:masterClrMapping/>
  </p:clrMapOvr>
</p:notes>
</file>

<file path=ppt/notesSlides/notesSlide32.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r>
              <a:t>10  第三部分：HiCache</a:t>
            </a:r>
          </a:p>
          <a:p>
            <a:r>
              <a:t>HiCache</a:t>
            </a:r>
          </a:p>
          <a:p>
            <a:r>
              <a:t>前缀树解决了“找到同一段历史”的问题，但系统设计永远是tradeoff</a:t>
            </a:r>
          </a:p>
          <a:p>
            <a:r>
              <a:t>在享受缓存带来的加速时，不可忽视的是内存消耗</a:t>
            </a:r>
          </a:p>
          <a:p>
            <a:r>
              <a:t>现实限制是：GPU 显存装不下所有值得保留的历史。</a:t>
            </a:r>
          </a:p>
          <a:p>
            <a:r>
              <a:t>接下来讲 HiCache。它把缓存的保留范围扩展到 CPU 内存和外部存</a:t>
            </a:r>
          </a:p>
          <a:p>
            <a:r>
              <a:t>储，让一段 KV 离开 GPU 之后，仍有机会在后续请求里恢复使用。</a:t>
            </a:r>
          </a:p>
          <a:p>
            <a:r>
              <a:t>翻页，先解释显存容量为什么限制复用。</a:t>
            </a:r>
          </a:p>
        </p:txBody>
      </p:sp>
    </p:spTree>
  </p:cSld>
  <p:clrMapOvr>
    <a:masterClrMapping/>
  </p:clrMapOvr>
</p:notes>
</file>

<file path=ppt/notesSlides/notesSlide33.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r>
              <a:t>15  第四部分：Unified Radix Tree</a:t>
            </a:r>
          </a:p>
          <a:p>
            <a:r>
              <a:t>Unified Radix Tree</a:t>
            </a:r>
          </a:p>
          <a:p>
            <a:r>
              <a:t>前面先把状态当成普通 KV 来讲。但现实情况中，现代的混合模型可能同时包含</a:t>
            </a:r>
          </a:p>
          <a:p>
            <a:r>
              <a:t>Full Attention、滑动窗口 Attention，以及 Mamba 一类的递归状态。</a:t>
            </a:r>
          </a:p>
          <a:p>
            <a:r>
              <a:t>它们共享同一段 token，但是计算结果完全不同，且不一定能在同一个边界恢复。</a:t>
            </a:r>
          </a:p>
          <a:p>
            <a:r>
              <a:t>统一树最重要的工作，就是在共享结构的同时，把这些不同的有效性规则表达清楚。</a:t>
            </a:r>
          </a:p>
          <a:p>
            <a:r>
              <a:t>下一页逐一说明 FULL、SWA、MAMBA 需要保留什么。</a:t>
            </a:r>
          </a:p>
        </p:txBody>
      </p:sp>
    </p:spTree>
  </p:cSld>
  <p:clrMapOvr>
    <a:masterClrMapping/>
  </p:clrMapOvr>
</p:notes>
</file>

<file path=ppt/notesSlides/notesSlide34.xml><?xml version="1.0" encoding="utf-8"?>
<p:notes xmlns:a="http://schemas.openxmlformats.org/drawingml/2006/main" xmlns:p="http://schemas.openxmlformats.org/presentationml/2006/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r>
              <a:t>34  结束：感谢与交流</a:t>
            </a:r>
          </a:p>
          <a:p>
            <a:r>
              <a:t>Thank You</a:t>
            </a:r>
          </a:p>
          <a:p>
            <a:r>
              <a:t>谢谢大家。以上是 SGLang 从 RadixAttention、</a:t>
            </a:r>
          </a:p>
          <a:p>
            <a:r>
              <a:t>HiCache 到 Unified Radix Tree 的设计和实践。</a:t>
            </a:r>
          </a:p>
          <a:p>
            <a:r>
              <a:t>欢迎大家提问，也欢迎交流</a:t>
            </a:r>
          </a:p>
          <a:p>
            <a:r>
              <a:t>SGL 二维码</a:t>
            </a:r>
          </a:p>
          <a:p>
            <a:r>
              <a:t>停止翻页，留在英文 Thank You 页面。</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幻灯片">
    <p:spTree>
      <p:nvGrpSpPr>
        <p:cNvPr id="1" name=""/>
        <p:cNvGrpSpPr/>
        <p:nvPr/>
      </p:nvGrpSpPr>
      <p:grpSpPr>
        <a:xfrm>
          <a:off x="0" y="0"/>
          <a:ext cx="0" cy="0"/>
          <a:chOff x="0" y="0"/>
          <a:chExt cx="0" cy="0"/>
        </a:xfrm>
      </p:grpSpPr>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_标题幻灯片">
    <p:spTree>
      <p:nvGrpSpPr>
        <p:cNvPr id="1" name=""/>
        <p:cNvGrpSpPr/>
        <p:nvPr/>
      </p:nvGrpSpPr>
      <p:grpSpPr>
        <a:xfrm>
          <a:off x="0" y="0"/>
          <a:ext cx="0" cy="0"/>
          <a:chOff x="0" y="0"/>
          <a:chExt cx="0" cy="0"/>
        </a:xfrm>
      </p:grpSpPr>
      <p:pic>
        <p:nvPicPr>
          <p:cNvPr id="20" name="图片 2" descr="图片 2"/>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21" name="图片 6" descr="图片 6"/>
          <p:cNvPicPr>
            <a:picLocks noChangeAspect="1"/>
          </p:cNvPicPr>
          <p:nvPr/>
        </p:nvPicPr>
        <p:blipFill>
          <a:blip r:embed="rId3">
            <a:extLst/>
          </a:blip>
          <a:stretch>
            <a:fillRect/>
          </a:stretch>
        </p:blipFill>
        <p:spPr>
          <a:xfrm>
            <a:off x="8785859" y="507365"/>
            <a:ext cx="3030857" cy="355602"/>
          </a:xfrm>
          <a:prstGeom prst="rect">
            <a:avLst/>
          </a:prstGeom>
          <a:ln w="12700">
            <a:miter lim="400000"/>
          </a:ln>
        </p:spPr>
      </p:pic>
      <p:pic>
        <p:nvPicPr>
          <p:cNvPr id="22" name="图片 7" descr="图片 7"/>
          <p:cNvPicPr>
            <a:picLocks noChangeAspect="1"/>
          </p:cNvPicPr>
          <p:nvPr/>
        </p:nvPicPr>
        <p:blipFill>
          <a:blip r:embed="rId4">
            <a:extLst/>
          </a:blip>
          <a:stretch>
            <a:fillRect/>
          </a:stretch>
        </p:blipFill>
        <p:spPr>
          <a:xfrm>
            <a:off x="554355" y="469900"/>
            <a:ext cx="1404620" cy="356235"/>
          </a:xfrm>
          <a:prstGeom prst="rect">
            <a:avLst/>
          </a:prstGeom>
          <a:ln w="12700">
            <a:miter lim="400000"/>
          </a:ln>
        </p:spPr>
      </p:pic>
      <p:sp>
        <p:nvSpPr>
          <p:cNvPr id="23" name="Body Level One…"/>
          <p:cNvSpPr txBox="1"/>
          <p:nvPr>
            <p:ph type="body" sz="half" idx="1" hasCustomPrompt="1"/>
          </p:nvPr>
        </p:nvSpPr>
        <p:spPr>
          <a:xfrm>
            <a:off x="405129" y="1818638"/>
            <a:ext cx="8556626" cy="2002158"/>
          </a:xfrm>
          <a:prstGeom prst="rect">
            <a:avLst/>
          </a:prstGeom>
        </p:spPr>
        <p:txBody>
          <a:bodyPr lIns="34290" tIns="34290" rIns="34290" bIns="34290" anchor="ctr">
            <a:normAutofit fontScale="100000" lnSpcReduction="0"/>
          </a:bodyPr>
          <a:lstStyle>
            <a:lvl1pPr marL="0" indent="0">
              <a:buSzTx/>
              <a:buFontTx/>
              <a:buNone/>
              <a:defRPr b="1" sz="6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1pPr>
            <a:lvl2pPr marL="1085850" indent="-628650">
              <a:buFontTx/>
              <a:defRPr b="1" sz="6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2pPr>
            <a:lvl3pPr marL="1668778" indent="-754378">
              <a:buFontTx/>
              <a:defRPr b="1" sz="6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3pPr>
            <a:lvl4pPr marL="2209800" indent="-838200">
              <a:buFontTx/>
              <a:defRPr b="1" sz="6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4pPr>
            <a:lvl5pPr marL="2667000" indent="-838200">
              <a:buFontTx/>
              <a:defRPr b="1" sz="6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5pPr>
          </a:lstStyle>
          <a:p>
            <a:pPr/>
            <a:r>
              <a:t>Topic</a:t>
            </a:r>
          </a:p>
          <a:p>
            <a:pPr lvl="1"/>
            <a:r>
              <a:t/>
            </a:r>
          </a:p>
          <a:p>
            <a:pPr lvl="2"/>
            <a:r>
              <a:t/>
            </a:r>
          </a:p>
          <a:p>
            <a:pPr lvl="3"/>
            <a:r>
              <a:t/>
            </a:r>
          </a:p>
          <a:p>
            <a:pPr lvl="4"/>
            <a:r>
              <a:t/>
            </a:r>
          </a:p>
        </p:txBody>
      </p:sp>
      <p:sp>
        <p:nvSpPr>
          <p:cNvPr id="24" name="文本占位符 2"/>
          <p:cNvSpPr/>
          <p:nvPr>
            <p:ph type="body" sz="quarter" idx="21" hasCustomPrompt="1"/>
          </p:nvPr>
        </p:nvSpPr>
        <p:spPr>
          <a:xfrm>
            <a:off x="405129" y="3820795"/>
            <a:ext cx="8556626" cy="798832"/>
          </a:xfrm>
          <a:prstGeom prst="rect">
            <a:avLst/>
          </a:prstGeom>
        </p:spPr>
        <p:txBody>
          <a:bodyPr lIns="34290" tIns="34290" rIns="34290" bIns="34290" anchor="ctr">
            <a:normAutofit fontScale="100000" lnSpcReduction="0"/>
          </a:bodyPr>
          <a:lstStyle>
            <a:lvl1pPr marL="0" indent="0">
              <a:buSzTx/>
              <a:buFontTx/>
              <a:buNone/>
              <a:defRPr b="1">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1pPr>
          </a:lstStyle>
          <a:p>
            <a:pPr/>
            <a:r>
              <a:t>Name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标题幻灯片">
    <p:spTree>
      <p:nvGrpSpPr>
        <p:cNvPr id="1" name=""/>
        <p:cNvGrpSpPr/>
        <p:nvPr/>
      </p:nvGrpSpPr>
      <p:grpSpPr>
        <a:xfrm>
          <a:off x="0" y="0"/>
          <a:ext cx="0" cy="0"/>
          <a:chOff x="0" y="0"/>
          <a:chExt cx="0" cy="0"/>
        </a:xfrm>
      </p:grpSpPr>
      <p:pic>
        <p:nvPicPr>
          <p:cNvPr id="32" name="图片 8" descr="图片 8"/>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33" name="图片 9" descr="图片 9"/>
          <p:cNvPicPr>
            <a:picLocks noChangeAspect="1"/>
          </p:cNvPicPr>
          <p:nvPr/>
        </p:nvPicPr>
        <p:blipFill>
          <a:blip r:embed="rId3">
            <a:alphaModFix amt="60000"/>
            <a:extLst/>
          </a:blip>
          <a:stretch>
            <a:fillRect/>
          </a:stretch>
        </p:blipFill>
        <p:spPr>
          <a:xfrm>
            <a:off x="431165" y="507365"/>
            <a:ext cx="5179060" cy="1228090"/>
          </a:xfrm>
          <a:prstGeom prst="rect">
            <a:avLst/>
          </a:prstGeom>
          <a:ln w="12700">
            <a:miter lim="400000"/>
          </a:ln>
        </p:spPr>
      </p:pic>
      <p:pic>
        <p:nvPicPr>
          <p:cNvPr id="34" name="图片 10" descr="图片 10"/>
          <p:cNvPicPr>
            <a:picLocks noChangeAspect="1"/>
          </p:cNvPicPr>
          <p:nvPr/>
        </p:nvPicPr>
        <p:blipFill>
          <a:blip r:embed="rId4">
            <a:extLst/>
          </a:blip>
          <a:stretch>
            <a:fillRect/>
          </a:stretch>
        </p:blipFill>
        <p:spPr>
          <a:xfrm>
            <a:off x="8785859" y="507365"/>
            <a:ext cx="3030857" cy="355602"/>
          </a:xfrm>
          <a:prstGeom prst="rect">
            <a:avLst/>
          </a:prstGeom>
          <a:ln w="12700">
            <a:miter lim="400000"/>
          </a:ln>
        </p:spPr>
      </p:pic>
      <p:sp>
        <p:nvSpPr>
          <p:cNvPr id="35" name="矩形 11"/>
          <p:cNvSpPr/>
          <p:nvPr/>
        </p:nvSpPr>
        <p:spPr>
          <a:xfrm>
            <a:off x="633" y="6496050"/>
            <a:ext cx="12191369"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pic>
        <p:nvPicPr>
          <p:cNvPr id="36" name="图片 1" descr="图片 1"/>
          <p:cNvPicPr>
            <a:picLocks noChangeAspect="1"/>
          </p:cNvPicPr>
          <p:nvPr/>
        </p:nvPicPr>
        <p:blipFill>
          <a:blip r:embed="rId5">
            <a:extLst/>
          </a:blip>
          <a:stretch>
            <a:fillRect/>
          </a:stretch>
        </p:blipFill>
        <p:spPr>
          <a:xfrm>
            <a:off x="11124565" y="6570663"/>
            <a:ext cx="832487" cy="212092"/>
          </a:xfrm>
          <a:prstGeom prst="rect">
            <a:avLst/>
          </a:prstGeom>
          <a:ln w="12700">
            <a:miter lim="400000"/>
          </a:ln>
        </p:spPr>
      </p:pic>
      <p:pic>
        <p:nvPicPr>
          <p:cNvPr id="37" name="图片 13" descr="图片 13"/>
          <p:cNvPicPr>
            <a:picLocks noChangeAspect="1"/>
          </p:cNvPicPr>
          <p:nvPr/>
        </p:nvPicPr>
        <p:blipFill>
          <a:blip r:embed="rId6">
            <a:extLst/>
          </a:blip>
          <a:srcRect l="24" t="0" r="24" b="0"/>
          <a:stretch>
            <a:fillRect/>
          </a:stretch>
        </p:blipFill>
        <p:spPr>
          <a:xfrm flipH="1">
            <a:off x="635" y="5525770"/>
            <a:ext cx="2955290" cy="1331597"/>
          </a:xfrm>
          <a:prstGeom prst="rect">
            <a:avLst/>
          </a:prstGeom>
          <a:ln w="12700">
            <a:miter lim="400000"/>
          </a:ln>
        </p:spPr>
      </p:pic>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4_标题幻灯片">
    <p:spTree>
      <p:nvGrpSpPr>
        <p:cNvPr id="1" name=""/>
        <p:cNvGrpSpPr/>
        <p:nvPr/>
      </p:nvGrpSpPr>
      <p:grpSpPr>
        <a:xfrm>
          <a:off x="0" y="0"/>
          <a:ext cx="0" cy="0"/>
          <a:chOff x="0" y="0"/>
          <a:chExt cx="0" cy="0"/>
        </a:xfrm>
      </p:grpSpPr>
      <p:pic>
        <p:nvPicPr>
          <p:cNvPr id="45" name="图片 3" descr="图片 3"/>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46" name="图片 6" descr="图片 6"/>
          <p:cNvPicPr>
            <a:picLocks noChangeAspect="1"/>
          </p:cNvPicPr>
          <p:nvPr/>
        </p:nvPicPr>
        <p:blipFill>
          <a:blip r:embed="rId3">
            <a:extLst/>
          </a:blip>
          <a:stretch>
            <a:fillRect/>
          </a:stretch>
        </p:blipFill>
        <p:spPr>
          <a:xfrm>
            <a:off x="8785859" y="507365"/>
            <a:ext cx="3030857" cy="355602"/>
          </a:xfrm>
          <a:prstGeom prst="rect">
            <a:avLst/>
          </a:prstGeom>
          <a:ln w="12700">
            <a:miter lim="400000"/>
          </a:ln>
        </p:spPr>
      </p:pic>
      <p:pic>
        <p:nvPicPr>
          <p:cNvPr id="47" name="图片 7" descr="图片 7"/>
          <p:cNvPicPr>
            <a:picLocks noChangeAspect="1"/>
          </p:cNvPicPr>
          <p:nvPr/>
        </p:nvPicPr>
        <p:blipFill>
          <a:blip r:embed="rId4">
            <a:extLst/>
          </a:blip>
          <a:stretch>
            <a:fillRect/>
          </a:stretch>
        </p:blipFill>
        <p:spPr>
          <a:xfrm>
            <a:off x="554355" y="469900"/>
            <a:ext cx="1404620" cy="356235"/>
          </a:xfrm>
          <a:prstGeom prst="rect">
            <a:avLst/>
          </a:prstGeom>
          <a:ln w="12700">
            <a:miter lim="400000"/>
          </a:ln>
        </p:spPr>
      </p:pic>
      <p:sp>
        <p:nvSpPr>
          <p:cNvPr id="48" name="01"/>
          <p:cNvSpPr txBox="1"/>
          <p:nvPr>
            <p:ph type="title" hasCustomPrompt="1"/>
          </p:nvPr>
        </p:nvSpPr>
        <p:spPr>
          <a:xfrm>
            <a:off x="421005" y="825500"/>
            <a:ext cx="3550921" cy="2812415"/>
          </a:xfrm>
          <a:prstGeom prst="rect">
            <a:avLst/>
          </a:prstGeom>
        </p:spPr>
        <p:txBody>
          <a:bodyPr lIns="46798" tIns="46798" rIns="46798" bIns="46798" anchor="t">
            <a:normAutofit fontScale="100000" lnSpcReduction="0"/>
          </a:bodyPr>
          <a:lstStyle>
            <a:lvl1pPr algn="ctr">
              <a:lnSpc>
                <a:spcPct val="100000"/>
              </a:lnSpc>
              <a:defRPr b="1" sz="20000">
                <a:gradFill flip="none" rotWithShape="1">
                  <a:gsLst>
                    <a:gs pos="23000">
                      <a:srgbClr val="FFFFFF"/>
                    </a:gs>
                    <a:gs pos="71000">
                      <a:srgbClr val="FFFFFF">
                        <a:alpha val="0"/>
                      </a:srgbClr>
                    </a:gs>
                  </a:gsLst>
                  <a:lin ang="5400000" scaled="0"/>
                </a:gradFill>
              </a:defRPr>
            </a:lvl1pPr>
          </a:lstStyle>
          <a:p>
            <a:pPr/>
            <a:r>
              <a:t>01</a:t>
            </a:r>
          </a:p>
        </p:txBody>
      </p:sp>
      <p:sp>
        <p:nvSpPr>
          <p:cNvPr id="49" name="Body Level One…"/>
          <p:cNvSpPr txBox="1"/>
          <p:nvPr>
            <p:ph type="body" sz="quarter" idx="1" hasCustomPrompt="1"/>
          </p:nvPr>
        </p:nvSpPr>
        <p:spPr>
          <a:xfrm>
            <a:off x="569209" y="2821714"/>
            <a:ext cx="8887194" cy="860048"/>
          </a:xfrm>
          <a:prstGeom prst="rect">
            <a:avLst/>
          </a:prstGeom>
        </p:spPr>
        <p:txBody>
          <a:bodyPr lIns="34290" tIns="34290" rIns="34290" bIns="34290">
            <a:normAutofit fontScale="100000" lnSpcReduction="0"/>
          </a:bodyPr>
          <a:lstStyle>
            <a:lvl1pPr marL="0" indent="0">
              <a:buSzTx/>
              <a:buFontTx/>
              <a:buNone/>
              <a:defRPr b="1" sz="54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1pPr>
            <a:lvl2pPr marL="971550" indent="-514350">
              <a:buFontTx/>
              <a:defRPr b="1" sz="54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2pPr>
            <a:lvl3pPr marL="1531619" indent="-617219">
              <a:buFontTx/>
              <a:defRPr b="1" sz="54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3pPr>
            <a:lvl4pPr marL="2057400" indent="-685800">
              <a:buFontTx/>
              <a:defRPr b="1" sz="54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4pPr>
            <a:lvl5pPr marL="2514600" indent="-685800">
              <a:buFontTx/>
              <a:defRPr b="1" sz="54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5pPr>
          </a:lstStyle>
          <a:p>
            <a:pPr/>
            <a:r>
              <a:t>Title</a:t>
            </a:r>
          </a:p>
          <a:p>
            <a:pPr lvl="1"/>
            <a:r>
              <a:t/>
            </a:r>
          </a:p>
          <a:p>
            <a:pPr lvl="2"/>
            <a:r>
              <a:t/>
            </a:r>
          </a:p>
          <a:p>
            <a:pPr lvl="3"/>
            <a:r>
              <a:t/>
            </a:r>
          </a:p>
          <a:p>
            <a:pPr lvl="4"/>
            <a:r>
              <a:t/>
            </a: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_节标题">
    <p:spTree>
      <p:nvGrpSpPr>
        <p:cNvPr id="1" name=""/>
        <p:cNvGrpSpPr/>
        <p:nvPr/>
      </p:nvGrpSpPr>
      <p:grpSpPr>
        <a:xfrm>
          <a:off x="0" y="0"/>
          <a:ext cx="0" cy="0"/>
          <a:chOff x="0" y="0"/>
          <a:chExt cx="0" cy="0"/>
        </a:xfrm>
      </p:grpSpPr>
      <p:sp>
        <p:nvSpPr>
          <p:cNvPr id="57" name="矩形 40"/>
          <p:cNvSpPr/>
          <p:nvPr/>
        </p:nvSpPr>
        <p:spPr>
          <a:xfrm>
            <a:off x="633" y="6496050"/>
            <a:ext cx="12191369"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58" name="直接连接符 8"/>
          <p:cNvSpPr/>
          <p:nvPr/>
        </p:nvSpPr>
        <p:spPr>
          <a:xfrm>
            <a:off x="1794934" y="723900"/>
            <a:ext cx="10397067" cy="0"/>
          </a:xfrm>
          <a:prstGeom prst="line">
            <a:avLst/>
          </a:prstGeom>
          <a:ln w="28575">
            <a:solidFill>
              <a:srgbClr val="285091"/>
            </a:solidFill>
            <a:miter/>
          </a:ln>
        </p:spPr>
        <p:txBody>
          <a:bodyPr lIns="45718" tIns="45718" rIns="45718" bIns="45718"/>
          <a:lstStyle/>
          <a:p>
            <a:pPr/>
          </a:p>
        </p:txBody>
      </p:sp>
      <p:sp>
        <p:nvSpPr>
          <p:cNvPr id="59" name="直接连接符 11"/>
          <p:cNvSpPr/>
          <p:nvPr/>
        </p:nvSpPr>
        <p:spPr>
          <a:xfrm>
            <a:off x="221771" y="723900"/>
            <a:ext cx="1573531" cy="0"/>
          </a:xfrm>
          <a:prstGeom prst="line">
            <a:avLst/>
          </a:prstGeom>
          <a:ln w="28575">
            <a:solidFill>
              <a:srgbClr val="FFD9D0">
                <a:alpha val="69804"/>
              </a:srgbClr>
            </a:solidFill>
            <a:miter/>
          </a:ln>
        </p:spPr>
        <p:txBody>
          <a:bodyPr lIns="45718" tIns="45718" rIns="45718" bIns="45718"/>
          <a:lstStyle/>
          <a:p>
            <a:pPr/>
          </a:p>
        </p:txBody>
      </p:sp>
      <p:pic>
        <p:nvPicPr>
          <p:cNvPr id="60" name="图片 45" descr="图片 45"/>
          <p:cNvPicPr>
            <a:picLocks noChangeAspect="1"/>
          </p:cNvPicPr>
          <p:nvPr/>
        </p:nvPicPr>
        <p:blipFill>
          <a:blip r:embed="rId2">
            <a:extLst/>
          </a:blip>
          <a:stretch>
            <a:fillRect/>
          </a:stretch>
        </p:blipFill>
        <p:spPr>
          <a:xfrm>
            <a:off x="9439909" y="326390"/>
            <a:ext cx="2517141" cy="295277"/>
          </a:xfrm>
          <a:prstGeom prst="rect">
            <a:avLst/>
          </a:prstGeom>
          <a:ln w="12700">
            <a:miter lim="400000"/>
          </a:ln>
        </p:spPr>
      </p:pic>
      <p:pic>
        <p:nvPicPr>
          <p:cNvPr id="61" name="图片 46" descr="图片 46"/>
          <p:cNvPicPr>
            <a:picLocks noChangeAspect="1"/>
          </p:cNvPicPr>
          <p:nvPr/>
        </p:nvPicPr>
        <p:blipFill>
          <a:blip r:embed="rId3">
            <a:extLst/>
          </a:blip>
          <a:srcRect l="24" t="0" r="24" b="0"/>
          <a:stretch>
            <a:fillRect/>
          </a:stretch>
        </p:blipFill>
        <p:spPr>
          <a:xfrm flipH="1">
            <a:off x="635" y="5525770"/>
            <a:ext cx="2955290" cy="1331597"/>
          </a:xfrm>
          <a:prstGeom prst="rect">
            <a:avLst/>
          </a:prstGeom>
          <a:ln w="12700">
            <a:miter lim="400000"/>
          </a:ln>
        </p:spPr>
      </p:pic>
      <p:pic>
        <p:nvPicPr>
          <p:cNvPr id="62" name="图片 12" descr="图片 12"/>
          <p:cNvPicPr>
            <a:picLocks noChangeAspect="1"/>
          </p:cNvPicPr>
          <p:nvPr/>
        </p:nvPicPr>
        <p:blipFill>
          <a:blip r:embed="rId4">
            <a:extLst/>
          </a:blip>
          <a:srcRect l="0" t="0" r="266" b="0"/>
          <a:stretch>
            <a:fillRect/>
          </a:stretch>
        </p:blipFill>
        <p:spPr>
          <a:xfrm>
            <a:off x="11129209" y="6571615"/>
            <a:ext cx="827843" cy="210187"/>
          </a:xfrm>
          <a:prstGeom prst="rect">
            <a:avLst/>
          </a:prstGeom>
          <a:ln w="12700">
            <a:miter lim="400000"/>
          </a:ln>
        </p:spPr>
      </p:pic>
      <p:sp>
        <p:nvSpPr>
          <p:cNvPr id="63" name="Click here"/>
          <p:cNvSpPr txBox="1"/>
          <p:nvPr>
            <p:ph type="title" hasCustomPrompt="1"/>
          </p:nvPr>
        </p:nvSpPr>
        <p:spPr>
          <a:xfrm>
            <a:off x="518159" y="1094105"/>
            <a:ext cx="11160002" cy="5040001"/>
          </a:xfrm>
          <a:prstGeom prst="rect">
            <a:avLst/>
          </a:prstGeom>
        </p:spPr>
        <p:txBody>
          <a:bodyPr anchor="t">
            <a:normAutofit fontScale="100000" lnSpcReduction="0"/>
          </a:bodyPr>
          <a:lstStyle>
            <a:lvl1pPr>
              <a:lnSpc>
                <a:spcPct val="120000"/>
              </a:lnSpc>
              <a:defRPr sz="2000">
                <a:solidFill>
                  <a:srgbClr val="0A2540"/>
                </a:solidFill>
                <a:latin typeface="Arial"/>
                <a:ea typeface="Arial"/>
                <a:cs typeface="Arial"/>
                <a:sym typeface="Arial"/>
              </a:defRPr>
            </a:lvl1pPr>
          </a:lstStyle>
          <a:p>
            <a:pPr/>
            <a:r>
              <a:t>Click here</a:t>
            </a:r>
          </a:p>
        </p:txBody>
      </p:sp>
      <p:sp>
        <p:nvSpPr>
          <p:cNvPr id="64" name="Body Level One…"/>
          <p:cNvSpPr txBox="1"/>
          <p:nvPr>
            <p:ph type="body" sz="quarter" idx="1" hasCustomPrompt="1"/>
          </p:nvPr>
        </p:nvSpPr>
        <p:spPr>
          <a:xfrm>
            <a:off x="221615" y="267333"/>
            <a:ext cx="7964807" cy="399417"/>
          </a:xfrm>
          <a:prstGeom prst="rect">
            <a:avLst/>
          </a:prstGeom>
        </p:spPr>
        <p:txBody>
          <a:bodyPr lIns="34290" tIns="34290" rIns="34290" bIns="34290" anchor="ctr">
            <a:normAutofit fontScale="100000" lnSpcReduction="0"/>
          </a:bodyPr>
          <a:lstStyle>
            <a:lvl1pPr marL="0" indent="0">
              <a:lnSpc>
                <a:spcPct val="100000"/>
              </a:lnSpc>
              <a:buSzTx/>
              <a:buFontTx/>
              <a:buNone/>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1pPr>
            <a:lvl2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2pPr>
            <a:lvl3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3pPr>
            <a:lvl4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4pPr>
            <a:lvl5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5pPr>
          </a:lstStyle>
          <a:p>
            <a:pPr/>
            <a:r>
              <a:t>Title</a:t>
            </a:r>
          </a:p>
          <a:p>
            <a:pPr lvl="1"/>
            <a:r>
              <a:t/>
            </a:r>
          </a:p>
          <a:p>
            <a:pPr lvl="2"/>
            <a:r>
              <a:t/>
            </a:r>
          </a:p>
          <a:p>
            <a:pPr lvl="3"/>
            <a:r>
              <a:t/>
            </a:r>
          </a:p>
          <a:p>
            <a:pPr lvl="4"/>
            <a:r>
              <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5_节标题">
    <p:spTree>
      <p:nvGrpSpPr>
        <p:cNvPr id="1" name=""/>
        <p:cNvGrpSpPr/>
        <p:nvPr/>
      </p:nvGrpSpPr>
      <p:grpSpPr>
        <a:xfrm>
          <a:off x="0" y="0"/>
          <a:ext cx="0" cy="0"/>
          <a:chOff x="0" y="0"/>
          <a:chExt cx="0" cy="0"/>
        </a:xfrm>
      </p:grpSpPr>
      <p:sp>
        <p:nvSpPr>
          <p:cNvPr id="72" name="矩形 40"/>
          <p:cNvSpPr/>
          <p:nvPr/>
        </p:nvSpPr>
        <p:spPr>
          <a:xfrm>
            <a:off x="633" y="6496050"/>
            <a:ext cx="12191369"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3" name="直接连接符 8"/>
          <p:cNvSpPr/>
          <p:nvPr/>
        </p:nvSpPr>
        <p:spPr>
          <a:xfrm>
            <a:off x="1794934" y="723900"/>
            <a:ext cx="10397067" cy="0"/>
          </a:xfrm>
          <a:prstGeom prst="line">
            <a:avLst/>
          </a:prstGeom>
          <a:ln w="28575">
            <a:solidFill>
              <a:srgbClr val="285091"/>
            </a:solidFill>
            <a:miter/>
          </a:ln>
        </p:spPr>
        <p:txBody>
          <a:bodyPr lIns="45718" tIns="45718" rIns="45718" bIns="45718"/>
          <a:lstStyle/>
          <a:p>
            <a:pPr/>
          </a:p>
        </p:txBody>
      </p:sp>
      <p:sp>
        <p:nvSpPr>
          <p:cNvPr id="74" name="直接连接符 11"/>
          <p:cNvSpPr/>
          <p:nvPr/>
        </p:nvSpPr>
        <p:spPr>
          <a:xfrm>
            <a:off x="221771" y="723900"/>
            <a:ext cx="1573531" cy="0"/>
          </a:xfrm>
          <a:prstGeom prst="line">
            <a:avLst/>
          </a:prstGeom>
          <a:ln w="28575">
            <a:solidFill>
              <a:srgbClr val="FFD9D0">
                <a:alpha val="69804"/>
              </a:srgbClr>
            </a:solidFill>
            <a:miter/>
          </a:ln>
        </p:spPr>
        <p:txBody>
          <a:bodyPr lIns="45718" tIns="45718" rIns="45718" bIns="45718"/>
          <a:lstStyle/>
          <a:p>
            <a:pPr/>
          </a:p>
        </p:txBody>
      </p:sp>
      <p:pic>
        <p:nvPicPr>
          <p:cNvPr id="75" name="图片 45" descr="图片 45"/>
          <p:cNvPicPr>
            <a:picLocks noChangeAspect="1"/>
          </p:cNvPicPr>
          <p:nvPr/>
        </p:nvPicPr>
        <p:blipFill>
          <a:blip r:embed="rId2">
            <a:extLst/>
          </a:blip>
          <a:stretch>
            <a:fillRect/>
          </a:stretch>
        </p:blipFill>
        <p:spPr>
          <a:xfrm>
            <a:off x="9439909" y="326390"/>
            <a:ext cx="2517141" cy="295277"/>
          </a:xfrm>
          <a:prstGeom prst="rect">
            <a:avLst/>
          </a:prstGeom>
          <a:ln w="12700">
            <a:miter lim="400000"/>
          </a:ln>
        </p:spPr>
      </p:pic>
      <p:pic>
        <p:nvPicPr>
          <p:cNvPr id="76" name="图片 46" descr="图片 46"/>
          <p:cNvPicPr>
            <a:picLocks noChangeAspect="1"/>
          </p:cNvPicPr>
          <p:nvPr/>
        </p:nvPicPr>
        <p:blipFill>
          <a:blip r:embed="rId3">
            <a:extLst/>
          </a:blip>
          <a:srcRect l="24" t="0" r="24" b="0"/>
          <a:stretch>
            <a:fillRect/>
          </a:stretch>
        </p:blipFill>
        <p:spPr>
          <a:xfrm flipH="1">
            <a:off x="635" y="5525770"/>
            <a:ext cx="2955290" cy="1331597"/>
          </a:xfrm>
          <a:prstGeom prst="rect">
            <a:avLst/>
          </a:prstGeom>
          <a:ln w="12700">
            <a:miter lim="400000"/>
          </a:ln>
        </p:spPr>
      </p:pic>
      <p:pic>
        <p:nvPicPr>
          <p:cNvPr id="77" name="图片 12" descr="图片 12"/>
          <p:cNvPicPr>
            <a:picLocks noChangeAspect="1"/>
          </p:cNvPicPr>
          <p:nvPr/>
        </p:nvPicPr>
        <p:blipFill>
          <a:blip r:embed="rId4">
            <a:extLst/>
          </a:blip>
          <a:srcRect l="0" t="0" r="266" b="0"/>
          <a:stretch>
            <a:fillRect/>
          </a:stretch>
        </p:blipFill>
        <p:spPr>
          <a:xfrm>
            <a:off x="11129209" y="6571615"/>
            <a:ext cx="827843" cy="210187"/>
          </a:xfrm>
          <a:prstGeom prst="rect">
            <a:avLst/>
          </a:prstGeom>
          <a:ln w="12700">
            <a:miter lim="400000"/>
          </a:ln>
        </p:spPr>
      </p:pic>
      <p:sp>
        <p:nvSpPr>
          <p:cNvPr id="78" name="Body Level One…"/>
          <p:cNvSpPr txBox="1"/>
          <p:nvPr>
            <p:ph type="body" sz="quarter" idx="1" hasCustomPrompt="1"/>
          </p:nvPr>
        </p:nvSpPr>
        <p:spPr>
          <a:xfrm>
            <a:off x="221615" y="267333"/>
            <a:ext cx="7964807" cy="399417"/>
          </a:xfrm>
          <a:prstGeom prst="rect">
            <a:avLst/>
          </a:prstGeom>
        </p:spPr>
        <p:txBody>
          <a:bodyPr lIns="34290" tIns="34290" rIns="34290" bIns="34290" anchor="ctr">
            <a:normAutofit fontScale="100000" lnSpcReduction="0"/>
          </a:bodyPr>
          <a:lstStyle>
            <a:lvl1pPr marL="0" indent="0">
              <a:lnSpc>
                <a:spcPct val="100000"/>
              </a:lnSpc>
              <a:buSzTx/>
              <a:buFontTx/>
              <a:buNone/>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1pPr>
            <a:lvl2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2pPr>
            <a:lvl3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3pPr>
            <a:lvl4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4pPr>
            <a:lvl5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5pPr>
          </a:lstStyle>
          <a:p>
            <a:pPr/>
            <a:r>
              <a:t>Title</a:t>
            </a:r>
          </a:p>
          <a:p>
            <a:pPr lvl="1"/>
            <a:r>
              <a:t/>
            </a:r>
          </a:p>
          <a:p>
            <a:pPr lvl="2"/>
            <a:r>
              <a:t/>
            </a:r>
          </a:p>
          <a:p>
            <a:pPr lvl="3"/>
            <a:r>
              <a:t/>
            </a:r>
          </a:p>
          <a:p>
            <a:pPr lvl="4"/>
            <a:r>
              <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6_节标题">
    <p:spTree>
      <p:nvGrpSpPr>
        <p:cNvPr id="1" name=""/>
        <p:cNvGrpSpPr/>
        <p:nvPr/>
      </p:nvGrpSpPr>
      <p:grpSpPr>
        <a:xfrm>
          <a:off x="0" y="0"/>
          <a:ext cx="0" cy="0"/>
          <a:chOff x="0" y="0"/>
          <a:chExt cx="0" cy="0"/>
        </a:xfrm>
      </p:grpSpPr>
      <p:sp>
        <p:nvSpPr>
          <p:cNvPr id="86" name="矩形 40"/>
          <p:cNvSpPr/>
          <p:nvPr/>
        </p:nvSpPr>
        <p:spPr>
          <a:xfrm>
            <a:off x="633" y="6496050"/>
            <a:ext cx="12191369"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87" name="直接连接符 8"/>
          <p:cNvSpPr/>
          <p:nvPr/>
        </p:nvSpPr>
        <p:spPr>
          <a:xfrm>
            <a:off x="1794934" y="723900"/>
            <a:ext cx="10397067" cy="0"/>
          </a:xfrm>
          <a:prstGeom prst="line">
            <a:avLst/>
          </a:prstGeom>
          <a:ln w="28575">
            <a:solidFill>
              <a:srgbClr val="285091"/>
            </a:solidFill>
            <a:miter/>
          </a:ln>
        </p:spPr>
        <p:txBody>
          <a:bodyPr lIns="45718" tIns="45718" rIns="45718" bIns="45718"/>
          <a:lstStyle/>
          <a:p>
            <a:pPr/>
          </a:p>
        </p:txBody>
      </p:sp>
      <p:sp>
        <p:nvSpPr>
          <p:cNvPr id="88" name="直接连接符 11"/>
          <p:cNvSpPr/>
          <p:nvPr/>
        </p:nvSpPr>
        <p:spPr>
          <a:xfrm>
            <a:off x="221771" y="723900"/>
            <a:ext cx="1573531" cy="0"/>
          </a:xfrm>
          <a:prstGeom prst="line">
            <a:avLst/>
          </a:prstGeom>
          <a:ln w="28575">
            <a:solidFill>
              <a:srgbClr val="FFD9D0">
                <a:alpha val="69804"/>
              </a:srgbClr>
            </a:solidFill>
            <a:miter/>
          </a:ln>
        </p:spPr>
        <p:txBody>
          <a:bodyPr lIns="45718" tIns="45718" rIns="45718" bIns="45718"/>
          <a:lstStyle/>
          <a:p>
            <a:pPr/>
          </a:p>
        </p:txBody>
      </p:sp>
      <p:pic>
        <p:nvPicPr>
          <p:cNvPr id="89" name="图片 45" descr="图片 45"/>
          <p:cNvPicPr>
            <a:picLocks noChangeAspect="1"/>
          </p:cNvPicPr>
          <p:nvPr/>
        </p:nvPicPr>
        <p:blipFill>
          <a:blip r:embed="rId2">
            <a:extLst/>
          </a:blip>
          <a:stretch>
            <a:fillRect/>
          </a:stretch>
        </p:blipFill>
        <p:spPr>
          <a:xfrm>
            <a:off x="9439909" y="326390"/>
            <a:ext cx="2517141" cy="295277"/>
          </a:xfrm>
          <a:prstGeom prst="rect">
            <a:avLst/>
          </a:prstGeom>
          <a:ln w="12700">
            <a:miter lim="400000"/>
          </a:ln>
        </p:spPr>
      </p:pic>
      <p:pic>
        <p:nvPicPr>
          <p:cNvPr id="90" name="图片 46" descr="图片 46"/>
          <p:cNvPicPr>
            <a:picLocks noChangeAspect="1"/>
          </p:cNvPicPr>
          <p:nvPr/>
        </p:nvPicPr>
        <p:blipFill>
          <a:blip r:embed="rId3">
            <a:extLst/>
          </a:blip>
          <a:srcRect l="24" t="0" r="24" b="0"/>
          <a:stretch>
            <a:fillRect/>
          </a:stretch>
        </p:blipFill>
        <p:spPr>
          <a:xfrm flipH="1">
            <a:off x="635" y="5525770"/>
            <a:ext cx="2955290" cy="1331597"/>
          </a:xfrm>
          <a:prstGeom prst="rect">
            <a:avLst/>
          </a:prstGeom>
          <a:ln w="12700">
            <a:miter lim="400000"/>
          </a:ln>
        </p:spPr>
      </p:pic>
      <p:pic>
        <p:nvPicPr>
          <p:cNvPr id="91" name="图片 12" descr="图片 12"/>
          <p:cNvPicPr>
            <a:picLocks noChangeAspect="1"/>
          </p:cNvPicPr>
          <p:nvPr/>
        </p:nvPicPr>
        <p:blipFill>
          <a:blip r:embed="rId4">
            <a:extLst/>
          </a:blip>
          <a:srcRect l="0" t="0" r="266" b="0"/>
          <a:stretch>
            <a:fillRect/>
          </a:stretch>
        </p:blipFill>
        <p:spPr>
          <a:xfrm>
            <a:off x="11129209" y="6571615"/>
            <a:ext cx="827843" cy="210187"/>
          </a:xfrm>
          <a:prstGeom prst="rect">
            <a:avLst/>
          </a:prstGeom>
          <a:ln w="12700">
            <a:miter lim="400000"/>
          </a:ln>
        </p:spPr>
      </p:pic>
      <p:sp>
        <p:nvSpPr>
          <p:cNvPr id="92" name="Body Level One…"/>
          <p:cNvSpPr txBox="1"/>
          <p:nvPr>
            <p:ph type="body" sz="quarter" idx="1" hasCustomPrompt="1"/>
          </p:nvPr>
        </p:nvSpPr>
        <p:spPr>
          <a:xfrm>
            <a:off x="221615" y="267333"/>
            <a:ext cx="7964807" cy="399417"/>
          </a:xfrm>
          <a:prstGeom prst="rect">
            <a:avLst/>
          </a:prstGeom>
        </p:spPr>
        <p:txBody>
          <a:bodyPr lIns="34290" tIns="34290" rIns="34290" bIns="34290" anchor="ctr">
            <a:normAutofit fontScale="100000" lnSpcReduction="0"/>
          </a:bodyPr>
          <a:lstStyle>
            <a:lvl1pPr marL="0" indent="0">
              <a:lnSpc>
                <a:spcPct val="100000"/>
              </a:lnSpc>
              <a:buSzTx/>
              <a:buFontTx/>
              <a:buNone/>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1pPr>
            <a:lvl2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2pPr>
            <a:lvl3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3pPr>
            <a:lvl4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4pPr>
            <a:lvl5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5pPr>
          </a:lstStyle>
          <a:p>
            <a:pPr/>
            <a:r>
              <a:t>Title</a:t>
            </a:r>
          </a:p>
          <a:p>
            <a:pPr lvl="1"/>
            <a:r>
              <a:t/>
            </a:r>
          </a:p>
          <a:p>
            <a:pPr lvl="2"/>
            <a:r>
              <a:t/>
            </a:r>
          </a:p>
          <a:p>
            <a:pPr lvl="3"/>
            <a:r>
              <a:t/>
            </a:r>
          </a:p>
          <a:p>
            <a:pPr lvl="4"/>
            <a:r>
              <a:t/>
            </a:r>
          </a:p>
        </p:txBody>
      </p:sp>
      <p:sp>
        <p:nvSpPr>
          <p:cNvPr id="93" name="图片占位符 2"/>
          <p:cNvSpPr/>
          <p:nvPr>
            <p:ph type="pic" sz="half" idx="21"/>
          </p:nvPr>
        </p:nvSpPr>
        <p:spPr>
          <a:xfrm>
            <a:off x="5457190" y="1449705"/>
            <a:ext cx="6172202" cy="4679316"/>
          </a:xfrm>
          <a:prstGeom prst="rect">
            <a:avLst/>
          </a:prstGeom>
        </p:spPr>
        <p:txBody>
          <a:bodyPr lIns="91439" tIns="45719" rIns="91439" bIns="45719"/>
          <a:lstStyle/>
          <a:p>
            <a:pPr/>
          </a:p>
        </p:txBody>
      </p:sp>
      <p:sp>
        <p:nvSpPr>
          <p:cNvPr id="94" name="Click here"/>
          <p:cNvSpPr txBox="1"/>
          <p:nvPr>
            <p:ph type="title" hasCustomPrompt="1"/>
          </p:nvPr>
        </p:nvSpPr>
        <p:spPr>
          <a:xfrm>
            <a:off x="518159" y="1449705"/>
            <a:ext cx="4698368" cy="4679952"/>
          </a:xfrm>
          <a:prstGeom prst="rect">
            <a:avLst/>
          </a:prstGeom>
        </p:spPr>
        <p:txBody>
          <a:bodyPr anchor="t">
            <a:normAutofit fontScale="100000" lnSpcReduction="0"/>
          </a:bodyPr>
          <a:lstStyle>
            <a:lvl1pPr>
              <a:lnSpc>
                <a:spcPct val="120000"/>
              </a:lnSpc>
              <a:defRPr sz="2000">
                <a:solidFill>
                  <a:srgbClr val="0A2540"/>
                </a:solidFill>
                <a:latin typeface="Arial"/>
                <a:ea typeface="Arial"/>
                <a:cs typeface="Arial"/>
                <a:sym typeface="Arial"/>
              </a:defRPr>
            </a:lvl1pPr>
          </a:lstStyle>
          <a:p>
            <a:pPr/>
            <a:r>
              <a:t>Click here</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标题幻灯片">
    <p:spTree>
      <p:nvGrpSpPr>
        <p:cNvPr id="1" name=""/>
        <p:cNvGrpSpPr/>
        <p:nvPr/>
      </p:nvGrpSpPr>
      <p:grpSpPr>
        <a:xfrm>
          <a:off x="0" y="0"/>
          <a:ext cx="0" cy="0"/>
          <a:chOff x="0" y="0"/>
          <a:chExt cx="0" cy="0"/>
        </a:xfrm>
      </p:grpSpPr>
      <p:pic>
        <p:nvPicPr>
          <p:cNvPr id="102" name="图片 2" descr="图片 2"/>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103" name="图片 12" descr="图片 12"/>
          <p:cNvPicPr>
            <a:picLocks noChangeAspect="1"/>
          </p:cNvPicPr>
          <p:nvPr/>
        </p:nvPicPr>
        <p:blipFill>
          <a:blip r:embed="rId3">
            <a:extLst/>
          </a:blip>
          <a:srcRect l="0" t="0" r="266" b="0"/>
          <a:stretch>
            <a:fillRect/>
          </a:stretch>
        </p:blipFill>
        <p:spPr>
          <a:xfrm>
            <a:off x="550586" y="469900"/>
            <a:ext cx="1400770" cy="355600"/>
          </a:xfrm>
          <a:prstGeom prst="rect">
            <a:avLst/>
          </a:prstGeom>
          <a:ln w="12700">
            <a:miter lim="400000"/>
          </a:ln>
        </p:spPr>
      </p:pic>
      <p:pic>
        <p:nvPicPr>
          <p:cNvPr id="104" name="图片 5" descr="图片 5"/>
          <p:cNvPicPr>
            <a:picLocks noChangeAspect="1"/>
          </p:cNvPicPr>
          <p:nvPr/>
        </p:nvPicPr>
        <p:blipFill>
          <a:blip r:embed="rId4">
            <a:extLst/>
          </a:blip>
          <a:stretch>
            <a:fillRect/>
          </a:stretch>
        </p:blipFill>
        <p:spPr>
          <a:xfrm>
            <a:off x="8785859" y="507365"/>
            <a:ext cx="3030857" cy="355602"/>
          </a:xfrm>
          <a:prstGeom prst="rect">
            <a:avLst/>
          </a:prstGeom>
          <a:ln w="12700">
            <a:miter lim="400000"/>
          </a:ln>
        </p:spPr>
      </p:pic>
      <p:sp>
        <p:nvSpPr>
          <p:cNvPr id="105" name="Body Level One…"/>
          <p:cNvSpPr txBox="1"/>
          <p:nvPr>
            <p:ph type="body" sz="half" idx="1" hasCustomPrompt="1"/>
          </p:nvPr>
        </p:nvSpPr>
        <p:spPr>
          <a:xfrm>
            <a:off x="405129" y="2157095"/>
            <a:ext cx="8556626" cy="2002155"/>
          </a:xfrm>
          <a:prstGeom prst="rect">
            <a:avLst/>
          </a:prstGeom>
        </p:spPr>
        <p:txBody>
          <a:bodyPr lIns="34290" tIns="34290" rIns="34290" bIns="34290" anchor="ctr">
            <a:normAutofit fontScale="100000" lnSpcReduction="0"/>
          </a:bodyPr>
          <a:lstStyle>
            <a:lvl1pPr marL="0" indent="0">
              <a:buSzTx/>
              <a:buFontTx/>
              <a:buNone/>
              <a:defRPr b="1" sz="9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1pPr>
            <a:lvl2pPr marL="1371600" indent="-914400">
              <a:buFontTx/>
              <a:defRPr b="1" sz="9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2pPr>
            <a:lvl3pPr marL="2011678" indent="-1097278">
              <a:buFontTx/>
              <a:defRPr b="1" sz="9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3pPr>
            <a:lvl4pPr marL="2590800" indent="-1219200">
              <a:buFontTx/>
              <a:defRPr b="1" sz="9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4pPr>
            <a:lvl5pPr marL="3048000" indent="-1219200">
              <a:buFontTx/>
              <a:defRPr b="1" sz="9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5pPr>
          </a:lstStyle>
          <a:p>
            <a:pPr/>
            <a:r>
              <a:t>Thanks！</a:t>
            </a:r>
          </a:p>
          <a:p>
            <a:pPr lvl="1"/>
            <a:r>
              <a:t/>
            </a:r>
          </a:p>
          <a:p>
            <a:pPr lvl="2"/>
            <a:r>
              <a:t/>
            </a:r>
          </a:p>
          <a:p>
            <a:pPr lvl="3"/>
            <a:r>
              <a:t/>
            </a:r>
          </a:p>
          <a:p>
            <a:pPr lvl="4"/>
            <a:r>
              <a:t/>
            </a:r>
          </a:p>
        </p:txBody>
      </p:sp>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_节标题">
    <p:spTree>
      <p:nvGrpSpPr>
        <p:cNvPr id="1" name=""/>
        <p:cNvGrpSpPr/>
        <p:nvPr/>
      </p:nvGrpSpPr>
      <p:grpSpPr>
        <a:xfrm>
          <a:off x="0" y="0"/>
          <a:ext cx="0" cy="0"/>
          <a:chOff x="0" y="0"/>
          <a:chExt cx="0" cy="0"/>
        </a:xfrm>
      </p:grpSpPr>
      <p:sp>
        <p:nvSpPr>
          <p:cNvPr id="113" name="矩形 40"/>
          <p:cNvSpPr/>
          <p:nvPr/>
        </p:nvSpPr>
        <p:spPr>
          <a:xfrm>
            <a:off x="632" y="6496050"/>
            <a:ext cx="12191371"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114" name="直接连接符 8"/>
          <p:cNvSpPr/>
          <p:nvPr/>
        </p:nvSpPr>
        <p:spPr>
          <a:xfrm>
            <a:off x="1794934" y="723900"/>
            <a:ext cx="10397067" cy="0"/>
          </a:xfrm>
          <a:prstGeom prst="line">
            <a:avLst/>
          </a:prstGeom>
          <a:ln w="28575">
            <a:solidFill>
              <a:srgbClr val="285091"/>
            </a:solidFill>
            <a:miter/>
          </a:ln>
        </p:spPr>
        <p:txBody>
          <a:bodyPr lIns="45718" tIns="45718" rIns="45718" bIns="45718"/>
          <a:lstStyle/>
          <a:p>
            <a:pPr/>
          </a:p>
        </p:txBody>
      </p:sp>
      <p:sp>
        <p:nvSpPr>
          <p:cNvPr id="115" name="直接连接符 11"/>
          <p:cNvSpPr/>
          <p:nvPr/>
        </p:nvSpPr>
        <p:spPr>
          <a:xfrm>
            <a:off x="221771" y="723900"/>
            <a:ext cx="1573531" cy="0"/>
          </a:xfrm>
          <a:prstGeom prst="line">
            <a:avLst/>
          </a:prstGeom>
          <a:ln w="28575">
            <a:solidFill>
              <a:srgbClr val="FFD9D0">
                <a:alpha val="69804"/>
              </a:srgbClr>
            </a:solidFill>
            <a:miter/>
          </a:ln>
        </p:spPr>
        <p:txBody>
          <a:bodyPr lIns="45718" tIns="45718" rIns="45718" bIns="45718"/>
          <a:lstStyle/>
          <a:p>
            <a:pPr/>
          </a:p>
        </p:txBody>
      </p:sp>
      <p:pic>
        <p:nvPicPr>
          <p:cNvPr id="116" name="图片 45" descr="图片 45"/>
          <p:cNvPicPr>
            <a:picLocks noChangeAspect="1"/>
          </p:cNvPicPr>
          <p:nvPr/>
        </p:nvPicPr>
        <p:blipFill>
          <a:blip r:embed="rId2">
            <a:extLst/>
          </a:blip>
          <a:stretch>
            <a:fillRect/>
          </a:stretch>
        </p:blipFill>
        <p:spPr>
          <a:xfrm>
            <a:off x="9439909" y="326390"/>
            <a:ext cx="2517141" cy="295278"/>
          </a:xfrm>
          <a:prstGeom prst="rect">
            <a:avLst/>
          </a:prstGeom>
          <a:ln w="12700">
            <a:miter lim="400000"/>
          </a:ln>
        </p:spPr>
      </p:pic>
      <p:pic>
        <p:nvPicPr>
          <p:cNvPr id="117" name="图片 46" descr="图片 46"/>
          <p:cNvPicPr>
            <a:picLocks noChangeAspect="1"/>
          </p:cNvPicPr>
          <p:nvPr/>
        </p:nvPicPr>
        <p:blipFill>
          <a:blip r:embed="rId3">
            <a:extLst/>
          </a:blip>
          <a:srcRect l="24" t="0" r="24" b="0"/>
          <a:stretch>
            <a:fillRect/>
          </a:stretch>
        </p:blipFill>
        <p:spPr>
          <a:xfrm flipH="1">
            <a:off x="635" y="5525770"/>
            <a:ext cx="2955290" cy="1331598"/>
          </a:xfrm>
          <a:prstGeom prst="rect">
            <a:avLst/>
          </a:prstGeom>
          <a:ln w="12700">
            <a:miter lim="400000"/>
          </a:ln>
        </p:spPr>
      </p:pic>
      <p:pic>
        <p:nvPicPr>
          <p:cNvPr id="118" name="图片 12" descr="图片 12"/>
          <p:cNvPicPr>
            <a:picLocks noChangeAspect="1"/>
          </p:cNvPicPr>
          <p:nvPr/>
        </p:nvPicPr>
        <p:blipFill>
          <a:blip r:embed="rId4">
            <a:extLst/>
          </a:blip>
          <a:srcRect l="0" t="0" r="265" b="0"/>
          <a:stretch>
            <a:fillRect/>
          </a:stretch>
        </p:blipFill>
        <p:spPr>
          <a:xfrm>
            <a:off x="11129209" y="6571615"/>
            <a:ext cx="827844" cy="210188"/>
          </a:xfrm>
          <a:prstGeom prst="rect">
            <a:avLst/>
          </a:prstGeom>
          <a:ln w="12700">
            <a:miter lim="400000"/>
          </a:ln>
        </p:spPr>
      </p:pic>
      <p:sp>
        <p:nvSpPr>
          <p:cNvPr id="119" name="Click here"/>
          <p:cNvSpPr txBox="1"/>
          <p:nvPr>
            <p:ph type="title" hasCustomPrompt="1"/>
          </p:nvPr>
        </p:nvSpPr>
        <p:spPr>
          <a:xfrm>
            <a:off x="518159" y="1094105"/>
            <a:ext cx="11160002" cy="5040001"/>
          </a:xfrm>
          <a:prstGeom prst="rect">
            <a:avLst/>
          </a:prstGeom>
        </p:spPr>
        <p:txBody>
          <a:bodyPr lIns="45718" tIns="45718" rIns="45718" bIns="45718" anchor="t">
            <a:normAutofit fontScale="100000" lnSpcReduction="0"/>
          </a:bodyPr>
          <a:lstStyle>
            <a:lvl1pPr>
              <a:lnSpc>
                <a:spcPct val="120000"/>
              </a:lnSpc>
              <a:defRPr sz="2000">
                <a:solidFill>
                  <a:srgbClr val="0A2540"/>
                </a:solidFill>
                <a:latin typeface="Arial"/>
                <a:ea typeface="Arial"/>
                <a:cs typeface="Arial"/>
                <a:sym typeface="Arial"/>
              </a:defRPr>
            </a:lvl1pPr>
          </a:lstStyle>
          <a:p>
            <a:pPr/>
            <a:r>
              <a:t>Click here</a:t>
            </a:r>
          </a:p>
        </p:txBody>
      </p:sp>
      <p:sp>
        <p:nvSpPr>
          <p:cNvPr id="120" name="Body Level One…"/>
          <p:cNvSpPr txBox="1"/>
          <p:nvPr>
            <p:ph type="body" sz="quarter" idx="1" hasCustomPrompt="1"/>
          </p:nvPr>
        </p:nvSpPr>
        <p:spPr>
          <a:xfrm>
            <a:off x="221615" y="267333"/>
            <a:ext cx="7964807" cy="399417"/>
          </a:xfrm>
          <a:prstGeom prst="rect">
            <a:avLst/>
          </a:prstGeom>
        </p:spPr>
        <p:txBody>
          <a:bodyPr lIns="34290" tIns="34290" rIns="34290" bIns="34290" anchor="ctr">
            <a:normAutofit fontScale="100000" lnSpcReduction="0"/>
          </a:bodyPr>
          <a:lstStyle>
            <a:lvl1pPr marL="0" indent="0">
              <a:lnSpc>
                <a:spcPct val="100000"/>
              </a:lnSpc>
              <a:buSzTx/>
              <a:buFontTx/>
              <a:buNone/>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1pPr>
            <a:lvl2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2pPr>
            <a:lvl3pPr marL="1234438" indent="-320038">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3pPr>
            <a:lvl4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4pPr>
            <a:lvl5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5pPr>
          </a:lstStyle>
          <a:p>
            <a:pPr/>
            <a:r>
              <a:t>Title</a:t>
            </a:r>
          </a:p>
          <a:p>
            <a:pPr lvl="1"/>
            <a:r>
              <a:t/>
            </a:r>
          </a:p>
          <a:p>
            <a:pPr lvl="2"/>
            <a:r>
              <a:t/>
            </a:r>
          </a:p>
          <a:p>
            <a:pPr lvl="3"/>
            <a:r>
              <a:t/>
            </a:r>
          </a:p>
          <a:p>
            <a:pPr lvl="4"/>
            <a:r>
              <a:t/>
            </a:r>
          </a:p>
        </p:txBody>
      </p:sp>
      <p:sp>
        <p:nvSpPr>
          <p:cNvPr id="121" name="Slide Number"/>
          <p:cNvSpPr txBox="1"/>
          <p:nvPr>
            <p:ph type="sldNum" sz="quarter" idx="2"/>
          </p:nvPr>
        </p:nvSpPr>
        <p:spPr>
          <a:xfrm>
            <a:off x="8463948" y="6221732"/>
            <a:ext cx="273652" cy="269237"/>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_节标题">
    <p:spTree>
      <p:nvGrpSpPr>
        <p:cNvPr id="1" name=""/>
        <p:cNvGrpSpPr/>
        <p:nvPr/>
      </p:nvGrpSpPr>
      <p:grpSpPr>
        <a:xfrm>
          <a:off x="0" y="0"/>
          <a:ext cx="0" cy="0"/>
          <a:chOff x="0" y="0"/>
          <a:chExt cx="0" cy="0"/>
        </a:xfrm>
      </p:grpSpPr>
      <p:sp>
        <p:nvSpPr>
          <p:cNvPr id="128" name="矩形 40"/>
          <p:cNvSpPr/>
          <p:nvPr/>
        </p:nvSpPr>
        <p:spPr>
          <a:xfrm>
            <a:off x="631" y="6496050"/>
            <a:ext cx="12191373" cy="361317"/>
          </a:xfrm>
          <a:prstGeom prst="rect">
            <a:avLst/>
          </a:prstGeom>
          <a:gradFill>
            <a:gsLst>
              <a:gs pos="0">
                <a:srgbClr val="CEAA5B"/>
              </a:gs>
              <a:gs pos="15000">
                <a:srgbClr val="F7DB8F"/>
              </a:gs>
              <a:gs pos="50000">
                <a:srgbClr val="456E95"/>
              </a:gs>
              <a:gs pos="100000">
                <a:srgbClr val="293655"/>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129" name="直接连接符 8"/>
          <p:cNvSpPr/>
          <p:nvPr/>
        </p:nvSpPr>
        <p:spPr>
          <a:xfrm>
            <a:off x="1794934" y="723900"/>
            <a:ext cx="10397067" cy="0"/>
          </a:xfrm>
          <a:prstGeom prst="line">
            <a:avLst/>
          </a:prstGeom>
          <a:ln w="28575">
            <a:solidFill>
              <a:srgbClr val="285091"/>
            </a:solidFill>
            <a:miter/>
          </a:ln>
        </p:spPr>
        <p:txBody>
          <a:bodyPr lIns="45718" tIns="45718" rIns="45718" bIns="45718"/>
          <a:lstStyle/>
          <a:p>
            <a:pPr/>
          </a:p>
        </p:txBody>
      </p:sp>
      <p:sp>
        <p:nvSpPr>
          <p:cNvPr id="130" name="直接连接符 11"/>
          <p:cNvSpPr/>
          <p:nvPr/>
        </p:nvSpPr>
        <p:spPr>
          <a:xfrm>
            <a:off x="221771" y="723900"/>
            <a:ext cx="1573531" cy="0"/>
          </a:xfrm>
          <a:prstGeom prst="line">
            <a:avLst/>
          </a:prstGeom>
          <a:ln w="28575">
            <a:solidFill>
              <a:srgbClr val="FFD9D0">
                <a:alpha val="69804"/>
              </a:srgbClr>
            </a:solidFill>
            <a:miter/>
          </a:ln>
        </p:spPr>
        <p:txBody>
          <a:bodyPr lIns="45718" tIns="45718" rIns="45718" bIns="45718"/>
          <a:lstStyle/>
          <a:p>
            <a:pPr/>
          </a:p>
        </p:txBody>
      </p:sp>
      <p:pic>
        <p:nvPicPr>
          <p:cNvPr id="131" name="图片 45" descr="图片 45"/>
          <p:cNvPicPr>
            <a:picLocks noChangeAspect="1"/>
          </p:cNvPicPr>
          <p:nvPr/>
        </p:nvPicPr>
        <p:blipFill>
          <a:blip r:embed="rId2">
            <a:extLst/>
          </a:blip>
          <a:stretch>
            <a:fillRect/>
          </a:stretch>
        </p:blipFill>
        <p:spPr>
          <a:xfrm>
            <a:off x="9439909" y="326390"/>
            <a:ext cx="2517141" cy="295279"/>
          </a:xfrm>
          <a:prstGeom prst="rect">
            <a:avLst/>
          </a:prstGeom>
          <a:ln w="12700">
            <a:miter lim="400000"/>
          </a:ln>
        </p:spPr>
      </p:pic>
      <p:pic>
        <p:nvPicPr>
          <p:cNvPr id="132" name="图片 46" descr="图片 46"/>
          <p:cNvPicPr>
            <a:picLocks noChangeAspect="1"/>
          </p:cNvPicPr>
          <p:nvPr/>
        </p:nvPicPr>
        <p:blipFill>
          <a:blip r:embed="rId3">
            <a:extLst/>
          </a:blip>
          <a:srcRect l="24" t="0" r="24" b="0"/>
          <a:stretch>
            <a:fillRect/>
          </a:stretch>
        </p:blipFill>
        <p:spPr>
          <a:xfrm flipH="1">
            <a:off x="635" y="5525770"/>
            <a:ext cx="2955290" cy="1331599"/>
          </a:xfrm>
          <a:prstGeom prst="rect">
            <a:avLst/>
          </a:prstGeom>
          <a:ln w="12700">
            <a:miter lim="400000"/>
          </a:ln>
        </p:spPr>
      </p:pic>
      <p:pic>
        <p:nvPicPr>
          <p:cNvPr id="133" name="图片 12" descr="图片 12"/>
          <p:cNvPicPr>
            <a:picLocks noChangeAspect="1"/>
          </p:cNvPicPr>
          <p:nvPr/>
        </p:nvPicPr>
        <p:blipFill>
          <a:blip r:embed="rId4">
            <a:extLst/>
          </a:blip>
          <a:srcRect l="0" t="0" r="264" b="0"/>
          <a:stretch>
            <a:fillRect/>
          </a:stretch>
        </p:blipFill>
        <p:spPr>
          <a:xfrm>
            <a:off x="11129209" y="6571615"/>
            <a:ext cx="827845" cy="210189"/>
          </a:xfrm>
          <a:prstGeom prst="rect">
            <a:avLst/>
          </a:prstGeom>
          <a:ln w="12700">
            <a:miter lim="400000"/>
          </a:ln>
        </p:spPr>
      </p:pic>
      <p:sp>
        <p:nvSpPr>
          <p:cNvPr id="134" name="Click here"/>
          <p:cNvSpPr txBox="1"/>
          <p:nvPr>
            <p:ph type="title" hasCustomPrompt="1"/>
          </p:nvPr>
        </p:nvSpPr>
        <p:spPr>
          <a:xfrm>
            <a:off x="518159" y="1094105"/>
            <a:ext cx="11160002" cy="5040001"/>
          </a:xfrm>
          <a:prstGeom prst="rect">
            <a:avLst/>
          </a:prstGeom>
        </p:spPr>
        <p:txBody>
          <a:bodyPr lIns="45718" tIns="45718" rIns="45718" bIns="45718" anchor="t">
            <a:normAutofit fontScale="100000" lnSpcReduction="0"/>
          </a:bodyPr>
          <a:lstStyle>
            <a:lvl1pPr>
              <a:lnSpc>
                <a:spcPct val="120000"/>
              </a:lnSpc>
              <a:defRPr sz="2000">
                <a:solidFill>
                  <a:srgbClr val="0A2540"/>
                </a:solidFill>
                <a:latin typeface="Arial"/>
                <a:ea typeface="Arial"/>
                <a:cs typeface="Arial"/>
                <a:sym typeface="Arial"/>
              </a:defRPr>
            </a:lvl1pPr>
          </a:lstStyle>
          <a:p>
            <a:pPr/>
            <a:r>
              <a:t>Click here</a:t>
            </a:r>
          </a:p>
        </p:txBody>
      </p:sp>
      <p:sp>
        <p:nvSpPr>
          <p:cNvPr id="135" name="Body Level One…"/>
          <p:cNvSpPr txBox="1"/>
          <p:nvPr>
            <p:ph type="body" sz="quarter" idx="1" hasCustomPrompt="1"/>
          </p:nvPr>
        </p:nvSpPr>
        <p:spPr>
          <a:xfrm>
            <a:off x="221615" y="267333"/>
            <a:ext cx="7964807" cy="399417"/>
          </a:xfrm>
          <a:prstGeom prst="rect">
            <a:avLst/>
          </a:prstGeom>
        </p:spPr>
        <p:txBody>
          <a:bodyPr lIns="34290" tIns="34290" rIns="34290" bIns="34290" anchor="ctr">
            <a:normAutofit fontScale="100000" lnSpcReduction="0"/>
          </a:bodyPr>
          <a:lstStyle>
            <a:lvl1pPr marL="0" indent="0">
              <a:lnSpc>
                <a:spcPct val="100000"/>
              </a:lnSpc>
              <a:buSzTx/>
              <a:buFontTx/>
              <a:buNone/>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1pPr>
            <a:lvl2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2pPr>
            <a:lvl3pPr marL="1234438" indent="-320038">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3pPr>
            <a:lvl4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4pPr>
            <a:lvl5pPr>
              <a:lnSpc>
                <a:spcPct val="100000"/>
              </a:lnSpc>
              <a:buFontTx/>
              <a:defRPr b="1">
                <a:gradFill flip="none" rotWithShape="1">
                  <a:gsLst>
                    <a:gs pos="0">
                      <a:srgbClr val="91D2DD"/>
                    </a:gs>
                    <a:gs pos="45000">
                      <a:srgbClr val="6292BF"/>
                    </a:gs>
                    <a:gs pos="100000">
                      <a:srgbClr val="285091"/>
                    </a:gs>
                  </a:gsLst>
                  <a:lin ang="10800000" scaled="0"/>
                </a:gradFill>
                <a:latin typeface="Arial"/>
                <a:ea typeface="Arial"/>
                <a:cs typeface="Arial"/>
                <a:sym typeface="Arial"/>
              </a:defRPr>
            </a:lvl5pPr>
          </a:lstStyle>
          <a:p>
            <a:pPr/>
            <a:r>
              <a:t>Title</a:t>
            </a:r>
          </a:p>
          <a:p>
            <a:pPr lvl="1"/>
            <a:r>
              <a:t/>
            </a:r>
          </a:p>
          <a:p>
            <a:pPr lvl="2"/>
            <a:r>
              <a:t/>
            </a:r>
          </a:p>
          <a:p>
            <a:pPr lvl="3"/>
            <a:r>
              <a:t/>
            </a:r>
          </a:p>
          <a:p>
            <a:pPr lvl="4"/>
            <a:r>
              <a:t/>
            </a:r>
          </a:p>
        </p:txBody>
      </p:sp>
      <p:sp>
        <p:nvSpPr>
          <p:cNvPr id="136" name="Slide Number"/>
          <p:cNvSpPr txBox="1"/>
          <p:nvPr>
            <p:ph type="sldNum" sz="quarter" idx="2"/>
          </p:nvPr>
        </p:nvSpPr>
        <p:spPr>
          <a:xfrm>
            <a:off x="8463948" y="6221732"/>
            <a:ext cx="273652" cy="269237"/>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图片 3" descr="图片 3"/>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3" name="图片 5" descr="图片 5"/>
          <p:cNvPicPr>
            <a:picLocks noChangeAspect="1"/>
          </p:cNvPicPr>
          <p:nvPr/>
        </p:nvPicPr>
        <p:blipFill>
          <a:blip r:embed="rId3">
            <a:extLst/>
          </a:blip>
          <a:stretch>
            <a:fillRect/>
          </a:stretch>
        </p:blipFill>
        <p:spPr>
          <a:xfrm>
            <a:off x="554355" y="580390"/>
            <a:ext cx="1892301" cy="480060"/>
          </a:xfrm>
          <a:prstGeom prst="rect">
            <a:avLst/>
          </a:prstGeom>
          <a:ln w="12700">
            <a:miter lim="400000"/>
          </a:ln>
        </p:spPr>
      </p:pic>
      <p:sp>
        <p:nvSpPr>
          <p:cNvPr id="4"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5"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8463946" y="6221731"/>
            <a:ext cx="273654" cy="269239"/>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Helvetic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0.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chart" Target="../charts/char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chart" Target="../charts/chart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2.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chart" Target="../charts/chart3.xml"/><Relationship Id="rId6" Type="http://schemas.openxmlformats.org/officeDocument/2006/relationships/chart" Target="../charts/chart4.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2.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chart" Target="../charts/chart5.xml"/><Relationship Id="rId6" Type="http://schemas.openxmlformats.org/officeDocument/2006/relationships/chart" Target="../charts/chart6.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chart" Target="../charts/chart7.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2.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2.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extBox 2"/>
          <p:cNvSpPr txBox="1"/>
          <p:nvPr/>
        </p:nvSpPr>
        <p:spPr>
          <a:xfrm>
            <a:off x="762000" y="2018083"/>
            <a:ext cx="10668000"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FFFFFF"/>
                </a:solidFill>
                <a:latin typeface="Arial"/>
                <a:ea typeface="Arial"/>
                <a:cs typeface="Arial"/>
                <a:sym typeface="Arial"/>
              </a:defRPr>
            </a:lvl1pPr>
          </a:lstStyle>
          <a:p>
            <a:pPr/>
            <a:r>
              <a:t>KV Caching for Agentic Inference</a:t>
            </a:r>
          </a:p>
        </p:txBody>
      </p:sp>
      <p:sp>
        <p:nvSpPr>
          <p:cNvPr id="146" name="TextBox 3"/>
          <p:cNvSpPr txBox="1"/>
          <p:nvPr/>
        </p:nvSpPr>
        <p:spPr>
          <a:xfrm>
            <a:off x="762000" y="2813049"/>
            <a:ext cx="99060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FFFFF"/>
                </a:solidFill>
                <a:latin typeface="+mj-lt"/>
                <a:ea typeface="+mj-ea"/>
                <a:cs typeface="+mj-cs"/>
                <a:sym typeface="Helvetica"/>
              </a:defRPr>
            </a:lvl1pPr>
          </a:lstStyle>
          <a:p>
            <a:pPr/>
            <a:r>
              <a:t>From RadixAttention to Unified Radix Cache</a:t>
            </a:r>
          </a:p>
        </p:txBody>
      </p:sp>
      <p:sp>
        <p:nvSpPr>
          <p:cNvPr id="147" name="Connector 4"/>
          <p:cNvSpPr/>
          <p:nvPr/>
        </p:nvSpPr>
        <p:spPr>
          <a:xfrm>
            <a:off x="762000" y="3562350"/>
            <a:ext cx="2381250" cy="0"/>
          </a:xfrm>
          <a:prstGeom prst="line">
            <a:avLst/>
          </a:prstGeom>
          <a:ln w="25400">
            <a:solidFill>
              <a:srgbClr val="3DCBF0"/>
            </a:solidFill>
            <a:miter/>
          </a:ln>
        </p:spPr>
        <p:txBody>
          <a:bodyPr lIns="45718" tIns="45718" rIns="45718" bIns="45718"/>
          <a:lstStyle/>
          <a:p>
            <a:pPr/>
          </a:p>
        </p:txBody>
      </p:sp>
      <p:sp>
        <p:nvSpPr>
          <p:cNvPr id="148" name="TextBox 5"/>
          <p:cNvSpPr txBox="1"/>
          <p:nvPr/>
        </p:nvSpPr>
        <p:spPr>
          <a:xfrm>
            <a:off x="762000" y="3860798"/>
            <a:ext cx="619125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FFFFF"/>
                </a:solidFill>
                <a:latin typeface="+mj-lt"/>
                <a:ea typeface="+mj-ea"/>
                <a:cs typeface="+mj-cs"/>
                <a:sym typeface="Helvetica"/>
              </a:defRPr>
            </a:lvl1pPr>
          </a:lstStyle>
          <a:p>
            <a:pPr/>
            <a:r>
              <a:t>Yichi Zhang</a:t>
            </a:r>
          </a:p>
        </p:txBody>
      </p:sp>
      <p:sp>
        <p:nvSpPr>
          <p:cNvPr id="149" name="TextBox 6"/>
          <p:cNvSpPr txBox="1"/>
          <p:nvPr/>
        </p:nvSpPr>
        <p:spPr>
          <a:xfrm>
            <a:off x="762000" y="4403947"/>
            <a:ext cx="7048500"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FFFFFF"/>
                </a:solidFill>
                <a:latin typeface="Arial"/>
                <a:ea typeface="Arial"/>
                <a:cs typeface="Arial"/>
                <a:sym typeface="Arial"/>
              </a:defRPr>
            </a:lvl1pPr>
          </a:lstStyle>
          <a:p>
            <a:pPr/>
            <a:r>
              <a:t>RadixArk Member of Technical Staff</a:t>
            </a:r>
          </a:p>
        </p:txBody>
      </p:sp>
      <p:pic>
        <p:nvPicPr>
          <p:cNvPr id="150" name="Picture 7" descr="Picture 7"/>
          <p:cNvPicPr>
            <a:picLocks noChangeAspect="1"/>
          </p:cNvPicPr>
          <p:nvPr/>
        </p:nvPicPr>
        <p:blipFill>
          <a:blip r:embed="rId2">
            <a:extLst/>
          </a:blip>
          <a:stretch>
            <a:fillRect/>
          </a:stretch>
        </p:blipFill>
        <p:spPr>
          <a:xfrm>
            <a:off x="762000" y="5133975"/>
            <a:ext cx="1562100" cy="475299"/>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2" name="Picture 2" descr="Picture 2"/>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sp>
        <p:nvSpPr>
          <p:cNvPr id="153" name="v-2"/>
          <p:cNvSpPr txBox="1"/>
          <p:nvPr/>
        </p:nvSpPr>
        <p:spPr>
          <a:xfrm>
            <a:off x="845819" y="2048416"/>
            <a:ext cx="575312" cy="43706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400">
                <a:solidFill>
                  <a:srgbClr val="FFDE79"/>
                </a:solidFill>
                <a:latin typeface="Arial"/>
                <a:ea typeface="Arial"/>
                <a:cs typeface="Arial"/>
                <a:sym typeface="Arial"/>
              </a:defRPr>
            </a:lvl1pPr>
          </a:lstStyle>
          <a:p>
            <a:pPr/>
            <a:r>
              <a:t>01</a:t>
            </a:r>
          </a:p>
        </p:txBody>
      </p:sp>
      <p:sp>
        <p:nvSpPr>
          <p:cNvPr id="154" name="v-3"/>
          <p:cNvSpPr txBox="1"/>
          <p:nvPr/>
        </p:nvSpPr>
        <p:spPr>
          <a:xfrm>
            <a:off x="1798320" y="2030730"/>
            <a:ext cx="4385310" cy="472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500">
                <a:solidFill>
                  <a:srgbClr val="FFFFFF"/>
                </a:solidFill>
                <a:latin typeface="+mj-lt"/>
                <a:ea typeface="+mj-ea"/>
                <a:cs typeface="+mj-cs"/>
                <a:sym typeface="Helvetica"/>
              </a:defRPr>
            </a:lvl1pPr>
          </a:lstStyle>
          <a:p>
            <a:pPr/>
            <a:r>
              <a:t>Workloads</a:t>
            </a:r>
          </a:p>
        </p:txBody>
      </p:sp>
      <p:sp>
        <p:nvSpPr>
          <p:cNvPr id="155" name="v-4"/>
          <p:cNvSpPr txBox="1"/>
          <p:nvPr/>
        </p:nvSpPr>
        <p:spPr>
          <a:xfrm>
            <a:off x="6665593" y="2073193"/>
            <a:ext cx="4671062" cy="3875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FFFFFF"/>
                </a:solidFill>
                <a:latin typeface="Arial"/>
                <a:ea typeface="Arial"/>
                <a:cs typeface="Arial"/>
                <a:sym typeface="Arial"/>
              </a:defRPr>
            </a:lvl1pPr>
          </a:lstStyle>
          <a:p>
            <a:pPr/>
            <a:r>
              <a:t>New challenges in agentic inference</a:t>
            </a:r>
          </a:p>
        </p:txBody>
      </p:sp>
      <p:sp>
        <p:nvSpPr>
          <p:cNvPr id="156" name="v-5"/>
          <p:cNvSpPr txBox="1"/>
          <p:nvPr/>
        </p:nvSpPr>
        <p:spPr>
          <a:xfrm>
            <a:off x="845819" y="2677066"/>
            <a:ext cx="575312" cy="43706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400">
                <a:solidFill>
                  <a:srgbClr val="FFDE79"/>
                </a:solidFill>
                <a:latin typeface="Arial"/>
                <a:ea typeface="Arial"/>
                <a:cs typeface="Arial"/>
                <a:sym typeface="Arial"/>
              </a:defRPr>
            </a:lvl1pPr>
          </a:lstStyle>
          <a:p>
            <a:pPr/>
            <a:r>
              <a:t>02</a:t>
            </a:r>
          </a:p>
        </p:txBody>
      </p:sp>
      <p:sp>
        <p:nvSpPr>
          <p:cNvPr id="157" name="v-6"/>
          <p:cNvSpPr txBox="1"/>
          <p:nvPr/>
        </p:nvSpPr>
        <p:spPr>
          <a:xfrm>
            <a:off x="1798320" y="2670924"/>
            <a:ext cx="4385310"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500">
                <a:solidFill>
                  <a:srgbClr val="FFFFFF"/>
                </a:solidFill>
                <a:latin typeface="Arial"/>
                <a:ea typeface="Arial"/>
                <a:cs typeface="Arial"/>
                <a:sym typeface="Arial"/>
              </a:defRPr>
            </a:lvl1pPr>
          </a:lstStyle>
          <a:p>
            <a:pPr/>
            <a:r>
              <a:t>RadixAttention</a:t>
            </a:r>
          </a:p>
        </p:txBody>
      </p:sp>
      <p:sp>
        <p:nvSpPr>
          <p:cNvPr id="158" name="v-7"/>
          <p:cNvSpPr txBox="1"/>
          <p:nvPr/>
        </p:nvSpPr>
        <p:spPr>
          <a:xfrm>
            <a:off x="6665593" y="2691130"/>
            <a:ext cx="4671062"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FFFFFF"/>
                </a:solidFill>
                <a:latin typeface="+mj-lt"/>
                <a:ea typeface="+mj-ea"/>
                <a:cs typeface="+mj-cs"/>
                <a:sym typeface="Helvetica"/>
              </a:defRPr>
            </a:lvl1pPr>
          </a:lstStyle>
          <a:p>
            <a:pPr/>
            <a:r>
              <a:t>Reuse shared prefixes</a:t>
            </a:r>
          </a:p>
        </p:txBody>
      </p:sp>
      <p:sp>
        <p:nvSpPr>
          <p:cNvPr id="159" name="v-8"/>
          <p:cNvSpPr txBox="1"/>
          <p:nvPr/>
        </p:nvSpPr>
        <p:spPr>
          <a:xfrm>
            <a:off x="845819" y="3305715"/>
            <a:ext cx="575312" cy="4370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400">
                <a:solidFill>
                  <a:srgbClr val="FFDE79"/>
                </a:solidFill>
                <a:latin typeface="Arial"/>
                <a:ea typeface="Arial"/>
                <a:cs typeface="Arial"/>
                <a:sym typeface="Arial"/>
              </a:defRPr>
            </a:lvl1pPr>
          </a:lstStyle>
          <a:p>
            <a:pPr/>
            <a:r>
              <a:t>03</a:t>
            </a:r>
          </a:p>
        </p:txBody>
      </p:sp>
      <p:sp>
        <p:nvSpPr>
          <p:cNvPr id="160" name="v-9"/>
          <p:cNvSpPr txBox="1"/>
          <p:nvPr/>
        </p:nvSpPr>
        <p:spPr>
          <a:xfrm>
            <a:off x="1798320" y="3299574"/>
            <a:ext cx="4385310"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500">
                <a:solidFill>
                  <a:srgbClr val="FFFFFF"/>
                </a:solidFill>
                <a:latin typeface="Arial"/>
                <a:ea typeface="Arial"/>
                <a:cs typeface="Arial"/>
                <a:sym typeface="Arial"/>
              </a:defRPr>
            </a:lvl1pPr>
          </a:lstStyle>
          <a:p>
            <a:pPr/>
            <a:r>
              <a:t>HiCache</a:t>
            </a:r>
          </a:p>
        </p:txBody>
      </p:sp>
      <p:sp>
        <p:nvSpPr>
          <p:cNvPr id="161" name="v-10"/>
          <p:cNvSpPr txBox="1"/>
          <p:nvPr/>
        </p:nvSpPr>
        <p:spPr>
          <a:xfrm>
            <a:off x="6665593" y="3319780"/>
            <a:ext cx="4671062"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FFFFFF"/>
                </a:solidFill>
                <a:latin typeface="+mj-lt"/>
                <a:ea typeface="+mj-ea"/>
                <a:cs typeface="+mj-cs"/>
                <a:sym typeface="Helvetica"/>
              </a:defRPr>
            </a:lvl1pPr>
          </a:lstStyle>
          <a:p>
            <a:pPr/>
            <a:r>
              <a:t>Retain and restore KV across tiers</a:t>
            </a:r>
          </a:p>
        </p:txBody>
      </p:sp>
      <p:sp>
        <p:nvSpPr>
          <p:cNvPr id="162" name="v-11"/>
          <p:cNvSpPr txBox="1"/>
          <p:nvPr/>
        </p:nvSpPr>
        <p:spPr>
          <a:xfrm>
            <a:off x="845819" y="3934365"/>
            <a:ext cx="575312" cy="4370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400">
                <a:solidFill>
                  <a:srgbClr val="FFDE79"/>
                </a:solidFill>
                <a:latin typeface="Arial"/>
                <a:ea typeface="Arial"/>
                <a:cs typeface="Arial"/>
                <a:sym typeface="Arial"/>
              </a:defRPr>
            </a:lvl1pPr>
          </a:lstStyle>
          <a:p>
            <a:pPr/>
            <a:r>
              <a:t>04</a:t>
            </a:r>
          </a:p>
        </p:txBody>
      </p:sp>
      <p:sp>
        <p:nvSpPr>
          <p:cNvPr id="163" name="v-12"/>
          <p:cNvSpPr txBox="1"/>
          <p:nvPr/>
        </p:nvSpPr>
        <p:spPr>
          <a:xfrm>
            <a:off x="1798320" y="3928224"/>
            <a:ext cx="4385310"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500">
                <a:solidFill>
                  <a:srgbClr val="FFFFFF"/>
                </a:solidFill>
                <a:latin typeface="Arial"/>
                <a:ea typeface="Arial"/>
                <a:cs typeface="Arial"/>
                <a:sym typeface="Arial"/>
              </a:defRPr>
            </a:lvl1pPr>
          </a:lstStyle>
          <a:p>
            <a:pPr/>
            <a:r>
              <a:t>Unified Radix Tree</a:t>
            </a:r>
          </a:p>
        </p:txBody>
      </p:sp>
      <p:sp>
        <p:nvSpPr>
          <p:cNvPr id="164" name="v-13"/>
          <p:cNvSpPr txBox="1"/>
          <p:nvPr/>
        </p:nvSpPr>
        <p:spPr>
          <a:xfrm>
            <a:off x="6665593" y="3948430"/>
            <a:ext cx="4671062"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FFFFFF"/>
                </a:solidFill>
                <a:latin typeface="+mj-lt"/>
                <a:ea typeface="+mj-ea"/>
                <a:cs typeface="+mj-cs"/>
                <a:sym typeface="Helvetica"/>
              </a:defRPr>
            </a:lvl1pPr>
          </a:lstStyle>
          <a:p>
            <a:pPr/>
            <a:r>
              <a:t>Compose different state types</a:t>
            </a:r>
          </a:p>
        </p:txBody>
      </p:sp>
      <p:sp>
        <p:nvSpPr>
          <p:cNvPr id="165" name="v-14"/>
          <p:cNvSpPr txBox="1"/>
          <p:nvPr/>
        </p:nvSpPr>
        <p:spPr>
          <a:xfrm>
            <a:off x="845819" y="4563015"/>
            <a:ext cx="575312" cy="4370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400">
                <a:solidFill>
                  <a:srgbClr val="FFDE79"/>
                </a:solidFill>
                <a:latin typeface="Arial"/>
                <a:ea typeface="Arial"/>
                <a:cs typeface="Arial"/>
                <a:sym typeface="Arial"/>
              </a:defRPr>
            </a:lvl1pPr>
          </a:lstStyle>
          <a:p>
            <a:pPr/>
            <a:r>
              <a:t>05</a:t>
            </a:r>
          </a:p>
        </p:txBody>
      </p:sp>
      <p:sp>
        <p:nvSpPr>
          <p:cNvPr id="166" name="v-15"/>
          <p:cNvSpPr txBox="1"/>
          <p:nvPr/>
        </p:nvSpPr>
        <p:spPr>
          <a:xfrm>
            <a:off x="1798320" y="4545330"/>
            <a:ext cx="4385310" cy="472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500">
                <a:solidFill>
                  <a:srgbClr val="FFFFFF"/>
                </a:solidFill>
                <a:latin typeface="+mj-lt"/>
                <a:ea typeface="+mj-ea"/>
                <a:cs typeface="+mj-cs"/>
                <a:sym typeface="Helvetica"/>
              </a:defRPr>
            </a:lvl1pPr>
          </a:lstStyle>
          <a:p>
            <a:pPr/>
            <a:r>
              <a:t>Real-Workload Results</a:t>
            </a:r>
          </a:p>
        </p:txBody>
      </p:sp>
      <p:sp>
        <p:nvSpPr>
          <p:cNvPr id="167" name="v-16"/>
          <p:cNvSpPr txBox="1"/>
          <p:nvPr/>
        </p:nvSpPr>
        <p:spPr>
          <a:xfrm>
            <a:off x="6665593" y="4600078"/>
            <a:ext cx="4671062" cy="36294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900">
                <a:solidFill>
                  <a:srgbClr val="FFFFFF"/>
                </a:solidFill>
                <a:latin typeface="Arial"/>
                <a:ea typeface="Arial"/>
                <a:cs typeface="Arial"/>
                <a:sym typeface="Arial"/>
              </a:defRPr>
            </a:lvl1pPr>
          </a:lstStyle>
          <a:p>
            <a:pPr/>
            <a:r>
              <a:t>Measured results and next steps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标题 2"/>
          <p:cNvSpPr txBox="1"/>
          <p:nvPr>
            <p:ph type="title"/>
          </p:nvPr>
        </p:nvSpPr>
        <p:spPr>
          <a:xfrm>
            <a:off x="421004" y="825500"/>
            <a:ext cx="3550923" cy="2812415"/>
          </a:xfrm>
          <a:prstGeom prst="rect">
            <a:avLst/>
          </a:prstGeom>
        </p:spPr>
        <p:txBody>
          <a:bodyPr/>
          <a:lstStyle>
            <a:lvl1pPr defTabSz="813816">
              <a:defRPr sz="17800"/>
            </a:lvl1pPr>
          </a:lstStyle>
          <a:p>
            <a:pPr/>
            <a:r>
              <a:t>01</a:t>
            </a:r>
          </a:p>
        </p:txBody>
      </p:sp>
      <p:sp>
        <p:nvSpPr>
          <p:cNvPr id="172" name="文本占位符 1"/>
          <p:cNvSpPr txBox="1"/>
          <p:nvPr>
            <p:ph type="body" sz="quarter" idx="1"/>
          </p:nvPr>
        </p:nvSpPr>
        <p:spPr>
          <a:xfrm>
            <a:off x="569208" y="2821714"/>
            <a:ext cx="8887195" cy="860045"/>
          </a:xfrm>
          <a:prstGeom prst="rect">
            <a:avLst/>
          </a:prstGeom>
        </p:spPr>
        <p:txBody>
          <a:bodyPr/>
          <a:lstStyle>
            <a:lvl1pPr defTabSz="886967">
              <a:spcBef>
                <a:spcPts val="900"/>
              </a:spcBef>
              <a:defRPr sz="5200">
                <a:effectLst>
                  <a:outerShdw sx="100000" sy="100000" kx="0" ky="0" algn="b" rotWithShape="0" blurRad="38100" dist="36957" dir="2700000">
                    <a:srgbClr val="000000">
                      <a:alpha val="43137"/>
                    </a:srgbClr>
                  </a:outerShdw>
                </a:effectLst>
                <a:latin typeface="+mj-lt"/>
                <a:ea typeface="+mj-ea"/>
                <a:cs typeface="+mj-cs"/>
                <a:sym typeface="Helvetica"/>
              </a:defRPr>
            </a:lvl1pPr>
          </a:lstStyle>
          <a:p>
            <a:pPr/>
            <a:r>
              <a:t>Workloads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Agent Workloads: Long Inputs, Short Outputs</a:t>
            </a:r>
          </a:p>
        </p:txBody>
      </p:sp>
      <p:sp>
        <p:nvSpPr>
          <p:cNvPr id="177"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04</a:t>
            </a:r>
          </a:p>
        </p:txBody>
      </p:sp>
      <p:pic>
        <p:nvPicPr>
          <p:cNvPr id="178"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79"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180" name="v-18"/>
          <p:cNvSpPr txBox="1"/>
          <p:nvPr/>
        </p:nvSpPr>
        <p:spPr>
          <a:xfrm>
            <a:off x="769619" y="939718"/>
            <a:ext cx="10576561" cy="3875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2B5294"/>
                </a:solidFill>
                <a:latin typeface="Arial"/>
                <a:ea typeface="Arial"/>
                <a:cs typeface="Arial"/>
                <a:sym typeface="Arial"/>
              </a:defRPr>
            </a:lvl1pPr>
          </a:lstStyle>
          <a:p>
            <a:pPr/>
            <a:r>
              <a:t>Measured ISL / OSL distributions · 393 real traces</a:t>
            </a:r>
          </a:p>
        </p:txBody>
      </p:sp>
      <p:sp>
        <p:nvSpPr>
          <p:cNvPr id="181" name="Rounded Rectangle 5"/>
          <p:cNvSpPr/>
          <p:nvPr/>
        </p:nvSpPr>
        <p:spPr>
          <a:xfrm>
            <a:off x="722376" y="2034538"/>
            <a:ext cx="118874" cy="118874"/>
          </a:xfrm>
          <a:prstGeom prst="roundRect">
            <a:avLst>
              <a:gd name="adj" fmla="val 23076"/>
            </a:avLst>
          </a:prstGeom>
          <a:solidFill>
            <a:schemeClr val="accent1">
              <a:satOff val="-3547"/>
              <a:lumOff val="-10352"/>
            </a:schemeClr>
          </a:solidFill>
          <a:ln w="12700">
            <a:miter lim="400000"/>
          </a:ln>
        </p:spPr>
        <p:txBody>
          <a:bodyPr lIns="45718" tIns="45718" rIns="45718" bIns="45718" anchor="ctr"/>
          <a:lstStyle/>
          <a:p>
            <a:pPr>
              <a:defRPr sz="1400">
                <a:solidFill>
                  <a:schemeClr val="accent1">
                    <a:satOff val="-3547"/>
                    <a:lumOff val="-10352"/>
                  </a:schemeClr>
                </a:solidFill>
                <a:latin typeface="Arial"/>
                <a:ea typeface="Arial"/>
                <a:cs typeface="Arial"/>
                <a:sym typeface="Arial"/>
              </a:defRPr>
            </a:pPr>
          </a:p>
        </p:txBody>
      </p:sp>
      <p:sp>
        <p:nvSpPr>
          <p:cNvPr id="182" name="TextBox 6"/>
          <p:cNvSpPr txBox="1"/>
          <p:nvPr/>
        </p:nvSpPr>
        <p:spPr>
          <a:xfrm>
            <a:off x="914400" y="2004428"/>
            <a:ext cx="822962"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1">
                    <a:satOff val="-3547"/>
                    <a:lumOff val="-10352"/>
                  </a:schemeClr>
                </a:solidFill>
                <a:latin typeface="Arial"/>
                <a:ea typeface="Arial"/>
                <a:cs typeface="Arial"/>
                <a:sym typeface="Arial"/>
              </a:defRPr>
            </a:lvl1pPr>
          </a:lstStyle>
          <a:p>
            <a:pPr/>
            <a:r>
              <a:t>Input ISL</a:t>
            </a:r>
          </a:p>
        </p:txBody>
      </p:sp>
      <p:sp>
        <p:nvSpPr>
          <p:cNvPr id="183" name="Rounded Rectangle 7"/>
          <p:cNvSpPr/>
          <p:nvPr/>
        </p:nvSpPr>
        <p:spPr>
          <a:xfrm>
            <a:off x="1883664" y="2034538"/>
            <a:ext cx="118874" cy="118874"/>
          </a:xfrm>
          <a:prstGeom prst="roundRect">
            <a:avLst>
              <a:gd name="adj" fmla="val 23076"/>
            </a:avLst>
          </a:prstGeom>
          <a:solidFill>
            <a:srgbClr val="F2A93B"/>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184" name="TextBox 8"/>
          <p:cNvSpPr txBox="1"/>
          <p:nvPr/>
        </p:nvSpPr>
        <p:spPr>
          <a:xfrm>
            <a:off x="2075688" y="2004428"/>
            <a:ext cx="1397002"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1">
                    <a:satOff val="-3547"/>
                    <a:lumOff val="-10352"/>
                  </a:schemeClr>
                </a:solidFill>
                <a:latin typeface="Arial"/>
                <a:ea typeface="Arial"/>
                <a:cs typeface="Arial"/>
                <a:sym typeface="Arial"/>
              </a:defRPr>
            </a:lvl1pPr>
          </a:lstStyle>
          <a:p>
            <a:pPr/>
            <a:r>
              <a:t>Output OSL</a:t>
            </a:r>
          </a:p>
        </p:txBody>
      </p:sp>
      <p:sp>
        <p:nvSpPr>
          <p:cNvPr id="185" name="TextBox 9"/>
          <p:cNvSpPr txBox="1"/>
          <p:nvPr/>
        </p:nvSpPr>
        <p:spPr>
          <a:xfrm>
            <a:off x="722376" y="2490491"/>
            <a:ext cx="56693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p50</a:t>
            </a:r>
          </a:p>
        </p:txBody>
      </p:sp>
      <p:sp>
        <p:nvSpPr>
          <p:cNvPr id="186" name="Rounded Rectangle 10"/>
          <p:cNvSpPr/>
          <p:nvPr/>
        </p:nvSpPr>
        <p:spPr>
          <a:xfrm>
            <a:off x="1380744" y="2372866"/>
            <a:ext cx="794326" cy="155450"/>
          </a:xfrm>
          <a:prstGeom prst="roundRect">
            <a:avLst>
              <a:gd name="adj" fmla="val 14705"/>
            </a:avLst>
          </a:prstGeom>
          <a:solidFill>
            <a:schemeClr val="accent1">
              <a:satOff val="-3547"/>
              <a:lumOff val="-10352"/>
            </a:schemeClr>
          </a:solidFill>
          <a:ln w="12700">
            <a:miter lim="400000"/>
          </a:ln>
        </p:spPr>
        <p:txBody>
          <a:bodyPr lIns="45718" tIns="45718" rIns="45718" bIns="45718" anchor="ctr"/>
          <a:lstStyle/>
          <a:p>
            <a:pPr>
              <a:defRPr sz="1400">
                <a:solidFill>
                  <a:schemeClr val="accent1">
                    <a:satOff val="-3547"/>
                    <a:lumOff val="-10352"/>
                  </a:schemeClr>
                </a:solidFill>
                <a:latin typeface="Arial"/>
                <a:ea typeface="Arial"/>
                <a:cs typeface="Arial"/>
                <a:sym typeface="Arial"/>
              </a:defRPr>
            </a:pPr>
          </a:p>
        </p:txBody>
      </p:sp>
      <p:sp>
        <p:nvSpPr>
          <p:cNvPr id="187" name="TextBox 11"/>
          <p:cNvSpPr txBox="1"/>
          <p:nvPr/>
        </p:nvSpPr>
        <p:spPr>
          <a:xfrm>
            <a:off x="2284796" y="2339615"/>
            <a:ext cx="84125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88k</a:t>
            </a:r>
          </a:p>
        </p:txBody>
      </p:sp>
      <p:sp>
        <p:nvSpPr>
          <p:cNvPr id="188" name="Rounded Rectangle 12"/>
          <p:cNvSpPr/>
          <p:nvPr/>
        </p:nvSpPr>
        <p:spPr>
          <a:xfrm>
            <a:off x="1380744" y="2674620"/>
            <a:ext cx="32006" cy="155450"/>
          </a:xfrm>
          <a:prstGeom prst="roundRect">
            <a:avLst>
              <a:gd name="adj" fmla="val 50000"/>
            </a:avLst>
          </a:prstGeom>
          <a:solidFill>
            <a:srgbClr val="F2A93B"/>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189" name="TextBox 13"/>
          <p:cNvSpPr txBox="1"/>
          <p:nvPr/>
        </p:nvSpPr>
        <p:spPr>
          <a:xfrm>
            <a:off x="1522474" y="2641367"/>
            <a:ext cx="84125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2">
                    <a:satOff val="-18194"/>
                    <a:lumOff val="-11215"/>
                  </a:schemeClr>
                </a:solidFill>
                <a:latin typeface="Arial"/>
                <a:ea typeface="Arial"/>
                <a:cs typeface="Arial"/>
                <a:sym typeface="Arial"/>
              </a:defRPr>
            </a:lvl1pPr>
          </a:lstStyle>
          <a:p>
            <a:pPr/>
            <a:r>
              <a:t>413</a:t>
            </a:r>
          </a:p>
        </p:txBody>
      </p:sp>
      <p:sp>
        <p:nvSpPr>
          <p:cNvPr id="190" name="TextBox 14"/>
          <p:cNvSpPr txBox="1"/>
          <p:nvPr/>
        </p:nvSpPr>
        <p:spPr>
          <a:xfrm>
            <a:off x="722376" y="3176291"/>
            <a:ext cx="56693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p90</a:t>
            </a:r>
          </a:p>
        </p:txBody>
      </p:sp>
      <p:sp>
        <p:nvSpPr>
          <p:cNvPr id="191" name="Rounded Rectangle 15"/>
          <p:cNvSpPr/>
          <p:nvPr/>
        </p:nvSpPr>
        <p:spPr>
          <a:xfrm>
            <a:off x="1380744" y="3058666"/>
            <a:ext cx="2455192" cy="155450"/>
          </a:xfrm>
          <a:prstGeom prst="roundRect">
            <a:avLst>
              <a:gd name="adj" fmla="val 14705"/>
            </a:avLst>
          </a:prstGeom>
          <a:solidFill>
            <a:schemeClr val="accent1">
              <a:satOff val="-3547"/>
              <a:lumOff val="-10352"/>
            </a:schemeClr>
          </a:solidFill>
          <a:ln w="12700">
            <a:miter lim="400000"/>
          </a:ln>
        </p:spPr>
        <p:txBody>
          <a:bodyPr lIns="45718" tIns="45718" rIns="45718" bIns="45718" anchor="ctr"/>
          <a:lstStyle/>
          <a:p>
            <a:pPr>
              <a:defRPr sz="1400">
                <a:solidFill>
                  <a:schemeClr val="accent1">
                    <a:satOff val="-3547"/>
                    <a:lumOff val="-10352"/>
                  </a:schemeClr>
                </a:solidFill>
                <a:latin typeface="Arial"/>
                <a:ea typeface="Arial"/>
                <a:cs typeface="Arial"/>
                <a:sym typeface="Arial"/>
              </a:defRPr>
            </a:pPr>
          </a:p>
        </p:txBody>
      </p:sp>
      <p:sp>
        <p:nvSpPr>
          <p:cNvPr id="192" name="TextBox 16"/>
          <p:cNvSpPr txBox="1"/>
          <p:nvPr/>
        </p:nvSpPr>
        <p:spPr>
          <a:xfrm>
            <a:off x="3945661" y="3025415"/>
            <a:ext cx="8412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272k</a:t>
            </a:r>
          </a:p>
        </p:txBody>
      </p:sp>
      <p:sp>
        <p:nvSpPr>
          <p:cNvPr id="193" name="Rounded Rectangle 17"/>
          <p:cNvSpPr/>
          <p:nvPr/>
        </p:nvSpPr>
        <p:spPr>
          <a:xfrm>
            <a:off x="1380744" y="3360420"/>
            <a:ext cx="32006" cy="155450"/>
          </a:xfrm>
          <a:prstGeom prst="roundRect">
            <a:avLst>
              <a:gd name="adj" fmla="val 50000"/>
            </a:avLst>
          </a:prstGeom>
          <a:solidFill>
            <a:srgbClr val="F2A93B"/>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194" name="TextBox 18"/>
          <p:cNvSpPr txBox="1"/>
          <p:nvPr/>
        </p:nvSpPr>
        <p:spPr>
          <a:xfrm>
            <a:off x="1522474" y="3327167"/>
            <a:ext cx="84125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2">
                    <a:satOff val="-18194"/>
                    <a:lumOff val="-11215"/>
                  </a:schemeClr>
                </a:solidFill>
                <a:latin typeface="Arial"/>
                <a:ea typeface="Arial"/>
                <a:cs typeface="Arial"/>
                <a:sym typeface="Arial"/>
              </a:defRPr>
            </a:lvl1pPr>
          </a:lstStyle>
          <a:p>
            <a:pPr/>
            <a:r>
              <a:t>2.2k</a:t>
            </a:r>
          </a:p>
        </p:txBody>
      </p:sp>
      <p:sp>
        <p:nvSpPr>
          <p:cNvPr id="195" name="TextBox 19"/>
          <p:cNvSpPr txBox="1"/>
          <p:nvPr/>
        </p:nvSpPr>
        <p:spPr>
          <a:xfrm>
            <a:off x="722376" y="3862091"/>
            <a:ext cx="56693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p95</a:t>
            </a:r>
          </a:p>
        </p:txBody>
      </p:sp>
      <p:sp>
        <p:nvSpPr>
          <p:cNvPr id="196" name="Rounded Rectangle 20"/>
          <p:cNvSpPr/>
          <p:nvPr/>
        </p:nvSpPr>
        <p:spPr>
          <a:xfrm>
            <a:off x="1380744" y="3744467"/>
            <a:ext cx="3646679" cy="155450"/>
          </a:xfrm>
          <a:prstGeom prst="roundRect">
            <a:avLst>
              <a:gd name="adj" fmla="val 14705"/>
            </a:avLst>
          </a:prstGeom>
          <a:solidFill>
            <a:schemeClr val="accent1">
              <a:satOff val="-3547"/>
              <a:lumOff val="-10352"/>
            </a:schemeClr>
          </a:solidFill>
          <a:ln w="12700">
            <a:miter lim="400000"/>
          </a:ln>
        </p:spPr>
        <p:txBody>
          <a:bodyPr lIns="45718" tIns="45718" rIns="45718" bIns="45718" anchor="ctr"/>
          <a:lstStyle/>
          <a:p>
            <a:pPr>
              <a:defRPr sz="1400">
                <a:solidFill>
                  <a:schemeClr val="accent1">
                    <a:satOff val="-3547"/>
                    <a:lumOff val="-10352"/>
                  </a:schemeClr>
                </a:solidFill>
                <a:latin typeface="Arial"/>
                <a:ea typeface="Arial"/>
                <a:cs typeface="Arial"/>
                <a:sym typeface="Arial"/>
              </a:defRPr>
            </a:pPr>
          </a:p>
        </p:txBody>
      </p:sp>
      <p:sp>
        <p:nvSpPr>
          <p:cNvPr id="197" name="TextBox 21"/>
          <p:cNvSpPr txBox="1"/>
          <p:nvPr/>
        </p:nvSpPr>
        <p:spPr>
          <a:xfrm>
            <a:off x="5137151" y="3711215"/>
            <a:ext cx="8412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404k</a:t>
            </a:r>
          </a:p>
        </p:txBody>
      </p:sp>
      <p:sp>
        <p:nvSpPr>
          <p:cNvPr id="198" name="Rounded Rectangle 22"/>
          <p:cNvSpPr/>
          <p:nvPr/>
        </p:nvSpPr>
        <p:spPr>
          <a:xfrm>
            <a:off x="1380744" y="4046220"/>
            <a:ext cx="33400" cy="155450"/>
          </a:xfrm>
          <a:prstGeom prst="roundRect">
            <a:avLst>
              <a:gd name="adj" fmla="val 50000"/>
            </a:avLst>
          </a:prstGeom>
          <a:solidFill>
            <a:srgbClr val="F2A93B"/>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199" name="TextBox 23"/>
          <p:cNvSpPr txBox="1"/>
          <p:nvPr/>
        </p:nvSpPr>
        <p:spPr>
          <a:xfrm>
            <a:off x="1523869" y="4012967"/>
            <a:ext cx="8412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2">
                    <a:satOff val="-18194"/>
                    <a:lumOff val="-11215"/>
                  </a:schemeClr>
                </a:solidFill>
                <a:latin typeface="Arial"/>
                <a:ea typeface="Arial"/>
                <a:cs typeface="Arial"/>
                <a:sym typeface="Arial"/>
              </a:defRPr>
            </a:lvl1pPr>
          </a:lstStyle>
          <a:p>
            <a:pPr/>
            <a:r>
              <a:t>3.7k</a:t>
            </a:r>
          </a:p>
        </p:txBody>
      </p:sp>
      <p:sp>
        <p:nvSpPr>
          <p:cNvPr id="200" name="TextBox 24"/>
          <p:cNvSpPr txBox="1"/>
          <p:nvPr/>
        </p:nvSpPr>
        <p:spPr>
          <a:xfrm>
            <a:off x="722376" y="4547891"/>
            <a:ext cx="56693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p99</a:t>
            </a:r>
          </a:p>
        </p:txBody>
      </p:sp>
      <p:sp>
        <p:nvSpPr>
          <p:cNvPr id="201" name="Rounded Rectangle 25"/>
          <p:cNvSpPr/>
          <p:nvPr/>
        </p:nvSpPr>
        <p:spPr>
          <a:xfrm>
            <a:off x="1380744" y="4430267"/>
            <a:ext cx="6092843" cy="155450"/>
          </a:xfrm>
          <a:prstGeom prst="roundRect">
            <a:avLst>
              <a:gd name="adj" fmla="val 14705"/>
            </a:avLst>
          </a:prstGeom>
          <a:solidFill>
            <a:schemeClr val="accent1">
              <a:satOff val="-3547"/>
              <a:lumOff val="-10352"/>
            </a:schemeClr>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202" name="TextBox 26"/>
          <p:cNvSpPr txBox="1"/>
          <p:nvPr/>
        </p:nvSpPr>
        <p:spPr>
          <a:xfrm>
            <a:off x="7583313" y="4397015"/>
            <a:ext cx="8412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atOff val="-3547"/>
                    <a:lumOff val="-10352"/>
                  </a:schemeClr>
                </a:solidFill>
                <a:latin typeface="Arial"/>
                <a:ea typeface="Arial"/>
                <a:cs typeface="Arial"/>
                <a:sym typeface="Arial"/>
              </a:defRPr>
            </a:lvl1pPr>
          </a:lstStyle>
          <a:p>
            <a:pPr/>
            <a:r>
              <a:t>675k</a:t>
            </a:r>
          </a:p>
        </p:txBody>
      </p:sp>
      <p:sp>
        <p:nvSpPr>
          <p:cNvPr id="203" name="Rounded Rectangle 27"/>
          <p:cNvSpPr/>
          <p:nvPr/>
        </p:nvSpPr>
        <p:spPr>
          <a:xfrm>
            <a:off x="1380744" y="4732020"/>
            <a:ext cx="77629" cy="155450"/>
          </a:xfrm>
          <a:prstGeom prst="roundRect">
            <a:avLst>
              <a:gd name="adj" fmla="val 29448"/>
            </a:avLst>
          </a:prstGeom>
          <a:solidFill>
            <a:srgbClr val="F2A93B"/>
          </a:solidFill>
          <a:ln w="12700">
            <a:miter lim="400000"/>
          </a:ln>
        </p:spPr>
        <p:txBody>
          <a:bodyPr lIns="45718" tIns="45718" rIns="45718" bIns="45718" anchor="ctr"/>
          <a:lstStyle/>
          <a:p>
            <a:pPr>
              <a:defRPr>
                <a:solidFill>
                  <a:srgbClr val="FFFFFF"/>
                </a:solidFill>
                <a:latin typeface="等线"/>
                <a:ea typeface="等线"/>
                <a:cs typeface="等线"/>
                <a:sym typeface="等线"/>
              </a:defRPr>
            </a:pPr>
          </a:p>
        </p:txBody>
      </p:sp>
      <p:sp>
        <p:nvSpPr>
          <p:cNvPr id="204" name="TextBox 28"/>
          <p:cNvSpPr txBox="1"/>
          <p:nvPr/>
        </p:nvSpPr>
        <p:spPr>
          <a:xfrm>
            <a:off x="1568097" y="4698767"/>
            <a:ext cx="84125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2">
                    <a:satOff val="-18194"/>
                    <a:lumOff val="-11215"/>
                  </a:schemeClr>
                </a:solidFill>
                <a:latin typeface="Arial"/>
                <a:ea typeface="Arial"/>
                <a:cs typeface="Arial"/>
                <a:sym typeface="Arial"/>
              </a:defRPr>
            </a:lvl1pPr>
          </a:lstStyle>
          <a:p>
            <a:pPr/>
            <a:r>
              <a:t>8.6k</a:t>
            </a:r>
          </a:p>
        </p:txBody>
      </p:sp>
      <p:sp>
        <p:nvSpPr>
          <p:cNvPr id="205" name="Connector 29"/>
          <p:cNvSpPr/>
          <p:nvPr/>
        </p:nvSpPr>
        <p:spPr>
          <a:xfrm>
            <a:off x="8595358" y="2286000"/>
            <a:ext cx="3" cy="2697482"/>
          </a:xfrm>
          <a:prstGeom prst="line">
            <a:avLst/>
          </a:prstGeom>
          <a:ln w="12700">
            <a:solidFill>
              <a:srgbClr val="1B3152"/>
            </a:solidFill>
            <a:miter/>
          </a:ln>
        </p:spPr>
        <p:txBody>
          <a:bodyPr lIns="45718" tIns="45718" rIns="45718" bIns="45718"/>
          <a:lstStyle/>
          <a:p>
            <a:pPr/>
          </a:p>
        </p:txBody>
      </p:sp>
      <p:sp>
        <p:nvSpPr>
          <p:cNvPr id="206" name="TextBox 30"/>
          <p:cNvSpPr txBox="1"/>
          <p:nvPr/>
        </p:nvSpPr>
        <p:spPr>
          <a:xfrm>
            <a:off x="8953500" y="2793999"/>
            <a:ext cx="2603500" cy="7649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400">
                <a:solidFill>
                  <a:schemeClr val="accent1">
                    <a:satOff val="-3547"/>
                    <a:lumOff val="-10352"/>
                  </a:schemeClr>
                </a:solidFill>
                <a:latin typeface="Arial"/>
                <a:ea typeface="Arial"/>
                <a:cs typeface="Arial"/>
                <a:sym typeface="Arial"/>
              </a:defRPr>
            </a:lvl1pPr>
          </a:lstStyle>
          <a:p>
            <a:pPr/>
            <a:r>
              <a:t>213 : 1</a:t>
            </a:r>
          </a:p>
        </p:txBody>
      </p:sp>
      <p:sp>
        <p:nvSpPr>
          <p:cNvPr id="207" name="TextBox 31"/>
          <p:cNvSpPr txBox="1"/>
          <p:nvPr/>
        </p:nvSpPr>
        <p:spPr>
          <a:xfrm>
            <a:off x="8953500" y="3708400"/>
            <a:ext cx="26035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chemeClr val="accent1">
                    <a:satOff val="-3547"/>
                    <a:lumOff val="-10352"/>
                  </a:schemeClr>
                </a:solidFill>
                <a:latin typeface="Arial"/>
                <a:ea typeface="Arial"/>
                <a:cs typeface="Arial"/>
                <a:sym typeface="Arial"/>
              </a:defRPr>
            </a:lvl1pPr>
          </a:lstStyle>
          <a:p>
            <a:pPr/>
            <a:r>
              <a:t>p50 input / output</a:t>
            </a:r>
          </a:p>
        </p:txBody>
      </p:sp>
      <p:sp>
        <p:nvSpPr>
          <p:cNvPr id="208" name="TextBox 39"/>
          <p:cNvSpPr txBox="1"/>
          <p:nvPr/>
        </p:nvSpPr>
        <p:spPr>
          <a:xfrm>
            <a:off x="3175000" y="6070599"/>
            <a:ext cx="6858000"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35353"/>
                </a:solidFill>
                <a:latin typeface="Arial"/>
                <a:ea typeface="Arial"/>
                <a:cs typeface="Arial"/>
                <a:sym typeface="Arial"/>
              </a:defRPr>
            </a:lvl1pPr>
          </a:lstStyle>
          <a:p>
            <a:pPr/>
            <a:r>
              <a:t>Source: SemiAnalysis AgentX · inferencex.semianalysis.com</a:t>
            </a:r>
          </a:p>
        </p:txBody>
      </p:sp>
      <p:sp>
        <p:nvSpPr>
          <p:cNvPr id="209" name="TextBox 41"/>
          <p:cNvSpPr txBox="1"/>
          <p:nvPr/>
        </p:nvSpPr>
        <p:spPr>
          <a:xfrm>
            <a:off x="3175000" y="5562600"/>
            <a:ext cx="806450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5000"/>
              </a:lnSpc>
              <a:defRPr sz="2000">
                <a:solidFill>
                  <a:schemeClr val="accent1">
                    <a:satOff val="-3547"/>
                    <a:lumOff val="-10352"/>
                  </a:schemeClr>
                </a:solidFill>
                <a:latin typeface="Arial"/>
                <a:ea typeface="Arial"/>
                <a:cs typeface="Arial"/>
                <a:sym typeface="Arial"/>
              </a:defRPr>
            </a:lvl1pPr>
          </a:lstStyle>
          <a:p>
            <a:pPr/>
            <a:r>
              <a:t>Main cost: repeatedly processing historical context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How Agents Reuse Context</a:t>
            </a:r>
          </a:p>
        </p:txBody>
      </p:sp>
      <p:sp>
        <p:nvSpPr>
          <p:cNvPr id="214"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05</a:t>
            </a:r>
          </a:p>
        </p:txBody>
      </p:sp>
      <p:pic>
        <p:nvPicPr>
          <p:cNvPr id="215"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216"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grpSp>
        <p:nvGrpSpPr>
          <p:cNvPr id="219" name="v-64"/>
          <p:cNvGrpSpPr/>
          <p:nvPr/>
        </p:nvGrpSpPr>
        <p:grpSpPr>
          <a:xfrm>
            <a:off x="850462" y="2957277"/>
            <a:ext cx="2238377" cy="838202"/>
            <a:chOff x="0" y="0"/>
            <a:chExt cx="2238375" cy="838200"/>
          </a:xfrm>
        </p:grpSpPr>
        <p:sp>
          <p:nvSpPr>
            <p:cNvPr id="217" name="Rounded Rectangle"/>
            <p:cNvSpPr/>
            <p:nvPr/>
          </p:nvSpPr>
          <p:spPr>
            <a:xfrm>
              <a:off x="0" y="0"/>
              <a:ext cx="2238376" cy="838201"/>
            </a:xfrm>
            <a:prstGeom prst="roundRect">
              <a:avLst>
                <a:gd name="adj" fmla="val 9091"/>
              </a:avLst>
            </a:prstGeom>
            <a:solidFill>
              <a:srgbClr val="EEF3F9"/>
            </a:solidFill>
            <a:ln w="19050" cap="flat">
              <a:solidFill>
                <a:srgbClr val="2B5294"/>
              </a:solidFill>
              <a:prstDash val="solid"/>
              <a:round/>
            </a:ln>
            <a:effectLst/>
          </p:spPr>
          <p:txBody>
            <a:bodyPr wrap="square" lIns="45718" tIns="45718" rIns="45718" bIns="45718" numCol="1" anchor="ctr">
              <a:noAutofit/>
            </a:bodyPr>
            <a:lstStyle/>
            <a:p>
              <a:pPr algn="ctr">
                <a:defRPr b="1" sz="2100">
                  <a:solidFill>
                    <a:srgbClr val="2B5294"/>
                  </a:solidFill>
                  <a:latin typeface="Arial"/>
                  <a:ea typeface="Arial"/>
                  <a:cs typeface="Arial"/>
                  <a:sym typeface="Arial"/>
                </a:defRPr>
              </a:pPr>
            </a:p>
          </p:txBody>
        </p:sp>
        <p:sp>
          <p:nvSpPr>
            <p:cNvPr id="218" name="Shared history"/>
            <p:cNvSpPr txBox="1"/>
            <p:nvPr/>
          </p:nvSpPr>
          <p:spPr>
            <a:xfrm>
              <a:off x="31842" y="214631"/>
              <a:ext cx="2174692"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100">
                  <a:solidFill>
                    <a:srgbClr val="2B5294"/>
                  </a:solidFill>
                  <a:latin typeface="+mj-lt"/>
                  <a:ea typeface="+mj-ea"/>
                  <a:cs typeface="+mj-cs"/>
                  <a:sym typeface="Helvetica"/>
                </a:defRPr>
              </a:lvl1pPr>
            </a:lstStyle>
            <a:p>
              <a:pPr/>
              <a:r>
                <a:t>Shared history</a:t>
              </a:r>
            </a:p>
          </p:txBody>
        </p:sp>
      </p:grpSp>
      <p:sp>
        <p:nvSpPr>
          <p:cNvPr id="220" name="History connection"/>
          <p:cNvSpPr/>
          <p:nvPr/>
        </p:nvSpPr>
        <p:spPr>
          <a:xfrm>
            <a:off x="3088836" y="3376377"/>
            <a:ext cx="1524003" cy="954"/>
          </a:xfrm>
          <a:prstGeom prst="line">
            <a:avLst/>
          </a:prstGeom>
          <a:ln w="28575">
            <a:solidFill>
              <a:srgbClr val="B8CADF"/>
            </a:solidFill>
          </a:ln>
        </p:spPr>
        <p:txBody>
          <a:bodyPr lIns="45718" tIns="45718" rIns="45718" bIns="45718"/>
          <a:lstStyle/>
          <a:p>
            <a:pPr/>
          </a:p>
        </p:txBody>
      </p:sp>
      <p:grpSp>
        <p:nvGrpSpPr>
          <p:cNvPr id="223" name="Current turn"/>
          <p:cNvGrpSpPr/>
          <p:nvPr/>
        </p:nvGrpSpPr>
        <p:grpSpPr>
          <a:xfrm>
            <a:off x="4612837" y="2957277"/>
            <a:ext cx="2000252" cy="838202"/>
            <a:chOff x="0" y="0"/>
            <a:chExt cx="2000250" cy="838200"/>
          </a:xfrm>
        </p:grpSpPr>
        <p:sp>
          <p:nvSpPr>
            <p:cNvPr id="221" name="Rounded Rectangle"/>
            <p:cNvSpPr/>
            <p:nvPr/>
          </p:nvSpPr>
          <p:spPr>
            <a:xfrm>
              <a:off x="0" y="0"/>
              <a:ext cx="2000251" cy="838201"/>
            </a:xfrm>
            <a:prstGeom prst="roundRect">
              <a:avLst>
                <a:gd name="adj" fmla="val 9091"/>
              </a:avLst>
            </a:prstGeom>
            <a:solidFill>
              <a:srgbClr val="EEF3F9"/>
            </a:solidFill>
            <a:ln w="19050" cap="flat">
              <a:solidFill>
                <a:srgbClr val="2B5294"/>
              </a:solidFill>
              <a:prstDash val="solid"/>
              <a:round/>
            </a:ln>
            <a:effectLst/>
          </p:spPr>
          <p:txBody>
            <a:bodyPr wrap="square" lIns="45718" tIns="45718" rIns="45718" bIns="45718" numCol="1" anchor="ctr">
              <a:noAutofit/>
            </a:bodyPr>
            <a:lstStyle/>
            <a:p>
              <a:pPr algn="ctr">
                <a:defRPr b="1" sz="2200">
                  <a:solidFill>
                    <a:srgbClr val="2B5294"/>
                  </a:solidFill>
                  <a:latin typeface="Arial"/>
                  <a:ea typeface="Arial"/>
                  <a:cs typeface="Arial"/>
                  <a:sym typeface="Arial"/>
                </a:defRPr>
              </a:pPr>
            </a:p>
          </p:txBody>
        </p:sp>
        <p:sp>
          <p:nvSpPr>
            <p:cNvPr id="222" name="Current turn"/>
            <p:cNvSpPr txBox="1"/>
            <p:nvPr/>
          </p:nvSpPr>
          <p:spPr>
            <a:xfrm>
              <a:off x="31843" y="208281"/>
              <a:ext cx="1936565" cy="421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mj-lt"/>
                  <a:ea typeface="+mj-ea"/>
                  <a:cs typeface="+mj-cs"/>
                  <a:sym typeface="Helvetica"/>
                </a:defRPr>
              </a:lvl1pPr>
            </a:lstStyle>
            <a:p>
              <a:pPr/>
              <a:r>
                <a:t>Current turn</a:t>
              </a:r>
            </a:p>
          </p:txBody>
        </p:sp>
      </p:grpSp>
      <p:sp>
        <p:nvSpPr>
          <p:cNvPr id="224" name="Next turn connection"/>
          <p:cNvSpPr/>
          <p:nvPr/>
        </p:nvSpPr>
        <p:spPr>
          <a:xfrm flipV="1">
            <a:off x="6613087" y="2004777"/>
            <a:ext cx="1619252" cy="1371602"/>
          </a:xfrm>
          <a:prstGeom prst="line">
            <a:avLst/>
          </a:prstGeom>
          <a:ln w="28575">
            <a:solidFill>
              <a:srgbClr val="B8CADF"/>
            </a:solidFill>
          </a:ln>
        </p:spPr>
        <p:txBody>
          <a:bodyPr lIns="45718" tIns="45718" rIns="45718" bIns="45718"/>
          <a:lstStyle/>
          <a:p>
            <a:pPr/>
          </a:p>
        </p:txBody>
      </p:sp>
      <p:grpSp>
        <p:nvGrpSpPr>
          <p:cNvPr id="227" name="Next turn"/>
          <p:cNvGrpSpPr/>
          <p:nvPr/>
        </p:nvGrpSpPr>
        <p:grpSpPr>
          <a:xfrm>
            <a:off x="8232337" y="1604726"/>
            <a:ext cx="2190752" cy="838202"/>
            <a:chOff x="0" y="0"/>
            <a:chExt cx="2190750" cy="838200"/>
          </a:xfrm>
        </p:grpSpPr>
        <p:sp>
          <p:nvSpPr>
            <p:cNvPr id="225" name="Rounded Rectangle"/>
            <p:cNvSpPr/>
            <p:nvPr/>
          </p:nvSpPr>
          <p:spPr>
            <a:xfrm>
              <a:off x="0" y="0"/>
              <a:ext cx="2190751" cy="838201"/>
            </a:xfrm>
            <a:prstGeom prst="roundRect">
              <a:avLst>
                <a:gd name="adj" fmla="val 9091"/>
              </a:avLst>
            </a:prstGeom>
            <a:solidFill>
              <a:srgbClr val="EEF3F9"/>
            </a:solidFill>
            <a:ln w="19050" cap="flat">
              <a:solidFill>
                <a:srgbClr val="BD8500"/>
              </a:solidFill>
              <a:prstDash val="solid"/>
              <a:round/>
            </a:ln>
            <a:effectLst/>
          </p:spPr>
          <p:txBody>
            <a:bodyPr wrap="square" lIns="45718" tIns="45718" rIns="45718" bIns="45718" numCol="1" anchor="ctr">
              <a:noAutofit/>
            </a:bodyPr>
            <a:lstStyle/>
            <a:p>
              <a:pPr algn="ctr">
                <a:defRPr b="1" sz="2200">
                  <a:solidFill>
                    <a:srgbClr val="BD8500"/>
                  </a:solidFill>
                  <a:latin typeface="Arial"/>
                  <a:ea typeface="Arial"/>
                  <a:cs typeface="Arial"/>
                  <a:sym typeface="Arial"/>
                </a:defRPr>
              </a:pPr>
            </a:p>
          </p:txBody>
        </p:sp>
        <p:sp>
          <p:nvSpPr>
            <p:cNvPr id="226" name="Next turn"/>
            <p:cNvSpPr txBox="1"/>
            <p:nvPr/>
          </p:nvSpPr>
          <p:spPr>
            <a:xfrm>
              <a:off x="31842" y="208281"/>
              <a:ext cx="2127067" cy="421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BD8500"/>
                  </a:solidFill>
                  <a:latin typeface="+mj-lt"/>
                  <a:ea typeface="+mj-ea"/>
                  <a:cs typeface="+mj-cs"/>
                  <a:sym typeface="Helvetica"/>
                </a:defRPr>
              </a:lvl1pPr>
            </a:lstStyle>
            <a:p>
              <a:pPr/>
              <a:r>
                <a:t>Next turn</a:t>
              </a:r>
            </a:p>
          </p:txBody>
        </p:sp>
      </p:grpSp>
      <p:sp>
        <p:nvSpPr>
          <p:cNvPr id="228" name="Sub-agent connection"/>
          <p:cNvSpPr/>
          <p:nvPr/>
        </p:nvSpPr>
        <p:spPr>
          <a:xfrm>
            <a:off x="6613087" y="3376377"/>
            <a:ext cx="1619252" cy="954"/>
          </a:xfrm>
          <a:prstGeom prst="line">
            <a:avLst/>
          </a:prstGeom>
          <a:ln w="28575">
            <a:solidFill>
              <a:srgbClr val="B8CADF"/>
            </a:solidFill>
          </a:ln>
        </p:spPr>
        <p:txBody>
          <a:bodyPr lIns="45718" tIns="45718" rIns="45718" bIns="45718"/>
          <a:lstStyle/>
          <a:p>
            <a:pPr/>
          </a:p>
        </p:txBody>
      </p:sp>
      <p:grpSp>
        <p:nvGrpSpPr>
          <p:cNvPr id="231" name="Sub-agent"/>
          <p:cNvGrpSpPr/>
          <p:nvPr/>
        </p:nvGrpSpPr>
        <p:grpSpPr>
          <a:xfrm>
            <a:off x="8232337" y="2957277"/>
            <a:ext cx="2190752" cy="838202"/>
            <a:chOff x="0" y="0"/>
            <a:chExt cx="2190750" cy="838200"/>
          </a:xfrm>
        </p:grpSpPr>
        <p:sp>
          <p:nvSpPr>
            <p:cNvPr id="229" name="Rounded Rectangle"/>
            <p:cNvSpPr/>
            <p:nvPr/>
          </p:nvSpPr>
          <p:spPr>
            <a:xfrm>
              <a:off x="0" y="0"/>
              <a:ext cx="2190751" cy="838201"/>
            </a:xfrm>
            <a:prstGeom prst="roundRect">
              <a:avLst>
                <a:gd name="adj" fmla="val 9091"/>
              </a:avLst>
            </a:prstGeom>
            <a:solidFill>
              <a:srgbClr val="EEF3F9"/>
            </a:solidFill>
            <a:ln w="19050" cap="flat">
              <a:solidFill>
                <a:srgbClr val="8056BF"/>
              </a:solidFill>
              <a:prstDash val="solid"/>
              <a:round/>
            </a:ln>
            <a:effectLst/>
          </p:spPr>
          <p:txBody>
            <a:bodyPr wrap="square" lIns="45718" tIns="45718" rIns="45718" bIns="45718" numCol="1" anchor="ctr">
              <a:noAutofit/>
            </a:bodyPr>
            <a:lstStyle/>
            <a:p>
              <a:pPr algn="ctr">
                <a:defRPr b="1" sz="2200">
                  <a:solidFill>
                    <a:srgbClr val="8056BF"/>
                  </a:solidFill>
                  <a:latin typeface="Arial"/>
                  <a:ea typeface="Arial"/>
                  <a:cs typeface="Arial"/>
                  <a:sym typeface="Arial"/>
                </a:defRPr>
              </a:pPr>
            </a:p>
          </p:txBody>
        </p:sp>
        <p:sp>
          <p:nvSpPr>
            <p:cNvPr id="230" name="Sub-agent"/>
            <p:cNvSpPr txBox="1"/>
            <p:nvPr/>
          </p:nvSpPr>
          <p:spPr>
            <a:xfrm>
              <a:off x="31842" y="208281"/>
              <a:ext cx="2127067" cy="421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8056BF"/>
                  </a:solidFill>
                  <a:latin typeface="+mj-lt"/>
                  <a:ea typeface="+mj-ea"/>
                  <a:cs typeface="+mj-cs"/>
                  <a:sym typeface="Helvetica"/>
                </a:defRPr>
              </a:lvl1pPr>
            </a:lstStyle>
            <a:p>
              <a:pPr/>
              <a:r>
                <a:t>Sub-agent</a:t>
              </a:r>
            </a:p>
          </p:txBody>
        </p:sp>
      </p:grpSp>
      <p:sp>
        <p:nvSpPr>
          <p:cNvPr id="232" name="Tool result connection"/>
          <p:cNvSpPr/>
          <p:nvPr/>
        </p:nvSpPr>
        <p:spPr>
          <a:xfrm>
            <a:off x="6613087" y="3376376"/>
            <a:ext cx="1619251" cy="1371602"/>
          </a:xfrm>
          <a:prstGeom prst="line">
            <a:avLst/>
          </a:prstGeom>
          <a:ln w="28575">
            <a:solidFill>
              <a:srgbClr val="B8CADF"/>
            </a:solidFill>
          </a:ln>
        </p:spPr>
        <p:txBody>
          <a:bodyPr lIns="45718" tIns="45718" rIns="45718" bIns="45718"/>
          <a:lstStyle/>
          <a:p>
            <a:pPr/>
          </a:p>
        </p:txBody>
      </p:sp>
      <p:grpSp>
        <p:nvGrpSpPr>
          <p:cNvPr id="235" name="Tool result"/>
          <p:cNvGrpSpPr/>
          <p:nvPr/>
        </p:nvGrpSpPr>
        <p:grpSpPr>
          <a:xfrm>
            <a:off x="8232337" y="4347926"/>
            <a:ext cx="2190752" cy="838202"/>
            <a:chOff x="0" y="0"/>
            <a:chExt cx="2190750" cy="838200"/>
          </a:xfrm>
        </p:grpSpPr>
        <p:sp>
          <p:nvSpPr>
            <p:cNvPr id="233" name="Rounded Rectangle"/>
            <p:cNvSpPr/>
            <p:nvPr/>
          </p:nvSpPr>
          <p:spPr>
            <a:xfrm>
              <a:off x="0" y="0"/>
              <a:ext cx="2190751" cy="838201"/>
            </a:xfrm>
            <a:prstGeom prst="roundRect">
              <a:avLst>
                <a:gd name="adj" fmla="val 9091"/>
              </a:avLst>
            </a:prstGeom>
            <a:solidFill>
              <a:srgbClr val="EEF3F9"/>
            </a:solidFill>
            <a:ln w="19050" cap="flat">
              <a:solidFill>
                <a:srgbClr val="109477"/>
              </a:solidFill>
              <a:prstDash val="solid"/>
              <a:round/>
            </a:ln>
            <a:effectLst/>
          </p:spPr>
          <p:txBody>
            <a:bodyPr wrap="square" lIns="45718" tIns="45718" rIns="45718" bIns="45718" numCol="1" anchor="ctr">
              <a:noAutofit/>
            </a:bodyPr>
            <a:lstStyle/>
            <a:p>
              <a:pPr algn="ctr">
                <a:defRPr b="1" sz="2200">
                  <a:solidFill>
                    <a:srgbClr val="109477"/>
                  </a:solidFill>
                  <a:latin typeface="Arial"/>
                  <a:ea typeface="Arial"/>
                  <a:cs typeface="Arial"/>
                  <a:sym typeface="Arial"/>
                </a:defRPr>
              </a:pPr>
            </a:p>
          </p:txBody>
        </p:sp>
        <p:sp>
          <p:nvSpPr>
            <p:cNvPr id="234" name="Tool result"/>
            <p:cNvSpPr txBox="1"/>
            <p:nvPr/>
          </p:nvSpPr>
          <p:spPr>
            <a:xfrm>
              <a:off x="31842" y="208281"/>
              <a:ext cx="2127067" cy="421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109477"/>
                  </a:solidFill>
                  <a:latin typeface="+mj-lt"/>
                  <a:ea typeface="+mj-ea"/>
                  <a:cs typeface="+mj-cs"/>
                  <a:sym typeface="Helvetica"/>
                </a:defRPr>
              </a:lvl1pPr>
            </a:lstStyle>
            <a:p>
              <a:pPr/>
              <a:r>
                <a:t>Tool result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227"/>
                                        </p:tgtEl>
                                        <p:attrNameLst>
                                          <p:attrName>style.visibility</p:attrName>
                                        </p:attrNameLst>
                                      </p:cBhvr>
                                      <p:to>
                                        <p:strVal val="visible"/>
                                      </p:to>
                                    </p:set>
                                    <p:animEffect filter="fade" transition="in">
                                      <p:cBhvr>
                                        <p:cTn id="7" dur="1000"/>
                                        <p:tgtEl>
                                          <p:spTgt spid="227"/>
                                        </p:tgtEl>
                                      </p:cBhvr>
                                    </p:animEffec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224"/>
                                        </p:tgtEl>
                                        <p:attrNameLst>
                                          <p:attrName>style.visibility</p:attrName>
                                        </p:attrNameLst>
                                      </p:cBhvr>
                                      <p:to>
                                        <p:strVal val="visible"/>
                                      </p:to>
                                    </p:set>
                                    <p:animEffect filter="fade" transition="in">
                                      <p:cBhvr>
                                        <p:cTn id="11" dur="1000"/>
                                        <p:tgtEl>
                                          <p:spTgt spid="22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31"/>
                                        </p:tgtEl>
                                        <p:attrNameLst>
                                          <p:attrName>style.visibility</p:attrName>
                                        </p:attrNameLst>
                                      </p:cBhvr>
                                      <p:to>
                                        <p:strVal val="visible"/>
                                      </p:to>
                                    </p:set>
                                    <p:animEffect filter="fade" transition="in">
                                      <p:cBhvr>
                                        <p:cTn id="16" dur="1000"/>
                                        <p:tgtEl>
                                          <p:spTgt spid="231"/>
                                        </p:tgtEl>
                                      </p:cBhvr>
                                    </p:animEffect>
                                  </p:childTnLst>
                                </p:cTn>
                              </p:par>
                            </p:childTnLst>
                          </p:cTn>
                        </p:par>
                        <p:par>
                          <p:cTn id="17" fill="hold">
                            <p:stCondLst>
                              <p:cond delay="1000"/>
                            </p:stCondLst>
                            <p:childTnLst>
                              <p:par>
                                <p:cTn id="18" presetClass="entr" nodeType="afterEffect" presetID="10" grpId="4" fill="hold">
                                  <p:stCondLst>
                                    <p:cond delay="0"/>
                                  </p:stCondLst>
                                  <p:iterate type="el" backwards="0">
                                    <p:tmAbs val="0"/>
                                  </p:iterate>
                                  <p:childTnLst>
                                    <p:set>
                                      <p:cBhvr>
                                        <p:cTn id="19" fill="hold"/>
                                        <p:tgtEl>
                                          <p:spTgt spid="228"/>
                                        </p:tgtEl>
                                        <p:attrNameLst>
                                          <p:attrName>style.visibility</p:attrName>
                                        </p:attrNameLst>
                                      </p:cBhvr>
                                      <p:to>
                                        <p:strVal val="visible"/>
                                      </p:to>
                                    </p:set>
                                    <p:animEffect filter="fade" transition="in">
                                      <p:cBhvr>
                                        <p:cTn id="20" dur="1000"/>
                                        <p:tgtEl>
                                          <p:spTgt spid="228"/>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232"/>
                                        </p:tgtEl>
                                        <p:attrNameLst>
                                          <p:attrName>style.visibility</p:attrName>
                                        </p:attrNameLst>
                                      </p:cBhvr>
                                      <p:to>
                                        <p:strVal val="visible"/>
                                      </p:to>
                                    </p:set>
                                    <p:animEffect filter="fade" transition="in">
                                      <p:cBhvr>
                                        <p:cTn id="25" dur="1000"/>
                                        <p:tgtEl>
                                          <p:spTgt spid="232"/>
                                        </p:tgtEl>
                                      </p:cBhvr>
                                    </p:animEffect>
                                  </p:childTnLst>
                                </p:cTn>
                              </p:par>
                            </p:childTnLst>
                          </p:cTn>
                        </p:par>
                        <p:par>
                          <p:cTn id="26" fill="hold">
                            <p:stCondLst>
                              <p:cond delay="1000"/>
                            </p:stCondLst>
                            <p:childTnLst>
                              <p:par>
                                <p:cTn id="27" presetClass="entr" nodeType="afterEffect" presetID="10" grpId="6" fill="hold">
                                  <p:stCondLst>
                                    <p:cond delay="0"/>
                                  </p:stCondLst>
                                  <p:iterate type="el" backwards="0">
                                    <p:tmAbs val="0"/>
                                  </p:iterate>
                                  <p:childTnLst>
                                    <p:set>
                                      <p:cBhvr>
                                        <p:cTn id="28" fill="hold"/>
                                        <p:tgtEl>
                                          <p:spTgt spid="235"/>
                                        </p:tgtEl>
                                        <p:attrNameLst>
                                          <p:attrName>style.visibility</p:attrName>
                                        </p:attrNameLst>
                                      </p:cBhvr>
                                      <p:to>
                                        <p:strVal val="visible"/>
                                      </p:to>
                                    </p:set>
                                    <p:animEffect filter="fade" transition="in">
                                      <p:cBhvr>
                                        <p:cTn id="29"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8" grpId="4"/>
      <p:bldP build="whole" bldLvl="1" animBg="1" rev="0" advAuto="0" spid="232" grpId="5"/>
      <p:bldP build="whole" bldLvl="1" animBg="1" rev="0" advAuto="0" spid="227" grpId="1"/>
      <p:bldP build="whole" bldLvl="1" animBg="1" rev="0" advAuto="0" spid="235" grpId="6"/>
      <p:bldP build="whole" bldLvl="1" animBg="1" rev="0" advAuto="0" spid="231" grpId="3"/>
      <p:bldP build="whole" bldLvl="1" animBg="1" rev="0" advAuto="0" spid="224"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How Agents Reuse Context</a:t>
            </a:r>
          </a:p>
        </p:txBody>
      </p:sp>
      <p:sp>
        <p:nvSpPr>
          <p:cNvPr id="240"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06</a:t>
            </a:r>
          </a:p>
        </p:txBody>
      </p:sp>
      <p:pic>
        <p:nvPicPr>
          <p:cNvPr id="241"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242"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pic>
        <p:nvPicPr>
          <p:cNvPr id="243" name="pasted-movie.png" descr="pasted-movie.png"/>
          <p:cNvPicPr>
            <a:picLocks noChangeAspect="1"/>
          </p:cNvPicPr>
          <p:nvPr/>
        </p:nvPicPr>
        <p:blipFill>
          <a:blip r:embed="rId5">
            <a:extLst/>
          </a:blip>
          <a:stretch>
            <a:fillRect/>
          </a:stretch>
        </p:blipFill>
        <p:spPr>
          <a:xfrm>
            <a:off x="-2" y="1315719"/>
            <a:ext cx="12192002" cy="406400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标题 2"/>
          <p:cNvSpPr txBox="1"/>
          <p:nvPr>
            <p:ph type="title"/>
          </p:nvPr>
        </p:nvSpPr>
        <p:spPr>
          <a:xfrm>
            <a:off x="421004" y="825500"/>
            <a:ext cx="3550923" cy="2812415"/>
          </a:xfrm>
          <a:prstGeom prst="rect">
            <a:avLst/>
          </a:prstGeom>
        </p:spPr>
        <p:txBody>
          <a:bodyPr/>
          <a:lstStyle>
            <a:lvl1pPr defTabSz="813816">
              <a:defRPr sz="17800"/>
            </a:lvl1pPr>
          </a:lstStyle>
          <a:p>
            <a:pPr/>
            <a:r>
              <a:t>02</a:t>
            </a:r>
          </a:p>
        </p:txBody>
      </p:sp>
      <p:sp>
        <p:nvSpPr>
          <p:cNvPr id="248" name="文本占位符 1"/>
          <p:cNvSpPr txBox="1"/>
          <p:nvPr>
            <p:ph type="body" sz="quarter" idx="1"/>
          </p:nvPr>
        </p:nvSpPr>
        <p:spPr>
          <a:xfrm>
            <a:off x="569208" y="2821714"/>
            <a:ext cx="8887195" cy="860045"/>
          </a:xfrm>
          <a:prstGeom prst="rect">
            <a:avLst/>
          </a:prstGeom>
        </p:spPr>
        <p:txBody>
          <a:bodyPr/>
          <a:lstStyle/>
          <a:p>
            <a:pPr/>
            <a:r>
              <a:t>RadixAttention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RadixAttention: KV Reuse by Token Prefix</a:t>
            </a:r>
          </a:p>
        </p:txBody>
      </p:sp>
      <p:sp>
        <p:nvSpPr>
          <p:cNvPr id="251"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08</a:t>
            </a:r>
          </a:p>
        </p:txBody>
      </p:sp>
      <p:pic>
        <p:nvPicPr>
          <p:cNvPr id="252" name="Picture 4" descr="Picture 4"/>
          <p:cNvPicPr>
            <a:picLocks noChangeAspect="1"/>
          </p:cNvPicPr>
          <p:nvPr/>
        </p:nvPicPr>
        <p:blipFill>
          <a:blip r:embed="rId3">
            <a:extLst/>
          </a:blip>
          <a:stretch>
            <a:fillRect/>
          </a:stretch>
        </p:blipFill>
        <p:spPr>
          <a:xfrm>
            <a:off x="10472062" y="6034562"/>
            <a:ext cx="842012" cy="256224"/>
          </a:xfrm>
          <a:prstGeom prst="rect">
            <a:avLst/>
          </a:prstGeom>
          <a:ln w="12700">
            <a:miter lim="400000"/>
          </a:ln>
        </p:spPr>
      </p:pic>
      <p:pic>
        <p:nvPicPr>
          <p:cNvPr id="253"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254" name="v-79"/>
          <p:cNvSpPr/>
          <p:nvPr/>
        </p:nvSpPr>
        <p:spPr>
          <a:xfrm>
            <a:off x="533399" y="815849"/>
            <a:ext cx="11049001" cy="5219701"/>
          </a:xfrm>
          <a:prstGeom prst="rect">
            <a:avLst/>
          </a:prstGeom>
          <a:solidFill>
            <a:srgbClr val="FFFFFF"/>
          </a:solidFill>
          <a:ln w="12700">
            <a:miter lim="400000"/>
          </a:ln>
        </p:spPr>
        <p:txBody>
          <a:bodyPr lIns="45718" tIns="45718" rIns="45718" bIns="45718"/>
          <a:lstStyle/>
          <a:p>
            <a:pPr>
              <a:defRPr>
                <a:latin typeface="+mj-lt"/>
                <a:ea typeface="+mj-ea"/>
                <a:cs typeface="+mj-cs"/>
                <a:sym typeface="Helvetica"/>
              </a:defRPr>
            </a:pPr>
          </a:p>
        </p:txBody>
      </p:sp>
      <p:sp>
        <p:nvSpPr>
          <p:cNvPr id="255" name="v-80"/>
          <p:cNvSpPr txBox="1"/>
          <p:nvPr/>
        </p:nvSpPr>
        <p:spPr>
          <a:xfrm>
            <a:off x="769619" y="929004"/>
            <a:ext cx="10576561"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2B5294"/>
                </a:solidFill>
                <a:latin typeface="+mj-lt"/>
                <a:ea typeface="+mj-ea"/>
                <a:cs typeface="+mj-cs"/>
                <a:sym typeface="Helvetica"/>
              </a:defRPr>
            </a:lvl1pPr>
          </a:lstStyle>
          <a:p>
            <a:pPr/>
            <a:r>
              <a:t>Reuse the matching prefix; prefill only the new suffix</a:t>
            </a:r>
          </a:p>
        </p:txBody>
      </p:sp>
      <p:sp>
        <p:nvSpPr>
          <p:cNvPr id="256" name="v-81"/>
          <p:cNvSpPr/>
          <p:nvPr/>
        </p:nvSpPr>
        <p:spPr>
          <a:xfrm>
            <a:off x="1905000" y="2333625"/>
            <a:ext cx="2095500" cy="838200"/>
          </a:xfrm>
          <a:prstGeom prst="roundRect">
            <a:avLst>
              <a:gd name="adj" fmla="val 9091"/>
            </a:avLst>
          </a:prstGeom>
          <a:solidFill>
            <a:srgbClr val="EEF3F9"/>
          </a:solidFill>
          <a:ln w="19050">
            <a:solidFill>
              <a:srgbClr val="2B5294"/>
            </a:solidFill>
          </a:ln>
        </p:spPr>
        <p:txBody>
          <a:bodyPr lIns="45718" tIns="45718" rIns="45718" bIns="45718"/>
          <a:lstStyle/>
          <a:p>
            <a:pPr>
              <a:defRPr>
                <a:latin typeface="+mj-lt"/>
                <a:ea typeface="+mj-ea"/>
                <a:cs typeface="+mj-cs"/>
                <a:sym typeface="Helvetica"/>
              </a:defRPr>
            </a:pPr>
          </a:p>
        </p:txBody>
      </p:sp>
      <p:sp>
        <p:nvSpPr>
          <p:cNvPr id="257" name="v-82"/>
          <p:cNvSpPr txBox="1"/>
          <p:nvPr/>
        </p:nvSpPr>
        <p:spPr>
          <a:xfrm>
            <a:off x="2007870" y="2546475"/>
            <a:ext cx="1889762" cy="4124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200">
                <a:solidFill>
                  <a:srgbClr val="2B5294"/>
                </a:solidFill>
                <a:latin typeface="Arial"/>
                <a:ea typeface="Arial"/>
                <a:cs typeface="Arial"/>
                <a:sym typeface="Arial"/>
              </a:defRPr>
            </a:lvl1pPr>
          </a:lstStyle>
          <a:p>
            <a:pPr/>
            <a:r>
              <a:t>A B C</a:t>
            </a:r>
          </a:p>
        </p:txBody>
      </p:sp>
      <p:sp>
        <p:nvSpPr>
          <p:cNvPr id="258" name="v-83"/>
          <p:cNvSpPr/>
          <p:nvPr/>
        </p:nvSpPr>
        <p:spPr>
          <a:xfrm flipV="1">
            <a:off x="4000500" y="2038349"/>
            <a:ext cx="1476377" cy="714377"/>
          </a:xfrm>
          <a:prstGeom prst="line">
            <a:avLst/>
          </a:prstGeom>
          <a:ln w="28575">
            <a:solidFill>
              <a:srgbClr val="B8CADF"/>
            </a:solidFill>
          </a:ln>
        </p:spPr>
        <p:txBody>
          <a:bodyPr lIns="45718" tIns="45718" rIns="45718" bIns="45718"/>
          <a:lstStyle/>
          <a:p>
            <a:pPr/>
          </a:p>
        </p:txBody>
      </p:sp>
      <p:sp>
        <p:nvSpPr>
          <p:cNvPr id="259" name="v-84"/>
          <p:cNvSpPr/>
          <p:nvPr/>
        </p:nvSpPr>
        <p:spPr>
          <a:xfrm>
            <a:off x="4000500" y="2752724"/>
            <a:ext cx="1476377" cy="714377"/>
          </a:xfrm>
          <a:prstGeom prst="line">
            <a:avLst/>
          </a:prstGeom>
          <a:ln w="28575">
            <a:solidFill>
              <a:srgbClr val="B8CADF"/>
            </a:solidFill>
          </a:ln>
        </p:spPr>
        <p:txBody>
          <a:bodyPr lIns="45718" tIns="45718" rIns="45718" bIns="45718"/>
          <a:lstStyle/>
          <a:p>
            <a:pPr/>
          </a:p>
        </p:txBody>
      </p:sp>
      <p:sp>
        <p:nvSpPr>
          <p:cNvPr id="260" name="v-85"/>
          <p:cNvSpPr/>
          <p:nvPr/>
        </p:nvSpPr>
        <p:spPr>
          <a:xfrm>
            <a:off x="5476875" y="1619250"/>
            <a:ext cx="1714500" cy="838200"/>
          </a:xfrm>
          <a:prstGeom prst="roundRect">
            <a:avLst>
              <a:gd name="adj" fmla="val 9091"/>
            </a:avLst>
          </a:prstGeom>
          <a:solidFill>
            <a:srgbClr val="EEF3F9"/>
          </a:solidFill>
          <a:ln w="19050">
            <a:solidFill>
              <a:srgbClr val="2B5294"/>
            </a:solidFill>
          </a:ln>
        </p:spPr>
        <p:txBody>
          <a:bodyPr lIns="45718" tIns="45718" rIns="45718" bIns="45718"/>
          <a:lstStyle/>
          <a:p>
            <a:pPr>
              <a:defRPr>
                <a:latin typeface="+mj-lt"/>
                <a:ea typeface="+mj-ea"/>
                <a:cs typeface="+mj-cs"/>
                <a:sym typeface="Helvetica"/>
              </a:defRPr>
            </a:pPr>
          </a:p>
        </p:txBody>
      </p:sp>
      <p:sp>
        <p:nvSpPr>
          <p:cNvPr id="261" name="v-86"/>
          <p:cNvSpPr txBox="1"/>
          <p:nvPr/>
        </p:nvSpPr>
        <p:spPr>
          <a:xfrm>
            <a:off x="5579745" y="1832100"/>
            <a:ext cx="1508762" cy="4124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200">
                <a:solidFill>
                  <a:srgbClr val="2B5294"/>
                </a:solidFill>
                <a:latin typeface="Arial"/>
                <a:ea typeface="Arial"/>
                <a:cs typeface="Arial"/>
                <a:sym typeface="Arial"/>
              </a:defRPr>
            </a:lvl1pPr>
          </a:lstStyle>
          <a:p>
            <a:pPr/>
            <a:r>
              <a:t>D E</a:t>
            </a:r>
          </a:p>
        </p:txBody>
      </p:sp>
      <p:sp>
        <p:nvSpPr>
          <p:cNvPr id="262" name="v-87"/>
          <p:cNvSpPr/>
          <p:nvPr/>
        </p:nvSpPr>
        <p:spPr>
          <a:xfrm>
            <a:off x="5476875" y="3048000"/>
            <a:ext cx="1714500" cy="838200"/>
          </a:xfrm>
          <a:prstGeom prst="roundRect">
            <a:avLst>
              <a:gd name="adj" fmla="val 9091"/>
            </a:avLst>
          </a:prstGeom>
          <a:solidFill>
            <a:srgbClr val="EEF3F9"/>
          </a:solidFill>
          <a:ln w="19050">
            <a:solidFill>
              <a:srgbClr val="BD8500"/>
            </a:solidFill>
          </a:ln>
        </p:spPr>
        <p:txBody>
          <a:bodyPr lIns="45718" tIns="45718" rIns="45718" bIns="45718"/>
          <a:lstStyle/>
          <a:p>
            <a:pPr>
              <a:defRPr>
                <a:latin typeface="+mj-lt"/>
                <a:ea typeface="+mj-ea"/>
                <a:cs typeface="+mj-cs"/>
                <a:sym typeface="Helvetica"/>
              </a:defRPr>
            </a:pPr>
          </a:p>
        </p:txBody>
      </p:sp>
      <p:sp>
        <p:nvSpPr>
          <p:cNvPr id="263" name="v-88"/>
          <p:cNvSpPr txBox="1"/>
          <p:nvPr/>
        </p:nvSpPr>
        <p:spPr>
          <a:xfrm>
            <a:off x="5579745" y="3260850"/>
            <a:ext cx="1508762" cy="4124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200">
                <a:solidFill>
                  <a:srgbClr val="BD8500"/>
                </a:solidFill>
                <a:latin typeface="Arial"/>
                <a:ea typeface="Arial"/>
                <a:cs typeface="Arial"/>
                <a:sym typeface="Arial"/>
              </a:defRPr>
            </a:lvl1pPr>
          </a:lstStyle>
          <a:p>
            <a:pPr/>
            <a:r>
              <a:t>F G</a:t>
            </a:r>
          </a:p>
        </p:txBody>
      </p:sp>
      <p:sp>
        <p:nvSpPr>
          <p:cNvPr id="264" name="v-89"/>
          <p:cNvSpPr txBox="1"/>
          <p:nvPr/>
        </p:nvSpPr>
        <p:spPr>
          <a:xfrm>
            <a:off x="8332468" y="1741805"/>
            <a:ext cx="2956562" cy="497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700">
                <a:solidFill>
                  <a:srgbClr val="2B5294"/>
                </a:solidFill>
                <a:latin typeface="+mj-lt"/>
                <a:ea typeface="+mj-ea"/>
                <a:cs typeface="+mj-cs"/>
                <a:sym typeface="Helvetica"/>
              </a:defRPr>
            </a:lvl1pPr>
          </a:lstStyle>
          <a:p>
            <a:pPr/>
            <a:r>
              <a:t>Existing KV</a:t>
            </a:r>
          </a:p>
        </p:txBody>
      </p:sp>
      <p:sp>
        <p:nvSpPr>
          <p:cNvPr id="265" name="v-90"/>
          <p:cNvSpPr txBox="1"/>
          <p:nvPr/>
        </p:nvSpPr>
        <p:spPr>
          <a:xfrm>
            <a:off x="8332468" y="3170555"/>
            <a:ext cx="2956562" cy="497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700">
                <a:solidFill>
                  <a:srgbClr val="BD8500"/>
                </a:solidFill>
                <a:latin typeface="+mj-lt"/>
                <a:ea typeface="+mj-ea"/>
                <a:cs typeface="+mj-cs"/>
                <a:sym typeface="Helvetica"/>
              </a:defRPr>
            </a:lvl1pPr>
          </a:lstStyle>
          <a:p>
            <a:pPr/>
            <a:r>
              <a:t>New computation</a:t>
            </a:r>
          </a:p>
        </p:txBody>
      </p:sp>
      <p:sp>
        <p:nvSpPr>
          <p:cNvPr id="266" name="v-91"/>
          <p:cNvSpPr txBox="1"/>
          <p:nvPr/>
        </p:nvSpPr>
        <p:spPr>
          <a:xfrm>
            <a:off x="788669" y="4446905"/>
            <a:ext cx="1718312" cy="421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200">
                <a:solidFill>
                  <a:srgbClr val="203752"/>
                </a:solidFill>
                <a:latin typeface="+mj-lt"/>
                <a:ea typeface="+mj-ea"/>
                <a:cs typeface="+mj-cs"/>
                <a:sym typeface="Helvetica"/>
              </a:defRPr>
            </a:lvl1pPr>
          </a:lstStyle>
          <a:p>
            <a:pPr/>
            <a:r>
              <a:t>New request</a:t>
            </a:r>
          </a:p>
        </p:txBody>
      </p:sp>
      <p:sp>
        <p:nvSpPr>
          <p:cNvPr id="267" name="v-92"/>
          <p:cNvSpPr/>
          <p:nvPr/>
        </p:nvSpPr>
        <p:spPr>
          <a:xfrm>
            <a:off x="2762250" y="4333875"/>
            <a:ext cx="4857750" cy="628650"/>
          </a:xfrm>
          <a:prstGeom prst="roundRect">
            <a:avLst>
              <a:gd name="adj" fmla="val 12121"/>
            </a:avLst>
          </a:prstGeom>
          <a:solidFill>
            <a:srgbClr val="2B5294"/>
          </a:solidFill>
          <a:ln w="19050">
            <a:solidFill>
              <a:srgbClr val="2B5294"/>
            </a:solidFill>
          </a:ln>
        </p:spPr>
        <p:txBody>
          <a:bodyPr lIns="45718" tIns="45718" rIns="45718" bIns="45718"/>
          <a:lstStyle/>
          <a:p>
            <a:pPr>
              <a:defRPr>
                <a:latin typeface="+mj-lt"/>
                <a:ea typeface="+mj-ea"/>
                <a:cs typeface="+mj-cs"/>
                <a:sym typeface="Helvetica"/>
              </a:defRPr>
            </a:pPr>
          </a:p>
        </p:txBody>
      </p:sp>
      <p:sp>
        <p:nvSpPr>
          <p:cNvPr id="268" name="v-93"/>
          <p:cNvSpPr txBox="1"/>
          <p:nvPr/>
        </p:nvSpPr>
        <p:spPr>
          <a:xfrm>
            <a:off x="2865120" y="4423524"/>
            <a:ext cx="4652010"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500">
                <a:solidFill>
                  <a:srgbClr val="2B5294"/>
                </a:solidFill>
                <a:latin typeface="Arial"/>
                <a:ea typeface="Arial"/>
                <a:cs typeface="Arial"/>
                <a:sym typeface="Arial"/>
              </a:defRPr>
            </a:lvl1pPr>
          </a:lstStyle>
          <a:p>
            <a:pPr/>
            <a:r>
              <a:t>A B C</a:t>
            </a:r>
          </a:p>
        </p:txBody>
      </p:sp>
      <p:sp>
        <p:nvSpPr>
          <p:cNvPr id="269" name="v-94"/>
          <p:cNvSpPr txBox="1"/>
          <p:nvPr/>
        </p:nvSpPr>
        <p:spPr>
          <a:xfrm>
            <a:off x="2903220" y="4423524"/>
            <a:ext cx="4575810"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500">
                <a:solidFill>
                  <a:srgbClr val="FFFFFF"/>
                </a:solidFill>
                <a:latin typeface="Arial"/>
                <a:ea typeface="Arial"/>
                <a:cs typeface="Arial"/>
                <a:sym typeface="Arial"/>
              </a:defRPr>
            </a:lvl1pPr>
          </a:lstStyle>
          <a:p>
            <a:pPr/>
            <a:r>
              <a:t>A B C</a:t>
            </a:r>
          </a:p>
        </p:txBody>
      </p:sp>
      <p:sp>
        <p:nvSpPr>
          <p:cNvPr id="270" name="v-95"/>
          <p:cNvSpPr/>
          <p:nvPr/>
        </p:nvSpPr>
        <p:spPr>
          <a:xfrm>
            <a:off x="7620000" y="4333875"/>
            <a:ext cx="3000375" cy="628650"/>
          </a:xfrm>
          <a:prstGeom prst="roundRect">
            <a:avLst>
              <a:gd name="adj" fmla="val 12121"/>
            </a:avLst>
          </a:prstGeom>
          <a:solidFill>
            <a:srgbClr val="BD8500"/>
          </a:solidFill>
          <a:ln w="19050">
            <a:solidFill>
              <a:srgbClr val="BD8500"/>
            </a:solidFill>
          </a:ln>
        </p:spPr>
        <p:txBody>
          <a:bodyPr lIns="45718" tIns="45718" rIns="45718" bIns="45718"/>
          <a:lstStyle/>
          <a:p>
            <a:pPr>
              <a:defRPr>
                <a:latin typeface="+mj-lt"/>
                <a:ea typeface="+mj-ea"/>
                <a:cs typeface="+mj-cs"/>
                <a:sym typeface="Helvetica"/>
              </a:defRPr>
            </a:pPr>
          </a:p>
        </p:txBody>
      </p:sp>
      <p:sp>
        <p:nvSpPr>
          <p:cNvPr id="271" name="v-96"/>
          <p:cNvSpPr txBox="1"/>
          <p:nvPr/>
        </p:nvSpPr>
        <p:spPr>
          <a:xfrm>
            <a:off x="7722868" y="4423524"/>
            <a:ext cx="2794637"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500">
                <a:solidFill>
                  <a:srgbClr val="BD8500"/>
                </a:solidFill>
                <a:latin typeface="Arial"/>
                <a:ea typeface="Arial"/>
                <a:cs typeface="Arial"/>
                <a:sym typeface="Arial"/>
              </a:defRPr>
            </a:lvl1pPr>
          </a:lstStyle>
          <a:p>
            <a:pPr/>
            <a:r>
              <a:t>F G</a:t>
            </a:r>
          </a:p>
        </p:txBody>
      </p:sp>
      <p:sp>
        <p:nvSpPr>
          <p:cNvPr id="272" name="v-97"/>
          <p:cNvSpPr txBox="1"/>
          <p:nvPr/>
        </p:nvSpPr>
        <p:spPr>
          <a:xfrm>
            <a:off x="7760968" y="4423524"/>
            <a:ext cx="2718437" cy="4493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500">
                <a:solidFill>
                  <a:srgbClr val="FFFFFF"/>
                </a:solidFill>
                <a:latin typeface="Arial"/>
                <a:ea typeface="Arial"/>
                <a:cs typeface="Arial"/>
                <a:sym typeface="Arial"/>
              </a:defRPr>
            </a:lvl1pPr>
          </a:lstStyle>
          <a:p>
            <a:pPr/>
            <a:r>
              <a:t>F G</a:t>
            </a:r>
          </a:p>
        </p:txBody>
      </p:sp>
      <p:sp>
        <p:nvSpPr>
          <p:cNvPr id="273" name="v-98"/>
          <p:cNvSpPr txBox="1"/>
          <p:nvPr/>
        </p:nvSpPr>
        <p:spPr>
          <a:xfrm>
            <a:off x="4255770" y="5051743"/>
            <a:ext cx="2861312" cy="421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200">
                <a:solidFill>
                  <a:srgbClr val="2B5294"/>
                </a:solidFill>
                <a:latin typeface="+mj-lt"/>
                <a:ea typeface="+mj-ea"/>
                <a:cs typeface="+mj-cs"/>
                <a:sym typeface="Helvetica"/>
              </a:defRPr>
            </a:lvl1pPr>
          </a:lstStyle>
          <a:p>
            <a:pPr/>
            <a:r>
              <a:t>Reuse KV</a:t>
            </a:r>
          </a:p>
        </p:txBody>
      </p:sp>
      <p:sp>
        <p:nvSpPr>
          <p:cNvPr id="274" name="v-99"/>
          <p:cNvSpPr txBox="1"/>
          <p:nvPr/>
        </p:nvSpPr>
        <p:spPr>
          <a:xfrm>
            <a:off x="8522968" y="5056312"/>
            <a:ext cx="1908812" cy="4124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200">
                <a:solidFill>
                  <a:srgbClr val="BD8500"/>
                </a:solidFill>
                <a:latin typeface="Arial"/>
                <a:ea typeface="Arial"/>
                <a:cs typeface="Arial"/>
                <a:sym typeface="Arial"/>
              </a:defRPr>
            </a:lvl1pPr>
          </a:lstStyle>
          <a:p>
            <a:pPr/>
            <a:r>
              <a:t>prefill</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RadixAttention: A Partial Prefix Hit</a:t>
            </a:r>
          </a:p>
        </p:txBody>
      </p:sp>
      <p:sp>
        <p:nvSpPr>
          <p:cNvPr id="279" name="TextBox 2"/>
          <p:cNvSpPr txBox="1"/>
          <p:nvPr/>
        </p:nvSpPr>
        <p:spPr>
          <a:xfrm>
            <a:off x="721994" y="925353"/>
            <a:ext cx="1064419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5091"/>
                </a:solidFill>
                <a:latin typeface="+mj-lt"/>
                <a:ea typeface="+mj-ea"/>
                <a:cs typeface="+mj-cs"/>
                <a:sym typeface="Helvetica"/>
              </a:defRPr>
            </a:lvl1pPr>
          </a:lstStyle>
          <a:p>
            <a:pPr/>
            <a:r>
              <a:t>Request A B C F G reuses KV for A B C</a:t>
            </a:r>
          </a:p>
        </p:txBody>
      </p:sp>
      <p:sp>
        <p:nvSpPr>
          <p:cNvPr id="280"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09</a:t>
            </a:r>
          </a:p>
        </p:txBody>
      </p:sp>
      <p:pic>
        <p:nvPicPr>
          <p:cNvPr id="281"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sp>
        <p:nvSpPr>
          <p:cNvPr id="282" name="Rounded Rectangle 43"/>
          <p:cNvSpPr/>
          <p:nvPr/>
        </p:nvSpPr>
        <p:spPr>
          <a:xfrm>
            <a:off x="722376" y="4860035"/>
            <a:ext cx="41150" cy="402338"/>
          </a:xfrm>
          <a:prstGeom prst="roundRect">
            <a:avLst>
              <a:gd name="adj" fmla="val 50000"/>
            </a:avLst>
          </a:prstGeom>
          <a:solidFill>
            <a:srgbClr val="285091"/>
          </a:solidFill>
          <a:ln w="12700">
            <a:miter lim="400000"/>
          </a:ln>
        </p:spPr>
        <p:txBody>
          <a:bodyPr lIns="45718" tIns="45718" rIns="45718" bIns="45718" anchor="ctr"/>
          <a:lstStyle/>
          <a:p>
            <a:pPr>
              <a:defRPr>
                <a:solidFill>
                  <a:srgbClr val="FFFFFF"/>
                </a:solidFill>
                <a:latin typeface="+mj-lt"/>
                <a:ea typeface="+mj-ea"/>
                <a:cs typeface="+mj-cs"/>
                <a:sym typeface="Helvetica"/>
              </a:defRPr>
            </a:pPr>
          </a:p>
        </p:txBody>
      </p:sp>
      <p:sp>
        <p:nvSpPr>
          <p:cNvPr id="283" name="TextBox 44"/>
          <p:cNvSpPr txBox="1"/>
          <p:nvPr/>
        </p:nvSpPr>
        <p:spPr>
          <a:xfrm>
            <a:off x="905256" y="4940552"/>
            <a:ext cx="95097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5000"/>
              </a:lnSpc>
              <a:defRPr sz="1600">
                <a:solidFill>
                  <a:srgbClr val="233852"/>
                </a:solidFill>
                <a:latin typeface="+mj-lt"/>
                <a:ea typeface="+mj-ea"/>
                <a:cs typeface="+mj-cs"/>
                <a:sym typeface="Helvetica"/>
              </a:defRPr>
            </a:lvl1pPr>
          </a:lstStyle>
          <a:p>
            <a:pPr/>
            <a:r>
              <a:t>Cache one copy of the shared prefix; compute only new tokens.</a:t>
            </a:r>
          </a:p>
        </p:txBody>
      </p:sp>
      <p:pic>
        <p:nvPicPr>
          <p:cNvPr id="284"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grpSp>
        <p:nvGrpSpPr>
          <p:cNvPr id="307" name="RadixAttention step 0"/>
          <p:cNvGrpSpPr/>
          <p:nvPr/>
        </p:nvGrpSpPr>
        <p:grpSpPr>
          <a:xfrm>
            <a:off x="721993" y="1381125"/>
            <a:ext cx="10644192" cy="3352800"/>
            <a:chOff x="0" y="0"/>
            <a:chExt cx="10644191" cy="3352800"/>
          </a:xfrm>
        </p:grpSpPr>
        <p:sp>
          <p:nvSpPr>
            <p:cNvPr id="285" name="scene-0-mask"/>
            <p:cNvSpPr/>
            <p:nvPr/>
          </p:nvSpPr>
          <p:spPr>
            <a:xfrm>
              <a:off x="-1" y="0"/>
              <a:ext cx="10644192" cy="33528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286" name="scene-0-tree-panel"/>
            <p:cNvSpPr/>
            <p:nvPr/>
          </p:nvSpPr>
          <p:spPr>
            <a:xfrm>
              <a:off x="-1" y="22858"/>
              <a:ext cx="6418902"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287" name="scene-0-explanation-panel"/>
            <p:cNvSpPr/>
            <p:nvPr/>
          </p:nvSpPr>
          <p:spPr>
            <a:xfrm>
              <a:off x="6702744" y="22858"/>
              <a:ext cx="3941447"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288" name="cached-label"/>
            <p:cNvSpPr txBox="1"/>
            <p:nvPr/>
          </p:nvSpPr>
          <p:spPr>
            <a:xfrm>
              <a:off x="259079" y="222248"/>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Cached</a:t>
              </a:r>
            </a:p>
          </p:txBody>
        </p:sp>
        <p:sp>
          <p:nvSpPr>
            <p:cNvPr id="289" name="cached-tokens"/>
            <p:cNvSpPr txBox="1"/>
            <p:nvPr/>
          </p:nvSpPr>
          <p:spPr>
            <a:xfrm>
              <a:off x="1611630" y="194238"/>
              <a:ext cx="4191003" cy="2592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A  B  C  D  E</a:t>
              </a:r>
            </a:p>
          </p:txBody>
        </p:sp>
        <p:sp>
          <p:nvSpPr>
            <p:cNvPr id="290" name="incoming-label"/>
            <p:cNvSpPr txBox="1"/>
            <p:nvPr/>
          </p:nvSpPr>
          <p:spPr>
            <a:xfrm>
              <a:off x="259079" y="631823"/>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New request</a:t>
              </a:r>
            </a:p>
          </p:txBody>
        </p:sp>
        <p:sp>
          <p:nvSpPr>
            <p:cNvPr id="291" name="request-token-0"/>
            <p:cNvSpPr txBox="1"/>
            <p:nvPr/>
          </p:nvSpPr>
          <p:spPr>
            <a:xfrm>
              <a:off x="16116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586B80"/>
                  </a:solidFill>
                  <a:latin typeface="Arial"/>
                  <a:ea typeface="Arial"/>
                  <a:cs typeface="Arial"/>
                  <a:sym typeface="Arial"/>
                </a:defRPr>
              </a:lvl1pPr>
            </a:lstStyle>
            <a:p>
              <a:pPr/>
              <a:r>
                <a:t>A</a:t>
              </a:r>
            </a:p>
          </p:txBody>
        </p:sp>
        <p:sp>
          <p:nvSpPr>
            <p:cNvPr id="292" name="request-token-1"/>
            <p:cNvSpPr txBox="1"/>
            <p:nvPr/>
          </p:nvSpPr>
          <p:spPr>
            <a:xfrm>
              <a:off x="207835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586B80"/>
                  </a:solidFill>
                  <a:latin typeface="Arial"/>
                  <a:ea typeface="Arial"/>
                  <a:cs typeface="Arial"/>
                  <a:sym typeface="Arial"/>
                </a:defRPr>
              </a:lvl1pPr>
            </a:lstStyle>
            <a:p>
              <a:pPr/>
              <a:r>
                <a:t>B</a:t>
              </a:r>
            </a:p>
          </p:txBody>
        </p:sp>
        <p:sp>
          <p:nvSpPr>
            <p:cNvPr id="293" name="request-token-2"/>
            <p:cNvSpPr txBox="1"/>
            <p:nvPr/>
          </p:nvSpPr>
          <p:spPr>
            <a:xfrm>
              <a:off x="254508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586B80"/>
                  </a:solidFill>
                  <a:latin typeface="Arial"/>
                  <a:ea typeface="Arial"/>
                  <a:cs typeface="Arial"/>
                  <a:sym typeface="Arial"/>
                </a:defRPr>
              </a:lvl1pPr>
            </a:lstStyle>
            <a:p>
              <a:pPr/>
              <a:r>
                <a:t>C</a:t>
              </a:r>
            </a:p>
          </p:txBody>
        </p:sp>
        <p:sp>
          <p:nvSpPr>
            <p:cNvPr id="294" name="request-token-3"/>
            <p:cNvSpPr txBox="1"/>
            <p:nvPr/>
          </p:nvSpPr>
          <p:spPr>
            <a:xfrm>
              <a:off x="301180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586B80"/>
                  </a:solidFill>
                  <a:latin typeface="Arial"/>
                  <a:ea typeface="Arial"/>
                  <a:cs typeface="Arial"/>
                  <a:sym typeface="Arial"/>
                </a:defRPr>
              </a:lvl1pPr>
            </a:lstStyle>
            <a:p>
              <a:pPr/>
              <a:r>
                <a:t>F</a:t>
              </a:r>
            </a:p>
          </p:txBody>
        </p:sp>
        <p:sp>
          <p:nvSpPr>
            <p:cNvPr id="295" name="request-token-4"/>
            <p:cNvSpPr txBox="1"/>
            <p:nvPr/>
          </p:nvSpPr>
          <p:spPr>
            <a:xfrm>
              <a:off x="34785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586B80"/>
                  </a:solidFill>
                  <a:latin typeface="Arial"/>
                  <a:ea typeface="Arial"/>
                  <a:cs typeface="Arial"/>
                  <a:sym typeface="Arial"/>
                </a:defRPr>
              </a:lvl1pPr>
            </a:lstStyle>
            <a:p>
              <a:pPr/>
              <a:r>
                <a:t>G</a:t>
              </a:r>
            </a:p>
          </p:txBody>
        </p:sp>
        <p:sp>
          <p:nvSpPr>
            <p:cNvPr id="296" name="radix-root"/>
            <p:cNvSpPr/>
            <p:nvPr/>
          </p:nvSpPr>
          <p:spPr>
            <a:xfrm>
              <a:off x="316229" y="1866900"/>
              <a:ext cx="323853" cy="323850"/>
            </a:xfrm>
            <a:prstGeom prst="ellipse">
              <a:avLst/>
            </a:prstGeom>
            <a:solidFill>
              <a:srgbClr val="E7EFF8"/>
            </a:solidFill>
            <a:ln w="11430" cap="flat">
              <a:solidFill>
                <a:srgbClr val="586B8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299" name="compressed-node"/>
            <p:cNvGrpSpPr/>
            <p:nvPr/>
          </p:nvGrpSpPr>
          <p:grpSpPr>
            <a:xfrm>
              <a:off x="1363980" y="1752600"/>
              <a:ext cx="4038602" cy="552450"/>
              <a:chOff x="0" y="0"/>
              <a:chExt cx="4038601" cy="552450"/>
            </a:xfrm>
          </p:grpSpPr>
          <p:sp>
            <p:nvSpPr>
              <p:cNvPr id="297" name="Rounded Rectangle"/>
              <p:cNvSpPr/>
              <p:nvPr/>
            </p:nvSpPr>
            <p:spPr>
              <a:xfrm>
                <a:off x="0" y="0"/>
                <a:ext cx="4038602" cy="552450"/>
              </a:xfrm>
              <a:prstGeom prst="roundRect">
                <a:avLst>
                  <a:gd name="adj" fmla="val 12069"/>
                </a:avLst>
              </a:prstGeom>
              <a:solidFill>
                <a:srgbClr val="E7EFF8"/>
              </a:solidFill>
              <a:ln w="19050" cap="flat">
                <a:solidFill>
                  <a:srgbClr val="285091"/>
                </a:solidFill>
                <a:prstDash val="solid"/>
                <a:round/>
              </a:ln>
              <a:effectLst/>
            </p:spPr>
            <p:txBody>
              <a:bodyPr wrap="square" lIns="45718" tIns="45718" rIns="45718" bIns="45718" numCol="1" anchor="ctr">
                <a:noAutofit/>
              </a:bodyPr>
              <a:lstStyle/>
              <a:p>
                <a:pPr algn="ctr">
                  <a:defRPr b="1">
                    <a:solidFill>
                      <a:srgbClr val="285091"/>
                    </a:solidFill>
                    <a:latin typeface="Courier New"/>
                    <a:ea typeface="Courier New"/>
                    <a:cs typeface="Courier New"/>
                    <a:sym typeface="Courier New"/>
                  </a:defRPr>
                </a:pPr>
              </a:p>
            </p:txBody>
          </p:sp>
          <p:sp>
            <p:nvSpPr>
              <p:cNvPr id="298" name="A B C D E"/>
              <p:cNvSpPr txBox="1"/>
              <p:nvPr/>
            </p:nvSpPr>
            <p:spPr>
              <a:xfrm>
                <a:off x="76677" y="149223"/>
                <a:ext cx="388524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285091"/>
                    </a:solidFill>
                    <a:latin typeface="Courier New"/>
                    <a:ea typeface="Courier New"/>
                    <a:cs typeface="Courier New"/>
                    <a:sym typeface="Courier New"/>
                  </a:defRPr>
                </a:lvl1pPr>
              </a:lstStyle>
              <a:p>
                <a:pPr/>
                <a:r>
                  <a:t>A B C D E</a:t>
                </a:r>
              </a:p>
            </p:txBody>
          </p:sp>
        </p:grpSp>
        <p:sp>
          <p:nvSpPr>
            <p:cNvPr id="300" name="Line"/>
            <p:cNvSpPr/>
            <p:nvPr/>
          </p:nvSpPr>
          <p:spPr>
            <a:xfrm>
              <a:off x="640080" y="2028825"/>
              <a:ext cx="723901" cy="0"/>
            </a:xfrm>
            <a:prstGeom prst="line">
              <a:avLst/>
            </a:prstGeom>
            <a:noFill/>
            <a:ln w="19050" cap="flat">
              <a:solidFill>
                <a:srgbClr val="285091"/>
              </a:solidFill>
              <a:prstDash val="solid"/>
              <a:round/>
            </a:ln>
            <a:effectLst/>
          </p:spPr>
          <p:txBody>
            <a:bodyPr wrap="square" lIns="45718" tIns="45718" rIns="45718" bIns="45718" numCol="1" anchor="t">
              <a:noAutofit/>
            </a:bodyPr>
            <a:lstStyle/>
            <a:p>
              <a:pPr/>
            </a:p>
          </p:txBody>
        </p:sp>
        <p:sp>
          <p:nvSpPr>
            <p:cNvPr id="301" name="node-description"/>
            <p:cNvSpPr txBox="1"/>
            <p:nvPr/>
          </p:nvSpPr>
          <p:spPr>
            <a:xfrm>
              <a:off x="792480" y="2822574"/>
              <a:ext cx="519112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586B80"/>
                  </a:solidFill>
                  <a:latin typeface="+mj-lt"/>
                  <a:ea typeface="+mj-ea"/>
                  <a:cs typeface="+mj-cs"/>
                  <a:sym typeface="Helvetica"/>
                </a:defRPr>
              </a:lvl1pPr>
            </a:lstStyle>
            <a:p>
              <a:pPr/>
              <a:r>
                <a:t>Consecutive tokens share one compressed node</a:t>
              </a:r>
            </a:p>
          </p:txBody>
        </p:sp>
        <p:sp>
          <p:nvSpPr>
            <p:cNvPr id="302" name="explanation-accent"/>
            <p:cNvSpPr/>
            <p:nvPr/>
          </p:nvSpPr>
          <p:spPr>
            <a:xfrm>
              <a:off x="6702744" y="180975"/>
              <a:ext cx="36197" cy="2952750"/>
            </a:xfrm>
            <a:prstGeom prst="rect">
              <a:avLst/>
            </a:prstGeom>
            <a:solidFill>
              <a:srgbClr val="285091"/>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03" name="stage-title"/>
            <p:cNvSpPr txBox="1"/>
            <p:nvPr/>
          </p:nvSpPr>
          <p:spPr>
            <a:xfrm>
              <a:off x="6955156" y="273048"/>
              <a:ext cx="3419477"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233852"/>
                  </a:solidFill>
                  <a:latin typeface="+mj-lt"/>
                  <a:ea typeface="+mj-ea"/>
                  <a:cs typeface="+mj-cs"/>
                  <a:sym typeface="Helvetica"/>
                </a:defRPr>
              </a:lvl1pPr>
            </a:lstStyle>
            <a:p>
              <a:pPr/>
              <a:r>
                <a:t>Cached</a:t>
              </a:r>
            </a:p>
          </p:txBody>
        </p:sp>
        <p:sp>
          <p:nvSpPr>
            <p:cNvPr id="304" name="main-explanation"/>
            <p:cNvSpPr txBox="1"/>
            <p:nvPr/>
          </p:nvSpPr>
          <p:spPr>
            <a:xfrm>
              <a:off x="6955156" y="914000"/>
              <a:ext cx="3419477" cy="29607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285091"/>
                  </a:solidFill>
                  <a:latin typeface="Arial"/>
                  <a:ea typeface="Arial"/>
                  <a:cs typeface="Arial"/>
                  <a:sym typeface="Arial"/>
                </a:defRPr>
              </a:lvl1pPr>
            </a:lstStyle>
            <a:p>
              <a:pPr/>
              <a:r>
                <a:t>A B C D E</a:t>
              </a:r>
            </a:p>
          </p:txBody>
        </p:sp>
        <p:sp>
          <p:nvSpPr>
            <p:cNvPr id="305" name="explanation-1"/>
            <p:cNvSpPr txBox="1"/>
            <p:nvPr/>
          </p:nvSpPr>
          <p:spPr>
            <a:xfrm>
              <a:off x="6955156" y="1455886"/>
              <a:ext cx="3419477"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Arial"/>
                  <a:ea typeface="Arial"/>
                  <a:cs typeface="Arial"/>
                  <a:sym typeface="Arial"/>
                </a:defRPr>
              </a:lvl1pPr>
            </a:lstStyle>
            <a:p>
              <a:pPr/>
              <a:r>
                <a:t>KV cached for 5 tokens</a:t>
              </a:r>
            </a:p>
          </p:txBody>
        </p:sp>
        <p:sp>
          <p:nvSpPr>
            <p:cNvPr id="306" name="explanation-2"/>
            <p:cNvSpPr txBox="1"/>
            <p:nvPr/>
          </p:nvSpPr>
          <p:spPr>
            <a:xfrm>
              <a:off x="6955156" y="1865312"/>
              <a:ext cx="341947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mj-lt"/>
                  <a:ea typeface="+mj-ea"/>
                  <a:cs typeface="+mj-cs"/>
                  <a:sym typeface="Helvetica"/>
                </a:defRPr>
              </a:lvl1pPr>
            </a:lstStyle>
            <a:p>
              <a:pPr/>
              <a:r>
                <a:t>Await the next request</a:t>
              </a:r>
            </a:p>
          </p:txBody>
        </p:sp>
      </p:grpSp>
      <p:grpSp>
        <p:nvGrpSpPr>
          <p:cNvPr id="334" name="RadixAttention step 1"/>
          <p:cNvGrpSpPr/>
          <p:nvPr/>
        </p:nvGrpSpPr>
        <p:grpSpPr>
          <a:xfrm>
            <a:off x="721993" y="1381125"/>
            <a:ext cx="10644192" cy="3352800"/>
            <a:chOff x="0" y="0"/>
            <a:chExt cx="10644191" cy="3352800"/>
          </a:xfrm>
        </p:grpSpPr>
        <p:sp>
          <p:nvSpPr>
            <p:cNvPr id="308" name="scene-1-mask"/>
            <p:cNvSpPr/>
            <p:nvPr/>
          </p:nvSpPr>
          <p:spPr>
            <a:xfrm>
              <a:off x="-1" y="0"/>
              <a:ext cx="10644192" cy="33528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09" name="scene-1-tree-panel"/>
            <p:cNvSpPr/>
            <p:nvPr/>
          </p:nvSpPr>
          <p:spPr>
            <a:xfrm>
              <a:off x="-1" y="22858"/>
              <a:ext cx="6418902"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10" name="scene-1-explanation-panel"/>
            <p:cNvSpPr/>
            <p:nvPr/>
          </p:nvSpPr>
          <p:spPr>
            <a:xfrm>
              <a:off x="6702744" y="22858"/>
              <a:ext cx="3941447"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11" name="cached-label"/>
            <p:cNvSpPr txBox="1"/>
            <p:nvPr/>
          </p:nvSpPr>
          <p:spPr>
            <a:xfrm>
              <a:off x="259079" y="222248"/>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Cached</a:t>
              </a:r>
            </a:p>
          </p:txBody>
        </p:sp>
        <p:sp>
          <p:nvSpPr>
            <p:cNvPr id="312" name="cached-tokens"/>
            <p:cNvSpPr txBox="1"/>
            <p:nvPr/>
          </p:nvSpPr>
          <p:spPr>
            <a:xfrm>
              <a:off x="1611630" y="194238"/>
              <a:ext cx="4191003" cy="2592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A  B  C  D  E</a:t>
              </a:r>
            </a:p>
          </p:txBody>
        </p:sp>
        <p:sp>
          <p:nvSpPr>
            <p:cNvPr id="313" name="incoming-label"/>
            <p:cNvSpPr txBox="1"/>
            <p:nvPr/>
          </p:nvSpPr>
          <p:spPr>
            <a:xfrm>
              <a:off x="259079" y="631823"/>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New request</a:t>
              </a:r>
            </a:p>
          </p:txBody>
        </p:sp>
        <p:sp>
          <p:nvSpPr>
            <p:cNvPr id="314" name="request-token-0"/>
            <p:cNvSpPr txBox="1"/>
            <p:nvPr/>
          </p:nvSpPr>
          <p:spPr>
            <a:xfrm>
              <a:off x="16116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A</a:t>
              </a:r>
            </a:p>
          </p:txBody>
        </p:sp>
        <p:sp>
          <p:nvSpPr>
            <p:cNvPr id="315" name="request-token-1"/>
            <p:cNvSpPr txBox="1"/>
            <p:nvPr/>
          </p:nvSpPr>
          <p:spPr>
            <a:xfrm>
              <a:off x="207835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B</a:t>
              </a:r>
            </a:p>
          </p:txBody>
        </p:sp>
        <p:sp>
          <p:nvSpPr>
            <p:cNvPr id="316" name="request-token-2"/>
            <p:cNvSpPr txBox="1"/>
            <p:nvPr/>
          </p:nvSpPr>
          <p:spPr>
            <a:xfrm>
              <a:off x="254508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C</a:t>
              </a:r>
            </a:p>
          </p:txBody>
        </p:sp>
        <p:sp>
          <p:nvSpPr>
            <p:cNvPr id="317" name="request-token-3"/>
            <p:cNvSpPr txBox="1"/>
            <p:nvPr/>
          </p:nvSpPr>
          <p:spPr>
            <a:xfrm>
              <a:off x="301180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F</a:t>
              </a:r>
            </a:p>
          </p:txBody>
        </p:sp>
        <p:sp>
          <p:nvSpPr>
            <p:cNvPr id="318" name="request-token-4"/>
            <p:cNvSpPr txBox="1"/>
            <p:nvPr/>
          </p:nvSpPr>
          <p:spPr>
            <a:xfrm>
              <a:off x="34785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G</a:t>
              </a:r>
            </a:p>
          </p:txBody>
        </p:sp>
        <p:sp>
          <p:nvSpPr>
            <p:cNvPr id="319" name="reuse-label"/>
            <p:cNvSpPr txBox="1"/>
            <p:nvPr/>
          </p:nvSpPr>
          <p:spPr>
            <a:xfrm>
              <a:off x="1621155" y="954086"/>
              <a:ext cx="131445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285091"/>
                  </a:solidFill>
                  <a:latin typeface="+mj-lt"/>
                  <a:ea typeface="+mj-ea"/>
                  <a:cs typeface="+mj-cs"/>
                  <a:sym typeface="Helvetica"/>
                </a:defRPr>
              </a:lvl1pPr>
            </a:lstStyle>
            <a:p>
              <a:pPr/>
              <a:r>
                <a:t>Reuse KV</a:t>
              </a:r>
            </a:p>
          </p:txBody>
        </p:sp>
        <p:sp>
          <p:nvSpPr>
            <p:cNvPr id="320" name="new-label"/>
            <p:cNvSpPr txBox="1"/>
            <p:nvPr/>
          </p:nvSpPr>
          <p:spPr>
            <a:xfrm>
              <a:off x="3021330" y="954086"/>
              <a:ext cx="140970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B67A00"/>
                  </a:solidFill>
                  <a:latin typeface="+mj-lt"/>
                  <a:ea typeface="+mj-ea"/>
                  <a:cs typeface="+mj-cs"/>
                  <a:sym typeface="Helvetica"/>
                </a:defRPr>
              </a:lvl1pPr>
            </a:lstStyle>
            <a:p>
              <a:pPr/>
              <a:r>
                <a:t>New KV</a:t>
              </a:r>
            </a:p>
          </p:txBody>
        </p:sp>
        <p:sp>
          <p:nvSpPr>
            <p:cNvPr id="321" name="radix-root"/>
            <p:cNvSpPr/>
            <p:nvPr/>
          </p:nvSpPr>
          <p:spPr>
            <a:xfrm>
              <a:off x="316229" y="1866900"/>
              <a:ext cx="323853" cy="323850"/>
            </a:xfrm>
            <a:prstGeom prst="ellipse">
              <a:avLst/>
            </a:prstGeom>
            <a:solidFill>
              <a:srgbClr val="E7EFF8"/>
            </a:solidFill>
            <a:ln w="11430" cap="flat">
              <a:solidFill>
                <a:srgbClr val="586B8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324" name="compressed-node"/>
            <p:cNvGrpSpPr/>
            <p:nvPr/>
          </p:nvGrpSpPr>
          <p:grpSpPr>
            <a:xfrm>
              <a:off x="1363980" y="1752600"/>
              <a:ext cx="4038602" cy="552450"/>
              <a:chOff x="0" y="0"/>
              <a:chExt cx="4038601" cy="552450"/>
            </a:xfrm>
          </p:grpSpPr>
          <p:sp>
            <p:nvSpPr>
              <p:cNvPr id="322" name="Rounded Rectangle"/>
              <p:cNvSpPr/>
              <p:nvPr/>
            </p:nvSpPr>
            <p:spPr>
              <a:xfrm>
                <a:off x="0" y="0"/>
                <a:ext cx="4038602" cy="552450"/>
              </a:xfrm>
              <a:prstGeom prst="roundRect">
                <a:avLst>
                  <a:gd name="adj" fmla="val 12069"/>
                </a:avLst>
              </a:prstGeom>
              <a:solidFill>
                <a:srgbClr val="E7EFF8"/>
              </a:solidFill>
              <a:ln w="19050" cap="flat">
                <a:solidFill>
                  <a:srgbClr val="285091"/>
                </a:solidFill>
                <a:prstDash val="solid"/>
                <a:round/>
              </a:ln>
              <a:effectLst/>
            </p:spPr>
            <p:txBody>
              <a:bodyPr wrap="square" lIns="45718" tIns="45718" rIns="45718" bIns="45718" numCol="1" anchor="ctr">
                <a:noAutofit/>
              </a:bodyPr>
              <a:lstStyle/>
              <a:p>
                <a:pPr algn="ctr">
                  <a:defRPr b="1">
                    <a:solidFill>
                      <a:srgbClr val="285091"/>
                    </a:solidFill>
                    <a:latin typeface="Courier New"/>
                    <a:ea typeface="Courier New"/>
                    <a:cs typeface="Courier New"/>
                    <a:sym typeface="Courier New"/>
                  </a:defRPr>
                </a:pPr>
              </a:p>
            </p:txBody>
          </p:sp>
          <p:sp>
            <p:nvSpPr>
              <p:cNvPr id="323" name="A B C D E"/>
              <p:cNvSpPr txBox="1"/>
              <p:nvPr/>
            </p:nvSpPr>
            <p:spPr>
              <a:xfrm>
                <a:off x="76677" y="149223"/>
                <a:ext cx="388524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defRPr b="1">
                    <a:solidFill>
                      <a:srgbClr val="285091"/>
                    </a:solidFill>
                    <a:latin typeface="Courier New"/>
                    <a:ea typeface="Courier New"/>
                    <a:cs typeface="Courier New"/>
                    <a:sym typeface="Courier New"/>
                  </a:defRPr>
                </a:pPr>
                <a:r>
                  <a:t>A B C</a:t>
                </a:r>
                <a:r>
                  <a:rPr>
                    <a:solidFill>
                      <a:srgbClr val="586B80"/>
                    </a:solidFill>
                  </a:rPr>
                  <a:t> D E</a:t>
                </a:r>
              </a:p>
            </p:txBody>
          </p:sp>
        </p:grpSp>
        <p:sp>
          <p:nvSpPr>
            <p:cNvPr id="325" name="Line"/>
            <p:cNvSpPr/>
            <p:nvPr/>
          </p:nvSpPr>
          <p:spPr>
            <a:xfrm>
              <a:off x="640080" y="2028825"/>
              <a:ext cx="723901" cy="0"/>
            </a:xfrm>
            <a:prstGeom prst="line">
              <a:avLst/>
            </a:prstGeom>
            <a:noFill/>
            <a:ln w="19050" cap="flat">
              <a:solidFill>
                <a:srgbClr val="285091"/>
              </a:solidFill>
              <a:prstDash val="solid"/>
              <a:round/>
            </a:ln>
            <a:effectLst/>
          </p:spPr>
          <p:txBody>
            <a:bodyPr wrap="square" lIns="45718" tIns="45718" rIns="45718" bIns="45718" numCol="1" anchor="t">
              <a:noAutofit/>
            </a:bodyPr>
            <a:lstStyle/>
            <a:p>
              <a:pPr/>
            </a:p>
          </p:txBody>
        </p:sp>
        <p:sp>
          <p:nvSpPr>
            <p:cNvPr id="326" name="node-description"/>
            <p:cNvSpPr txBox="1"/>
            <p:nvPr/>
          </p:nvSpPr>
          <p:spPr>
            <a:xfrm>
              <a:off x="792480" y="2822574"/>
              <a:ext cx="519112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586B80"/>
                  </a:solidFill>
                  <a:latin typeface="+mj-lt"/>
                  <a:ea typeface="+mj-ea"/>
                  <a:cs typeface="+mj-cs"/>
                  <a:sym typeface="Helvetica"/>
                </a:defRPr>
              </a:lvl1pPr>
            </a:lstStyle>
            <a:p>
              <a:pPr/>
              <a:r>
                <a:t>Match ends at C: D differs from F</a:t>
              </a:r>
            </a:p>
          </p:txBody>
        </p:sp>
        <p:sp>
          <p:nvSpPr>
            <p:cNvPr id="327" name="explanation-accent"/>
            <p:cNvSpPr/>
            <p:nvPr/>
          </p:nvSpPr>
          <p:spPr>
            <a:xfrm>
              <a:off x="6702744" y="180975"/>
              <a:ext cx="36197" cy="2952750"/>
            </a:xfrm>
            <a:prstGeom prst="rect">
              <a:avLst/>
            </a:prstGeom>
            <a:solidFill>
              <a:srgbClr val="285091"/>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28" name="stage-title"/>
            <p:cNvSpPr txBox="1"/>
            <p:nvPr/>
          </p:nvSpPr>
          <p:spPr>
            <a:xfrm>
              <a:off x="6955156" y="283346"/>
              <a:ext cx="3419477"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233852"/>
                  </a:solidFill>
                  <a:latin typeface="Arial"/>
                  <a:ea typeface="Arial"/>
                  <a:cs typeface="Arial"/>
                  <a:sym typeface="Arial"/>
                </a:defRPr>
              </a:lvl1pPr>
            </a:lstStyle>
            <a:p>
              <a:pPr/>
              <a:r>
                <a:t>1  Prefix match</a:t>
              </a:r>
            </a:p>
          </p:txBody>
        </p:sp>
        <p:sp>
          <p:nvSpPr>
            <p:cNvPr id="329" name="main-explanation"/>
            <p:cNvSpPr txBox="1"/>
            <p:nvPr/>
          </p:nvSpPr>
          <p:spPr>
            <a:xfrm>
              <a:off x="6955156" y="903287"/>
              <a:ext cx="341947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285091"/>
                  </a:solidFill>
                  <a:latin typeface="+mj-lt"/>
                  <a:ea typeface="+mj-ea"/>
                  <a:cs typeface="+mj-cs"/>
                  <a:sym typeface="Helvetica"/>
                </a:defRPr>
              </a:lvl1pPr>
            </a:lstStyle>
            <a:p>
              <a:pPr/>
              <a:r>
                <a:t>Match A B C</a:t>
              </a:r>
            </a:p>
          </p:txBody>
        </p:sp>
        <p:sp>
          <p:nvSpPr>
            <p:cNvPr id="330" name="explanation-1"/>
            <p:cNvSpPr txBox="1"/>
            <p:nvPr/>
          </p:nvSpPr>
          <p:spPr>
            <a:xfrm>
              <a:off x="6955156" y="1446212"/>
              <a:ext cx="341947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mj-lt"/>
                  <a:ea typeface="+mj-ea"/>
                  <a:cs typeface="+mj-cs"/>
                  <a:sym typeface="Helvetica"/>
                </a:defRPr>
              </a:lvl1pPr>
            </a:lstStyle>
            <a:p>
              <a:pPr/>
              <a:r>
                <a:t>Reuse KV for 3 tokens</a:t>
              </a:r>
            </a:p>
          </p:txBody>
        </p:sp>
        <p:sp>
          <p:nvSpPr>
            <p:cNvPr id="331" name="explanation-2"/>
            <p:cNvSpPr txBox="1"/>
            <p:nvPr/>
          </p:nvSpPr>
          <p:spPr>
            <a:xfrm>
              <a:off x="6955156" y="1874986"/>
              <a:ext cx="3419477"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Arial"/>
                  <a:ea typeface="Arial"/>
                  <a:cs typeface="Arial"/>
                  <a:sym typeface="Arial"/>
                </a:defRPr>
              </a:lvl1pPr>
            </a:lstStyle>
            <a:p>
              <a:pPr/>
              <a:r>
                <a:t>Compute F G</a:t>
              </a:r>
            </a:p>
          </p:txBody>
        </p:sp>
        <p:sp>
          <p:nvSpPr>
            <p:cNvPr id="332" name="reused-count"/>
            <p:cNvSpPr txBox="1"/>
            <p:nvPr/>
          </p:nvSpPr>
          <p:spPr>
            <a:xfrm>
              <a:off x="6955156" y="2565964"/>
              <a:ext cx="1666877"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3 reused</a:t>
              </a:r>
            </a:p>
          </p:txBody>
        </p:sp>
        <p:sp>
          <p:nvSpPr>
            <p:cNvPr id="333" name="new-count"/>
            <p:cNvSpPr txBox="1"/>
            <p:nvPr/>
          </p:nvSpPr>
          <p:spPr>
            <a:xfrm>
              <a:off x="8745856" y="2565964"/>
              <a:ext cx="1619252"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B67A00"/>
                  </a:solidFill>
                  <a:latin typeface="Arial"/>
                  <a:ea typeface="Arial"/>
                  <a:cs typeface="Arial"/>
                  <a:sym typeface="Arial"/>
                </a:defRPr>
              </a:lvl1pPr>
            </a:lstStyle>
            <a:p>
              <a:pPr/>
              <a:r>
                <a:t>2 new</a:t>
              </a:r>
            </a:p>
          </p:txBody>
        </p:sp>
      </p:grpSp>
      <p:grpSp>
        <p:nvGrpSpPr>
          <p:cNvPr id="369" name="RadixAttention step 2"/>
          <p:cNvGrpSpPr/>
          <p:nvPr/>
        </p:nvGrpSpPr>
        <p:grpSpPr>
          <a:xfrm>
            <a:off x="721993" y="1381125"/>
            <a:ext cx="10644192" cy="3352800"/>
            <a:chOff x="0" y="0"/>
            <a:chExt cx="10644191" cy="3352800"/>
          </a:xfrm>
        </p:grpSpPr>
        <p:sp>
          <p:nvSpPr>
            <p:cNvPr id="335" name="scene-2-mask"/>
            <p:cNvSpPr/>
            <p:nvPr/>
          </p:nvSpPr>
          <p:spPr>
            <a:xfrm>
              <a:off x="-1" y="0"/>
              <a:ext cx="10644192" cy="33528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36" name="scene-2-tree-panel"/>
            <p:cNvSpPr/>
            <p:nvPr/>
          </p:nvSpPr>
          <p:spPr>
            <a:xfrm>
              <a:off x="-1" y="22858"/>
              <a:ext cx="6418902"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37" name="scene-2-explanation-panel"/>
            <p:cNvSpPr/>
            <p:nvPr/>
          </p:nvSpPr>
          <p:spPr>
            <a:xfrm>
              <a:off x="6702744" y="22858"/>
              <a:ext cx="3941447"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38" name="cached-label"/>
            <p:cNvSpPr txBox="1"/>
            <p:nvPr/>
          </p:nvSpPr>
          <p:spPr>
            <a:xfrm>
              <a:off x="259079" y="222248"/>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Cached</a:t>
              </a:r>
            </a:p>
          </p:txBody>
        </p:sp>
        <p:sp>
          <p:nvSpPr>
            <p:cNvPr id="339" name="cached-tokens"/>
            <p:cNvSpPr txBox="1"/>
            <p:nvPr/>
          </p:nvSpPr>
          <p:spPr>
            <a:xfrm>
              <a:off x="1611630" y="194238"/>
              <a:ext cx="4191003" cy="2592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A  B  C  D  E</a:t>
              </a:r>
            </a:p>
          </p:txBody>
        </p:sp>
        <p:sp>
          <p:nvSpPr>
            <p:cNvPr id="340" name="incoming-label"/>
            <p:cNvSpPr txBox="1"/>
            <p:nvPr/>
          </p:nvSpPr>
          <p:spPr>
            <a:xfrm>
              <a:off x="259079" y="631823"/>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New request</a:t>
              </a:r>
            </a:p>
          </p:txBody>
        </p:sp>
        <p:sp>
          <p:nvSpPr>
            <p:cNvPr id="341" name="request-token-0"/>
            <p:cNvSpPr txBox="1"/>
            <p:nvPr/>
          </p:nvSpPr>
          <p:spPr>
            <a:xfrm>
              <a:off x="16116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A</a:t>
              </a:r>
            </a:p>
          </p:txBody>
        </p:sp>
        <p:sp>
          <p:nvSpPr>
            <p:cNvPr id="342" name="request-token-1"/>
            <p:cNvSpPr txBox="1"/>
            <p:nvPr/>
          </p:nvSpPr>
          <p:spPr>
            <a:xfrm>
              <a:off x="207835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B</a:t>
              </a:r>
            </a:p>
          </p:txBody>
        </p:sp>
        <p:sp>
          <p:nvSpPr>
            <p:cNvPr id="343" name="request-token-2"/>
            <p:cNvSpPr txBox="1"/>
            <p:nvPr/>
          </p:nvSpPr>
          <p:spPr>
            <a:xfrm>
              <a:off x="254508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C</a:t>
              </a:r>
            </a:p>
          </p:txBody>
        </p:sp>
        <p:sp>
          <p:nvSpPr>
            <p:cNvPr id="344" name="request-token-3"/>
            <p:cNvSpPr txBox="1"/>
            <p:nvPr/>
          </p:nvSpPr>
          <p:spPr>
            <a:xfrm>
              <a:off x="301180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F</a:t>
              </a:r>
            </a:p>
          </p:txBody>
        </p:sp>
        <p:sp>
          <p:nvSpPr>
            <p:cNvPr id="345" name="request-token-4"/>
            <p:cNvSpPr txBox="1"/>
            <p:nvPr/>
          </p:nvSpPr>
          <p:spPr>
            <a:xfrm>
              <a:off x="34785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G</a:t>
              </a:r>
            </a:p>
          </p:txBody>
        </p:sp>
        <p:sp>
          <p:nvSpPr>
            <p:cNvPr id="346" name="reuse-label"/>
            <p:cNvSpPr txBox="1"/>
            <p:nvPr/>
          </p:nvSpPr>
          <p:spPr>
            <a:xfrm>
              <a:off x="1621155" y="954086"/>
              <a:ext cx="131445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285091"/>
                  </a:solidFill>
                  <a:latin typeface="+mj-lt"/>
                  <a:ea typeface="+mj-ea"/>
                  <a:cs typeface="+mj-cs"/>
                  <a:sym typeface="Helvetica"/>
                </a:defRPr>
              </a:lvl1pPr>
            </a:lstStyle>
            <a:p>
              <a:pPr/>
              <a:r>
                <a:t>Reuse KV</a:t>
              </a:r>
            </a:p>
          </p:txBody>
        </p:sp>
        <p:sp>
          <p:nvSpPr>
            <p:cNvPr id="347" name="new-label"/>
            <p:cNvSpPr txBox="1"/>
            <p:nvPr/>
          </p:nvSpPr>
          <p:spPr>
            <a:xfrm>
              <a:off x="3021330" y="954086"/>
              <a:ext cx="140970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B67A00"/>
                  </a:solidFill>
                  <a:latin typeface="+mj-lt"/>
                  <a:ea typeface="+mj-ea"/>
                  <a:cs typeface="+mj-cs"/>
                  <a:sym typeface="Helvetica"/>
                </a:defRPr>
              </a:lvl1pPr>
            </a:lstStyle>
            <a:p>
              <a:pPr/>
              <a:r>
                <a:t>New KV</a:t>
              </a:r>
            </a:p>
          </p:txBody>
        </p:sp>
        <p:sp>
          <p:nvSpPr>
            <p:cNvPr id="348" name="radix-root"/>
            <p:cNvSpPr/>
            <p:nvPr/>
          </p:nvSpPr>
          <p:spPr>
            <a:xfrm>
              <a:off x="316229" y="1866900"/>
              <a:ext cx="323853" cy="323850"/>
            </a:xfrm>
            <a:prstGeom prst="ellipse">
              <a:avLst/>
            </a:prstGeom>
            <a:solidFill>
              <a:srgbClr val="E7EFF8"/>
            </a:solidFill>
            <a:ln w="11430" cap="flat">
              <a:solidFill>
                <a:srgbClr val="586B8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351" name="shared-prefix"/>
            <p:cNvGrpSpPr/>
            <p:nvPr/>
          </p:nvGrpSpPr>
          <p:grpSpPr>
            <a:xfrm>
              <a:off x="1306830" y="1752600"/>
              <a:ext cx="1685927" cy="552450"/>
              <a:chOff x="0" y="0"/>
              <a:chExt cx="1685926" cy="552450"/>
            </a:xfrm>
          </p:grpSpPr>
          <p:sp>
            <p:nvSpPr>
              <p:cNvPr id="349" name="Rounded Rectangle"/>
              <p:cNvSpPr/>
              <p:nvPr/>
            </p:nvSpPr>
            <p:spPr>
              <a:xfrm>
                <a:off x="0" y="0"/>
                <a:ext cx="1685927" cy="552450"/>
              </a:xfrm>
              <a:prstGeom prst="roundRect">
                <a:avLst>
                  <a:gd name="adj" fmla="val 12069"/>
                </a:avLst>
              </a:prstGeom>
              <a:solidFill>
                <a:srgbClr val="E7EFF8"/>
              </a:solidFill>
              <a:ln w="19050" cap="flat">
                <a:solidFill>
                  <a:srgbClr val="285091"/>
                </a:solidFill>
                <a:prstDash val="solid"/>
                <a:round/>
              </a:ln>
              <a:effectLst/>
            </p:spPr>
            <p:txBody>
              <a:bodyPr wrap="square" lIns="45718" tIns="45718" rIns="45718" bIns="45718" numCol="1" anchor="ctr">
                <a:noAutofit/>
              </a:bodyPr>
              <a:lstStyle/>
              <a:p>
                <a:pPr algn="ctr">
                  <a:defRPr b="1">
                    <a:solidFill>
                      <a:srgbClr val="285091"/>
                    </a:solidFill>
                    <a:latin typeface="Courier New"/>
                    <a:ea typeface="Courier New"/>
                    <a:cs typeface="Courier New"/>
                    <a:sym typeface="Courier New"/>
                  </a:defRPr>
                </a:pPr>
              </a:p>
            </p:txBody>
          </p:sp>
          <p:sp>
            <p:nvSpPr>
              <p:cNvPr id="350" name="A B C"/>
              <p:cNvSpPr txBox="1"/>
              <p:nvPr/>
            </p:nvSpPr>
            <p:spPr>
              <a:xfrm>
                <a:off x="76676" y="149223"/>
                <a:ext cx="1532574"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285091"/>
                    </a:solidFill>
                    <a:latin typeface="Courier New"/>
                    <a:ea typeface="Courier New"/>
                    <a:cs typeface="Courier New"/>
                    <a:sym typeface="Courier New"/>
                  </a:defRPr>
                </a:lvl1pPr>
              </a:lstStyle>
              <a:p>
                <a:pPr/>
                <a:r>
                  <a:t>A B C</a:t>
                </a:r>
              </a:p>
            </p:txBody>
          </p:sp>
        </p:grpSp>
        <p:grpSp>
          <p:nvGrpSpPr>
            <p:cNvPr id="354" name="existing-suffix"/>
            <p:cNvGrpSpPr/>
            <p:nvPr/>
          </p:nvGrpSpPr>
          <p:grpSpPr>
            <a:xfrm>
              <a:off x="3973830" y="1333500"/>
              <a:ext cx="1276353" cy="514350"/>
              <a:chOff x="0" y="0"/>
              <a:chExt cx="1276351" cy="514350"/>
            </a:xfrm>
          </p:grpSpPr>
          <p:sp>
            <p:nvSpPr>
              <p:cNvPr id="352" name="Rounded Rectangle"/>
              <p:cNvSpPr/>
              <p:nvPr/>
            </p:nvSpPr>
            <p:spPr>
              <a:xfrm>
                <a:off x="-1" y="0"/>
                <a:ext cx="1276353" cy="514350"/>
              </a:xfrm>
              <a:prstGeom prst="roundRect">
                <a:avLst>
                  <a:gd name="adj" fmla="val 12963"/>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a:solidFill>
                      <a:srgbClr val="586B80"/>
                    </a:solidFill>
                    <a:latin typeface="Courier New"/>
                    <a:ea typeface="Courier New"/>
                    <a:cs typeface="Courier New"/>
                    <a:sym typeface="Courier New"/>
                  </a:defRPr>
                </a:pPr>
              </a:p>
            </p:txBody>
          </p:sp>
          <p:sp>
            <p:nvSpPr>
              <p:cNvPr id="353" name="D E"/>
              <p:cNvSpPr txBox="1"/>
              <p:nvPr/>
            </p:nvSpPr>
            <p:spPr>
              <a:xfrm>
                <a:off x="76677" y="130173"/>
                <a:ext cx="112299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586B80"/>
                    </a:solidFill>
                    <a:latin typeface="Courier New"/>
                    <a:ea typeface="Courier New"/>
                    <a:cs typeface="Courier New"/>
                    <a:sym typeface="Courier New"/>
                  </a:defRPr>
                </a:lvl1pPr>
              </a:lstStyle>
              <a:p>
                <a:pPr/>
                <a:r>
                  <a:t>D E</a:t>
                </a:r>
              </a:p>
            </p:txBody>
          </p:sp>
        </p:grpSp>
        <p:sp>
          <p:nvSpPr>
            <p:cNvPr id="355" name="Line"/>
            <p:cNvSpPr/>
            <p:nvPr/>
          </p:nvSpPr>
          <p:spPr>
            <a:xfrm>
              <a:off x="640079" y="2028825"/>
              <a:ext cx="666752" cy="0"/>
            </a:xfrm>
            <a:prstGeom prst="line">
              <a:avLst/>
            </a:prstGeom>
            <a:noFill/>
            <a:ln w="19050" cap="flat">
              <a:solidFill>
                <a:srgbClr val="285091"/>
              </a:solidFill>
              <a:prstDash val="solid"/>
              <a:round/>
            </a:ln>
            <a:effectLst/>
          </p:spPr>
          <p:txBody>
            <a:bodyPr wrap="square" lIns="45718" tIns="45718" rIns="45718" bIns="45718" numCol="1" anchor="t">
              <a:noAutofit/>
            </a:bodyPr>
            <a:lstStyle/>
            <a:p>
              <a:pPr/>
            </a:p>
          </p:txBody>
        </p:sp>
        <p:sp>
          <p:nvSpPr>
            <p:cNvPr id="356" name="Line"/>
            <p:cNvSpPr/>
            <p:nvPr/>
          </p:nvSpPr>
          <p:spPr>
            <a:xfrm flipV="1">
              <a:off x="2992755" y="1590673"/>
              <a:ext cx="981077" cy="438154"/>
            </a:xfrm>
            <a:prstGeom prst="line">
              <a:avLst/>
            </a:prstGeom>
            <a:noFill/>
            <a:ln w="13334" cap="flat">
              <a:solidFill>
                <a:srgbClr val="586B80"/>
              </a:solidFill>
              <a:prstDash val="solid"/>
              <a:round/>
            </a:ln>
            <a:effectLst/>
          </p:spPr>
          <p:txBody>
            <a:bodyPr wrap="square" lIns="45718" tIns="45718" rIns="45718" bIns="45718" numCol="1" anchor="t">
              <a:noAutofit/>
            </a:bodyPr>
            <a:lstStyle/>
            <a:p>
              <a:pPr/>
            </a:p>
          </p:txBody>
        </p:sp>
        <p:grpSp>
          <p:nvGrpSpPr>
            <p:cNvPr id="359" name="pending-suffix"/>
            <p:cNvGrpSpPr/>
            <p:nvPr/>
          </p:nvGrpSpPr>
          <p:grpSpPr>
            <a:xfrm>
              <a:off x="3973830" y="2343150"/>
              <a:ext cx="1276353" cy="514350"/>
              <a:chOff x="0" y="0"/>
              <a:chExt cx="1276351" cy="514350"/>
            </a:xfrm>
          </p:grpSpPr>
          <p:sp>
            <p:nvSpPr>
              <p:cNvPr id="357" name="Rounded Rectangle"/>
              <p:cNvSpPr/>
              <p:nvPr/>
            </p:nvSpPr>
            <p:spPr>
              <a:xfrm>
                <a:off x="-1" y="0"/>
                <a:ext cx="1276353" cy="514350"/>
              </a:xfrm>
              <a:prstGeom prst="roundRect">
                <a:avLst>
                  <a:gd name="adj" fmla="val 12963"/>
                </a:avLst>
              </a:prstGeom>
              <a:solidFill>
                <a:srgbClr val="FAF4E6"/>
              </a:solidFill>
              <a:ln w="19050" cap="flat">
                <a:solidFill>
                  <a:srgbClr val="B67A00"/>
                </a:solidFill>
                <a:prstDash val="solid"/>
                <a:round/>
              </a:ln>
              <a:effectLst/>
            </p:spPr>
            <p:txBody>
              <a:bodyPr wrap="square" lIns="45718" tIns="45718" rIns="45718" bIns="45718" numCol="1" anchor="ctr">
                <a:noAutofit/>
              </a:bodyPr>
              <a:lstStyle/>
              <a:p>
                <a:pPr algn="ctr">
                  <a:defRPr b="1">
                    <a:solidFill>
                      <a:srgbClr val="B67A00"/>
                    </a:solidFill>
                    <a:latin typeface="Courier New"/>
                    <a:ea typeface="Courier New"/>
                    <a:cs typeface="Courier New"/>
                    <a:sym typeface="Courier New"/>
                  </a:defRPr>
                </a:pPr>
              </a:p>
            </p:txBody>
          </p:sp>
          <p:sp>
            <p:nvSpPr>
              <p:cNvPr id="358" name="F G"/>
              <p:cNvSpPr txBox="1"/>
              <p:nvPr/>
            </p:nvSpPr>
            <p:spPr>
              <a:xfrm>
                <a:off x="76677" y="130173"/>
                <a:ext cx="112299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B67A00"/>
                    </a:solidFill>
                    <a:latin typeface="Courier New"/>
                    <a:ea typeface="Courier New"/>
                    <a:cs typeface="Courier New"/>
                    <a:sym typeface="Courier New"/>
                  </a:defRPr>
                </a:lvl1pPr>
              </a:lstStyle>
              <a:p>
                <a:pPr/>
                <a:r>
                  <a:t>F G</a:t>
                </a:r>
              </a:p>
            </p:txBody>
          </p:sp>
        </p:grpSp>
        <p:sp>
          <p:nvSpPr>
            <p:cNvPr id="360" name="pending-label"/>
            <p:cNvSpPr txBox="1"/>
            <p:nvPr/>
          </p:nvSpPr>
          <p:spPr>
            <a:xfrm>
              <a:off x="5354956" y="2504391"/>
              <a:ext cx="819152"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B67A00"/>
                  </a:solidFill>
                  <a:latin typeface="Arial"/>
                  <a:ea typeface="Arial"/>
                  <a:cs typeface="Arial"/>
                  <a:sym typeface="Arial"/>
                </a:defRPr>
              </a:lvl1pPr>
            </a:lstStyle>
            <a:p>
              <a:pPr/>
              <a:r>
                <a:t>prefill</a:t>
              </a:r>
            </a:p>
          </p:txBody>
        </p:sp>
        <p:sp>
          <p:nvSpPr>
            <p:cNvPr id="361" name="node-description"/>
            <p:cNvSpPr txBox="1"/>
            <p:nvPr/>
          </p:nvSpPr>
          <p:spPr>
            <a:xfrm>
              <a:off x="268604" y="3013074"/>
              <a:ext cx="59055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586B80"/>
                  </a:solidFill>
                  <a:latin typeface="+mj-lt"/>
                  <a:ea typeface="+mj-ea"/>
                  <a:cs typeface="+mj-cs"/>
                  <a:sym typeface="Helvetica"/>
                </a:defRPr>
              </a:lvl1pPr>
            </a:lstStyle>
            <a:p>
              <a:pPr/>
              <a:r>
                <a:t>Split the node; reuse KV for ABC</a:t>
              </a:r>
            </a:p>
          </p:txBody>
        </p:sp>
        <p:sp>
          <p:nvSpPr>
            <p:cNvPr id="362" name="explanation-accent"/>
            <p:cNvSpPr/>
            <p:nvPr/>
          </p:nvSpPr>
          <p:spPr>
            <a:xfrm>
              <a:off x="6702744" y="180975"/>
              <a:ext cx="36197" cy="2952750"/>
            </a:xfrm>
            <a:prstGeom prst="rect">
              <a:avLst/>
            </a:prstGeom>
            <a:solidFill>
              <a:srgbClr val="285091"/>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63" name="stage-title"/>
            <p:cNvSpPr txBox="1"/>
            <p:nvPr/>
          </p:nvSpPr>
          <p:spPr>
            <a:xfrm>
              <a:off x="6955156" y="283346"/>
              <a:ext cx="3419477"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233852"/>
                  </a:solidFill>
                  <a:latin typeface="Arial"/>
                  <a:ea typeface="Arial"/>
                  <a:cs typeface="Arial"/>
                  <a:sym typeface="Arial"/>
                </a:defRPr>
              </a:lvl1pPr>
            </a:lstStyle>
            <a:p>
              <a:pPr/>
              <a:r>
                <a:t>2  Split and compute</a:t>
              </a:r>
            </a:p>
          </p:txBody>
        </p:sp>
        <p:sp>
          <p:nvSpPr>
            <p:cNvPr id="364" name="main-explanation"/>
            <p:cNvSpPr txBox="1"/>
            <p:nvPr/>
          </p:nvSpPr>
          <p:spPr>
            <a:xfrm>
              <a:off x="6955156" y="914000"/>
              <a:ext cx="3419477" cy="29607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285091"/>
                  </a:solidFill>
                  <a:latin typeface="Arial"/>
                  <a:ea typeface="Arial"/>
                  <a:cs typeface="Arial"/>
                  <a:sym typeface="Arial"/>
                </a:defRPr>
              </a:lvl1pPr>
            </a:lstStyle>
            <a:p>
              <a:pPr/>
              <a:r>
                <a:t>Separate ABC and DE</a:t>
              </a:r>
            </a:p>
          </p:txBody>
        </p:sp>
        <p:sp>
          <p:nvSpPr>
            <p:cNvPr id="365" name="explanation-1"/>
            <p:cNvSpPr txBox="1"/>
            <p:nvPr/>
          </p:nvSpPr>
          <p:spPr>
            <a:xfrm>
              <a:off x="6955156" y="1446212"/>
              <a:ext cx="341947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mj-lt"/>
                  <a:ea typeface="+mj-ea"/>
                  <a:cs typeface="+mj-cs"/>
                  <a:sym typeface="Helvetica"/>
                </a:defRPr>
              </a:lvl1pPr>
            </a:lstStyle>
            <a:p>
              <a:pPr/>
              <a:r>
                <a:t>Keep existing KV intact</a:t>
              </a:r>
            </a:p>
          </p:txBody>
        </p:sp>
        <p:sp>
          <p:nvSpPr>
            <p:cNvPr id="366" name="explanation-2"/>
            <p:cNvSpPr txBox="1"/>
            <p:nvPr/>
          </p:nvSpPr>
          <p:spPr>
            <a:xfrm>
              <a:off x="6955156" y="1865312"/>
              <a:ext cx="341947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mj-lt"/>
                  <a:ea typeface="+mj-ea"/>
                  <a:cs typeface="+mj-cs"/>
                  <a:sym typeface="Helvetica"/>
                </a:defRPr>
              </a:lvl1pPr>
            </a:lstStyle>
            <a:p>
              <a:pPr/>
              <a:r>
                <a:t>Prefill only F G</a:t>
              </a:r>
            </a:p>
          </p:txBody>
        </p:sp>
        <p:sp>
          <p:nvSpPr>
            <p:cNvPr id="367" name="reused-count"/>
            <p:cNvSpPr txBox="1"/>
            <p:nvPr/>
          </p:nvSpPr>
          <p:spPr>
            <a:xfrm>
              <a:off x="6955156" y="2565964"/>
              <a:ext cx="1666877"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3 reused</a:t>
              </a:r>
            </a:p>
          </p:txBody>
        </p:sp>
        <p:sp>
          <p:nvSpPr>
            <p:cNvPr id="368" name="new-count"/>
            <p:cNvSpPr txBox="1"/>
            <p:nvPr/>
          </p:nvSpPr>
          <p:spPr>
            <a:xfrm>
              <a:off x="8745856" y="2565964"/>
              <a:ext cx="1619252"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B67A00"/>
                  </a:solidFill>
                  <a:latin typeface="Arial"/>
                  <a:ea typeface="Arial"/>
                  <a:cs typeface="Arial"/>
                  <a:sym typeface="Arial"/>
                </a:defRPr>
              </a:lvl1pPr>
            </a:lstStyle>
            <a:p>
              <a:pPr/>
              <a:r>
                <a:t>2 new</a:t>
              </a:r>
            </a:p>
          </p:txBody>
        </p:sp>
      </p:grpSp>
      <p:grpSp>
        <p:nvGrpSpPr>
          <p:cNvPr id="404" name="RadixAttention step 3"/>
          <p:cNvGrpSpPr/>
          <p:nvPr/>
        </p:nvGrpSpPr>
        <p:grpSpPr>
          <a:xfrm>
            <a:off x="721993" y="1381125"/>
            <a:ext cx="10644192" cy="3352800"/>
            <a:chOff x="0" y="0"/>
            <a:chExt cx="10644191" cy="3352800"/>
          </a:xfrm>
        </p:grpSpPr>
        <p:sp>
          <p:nvSpPr>
            <p:cNvPr id="370" name="scene-3-mask"/>
            <p:cNvSpPr/>
            <p:nvPr/>
          </p:nvSpPr>
          <p:spPr>
            <a:xfrm>
              <a:off x="-1" y="0"/>
              <a:ext cx="10644192" cy="33528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71" name="scene-3-tree-panel"/>
            <p:cNvSpPr/>
            <p:nvPr/>
          </p:nvSpPr>
          <p:spPr>
            <a:xfrm>
              <a:off x="-1" y="22858"/>
              <a:ext cx="6418902"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72" name="scene-3-explanation-panel"/>
            <p:cNvSpPr/>
            <p:nvPr/>
          </p:nvSpPr>
          <p:spPr>
            <a:xfrm>
              <a:off x="6702744" y="22858"/>
              <a:ext cx="3941447" cy="3310894"/>
            </a:xfrm>
            <a:prstGeom prst="roundRect">
              <a:avLst>
                <a:gd name="adj" fmla="val 2014"/>
              </a:avLst>
            </a:prstGeom>
            <a:solidFill>
              <a:srgbClr val="F0F4F9"/>
            </a:solidFill>
            <a:ln w="9525" cap="flat">
              <a:solidFill>
                <a:srgbClr val="BACADD"/>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373" name="cached-label"/>
            <p:cNvSpPr txBox="1"/>
            <p:nvPr/>
          </p:nvSpPr>
          <p:spPr>
            <a:xfrm>
              <a:off x="259079" y="222248"/>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Cached</a:t>
              </a:r>
            </a:p>
          </p:txBody>
        </p:sp>
        <p:sp>
          <p:nvSpPr>
            <p:cNvPr id="374" name="cached-tokens"/>
            <p:cNvSpPr txBox="1"/>
            <p:nvPr/>
          </p:nvSpPr>
          <p:spPr>
            <a:xfrm>
              <a:off x="1611630" y="194238"/>
              <a:ext cx="4191003" cy="2592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A  B  C  D  E</a:t>
              </a:r>
            </a:p>
          </p:txBody>
        </p:sp>
        <p:sp>
          <p:nvSpPr>
            <p:cNvPr id="375" name="incoming-label"/>
            <p:cNvSpPr txBox="1"/>
            <p:nvPr/>
          </p:nvSpPr>
          <p:spPr>
            <a:xfrm>
              <a:off x="259079" y="631823"/>
              <a:ext cx="123825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86B80"/>
                  </a:solidFill>
                  <a:latin typeface="+mj-lt"/>
                  <a:ea typeface="+mj-ea"/>
                  <a:cs typeface="+mj-cs"/>
                  <a:sym typeface="Helvetica"/>
                </a:defRPr>
              </a:lvl1pPr>
            </a:lstStyle>
            <a:p>
              <a:pPr/>
              <a:r>
                <a:t>New request</a:t>
              </a:r>
            </a:p>
          </p:txBody>
        </p:sp>
        <p:sp>
          <p:nvSpPr>
            <p:cNvPr id="376" name="request-token-0"/>
            <p:cNvSpPr txBox="1"/>
            <p:nvPr/>
          </p:nvSpPr>
          <p:spPr>
            <a:xfrm>
              <a:off x="16116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A</a:t>
              </a:r>
            </a:p>
          </p:txBody>
        </p:sp>
        <p:sp>
          <p:nvSpPr>
            <p:cNvPr id="377" name="request-token-1"/>
            <p:cNvSpPr txBox="1"/>
            <p:nvPr/>
          </p:nvSpPr>
          <p:spPr>
            <a:xfrm>
              <a:off x="207835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B</a:t>
              </a:r>
            </a:p>
          </p:txBody>
        </p:sp>
        <p:sp>
          <p:nvSpPr>
            <p:cNvPr id="378" name="request-token-2"/>
            <p:cNvSpPr txBox="1"/>
            <p:nvPr/>
          </p:nvSpPr>
          <p:spPr>
            <a:xfrm>
              <a:off x="254508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285091"/>
                  </a:solidFill>
                  <a:latin typeface="Arial"/>
                  <a:ea typeface="Arial"/>
                  <a:cs typeface="Arial"/>
                  <a:sym typeface="Arial"/>
                </a:defRPr>
              </a:lvl1pPr>
            </a:lstStyle>
            <a:p>
              <a:pPr/>
              <a:r>
                <a:t>C</a:t>
              </a:r>
            </a:p>
          </p:txBody>
        </p:sp>
        <p:sp>
          <p:nvSpPr>
            <p:cNvPr id="379" name="request-token-3"/>
            <p:cNvSpPr txBox="1"/>
            <p:nvPr/>
          </p:nvSpPr>
          <p:spPr>
            <a:xfrm>
              <a:off x="3011805"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F</a:t>
              </a:r>
            </a:p>
          </p:txBody>
        </p:sp>
        <p:sp>
          <p:nvSpPr>
            <p:cNvPr id="380" name="request-token-4"/>
            <p:cNvSpPr txBox="1"/>
            <p:nvPr/>
          </p:nvSpPr>
          <p:spPr>
            <a:xfrm>
              <a:off x="3478530" y="597671"/>
              <a:ext cx="361952"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B67A00"/>
                  </a:solidFill>
                  <a:latin typeface="Arial"/>
                  <a:ea typeface="Arial"/>
                  <a:cs typeface="Arial"/>
                  <a:sym typeface="Arial"/>
                </a:defRPr>
              </a:lvl1pPr>
            </a:lstStyle>
            <a:p>
              <a:pPr/>
              <a:r>
                <a:t>G</a:t>
              </a:r>
            </a:p>
          </p:txBody>
        </p:sp>
        <p:sp>
          <p:nvSpPr>
            <p:cNvPr id="381" name="reuse-label"/>
            <p:cNvSpPr txBox="1"/>
            <p:nvPr/>
          </p:nvSpPr>
          <p:spPr>
            <a:xfrm>
              <a:off x="1621155" y="954086"/>
              <a:ext cx="131445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285091"/>
                  </a:solidFill>
                  <a:latin typeface="+mj-lt"/>
                  <a:ea typeface="+mj-ea"/>
                  <a:cs typeface="+mj-cs"/>
                  <a:sym typeface="Helvetica"/>
                </a:defRPr>
              </a:lvl1pPr>
            </a:lstStyle>
            <a:p>
              <a:pPr/>
              <a:r>
                <a:t>Reuse KV</a:t>
              </a:r>
            </a:p>
          </p:txBody>
        </p:sp>
        <p:sp>
          <p:nvSpPr>
            <p:cNvPr id="382" name="new-label"/>
            <p:cNvSpPr txBox="1"/>
            <p:nvPr/>
          </p:nvSpPr>
          <p:spPr>
            <a:xfrm>
              <a:off x="3021330" y="954086"/>
              <a:ext cx="1409702"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B67A00"/>
                  </a:solidFill>
                  <a:latin typeface="+mj-lt"/>
                  <a:ea typeface="+mj-ea"/>
                  <a:cs typeface="+mj-cs"/>
                  <a:sym typeface="Helvetica"/>
                </a:defRPr>
              </a:lvl1pPr>
            </a:lstStyle>
            <a:p>
              <a:pPr/>
              <a:r>
                <a:t>New KV</a:t>
              </a:r>
            </a:p>
          </p:txBody>
        </p:sp>
        <p:sp>
          <p:nvSpPr>
            <p:cNvPr id="383" name="radix-root"/>
            <p:cNvSpPr/>
            <p:nvPr/>
          </p:nvSpPr>
          <p:spPr>
            <a:xfrm>
              <a:off x="316229" y="1866900"/>
              <a:ext cx="323853" cy="323850"/>
            </a:xfrm>
            <a:prstGeom prst="ellipse">
              <a:avLst/>
            </a:prstGeom>
            <a:solidFill>
              <a:srgbClr val="E7EFF8"/>
            </a:solidFill>
            <a:ln w="11430" cap="flat">
              <a:solidFill>
                <a:srgbClr val="586B8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386" name="shared-prefix"/>
            <p:cNvGrpSpPr/>
            <p:nvPr/>
          </p:nvGrpSpPr>
          <p:grpSpPr>
            <a:xfrm>
              <a:off x="1306830" y="1752600"/>
              <a:ext cx="1685927" cy="552450"/>
              <a:chOff x="0" y="0"/>
              <a:chExt cx="1685926" cy="552450"/>
            </a:xfrm>
          </p:grpSpPr>
          <p:sp>
            <p:nvSpPr>
              <p:cNvPr id="384" name="Rounded Rectangle"/>
              <p:cNvSpPr/>
              <p:nvPr/>
            </p:nvSpPr>
            <p:spPr>
              <a:xfrm>
                <a:off x="0" y="0"/>
                <a:ext cx="1685927" cy="552450"/>
              </a:xfrm>
              <a:prstGeom prst="roundRect">
                <a:avLst>
                  <a:gd name="adj" fmla="val 12069"/>
                </a:avLst>
              </a:prstGeom>
              <a:solidFill>
                <a:srgbClr val="E7EFF8"/>
              </a:solidFill>
              <a:ln w="19050" cap="flat">
                <a:solidFill>
                  <a:srgbClr val="285091"/>
                </a:solidFill>
                <a:prstDash val="solid"/>
                <a:round/>
              </a:ln>
              <a:effectLst/>
            </p:spPr>
            <p:txBody>
              <a:bodyPr wrap="square" lIns="45718" tIns="45718" rIns="45718" bIns="45718" numCol="1" anchor="ctr">
                <a:noAutofit/>
              </a:bodyPr>
              <a:lstStyle/>
              <a:p>
                <a:pPr algn="ctr">
                  <a:defRPr b="1">
                    <a:solidFill>
                      <a:srgbClr val="285091"/>
                    </a:solidFill>
                    <a:latin typeface="Courier New"/>
                    <a:ea typeface="Courier New"/>
                    <a:cs typeface="Courier New"/>
                    <a:sym typeface="Courier New"/>
                  </a:defRPr>
                </a:pPr>
              </a:p>
            </p:txBody>
          </p:sp>
          <p:sp>
            <p:nvSpPr>
              <p:cNvPr id="385" name="A B C"/>
              <p:cNvSpPr txBox="1"/>
              <p:nvPr/>
            </p:nvSpPr>
            <p:spPr>
              <a:xfrm>
                <a:off x="76676" y="149223"/>
                <a:ext cx="1532574"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285091"/>
                    </a:solidFill>
                    <a:latin typeface="Courier New"/>
                    <a:ea typeface="Courier New"/>
                    <a:cs typeface="Courier New"/>
                    <a:sym typeface="Courier New"/>
                  </a:defRPr>
                </a:lvl1pPr>
              </a:lstStyle>
              <a:p>
                <a:pPr/>
                <a:r>
                  <a:t>A B C</a:t>
                </a:r>
              </a:p>
            </p:txBody>
          </p:sp>
        </p:grpSp>
        <p:grpSp>
          <p:nvGrpSpPr>
            <p:cNvPr id="389" name="existing-suffix"/>
            <p:cNvGrpSpPr/>
            <p:nvPr/>
          </p:nvGrpSpPr>
          <p:grpSpPr>
            <a:xfrm>
              <a:off x="3973830" y="1333500"/>
              <a:ext cx="1276353" cy="514350"/>
              <a:chOff x="0" y="0"/>
              <a:chExt cx="1276351" cy="514350"/>
            </a:xfrm>
          </p:grpSpPr>
          <p:sp>
            <p:nvSpPr>
              <p:cNvPr id="387" name="Rounded Rectangle"/>
              <p:cNvSpPr/>
              <p:nvPr/>
            </p:nvSpPr>
            <p:spPr>
              <a:xfrm>
                <a:off x="-1" y="0"/>
                <a:ext cx="1276353" cy="514350"/>
              </a:xfrm>
              <a:prstGeom prst="roundRect">
                <a:avLst>
                  <a:gd name="adj" fmla="val 12963"/>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a:solidFill>
                      <a:srgbClr val="586B80"/>
                    </a:solidFill>
                    <a:latin typeface="Courier New"/>
                    <a:ea typeface="Courier New"/>
                    <a:cs typeface="Courier New"/>
                    <a:sym typeface="Courier New"/>
                  </a:defRPr>
                </a:pPr>
              </a:p>
            </p:txBody>
          </p:sp>
          <p:sp>
            <p:nvSpPr>
              <p:cNvPr id="388" name="D E"/>
              <p:cNvSpPr txBox="1"/>
              <p:nvPr/>
            </p:nvSpPr>
            <p:spPr>
              <a:xfrm>
                <a:off x="76677" y="130173"/>
                <a:ext cx="112299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586B80"/>
                    </a:solidFill>
                    <a:latin typeface="Courier New"/>
                    <a:ea typeface="Courier New"/>
                    <a:cs typeface="Courier New"/>
                    <a:sym typeface="Courier New"/>
                  </a:defRPr>
                </a:lvl1pPr>
              </a:lstStyle>
              <a:p>
                <a:pPr/>
                <a:r>
                  <a:t>D E</a:t>
                </a:r>
              </a:p>
            </p:txBody>
          </p:sp>
        </p:grpSp>
        <p:sp>
          <p:nvSpPr>
            <p:cNvPr id="390" name="Line"/>
            <p:cNvSpPr/>
            <p:nvPr/>
          </p:nvSpPr>
          <p:spPr>
            <a:xfrm>
              <a:off x="640079" y="2028825"/>
              <a:ext cx="666752" cy="0"/>
            </a:xfrm>
            <a:prstGeom prst="line">
              <a:avLst/>
            </a:prstGeom>
            <a:noFill/>
            <a:ln w="19050" cap="flat">
              <a:solidFill>
                <a:srgbClr val="285091"/>
              </a:solidFill>
              <a:prstDash val="solid"/>
              <a:round/>
            </a:ln>
            <a:effectLst/>
          </p:spPr>
          <p:txBody>
            <a:bodyPr wrap="square" lIns="45718" tIns="45718" rIns="45718" bIns="45718" numCol="1" anchor="t">
              <a:noAutofit/>
            </a:bodyPr>
            <a:lstStyle/>
            <a:p>
              <a:pPr/>
            </a:p>
          </p:txBody>
        </p:sp>
        <p:sp>
          <p:nvSpPr>
            <p:cNvPr id="391" name="Line"/>
            <p:cNvSpPr/>
            <p:nvPr/>
          </p:nvSpPr>
          <p:spPr>
            <a:xfrm flipV="1">
              <a:off x="2992755" y="1590673"/>
              <a:ext cx="981077" cy="438154"/>
            </a:xfrm>
            <a:prstGeom prst="line">
              <a:avLst/>
            </a:prstGeom>
            <a:noFill/>
            <a:ln w="13334" cap="flat">
              <a:solidFill>
                <a:srgbClr val="586B80"/>
              </a:solidFill>
              <a:prstDash val="solid"/>
              <a:round/>
            </a:ln>
            <a:effectLst/>
          </p:spPr>
          <p:txBody>
            <a:bodyPr wrap="square" lIns="45718" tIns="45718" rIns="45718" bIns="45718" numCol="1" anchor="t">
              <a:noAutofit/>
            </a:bodyPr>
            <a:lstStyle/>
            <a:p>
              <a:pPr/>
            </a:p>
          </p:txBody>
        </p:sp>
        <p:grpSp>
          <p:nvGrpSpPr>
            <p:cNvPr id="394" name="new-suffix"/>
            <p:cNvGrpSpPr/>
            <p:nvPr/>
          </p:nvGrpSpPr>
          <p:grpSpPr>
            <a:xfrm>
              <a:off x="3973830" y="2343150"/>
              <a:ext cx="1276353" cy="514350"/>
              <a:chOff x="0" y="0"/>
              <a:chExt cx="1276351" cy="514350"/>
            </a:xfrm>
          </p:grpSpPr>
          <p:sp>
            <p:nvSpPr>
              <p:cNvPr id="392" name="Rounded Rectangle"/>
              <p:cNvSpPr/>
              <p:nvPr/>
            </p:nvSpPr>
            <p:spPr>
              <a:xfrm>
                <a:off x="-1" y="0"/>
                <a:ext cx="1276353" cy="514350"/>
              </a:xfrm>
              <a:prstGeom prst="roundRect">
                <a:avLst>
                  <a:gd name="adj" fmla="val 1296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a:solidFill>
                      <a:srgbClr val="158A70"/>
                    </a:solidFill>
                    <a:latin typeface="Courier New"/>
                    <a:ea typeface="Courier New"/>
                    <a:cs typeface="Courier New"/>
                    <a:sym typeface="Courier New"/>
                  </a:defRPr>
                </a:pPr>
              </a:p>
            </p:txBody>
          </p:sp>
          <p:sp>
            <p:nvSpPr>
              <p:cNvPr id="393" name="F G"/>
              <p:cNvSpPr txBox="1"/>
              <p:nvPr/>
            </p:nvSpPr>
            <p:spPr>
              <a:xfrm>
                <a:off x="76677" y="130173"/>
                <a:ext cx="112299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158A70"/>
                    </a:solidFill>
                    <a:latin typeface="Courier New"/>
                    <a:ea typeface="Courier New"/>
                    <a:cs typeface="Courier New"/>
                    <a:sym typeface="Courier New"/>
                  </a:defRPr>
                </a:lvl1pPr>
              </a:lstStyle>
              <a:p>
                <a:pPr/>
                <a:r>
                  <a:t>F G</a:t>
                </a:r>
              </a:p>
            </p:txBody>
          </p:sp>
        </p:grpSp>
        <p:sp>
          <p:nvSpPr>
            <p:cNvPr id="395" name="Line"/>
            <p:cNvSpPr/>
            <p:nvPr/>
          </p:nvSpPr>
          <p:spPr>
            <a:xfrm>
              <a:off x="2992755" y="2028825"/>
              <a:ext cx="981077" cy="571500"/>
            </a:xfrm>
            <a:prstGeom prst="line">
              <a:avLst/>
            </a:prstGeom>
            <a:noFill/>
            <a:ln w="24765" cap="flat">
              <a:solidFill>
                <a:srgbClr val="158A70"/>
              </a:solidFill>
              <a:prstDash val="solid"/>
              <a:round/>
            </a:ln>
            <a:effectLst/>
          </p:spPr>
          <p:txBody>
            <a:bodyPr wrap="square" lIns="45718" tIns="45718" rIns="45718" bIns="45718" numCol="1" anchor="t">
              <a:noAutofit/>
            </a:bodyPr>
            <a:lstStyle/>
            <a:p>
              <a:pPr/>
            </a:p>
          </p:txBody>
        </p:sp>
        <p:sp>
          <p:nvSpPr>
            <p:cNvPr id="396" name="node-description"/>
            <p:cNvSpPr txBox="1"/>
            <p:nvPr/>
          </p:nvSpPr>
          <p:spPr>
            <a:xfrm>
              <a:off x="268604" y="3013074"/>
              <a:ext cx="59055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586B80"/>
                  </a:solidFill>
                  <a:latin typeface="+mj-lt"/>
                  <a:ea typeface="+mj-ea"/>
                  <a:cs typeface="+mj-cs"/>
                  <a:sym typeface="Helvetica"/>
                </a:defRPr>
              </a:lvl1pPr>
            </a:lstStyle>
            <a:p>
              <a:pPr/>
              <a:r>
                <a:t>Share ABC; cache each suffix separately</a:t>
              </a:r>
            </a:p>
          </p:txBody>
        </p:sp>
        <p:sp>
          <p:nvSpPr>
            <p:cNvPr id="397" name="explanation-accent"/>
            <p:cNvSpPr/>
            <p:nvPr/>
          </p:nvSpPr>
          <p:spPr>
            <a:xfrm>
              <a:off x="6702744" y="180975"/>
              <a:ext cx="36197" cy="295275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398" name="stage-title"/>
            <p:cNvSpPr txBox="1"/>
            <p:nvPr/>
          </p:nvSpPr>
          <p:spPr>
            <a:xfrm>
              <a:off x="6955156" y="283346"/>
              <a:ext cx="3419477"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233852"/>
                  </a:solidFill>
                  <a:latin typeface="Arial"/>
                  <a:ea typeface="Arial"/>
                  <a:cs typeface="Arial"/>
                  <a:sym typeface="Arial"/>
                </a:defRPr>
              </a:lvl1pPr>
            </a:lstStyle>
            <a:p>
              <a:pPr/>
              <a:r>
                <a:t>3  Insert a branch</a:t>
              </a:r>
            </a:p>
          </p:txBody>
        </p:sp>
        <p:sp>
          <p:nvSpPr>
            <p:cNvPr id="399" name="main-explanation"/>
            <p:cNvSpPr txBox="1"/>
            <p:nvPr/>
          </p:nvSpPr>
          <p:spPr>
            <a:xfrm>
              <a:off x="6955156" y="903287"/>
              <a:ext cx="341947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Add an F G branch</a:t>
              </a:r>
            </a:p>
          </p:txBody>
        </p:sp>
        <p:sp>
          <p:nvSpPr>
            <p:cNvPr id="400" name="explanation-1"/>
            <p:cNvSpPr txBox="1"/>
            <p:nvPr/>
          </p:nvSpPr>
          <p:spPr>
            <a:xfrm>
              <a:off x="6955156" y="1455886"/>
              <a:ext cx="3419477"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Arial"/>
                  <a:ea typeface="Arial"/>
                  <a:cs typeface="Arial"/>
                  <a:sym typeface="Arial"/>
                </a:defRPr>
              </a:lvl1pPr>
            </a:lstStyle>
            <a:p>
              <a:pPr/>
              <a:r>
                <a:t>One copy of ABC</a:t>
              </a:r>
            </a:p>
          </p:txBody>
        </p:sp>
        <p:sp>
          <p:nvSpPr>
            <p:cNvPr id="401" name="explanation-2"/>
            <p:cNvSpPr txBox="1"/>
            <p:nvPr/>
          </p:nvSpPr>
          <p:spPr>
            <a:xfrm>
              <a:off x="6955156" y="1865312"/>
              <a:ext cx="341947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233852"/>
                  </a:solidFill>
                  <a:latin typeface="+mj-lt"/>
                  <a:ea typeface="+mj-ea"/>
                  <a:cs typeface="+mj-cs"/>
                  <a:sym typeface="Helvetica"/>
                </a:defRPr>
              </a:lvl1pPr>
            </a:lstStyle>
            <a:p>
              <a:pPr/>
              <a:r>
                <a:t>Reuse for later requests</a:t>
              </a:r>
            </a:p>
          </p:txBody>
        </p:sp>
        <p:sp>
          <p:nvSpPr>
            <p:cNvPr id="402" name="reused-count"/>
            <p:cNvSpPr txBox="1"/>
            <p:nvPr/>
          </p:nvSpPr>
          <p:spPr>
            <a:xfrm>
              <a:off x="6955156" y="2565964"/>
              <a:ext cx="1666877"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285091"/>
                  </a:solidFill>
                  <a:latin typeface="Arial"/>
                  <a:ea typeface="Arial"/>
                  <a:cs typeface="Arial"/>
                  <a:sym typeface="Arial"/>
                </a:defRPr>
              </a:lvl1pPr>
            </a:lstStyle>
            <a:p>
              <a:pPr/>
              <a:r>
                <a:t>3 reused</a:t>
              </a:r>
            </a:p>
          </p:txBody>
        </p:sp>
        <p:sp>
          <p:nvSpPr>
            <p:cNvPr id="403" name="new-count"/>
            <p:cNvSpPr txBox="1"/>
            <p:nvPr/>
          </p:nvSpPr>
          <p:spPr>
            <a:xfrm>
              <a:off x="8745856" y="2565964"/>
              <a:ext cx="1619252"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B67A00"/>
                  </a:solidFill>
                  <a:latin typeface="Arial"/>
                  <a:ea typeface="Arial"/>
                  <a:cs typeface="Arial"/>
                  <a:sym typeface="Arial"/>
                </a:defRPr>
              </a:lvl1pPr>
            </a:lstStyle>
            <a:p>
              <a:pPr/>
              <a:r>
                <a:t>2 new</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34"/>
                                        </p:tgtEl>
                                        <p:attrNameLst>
                                          <p:attrName>style.visibility</p:attrName>
                                        </p:attrNameLst>
                                      </p:cBhvr>
                                      <p:to>
                                        <p:strVal val="visible"/>
                                      </p:to>
                                    </p:set>
                                    <p:animEffect filter="fade" transition="in">
                                      <p:cBhvr>
                                        <p:cTn id="7" dur="280"/>
                                        <p:tgtEl>
                                          <p:spTgt spid="33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69"/>
                                        </p:tgtEl>
                                        <p:attrNameLst>
                                          <p:attrName>style.visibility</p:attrName>
                                        </p:attrNameLst>
                                      </p:cBhvr>
                                      <p:to>
                                        <p:strVal val="visible"/>
                                      </p:to>
                                    </p:set>
                                    <p:animEffect filter="fade" transition="in">
                                      <p:cBhvr>
                                        <p:cTn id="12" dur="280"/>
                                        <p:tgtEl>
                                          <p:spTgt spid="36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404"/>
                                        </p:tgtEl>
                                        <p:attrNameLst>
                                          <p:attrName>style.visibility</p:attrName>
                                        </p:attrNameLst>
                                      </p:cBhvr>
                                      <p:to>
                                        <p:strVal val="visible"/>
                                      </p:to>
                                    </p:set>
                                    <p:animEffect filter="fade" transition="in">
                                      <p:cBhvr>
                                        <p:cTn id="17" dur="28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9" grpId="2"/>
      <p:bldP build="whole" bldLvl="1" animBg="1" rev="0" advAuto="0" spid="334" grpId="1"/>
      <p:bldP build="whole" bldLvl="1" animBg="1" rev="0" advAuto="0" spid="404"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标题 2"/>
          <p:cNvSpPr txBox="1"/>
          <p:nvPr>
            <p:ph type="title"/>
          </p:nvPr>
        </p:nvSpPr>
        <p:spPr>
          <a:xfrm>
            <a:off x="421004" y="825500"/>
            <a:ext cx="3550923" cy="2812415"/>
          </a:xfrm>
          <a:prstGeom prst="rect">
            <a:avLst/>
          </a:prstGeom>
        </p:spPr>
        <p:txBody>
          <a:bodyPr/>
          <a:lstStyle>
            <a:lvl1pPr defTabSz="813816">
              <a:defRPr sz="17800"/>
            </a:lvl1pPr>
          </a:lstStyle>
          <a:p>
            <a:pPr/>
            <a:r>
              <a:t>03</a:t>
            </a:r>
          </a:p>
        </p:txBody>
      </p:sp>
      <p:sp>
        <p:nvSpPr>
          <p:cNvPr id="409" name="文本占位符 1"/>
          <p:cNvSpPr txBox="1"/>
          <p:nvPr>
            <p:ph type="body" sz="quarter" idx="1"/>
          </p:nvPr>
        </p:nvSpPr>
        <p:spPr>
          <a:xfrm>
            <a:off x="569208" y="2821714"/>
            <a:ext cx="8887195" cy="860045"/>
          </a:xfrm>
          <a:prstGeom prst="rect">
            <a:avLst/>
          </a:prstGeom>
        </p:spPr>
        <p:txBody>
          <a:bodyPr/>
          <a:lstStyle/>
          <a:p>
            <a:pPr/>
            <a:r>
              <a:t>HiCache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HiCache: The GPU Cache Capacity Limit</a:t>
            </a:r>
          </a:p>
        </p:txBody>
      </p:sp>
      <p:sp>
        <p:nvSpPr>
          <p:cNvPr id="412"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11</a:t>
            </a:r>
          </a:p>
        </p:txBody>
      </p:sp>
      <p:pic>
        <p:nvPicPr>
          <p:cNvPr id="413"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414"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pic>
        <p:nvPicPr>
          <p:cNvPr id="415" name="pasted-movie.png" descr="pasted-movie.png"/>
          <p:cNvPicPr>
            <a:picLocks noChangeAspect="1"/>
          </p:cNvPicPr>
          <p:nvPr/>
        </p:nvPicPr>
        <p:blipFill>
          <a:blip r:embed="rId5">
            <a:extLst/>
          </a:blip>
          <a:srcRect l="0" t="24548" r="0" b="9825"/>
          <a:stretch>
            <a:fillRect/>
          </a:stretch>
        </p:blipFill>
        <p:spPr>
          <a:xfrm>
            <a:off x="661193" y="1671716"/>
            <a:ext cx="10869525" cy="401455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HiCache: Cache Reuse Across Instances via L3</a:t>
            </a:r>
          </a:p>
        </p:txBody>
      </p:sp>
      <p:sp>
        <p:nvSpPr>
          <p:cNvPr id="420"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12</a:t>
            </a:r>
          </a:p>
        </p:txBody>
      </p:sp>
      <p:pic>
        <p:nvPicPr>
          <p:cNvPr id="421" name="图片 45" descr="图片 45"/>
          <p:cNvPicPr>
            <a:picLocks noChangeAspect="1"/>
          </p:cNvPicPr>
          <p:nvPr/>
        </p:nvPicPr>
        <p:blipFill>
          <a:blip r:embed="rId3">
            <a:extLst/>
          </a:blip>
          <a:stretch>
            <a:fillRect/>
          </a:stretch>
        </p:blipFill>
        <p:spPr>
          <a:xfrm>
            <a:off x="9439909" y="326390"/>
            <a:ext cx="2517141" cy="295277"/>
          </a:xfrm>
          <a:prstGeom prst="rect">
            <a:avLst/>
          </a:prstGeom>
          <a:ln w="12700">
            <a:miter lim="400000"/>
          </a:ln>
        </p:spPr>
      </p:pic>
      <p:grpSp>
        <p:nvGrpSpPr>
          <p:cNvPr id="440" name="Stage 0"/>
          <p:cNvGrpSpPr/>
          <p:nvPr/>
        </p:nvGrpSpPr>
        <p:grpSpPr>
          <a:xfrm>
            <a:off x="523875" y="819150"/>
            <a:ext cx="11049000" cy="5219700"/>
            <a:chOff x="0" y="0"/>
            <a:chExt cx="11049000" cy="5219700"/>
          </a:xfrm>
        </p:grpSpPr>
        <p:sp>
          <p:nvSpPr>
            <p:cNvPr id="422" name="v-100"/>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423" name="v-101"/>
            <p:cNvSpPr txBox="1"/>
            <p:nvPr/>
          </p:nvSpPr>
          <p:spPr>
            <a:xfrm>
              <a:off x="245745" y="120566"/>
              <a:ext cx="10576560" cy="387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Arial"/>
                  <a:ea typeface="Arial"/>
                  <a:cs typeface="Arial"/>
                  <a:sym typeface="Arial"/>
                </a:defRPr>
              </a:lvl1pPr>
            </a:lstStyle>
            <a:p>
              <a:pPr/>
              <a:r>
                <a:t>L1 / L2 are local; L3 is shared</a:t>
              </a:r>
            </a:p>
          </p:txBody>
        </p:sp>
        <p:sp>
          <p:nvSpPr>
            <p:cNvPr id="424" name="v-102"/>
            <p:cNvSpPr txBox="1"/>
            <p:nvPr/>
          </p:nvSpPr>
          <p:spPr>
            <a:xfrm>
              <a:off x="1283969" y="741679"/>
              <a:ext cx="3051812"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A</a:t>
              </a:r>
            </a:p>
          </p:txBody>
        </p:sp>
        <p:sp>
          <p:nvSpPr>
            <p:cNvPr id="425" name="v-103"/>
            <p:cNvSpPr txBox="1"/>
            <p:nvPr/>
          </p:nvSpPr>
          <p:spPr>
            <a:xfrm>
              <a:off x="6808468" y="741679"/>
              <a:ext cx="3051812"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B</a:t>
              </a:r>
            </a:p>
          </p:txBody>
        </p:sp>
        <p:sp>
          <p:nvSpPr>
            <p:cNvPr id="426" name="v-104"/>
            <p:cNvSpPr/>
            <p:nvPr/>
          </p:nvSpPr>
          <p:spPr>
            <a:xfrm>
              <a:off x="1238250" y="1371600"/>
              <a:ext cx="3143250"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27" name="v-105"/>
            <p:cNvSpPr txBox="1"/>
            <p:nvPr/>
          </p:nvSpPr>
          <p:spPr>
            <a:xfrm>
              <a:off x="1341119" y="14796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28" name="v-106"/>
            <p:cNvSpPr/>
            <p:nvPr/>
          </p:nvSpPr>
          <p:spPr>
            <a:xfrm>
              <a:off x="1238250" y="2324100"/>
              <a:ext cx="3143250"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29" name="v-107"/>
            <p:cNvSpPr txBox="1"/>
            <p:nvPr/>
          </p:nvSpPr>
          <p:spPr>
            <a:xfrm>
              <a:off x="1341119" y="24321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30" name="v-108"/>
            <p:cNvSpPr/>
            <p:nvPr/>
          </p:nvSpPr>
          <p:spPr>
            <a:xfrm>
              <a:off x="6762750" y="1371600"/>
              <a:ext cx="3143250"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31" name="v-109"/>
            <p:cNvSpPr txBox="1"/>
            <p:nvPr/>
          </p:nvSpPr>
          <p:spPr>
            <a:xfrm>
              <a:off x="6865618" y="14796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32" name="v-110"/>
            <p:cNvSpPr/>
            <p:nvPr/>
          </p:nvSpPr>
          <p:spPr>
            <a:xfrm>
              <a:off x="6762750" y="2324100"/>
              <a:ext cx="3143250"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33" name="v-111"/>
            <p:cNvSpPr txBox="1"/>
            <p:nvPr/>
          </p:nvSpPr>
          <p:spPr>
            <a:xfrm>
              <a:off x="6865618" y="24321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34" name="v-112"/>
            <p:cNvSpPr/>
            <p:nvPr/>
          </p:nvSpPr>
          <p:spPr>
            <a:xfrm>
              <a:off x="2809874" y="2019298"/>
              <a:ext cx="955"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35" name="v-113"/>
            <p:cNvSpPr/>
            <p:nvPr/>
          </p:nvSpPr>
          <p:spPr>
            <a:xfrm>
              <a:off x="8334375" y="2019298"/>
              <a:ext cx="954"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36" name="v-114"/>
            <p:cNvSpPr/>
            <p:nvPr/>
          </p:nvSpPr>
          <p:spPr>
            <a:xfrm>
              <a:off x="2809874" y="2971799"/>
              <a:ext cx="954"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37" name="v-115"/>
            <p:cNvSpPr/>
            <p:nvPr/>
          </p:nvSpPr>
          <p:spPr>
            <a:xfrm>
              <a:off x="8334374" y="2971799"/>
              <a:ext cx="955"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38" name="v-116"/>
            <p:cNvSpPr/>
            <p:nvPr/>
          </p:nvSpPr>
          <p:spPr>
            <a:xfrm>
              <a:off x="1238250" y="3848100"/>
              <a:ext cx="8667750" cy="819150"/>
            </a:xfrm>
            <a:prstGeom prst="roundRect">
              <a:avLst>
                <a:gd name="adj" fmla="val 9302"/>
              </a:avLst>
            </a:prstGeom>
            <a:solidFill>
              <a:srgbClr val="F2ECFA"/>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39" name="v-117"/>
            <p:cNvSpPr txBox="1"/>
            <p:nvPr/>
          </p:nvSpPr>
          <p:spPr>
            <a:xfrm>
              <a:off x="1341118" y="4008754"/>
              <a:ext cx="8462013"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8056BF"/>
                  </a:solidFill>
                  <a:latin typeface="+mj-lt"/>
                  <a:ea typeface="+mj-ea"/>
                  <a:cs typeface="+mj-cs"/>
                  <a:sym typeface="Helvetica"/>
                </a:defRPr>
              </a:lvl1pPr>
            </a:lstStyle>
            <a:p>
              <a:pPr/>
              <a:r>
                <a:t>Shared storage · L3</a:t>
              </a:r>
            </a:p>
          </p:txBody>
        </p:sp>
      </p:grpSp>
      <p:grpSp>
        <p:nvGrpSpPr>
          <p:cNvPr id="462" name="Stage 1"/>
          <p:cNvGrpSpPr/>
          <p:nvPr/>
        </p:nvGrpSpPr>
        <p:grpSpPr>
          <a:xfrm>
            <a:off x="523875" y="819150"/>
            <a:ext cx="11049000" cy="5219700"/>
            <a:chOff x="0" y="0"/>
            <a:chExt cx="11049000" cy="5219700"/>
          </a:xfrm>
        </p:grpSpPr>
        <p:sp>
          <p:nvSpPr>
            <p:cNvPr id="441" name="v-118"/>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442" name="v-119"/>
            <p:cNvSpPr txBox="1"/>
            <p:nvPr/>
          </p:nvSpPr>
          <p:spPr>
            <a:xfrm>
              <a:off x="245745" y="109853"/>
              <a:ext cx="10576560"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mj-lt"/>
                  <a:ea typeface="+mj-ea"/>
                  <a:cs typeface="+mj-cs"/>
                  <a:sym typeface="Helvetica"/>
                </a:defRPr>
              </a:lvl1pPr>
            </a:lstStyle>
            <a:p>
              <a:pPr/>
              <a:r>
                <a:t>Instance A backs up the prefix to L3</a:t>
              </a:r>
            </a:p>
          </p:txBody>
        </p:sp>
        <p:sp>
          <p:nvSpPr>
            <p:cNvPr id="443" name="v-120"/>
            <p:cNvSpPr txBox="1"/>
            <p:nvPr/>
          </p:nvSpPr>
          <p:spPr>
            <a:xfrm>
              <a:off x="1283969" y="741679"/>
              <a:ext cx="3051812"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A</a:t>
              </a:r>
            </a:p>
          </p:txBody>
        </p:sp>
        <p:sp>
          <p:nvSpPr>
            <p:cNvPr id="444" name="v-121"/>
            <p:cNvSpPr txBox="1"/>
            <p:nvPr/>
          </p:nvSpPr>
          <p:spPr>
            <a:xfrm>
              <a:off x="6808468" y="741679"/>
              <a:ext cx="3051812"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B</a:t>
              </a:r>
            </a:p>
          </p:txBody>
        </p:sp>
        <p:sp>
          <p:nvSpPr>
            <p:cNvPr id="445" name="v-122"/>
            <p:cNvSpPr/>
            <p:nvPr/>
          </p:nvSpPr>
          <p:spPr>
            <a:xfrm>
              <a:off x="1238250" y="1371600"/>
              <a:ext cx="3143250"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46" name="v-123"/>
            <p:cNvSpPr txBox="1"/>
            <p:nvPr/>
          </p:nvSpPr>
          <p:spPr>
            <a:xfrm>
              <a:off x="1341119" y="14796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47" name="v-124"/>
            <p:cNvSpPr/>
            <p:nvPr/>
          </p:nvSpPr>
          <p:spPr>
            <a:xfrm>
              <a:off x="1238250" y="2324100"/>
              <a:ext cx="3143250"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48" name="v-125"/>
            <p:cNvSpPr txBox="1"/>
            <p:nvPr/>
          </p:nvSpPr>
          <p:spPr>
            <a:xfrm>
              <a:off x="1341119" y="24321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49" name="v-126"/>
            <p:cNvSpPr/>
            <p:nvPr/>
          </p:nvSpPr>
          <p:spPr>
            <a:xfrm>
              <a:off x="6762750" y="1371600"/>
              <a:ext cx="3143250"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50" name="v-127"/>
            <p:cNvSpPr txBox="1"/>
            <p:nvPr/>
          </p:nvSpPr>
          <p:spPr>
            <a:xfrm>
              <a:off x="6865618" y="14796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51" name="v-128"/>
            <p:cNvSpPr/>
            <p:nvPr/>
          </p:nvSpPr>
          <p:spPr>
            <a:xfrm>
              <a:off x="6762750" y="2324100"/>
              <a:ext cx="3143250"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52" name="v-129"/>
            <p:cNvSpPr txBox="1"/>
            <p:nvPr/>
          </p:nvSpPr>
          <p:spPr>
            <a:xfrm>
              <a:off x="6865618" y="24321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53" name="v-130"/>
            <p:cNvSpPr/>
            <p:nvPr/>
          </p:nvSpPr>
          <p:spPr>
            <a:xfrm>
              <a:off x="2809874" y="2019298"/>
              <a:ext cx="955"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54" name="v-131"/>
            <p:cNvSpPr/>
            <p:nvPr/>
          </p:nvSpPr>
          <p:spPr>
            <a:xfrm>
              <a:off x="8334375" y="2019298"/>
              <a:ext cx="954"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55" name="v-132"/>
            <p:cNvSpPr/>
            <p:nvPr/>
          </p:nvSpPr>
          <p:spPr>
            <a:xfrm>
              <a:off x="2809874" y="2971799"/>
              <a:ext cx="954"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56" name="v-133"/>
            <p:cNvSpPr/>
            <p:nvPr/>
          </p:nvSpPr>
          <p:spPr>
            <a:xfrm>
              <a:off x="8334374" y="2971799"/>
              <a:ext cx="955"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57" name="v-134"/>
            <p:cNvSpPr/>
            <p:nvPr/>
          </p:nvSpPr>
          <p:spPr>
            <a:xfrm>
              <a:off x="1238250" y="3848100"/>
              <a:ext cx="8667750" cy="819150"/>
            </a:xfrm>
            <a:prstGeom prst="roundRect">
              <a:avLst>
                <a:gd name="adj" fmla="val 9302"/>
              </a:avLst>
            </a:prstGeom>
            <a:solidFill>
              <a:srgbClr val="F2ECFA"/>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58" name="v-135"/>
            <p:cNvSpPr txBox="1"/>
            <p:nvPr/>
          </p:nvSpPr>
          <p:spPr>
            <a:xfrm>
              <a:off x="1341118" y="4008754"/>
              <a:ext cx="8462013"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8056BF"/>
                  </a:solidFill>
                  <a:latin typeface="+mj-lt"/>
                  <a:ea typeface="+mj-ea"/>
                  <a:cs typeface="+mj-cs"/>
                  <a:sym typeface="Helvetica"/>
                </a:defRPr>
              </a:lvl1pPr>
            </a:lstStyle>
            <a:p>
              <a:pPr/>
              <a:r>
                <a:t>Shared storage · L3</a:t>
              </a:r>
            </a:p>
          </p:txBody>
        </p:sp>
        <p:sp>
          <p:nvSpPr>
            <p:cNvPr id="459" name="v-136"/>
            <p:cNvSpPr/>
            <p:nvPr/>
          </p:nvSpPr>
          <p:spPr>
            <a:xfrm>
              <a:off x="2047875" y="3181350"/>
              <a:ext cx="1524000" cy="552450"/>
            </a:xfrm>
            <a:prstGeom prst="roundRect">
              <a:avLst>
                <a:gd name="adj" fmla="val 13793"/>
              </a:avLst>
            </a:prstGeom>
            <a:solidFill>
              <a:srgbClr val="8056BF"/>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60" name="v-137"/>
            <p:cNvSpPr txBox="1"/>
            <p:nvPr/>
          </p:nvSpPr>
          <p:spPr>
            <a:xfrm>
              <a:off x="2150743" y="3239039"/>
              <a:ext cx="13182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8056BF"/>
                  </a:solidFill>
                  <a:latin typeface="Arial"/>
                  <a:ea typeface="Arial"/>
                  <a:cs typeface="Arial"/>
                  <a:sym typeface="Arial"/>
                </a:defRPr>
              </a:lvl1pPr>
            </a:lstStyle>
            <a:p>
              <a:pPr/>
              <a:r>
                <a:t>KV</a:t>
              </a:r>
            </a:p>
          </p:txBody>
        </p:sp>
        <p:sp>
          <p:nvSpPr>
            <p:cNvPr id="461" name="v-138"/>
            <p:cNvSpPr txBox="1"/>
            <p:nvPr/>
          </p:nvSpPr>
          <p:spPr>
            <a:xfrm>
              <a:off x="2141218" y="3239039"/>
              <a:ext cx="133731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FFFFFF"/>
                  </a:solidFill>
                  <a:latin typeface="Arial"/>
                  <a:ea typeface="Arial"/>
                  <a:cs typeface="Arial"/>
                  <a:sym typeface="Arial"/>
                </a:defRPr>
              </a:lvl1pPr>
            </a:lstStyle>
            <a:p>
              <a:pPr/>
              <a:r>
                <a:t>KV</a:t>
              </a:r>
            </a:p>
          </p:txBody>
        </p:sp>
      </p:grpSp>
      <p:grpSp>
        <p:nvGrpSpPr>
          <p:cNvPr id="488" name="Stage 2"/>
          <p:cNvGrpSpPr/>
          <p:nvPr/>
        </p:nvGrpSpPr>
        <p:grpSpPr>
          <a:xfrm>
            <a:off x="523875" y="819150"/>
            <a:ext cx="11050907" cy="5219700"/>
            <a:chOff x="0" y="0"/>
            <a:chExt cx="11050905" cy="5219700"/>
          </a:xfrm>
        </p:grpSpPr>
        <p:sp>
          <p:nvSpPr>
            <p:cNvPr id="463" name="v-139"/>
            <p:cNvSpPr/>
            <p:nvPr/>
          </p:nvSpPr>
          <p:spPr>
            <a:xfrm>
              <a:off x="0" y="0"/>
              <a:ext cx="11049002"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464" name="v-140"/>
            <p:cNvSpPr txBox="1"/>
            <p:nvPr/>
          </p:nvSpPr>
          <p:spPr>
            <a:xfrm>
              <a:off x="245744" y="109853"/>
              <a:ext cx="10576563"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mj-lt"/>
                  <a:ea typeface="+mj-ea"/>
                  <a:cs typeface="+mj-cs"/>
                  <a:sym typeface="Helvetica"/>
                </a:defRPr>
              </a:lvl1pPr>
            </a:lstStyle>
            <a:p>
              <a:pPr/>
              <a:r>
                <a:t>Instance B matches the same prefix and restores it</a:t>
              </a:r>
            </a:p>
          </p:txBody>
        </p:sp>
        <p:sp>
          <p:nvSpPr>
            <p:cNvPr id="465" name="v-141"/>
            <p:cNvSpPr txBox="1"/>
            <p:nvPr/>
          </p:nvSpPr>
          <p:spPr>
            <a:xfrm>
              <a:off x="1283969" y="741679"/>
              <a:ext cx="3051813"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A</a:t>
              </a:r>
            </a:p>
          </p:txBody>
        </p:sp>
        <p:sp>
          <p:nvSpPr>
            <p:cNvPr id="466" name="v-142"/>
            <p:cNvSpPr txBox="1"/>
            <p:nvPr/>
          </p:nvSpPr>
          <p:spPr>
            <a:xfrm>
              <a:off x="6808469" y="741679"/>
              <a:ext cx="3051812"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2B5294"/>
                  </a:solidFill>
                  <a:latin typeface="+mj-lt"/>
                  <a:ea typeface="+mj-ea"/>
                  <a:cs typeface="+mj-cs"/>
                  <a:sym typeface="Helvetica"/>
                </a:defRPr>
              </a:lvl1pPr>
            </a:lstStyle>
            <a:p>
              <a:pPr/>
              <a:r>
                <a:t>Instance B</a:t>
              </a:r>
            </a:p>
          </p:txBody>
        </p:sp>
        <p:sp>
          <p:nvSpPr>
            <p:cNvPr id="467" name="v-143"/>
            <p:cNvSpPr/>
            <p:nvPr/>
          </p:nvSpPr>
          <p:spPr>
            <a:xfrm>
              <a:off x="1238250" y="1371600"/>
              <a:ext cx="3143251"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68" name="v-144"/>
            <p:cNvSpPr txBox="1"/>
            <p:nvPr/>
          </p:nvSpPr>
          <p:spPr>
            <a:xfrm>
              <a:off x="1341119" y="1479674"/>
              <a:ext cx="2937513"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69" name="v-145"/>
            <p:cNvSpPr/>
            <p:nvPr/>
          </p:nvSpPr>
          <p:spPr>
            <a:xfrm>
              <a:off x="1238250" y="2324100"/>
              <a:ext cx="3143251"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70" name="v-146"/>
            <p:cNvSpPr txBox="1"/>
            <p:nvPr/>
          </p:nvSpPr>
          <p:spPr>
            <a:xfrm>
              <a:off x="1341119" y="2432174"/>
              <a:ext cx="2937513"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71" name="v-147"/>
            <p:cNvSpPr/>
            <p:nvPr/>
          </p:nvSpPr>
          <p:spPr>
            <a:xfrm>
              <a:off x="6762750" y="1371600"/>
              <a:ext cx="3143252" cy="628650"/>
            </a:xfrm>
            <a:prstGeom prst="roundRect">
              <a:avLst>
                <a:gd name="adj" fmla="val 12121"/>
              </a:avLst>
            </a:prstGeom>
            <a:solidFill>
              <a:srgbClr val="EEF3F9"/>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72" name="v-148"/>
            <p:cNvSpPr txBox="1"/>
            <p:nvPr/>
          </p:nvSpPr>
          <p:spPr>
            <a:xfrm>
              <a:off x="6865619" y="14796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B5294"/>
                  </a:solidFill>
                  <a:latin typeface="Arial"/>
                  <a:ea typeface="Arial"/>
                  <a:cs typeface="Arial"/>
                  <a:sym typeface="Arial"/>
                </a:defRPr>
              </a:lvl1pPr>
            </a:lstStyle>
            <a:p>
              <a:pPr/>
              <a:r>
                <a:t>GPU · L1</a:t>
              </a:r>
            </a:p>
          </p:txBody>
        </p:sp>
        <p:sp>
          <p:nvSpPr>
            <p:cNvPr id="473" name="v-149"/>
            <p:cNvSpPr/>
            <p:nvPr/>
          </p:nvSpPr>
          <p:spPr>
            <a:xfrm>
              <a:off x="6762750" y="2324100"/>
              <a:ext cx="3143252" cy="628650"/>
            </a:xfrm>
            <a:prstGeom prst="roundRect">
              <a:avLst>
                <a:gd name="adj" fmla="val 12121"/>
              </a:avLst>
            </a:prstGeom>
            <a:solidFill>
              <a:srgbClr val="EEF3F9"/>
            </a:solidFill>
            <a:ln w="19050" cap="flat">
              <a:solidFill>
                <a:srgbClr val="2E75B8"/>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74" name="v-150"/>
            <p:cNvSpPr txBox="1"/>
            <p:nvPr/>
          </p:nvSpPr>
          <p:spPr>
            <a:xfrm>
              <a:off x="6865619" y="2432174"/>
              <a:ext cx="2937512" cy="412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200">
                  <a:solidFill>
                    <a:srgbClr val="2E75B8"/>
                  </a:solidFill>
                  <a:latin typeface="Arial"/>
                  <a:ea typeface="Arial"/>
                  <a:cs typeface="Arial"/>
                  <a:sym typeface="Arial"/>
                </a:defRPr>
              </a:lvl1pPr>
            </a:lstStyle>
            <a:p>
              <a:pPr/>
              <a:r>
                <a:t>Host · L2</a:t>
              </a:r>
            </a:p>
          </p:txBody>
        </p:sp>
        <p:sp>
          <p:nvSpPr>
            <p:cNvPr id="475" name="v-151"/>
            <p:cNvSpPr/>
            <p:nvPr/>
          </p:nvSpPr>
          <p:spPr>
            <a:xfrm>
              <a:off x="2809874" y="2019298"/>
              <a:ext cx="955"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76" name="v-152"/>
            <p:cNvSpPr/>
            <p:nvPr/>
          </p:nvSpPr>
          <p:spPr>
            <a:xfrm>
              <a:off x="8334375" y="2019298"/>
              <a:ext cx="955" cy="276229"/>
            </a:xfrm>
            <a:prstGeom prst="line">
              <a:avLst/>
            </a:prstGeom>
            <a:noFill/>
            <a:ln w="38100" cap="flat">
              <a:solidFill>
                <a:srgbClr val="2E75B8"/>
              </a:solidFill>
              <a:prstDash val="solid"/>
              <a:round/>
            </a:ln>
            <a:effectLst/>
          </p:spPr>
          <p:txBody>
            <a:bodyPr wrap="square" lIns="45718" tIns="45718" rIns="45718" bIns="45718" numCol="1" anchor="t">
              <a:noAutofit/>
            </a:bodyPr>
            <a:lstStyle/>
            <a:p>
              <a:pPr/>
            </a:p>
          </p:txBody>
        </p:sp>
        <p:sp>
          <p:nvSpPr>
            <p:cNvPr id="477" name="v-153"/>
            <p:cNvSpPr/>
            <p:nvPr/>
          </p:nvSpPr>
          <p:spPr>
            <a:xfrm>
              <a:off x="2809874" y="2971799"/>
              <a:ext cx="955"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78" name="v-154"/>
            <p:cNvSpPr/>
            <p:nvPr/>
          </p:nvSpPr>
          <p:spPr>
            <a:xfrm>
              <a:off x="8334375" y="2971799"/>
              <a:ext cx="955" cy="857252"/>
            </a:xfrm>
            <a:prstGeom prst="line">
              <a:avLst/>
            </a:prstGeom>
            <a:noFill/>
            <a:ln w="38100" cap="flat">
              <a:solidFill>
                <a:srgbClr val="8056BF"/>
              </a:solidFill>
              <a:prstDash val="solid"/>
              <a:round/>
            </a:ln>
            <a:effectLst/>
          </p:spPr>
          <p:txBody>
            <a:bodyPr wrap="square" lIns="45718" tIns="45718" rIns="45718" bIns="45718" numCol="1" anchor="t">
              <a:noAutofit/>
            </a:bodyPr>
            <a:lstStyle/>
            <a:p>
              <a:pPr/>
            </a:p>
          </p:txBody>
        </p:sp>
        <p:sp>
          <p:nvSpPr>
            <p:cNvPr id="479" name="v-155"/>
            <p:cNvSpPr/>
            <p:nvPr/>
          </p:nvSpPr>
          <p:spPr>
            <a:xfrm>
              <a:off x="1238250" y="3848100"/>
              <a:ext cx="8667752" cy="819150"/>
            </a:xfrm>
            <a:prstGeom prst="roundRect">
              <a:avLst>
                <a:gd name="adj" fmla="val 9302"/>
              </a:avLst>
            </a:prstGeom>
            <a:solidFill>
              <a:srgbClr val="F2ECFA"/>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80" name="v-156"/>
            <p:cNvSpPr txBox="1"/>
            <p:nvPr/>
          </p:nvSpPr>
          <p:spPr>
            <a:xfrm>
              <a:off x="1341119" y="4008754"/>
              <a:ext cx="8462013" cy="497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700">
                  <a:solidFill>
                    <a:srgbClr val="8056BF"/>
                  </a:solidFill>
                  <a:latin typeface="+mj-lt"/>
                  <a:ea typeface="+mj-ea"/>
                  <a:cs typeface="+mj-cs"/>
                  <a:sym typeface="Helvetica"/>
                </a:defRPr>
              </a:lvl1pPr>
            </a:lstStyle>
            <a:p>
              <a:pPr/>
              <a:r>
                <a:t>Shared storage · L3</a:t>
              </a:r>
            </a:p>
          </p:txBody>
        </p:sp>
        <p:sp>
          <p:nvSpPr>
            <p:cNvPr id="481" name="v-157"/>
            <p:cNvSpPr/>
            <p:nvPr/>
          </p:nvSpPr>
          <p:spPr>
            <a:xfrm>
              <a:off x="2047875" y="3181350"/>
              <a:ext cx="1524001" cy="552450"/>
            </a:xfrm>
            <a:prstGeom prst="roundRect">
              <a:avLst>
                <a:gd name="adj" fmla="val 13793"/>
              </a:avLst>
            </a:prstGeom>
            <a:solidFill>
              <a:srgbClr val="8056BF"/>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82" name="v-158"/>
            <p:cNvSpPr txBox="1"/>
            <p:nvPr/>
          </p:nvSpPr>
          <p:spPr>
            <a:xfrm>
              <a:off x="2150744" y="3239039"/>
              <a:ext cx="13182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8056BF"/>
                  </a:solidFill>
                  <a:latin typeface="Arial"/>
                  <a:ea typeface="Arial"/>
                  <a:cs typeface="Arial"/>
                  <a:sym typeface="Arial"/>
                </a:defRPr>
              </a:lvl1pPr>
            </a:lstStyle>
            <a:p>
              <a:pPr/>
              <a:r>
                <a:t>KV</a:t>
              </a:r>
            </a:p>
          </p:txBody>
        </p:sp>
        <p:sp>
          <p:nvSpPr>
            <p:cNvPr id="483" name="v-159"/>
            <p:cNvSpPr txBox="1"/>
            <p:nvPr/>
          </p:nvSpPr>
          <p:spPr>
            <a:xfrm>
              <a:off x="2141219" y="3239039"/>
              <a:ext cx="133731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FFFFFF"/>
                  </a:solidFill>
                  <a:latin typeface="Arial"/>
                  <a:ea typeface="Arial"/>
                  <a:cs typeface="Arial"/>
                  <a:sym typeface="Arial"/>
                </a:defRPr>
              </a:lvl1pPr>
            </a:lstStyle>
            <a:p>
              <a:pPr/>
              <a:r>
                <a:t>KV</a:t>
              </a:r>
            </a:p>
          </p:txBody>
        </p:sp>
        <p:sp>
          <p:nvSpPr>
            <p:cNvPr id="484" name="v-160"/>
            <p:cNvSpPr/>
            <p:nvPr/>
          </p:nvSpPr>
          <p:spPr>
            <a:xfrm>
              <a:off x="7572375" y="3181350"/>
              <a:ext cx="1524001" cy="552450"/>
            </a:xfrm>
            <a:prstGeom prst="roundRect">
              <a:avLst>
                <a:gd name="adj" fmla="val 13793"/>
              </a:avLst>
            </a:prstGeom>
            <a:solidFill>
              <a:srgbClr val="109477"/>
            </a:solidFill>
            <a:ln w="19050" cap="flat">
              <a:solidFill>
                <a:srgbClr val="109477"/>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485" name="v-161"/>
            <p:cNvSpPr txBox="1"/>
            <p:nvPr/>
          </p:nvSpPr>
          <p:spPr>
            <a:xfrm>
              <a:off x="7675244" y="3239039"/>
              <a:ext cx="13182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109477"/>
                  </a:solidFill>
                  <a:latin typeface="Arial"/>
                  <a:ea typeface="Arial"/>
                  <a:cs typeface="Arial"/>
                  <a:sym typeface="Arial"/>
                </a:defRPr>
              </a:lvl1pPr>
            </a:lstStyle>
            <a:p>
              <a:pPr/>
              <a:r>
                <a:t>KV</a:t>
              </a:r>
            </a:p>
          </p:txBody>
        </p:sp>
        <p:sp>
          <p:nvSpPr>
            <p:cNvPr id="486" name="v-162"/>
            <p:cNvSpPr txBox="1"/>
            <p:nvPr/>
          </p:nvSpPr>
          <p:spPr>
            <a:xfrm>
              <a:off x="7665719" y="3239039"/>
              <a:ext cx="133731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400">
                  <a:solidFill>
                    <a:srgbClr val="FFFFFF"/>
                  </a:solidFill>
                  <a:latin typeface="Arial"/>
                  <a:ea typeface="Arial"/>
                  <a:cs typeface="Arial"/>
                  <a:sym typeface="Arial"/>
                </a:defRPr>
              </a:lvl1pPr>
            </a:lstStyle>
            <a:p>
              <a:pPr/>
              <a:r>
                <a:t>KV</a:t>
              </a:r>
            </a:p>
          </p:txBody>
        </p:sp>
        <p:sp>
          <p:nvSpPr>
            <p:cNvPr id="487" name="v-163"/>
            <p:cNvSpPr txBox="1"/>
            <p:nvPr/>
          </p:nvSpPr>
          <p:spPr>
            <a:xfrm>
              <a:off x="10285095" y="2437128"/>
              <a:ext cx="765812" cy="4597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109477"/>
                  </a:solidFill>
                  <a:latin typeface="+mj-lt"/>
                  <a:ea typeface="+mj-ea"/>
                  <a:cs typeface="+mj-cs"/>
                  <a:sym typeface="Helvetica"/>
                </a:defRPr>
              </a:lvl1pPr>
            </a:lstStyle>
            <a:p>
              <a:pPr/>
              <a:r>
                <a:t>Hit</a:t>
              </a:r>
            </a:p>
          </p:txBody>
        </p:sp>
      </p:grpSp>
      <p:pic>
        <p:nvPicPr>
          <p:cNvPr id="489" name="Picture 4" descr="Picture 4"/>
          <p:cNvPicPr>
            <a:picLocks noChangeAspect="1"/>
          </p:cNvPicPr>
          <p:nvPr/>
        </p:nvPicPr>
        <p:blipFill>
          <a:blip r:embed="rId4">
            <a:extLst/>
          </a:blip>
          <a:stretch>
            <a:fillRect/>
          </a:stretch>
        </p:blipFill>
        <p:spPr>
          <a:xfrm>
            <a:off x="10382250" y="6000750"/>
            <a:ext cx="842012" cy="25622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462"/>
                                        </p:tgtEl>
                                        <p:attrNameLst>
                                          <p:attrName>style.visibility</p:attrName>
                                        </p:attrNameLst>
                                      </p:cBhvr>
                                      <p:to>
                                        <p:strVal val="visible"/>
                                      </p:to>
                                    </p:set>
                                    <p:animEffect filter="fade" transition="in">
                                      <p:cBhvr>
                                        <p:cTn id="7" dur="180"/>
                                        <p:tgtEl>
                                          <p:spTgt spid="46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488"/>
                                        </p:tgtEl>
                                        <p:attrNameLst>
                                          <p:attrName>style.visibility</p:attrName>
                                        </p:attrNameLst>
                                      </p:cBhvr>
                                      <p:to>
                                        <p:strVal val="visible"/>
                                      </p:to>
                                    </p:set>
                                    <p:animEffect filter="fade" transition="in">
                                      <p:cBhvr>
                                        <p:cTn id="12" dur="18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2" grpId="1"/>
      <p:bldP build="whole" bldLvl="1" animBg="1" rev="0" advAuto="0" spid="488"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3"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HiCache: Bringing Cached KV Back to the GPU</a:t>
            </a:r>
          </a:p>
        </p:txBody>
      </p:sp>
      <p:sp>
        <p:nvSpPr>
          <p:cNvPr id="494"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13</a:t>
            </a:r>
          </a:p>
        </p:txBody>
      </p:sp>
      <p:pic>
        <p:nvPicPr>
          <p:cNvPr id="495"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496"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497" name="h0-caption-mask"/>
          <p:cNvSpPr/>
          <p:nvPr/>
        </p:nvSpPr>
        <p:spPr>
          <a:xfrm>
            <a:off x="721994" y="847725"/>
            <a:ext cx="10648951" cy="457200"/>
          </a:xfrm>
          <a:prstGeom prst="rect">
            <a:avLst/>
          </a:prstGeom>
          <a:solidFill>
            <a:srgbClr val="FFFFFF"/>
          </a:solidFill>
          <a:ln w="12700">
            <a:miter lim="400000"/>
          </a:ln>
        </p:spPr>
        <p:txBody>
          <a:bodyPr lIns="45718" tIns="45718" rIns="45718" bIns="45718"/>
          <a:lstStyle/>
          <a:p>
            <a:pPr>
              <a:defRPr>
                <a:latin typeface="+mj-lt"/>
                <a:ea typeface="+mj-ea"/>
                <a:cs typeface="+mj-cs"/>
                <a:sym typeface="Helvetica"/>
              </a:defRPr>
            </a:pPr>
          </a:p>
        </p:txBody>
      </p:sp>
      <p:sp>
        <p:nvSpPr>
          <p:cNvPr id="498" name="h0-caption"/>
          <p:cNvSpPr txBox="1"/>
          <p:nvPr/>
        </p:nvSpPr>
        <p:spPr>
          <a:xfrm>
            <a:off x="721994" y="923924"/>
            <a:ext cx="1064895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5091"/>
                </a:solidFill>
                <a:latin typeface="+mj-lt"/>
                <a:ea typeface="+mj-ea"/>
                <a:cs typeface="+mj-cs"/>
                <a:sym typeface="Helvetica"/>
              </a:defRPr>
            </a:lvl1pPr>
          </a:lstStyle>
          <a:p>
            <a:pPr/>
            <a:r>
              <a:t>One matched prefix, KV across three tiers</a:t>
            </a:r>
          </a:p>
        </p:txBody>
      </p:sp>
      <p:sp>
        <p:nvSpPr>
          <p:cNvPr id="499" name="h0-prefix-label"/>
          <p:cNvSpPr txBox="1"/>
          <p:nvPr/>
        </p:nvSpPr>
        <p:spPr>
          <a:xfrm>
            <a:off x="723900" y="1484875"/>
            <a:ext cx="2209800"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586B80"/>
                </a:solidFill>
                <a:latin typeface="Arial"/>
                <a:ea typeface="Arial"/>
                <a:cs typeface="Arial"/>
                <a:sym typeface="Arial"/>
              </a:defRPr>
            </a:lvl1pPr>
          </a:lstStyle>
          <a:p>
            <a:pPr/>
            <a:r>
              <a:t>Matched prefix</a:t>
            </a:r>
          </a:p>
        </p:txBody>
      </p:sp>
      <p:sp>
        <p:nvSpPr>
          <p:cNvPr id="500" name="h0-prefix-0"/>
          <p:cNvSpPr txBox="1"/>
          <p:nvPr/>
        </p:nvSpPr>
        <p:spPr>
          <a:xfrm>
            <a:off x="3295650" y="1466450"/>
            <a:ext cx="1476375"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A B</a:t>
            </a:r>
          </a:p>
        </p:txBody>
      </p:sp>
      <p:sp>
        <p:nvSpPr>
          <p:cNvPr id="501" name="h0-prefix-arrow-0"/>
          <p:cNvSpPr txBox="1"/>
          <p:nvPr/>
        </p:nvSpPr>
        <p:spPr>
          <a:xfrm>
            <a:off x="4781550" y="1478734"/>
            <a:ext cx="333375"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BACADD"/>
                </a:solidFill>
                <a:latin typeface="Arial"/>
                <a:ea typeface="Arial"/>
                <a:cs typeface="Arial"/>
                <a:sym typeface="Arial"/>
              </a:defRPr>
            </a:lvl1pPr>
          </a:lstStyle>
          <a:p>
            <a:pPr/>
            <a:r>
              <a:t>→</a:t>
            </a:r>
          </a:p>
        </p:txBody>
      </p:sp>
      <p:sp>
        <p:nvSpPr>
          <p:cNvPr id="502" name="h0-prefix-1"/>
          <p:cNvSpPr txBox="1"/>
          <p:nvPr/>
        </p:nvSpPr>
        <p:spPr>
          <a:xfrm>
            <a:off x="5133975" y="1466450"/>
            <a:ext cx="1476375"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C D</a:t>
            </a:r>
          </a:p>
        </p:txBody>
      </p:sp>
      <p:sp>
        <p:nvSpPr>
          <p:cNvPr id="503" name="h0-prefix-arrow-1"/>
          <p:cNvSpPr txBox="1"/>
          <p:nvPr/>
        </p:nvSpPr>
        <p:spPr>
          <a:xfrm>
            <a:off x="6619875" y="1478734"/>
            <a:ext cx="333375"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BACADD"/>
                </a:solidFill>
                <a:latin typeface="Arial"/>
                <a:ea typeface="Arial"/>
                <a:cs typeface="Arial"/>
                <a:sym typeface="Arial"/>
              </a:defRPr>
            </a:lvl1pPr>
          </a:lstStyle>
          <a:p>
            <a:pPr/>
            <a:r>
              <a:t>→</a:t>
            </a:r>
          </a:p>
        </p:txBody>
      </p:sp>
      <p:sp>
        <p:nvSpPr>
          <p:cNvPr id="504" name="h0-prefix-2"/>
          <p:cNvSpPr txBox="1"/>
          <p:nvPr/>
        </p:nvSpPr>
        <p:spPr>
          <a:xfrm>
            <a:off x="6972300" y="1466450"/>
            <a:ext cx="1476375"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E F</a:t>
            </a:r>
          </a:p>
        </p:txBody>
      </p:sp>
      <p:sp>
        <p:nvSpPr>
          <p:cNvPr id="505" name="h0-prefix-arrow-2"/>
          <p:cNvSpPr txBox="1"/>
          <p:nvPr/>
        </p:nvSpPr>
        <p:spPr>
          <a:xfrm>
            <a:off x="8458200" y="1478734"/>
            <a:ext cx="333375"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BACADD"/>
                </a:solidFill>
                <a:latin typeface="Arial"/>
                <a:ea typeface="Arial"/>
                <a:cs typeface="Arial"/>
                <a:sym typeface="Arial"/>
              </a:defRPr>
            </a:lvl1pPr>
          </a:lstStyle>
          <a:p>
            <a:pPr/>
            <a:r>
              <a:t>→</a:t>
            </a:r>
          </a:p>
        </p:txBody>
      </p:sp>
      <p:sp>
        <p:nvSpPr>
          <p:cNvPr id="506" name="h0-prefix-3"/>
          <p:cNvSpPr txBox="1"/>
          <p:nvPr/>
        </p:nvSpPr>
        <p:spPr>
          <a:xfrm>
            <a:off x="8810625" y="1466450"/>
            <a:ext cx="1476375"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G</a:t>
            </a:r>
          </a:p>
        </p:txBody>
      </p:sp>
      <p:sp>
        <p:nvSpPr>
          <p:cNvPr id="507" name="h0-lane-0"/>
          <p:cNvSpPr/>
          <p:nvPr/>
        </p:nvSpPr>
        <p:spPr>
          <a:xfrm>
            <a:off x="3000375" y="2009775"/>
            <a:ext cx="7791450" cy="876300"/>
          </a:xfrm>
          <a:prstGeom prst="roundRect">
            <a:avLst>
              <a:gd name="adj" fmla="val 7609"/>
            </a:avLst>
          </a:prstGeom>
          <a:solidFill>
            <a:srgbClr val="F1F6FC"/>
          </a:solidFill>
          <a:ln>
            <a:solidFill>
              <a:srgbClr val="BACADD"/>
            </a:solidFill>
          </a:ln>
        </p:spPr>
        <p:txBody>
          <a:bodyPr lIns="45718" tIns="45718" rIns="45718" bIns="45718"/>
          <a:lstStyle/>
          <a:p>
            <a:pPr>
              <a:defRPr>
                <a:latin typeface="+mj-lt"/>
                <a:ea typeface="+mj-ea"/>
                <a:cs typeface="+mj-cs"/>
                <a:sym typeface="Helvetica"/>
              </a:defRPr>
            </a:pPr>
          </a:p>
        </p:txBody>
      </p:sp>
      <p:sp>
        <p:nvSpPr>
          <p:cNvPr id="508" name="h0-tier-0"/>
          <p:cNvSpPr txBox="1"/>
          <p:nvPr/>
        </p:nvSpPr>
        <p:spPr>
          <a:xfrm>
            <a:off x="723900" y="2153628"/>
            <a:ext cx="220980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33852"/>
                </a:solidFill>
                <a:latin typeface="Arial"/>
                <a:ea typeface="Arial"/>
                <a:cs typeface="Arial"/>
                <a:sym typeface="Arial"/>
              </a:defRPr>
            </a:lvl1pPr>
          </a:lstStyle>
          <a:p>
            <a:pPr/>
            <a:r>
              <a:t>L1  GPU</a:t>
            </a:r>
          </a:p>
        </p:txBody>
      </p:sp>
      <p:sp>
        <p:nvSpPr>
          <p:cNvPr id="509" name="h0-tier-type-0"/>
          <p:cNvSpPr txBox="1"/>
          <p:nvPr/>
        </p:nvSpPr>
        <p:spPr>
          <a:xfrm>
            <a:off x="723900" y="2505016"/>
            <a:ext cx="22098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586B80"/>
                </a:solidFill>
                <a:latin typeface="Arial"/>
                <a:ea typeface="Arial"/>
                <a:cs typeface="Arial"/>
                <a:sym typeface="Arial"/>
              </a:defRPr>
            </a:lvl1pPr>
          </a:lstStyle>
          <a:p>
            <a:pPr/>
            <a:r>
              <a:t>HBM</a:t>
            </a:r>
          </a:p>
        </p:txBody>
      </p:sp>
      <p:sp>
        <p:nvSpPr>
          <p:cNvPr id="510" name="h0-lane-1"/>
          <p:cNvSpPr/>
          <p:nvPr/>
        </p:nvSpPr>
        <p:spPr>
          <a:xfrm>
            <a:off x="3000375" y="3267075"/>
            <a:ext cx="7791450" cy="876300"/>
          </a:xfrm>
          <a:prstGeom prst="roundRect">
            <a:avLst>
              <a:gd name="adj" fmla="val 7609"/>
            </a:avLst>
          </a:prstGeom>
          <a:solidFill>
            <a:srgbClr val="F7F9FC"/>
          </a:solidFill>
          <a:ln>
            <a:solidFill>
              <a:srgbClr val="BACADD"/>
            </a:solidFill>
          </a:ln>
        </p:spPr>
        <p:txBody>
          <a:bodyPr lIns="45718" tIns="45718" rIns="45718" bIns="45718"/>
          <a:lstStyle/>
          <a:p>
            <a:pPr>
              <a:defRPr>
                <a:latin typeface="+mj-lt"/>
                <a:ea typeface="+mj-ea"/>
                <a:cs typeface="+mj-cs"/>
                <a:sym typeface="Helvetica"/>
              </a:defRPr>
            </a:pPr>
          </a:p>
        </p:txBody>
      </p:sp>
      <p:sp>
        <p:nvSpPr>
          <p:cNvPr id="511" name="h0-tier-1"/>
          <p:cNvSpPr txBox="1"/>
          <p:nvPr/>
        </p:nvSpPr>
        <p:spPr>
          <a:xfrm>
            <a:off x="723900" y="3410928"/>
            <a:ext cx="220980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33852"/>
                </a:solidFill>
                <a:latin typeface="Arial"/>
                <a:ea typeface="Arial"/>
                <a:cs typeface="Arial"/>
                <a:sym typeface="Arial"/>
              </a:defRPr>
            </a:lvl1pPr>
          </a:lstStyle>
          <a:p>
            <a:pPr/>
            <a:r>
              <a:t>L2  Host</a:t>
            </a:r>
          </a:p>
        </p:txBody>
      </p:sp>
      <p:sp>
        <p:nvSpPr>
          <p:cNvPr id="512" name="h0-tier-type-1"/>
          <p:cNvSpPr txBox="1"/>
          <p:nvPr/>
        </p:nvSpPr>
        <p:spPr>
          <a:xfrm>
            <a:off x="723900" y="3762316"/>
            <a:ext cx="22098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586B80"/>
                </a:solidFill>
                <a:latin typeface="Arial"/>
                <a:ea typeface="Arial"/>
                <a:cs typeface="Arial"/>
                <a:sym typeface="Arial"/>
              </a:defRPr>
            </a:lvl1pPr>
          </a:lstStyle>
          <a:p>
            <a:pPr/>
            <a:r>
              <a:t>DRAM</a:t>
            </a:r>
          </a:p>
        </p:txBody>
      </p:sp>
      <p:sp>
        <p:nvSpPr>
          <p:cNvPr id="513" name="h0-lane-2"/>
          <p:cNvSpPr/>
          <p:nvPr/>
        </p:nvSpPr>
        <p:spPr>
          <a:xfrm>
            <a:off x="3000375" y="4524375"/>
            <a:ext cx="7791450" cy="876300"/>
          </a:xfrm>
          <a:prstGeom prst="roundRect">
            <a:avLst>
              <a:gd name="adj" fmla="val 7609"/>
            </a:avLst>
          </a:prstGeom>
          <a:solidFill>
            <a:srgbClr val="F7F9FC"/>
          </a:solidFill>
          <a:ln>
            <a:solidFill>
              <a:srgbClr val="BACADD"/>
            </a:solidFill>
          </a:ln>
        </p:spPr>
        <p:txBody>
          <a:bodyPr lIns="45718" tIns="45718" rIns="45718" bIns="45718"/>
          <a:lstStyle/>
          <a:p>
            <a:pPr>
              <a:defRPr>
                <a:latin typeface="+mj-lt"/>
                <a:ea typeface="+mj-ea"/>
                <a:cs typeface="+mj-cs"/>
                <a:sym typeface="Helvetica"/>
              </a:defRPr>
            </a:pPr>
          </a:p>
        </p:txBody>
      </p:sp>
      <p:sp>
        <p:nvSpPr>
          <p:cNvPr id="514" name="h0-tier-2"/>
          <p:cNvSpPr txBox="1"/>
          <p:nvPr/>
        </p:nvSpPr>
        <p:spPr>
          <a:xfrm>
            <a:off x="723900" y="4668228"/>
            <a:ext cx="220980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33852"/>
                </a:solidFill>
                <a:latin typeface="Arial"/>
                <a:ea typeface="Arial"/>
                <a:cs typeface="Arial"/>
                <a:sym typeface="Arial"/>
              </a:defRPr>
            </a:lvl1pPr>
          </a:lstStyle>
          <a:p>
            <a:pPr/>
            <a:r>
              <a:t>L3  Storage</a:t>
            </a:r>
          </a:p>
        </p:txBody>
      </p:sp>
      <p:sp>
        <p:nvSpPr>
          <p:cNvPr id="515" name="h0-tier-type-2"/>
          <p:cNvSpPr txBox="1"/>
          <p:nvPr/>
        </p:nvSpPr>
        <p:spPr>
          <a:xfrm>
            <a:off x="723900" y="5019616"/>
            <a:ext cx="22098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586B80"/>
                </a:solidFill>
                <a:latin typeface="Arial"/>
                <a:ea typeface="Arial"/>
                <a:cs typeface="Arial"/>
                <a:sym typeface="Arial"/>
              </a:defRPr>
            </a:lvl1pPr>
          </a:lstStyle>
          <a:p>
            <a:pPr/>
            <a:r>
              <a:t>Shared storage</a:t>
            </a:r>
          </a:p>
        </p:txBody>
      </p:sp>
      <p:sp>
        <p:nvSpPr>
          <p:cNvPr id="516" name="h0-gpu-slot-0"/>
          <p:cNvSpPr/>
          <p:nvPr/>
        </p:nvSpPr>
        <p:spPr>
          <a:xfrm>
            <a:off x="3295650" y="2133600"/>
            <a:ext cx="1476375" cy="628650"/>
          </a:xfrm>
          <a:prstGeom prst="roundRect">
            <a:avLst>
              <a:gd name="adj" fmla="val 10606"/>
            </a:avLst>
          </a:prstGeom>
          <a:solidFill>
            <a:srgbClr val="FFFFFF"/>
          </a:solidFill>
          <a:ln w="14288">
            <a:solidFill>
              <a:srgbClr val="BACADD"/>
            </a:solidFill>
          </a:ln>
        </p:spPr>
        <p:txBody>
          <a:bodyPr lIns="45718" tIns="45718" rIns="45718" bIns="45718"/>
          <a:lstStyle/>
          <a:p>
            <a:pPr>
              <a:defRPr>
                <a:latin typeface="+mj-lt"/>
                <a:ea typeface="+mj-ea"/>
                <a:cs typeface="+mj-cs"/>
                <a:sym typeface="Helvetica"/>
              </a:defRPr>
            </a:pPr>
          </a:p>
        </p:txBody>
      </p:sp>
      <p:sp>
        <p:nvSpPr>
          <p:cNvPr id="517" name="h0-gpu-slot-1"/>
          <p:cNvSpPr/>
          <p:nvPr/>
        </p:nvSpPr>
        <p:spPr>
          <a:xfrm>
            <a:off x="5133975" y="2133600"/>
            <a:ext cx="1476375" cy="628650"/>
          </a:xfrm>
          <a:prstGeom prst="roundRect">
            <a:avLst>
              <a:gd name="adj" fmla="val 10606"/>
            </a:avLst>
          </a:prstGeom>
          <a:solidFill>
            <a:srgbClr val="FFFFFF"/>
          </a:solidFill>
          <a:ln w="14288">
            <a:solidFill>
              <a:srgbClr val="BACADD"/>
            </a:solidFill>
          </a:ln>
        </p:spPr>
        <p:txBody>
          <a:bodyPr lIns="45718" tIns="45718" rIns="45718" bIns="45718"/>
          <a:lstStyle/>
          <a:p>
            <a:pPr>
              <a:defRPr>
                <a:latin typeface="+mj-lt"/>
                <a:ea typeface="+mj-ea"/>
                <a:cs typeface="+mj-cs"/>
                <a:sym typeface="Helvetica"/>
              </a:defRPr>
            </a:pPr>
          </a:p>
        </p:txBody>
      </p:sp>
      <p:sp>
        <p:nvSpPr>
          <p:cNvPr id="518" name="h0-gpu-slot-2"/>
          <p:cNvSpPr/>
          <p:nvPr/>
        </p:nvSpPr>
        <p:spPr>
          <a:xfrm>
            <a:off x="6972300" y="2133600"/>
            <a:ext cx="1476375" cy="628650"/>
          </a:xfrm>
          <a:prstGeom prst="roundRect">
            <a:avLst>
              <a:gd name="adj" fmla="val 10606"/>
            </a:avLst>
          </a:prstGeom>
          <a:solidFill>
            <a:srgbClr val="FFFFFF"/>
          </a:solidFill>
          <a:ln w="14288">
            <a:solidFill>
              <a:srgbClr val="BACADD"/>
            </a:solidFill>
          </a:ln>
        </p:spPr>
        <p:txBody>
          <a:bodyPr lIns="45718" tIns="45718" rIns="45718" bIns="45718"/>
          <a:lstStyle/>
          <a:p>
            <a:pPr>
              <a:defRPr>
                <a:latin typeface="+mj-lt"/>
                <a:ea typeface="+mj-ea"/>
                <a:cs typeface="+mj-cs"/>
                <a:sym typeface="Helvetica"/>
              </a:defRPr>
            </a:pPr>
          </a:p>
        </p:txBody>
      </p:sp>
      <p:sp>
        <p:nvSpPr>
          <p:cNvPr id="519" name="h0-gpu-slot-3"/>
          <p:cNvSpPr/>
          <p:nvPr/>
        </p:nvSpPr>
        <p:spPr>
          <a:xfrm>
            <a:off x="8810625" y="2133600"/>
            <a:ext cx="1476375" cy="628650"/>
          </a:xfrm>
          <a:prstGeom prst="roundRect">
            <a:avLst>
              <a:gd name="adj" fmla="val 10606"/>
            </a:avLst>
          </a:prstGeom>
          <a:solidFill>
            <a:srgbClr val="FFFFFF"/>
          </a:solidFill>
          <a:ln w="14288">
            <a:solidFill>
              <a:srgbClr val="BACADD"/>
            </a:solidFill>
          </a:ln>
        </p:spPr>
        <p:txBody>
          <a:bodyPr lIns="45718" tIns="45718" rIns="45718" bIns="45718"/>
          <a:lstStyle/>
          <a:p>
            <a:pPr>
              <a:defRPr>
                <a:latin typeface="+mj-lt"/>
                <a:ea typeface="+mj-ea"/>
                <a:cs typeface="+mj-cs"/>
                <a:sym typeface="Helvetica"/>
              </a:defRPr>
            </a:pPr>
          </a:p>
        </p:txBody>
      </p:sp>
      <p:sp>
        <p:nvSpPr>
          <p:cNvPr id="520" name="h0-host-g-slot"/>
          <p:cNvSpPr/>
          <p:nvPr/>
        </p:nvSpPr>
        <p:spPr>
          <a:xfrm>
            <a:off x="8810625" y="3390900"/>
            <a:ext cx="1476375" cy="628650"/>
          </a:xfrm>
          <a:prstGeom prst="roundRect">
            <a:avLst>
              <a:gd name="adj" fmla="val 10606"/>
            </a:avLst>
          </a:prstGeom>
          <a:solidFill>
            <a:srgbClr val="FFFFFF"/>
          </a:solidFill>
          <a:ln w="14288">
            <a:solidFill>
              <a:srgbClr val="BACADD"/>
            </a:solidFill>
          </a:ln>
        </p:spPr>
        <p:txBody>
          <a:bodyPr lIns="45718" tIns="45718" rIns="45718" bIns="45718"/>
          <a:lstStyle/>
          <a:p>
            <a:pPr>
              <a:defRPr>
                <a:latin typeface="+mj-lt"/>
                <a:ea typeface="+mj-ea"/>
                <a:cs typeface="+mj-cs"/>
                <a:sym typeface="Helvetica"/>
              </a:defRPr>
            </a:pPr>
          </a:p>
        </p:txBody>
      </p:sp>
      <p:grpSp>
        <p:nvGrpSpPr>
          <p:cNvPr id="523" name="h0-ab"/>
          <p:cNvGrpSpPr/>
          <p:nvPr/>
        </p:nvGrpSpPr>
        <p:grpSpPr>
          <a:xfrm>
            <a:off x="3295650" y="2133600"/>
            <a:ext cx="1476375" cy="628650"/>
            <a:chOff x="0" y="0"/>
            <a:chExt cx="1476375" cy="628650"/>
          </a:xfrm>
        </p:grpSpPr>
        <p:sp>
          <p:nvSpPr>
            <p:cNvPr id="521" name="Rounded Rectangle"/>
            <p:cNvSpPr/>
            <p:nvPr/>
          </p:nvSpPr>
          <p:spPr>
            <a:xfrm>
              <a:off x="0" y="0"/>
              <a:ext cx="1476375" cy="628650"/>
            </a:xfrm>
            <a:prstGeom prst="roundRect">
              <a:avLst>
                <a:gd name="adj" fmla="val 10606"/>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22" name="A B"/>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A B</a:t>
              </a:r>
            </a:p>
          </p:txBody>
        </p:sp>
      </p:grpSp>
      <p:grpSp>
        <p:nvGrpSpPr>
          <p:cNvPr id="526" name="h0-cd"/>
          <p:cNvGrpSpPr/>
          <p:nvPr/>
        </p:nvGrpSpPr>
        <p:grpSpPr>
          <a:xfrm>
            <a:off x="5133975" y="2133600"/>
            <a:ext cx="1476375" cy="628650"/>
            <a:chOff x="0" y="0"/>
            <a:chExt cx="1476375" cy="628650"/>
          </a:xfrm>
        </p:grpSpPr>
        <p:sp>
          <p:nvSpPr>
            <p:cNvPr id="524" name="Rounded Rectangle"/>
            <p:cNvSpPr/>
            <p:nvPr/>
          </p:nvSpPr>
          <p:spPr>
            <a:xfrm>
              <a:off x="0" y="0"/>
              <a:ext cx="1476375" cy="628650"/>
            </a:xfrm>
            <a:prstGeom prst="roundRect">
              <a:avLst>
                <a:gd name="adj" fmla="val 10606"/>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25" name="C D"/>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C D</a:t>
              </a:r>
            </a:p>
          </p:txBody>
        </p:sp>
      </p:grpSp>
      <p:grpSp>
        <p:nvGrpSpPr>
          <p:cNvPr id="529" name="h0-ef-host"/>
          <p:cNvGrpSpPr/>
          <p:nvPr/>
        </p:nvGrpSpPr>
        <p:grpSpPr>
          <a:xfrm>
            <a:off x="6972300" y="3390900"/>
            <a:ext cx="1476375" cy="628650"/>
            <a:chOff x="0" y="0"/>
            <a:chExt cx="1476375" cy="628650"/>
          </a:xfrm>
        </p:grpSpPr>
        <p:sp>
          <p:nvSpPr>
            <p:cNvPr id="527" name="Rounded Rectangle"/>
            <p:cNvSpPr/>
            <p:nvPr/>
          </p:nvSpPr>
          <p:spPr>
            <a:xfrm>
              <a:off x="0" y="0"/>
              <a:ext cx="1476375" cy="628650"/>
            </a:xfrm>
            <a:prstGeom prst="roundRect">
              <a:avLst>
                <a:gd name="adj" fmla="val 10606"/>
              </a:avLst>
            </a:prstGeom>
            <a:solidFill>
              <a:srgbClr val="2E75B8"/>
            </a:solidFill>
            <a:ln w="19050" cap="flat">
              <a:solidFill>
                <a:srgbClr val="2E75B8"/>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28" name="E F"/>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E F</a:t>
              </a:r>
            </a:p>
          </p:txBody>
        </p:sp>
      </p:grpSp>
      <p:grpSp>
        <p:nvGrpSpPr>
          <p:cNvPr id="532" name="h0-g-storage"/>
          <p:cNvGrpSpPr/>
          <p:nvPr/>
        </p:nvGrpSpPr>
        <p:grpSpPr>
          <a:xfrm>
            <a:off x="8810625" y="4648200"/>
            <a:ext cx="1476375" cy="628650"/>
            <a:chOff x="0" y="0"/>
            <a:chExt cx="1476375" cy="628650"/>
          </a:xfrm>
        </p:grpSpPr>
        <p:sp>
          <p:nvSpPr>
            <p:cNvPr id="530" name="Rounded Rectangle"/>
            <p:cNvSpPr/>
            <p:nvPr/>
          </p:nvSpPr>
          <p:spPr>
            <a:xfrm>
              <a:off x="0" y="0"/>
              <a:ext cx="1476375" cy="628650"/>
            </a:xfrm>
            <a:prstGeom prst="roundRect">
              <a:avLst>
                <a:gd name="adj" fmla="val 10606"/>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31" name="G"/>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G</a:t>
              </a:r>
            </a:p>
          </p:txBody>
        </p:sp>
      </p:grpSp>
      <p:sp>
        <p:nvSpPr>
          <p:cNvPr id="533" name="h0-path-ef-load"/>
          <p:cNvSpPr/>
          <p:nvPr/>
        </p:nvSpPr>
        <p:spPr>
          <a:xfrm>
            <a:off x="7658100" y="2857500"/>
            <a:ext cx="114300" cy="4381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817"/>
                </a:moveTo>
                <a:lnTo>
                  <a:pt x="10800" y="0"/>
                </a:lnTo>
                <a:lnTo>
                  <a:pt x="21600" y="2817"/>
                </a:lnTo>
                <a:lnTo>
                  <a:pt x="16200" y="2817"/>
                </a:lnTo>
                <a:lnTo>
                  <a:pt x="16200" y="21600"/>
                </a:lnTo>
                <a:lnTo>
                  <a:pt x="5400" y="21600"/>
                </a:lnTo>
                <a:lnTo>
                  <a:pt x="5400" y="2817"/>
                </a:lnTo>
                <a:close/>
              </a:path>
            </a:pathLst>
          </a:custGeom>
          <a:solidFill>
            <a:srgbClr val="D9E2ED"/>
          </a:solidFill>
          <a:ln w="12700">
            <a:miter lim="400000"/>
          </a:ln>
        </p:spPr>
        <p:txBody>
          <a:bodyPr lIns="45718" tIns="45718" rIns="45718" bIns="45718"/>
          <a:lstStyle/>
          <a:p>
            <a:pPr>
              <a:defRPr>
                <a:latin typeface="+mj-lt"/>
                <a:ea typeface="+mj-ea"/>
                <a:cs typeface="+mj-cs"/>
                <a:sym typeface="Helvetica"/>
              </a:defRPr>
            </a:pPr>
          </a:p>
        </p:txBody>
      </p:sp>
      <p:sp>
        <p:nvSpPr>
          <p:cNvPr id="534" name="h0-path-g-load"/>
          <p:cNvSpPr/>
          <p:nvPr/>
        </p:nvSpPr>
        <p:spPr>
          <a:xfrm>
            <a:off x="9496425" y="2857500"/>
            <a:ext cx="114300" cy="4381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817"/>
                </a:moveTo>
                <a:lnTo>
                  <a:pt x="10800" y="0"/>
                </a:lnTo>
                <a:lnTo>
                  <a:pt x="21600" y="2817"/>
                </a:lnTo>
                <a:lnTo>
                  <a:pt x="16200" y="2817"/>
                </a:lnTo>
                <a:lnTo>
                  <a:pt x="16200" y="21600"/>
                </a:lnTo>
                <a:lnTo>
                  <a:pt x="5400" y="21600"/>
                </a:lnTo>
                <a:lnTo>
                  <a:pt x="5400" y="2817"/>
                </a:lnTo>
                <a:close/>
              </a:path>
            </a:pathLst>
          </a:custGeom>
          <a:solidFill>
            <a:srgbClr val="D9E2ED"/>
          </a:solidFill>
          <a:ln w="12700">
            <a:miter lim="400000"/>
          </a:ln>
        </p:spPr>
        <p:txBody>
          <a:bodyPr lIns="45718" tIns="45718" rIns="45718" bIns="45718"/>
          <a:lstStyle/>
          <a:p>
            <a:pPr>
              <a:defRPr>
                <a:latin typeface="+mj-lt"/>
                <a:ea typeface="+mj-ea"/>
                <a:cs typeface="+mj-cs"/>
                <a:sym typeface="Helvetica"/>
              </a:defRPr>
            </a:pPr>
          </a:p>
        </p:txBody>
      </p:sp>
      <p:sp>
        <p:nvSpPr>
          <p:cNvPr id="535" name="h0-path-g-prefetch"/>
          <p:cNvSpPr/>
          <p:nvPr/>
        </p:nvSpPr>
        <p:spPr>
          <a:xfrm>
            <a:off x="9496425" y="4114800"/>
            <a:ext cx="114300" cy="4381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817"/>
                </a:moveTo>
                <a:lnTo>
                  <a:pt x="10800" y="0"/>
                </a:lnTo>
                <a:lnTo>
                  <a:pt x="21600" y="2817"/>
                </a:lnTo>
                <a:lnTo>
                  <a:pt x="16200" y="2817"/>
                </a:lnTo>
                <a:lnTo>
                  <a:pt x="16200" y="21600"/>
                </a:lnTo>
                <a:lnTo>
                  <a:pt x="5400" y="21600"/>
                </a:lnTo>
                <a:lnTo>
                  <a:pt x="5400" y="2817"/>
                </a:lnTo>
                <a:close/>
              </a:path>
            </a:pathLst>
          </a:custGeom>
          <a:solidFill>
            <a:srgbClr val="D9E2ED"/>
          </a:solidFill>
          <a:ln w="12700">
            <a:miter lim="400000"/>
          </a:ln>
        </p:spPr>
        <p:txBody>
          <a:bodyPr lIns="45718" tIns="45718" rIns="45718" bIns="45718"/>
          <a:lstStyle/>
          <a:p>
            <a:pPr>
              <a:defRPr>
                <a:latin typeface="+mj-lt"/>
                <a:ea typeface="+mj-ea"/>
                <a:cs typeface="+mj-cs"/>
                <a:sym typeface="Helvetica"/>
              </a:defRPr>
            </a:pPr>
          </a:p>
        </p:txBody>
      </p:sp>
      <p:sp>
        <p:nvSpPr>
          <p:cNvPr id="536" name="h0-takeaway"/>
          <p:cNvSpPr txBox="1"/>
          <p:nvPr/>
        </p:nvSpPr>
        <p:spPr>
          <a:xfrm>
            <a:off x="3000375" y="5597523"/>
            <a:ext cx="7762875"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233852"/>
                </a:solidFill>
                <a:latin typeface="+mj-lt"/>
                <a:ea typeface="+mj-ea"/>
                <a:cs typeface="+mj-cs"/>
                <a:sym typeface="Helvetica"/>
              </a:defRPr>
            </a:lvl1pPr>
          </a:lstStyle>
          <a:p>
            <a:pPr/>
            <a:r>
              <a:t>Retain KV in lower tiers; restore it to the GPU as needed.</a:t>
            </a:r>
          </a:p>
        </p:txBody>
      </p:sp>
      <p:grpSp>
        <p:nvGrpSpPr>
          <p:cNvPr id="539" name="HiCache transfer 1 caption"/>
          <p:cNvGrpSpPr/>
          <p:nvPr/>
        </p:nvGrpSpPr>
        <p:grpSpPr>
          <a:xfrm>
            <a:off x="721994" y="847725"/>
            <a:ext cx="10648951" cy="457200"/>
            <a:chOff x="0" y="0"/>
            <a:chExt cx="10648950" cy="457200"/>
          </a:xfrm>
        </p:grpSpPr>
        <p:sp>
          <p:nvSpPr>
            <p:cNvPr id="537" name="h1-caption-mask"/>
            <p:cNvSpPr/>
            <p:nvPr/>
          </p:nvSpPr>
          <p:spPr>
            <a:xfrm>
              <a:off x="0" y="0"/>
              <a:ext cx="10648951" cy="4572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538" name="h1-caption"/>
            <p:cNvSpPr txBox="1"/>
            <p:nvPr/>
          </p:nvSpPr>
          <p:spPr>
            <a:xfrm>
              <a:off x="0" y="86703"/>
              <a:ext cx="10648951"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1  Load: EF from host to GPU</a:t>
              </a:r>
            </a:p>
          </p:txBody>
        </p:sp>
      </p:grpSp>
      <p:grpSp>
        <p:nvGrpSpPr>
          <p:cNvPr id="542" name="h1-payload"/>
          <p:cNvGrpSpPr/>
          <p:nvPr/>
        </p:nvGrpSpPr>
        <p:grpSpPr>
          <a:xfrm>
            <a:off x="6972300" y="3390900"/>
            <a:ext cx="1476375" cy="628650"/>
            <a:chOff x="0" y="0"/>
            <a:chExt cx="1476375" cy="628650"/>
          </a:xfrm>
        </p:grpSpPr>
        <p:sp>
          <p:nvSpPr>
            <p:cNvPr id="540" name="Rounded Rectangle"/>
            <p:cNvSpPr/>
            <p:nvPr/>
          </p:nvSpPr>
          <p:spPr>
            <a:xfrm>
              <a:off x="0" y="0"/>
              <a:ext cx="1476375" cy="628650"/>
            </a:xfrm>
            <a:prstGeom prst="roundRect">
              <a:avLst>
                <a:gd name="adj" fmla="val 10606"/>
              </a:avLst>
            </a:prstGeom>
            <a:solidFill>
              <a:srgbClr val="2E75B8"/>
            </a:solidFill>
            <a:ln w="19050" cap="flat">
              <a:solidFill>
                <a:srgbClr val="2E75B8"/>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41" name="E F"/>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E F</a:t>
              </a:r>
            </a:p>
          </p:txBody>
        </p:sp>
      </p:grpSp>
      <p:grpSp>
        <p:nvGrpSpPr>
          <p:cNvPr id="545" name="HiCache transfer 2 caption"/>
          <p:cNvGrpSpPr/>
          <p:nvPr/>
        </p:nvGrpSpPr>
        <p:grpSpPr>
          <a:xfrm>
            <a:off x="721994" y="847725"/>
            <a:ext cx="10648951" cy="457200"/>
            <a:chOff x="0" y="0"/>
            <a:chExt cx="10648950" cy="457200"/>
          </a:xfrm>
        </p:grpSpPr>
        <p:sp>
          <p:nvSpPr>
            <p:cNvPr id="543" name="h2-caption-mask"/>
            <p:cNvSpPr/>
            <p:nvPr/>
          </p:nvSpPr>
          <p:spPr>
            <a:xfrm>
              <a:off x="0" y="0"/>
              <a:ext cx="10648951" cy="4572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544" name="h2-caption"/>
            <p:cNvSpPr txBox="1"/>
            <p:nvPr/>
          </p:nvSpPr>
          <p:spPr>
            <a:xfrm>
              <a:off x="0" y="86703"/>
              <a:ext cx="10648951"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8056BF"/>
                  </a:solidFill>
                  <a:latin typeface="Arial"/>
                  <a:ea typeface="Arial"/>
                  <a:cs typeface="Arial"/>
                  <a:sym typeface="Arial"/>
                </a:defRPr>
              </a:lvl1pPr>
            </a:lstStyle>
            <a:p>
              <a:pPr/>
              <a:r>
                <a:t>2  Prefetch: G from storage to host</a:t>
              </a:r>
            </a:p>
          </p:txBody>
        </p:sp>
      </p:grpSp>
      <p:grpSp>
        <p:nvGrpSpPr>
          <p:cNvPr id="548" name="h2-payload"/>
          <p:cNvGrpSpPr/>
          <p:nvPr/>
        </p:nvGrpSpPr>
        <p:grpSpPr>
          <a:xfrm>
            <a:off x="8810625" y="4648200"/>
            <a:ext cx="1476375" cy="628650"/>
            <a:chOff x="0" y="0"/>
            <a:chExt cx="1476375" cy="628650"/>
          </a:xfrm>
        </p:grpSpPr>
        <p:sp>
          <p:nvSpPr>
            <p:cNvPr id="546" name="Rounded Rectangle"/>
            <p:cNvSpPr/>
            <p:nvPr/>
          </p:nvSpPr>
          <p:spPr>
            <a:xfrm>
              <a:off x="0" y="0"/>
              <a:ext cx="1476375" cy="628650"/>
            </a:xfrm>
            <a:prstGeom prst="roundRect">
              <a:avLst>
                <a:gd name="adj" fmla="val 10606"/>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47" name="G"/>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G</a:t>
              </a:r>
            </a:p>
          </p:txBody>
        </p:sp>
      </p:grpSp>
      <p:grpSp>
        <p:nvGrpSpPr>
          <p:cNvPr id="551" name="HiCache transfer 3 caption"/>
          <p:cNvGrpSpPr/>
          <p:nvPr/>
        </p:nvGrpSpPr>
        <p:grpSpPr>
          <a:xfrm>
            <a:off x="721994" y="847725"/>
            <a:ext cx="10648951" cy="457200"/>
            <a:chOff x="0" y="0"/>
            <a:chExt cx="10648950" cy="457200"/>
          </a:xfrm>
        </p:grpSpPr>
        <p:sp>
          <p:nvSpPr>
            <p:cNvPr id="549" name="h3-caption-mask"/>
            <p:cNvSpPr/>
            <p:nvPr/>
          </p:nvSpPr>
          <p:spPr>
            <a:xfrm>
              <a:off x="0" y="0"/>
              <a:ext cx="10648951" cy="4572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550" name="h3-caption"/>
            <p:cNvSpPr txBox="1"/>
            <p:nvPr/>
          </p:nvSpPr>
          <p:spPr>
            <a:xfrm>
              <a:off x="0" y="86703"/>
              <a:ext cx="10648951"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8056BF"/>
                  </a:solidFill>
                  <a:latin typeface="Arial"/>
                  <a:ea typeface="Arial"/>
                  <a:cs typeface="Arial"/>
                  <a:sym typeface="Arial"/>
                </a:defRPr>
              </a:lvl1pPr>
            </a:lstStyle>
            <a:p>
              <a:pPr/>
              <a:r>
                <a:t>3  Load: G from host to GPU</a:t>
              </a:r>
            </a:p>
          </p:txBody>
        </p:sp>
      </p:grpSp>
      <p:grpSp>
        <p:nvGrpSpPr>
          <p:cNvPr id="554" name="h3-payload"/>
          <p:cNvGrpSpPr/>
          <p:nvPr/>
        </p:nvGrpSpPr>
        <p:grpSpPr>
          <a:xfrm>
            <a:off x="8810625" y="3390900"/>
            <a:ext cx="1476375" cy="628650"/>
            <a:chOff x="0" y="0"/>
            <a:chExt cx="1476375" cy="628650"/>
          </a:xfrm>
        </p:grpSpPr>
        <p:sp>
          <p:nvSpPr>
            <p:cNvPr id="552" name="Rounded Rectangle"/>
            <p:cNvSpPr/>
            <p:nvPr/>
          </p:nvSpPr>
          <p:spPr>
            <a:xfrm>
              <a:off x="0" y="0"/>
              <a:ext cx="1476375" cy="628650"/>
            </a:xfrm>
            <a:prstGeom prst="roundRect">
              <a:avLst>
                <a:gd name="adj" fmla="val 10606"/>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2200">
                  <a:solidFill>
                    <a:srgbClr val="FFFFFF"/>
                  </a:solidFill>
                  <a:latin typeface="Arial"/>
                  <a:ea typeface="Arial"/>
                  <a:cs typeface="Arial"/>
                  <a:sym typeface="Arial"/>
                </a:defRPr>
              </a:pPr>
            </a:p>
          </p:txBody>
        </p:sp>
        <p:sp>
          <p:nvSpPr>
            <p:cNvPr id="553" name="G"/>
            <p:cNvSpPr txBox="1"/>
            <p:nvPr/>
          </p:nvSpPr>
          <p:spPr>
            <a:xfrm>
              <a:off x="29052" y="153794"/>
              <a:ext cx="1418272"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Arial"/>
                  <a:ea typeface="Arial"/>
                  <a:cs typeface="Arial"/>
                  <a:sym typeface="Arial"/>
                </a:defRPr>
              </a:lvl1pPr>
            </a:lstStyle>
            <a:p>
              <a:pPr/>
              <a:r>
                <a:t>G</a:t>
              </a:r>
            </a:p>
          </p:txBody>
        </p:sp>
      </p:grpSp>
      <p:grpSp>
        <p:nvGrpSpPr>
          <p:cNvPr id="557" name="Prefix ready on GPU"/>
          <p:cNvGrpSpPr/>
          <p:nvPr/>
        </p:nvGrpSpPr>
        <p:grpSpPr>
          <a:xfrm>
            <a:off x="2971799" y="1981200"/>
            <a:ext cx="9039226" cy="933450"/>
            <a:chOff x="0" y="0"/>
            <a:chExt cx="9039225" cy="933450"/>
          </a:xfrm>
        </p:grpSpPr>
        <p:sp>
          <p:nvSpPr>
            <p:cNvPr id="555" name="h3-ready-outline"/>
            <p:cNvSpPr/>
            <p:nvPr/>
          </p:nvSpPr>
          <p:spPr>
            <a:xfrm>
              <a:off x="-1" y="0"/>
              <a:ext cx="7848601" cy="933450"/>
            </a:xfrm>
            <a:prstGeom prst="roundRect">
              <a:avLst>
                <a:gd name="adj" fmla="val 7143"/>
              </a:avLst>
            </a:prstGeom>
            <a:noFill/>
            <a:ln w="38100" cap="flat">
              <a:solidFill>
                <a:srgbClr val="158A7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56" name="h3-ready-label"/>
            <p:cNvSpPr txBox="1"/>
            <p:nvPr/>
          </p:nvSpPr>
          <p:spPr>
            <a:xfrm>
              <a:off x="7934325" y="346639"/>
              <a:ext cx="1104900"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58A70"/>
                  </a:solidFill>
                  <a:latin typeface="Arial"/>
                  <a:ea typeface="Arial"/>
                  <a:cs typeface="Arial"/>
                  <a:sym typeface="Arial"/>
                </a:defRPr>
              </a:lvl1pPr>
            </a:lstStyle>
            <a:p>
              <a:pPr/>
              <a:r>
                <a:t>Ready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539"/>
                                        </p:tgtEl>
                                        <p:attrNameLst>
                                          <p:attrName>style.visibility</p:attrName>
                                        </p:attrNameLst>
                                      </p:cBhvr>
                                      <p:to>
                                        <p:strVal val="visible"/>
                                      </p:to>
                                    </p:set>
                                    <p:animEffect filter="fade" transition="in">
                                      <p:cBhvr>
                                        <p:cTn id="7" dur="180"/>
                                        <p:tgtEl>
                                          <p:spTgt spid="539"/>
                                        </p:tgtEl>
                                      </p:cBhvr>
                                    </p:animEffect>
                                  </p:childTnLst>
                                </p:cTn>
                              </p:par>
                            </p:childTnLst>
                          </p:cTn>
                        </p:par>
                        <p:par>
                          <p:cTn id="8" fill="hold">
                            <p:stCondLst>
                              <p:cond delay="180"/>
                            </p:stCondLst>
                            <p:childTnLst>
                              <p:par>
                                <p:cTn id="9" presetClass="entr" nodeType="afterEffect" presetID="10" grpId="2" fill="hold">
                                  <p:stCondLst>
                                    <p:cond delay="0"/>
                                  </p:stCondLst>
                                  <p:iterate type="el" backwards="0">
                                    <p:tmAbs val="0"/>
                                  </p:iterate>
                                  <p:childTnLst>
                                    <p:set>
                                      <p:cBhvr>
                                        <p:cTn id="10" fill="hold"/>
                                        <p:tgtEl>
                                          <p:spTgt spid="542"/>
                                        </p:tgtEl>
                                        <p:attrNameLst>
                                          <p:attrName>style.visibility</p:attrName>
                                        </p:attrNameLst>
                                      </p:cBhvr>
                                      <p:to>
                                        <p:strVal val="visible"/>
                                      </p:to>
                                    </p:set>
                                    <p:animEffect filter="fade" transition="in">
                                      <p:cBhvr>
                                        <p:cTn id="11" dur="60"/>
                                        <p:tgtEl>
                                          <p:spTgt spid="542"/>
                                        </p:tgtEl>
                                      </p:cBhvr>
                                    </p:animEffect>
                                  </p:childTnLst>
                                </p:cTn>
                              </p:par>
                            </p:childTnLst>
                          </p:cTn>
                        </p:par>
                        <p:par>
                          <p:cTn id="12" fill="hold">
                            <p:stCondLst>
                              <p:cond delay="0"/>
                            </p:stCondLst>
                            <p:childTnLst>
                              <p:par>
                                <p:cTn id="13" presetClass="path" nodeType="afterEffect" presetSubtype="0" presetID="-1" grpId="3" fill="hold">
                                  <p:stCondLst>
                                    <p:cond delay="0"/>
                                  </p:stCondLst>
                                  <p:childTnLst>
                                    <p:animMotion path="M 0.000000 0.000000 L 0.000000 -0.183333" origin="layout" pathEditMode="relative">
                                      <p:cBhvr>
                                        <p:cTn id="14" dur="1100" fill="hold"/>
                                        <p:tgtEl>
                                          <p:spTgt spid="542"/>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Class="entr" nodeType="clickEffect" presetID="10" grpId="4" fill="hold">
                                  <p:stCondLst>
                                    <p:cond delay="0"/>
                                  </p:stCondLst>
                                  <p:iterate type="el" backwards="0">
                                    <p:tmAbs val="0"/>
                                  </p:iterate>
                                  <p:childTnLst>
                                    <p:set>
                                      <p:cBhvr>
                                        <p:cTn id="18" fill="hold"/>
                                        <p:tgtEl>
                                          <p:spTgt spid="545"/>
                                        </p:tgtEl>
                                        <p:attrNameLst>
                                          <p:attrName>style.visibility</p:attrName>
                                        </p:attrNameLst>
                                      </p:cBhvr>
                                      <p:to>
                                        <p:strVal val="visible"/>
                                      </p:to>
                                    </p:set>
                                    <p:animEffect filter="fade" transition="in">
                                      <p:cBhvr>
                                        <p:cTn id="19" dur="180"/>
                                        <p:tgtEl>
                                          <p:spTgt spid="545"/>
                                        </p:tgtEl>
                                      </p:cBhvr>
                                    </p:animEffect>
                                  </p:childTnLst>
                                </p:cTn>
                              </p:par>
                            </p:childTnLst>
                          </p:cTn>
                        </p:par>
                        <p:par>
                          <p:cTn id="20" fill="hold">
                            <p:stCondLst>
                              <p:cond delay="180"/>
                            </p:stCondLst>
                            <p:childTnLst>
                              <p:par>
                                <p:cTn id="21" presetClass="entr" nodeType="afterEffect" presetID="10" grpId="5" fill="hold">
                                  <p:stCondLst>
                                    <p:cond delay="0"/>
                                  </p:stCondLst>
                                  <p:iterate type="el" backwards="0">
                                    <p:tmAbs val="0"/>
                                  </p:iterate>
                                  <p:childTnLst>
                                    <p:set>
                                      <p:cBhvr>
                                        <p:cTn id="22" fill="hold"/>
                                        <p:tgtEl>
                                          <p:spTgt spid="548"/>
                                        </p:tgtEl>
                                        <p:attrNameLst>
                                          <p:attrName>style.visibility</p:attrName>
                                        </p:attrNameLst>
                                      </p:cBhvr>
                                      <p:to>
                                        <p:strVal val="visible"/>
                                      </p:to>
                                    </p:set>
                                    <p:animEffect filter="fade" transition="in">
                                      <p:cBhvr>
                                        <p:cTn id="23" dur="60"/>
                                        <p:tgtEl>
                                          <p:spTgt spid="548"/>
                                        </p:tgtEl>
                                      </p:cBhvr>
                                    </p:animEffect>
                                  </p:childTnLst>
                                </p:cTn>
                              </p:par>
                            </p:childTnLst>
                          </p:cTn>
                        </p:par>
                        <p:par>
                          <p:cTn id="24" fill="hold">
                            <p:stCondLst>
                              <p:cond delay="0"/>
                            </p:stCondLst>
                            <p:childTnLst>
                              <p:par>
                                <p:cTn id="25" presetClass="path" nodeType="afterEffect" presetSubtype="0" presetID="-1" grpId="6" fill="hold">
                                  <p:stCondLst>
                                    <p:cond delay="0"/>
                                  </p:stCondLst>
                                  <p:childTnLst>
                                    <p:animMotion path="M 0.000000 0.000000 L 0.000000 -0.183333" origin="layout" pathEditMode="relative">
                                      <p:cBhvr>
                                        <p:cTn id="26" dur="1100" fill="hold"/>
                                        <p:tgtEl>
                                          <p:spTgt spid="548"/>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7" fill="hold">
                                  <p:stCondLst>
                                    <p:cond delay="0"/>
                                  </p:stCondLst>
                                  <p:iterate type="el" backwards="0">
                                    <p:tmAbs val="0"/>
                                  </p:iterate>
                                  <p:childTnLst>
                                    <p:set>
                                      <p:cBhvr>
                                        <p:cTn id="30" fill="hold"/>
                                        <p:tgtEl>
                                          <p:spTgt spid="551"/>
                                        </p:tgtEl>
                                        <p:attrNameLst>
                                          <p:attrName>style.visibility</p:attrName>
                                        </p:attrNameLst>
                                      </p:cBhvr>
                                      <p:to>
                                        <p:strVal val="visible"/>
                                      </p:to>
                                    </p:set>
                                    <p:animEffect filter="fade" transition="in">
                                      <p:cBhvr>
                                        <p:cTn id="31" dur="180"/>
                                        <p:tgtEl>
                                          <p:spTgt spid="551"/>
                                        </p:tgtEl>
                                      </p:cBhvr>
                                    </p:animEffect>
                                  </p:childTnLst>
                                </p:cTn>
                              </p:par>
                            </p:childTnLst>
                          </p:cTn>
                        </p:par>
                        <p:par>
                          <p:cTn id="32" fill="hold">
                            <p:stCondLst>
                              <p:cond delay="180"/>
                            </p:stCondLst>
                            <p:childTnLst>
                              <p:par>
                                <p:cTn id="33" presetClass="entr" nodeType="afterEffect" presetID="10" grpId="8" fill="hold">
                                  <p:stCondLst>
                                    <p:cond delay="0"/>
                                  </p:stCondLst>
                                  <p:iterate type="el" backwards="0">
                                    <p:tmAbs val="0"/>
                                  </p:iterate>
                                  <p:childTnLst>
                                    <p:set>
                                      <p:cBhvr>
                                        <p:cTn id="34" fill="hold"/>
                                        <p:tgtEl>
                                          <p:spTgt spid="554"/>
                                        </p:tgtEl>
                                        <p:attrNameLst>
                                          <p:attrName>style.visibility</p:attrName>
                                        </p:attrNameLst>
                                      </p:cBhvr>
                                      <p:to>
                                        <p:strVal val="visible"/>
                                      </p:to>
                                    </p:set>
                                    <p:animEffect filter="fade" transition="in">
                                      <p:cBhvr>
                                        <p:cTn id="35" dur="60"/>
                                        <p:tgtEl>
                                          <p:spTgt spid="554"/>
                                        </p:tgtEl>
                                      </p:cBhvr>
                                    </p:animEffect>
                                  </p:childTnLst>
                                </p:cTn>
                              </p:par>
                            </p:childTnLst>
                          </p:cTn>
                        </p:par>
                        <p:par>
                          <p:cTn id="36" fill="hold">
                            <p:stCondLst>
                              <p:cond delay="0"/>
                            </p:stCondLst>
                            <p:childTnLst>
                              <p:par>
                                <p:cTn id="37" presetClass="path" nodeType="afterEffect" presetSubtype="0" presetID="-1" grpId="9" fill="hold">
                                  <p:stCondLst>
                                    <p:cond delay="0"/>
                                  </p:stCondLst>
                                  <p:childTnLst>
                                    <p:animMotion path="M 0.000000 0.000000 L 0.000000 -0.183333" origin="layout" pathEditMode="relative">
                                      <p:cBhvr>
                                        <p:cTn id="38" dur="1100" fill="hold"/>
                                        <p:tgtEl>
                                          <p:spTgt spid="554"/>
                                        </p:tgtEl>
                                        <p:attrNameLst>
                                          <p:attrName>ppt_x</p:attrName>
                                          <p:attrName>ppt_y</p:attrName>
                                        </p:attrNameLst>
                                      </p:cBhvr>
                                    </p:animMotion>
                                  </p:childTnLst>
                                </p:cTn>
                              </p:par>
                            </p:childTnLst>
                          </p:cTn>
                        </p:par>
                        <p:par>
                          <p:cTn id="39" fill="hold">
                            <p:stCondLst>
                              <p:cond delay="1100"/>
                            </p:stCondLst>
                            <p:childTnLst>
                              <p:par>
                                <p:cTn id="40" presetClass="entr" nodeType="afterEffect" presetID="10" grpId="10" fill="hold">
                                  <p:stCondLst>
                                    <p:cond delay="1100"/>
                                  </p:stCondLst>
                                  <p:iterate type="el" backwards="0">
                                    <p:tmAbs val="0"/>
                                  </p:iterate>
                                  <p:childTnLst>
                                    <p:set>
                                      <p:cBhvr>
                                        <p:cTn id="41" fill="hold"/>
                                        <p:tgtEl>
                                          <p:spTgt spid="557"/>
                                        </p:tgtEl>
                                        <p:attrNameLst>
                                          <p:attrName>style.visibility</p:attrName>
                                        </p:attrNameLst>
                                      </p:cBhvr>
                                      <p:to>
                                        <p:strVal val="visible"/>
                                      </p:to>
                                    </p:set>
                                    <p:animEffect filter="fade" transition="in">
                                      <p:cBhvr>
                                        <p:cTn id="42" dur="22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5" grpId="4"/>
      <p:bldP build="whole" bldLvl="1" animBg="1" rev="0" advAuto="0" spid="554" grpId="8"/>
      <p:bldP build="whole" bldLvl="1" animBg="1" rev="0" advAuto="0" spid="557" grpId="10"/>
      <p:bldP build="whole" bldLvl="1" animBg="1" rev="0" advAuto="0" spid="539" grpId="1"/>
      <p:bldP build="whole" bldLvl="1" animBg="1" rev="0" advAuto="0" spid="551" grpId="7"/>
      <p:bldP build="whole" bldLvl="1" animBg="1" rev="0" advAuto="0" spid="548" grpId="5"/>
      <p:bldP build="whole" bldLvl="1" animBg="1" rev="0" advAuto="0" spid="542" grpId="2"/>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1"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HiCache: Less Recomputation, Lower TTFT</a:t>
            </a:r>
          </a:p>
        </p:txBody>
      </p:sp>
      <p:sp>
        <p:nvSpPr>
          <p:cNvPr id="562"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14</a:t>
            </a:r>
          </a:p>
        </p:txBody>
      </p:sp>
      <p:pic>
        <p:nvPicPr>
          <p:cNvPr id="563"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564"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565" name="DeepSeek-R1 · LooGLE · 8×H20-3e"/>
          <p:cNvSpPr txBox="1"/>
          <p:nvPr/>
        </p:nvSpPr>
        <p:spPr>
          <a:xfrm>
            <a:off x="812800" y="1003300"/>
            <a:ext cx="4319359" cy="29607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100">
                <a:solidFill>
                  <a:srgbClr val="2D5093"/>
                </a:solidFill>
                <a:latin typeface="Arial"/>
                <a:ea typeface="Arial"/>
                <a:cs typeface="Arial"/>
                <a:sym typeface="Arial"/>
              </a:defRPr>
            </a:lvl1pPr>
          </a:lstStyle>
          <a:p>
            <a:pPr/>
            <a:r>
              <a:t>DeepSeek-R1 · LooGLE · 8×H20-3e</a:t>
            </a:r>
          </a:p>
        </p:txBody>
      </p:sp>
      <p:sp>
        <p:nvSpPr>
          <p:cNvPr id="566" name="Mean TTFT (s) · Lower is better"/>
          <p:cNvSpPr txBox="1"/>
          <p:nvPr/>
        </p:nvSpPr>
        <p:spPr>
          <a:xfrm>
            <a:off x="1016000" y="1752600"/>
            <a:ext cx="3052062" cy="24693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700">
                <a:solidFill>
                  <a:srgbClr val="576E89"/>
                </a:solidFill>
                <a:latin typeface="Arial"/>
                <a:ea typeface="Arial"/>
                <a:cs typeface="Arial"/>
                <a:sym typeface="Arial"/>
              </a:defRPr>
            </a:lvl1pPr>
          </a:lstStyle>
          <a:p>
            <a:pPr/>
            <a:r>
              <a:t>Mean TTFT (s) · Lower is better</a:t>
            </a:r>
          </a:p>
        </p:txBody>
      </p:sp>
      <p:graphicFrame>
        <p:nvGraphicFramePr>
          <p:cNvPr id="567" name="Chart"/>
          <p:cNvGraphicFramePr/>
          <p:nvPr/>
        </p:nvGraphicFramePr>
        <p:xfrm>
          <a:off x="1035010" y="2004103"/>
          <a:ext cx="6589977" cy="3898560"/>
        </p:xfrm>
        <a:graphic xmlns:a="http://schemas.openxmlformats.org/drawingml/2006/main">
          <a:graphicData uri="http://schemas.openxmlformats.org/drawingml/2006/chart">
            <c:chart xmlns:c="http://schemas.openxmlformats.org/drawingml/2006/chart" r:id="rId5"/>
          </a:graphicData>
        </a:graphic>
      </p:graphicFrame>
      <p:sp>
        <p:nvSpPr>
          <p:cNvPr id="568" name="78.7%"/>
          <p:cNvSpPr txBox="1"/>
          <p:nvPr/>
        </p:nvSpPr>
        <p:spPr>
          <a:xfrm>
            <a:off x="8534400" y="2781300"/>
            <a:ext cx="1669170" cy="6666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4600">
                <a:solidFill>
                  <a:srgbClr val="009A80"/>
                </a:solidFill>
                <a:latin typeface="Arial"/>
                <a:ea typeface="Arial"/>
                <a:cs typeface="Arial"/>
                <a:sym typeface="Arial"/>
              </a:defRPr>
            </a:lvl1pPr>
          </a:lstStyle>
          <a:p>
            <a:pPr/>
            <a:r>
              <a:t>78.7%</a:t>
            </a:r>
          </a:p>
        </p:txBody>
      </p:sp>
      <p:sp>
        <p:nvSpPr>
          <p:cNvPr id="569" name="Lower mean TTFT"/>
          <p:cNvSpPr txBox="1"/>
          <p:nvPr/>
        </p:nvSpPr>
        <p:spPr>
          <a:xfrm>
            <a:off x="8534400" y="3644900"/>
            <a:ext cx="2097038" cy="2837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223854"/>
                </a:solidFill>
                <a:latin typeface="Arial"/>
                <a:ea typeface="Arial"/>
                <a:cs typeface="Arial"/>
                <a:sym typeface="Arial"/>
              </a:defRPr>
            </a:lvl1pPr>
          </a:lstStyle>
          <a:p>
            <a:pPr/>
            <a:r>
              <a:t>Lower mean TTFT</a:t>
            </a:r>
          </a:p>
        </p:txBody>
      </p:sp>
      <p:sp>
        <p:nvSpPr>
          <p:cNvPr id="570" name="Source: HiCache long-context benchmark (2025)"/>
          <p:cNvSpPr txBox="1"/>
          <p:nvPr/>
        </p:nvSpPr>
        <p:spPr>
          <a:xfrm>
            <a:off x="2463800" y="6146800"/>
            <a:ext cx="3591694" cy="1850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300">
                <a:solidFill>
                  <a:srgbClr val="576E89"/>
                </a:solidFill>
                <a:latin typeface="Arial"/>
                <a:ea typeface="Arial"/>
                <a:cs typeface="Arial"/>
                <a:sym typeface="Arial"/>
              </a:defRPr>
            </a:lvl1pPr>
          </a:lstStyle>
          <a:p>
            <a:pPr/>
            <a:r>
              <a:t>Source: HiCache long-context benchmark (2025)</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68"/>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5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8" grpId="1"/>
      <p:bldP build="whole" bldLvl="1" animBg="1" rev="0" advAuto="0" spid="569" grpId="2"/>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4" name="标题 2"/>
          <p:cNvSpPr txBox="1"/>
          <p:nvPr>
            <p:ph type="title"/>
          </p:nvPr>
        </p:nvSpPr>
        <p:spPr>
          <a:xfrm>
            <a:off x="421004" y="825500"/>
            <a:ext cx="3550923" cy="2812415"/>
          </a:xfrm>
          <a:prstGeom prst="rect">
            <a:avLst/>
          </a:prstGeom>
        </p:spPr>
        <p:txBody>
          <a:bodyPr/>
          <a:lstStyle>
            <a:lvl1pPr defTabSz="813816">
              <a:defRPr sz="17800"/>
            </a:lvl1pPr>
          </a:lstStyle>
          <a:p>
            <a:pPr/>
            <a:r>
              <a:t>04</a:t>
            </a:r>
          </a:p>
        </p:txBody>
      </p:sp>
      <p:sp>
        <p:nvSpPr>
          <p:cNvPr id="575" name="文本占位符 1"/>
          <p:cNvSpPr txBox="1"/>
          <p:nvPr>
            <p:ph type="body" sz="quarter" idx="1"/>
          </p:nvPr>
        </p:nvSpPr>
        <p:spPr>
          <a:xfrm>
            <a:off x="569208" y="2821714"/>
            <a:ext cx="8887195" cy="860045"/>
          </a:xfrm>
          <a:prstGeom prst="rect">
            <a:avLst/>
          </a:prstGeom>
        </p:spPr>
        <p:txBody>
          <a:bodyPr/>
          <a:lstStyle/>
          <a:p>
            <a:pPr/>
            <a:r>
              <a:t>Unified Radix Tree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One Prefix, Three Types of State</a:t>
            </a:r>
          </a:p>
        </p:txBody>
      </p:sp>
      <p:sp>
        <p:nvSpPr>
          <p:cNvPr id="578"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16</a:t>
            </a:r>
          </a:p>
        </p:txBody>
      </p:sp>
      <p:pic>
        <p:nvPicPr>
          <p:cNvPr id="579"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580"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grpSp>
        <p:nvGrpSpPr>
          <p:cNvPr id="618" name="Stage 0"/>
          <p:cNvGrpSpPr/>
          <p:nvPr/>
        </p:nvGrpSpPr>
        <p:grpSpPr>
          <a:xfrm>
            <a:off x="523875" y="819150"/>
            <a:ext cx="11049000" cy="5219700"/>
            <a:chOff x="0" y="0"/>
            <a:chExt cx="11049000" cy="5219700"/>
          </a:xfrm>
        </p:grpSpPr>
        <p:sp>
          <p:nvSpPr>
            <p:cNvPr id="581" name="v-164"/>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582" name="v-165"/>
            <p:cNvSpPr txBox="1"/>
            <p:nvPr/>
          </p:nvSpPr>
          <p:spPr>
            <a:xfrm>
              <a:off x="245745" y="120566"/>
              <a:ext cx="10576560" cy="387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Arial"/>
                  <a:ea typeface="Arial"/>
                  <a:cs typeface="Arial"/>
                  <a:sym typeface="Arial"/>
                </a:defRPr>
              </a:lvl1pPr>
            </a:lstStyle>
            <a:p>
              <a:pPr/>
              <a:r>
                <a:t>The same tokens can have different ranges of valid state</a:t>
              </a:r>
            </a:p>
          </p:txBody>
        </p:sp>
        <p:sp>
          <p:nvSpPr>
            <p:cNvPr id="583" name="v-166"/>
            <p:cNvSpPr txBox="1"/>
            <p:nvPr/>
          </p:nvSpPr>
          <p:spPr>
            <a:xfrm>
              <a:off x="2284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1</a:t>
              </a:r>
            </a:p>
          </p:txBody>
        </p:sp>
        <p:sp>
          <p:nvSpPr>
            <p:cNvPr id="584" name="v-167"/>
            <p:cNvSpPr txBox="1"/>
            <p:nvPr/>
          </p:nvSpPr>
          <p:spPr>
            <a:xfrm>
              <a:off x="32746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2</a:t>
              </a:r>
            </a:p>
          </p:txBody>
        </p:sp>
        <p:sp>
          <p:nvSpPr>
            <p:cNvPr id="585" name="v-168"/>
            <p:cNvSpPr txBox="1"/>
            <p:nvPr/>
          </p:nvSpPr>
          <p:spPr>
            <a:xfrm>
              <a:off x="42652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3</a:t>
              </a:r>
            </a:p>
          </p:txBody>
        </p:sp>
        <p:sp>
          <p:nvSpPr>
            <p:cNvPr id="586" name="v-169"/>
            <p:cNvSpPr txBox="1"/>
            <p:nvPr/>
          </p:nvSpPr>
          <p:spPr>
            <a:xfrm>
              <a:off x="52558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4</a:t>
              </a:r>
            </a:p>
          </p:txBody>
        </p:sp>
        <p:sp>
          <p:nvSpPr>
            <p:cNvPr id="587" name="v-170"/>
            <p:cNvSpPr txBox="1"/>
            <p:nvPr/>
          </p:nvSpPr>
          <p:spPr>
            <a:xfrm>
              <a:off x="62464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5</a:t>
              </a:r>
            </a:p>
          </p:txBody>
        </p:sp>
        <p:sp>
          <p:nvSpPr>
            <p:cNvPr id="588" name="v-171"/>
            <p:cNvSpPr txBox="1"/>
            <p:nvPr/>
          </p:nvSpPr>
          <p:spPr>
            <a:xfrm>
              <a:off x="7237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6</a:t>
              </a:r>
            </a:p>
          </p:txBody>
        </p:sp>
        <p:sp>
          <p:nvSpPr>
            <p:cNvPr id="589" name="v-172"/>
            <p:cNvSpPr txBox="1"/>
            <p:nvPr/>
          </p:nvSpPr>
          <p:spPr>
            <a:xfrm>
              <a:off x="82276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7</a:t>
              </a:r>
            </a:p>
          </p:txBody>
        </p:sp>
        <p:sp>
          <p:nvSpPr>
            <p:cNvPr id="590" name="v-173"/>
            <p:cNvSpPr txBox="1"/>
            <p:nvPr/>
          </p:nvSpPr>
          <p:spPr>
            <a:xfrm>
              <a:off x="92182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8</a:t>
              </a:r>
            </a:p>
          </p:txBody>
        </p:sp>
        <p:sp>
          <p:nvSpPr>
            <p:cNvPr id="591" name="v-174"/>
            <p:cNvSpPr txBox="1"/>
            <p:nvPr/>
          </p:nvSpPr>
          <p:spPr>
            <a:xfrm>
              <a:off x="245743" y="136737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2B5294"/>
                  </a:solidFill>
                  <a:latin typeface="Arial"/>
                  <a:ea typeface="Arial"/>
                  <a:cs typeface="Arial"/>
                  <a:sym typeface="Arial"/>
                </a:defRPr>
              </a:lvl1pPr>
            </a:lstStyle>
            <a:p>
              <a:pPr/>
              <a:r>
                <a:t>FULL</a:t>
              </a:r>
            </a:p>
          </p:txBody>
        </p:sp>
        <p:sp>
          <p:nvSpPr>
            <p:cNvPr id="592" name="v-175"/>
            <p:cNvSpPr/>
            <p:nvPr/>
          </p:nvSpPr>
          <p:spPr>
            <a:xfrm>
              <a:off x="22383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3" name="v-176"/>
            <p:cNvSpPr/>
            <p:nvPr/>
          </p:nvSpPr>
          <p:spPr>
            <a:xfrm>
              <a:off x="32289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4" name="v-177"/>
            <p:cNvSpPr/>
            <p:nvPr/>
          </p:nvSpPr>
          <p:spPr>
            <a:xfrm>
              <a:off x="42195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5" name="v-178"/>
            <p:cNvSpPr/>
            <p:nvPr/>
          </p:nvSpPr>
          <p:spPr>
            <a:xfrm>
              <a:off x="52101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6" name="v-179"/>
            <p:cNvSpPr/>
            <p:nvPr/>
          </p:nvSpPr>
          <p:spPr>
            <a:xfrm>
              <a:off x="62007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7" name="v-180"/>
            <p:cNvSpPr/>
            <p:nvPr/>
          </p:nvSpPr>
          <p:spPr>
            <a:xfrm>
              <a:off x="71913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8" name="v-181"/>
            <p:cNvSpPr/>
            <p:nvPr/>
          </p:nvSpPr>
          <p:spPr>
            <a:xfrm>
              <a:off x="81819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599" name="v-182"/>
            <p:cNvSpPr/>
            <p:nvPr/>
          </p:nvSpPr>
          <p:spPr>
            <a:xfrm>
              <a:off x="9172575" y="132397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0" name="v-183"/>
            <p:cNvSpPr txBox="1"/>
            <p:nvPr/>
          </p:nvSpPr>
          <p:spPr>
            <a:xfrm>
              <a:off x="245743" y="2462752"/>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BD8500"/>
                  </a:solidFill>
                  <a:latin typeface="Arial"/>
                  <a:ea typeface="Arial"/>
                  <a:cs typeface="Arial"/>
                  <a:sym typeface="Arial"/>
                </a:defRPr>
              </a:lvl1pPr>
            </a:lstStyle>
            <a:p>
              <a:pPr/>
              <a:r>
                <a:t>SWA</a:t>
              </a:r>
            </a:p>
          </p:txBody>
        </p:sp>
        <p:sp>
          <p:nvSpPr>
            <p:cNvPr id="601" name="v-184"/>
            <p:cNvSpPr/>
            <p:nvPr/>
          </p:nvSpPr>
          <p:spPr>
            <a:xfrm>
              <a:off x="2238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2" name="v-185"/>
            <p:cNvSpPr/>
            <p:nvPr/>
          </p:nvSpPr>
          <p:spPr>
            <a:xfrm>
              <a:off x="3228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3" name="v-186"/>
            <p:cNvSpPr/>
            <p:nvPr/>
          </p:nvSpPr>
          <p:spPr>
            <a:xfrm>
              <a:off x="4219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4" name="v-187"/>
            <p:cNvSpPr/>
            <p:nvPr/>
          </p:nvSpPr>
          <p:spPr>
            <a:xfrm>
              <a:off x="52101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5" name="v-188"/>
            <p:cNvSpPr/>
            <p:nvPr/>
          </p:nvSpPr>
          <p:spPr>
            <a:xfrm>
              <a:off x="62007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6" name="v-189"/>
            <p:cNvSpPr/>
            <p:nvPr/>
          </p:nvSpPr>
          <p:spPr>
            <a:xfrm>
              <a:off x="7191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7" name="v-190"/>
            <p:cNvSpPr/>
            <p:nvPr/>
          </p:nvSpPr>
          <p:spPr>
            <a:xfrm>
              <a:off x="8181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8" name="v-191"/>
            <p:cNvSpPr/>
            <p:nvPr/>
          </p:nvSpPr>
          <p:spPr>
            <a:xfrm>
              <a:off x="9172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09" name="v-192"/>
            <p:cNvSpPr txBox="1"/>
            <p:nvPr/>
          </p:nvSpPr>
          <p:spPr>
            <a:xfrm>
              <a:off x="245743" y="355812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8056BF"/>
                  </a:solidFill>
                  <a:latin typeface="Arial"/>
                  <a:ea typeface="Arial"/>
                  <a:cs typeface="Arial"/>
                  <a:sym typeface="Arial"/>
                </a:defRPr>
              </a:lvl1pPr>
            </a:lstStyle>
            <a:p>
              <a:pPr/>
              <a:r>
                <a:t>MAMBA</a:t>
              </a:r>
            </a:p>
          </p:txBody>
        </p:sp>
        <p:sp>
          <p:nvSpPr>
            <p:cNvPr id="610" name="v-193"/>
            <p:cNvSpPr/>
            <p:nvPr/>
          </p:nvSpPr>
          <p:spPr>
            <a:xfrm>
              <a:off x="2238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1" name="v-194"/>
            <p:cNvSpPr/>
            <p:nvPr/>
          </p:nvSpPr>
          <p:spPr>
            <a:xfrm>
              <a:off x="3228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2" name="v-195"/>
            <p:cNvSpPr/>
            <p:nvPr/>
          </p:nvSpPr>
          <p:spPr>
            <a:xfrm>
              <a:off x="4219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3" name="v-196"/>
            <p:cNvSpPr/>
            <p:nvPr/>
          </p:nvSpPr>
          <p:spPr>
            <a:xfrm>
              <a:off x="52101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4" name="v-197"/>
            <p:cNvSpPr/>
            <p:nvPr/>
          </p:nvSpPr>
          <p:spPr>
            <a:xfrm>
              <a:off x="62007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5" name="v-198"/>
            <p:cNvSpPr/>
            <p:nvPr/>
          </p:nvSpPr>
          <p:spPr>
            <a:xfrm>
              <a:off x="7191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6" name="v-199"/>
            <p:cNvSpPr/>
            <p:nvPr/>
          </p:nvSpPr>
          <p:spPr>
            <a:xfrm>
              <a:off x="8181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17" name="v-200"/>
            <p:cNvSpPr/>
            <p:nvPr/>
          </p:nvSpPr>
          <p:spPr>
            <a:xfrm>
              <a:off x="9172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grpSp>
        <p:nvGrpSpPr>
          <p:cNvPr id="656" name="Stage 1"/>
          <p:cNvGrpSpPr/>
          <p:nvPr/>
        </p:nvGrpSpPr>
        <p:grpSpPr>
          <a:xfrm>
            <a:off x="523875" y="819150"/>
            <a:ext cx="11049000" cy="5219700"/>
            <a:chOff x="0" y="0"/>
            <a:chExt cx="11049000" cy="5219700"/>
          </a:xfrm>
        </p:grpSpPr>
        <p:sp>
          <p:nvSpPr>
            <p:cNvPr id="619" name="v-201"/>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620" name="v-202"/>
            <p:cNvSpPr txBox="1"/>
            <p:nvPr/>
          </p:nvSpPr>
          <p:spPr>
            <a:xfrm>
              <a:off x="245745" y="120566"/>
              <a:ext cx="10576560" cy="387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Arial"/>
                  <a:ea typeface="Arial"/>
                  <a:cs typeface="Arial"/>
                  <a:sym typeface="Arial"/>
                </a:defRPr>
              </a:lvl1pPr>
            </a:lstStyle>
            <a:p>
              <a:pPr/>
              <a:r>
                <a:t>FULL: retain KV for the entire prefix</a:t>
              </a:r>
            </a:p>
          </p:txBody>
        </p:sp>
        <p:sp>
          <p:nvSpPr>
            <p:cNvPr id="621" name="v-203"/>
            <p:cNvSpPr txBox="1"/>
            <p:nvPr/>
          </p:nvSpPr>
          <p:spPr>
            <a:xfrm>
              <a:off x="2284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1</a:t>
              </a:r>
            </a:p>
          </p:txBody>
        </p:sp>
        <p:sp>
          <p:nvSpPr>
            <p:cNvPr id="622" name="v-204"/>
            <p:cNvSpPr txBox="1"/>
            <p:nvPr/>
          </p:nvSpPr>
          <p:spPr>
            <a:xfrm>
              <a:off x="32746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2</a:t>
              </a:r>
            </a:p>
          </p:txBody>
        </p:sp>
        <p:sp>
          <p:nvSpPr>
            <p:cNvPr id="623" name="v-205"/>
            <p:cNvSpPr txBox="1"/>
            <p:nvPr/>
          </p:nvSpPr>
          <p:spPr>
            <a:xfrm>
              <a:off x="42652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3</a:t>
              </a:r>
            </a:p>
          </p:txBody>
        </p:sp>
        <p:sp>
          <p:nvSpPr>
            <p:cNvPr id="624" name="v-206"/>
            <p:cNvSpPr txBox="1"/>
            <p:nvPr/>
          </p:nvSpPr>
          <p:spPr>
            <a:xfrm>
              <a:off x="52558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4</a:t>
              </a:r>
            </a:p>
          </p:txBody>
        </p:sp>
        <p:sp>
          <p:nvSpPr>
            <p:cNvPr id="625" name="v-207"/>
            <p:cNvSpPr txBox="1"/>
            <p:nvPr/>
          </p:nvSpPr>
          <p:spPr>
            <a:xfrm>
              <a:off x="62464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5</a:t>
              </a:r>
            </a:p>
          </p:txBody>
        </p:sp>
        <p:sp>
          <p:nvSpPr>
            <p:cNvPr id="626" name="v-208"/>
            <p:cNvSpPr txBox="1"/>
            <p:nvPr/>
          </p:nvSpPr>
          <p:spPr>
            <a:xfrm>
              <a:off x="7237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6</a:t>
              </a:r>
            </a:p>
          </p:txBody>
        </p:sp>
        <p:sp>
          <p:nvSpPr>
            <p:cNvPr id="627" name="v-209"/>
            <p:cNvSpPr txBox="1"/>
            <p:nvPr/>
          </p:nvSpPr>
          <p:spPr>
            <a:xfrm>
              <a:off x="82276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7</a:t>
              </a:r>
            </a:p>
          </p:txBody>
        </p:sp>
        <p:sp>
          <p:nvSpPr>
            <p:cNvPr id="628" name="v-210"/>
            <p:cNvSpPr txBox="1"/>
            <p:nvPr/>
          </p:nvSpPr>
          <p:spPr>
            <a:xfrm>
              <a:off x="92182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8</a:t>
              </a:r>
            </a:p>
          </p:txBody>
        </p:sp>
        <p:sp>
          <p:nvSpPr>
            <p:cNvPr id="629" name="v-211"/>
            <p:cNvSpPr txBox="1"/>
            <p:nvPr/>
          </p:nvSpPr>
          <p:spPr>
            <a:xfrm>
              <a:off x="245743" y="136737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2B5294"/>
                  </a:solidFill>
                  <a:latin typeface="Arial"/>
                  <a:ea typeface="Arial"/>
                  <a:cs typeface="Arial"/>
                  <a:sym typeface="Arial"/>
                </a:defRPr>
              </a:lvl1pPr>
            </a:lstStyle>
            <a:p>
              <a:pPr/>
              <a:r>
                <a:t>FULL</a:t>
              </a:r>
            </a:p>
          </p:txBody>
        </p:sp>
        <p:sp>
          <p:nvSpPr>
            <p:cNvPr id="630" name="v-212"/>
            <p:cNvSpPr/>
            <p:nvPr/>
          </p:nvSpPr>
          <p:spPr>
            <a:xfrm>
              <a:off x="2238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1" name="v-213"/>
            <p:cNvSpPr/>
            <p:nvPr/>
          </p:nvSpPr>
          <p:spPr>
            <a:xfrm>
              <a:off x="3228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2" name="v-214"/>
            <p:cNvSpPr/>
            <p:nvPr/>
          </p:nvSpPr>
          <p:spPr>
            <a:xfrm>
              <a:off x="4219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3" name="v-215"/>
            <p:cNvSpPr/>
            <p:nvPr/>
          </p:nvSpPr>
          <p:spPr>
            <a:xfrm>
              <a:off x="52101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4" name="v-216"/>
            <p:cNvSpPr/>
            <p:nvPr/>
          </p:nvSpPr>
          <p:spPr>
            <a:xfrm>
              <a:off x="62007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5" name="v-217"/>
            <p:cNvSpPr/>
            <p:nvPr/>
          </p:nvSpPr>
          <p:spPr>
            <a:xfrm>
              <a:off x="7191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6" name="v-218"/>
            <p:cNvSpPr/>
            <p:nvPr/>
          </p:nvSpPr>
          <p:spPr>
            <a:xfrm>
              <a:off x="8181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7" name="v-219"/>
            <p:cNvSpPr/>
            <p:nvPr/>
          </p:nvSpPr>
          <p:spPr>
            <a:xfrm>
              <a:off x="9172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38" name="v-220"/>
            <p:cNvSpPr txBox="1"/>
            <p:nvPr/>
          </p:nvSpPr>
          <p:spPr>
            <a:xfrm>
              <a:off x="245743" y="2462752"/>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BD8500"/>
                  </a:solidFill>
                  <a:latin typeface="Arial"/>
                  <a:ea typeface="Arial"/>
                  <a:cs typeface="Arial"/>
                  <a:sym typeface="Arial"/>
                </a:defRPr>
              </a:lvl1pPr>
            </a:lstStyle>
            <a:p>
              <a:pPr/>
              <a:r>
                <a:t>SWA</a:t>
              </a:r>
            </a:p>
          </p:txBody>
        </p:sp>
        <p:sp>
          <p:nvSpPr>
            <p:cNvPr id="639" name="v-221"/>
            <p:cNvSpPr/>
            <p:nvPr/>
          </p:nvSpPr>
          <p:spPr>
            <a:xfrm>
              <a:off x="2238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0" name="v-222"/>
            <p:cNvSpPr/>
            <p:nvPr/>
          </p:nvSpPr>
          <p:spPr>
            <a:xfrm>
              <a:off x="3228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1" name="v-223"/>
            <p:cNvSpPr/>
            <p:nvPr/>
          </p:nvSpPr>
          <p:spPr>
            <a:xfrm>
              <a:off x="4219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2" name="v-224"/>
            <p:cNvSpPr/>
            <p:nvPr/>
          </p:nvSpPr>
          <p:spPr>
            <a:xfrm>
              <a:off x="52101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3" name="v-225"/>
            <p:cNvSpPr/>
            <p:nvPr/>
          </p:nvSpPr>
          <p:spPr>
            <a:xfrm>
              <a:off x="62007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4" name="v-226"/>
            <p:cNvSpPr/>
            <p:nvPr/>
          </p:nvSpPr>
          <p:spPr>
            <a:xfrm>
              <a:off x="7191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5" name="v-227"/>
            <p:cNvSpPr/>
            <p:nvPr/>
          </p:nvSpPr>
          <p:spPr>
            <a:xfrm>
              <a:off x="8181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6" name="v-228"/>
            <p:cNvSpPr/>
            <p:nvPr/>
          </p:nvSpPr>
          <p:spPr>
            <a:xfrm>
              <a:off x="9172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7" name="v-229"/>
            <p:cNvSpPr txBox="1"/>
            <p:nvPr/>
          </p:nvSpPr>
          <p:spPr>
            <a:xfrm>
              <a:off x="245743" y="355812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8056BF"/>
                  </a:solidFill>
                  <a:latin typeface="Arial"/>
                  <a:ea typeface="Arial"/>
                  <a:cs typeface="Arial"/>
                  <a:sym typeface="Arial"/>
                </a:defRPr>
              </a:lvl1pPr>
            </a:lstStyle>
            <a:p>
              <a:pPr/>
              <a:r>
                <a:t>MAMBA</a:t>
              </a:r>
            </a:p>
          </p:txBody>
        </p:sp>
        <p:sp>
          <p:nvSpPr>
            <p:cNvPr id="648" name="v-230"/>
            <p:cNvSpPr/>
            <p:nvPr/>
          </p:nvSpPr>
          <p:spPr>
            <a:xfrm>
              <a:off x="2238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49" name="v-231"/>
            <p:cNvSpPr/>
            <p:nvPr/>
          </p:nvSpPr>
          <p:spPr>
            <a:xfrm>
              <a:off x="3228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0" name="v-232"/>
            <p:cNvSpPr/>
            <p:nvPr/>
          </p:nvSpPr>
          <p:spPr>
            <a:xfrm>
              <a:off x="4219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1" name="v-233"/>
            <p:cNvSpPr/>
            <p:nvPr/>
          </p:nvSpPr>
          <p:spPr>
            <a:xfrm>
              <a:off x="52101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2" name="v-234"/>
            <p:cNvSpPr/>
            <p:nvPr/>
          </p:nvSpPr>
          <p:spPr>
            <a:xfrm>
              <a:off x="62007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3" name="v-235"/>
            <p:cNvSpPr/>
            <p:nvPr/>
          </p:nvSpPr>
          <p:spPr>
            <a:xfrm>
              <a:off x="7191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4" name="v-236"/>
            <p:cNvSpPr/>
            <p:nvPr/>
          </p:nvSpPr>
          <p:spPr>
            <a:xfrm>
              <a:off x="8181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55" name="v-237"/>
            <p:cNvSpPr/>
            <p:nvPr/>
          </p:nvSpPr>
          <p:spPr>
            <a:xfrm>
              <a:off x="9172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grpSp>
        <p:nvGrpSpPr>
          <p:cNvPr id="694" name="Stage 2"/>
          <p:cNvGrpSpPr/>
          <p:nvPr/>
        </p:nvGrpSpPr>
        <p:grpSpPr>
          <a:xfrm>
            <a:off x="523875" y="819150"/>
            <a:ext cx="11049000" cy="5219700"/>
            <a:chOff x="0" y="0"/>
            <a:chExt cx="11049000" cy="5219700"/>
          </a:xfrm>
        </p:grpSpPr>
        <p:sp>
          <p:nvSpPr>
            <p:cNvPr id="657" name="v-238"/>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658" name="v-239"/>
            <p:cNvSpPr txBox="1"/>
            <p:nvPr/>
          </p:nvSpPr>
          <p:spPr>
            <a:xfrm>
              <a:off x="245745" y="120566"/>
              <a:ext cx="10576560" cy="387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Arial"/>
                  <a:ea typeface="Arial"/>
                  <a:cs typeface="Arial"/>
                  <a:sym typeface="Arial"/>
                </a:defRPr>
              </a:lvl1pPr>
            </a:lstStyle>
            <a:p>
              <a:pPr/>
              <a:r>
                <a:t>SWA: retain the trailing window</a:t>
              </a:r>
            </a:p>
          </p:txBody>
        </p:sp>
        <p:sp>
          <p:nvSpPr>
            <p:cNvPr id="659" name="v-240"/>
            <p:cNvSpPr txBox="1"/>
            <p:nvPr/>
          </p:nvSpPr>
          <p:spPr>
            <a:xfrm>
              <a:off x="2284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1</a:t>
              </a:r>
            </a:p>
          </p:txBody>
        </p:sp>
        <p:sp>
          <p:nvSpPr>
            <p:cNvPr id="660" name="v-241"/>
            <p:cNvSpPr txBox="1"/>
            <p:nvPr/>
          </p:nvSpPr>
          <p:spPr>
            <a:xfrm>
              <a:off x="32746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2</a:t>
              </a:r>
            </a:p>
          </p:txBody>
        </p:sp>
        <p:sp>
          <p:nvSpPr>
            <p:cNvPr id="661" name="v-242"/>
            <p:cNvSpPr txBox="1"/>
            <p:nvPr/>
          </p:nvSpPr>
          <p:spPr>
            <a:xfrm>
              <a:off x="42652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3</a:t>
              </a:r>
            </a:p>
          </p:txBody>
        </p:sp>
        <p:sp>
          <p:nvSpPr>
            <p:cNvPr id="662" name="v-243"/>
            <p:cNvSpPr txBox="1"/>
            <p:nvPr/>
          </p:nvSpPr>
          <p:spPr>
            <a:xfrm>
              <a:off x="52558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4</a:t>
              </a:r>
            </a:p>
          </p:txBody>
        </p:sp>
        <p:sp>
          <p:nvSpPr>
            <p:cNvPr id="663" name="v-244"/>
            <p:cNvSpPr txBox="1"/>
            <p:nvPr/>
          </p:nvSpPr>
          <p:spPr>
            <a:xfrm>
              <a:off x="62464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5</a:t>
              </a:r>
            </a:p>
          </p:txBody>
        </p:sp>
        <p:sp>
          <p:nvSpPr>
            <p:cNvPr id="664" name="v-245"/>
            <p:cNvSpPr txBox="1"/>
            <p:nvPr/>
          </p:nvSpPr>
          <p:spPr>
            <a:xfrm>
              <a:off x="7237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6</a:t>
              </a:r>
            </a:p>
          </p:txBody>
        </p:sp>
        <p:sp>
          <p:nvSpPr>
            <p:cNvPr id="665" name="v-246"/>
            <p:cNvSpPr txBox="1"/>
            <p:nvPr/>
          </p:nvSpPr>
          <p:spPr>
            <a:xfrm>
              <a:off x="82276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7</a:t>
              </a:r>
            </a:p>
          </p:txBody>
        </p:sp>
        <p:sp>
          <p:nvSpPr>
            <p:cNvPr id="666" name="v-247"/>
            <p:cNvSpPr txBox="1"/>
            <p:nvPr/>
          </p:nvSpPr>
          <p:spPr>
            <a:xfrm>
              <a:off x="92182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8</a:t>
              </a:r>
            </a:p>
          </p:txBody>
        </p:sp>
        <p:sp>
          <p:nvSpPr>
            <p:cNvPr id="667" name="v-248"/>
            <p:cNvSpPr txBox="1"/>
            <p:nvPr/>
          </p:nvSpPr>
          <p:spPr>
            <a:xfrm>
              <a:off x="245743" y="136737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2B5294"/>
                  </a:solidFill>
                  <a:latin typeface="Arial"/>
                  <a:ea typeface="Arial"/>
                  <a:cs typeface="Arial"/>
                  <a:sym typeface="Arial"/>
                </a:defRPr>
              </a:lvl1pPr>
            </a:lstStyle>
            <a:p>
              <a:pPr/>
              <a:r>
                <a:t>FULL</a:t>
              </a:r>
            </a:p>
          </p:txBody>
        </p:sp>
        <p:sp>
          <p:nvSpPr>
            <p:cNvPr id="668" name="v-249"/>
            <p:cNvSpPr/>
            <p:nvPr/>
          </p:nvSpPr>
          <p:spPr>
            <a:xfrm>
              <a:off x="2238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69" name="v-250"/>
            <p:cNvSpPr/>
            <p:nvPr/>
          </p:nvSpPr>
          <p:spPr>
            <a:xfrm>
              <a:off x="3228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0" name="v-251"/>
            <p:cNvSpPr/>
            <p:nvPr/>
          </p:nvSpPr>
          <p:spPr>
            <a:xfrm>
              <a:off x="4219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1" name="v-252"/>
            <p:cNvSpPr/>
            <p:nvPr/>
          </p:nvSpPr>
          <p:spPr>
            <a:xfrm>
              <a:off x="52101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2" name="v-253"/>
            <p:cNvSpPr/>
            <p:nvPr/>
          </p:nvSpPr>
          <p:spPr>
            <a:xfrm>
              <a:off x="62007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3" name="v-254"/>
            <p:cNvSpPr/>
            <p:nvPr/>
          </p:nvSpPr>
          <p:spPr>
            <a:xfrm>
              <a:off x="7191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4" name="v-255"/>
            <p:cNvSpPr/>
            <p:nvPr/>
          </p:nvSpPr>
          <p:spPr>
            <a:xfrm>
              <a:off x="8181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5" name="v-256"/>
            <p:cNvSpPr/>
            <p:nvPr/>
          </p:nvSpPr>
          <p:spPr>
            <a:xfrm>
              <a:off x="9172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6" name="v-257"/>
            <p:cNvSpPr txBox="1"/>
            <p:nvPr/>
          </p:nvSpPr>
          <p:spPr>
            <a:xfrm>
              <a:off x="245743" y="2462752"/>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BD8500"/>
                  </a:solidFill>
                  <a:latin typeface="Arial"/>
                  <a:ea typeface="Arial"/>
                  <a:cs typeface="Arial"/>
                  <a:sym typeface="Arial"/>
                </a:defRPr>
              </a:lvl1pPr>
            </a:lstStyle>
            <a:p>
              <a:pPr/>
              <a:r>
                <a:t>SWA</a:t>
              </a:r>
            </a:p>
          </p:txBody>
        </p:sp>
        <p:sp>
          <p:nvSpPr>
            <p:cNvPr id="677" name="v-258"/>
            <p:cNvSpPr/>
            <p:nvPr/>
          </p:nvSpPr>
          <p:spPr>
            <a:xfrm>
              <a:off x="2238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8" name="v-259"/>
            <p:cNvSpPr/>
            <p:nvPr/>
          </p:nvSpPr>
          <p:spPr>
            <a:xfrm>
              <a:off x="3228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79" name="v-260"/>
            <p:cNvSpPr/>
            <p:nvPr/>
          </p:nvSpPr>
          <p:spPr>
            <a:xfrm>
              <a:off x="4219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0" name="v-261"/>
            <p:cNvSpPr/>
            <p:nvPr/>
          </p:nvSpPr>
          <p:spPr>
            <a:xfrm>
              <a:off x="52101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1" name="v-262"/>
            <p:cNvSpPr/>
            <p:nvPr/>
          </p:nvSpPr>
          <p:spPr>
            <a:xfrm>
              <a:off x="62007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2" name="v-263"/>
            <p:cNvSpPr/>
            <p:nvPr/>
          </p:nvSpPr>
          <p:spPr>
            <a:xfrm>
              <a:off x="71913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3" name="v-264"/>
            <p:cNvSpPr/>
            <p:nvPr/>
          </p:nvSpPr>
          <p:spPr>
            <a:xfrm>
              <a:off x="81819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4" name="v-265"/>
            <p:cNvSpPr/>
            <p:nvPr/>
          </p:nvSpPr>
          <p:spPr>
            <a:xfrm>
              <a:off x="91725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5" name="v-266"/>
            <p:cNvSpPr txBox="1"/>
            <p:nvPr/>
          </p:nvSpPr>
          <p:spPr>
            <a:xfrm>
              <a:off x="245743" y="355812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8056BF"/>
                  </a:solidFill>
                  <a:latin typeface="Arial"/>
                  <a:ea typeface="Arial"/>
                  <a:cs typeface="Arial"/>
                  <a:sym typeface="Arial"/>
                </a:defRPr>
              </a:lvl1pPr>
            </a:lstStyle>
            <a:p>
              <a:pPr/>
              <a:r>
                <a:t>MAMBA</a:t>
              </a:r>
            </a:p>
          </p:txBody>
        </p:sp>
        <p:sp>
          <p:nvSpPr>
            <p:cNvPr id="686" name="v-267"/>
            <p:cNvSpPr/>
            <p:nvPr/>
          </p:nvSpPr>
          <p:spPr>
            <a:xfrm>
              <a:off x="2238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7" name="v-268"/>
            <p:cNvSpPr/>
            <p:nvPr/>
          </p:nvSpPr>
          <p:spPr>
            <a:xfrm>
              <a:off x="3228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8" name="v-269"/>
            <p:cNvSpPr/>
            <p:nvPr/>
          </p:nvSpPr>
          <p:spPr>
            <a:xfrm>
              <a:off x="4219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89" name="v-270"/>
            <p:cNvSpPr/>
            <p:nvPr/>
          </p:nvSpPr>
          <p:spPr>
            <a:xfrm>
              <a:off x="52101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90" name="v-271"/>
            <p:cNvSpPr/>
            <p:nvPr/>
          </p:nvSpPr>
          <p:spPr>
            <a:xfrm>
              <a:off x="62007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91" name="v-272"/>
            <p:cNvSpPr/>
            <p:nvPr/>
          </p:nvSpPr>
          <p:spPr>
            <a:xfrm>
              <a:off x="7191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92" name="v-273"/>
            <p:cNvSpPr/>
            <p:nvPr/>
          </p:nvSpPr>
          <p:spPr>
            <a:xfrm>
              <a:off x="8181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693" name="v-274"/>
            <p:cNvSpPr/>
            <p:nvPr/>
          </p:nvSpPr>
          <p:spPr>
            <a:xfrm>
              <a:off x="9172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grpSp>
        <p:nvGrpSpPr>
          <p:cNvPr id="733" name="Stage 3"/>
          <p:cNvGrpSpPr/>
          <p:nvPr/>
        </p:nvGrpSpPr>
        <p:grpSpPr>
          <a:xfrm>
            <a:off x="523875" y="819150"/>
            <a:ext cx="11049000" cy="5219700"/>
            <a:chOff x="0" y="0"/>
            <a:chExt cx="11049000" cy="5219700"/>
          </a:xfrm>
        </p:grpSpPr>
        <p:sp>
          <p:nvSpPr>
            <p:cNvPr id="695" name="v-275"/>
            <p:cNvSpPr/>
            <p:nvPr/>
          </p:nvSpPr>
          <p:spPr>
            <a:xfrm>
              <a:off x="0" y="0"/>
              <a:ext cx="11049000" cy="5219700"/>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696" name="v-276"/>
            <p:cNvSpPr txBox="1"/>
            <p:nvPr/>
          </p:nvSpPr>
          <p:spPr>
            <a:xfrm>
              <a:off x="245745" y="120566"/>
              <a:ext cx="10576560" cy="387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B5294"/>
                  </a:solidFill>
                  <a:latin typeface="Arial"/>
                  <a:ea typeface="Arial"/>
                  <a:cs typeface="Arial"/>
                  <a:sym typeface="Arial"/>
                </a:defRPr>
              </a:lvl1pPr>
            </a:lstStyle>
            <a:p>
              <a:pPr/>
              <a:r>
                <a:t>MAMBA: resume only at checkpoints</a:t>
              </a:r>
            </a:p>
          </p:txBody>
        </p:sp>
        <p:sp>
          <p:nvSpPr>
            <p:cNvPr id="697" name="v-277"/>
            <p:cNvSpPr txBox="1"/>
            <p:nvPr/>
          </p:nvSpPr>
          <p:spPr>
            <a:xfrm>
              <a:off x="2284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1</a:t>
              </a:r>
            </a:p>
          </p:txBody>
        </p:sp>
        <p:sp>
          <p:nvSpPr>
            <p:cNvPr id="698" name="v-278"/>
            <p:cNvSpPr txBox="1"/>
            <p:nvPr/>
          </p:nvSpPr>
          <p:spPr>
            <a:xfrm>
              <a:off x="32746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2</a:t>
              </a:r>
            </a:p>
          </p:txBody>
        </p:sp>
        <p:sp>
          <p:nvSpPr>
            <p:cNvPr id="699" name="v-279"/>
            <p:cNvSpPr txBox="1"/>
            <p:nvPr/>
          </p:nvSpPr>
          <p:spPr>
            <a:xfrm>
              <a:off x="42652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3</a:t>
              </a:r>
            </a:p>
          </p:txBody>
        </p:sp>
        <p:sp>
          <p:nvSpPr>
            <p:cNvPr id="700" name="v-280"/>
            <p:cNvSpPr txBox="1"/>
            <p:nvPr/>
          </p:nvSpPr>
          <p:spPr>
            <a:xfrm>
              <a:off x="52558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4</a:t>
              </a:r>
            </a:p>
          </p:txBody>
        </p:sp>
        <p:sp>
          <p:nvSpPr>
            <p:cNvPr id="701" name="v-281"/>
            <p:cNvSpPr txBox="1"/>
            <p:nvPr/>
          </p:nvSpPr>
          <p:spPr>
            <a:xfrm>
              <a:off x="6246495"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5</a:t>
              </a:r>
            </a:p>
          </p:txBody>
        </p:sp>
        <p:sp>
          <p:nvSpPr>
            <p:cNvPr id="702" name="v-282"/>
            <p:cNvSpPr txBox="1"/>
            <p:nvPr/>
          </p:nvSpPr>
          <p:spPr>
            <a:xfrm>
              <a:off x="72370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6</a:t>
              </a:r>
            </a:p>
          </p:txBody>
        </p:sp>
        <p:sp>
          <p:nvSpPr>
            <p:cNvPr id="703" name="v-283"/>
            <p:cNvSpPr txBox="1"/>
            <p:nvPr/>
          </p:nvSpPr>
          <p:spPr>
            <a:xfrm>
              <a:off x="82276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7</a:t>
              </a:r>
            </a:p>
          </p:txBody>
        </p:sp>
        <p:sp>
          <p:nvSpPr>
            <p:cNvPr id="704" name="v-284"/>
            <p:cNvSpPr txBox="1"/>
            <p:nvPr/>
          </p:nvSpPr>
          <p:spPr>
            <a:xfrm>
              <a:off x="9218293" y="717258"/>
              <a:ext cx="727712" cy="375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2000">
                  <a:solidFill>
                    <a:srgbClr val="576D85"/>
                  </a:solidFill>
                  <a:latin typeface="Arial"/>
                  <a:ea typeface="Arial"/>
                  <a:cs typeface="Arial"/>
                  <a:sym typeface="Arial"/>
                </a:defRPr>
              </a:lvl1pPr>
            </a:lstStyle>
            <a:p>
              <a:pPr/>
              <a:r>
                <a:t>8</a:t>
              </a:r>
            </a:p>
          </p:txBody>
        </p:sp>
        <p:sp>
          <p:nvSpPr>
            <p:cNvPr id="705" name="v-285"/>
            <p:cNvSpPr txBox="1"/>
            <p:nvPr/>
          </p:nvSpPr>
          <p:spPr>
            <a:xfrm>
              <a:off x="245743" y="136737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2B5294"/>
                  </a:solidFill>
                  <a:latin typeface="Arial"/>
                  <a:ea typeface="Arial"/>
                  <a:cs typeface="Arial"/>
                  <a:sym typeface="Arial"/>
                </a:defRPr>
              </a:lvl1pPr>
            </a:lstStyle>
            <a:p>
              <a:pPr/>
              <a:r>
                <a:t>FULL</a:t>
              </a:r>
            </a:p>
          </p:txBody>
        </p:sp>
        <p:sp>
          <p:nvSpPr>
            <p:cNvPr id="706" name="v-286"/>
            <p:cNvSpPr/>
            <p:nvPr/>
          </p:nvSpPr>
          <p:spPr>
            <a:xfrm>
              <a:off x="2238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07" name="v-287"/>
            <p:cNvSpPr/>
            <p:nvPr/>
          </p:nvSpPr>
          <p:spPr>
            <a:xfrm>
              <a:off x="3228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08" name="v-288"/>
            <p:cNvSpPr/>
            <p:nvPr/>
          </p:nvSpPr>
          <p:spPr>
            <a:xfrm>
              <a:off x="4219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09" name="v-289"/>
            <p:cNvSpPr/>
            <p:nvPr/>
          </p:nvSpPr>
          <p:spPr>
            <a:xfrm>
              <a:off x="52101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0" name="v-290"/>
            <p:cNvSpPr/>
            <p:nvPr/>
          </p:nvSpPr>
          <p:spPr>
            <a:xfrm>
              <a:off x="62007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1" name="v-291"/>
            <p:cNvSpPr/>
            <p:nvPr/>
          </p:nvSpPr>
          <p:spPr>
            <a:xfrm>
              <a:off x="71913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2" name="v-292"/>
            <p:cNvSpPr/>
            <p:nvPr/>
          </p:nvSpPr>
          <p:spPr>
            <a:xfrm>
              <a:off x="81819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3" name="v-293"/>
            <p:cNvSpPr/>
            <p:nvPr/>
          </p:nvSpPr>
          <p:spPr>
            <a:xfrm>
              <a:off x="9172575" y="1323975"/>
              <a:ext cx="819150" cy="523875"/>
            </a:xfrm>
            <a:prstGeom prst="roundRect">
              <a:avLst>
                <a:gd name="adj" fmla="val 14545"/>
              </a:avLst>
            </a:prstGeom>
            <a:solidFill>
              <a:srgbClr val="2B5294"/>
            </a:solidFill>
            <a:ln w="19050" cap="flat">
              <a:solidFill>
                <a:srgbClr val="2B5294"/>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4" name="v-294"/>
            <p:cNvSpPr txBox="1"/>
            <p:nvPr/>
          </p:nvSpPr>
          <p:spPr>
            <a:xfrm>
              <a:off x="245743" y="2462752"/>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BD8500"/>
                  </a:solidFill>
                  <a:latin typeface="Arial"/>
                  <a:ea typeface="Arial"/>
                  <a:cs typeface="Arial"/>
                  <a:sym typeface="Arial"/>
                </a:defRPr>
              </a:lvl1pPr>
            </a:lstStyle>
            <a:p>
              <a:pPr/>
              <a:r>
                <a:t>SWA</a:t>
              </a:r>
            </a:p>
          </p:txBody>
        </p:sp>
        <p:sp>
          <p:nvSpPr>
            <p:cNvPr id="715" name="v-295"/>
            <p:cNvSpPr/>
            <p:nvPr/>
          </p:nvSpPr>
          <p:spPr>
            <a:xfrm>
              <a:off x="22383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6" name="v-296"/>
            <p:cNvSpPr/>
            <p:nvPr/>
          </p:nvSpPr>
          <p:spPr>
            <a:xfrm>
              <a:off x="32289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7" name="v-297"/>
            <p:cNvSpPr/>
            <p:nvPr/>
          </p:nvSpPr>
          <p:spPr>
            <a:xfrm>
              <a:off x="42195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8" name="v-298"/>
            <p:cNvSpPr/>
            <p:nvPr/>
          </p:nvSpPr>
          <p:spPr>
            <a:xfrm>
              <a:off x="52101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19" name="v-299"/>
            <p:cNvSpPr/>
            <p:nvPr/>
          </p:nvSpPr>
          <p:spPr>
            <a:xfrm>
              <a:off x="6200775" y="2419350"/>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0" name="v-300"/>
            <p:cNvSpPr/>
            <p:nvPr/>
          </p:nvSpPr>
          <p:spPr>
            <a:xfrm>
              <a:off x="71913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1" name="v-301"/>
            <p:cNvSpPr/>
            <p:nvPr/>
          </p:nvSpPr>
          <p:spPr>
            <a:xfrm>
              <a:off x="81819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2" name="v-302"/>
            <p:cNvSpPr/>
            <p:nvPr/>
          </p:nvSpPr>
          <p:spPr>
            <a:xfrm>
              <a:off x="9172575" y="2419350"/>
              <a:ext cx="819150" cy="523875"/>
            </a:xfrm>
            <a:prstGeom prst="roundRect">
              <a:avLst>
                <a:gd name="adj" fmla="val 14545"/>
              </a:avLst>
            </a:prstGeom>
            <a:solidFill>
              <a:srgbClr val="BD8500"/>
            </a:solidFill>
            <a:ln w="19050" cap="flat">
              <a:solidFill>
                <a:srgbClr val="BD85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3" name="v-303"/>
            <p:cNvSpPr txBox="1"/>
            <p:nvPr/>
          </p:nvSpPr>
          <p:spPr>
            <a:xfrm>
              <a:off x="245743" y="3558127"/>
              <a:ext cx="1623062" cy="437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b="1" sz="2400">
                  <a:solidFill>
                    <a:srgbClr val="8056BF"/>
                  </a:solidFill>
                  <a:latin typeface="Arial"/>
                  <a:ea typeface="Arial"/>
                  <a:cs typeface="Arial"/>
                  <a:sym typeface="Arial"/>
                </a:defRPr>
              </a:lvl1pPr>
            </a:lstStyle>
            <a:p>
              <a:pPr/>
              <a:r>
                <a:t>MAMBA</a:t>
              </a:r>
            </a:p>
          </p:txBody>
        </p:sp>
        <p:sp>
          <p:nvSpPr>
            <p:cNvPr id="724" name="v-304"/>
            <p:cNvSpPr/>
            <p:nvPr/>
          </p:nvSpPr>
          <p:spPr>
            <a:xfrm>
              <a:off x="2238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5" name="v-305"/>
            <p:cNvSpPr/>
            <p:nvPr/>
          </p:nvSpPr>
          <p:spPr>
            <a:xfrm>
              <a:off x="3228975" y="3514725"/>
              <a:ext cx="819150" cy="523875"/>
            </a:xfrm>
            <a:prstGeom prst="roundRect">
              <a:avLst>
                <a:gd name="adj" fmla="val 14545"/>
              </a:avLst>
            </a:prstGeom>
            <a:solidFill>
              <a:srgbClr val="8056BF"/>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6" name="v-306"/>
            <p:cNvSpPr/>
            <p:nvPr/>
          </p:nvSpPr>
          <p:spPr>
            <a:xfrm>
              <a:off x="42195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7" name="v-307"/>
            <p:cNvSpPr/>
            <p:nvPr/>
          </p:nvSpPr>
          <p:spPr>
            <a:xfrm>
              <a:off x="52101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8" name="v-308"/>
            <p:cNvSpPr/>
            <p:nvPr/>
          </p:nvSpPr>
          <p:spPr>
            <a:xfrm>
              <a:off x="6200775" y="3514725"/>
              <a:ext cx="819150" cy="523875"/>
            </a:xfrm>
            <a:prstGeom prst="roundRect">
              <a:avLst>
                <a:gd name="adj" fmla="val 14545"/>
              </a:avLst>
            </a:prstGeom>
            <a:solidFill>
              <a:srgbClr val="8056BF"/>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29" name="v-309"/>
            <p:cNvSpPr/>
            <p:nvPr/>
          </p:nvSpPr>
          <p:spPr>
            <a:xfrm>
              <a:off x="71913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30" name="v-310"/>
            <p:cNvSpPr/>
            <p:nvPr/>
          </p:nvSpPr>
          <p:spPr>
            <a:xfrm>
              <a:off x="8181975" y="3514725"/>
              <a:ext cx="819150" cy="523875"/>
            </a:xfrm>
            <a:prstGeom prst="roundRect">
              <a:avLst>
                <a:gd name="adj" fmla="val 14545"/>
              </a:avLst>
            </a:prstGeom>
            <a:solidFill>
              <a:srgbClr val="FFFFFF"/>
            </a:solidFill>
            <a:ln w="19050" cap="flat">
              <a:solidFill>
                <a:srgbClr val="B8CAD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31" name="v-311"/>
            <p:cNvSpPr/>
            <p:nvPr/>
          </p:nvSpPr>
          <p:spPr>
            <a:xfrm>
              <a:off x="9172575" y="3514725"/>
              <a:ext cx="819150" cy="523875"/>
            </a:xfrm>
            <a:prstGeom prst="roundRect">
              <a:avLst>
                <a:gd name="adj" fmla="val 14545"/>
              </a:avLst>
            </a:prstGeom>
            <a:solidFill>
              <a:srgbClr val="8056BF"/>
            </a:solidFill>
            <a:ln w="19050" cap="flat">
              <a:solidFill>
                <a:srgbClr val="8056BF"/>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sp>
          <p:nvSpPr>
            <p:cNvPr id="732" name="v-312"/>
            <p:cNvSpPr txBox="1"/>
            <p:nvPr/>
          </p:nvSpPr>
          <p:spPr>
            <a:xfrm>
              <a:off x="2522220" y="4681854"/>
              <a:ext cx="8290560"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2100">
                  <a:solidFill>
                    <a:srgbClr val="203752"/>
                  </a:solidFill>
                  <a:latin typeface="+mj-lt"/>
                  <a:ea typeface="+mj-ea"/>
                  <a:cs typeface="+mj-cs"/>
                  <a:sym typeface="Helvetica"/>
                </a:defRPr>
              </a:lvl1pPr>
            </a:lstStyle>
            <a:p>
              <a:pPr/>
              <a:r>
                <a:t>Each component has its own validity rules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656"/>
                                        </p:tgtEl>
                                        <p:attrNameLst>
                                          <p:attrName>style.visibility</p:attrName>
                                        </p:attrNameLst>
                                      </p:cBhvr>
                                      <p:to>
                                        <p:strVal val="visible"/>
                                      </p:to>
                                    </p:set>
                                    <p:animEffect filter="fade" transition="in">
                                      <p:cBhvr>
                                        <p:cTn id="7" dur="180"/>
                                        <p:tgtEl>
                                          <p:spTgt spid="65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694"/>
                                        </p:tgtEl>
                                        <p:attrNameLst>
                                          <p:attrName>style.visibility</p:attrName>
                                        </p:attrNameLst>
                                      </p:cBhvr>
                                      <p:to>
                                        <p:strVal val="visible"/>
                                      </p:to>
                                    </p:set>
                                    <p:animEffect filter="fade" transition="in">
                                      <p:cBhvr>
                                        <p:cTn id="12" dur="180"/>
                                        <p:tgtEl>
                                          <p:spTgt spid="69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733"/>
                                        </p:tgtEl>
                                        <p:attrNameLst>
                                          <p:attrName>style.visibility</p:attrName>
                                        </p:attrNameLst>
                                      </p:cBhvr>
                                      <p:to>
                                        <p:strVal val="visible"/>
                                      </p:to>
                                    </p:set>
                                    <p:animEffect filter="fade" transition="in">
                                      <p:cBhvr>
                                        <p:cTn id="17" dur="180"/>
                                        <p:tgtEl>
                                          <p:spTgt spid="7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94" grpId="2"/>
      <p:bldP build="whole" bldLvl="1" animBg="1" rev="0" advAuto="0" spid="733" grpId="3"/>
      <p:bldP build="whole" bldLvl="1" animBg="1" rev="0" advAuto="0" spid="656"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7"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Previous Design: More Combinations, More Trees</a:t>
            </a:r>
          </a:p>
        </p:txBody>
      </p:sp>
      <p:sp>
        <p:nvSpPr>
          <p:cNvPr id="738"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17</a:t>
            </a:r>
          </a:p>
        </p:txBody>
      </p:sp>
      <p:pic>
        <p:nvPicPr>
          <p:cNvPr id="739"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740"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741" name="v-314"/>
          <p:cNvSpPr txBox="1"/>
          <p:nvPr/>
        </p:nvSpPr>
        <p:spPr>
          <a:xfrm>
            <a:off x="769619" y="929004"/>
            <a:ext cx="10576561"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2B5294"/>
                </a:solidFill>
                <a:latin typeface="+mj-lt"/>
                <a:ea typeface="+mj-ea"/>
                <a:cs typeface="+mj-cs"/>
                <a:sym typeface="Helvetica"/>
              </a:defRPr>
            </a:lvl1pPr>
          </a:lstStyle>
          <a:p>
            <a:pPr/>
            <a:r>
              <a:t>The same tree operations are maintained in multiple implementations</a:t>
            </a:r>
          </a:p>
        </p:txBody>
      </p:sp>
      <p:pic>
        <p:nvPicPr>
          <p:cNvPr id="742" name="pasted-movie.png" descr="pasted-movie.png"/>
          <p:cNvPicPr>
            <a:picLocks noChangeAspect="1"/>
          </p:cNvPicPr>
          <p:nvPr/>
        </p:nvPicPr>
        <p:blipFill>
          <a:blip r:embed="rId5">
            <a:extLst/>
          </a:blip>
          <a:stretch>
            <a:fillRect/>
          </a:stretch>
        </p:blipFill>
        <p:spPr>
          <a:xfrm>
            <a:off x="431714" y="1452736"/>
            <a:ext cx="10551357" cy="4212244"/>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6"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Unified Radix Tree: One Tree, Multiple Components</a:t>
            </a:r>
          </a:p>
        </p:txBody>
      </p:sp>
      <p:sp>
        <p:nvSpPr>
          <p:cNvPr id="747"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18</a:t>
            </a:r>
          </a:p>
        </p:txBody>
      </p:sp>
      <p:pic>
        <p:nvPicPr>
          <p:cNvPr id="748"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749"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750" name="u0-caption-mask"/>
          <p:cNvSpPr/>
          <p:nvPr/>
        </p:nvSpPr>
        <p:spPr>
          <a:xfrm>
            <a:off x="721994" y="847725"/>
            <a:ext cx="10648951" cy="457200"/>
          </a:xfrm>
          <a:prstGeom prst="rect">
            <a:avLst/>
          </a:prstGeom>
          <a:solidFill>
            <a:srgbClr val="FFFFFF"/>
          </a:solidFill>
          <a:ln w="12700">
            <a:miter lim="400000"/>
          </a:ln>
        </p:spPr>
        <p:txBody>
          <a:bodyPr lIns="45718" tIns="45718" rIns="45718" bIns="45718"/>
          <a:lstStyle/>
          <a:p>
            <a:pPr>
              <a:defRPr>
                <a:latin typeface="+mj-lt"/>
                <a:ea typeface="+mj-ea"/>
                <a:cs typeface="+mj-cs"/>
                <a:sym typeface="Helvetica"/>
              </a:defRPr>
            </a:pPr>
          </a:p>
        </p:txBody>
      </p:sp>
      <p:sp>
        <p:nvSpPr>
          <p:cNvPr id="751" name="u0-caption"/>
          <p:cNvSpPr txBox="1"/>
          <p:nvPr/>
        </p:nvSpPr>
        <p:spPr>
          <a:xfrm>
            <a:off x="721994" y="923924"/>
            <a:ext cx="1064895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5091"/>
                </a:solidFill>
                <a:latin typeface="+mj-lt"/>
                <a:ea typeface="+mj-ea"/>
                <a:cs typeface="+mj-cs"/>
                <a:sym typeface="Helvetica"/>
              </a:defRPr>
            </a:lvl1pPr>
          </a:lstStyle>
          <a:p>
            <a:pPr/>
            <a:r>
              <a:t>One token topology, independent state slots</a:t>
            </a:r>
          </a:p>
        </p:txBody>
      </p:sp>
      <p:sp>
        <p:nvSpPr>
          <p:cNvPr id="752" name="u0-root"/>
          <p:cNvSpPr/>
          <p:nvPr/>
        </p:nvSpPr>
        <p:spPr>
          <a:xfrm>
            <a:off x="1133475" y="3314700"/>
            <a:ext cx="342900" cy="342900"/>
          </a:xfrm>
          <a:prstGeom prst="ellipse">
            <a:avLst/>
          </a:prstGeom>
          <a:solidFill>
            <a:srgbClr val="E7EFF8"/>
          </a:solidFill>
          <a:ln w="14288">
            <a:solidFill>
              <a:srgbClr val="285091"/>
            </a:solidFill>
          </a:ln>
        </p:spPr>
        <p:txBody>
          <a:bodyPr lIns="45718" tIns="45718" rIns="45718" bIns="45718"/>
          <a:lstStyle/>
          <a:p>
            <a:pPr>
              <a:defRPr>
                <a:latin typeface="+mj-lt"/>
                <a:ea typeface="+mj-ea"/>
                <a:cs typeface="+mj-cs"/>
                <a:sym typeface="Helvetica"/>
              </a:defRPr>
            </a:pPr>
          </a:p>
        </p:txBody>
      </p:sp>
      <p:sp>
        <p:nvSpPr>
          <p:cNvPr id="753" name="u0-node-0"/>
          <p:cNvSpPr/>
          <p:nvPr/>
        </p:nvSpPr>
        <p:spPr>
          <a:xfrm>
            <a:off x="2571750" y="2933700"/>
            <a:ext cx="1714500" cy="1104900"/>
          </a:xfrm>
          <a:prstGeom prst="roundRect">
            <a:avLst>
              <a:gd name="adj" fmla="val 6034"/>
            </a:avLst>
          </a:prstGeom>
          <a:solidFill>
            <a:srgbClr val="F0F4F9"/>
          </a:solidFill>
          <a:ln w="19050">
            <a:solidFill>
              <a:srgbClr val="285091"/>
            </a:solidFill>
          </a:ln>
        </p:spPr>
        <p:txBody>
          <a:bodyPr lIns="45718" tIns="45718" rIns="45718" bIns="45718"/>
          <a:lstStyle/>
          <a:p>
            <a:pPr>
              <a:defRPr>
                <a:latin typeface="+mj-lt"/>
                <a:ea typeface="+mj-ea"/>
                <a:cs typeface="+mj-cs"/>
                <a:sym typeface="Helvetica"/>
              </a:defRPr>
            </a:pPr>
          </a:p>
        </p:txBody>
      </p:sp>
      <p:sp>
        <p:nvSpPr>
          <p:cNvPr id="754" name="u0-token-0"/>
          <p:cNvSpPr txBox="1"/>
          <p:nvPr/>
        </p:nvSpPr>
        <p:spPr>
          <a:xfrm>
            <a:off x="2667000" y="3071412"/>
            <a:ext cx="15240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A B</a:t>
            </a:r>
          </a:p>
        </p:txBody>
      </p:sp>
      <p:sp>
        <p:nvSpPr>
          <p:cNvPr id="755" name="u0-slot-0-0"/>
          <p:cNvSpPr/>
          <p:nvPr/>
        </p:nvSpPr>
        <p:spPr>
          <a:xfrm>
            <a:off x="2667000" y="3552825"/>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56" name="u0-slot-0-1"/>
          <p:cNvSpPr/>
          <p:nvPr/>
        </p:nvSpPr>
        <p:spPr>
          <a:xfrm>
            <a:off x="3200400" y="3552825"/>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57" name="u0-slot-0-2"/>
          <p:cNvSpPr/>
          <p:nvPr/>
        </p:nvSpPr>
        <p:spPr>
          <a:xfrm>
            <a:off x="3733800" y="3552825"/>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58" name="u0-node-1"/>
          <p:cNvSpPr/>
          <p:nvPr/>
        </p:nvSpPr>
        <p:spPr>
          <a:xfrm>
            <a:off x="5410200" y="1762125"/>
            <a:ext cx="1714500" cy="1104900"/>
          </a:xfrm>
          <a:prstGeom prst="roundRect">
            <a:avLst>
              <a:gd name="adj" fmla="val 6034"/>
            </a:avLst>
          </a:prstGeom>
          <a:solidFill>
            <a:srgbClr val="F0F4F9"/>
          </a:solidFill>
          <a:ln w="19050">
            <a:solidFill>
              <a:srgbClr val="285091"/>
            </a:solidFill>
          </a:ln>
        </p:spPr>
        <p:txBody>
          <a:bodyPr lIns="45718" tIns="45718" rIns="45718" bIns="45718"/>
          <a:lstStyle/>
          <a:p>
            <a:pPr>
              <a:defRPr>
                <a:latin typeface="+mj-lt"/>
                <a:ea typeface="+mj-ea"/>
                <a:cs typeface="+mj-cs"/>
                <a:sym typeface="Helvetica"/>
              </a:defRPr>
            </a:pPr>
          </a:p>
        </p:txBody>
      </p:sp>
      <p:sp>
        <p:nvSpPr>
          <p:cNvPr id="759" name="u0-token-1"/>
          <p:cNvSpPr txBox="1"/>
          <p:nvPr/>
        </p:nvSpPr>
        <p:spPr>
          <a:xfrm>
            <a:off x="5505450" y="1899837"/>
            <a:ext cx="15240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C D</a:t>
            </a:r>
          </a:p>
        </p:txBody>
      </p:sp>
      <p:sp>
        <p:nvSpPr>
          <p:cNvPr id="760" name="u0-slot-1-0"/>
          <p:cNvSpPr/>
          <p:nvPr/>
        </p:nvSpPr>
        <p:spPr>
          <a:xfrm>
            <a:off x="5505450" y="238125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61" name="u0-slot-1-1"/>
          <p:cNvSpPr/>
          <p:nvPr/>
        </p:nvSpPr>
        <p:spPr>
          <a:xfrm>
            <a:off x="6038850" y="238125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62" name="u0-slot-1-2"/>
          <p:cNvSpPr/>
          <p:nvPr/>
        </p:nvSpPr>
        <p:spPr>
          <a:xfrm>
            <a:off x="6572250" y="238125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63" name="u0-node-2"/>
          <p:cNvSpPr/>
          <p:nvPr/>
        </p:nvSpPr>
        <p:spPr>
          <a:xfrm>
            <a:off x="5410200" y="4105275"/>
            <a:ext cx="1714500" cy="1104900"/>
          </a:xfrm>
          <a:prstGeom prst="roundRect">
            <a:avLst>
              <a:gd name="adj" fmla="val 6034"/>
            </a:avLst>
          </a:prstGeom>
          <a:solidFill>
            <a:srgbClr val="F0F4F9"/>
          </a:solidFill>
          <a:ln w="19050">
            <a:solidFill>
              <a:srgbClr val="285091"/>
            </a:solidFill>
          </a:ln>
        </p:spPr>
        <p:txBody>
          <a:bodyPr lIns="45718" tIns="45718" rIns="45718" bIns="45718"/>
          <a:lstStyle/>
          <a:p>
            <a:pPr>
              <a:defRPr>
                <a:latin typeface="+mj-lt"/>
                <a:ea typeface="+mj-ea"/>
                <a:cs typeface="+mj-cs"/>
                <a:sym typeface="Helvetica"/>
              </a:defRPr>
            </a:pPr>
          </a:p>
        </p:txBody>
      </p:sp>
      <p:sp>
        <p:nvSpPr>
          <p:cNvPr id="764" name="u0-token-2"/>
          <p:cNvSpPr txBox="1"/>
          <p:nvPr/>
        </p:nvSpPr>
        <p:spPr>
          <a:xfrm>
            <a:off x="5505450" y="4242987"/>
            <a:ext cx="15240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233852"/>
                </a:solidFill>
                <a:latin typeface="Arial"/>
                <a:ea typeface="Arial"/>
                <a:cs typeface="Arial"/>
                <a:sym typeface="Arial"/>
              </a:defRPr>
            </a:lvl1pPr>
          </a:lstStyle>
          <a:p>
            <a:pPr/>
            <a:r>
              <a:t>E F</a:t>
            </a:r>
          </a:p>
        </p:txBody>
      </p:sp>
      <p:sp>
        <p:nvSpPr>
          <p:cNvPr id="765" name="u0-slot-2-0"/>
          <p:cNvSpPr/>
          <p:nvPr/>
        </p:nvSpPr>
        <p:spPr>
          <a:xfrm>
            <a:off x="5505450" y="472440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66" name="u0-slot-2-1"/>
          <p:cNvSpPr/>
          <p:nvPr/>
        </p:nvSpPr>
        <p:spPr>
          <a:xfrm>
            <a:off x="6038850" y="472440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sp>
        <p:nvSpPr>
          <p:cNvPr id="767" name="u0-slot-2-2"/>
          <p:cNvSpPr/>
          <p:nvPr/>
        </p:nvSpPr>
        <p:spPr>
          <a:xfrm>
            <a:off x="6572250" y="4724400"/>
            <a:ext cx="457200" cy="342900"/>
          </a:xfrm>
          <a:prstGeom prst="roundRect">
            <a:avLst>
              <a:gd name="adj" fmla="val 19444"/>
            </a:avLst>
          </a:prstGeom>
          <a:solidFill>
            <a:srgbClr val="FFFFFF"/>
          </a:solidFill>
          <a:ln>
            <a:solidFill>
              <a:srgbClr val="BACADD"/>
            </a:solidFill>
          </a:ln>
        </p:spPr>
        <p:txBody>
          <a:bodyPr lIns="45718" tIns="45718" rIns="45718" bIns="45718"/>
          <a:lstStyle/>
          <a:p>
            <a:pPr>
              <a:defRPr>
                <a:latin typeface="+mj-lt"/>
                <a:ea typeface="+mj-ea"/>
                <a:cs typeface="+mj-cs"/>
                <a:sym typeface="Helvetica"/>
              </a:defRPr>
            </a:pPr>
          </a:p>
        </p:txBody>
      </p:sp>
      <p:cxnSp>
        <p:nvCxnSpPr>
          <p:cNvPr id="768" name="u0-edge-root"/>
          <p:cNvCxnSpPr>
            <a:stCxn id="752" idx="0"/>
            <a:endCxn id="753" idx="0"/>
          </p:cNvCxnSpPr>
          <p:nvPr/>
        </p:nvCxnSpPr>
        <p:spPr>
          <a:xfrm>
            <a:off x="1304925" y="3486150"/>
            <a:ext cx="2124075" cy="0"/>
          </a:xfrm>
          <a:prstGeom prst="straightConnector1">
            <a:avLst/>
          </a:prstGeom>
          <a:ln w="19050">
            <a:solidFill>
              <a:srgbClr val="285091"/>
            </a:solidFill>
          </a:ln>
        </p:spPr>
      </p:cxnSp>
      <p:cxnSp>
        <p:nvCxnSpPr>
          <p:cNvPr id="769" name="u0-edge-cd"/>
          <p:cNvCxnSpPr>
            <a:stCxn id="753" idx="0"/>
            <a:endCxn id="758" idx="0"/>
          </p:cNvCxnSpPr>
          <p:nvPr/>
        </p:nvCxnSpPr>
        <p:spPr>
          <a:xfrm flipV="1">
            <a:off x="3429000" y="2314575"/>
            <a:ext cx="2838450" cy="1171575"/>
          </a:xfrm>
          <a:prstGeom prst="straightConnector1">
            <a:avLst/>
          </a:prstGeom>
          <a:ln w="19050">
            <a:solidFill>
              <a:srgbClr val="285091"/>
            </a:solidFill>
          </a:ln>
        </p:spPr>
      </p:cxnSp>
      <p:cxnSp>
        <p:nvCxnSpPr>
          <p:cNvPr id="770" name="u0-edge-ef"/>
          <p:cNvCxnSpPr>
            <a:stCxn id="753" idx="0"/>
            <a:endCxn id="763" idx="0"/>
          </p:cNvCxnSpPr>
          <p:nvPr/>
        </p:nvCxnSpPr>
        <p:spPr>
          <a:xfrm>
            <a:off x="3429000" y="3486150"/>
            <a:ext cx="2838450" cy="1171575"/>
          </a:xfrm>
          <a:prstGeom prst="straightConnector1">
            <a:avLst/>
          </a:prstGeom>
          <a:ln w="19050">
            <a:solidFill>
              <a:srgbClr val="285091"/>
            </a:solidFill>
          </a:ln>
        </p:spPr>
      </p:cxnSp>
      <p:sp>
        <p:nvSpPr>
          <p:cNvPr id="771" name="u0-core-label"/>
          <p:cNvSpPr txBox="1"/>
          <p:nvPr/>
        </p:nvSpPr>
        <p:spPr>
          <a:xfrm>
            <a:off x="904875" y="1870639"/>
            <a:ext cx="2286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85091"/>
                </a:solidFill>
                <a:latin typeface="Arial"/>
                <a:ea typeface="Arial"/>
                <a:cs typeface="Arial"/>
                <a:sym typeface="Arial"/>
              </a:defRPr>
            </a:lvl1pPr>
          </a:lstStyle>
          <a:p>
            <a:pPr/>
            <a:r>
              <a:t>UnifiedTreeCore</a:t>
            </a:r>
          </a:p>
        </p:txBody>
      </p:sp>
      <p:sp>
        <p:nvSpPr>
          <p:cNvPr id="772" name="u0-core-ops"/>
          <p:cNvSpPr txBox="1"/>
          <p:nvPr/>
        </p:nvSpPr>
        <p:spPr>
          <a:xfrm>
            <a:off x="1133475" y="5425807"/>
            <a:ext cx="6191250" cy="1973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86B80"/>
                </a:solidFill>
                <a:latin typeface="Arial"/>
                <a:ea typeface="Arial"/>
                <a:cs typeface="Arial"/>
                <a:sym typeface="Arial"/>
              </a:defRPr>
            </a:lvl1pPr>
          </a:lstStyle>
          <a:p>
            <a:pPr/>
            <a:r>
              <a:t>match  ·  split  ·  insert  ·  lock  ·  evict</a:t>
            </a:r>
          </a:p>
        </p:txBody>
      </p:sp>
      <p:sp>
        <p:nvSpPr>
          <p:cNvPr id="773" name="u0-takeaway"/>
          <p:cNvSpPr txBox="1"/>
          <p:nvPr/>
        </p:nvSpPr>
        <p:spPr>
          <a:xfrm>
            <a:off x="3000375" y="5808662"/>
            <a:ext cx="790575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33852"/>
                </a:solidFill>
                <a:latin typeface="+mj-lt"/>
                <a:ea typeface="+mj-ea"/>
                <a:cs typeface="+mj-cs"/>
                <a:sym typeface="Helvetica"/>
              </a:defRPr>
            </a:lvl1pPr>
          </a:lstStyle>
          <a:p>
            <a:pPr/>
            <a:r>
              <a:t>Share nodes and tree operations; components define reuse rules.</a:t>
            </a:r>
          </a:p>
        </p:txBody>
      </p:sp>
      <p:grpSp>
        <p:nvGrpSpPr>
          <p:cNvPr id="793" name="Component 1"/>
          <p:cNvGrpSpPr/>
          <p:nvPr/>
        </p:nvGrpSpPr>
        <p:grpSpPr>
          <a:xfrm>
            <a:off x="2666999" y="2011169"/>
            <a:ext cx="8667751" cy="3056132"/>
            <a:chOff x="0" y="0"/>
            <a:chExt cx="8667750" cy="3056131"/>
          </a:xfrm>
        </p:grpSpPr>
        <p:grpSp>
          <p:nvGrpSpPr>
            <p:cNvPr id="776" name="u1-slot-0"/>
            <p:cNvGrpSpPr/>
            <p:nvPr/>
          </p:nvGrpSpPr>
          <p:grpSpPr>
            <a:xfrm>
              <a:off x="-1" y="1541654"/>
              <a:ext cx="457201" cy="342902"/>
              <a:chOff x="0" y="0"/>
              <a:chExt cx="457200" cy="342901"/>
            </a:xfrm>
          </p:grpSpPr>
          <p:sp>
            <p:nvSpPr>
              <p:cNvPr id="774" name="Rounded Rectangle"/>
              <p:cNvSpPr/>
              <p:nvPr/>
            </p:nvSpPr>
            <p:spPr>
              <a:xfrm>
                <a:off x="0" y="0"/>
                <a:ext cx="457200" cy="342902"/>
              </a:xfrm>
              <a:prstGeom prst="roundRect">
                <a:avLst>
                  <a:gd name="adj" fmla="val 19444"/>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775" name="F"/>
              <p:cNvSpPr txBox="1"/>
              <p:nvPr/>
            </p:nvSpPr>
            <p:spPr>
              <a:xfrm>
                <a:off x="29051" y="60473"/>
                <a:ext cx="399098"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F</a:t>
                </a:r>
              </a:p>
            </p:txBody>
          </p:sp>
        </p:grpSp>
        <p:grpSp>
          <p:nvGrpSpPr>
            <p:cNvPr id="779" name="u1-slot-1"/>
            <p:cNvGrpSpPr/>
            <p:nvPr/>
          </p:nvGrpSpPr>
          <p:grpSpPr>
            <a:xfrm>
              <a:off x="2838450" y="370079"/>
              <a:ext cx="457200" cy="342902"/>
              <a:chOff x="0" y="0"/>
              <a:chExt cx="457200" cy="342901"/>
            </a:xfrm>
          </p:grpSpPr>
          <p:sp>
            <p:nvSpPr>
              <p:cNvPr id="777" name="Rounded Rectangle"/>
              <p:cNvSpPr/>
              <p:nvPr/>
            </p:nvSpPr>
            <p:spPr>
              <a:xfrm>
                <a:off x="0" y="0"/>
                <a:ext cx="457200" cy="342902"/>
              </a:xfrm>
              <a:prstGeom prst="roundRect">
                <a:avLst>
                  <a:gd name="adj" fmla="val 19444"/>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778" name="F"/>
              <p:cNvSpPr txBox="1"/>
              <p:nvPr/>
            </p:nvSpPr>
            <p:spPr>
              <a:xfrm>
                <a:off x="29051" y="60473"/>
                <a:ext cx="399098"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F</a:t>
                </a:r>
              </a:p>
            </p:txBody>
          </p:sp>
        </p:grpSp>
        <p:grpSp>
          <p:nvGrpSpPr>
            <p:cNvPr id="782" name="u1-slot-2"/>
            <p:cNvGrpSpPr/>
            <p:nvPr/>
          </p:nvGrpSpPr>
          <p:grpSpPr>
            <a:xfrm>
              <a:off x="2838450" y="2713229"/>
              <a:ext cx="457200" cy="342902"/>
              <a:chOff x="0" y="0"/>
              <a:chExt cx="457200" cy="342901"/>
            </a:xfrm>
          </p:grpSpPr>
          <p:sp>
            <p:nvSpPr>
              <p:cNvPr id="780" name="Rounded Rectangle"/>
              <p:cNvSpPr/>
              <p:nvPr/>
            </p:nvSpPr>
            <p:spPr>
              <a:xfrm>
                <a:off x="0" y="0"/>
                <a:ext cx="457200" cy="342902"/>
              </a:xfrm>
              <a:prstGeom prst="roundRect">
                <a:avLst>
                  <a:gd name="adj" fmla="val 19444"/>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781" name="F"/>
              <p:cNvSpPr txBox="1"/>
              <p:nvPr/>
            </p:nvSpPr>
            <p:spPr>
              <a:xfrm>
                <a:off x="29051" y="60473"/>
                <a:ext cx="399098"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F</a:t>
                </a:r>
              </a:p>
            </p:txBody>
          </p:sp>
        </p:grpSp>
        <p:grpSp>
          <p:nvGrpSpPr>
            <p:cNvPr id="785" name="u1-legend-mark"/>
            <p:cNvGrpSpPr/>
            <p:nvPr/>
          </p:nvGrpSpPr>
          <p:grpSpPr>
            <a:xfrm>
              <a:off x="5210175" y="17654"/>
              <a:ext cx="419100" cy="419102"/>
              <a:chOff x="0" y="0"/>
              <a:chExt cx="419100" cy="419101"/>
            </a:xfrm>
          </p:grpSpPr>
          <p:sp>
            <p:nvSpPr>
              <p:cNvPr id="783" name="Rounded Rectangle"/>
              <p:cNvSpPr/>
              <p:nvPr/>
            </p:nvSpPr>
            <p:spPr>
              <a:xfrm>
                <a:off x="0" y="0"/>
                <a:ext cx="419100" cy="419102"/>
              </a:xfrm>
              <a:prstGeom prst="roundRect">
                <a:avLst>
                  <a:gd name="adj" fmla="val 15909"/>
                </a:avLst>
              </a:prstGeom>
              <a:solidFill>
                <a:srgbClr val="285091"/>
              </a:solidFill>
              <a:ln w="19050" cap="flat">
                <a:solidFill>
                  <a:srgbClr val="285091"/>
                </a:solidFill>
                <a:prstDash val="solid"/>
                <a:round/>
              </a:ln>
              <a:effectLst/>
            </p:spPr>
            <p:txBody>
              <a:bodyPr wrap="square" lIns="45718" tIns="45718" rIns="45718" bIns="45718" numCol="1" anchor="ctr">
                <a:noAutofit/>
              </a:bodyPr>
              <a:lstStyle/>
              <a:p>
                <a:pPr algn="ctr">
                  <a:defRPr b="1" sz="1900">
                    <a:solidFill>
                      <a:srgbClr val="FFFFFF"/>
                    </a:solidFill>
                    <a:latin typeface="Arial"/>
                    <a:ea typeface="Arial"/>
                    <a:cs typeface="Arial"/>
                    <a:sym typeface="Arial"/>
                  </a:defRPr>
                </a:pPr>
              </a:p>
            </p:txBody>
          </p:sp>
          <p:sp>
            <p:nvSpPr>
              <p:cNvPr id="784" name="F"/>
              <p:cNvSpPr txBox="1"/>
              <p:nvPr/>
            </p:nvSpPr>
            <p:spPr>
              <a:xfrm>
                <a:off x="29051" y="73797"/>
                <a:ext cx="360998"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FFFFFF"/>
                    </a:solidFill>
                    <a:latin typeface="Arial"/>
                    <a:ea typeface="Arial"/>
                    <a:cs typeface="Arial"/>
                    <a:sym typeface="Arial"/>
                  </a:defRPr>
                </a:lvl1pPr>
              </a:lstStyle>
              <a:p>
                <a:pPr/>
                <a:r>
                  <a:t>F</a:t>
                </a:r>
              </a:p>
            </p:txBody>
          </p:sp>
        </p:grpSp>
        <p:sp>
          <p:nvSpPr>
            <p:cNvPr id="786" name="u1-legend-title"/>
            <p:cNvSpPr txBox="1"/>
            <p:nvPr/>
          </p:nvSpPr>
          <p:spPr>
            <a:xfrm>
              <a:off x="5810250" y="-1"/>
              <a:ext cx="2686050" cy="321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200">
                  <a:solidFill>
                    <a:srgbClr val="285091"/>
                  </a:solidFill>
                  <a:latin typeface="Arial"/>
                  <a:ea typeface="Arial"/>
                  <a:cs typeface="Arial"/>
                  <a:sym typeface="Arial"/>
                </a:defRPr>
              </a:lvl1pPr>
            </a:lstStyle>
            <a:p>
              <a:pPr/>
              <a:r>
                <a:t>FULL</a:t>
              </a:r>
            </a:p>
          </p:txBody>
        </p:sp>
        <p:sp>
          <p:nvSpPr>
            <p:cNvPr id="787" name="u1-legend-rule"/>
            <p:cNvSpPr txBox="1"/>
            <p:nvPr/>
          </p:nvSpPr>
          <p:spPr>
            <a:xfrm>
              <a:off x="5810250" y="425642"/>
              <a:ext cx="285750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All KV</a:t>
              </a:r>
            </a:p>
          </p:txBody>
        </p:sp>
        <p:grpSp>
          <p:nvGrpSpPr>
            <p:cNvPr id="790" name="u1-sidecar"/>
            <p:cNvGrpSpPr/>
            <p:nvPr/>
          </p:nvGrpSpPr>
          <p:grpSpPr>
            <a:xfrm>
              <a:off x="7524750" y="8129"/>
              <a:ext cx="1028700" cy="400052"/>
              <a:chOff x="0" y="0"/>
              <a:chExt cx="1028700" cy="400051"/>
            </a:xfrm>
          </p:grpSpPr>
          <p:sp>
            <p:nvSpPr>
              <p:cNvPr id="788" name="Rounded Rectangle"/>
              <p:cNvSpPr/>
              <p:nvPr/>
            </p:nvSpPr>
            <p:spPr>
              <a:xfrm>
                <a:off x="0" y="0"/>
                <a:ext cx="1028700" cy="400052"/>
              </a:xfrm>
              <a:prstGeom prst="roundRect">
                <a:avLst>
                  <a:gd name="adj" fmla="val 16667"/>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1500">
                    <a:solidFill>
                      <a:srgbClr val="158A70"/>
                    </a:solidFill>
                    <a:latin typeface="Arial"/>
                    <a:ea typeface="Arial"/>
                    <a:cs typeface="Arial"/>
                    <a:sym typeface="Arial"/>
                  </a:defRPr>
                </a:pPr>
              </a:p>
            </p:txBody>
          </p:sp>
          <p:sp>
            <p:nvSpPr>
              <p:cNvPr id="789" name="C128"/>
              <p:cNvSpPr txBox="1"/>
              <p:nvPr/>
            </p:nvSpPr>
            <p:spPr>
              <a:xfrm>
                <a:off x="29052" y="95191"/>
                <a:ext cx="970596"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158A70"/>
                    </a:solidFill>
                    <a:latin typeface="Arial"/>
                    <a:ea typeface="Arial"/>
                    <a:cs typeface="Arial"/>
                    <a:sym typeface="Arial"/>
                  </a:defRPr>
                </a:lvl1pPr>
              </a:lstStyle>
              <a:p>
                <a:pPr/>
                <a:r>
                  <a:t>C128</a:t>
                </a:r>
              </a:p>
            </p:txBody>
          </p:sp>
        </p:grpSp>
        <p:sp>
          <p:nvSpPr>
            <p:cNvPr id="791" name="u1-sidecar-note"/>
            <p:cNvSpPr txBox="1"/>
            <p:nvPr/>
          </p:nvSpPr>
          <p:spPr>
            <a:xfrm>
              <a:off x="7667625" y="459885"/>
              <a:ext cx="866775"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158A70"/>
                  </a:solidFill>
                  <a:latin typeface="Arial"/>
                  <a:ea typeface="Arial"/>
                  <a:cs typeface="Arial"/>
                  <a:sym typeface="Arial"/>
                </a:defRPr>
              </a:lvl1pPr>
            </a:lstStyle>
            <a:p>
              <a:pPr/>
              <a:r>
                <a:t>sidecar</a:t>
              </a:r>
            </a:p>
          </p:txBody>
        </p:sp>
        <p:sp>
          <p:nvSpPr>
            <p:cNvPr id="792" name="u1-sidecar-link"/>
            <p:cNvSpPr/>
            <p:nvPr/>
          </p:nvSpPr>
          <p:spPr>
            <a:xfrm>
              <a:off x="6905625" y="208154"/>
              <a:ext cx="552450" cy="19052"/>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grpSp>
        <p:nvGrpSpPr>
          <p:cNvPr id="808" name="Component 2"/>
          <p:cNvGrpSpPr/>
          <p:nvPr/>
        </p:nvGrpSpPr>
        <p:grpSpPr>
          <a:xfrm>
            <a:off x="3200399" y="2381249"/>
            <a:ext cx="8134351" cy="2686051"/>
            <a:chOff x="0" y="0"/>
            <a:chExt cx="8134350" cy="2686050"/>
          </a:xfrm>
        </p:grpSpPr>
        <p:grpSp>
          <p:nvGrpSpPr>
            <p:cNvPr id="796" name="u2-slot-0"/>
            <p:cNvGrpSpPr/>
            <p:nvPr/>
          </p:nvGrpSpPr>
          <p:grpSpPr>
            <a:xfrm>
              <a:off x="-1" y="1171575"/>
              <a:ext cx="457201" cy="342900"/>
              <a:chOff x="0" y="0"/>
              <a:chExt cx="457200" cy="342900"/>
            </a:xfrm>
          </p:grpSpPr>
          <p:sp>
            <p:nvSpPr>
              <p:cNvPr id="794" name="Rounded Rectangle"/>
              <p:cNvSpPr/>
              <p:nvPr/>
            </p:nvSpPr>
            <p:spPr>
              <a:xfrm>
                <a:off x="0" y="0"/>
                <a:ext cx="457200" cy="342900"/>
              </a:xfrm>
              <a:prstGeom prst="roundRect">
                <a:avLst>
                  <a:gd name="adj" fmla="val 19444"/>
                </a:avLst>
              </a:prstGeom>
              <a:solidFill>
                <a:srgbClr val="B67A00"/>
              </a:solidFill>
              <a:ln w="19050" cap="flat">
                <a:solidFill>
                  <a:srgbClr val="B67A00"/>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795" name="S"/>
              <p:cNvSpPr txBox="1"/>
              <p:nvPr/>
            </p:nvSpPr>
            <p:spPr>
              <a:xfrm>
                <a:off x="29051" y="60472"/>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S</a:t>
                </a:r>
              </a:p>
            </p:txBody>
          </p:sp>
        </p:grpSp>
        <p:grpSp>
          <p:nvGrpSpPr>
            <p:cNvPr id="799" name="u2-slot-1"/>
            <p:cNvGrpSpPr/>
            <p:nvPr/>
          </p:nvGrpSpPr>
          <p:grpSpPr>
            <a:xfrm>
              <a:off x="2838450" y="-1"/>
              <a:ext cx="457200" cy="342901"/>
              <a:chOff x="0" y="0"/>
              <a:chExt cx="457200" cy="342900"/>
            </a:xfrm>
          </p:grpSpPr>
          <p:sp>
            <p:nvSpPr>
              <p:cNvPr id="797" name="Rounded Rectangle"/>
              <p:cNvSpPr/>
              <p:nvPr/>
            </p:nvSpPr>
            <p:spPr>
              <a:xfrm>
                <a:off x="0" y="0"/>
                <a:ext cx="457200" cy="342900"/>
              </a:xfrm>
              <a:prstGeom prst="roundRect">
                <a:avLst>
                  <a:gd name="adj" fmla="val 19444"/>
                </a:avLst>
              </a:prstGeom>
              <a:solidFill>
                <a:srgbClr val="B67A00"/>
              </a:solidFill>
              <a:ln w="19050" cap="flat">
                <a:solidFill>
                  <a:srgbClr val="B67A00"/>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798" name="S"/>
              <p:cNvSpPr txBox="1"/>
              <p:nvPr/>
            </p:nvSpPr>
            <p:spPr>
              <a:xfrm>
                <a:off x="29051" y="60472"/>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S</a:t>
                </a:r>
              </a:p>
            </p:txBody>
          </p:sp>
        </p:grpSp>
        <p:grpSp>
          <p:nvGrpSpPr>
            <p:cNvPr id="802" name="u2-slot-2"/>
            <p:cNvGrpSpPr/>
            <p:nvPr/>
          </p:nvGrpSpPr>
          <p:grpSpPr>
            <a:xfrm>
              <a:off x="2838450" y="2343150"/>
              <a:ext cx="457200" cy="342900"/>
              <a:chOff x="0" y="0"/>
              <a:chExt cx="457200" cy="342900"/>
            </a:xfrm>
          </p:grpSpPr>
          <p:sp>
            <p:nvSpPr>
              <p:cNvPr id="800" name="Rounded Rectangle"/>
              <p:cNvSpPr/>
              <p:nvPr/>
            </p:nvSpPr>
            <p:spPr>
              <a:xfrm>
                <a:off x="0" y="0"/>
                <a:ext cx="457200" cy="342900"/>
              </a:xfrm>
              <a:prstGeom prst="roundRect">
                <a:avLst>
                  <a:gd name="adj" fmla="val 19444"/>
                </a:avLst>
              </a:prstGeom>
              <a:solidFill>
                <a:srgbClr val="B67A00"/>
              </a:solidFill>
              <a:ln w="19050" cap="flat">
                <a:solidFill>
                  <a:srgbClr val="B67A00"/>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801" name="S"/>
              <p:cNvSpPr txBox="1"/>
              <p:nvPr/>
            </p:nvSpPr>
            <p:spPr>
              <a:xfrm>
                <a:off x="29051" y="60472"/>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S</a:t>
                </a:r>
              </a:p>
            </p:txBody>
          </p:sp>
        </p:grpSp>
        <p:grpSp>
          <p:nvGrpSpPr>
            <p:cNvPr id="805" name="u2-legend-mark"/>
            <p:cNvGrpSpPr/>
            <p:nvPr/>
          </p:nvGrpSpPr>
          <p:grpSpPr>
            <a:xfrm>
              <a:off x="4676775" y="895350"/>
              <a:ext cx="419100" cy="419100"/>
              <a:chOff x="0" y="0"/>
              <a:chExt cx="419100" cy="419100"/>
            </a:xfrm>
          </p:grpSpPr>
          <p:sp>
            <p:nvSpPr>
              <p:cNvPr id="803" name="Rounded Rectangle"/>
              <p:cNvSpPr/>
              <p:nvPr/>
            </p:nvSpPr>
            <p:spPr>
              <a:xfrm>
                <a:off x="0" y="0"/>
                <a:ext cx="419100" cy="419100"/>
              </a:xfrm>
              <a:prstGeom prst="roundRect">
                <a:avLst>
                  <a:gd name="adj" fmla="val 15909"/>
                </a:avLst>
              </a:prstGeom>
              <a:solidFill>
                <a:srgbClr val="B67A00"/>
              </a:solidFill>
              <a:ln w="19050" cap="flat">
                <a:solidFill>
                  <a:srgbClr val="B67A00"/>
                </a:solidFill>
                <a:prstDash val="solid"/>
                <a:round/>
              </a:ln>
              <a:effectLst/>
            </p:spPr>
            <p:txBody>
              <a:bodyPr wrap="square" lIns="45718" tIns="45718" rIns="45718" bIns="45718" numCol="1" anchor="ctr">
                <a:noAutofit/>
              </a:bodyPr>
              <a:lstStyle/>
              <a:p>
                <a:pPr algn="ctr">
                  <a:defRPr b="1" sz="1900">
                    <a:solidFill>
                      <a:srgbClr val="FFFFFF"/>
                    </a:solidFill>
                    <a:latin typeface="Arial"/>
                    <a:ea typeface="Arial"/>
                    <a:cs typeface="Arial"/>
                    <a:sym typeface="Arial"/>
                  </a:defRPr>
                </a:pPr>
              </a:p>
            </p:txBody>
          </p:sp>
          <p:sp>
            <p:nvSpPr>
              <p:cNvPr id="804" name="S"/>
              <p:cNvSpPr txBox="1"/>
              <p:nvPr/>
            </p:nvSpPr>
            <p:spPr>
              <a:xfrm>
                <a:off x="29051" y="73796"/>
                <a:ext cx="360998" cy="27150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FFFFFF"/>
                    </a:solidFill>
                    <a:latin typeface="Arial"/>
                    <a:ea typeface="Arial"/>
                    <a:cs typeface="Arial"/>
                    <a:sym typeface="Arial"/>
                  </a:defRPr>
                </a:lvl1pPr>
              </a:lstStyle>
              <a:p>
                <a:pPr/>
                <a:r>
                  <a:t>S</a:t>
                </a:r>
              </a:p>
            </p:txBody>
          </p:sp>
        </p:grpSp>
        <p:sp>
          <p:nvSpPr>
            <p:cNvPr id="806" name="u2-legend-title"/>
            <p:cNvSpPr txBox="1"/>
            <p:nvPr/>
          </p:nvSpPr>
          <p:spPr>
            <a:xfrm>
              <a:off x="5276850" y="877694"/>
              <a:ext cx="2686050" cy="32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200">
                  <a:solidFill>
                    <a:srgbClr val="B67A00"/>
                  </a:solidFill>
                  <a:latin typeface="Arial"/>
                  <a:ea typeface="Arial"/>
                  <a:cs typeface="Arial"/>
                  <a:sym typeface="Arial"/>
                </a:defRPr>
              </a:lvl1pPr>
            </a:lstStyle>
            <a:p>
              <a:pPr/>
              <a:r>
                <a:t>SWA</a:t>
              </a:r>
            </a:p>
          </p:txBody>
        </p:sp>
        <p:sp>
          <p:nvSpPr>
            <p:cNvPr id="807" name="u2-legend-rule"/>
            <p:cNvSpPr txBox="1"/>
            <p:nvPr/>
          </p:nvSpPr>
          <p:spPr>
            <a:xfrm>
              <a:off x="5276850" y="1303337"/>
              <a:ext cx="285750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a:solidFill>
                    <a:srgbClr val="233852"/>
                  </a:solidFill>
                  <a:latin typeface="Arial"/>
                  <a:ea typeface="Arial"/>
                  <a:cs typeface="Arial"/>
                  <a:sym typeface="Arial"/>
                </a:defRPr>
              </a:pPr>
              <a:r>
                <a:t>Trailing window </a:t>
              </a:r>
              <a:r>
                <a:rPr>
                  <a:latin typeface="+mj-lt"/>
                  <a:ea typeface="+mj-ea"/>
                  <a:cs typeface="+mj-cs"/>
                  <a:sym typeface="Helvetica"/>
                </a:rPr>
                <a:t>KV</a:t>
              </a:r>
            </a:p>
          </p:txBody>
        </p:sp>
      </p:grpSp>
      <p:grpSp>
        <p:nvGrpSpPr>
          <p:cNvPr id="823" name="Component 3"/>
          <p:cNvGrpSpPr/>
          <p:nvPr/>
        </p:nvGrpSpPr>
        <p:grpSpPr>
          <a:xfrm>
            <a:off x="3733800" y="2381250"/>
            <a:ext cx="7600950" cy="2686050"/>
            <a:chOff x="0" y="0"/>
            <a:chExt cx="7600950" cy="2686050"/>
          </a:xfrm>
        </p:grpSpPr>
        <p:grpSp>
          <p:nvGrpSpPr>
            <p:cNvPr id="811" name="u3-slot-0"/>
            <p:cNvGrpSpPr/>
            <p:nvPr/>
          </p:nvGrpSpPr>
          <p:grpSpPr>
            <a:xfrm>
              <a:off x="0" y="1171575"/>
              <a:ext cx="457200" cy="342900"/>
              <a:chOff x="0" y="0"/>
              <a:chExt cx="457200" cy="342900"/>
            </a:xfrm>
          </p:grpSpPr>
          <p:sp>
            <p:nvSpPr>
              <p:cNvPr id="809" name="Rounded Rectangle"/>
              <p:cNvSpPr/>
              <p:nvPr/>
            </p:nvSpPr>
            <p:spPr>
              <a:xfrm>
                <a:off x="0" y="0"/>
                <a:ext cx="457200" cy="342900"/>
              </a:xfrm>
              <a:prstGeom prst="roundRect">
                <a:avLst>
                  <a:gd name="adj" fmla="val 19444"/>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810" name="M"/>
              <p:cNvSpPr txBox="1"/>
              <p:nvPr/>
            </p:nvSpPr>
            <p:spPr>
              <a:xfrm>
                <a:off x="29051" y="61108"/>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M</a:t>
                </a:r>
              </a:p>
            </p:txBody>
          </p:sp>
        </p:grpSp>
        <p:grpSp>
          <p:nvGrpSpPr>
            <p:cNvPr id="814" name="u3-slot-1"/>
            <p:cNvGrpSpPr/>
            <p:nvPr/>
          </p:nvGrpSpPr>
          <p:grpSpPr>
            <a:xfrm>
              <a:off x="2838450" y="0"/>
              <a:ext cx="457200" cy="342900"/>
              <a:chOff x="0" y="0"/>
              <a:chExt cx="457200" cy="342900"/>
            </a:xfrm>
          </p:grpSpPr>
          <p:sp>
            <p:nvSpPr>
              <p:cNvPr id="812" name="Rounded Rectangle"/>
              <p:cNvSpPr/>
              <p:nvPr/>
            </p:nvSpPr>
            <p:spPr>
              <a:xfrm>
                <a:off x="0" y="0"/>
                <a:ext cx="457200" cy="342900"/>
              </a:xfrm>
              <a:prstGeom prst="roundRect">
                <a:avLst>
                  <a:gd name="adj" fmla="val 19444"/>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813" name="M"/>
              <p:cNvSpPr txBox="1"/>
              <p:nvPr/>
            </p:nvSpPr>
            <p:spPr>
              <a:xfrm>
                <a:off x="29051" y="61108"/>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M</a:t>
                </a:r>
              </a:p>
            </p:txBody>
          </p:sp>
        </p:grpSp>
        <p:grpSp>
          <p:nvGrpSpPr>
            <p:cNvPr id="817" name="u3-slot-2"/>
            <p:cNvGrpSpPr/>
            <p:nvPr/>
          </p:nvGrpSpPr>
          <p:grpSpPr>
            <a:xfrm>
              <a:off x="2838450" y="2343150"/>
              <a:ext cx="457200" cy="342900"/>
              <a:chOff x="0" y="0"/>
              <a:chExt cx="457200" cy="342900"/>
            </a:xfrm>
          </p:grpSpPr>
          <p:sp>
            <p:nvSpPr>
              <p:cNvPr id="815" name="Rounded Rectangle"/>
              <p:cNvSpPr/>
              <p:nvPr/>
            </p:nvSpPr>
            <p:spPr>
              <a:xfrm>
                <a:off x="0" y="0"/>
                <a:ext cx="457200" cy="342900"/>
              </a:xfrm>
              <a:prstGeom prst="roundRect">
                <a:avLst>
                  <a:gd name="adj" fmla="val 19444"/>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1600">
                    <a:solidFill>
                      <a:srgbClr val="FFFFFF"/>
                    </a:solidFill>
                    <a:latin typeface="Arial"/>
                    <a:ea typeface="Arial"/>
                    <a:cs typeface="Arial"/>
                    <a:sym typeface="Arial"/>
                  </a:defRPr>
                </a:pPr>
              </a:p>
            </p:txBody>
          </p:sp>
          <p:sp>
            <p:nvSpPr>
              <p:cNvPr id="816" name="M"/>
              <p:cNvSpPr txBox="1"/>
              <p:nvPr/>
            </p:nvSpPr>
            <p:spPr>
              <a:xfrm>
                <a:off x="29051" y="61108"/>
                <a:ext cx="399098"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M</a:t>
                </a:r>
              </a:p>
            </p:txBody>
          </p:sp>
        </p:grpSp>
        <p:grpSp>
          <p:nvGrpSpPr>
            <p:cNvPr id="820" name="u3-legend-mark"/>
            <p:cNvGrpSpPr/>
            <p:nvPr/>
          </p:nvGrpSpPr>
          <p:grpSpPr>
            <a:xfrm>
              <a:off x="4143375" y="2009775"/>
              <a:ext cx="419100" cy="419100"/>
              <a:chOff x="0" y="0"/>
              <a:chExt cx="419100" cy="419100"/>
            </a:xfrm>
          </p:grpSpPr>
          <p:sp>
            <p:nvSpPr>
              <p:cNvPr id="818" name="Rounded Rectangle"/>
              <p:cNvSpPr/>
              <p:nvPr/>
            </p:nvSpPr>
            <p:spPr>
              <a:xfrm>
                <a:off x="0" y="0"/>
                <a:ext cx="419100" cy="419100"/>
              </a:xfrm>
              <a:prstGeom prst="roundRect">
                <a:avLst>
                  <a:gd name="adj" fmla="val 15909"/>
                </a:avLst>
              </a:prstGeom>
              <a:solidFill>
                <a:srgbClr val="8056BF"/>
              </a:solidFill>
              <a:ln w="19050" cap="flat">
                <a:solidFill>
                  <a:srgbClr val="8056BF"/>
                </a:solidFill>
                <a:prstDash val="solid"/>
                <a:round/>
              </a:ln>
              <a:effectLst/>
            </p:spPr>
            <p:txBody>
              <a:bodyPr wrap="square" lIns="45718" tIns="45718" rIns="45718" bIns="45718" numCol="1" anchor="ctr">
                <a:noAutofit/>
              </a:bodyPr>
              <a:lstStyle/>
              <a:p>
                <a:pPr algn="ctr">
                  <a:defRPr b="1" sz="1900">
                    <a:solidFill>
                      <a:srgbClr val="FFFFFF"/>
                    </a:solidFill>
                    <a:latin typeface="Arial"/>
                    <a:ea typeface="Arial"/>
                    <a:cs typeface="Arial"/>
                    <a:sym typeface="Arial"/>
                  </a:defRPr>
                </a:pPr>
              </a:p>
            </p:txBody>
          </p:sp>
          <p:sp>
            <p:nvSpPr>
              <p:cNvPr id="819" name="M"/>
              <p:cNvSpPr txBox="1"/>
              <p:nvPr/>
            </p:nvSpPr>
            <p:spPr>
              <a:xfrm>
                <a:off x="29051" y="74432"/>
                <a:ext cx="360998" cy="271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FFFFFF"/>
                    </a:solidFill>
                    <a:latin typeface="Arial"/>
                    <a:ea typeface="Arial"/>
                    <a:cs typeface="Arial"/>
                    <a:sym typeface="Arial"/>
                  </a:defRPr>
                </a:lvl1pPr>
              </a:lstStyle>
              <a:p>
                <a:pPr/>
                <a:r>
                  <a:t>M</a:t>
                </a:r>
              </a:p>
            </p:txBody>
          </p:sp>
        </p:grpSp>
        <p:sp>
          <p:nvSpPr>
            <p:cNvPr id="821" name="u3-legend-title"/>
            <p:cNvSpPr txBox="1"/>
            <p:nvPr/>
          </p:nvSpPr>
          <p:spPr>
            <a:xfrm>
              <a:off x="4743450" y="1992755"/>
              <a:ext cx="2686050" cy="321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200">
                  <a:solidFill>
                    <a:srgbClr val="8056BF"/>
                  </a:solidFill>
                  <a:latin typeface="Arial"/>
                  <a:ea typeface="Arial"/>
                  <a:cs typeface="Arial"/>
                  <a:sym typeface="Arial"/>
                </a:defRPr>
              </a:lvl1pPr>
            </a:lstStyle>
            <a:p>
              <a:pPr/>
              <a:r>
                <a:t>MAMBA</a:t>
              </a:r>
            </a:p>
          </p:txBody>
        </p:sp>
        <p:sp>
          <p:nvSpPr>
            <p:cNvPr id="822" name="u3-legend-rule"/>
            <p:cNvSpPr/>
            <p:nvPr/>
          </p:nvSpPr>
          <p:spPr>
            <a:xfrm>
              <a:off x="4743450" y="2557462"/>
              <a:ext cx="28575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Boundary checkpoint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93"/>
                                        </p:tgtEl>
                                        <p:attrNameLst>
                                          <p:attrName>style.visibility</p:attrName>
                                        </p:attrNameLst>
                                      </p:cBhvr>
                                      <p:to>
                                        <p:strVal val="visible"/>
                                      </p:to>
                                    </p:set>
                                    <p:animEffect filter="fade" transition="in">
                                      <p:cBhvr>
                                        <p:cTn id="7" dur="450"/>
                                        <p:tgtEl>
                                          <p:spTgt spid="79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808"/>
                                        </p:tgtEl>
                                        <p:attrNameLst>
                                          <p:attrName>style.visibility</p:attrName>
                                        </p:attrNameLst>
                                      </p:cBhvr>
                                      <p:to>
                                        <p:strVal val="visible"/>
                                      </p:to>
                                    </p:set>
                                    <p:animEffect filter="fade" transition="in">
                                      <p:cBhvr>
                                        <p:cTn id="12" dur="450"/>
                                        <p:tgtEl>
                                          <p:spTgt spid="80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823"/>
                                        </p:tgtEl>
                                        <p:attrNameLst>
                                          <p:attrName>style.visibility</p:attrName>
                                        </p:attrNameLst>
                                      </p:cBhvr>
                                      <p:to>
                                        <p:strVal val="visible"/>
                                      </p:to>
                                    </p:set>
                                    <p:animEffect filter="fade" transition="in">
                                      <p:cBhvr>
                                        <p:cTn id="17" dur="450"/>
                                        <p:tgtEl>
                                          <p:spTgt spid="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23" grpId="3"/>
      <p:bldP build="whole" bldLvl="1" animBg="1" rev="0" advAuto="0" spid="793" grpId="1"/>
      <p:bldP build="whole" bldLvl="1" animBg="1" rev="0" advAuto="0" spid="808" grpId="2"/>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7"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Unified Radix Tree: Safe Reuse Boundaries</a:t>
            </a:r>
          </a:p>
        </p:txBody>
      </p:sp>
      <p:sp>
        <p:nvSpPr>
          <p:cNvPr id="828"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19</a:t>
            </a:r>
          </a:p>
        </p:txBody>
      </p:sp>
      <p:pic>
        <p:nvPicPr>
          <p:cNvPr id="829"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830"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grpSp>
        <p:nvGrpSpPr>
          <p:cNvPr id="903" name="Check boundary 0"/>
          <p:cNvGrpSpPr/>
          <p:nvPr/>
        </p:nvGrpSpPr>
        <p:grpSpPr>
          <a:xfrm>
            <a:off x="714375" y="838199"/>
            <a:ext cx="10715625" cy="5112386"/>
            <a:chOff x="0" y="0"/>
            <a:chExt cx="10715625" cy="5112384"/>
          </a:xfrm>
        </p:grpSpPr>
        <p:sp>
          <p:nvSpPr>
            <p:cNvPr id="831"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832"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mj-lt"/>
                  <a:ea typeface="+mj-ea"/>
                  <a:cs typeface="+mj-cs"/>
                  <a:sym typeface="Helvetica"/>
                </a:defRPr>
              </a:lvl1pPr>
            </a:lstStyle>
            <a:p>
              <a:pPr/>
              <a:r>
                <a:t>Check each candidate boundary along the matched path</a:t>
              </a:r>
            </a:p>
          </p:txBody>
        </p:sp>
        <p:grpSp>
          <p:nvGrpSpPr>
            <p:cNvPr id="835" name="v-node-0"/>
            <p:cNvGrpSpPr/>
            <p:nvPr/>
          </p:nvGrpSpPr>
          <p:grpSpPr>
            <a:xfrm>
              <a:off x="2286000" y="847725"/>
              <a:ext cx="1333500" cy="495300"/>
              <a:chOff x="0" y="0"/>
              <a:chExt cx="1333500" cy="495300"/>
            </a:xfrm>
          </p:grpSpPr>
          <p:sp>
            <p:nvSpPr>
              <p:cNvPr id="833"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834"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n1</a:t>
                </a:r>
              </a:p>
            </p:txBody>
          </p:sp>
        </p:grpSp>
        <p:grpSp>
          <p:nvGrpSpPr>
            <p:cNvPr id="838" name="v-vote-0-0"/>
            <p:cNvGrpSpPr/>
            <p:nvPr/>
          </p:nvGrpSpPr>
          <p:grpSpPr>
            <a:xfrm>
              <a:off x="2724150" y="1657350"/>
              <a:ext cx="457200" cy="457200"/>
              <a:chOff x="0" y="0"/>
              <a:chExt cx="457200" cy="457200"/>
            </a:xfrm>
          </p:grpSpPr>
          <p:sp>
            <p:nvSpPr>
              <p:cNvPr id="83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3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41" name="v-vote-0-1"/>
            <p:cNvGrpSpPr/>
            <p:nvPr/>
          </p:nvGrpSpPr>
          <p:grpSpPr>
            <a:xfrm>
              <a:off x="2724150" y="2371725"/>
              <a:ext cx="457200" cy="457200"/>
              <a:chOff x="0" y="0"/>
              <a:chExt cx="457200" cy="457200"/>
            </a:xfrm>
          </p:grpSpPr>
          <p:sp>
            <p:nvSpPr>
              <p:cNvPr id="83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4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44" name="v-vote-0-2"/>
            <p:cNvGrpSpPr/>
            <p:nvPr/>
          </p:nvGrpSpPr>
          <p:grpSpPr>
            <a:xfrm>
              <a:off x="2724150" y="3086100"/>
              <a:ext cx="457200" cy="457200"/>
              <a:chOff x="0" y="0"/>
              <a:chExt cx="457200" cy="457200"/>
            </a:xfrm>
          </p:grpSpPr>
          <p:sp>
            <p:nvSpPr>
              <p:cNvPr id="84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4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845" name="v-reuse-0"/>
            <p:cNvSpPr/>
            <p:nvPr/>
          </p:nvSpPr>
          <p:spPr>
            <a:xfrm>
              <a:off x="22860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848" name="v-node-1"/>
            <p:cNvGrpSpPr/>
            <p:nvPr/>
          </p:nvGrpSpPr>
          <p:grpSpPr>
            <a:xfrm>
              <a:off x="3857625" y="847725"/>
              <a:ext cx="1333500" cy="495300"/>
              <a:chOff x="0" y="0"/>
              <a:chExt cx="1333500" cy="495300"/>
            </a:xfrm>
          </p:grpSpPr>
          <p:sp>
            <p:nvSpPr>
              <p:cNvPr id="846"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847"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n2</a:t>
                </a:r>
              </a:p>
            </p:txBody>
          </p:sp>
        </p:grpSp>
        <p:grpSp>
          <p:nvGrpSpPr>
            <p:cNvPr id="851" name="v-vote-1-0"/>
            <p:cNvGrpSpPr/>
            <p:nvPr/>
          </p:nvGrpSpPr>
          <p:grpSpPr>
            <a:xfrm>
              <a:off x="4295775" y="1657350"/>
              <a:ext cx="457200" cy="457200"/>
              <a:chOff x="0" y="0"/>
              <a:chExt cx="457200" cy="457200"/>
            </a:xfrm>
          </p:grpSpPr>
          <p:sp>
            <p:nvSpPr>
              <p:cNvPr id="84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5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54" name="v-vote-1-1"/>
            <p:cNvGrpSpPr/>
            <p:nvPr/>
          </p:nvGrpSpPr>
          <p:grpSpPr>
            <a:xfrm>
              <a:off x="4295775" y="2371725"/>
              <a:ext cx="457200" cy="457200"/>
              <a:chOff x="0" y="0"/>
              <a:chExt cx="457200" cy="457200"/>
            </a:xfrm>
          </p:grpSpPr>
          <p:sp>
            <p:nvSpPr>
              <p:cNvPr id="85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5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57" name="v-vote-1-2"/>
            <p:cNvGrpSpPr/>
            <p:nvPr/>
          </p:nvGrpSpPr>
          <p:grpSpPr>
            <a:xfrm>
              <a:off x="4295775" y="3086100"/>
              <a:ext cx="457200" cy="457200"/>
              <a:chOff x="0" y="0"/>
              <a:chExt cx="457200" cy="457200"/>
            </a:xfrm>
          </p:grpSpPr>
          <p:sp>
            <p:nvSpPr>
              <p:cNvPr id="855"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5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858" name="v-reuse-1"/>
            <p:cNvSpPr/>
            <p:nvPr/>
          </p:nvSpPr>
          <p:spPr>
            <a:xfrm>
              <a:off x="385762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861" name="v-node-2"/>
            <p:cNvGrpSpPr/>
            <p:nvPr/>
          </p:nvGrpSpPr>
          <p:grpSpPr>
            <a:xfrm>
              <a:off x="5429250" y="847725"/>
              <a:ext cx="1333500" cy="495300"/>
              <a:chOff x="0" y="0"/>
              <a:chExt cx="1333500" cy="495300"/>
            </a:xfrm>
          </p:grpSpPr>
          <p:sp>
            <p:nvSpPr>
              <p:cNvPr id="859"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860"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n3</a:t>
                </a:r>
              </a:p>
            </p:txBody>
          </p:sp>
        </p:grpSp>
        <p:grpSp>
          <p:nvGrpSpPr>
            <p:cNvPr id="864" name="v-vote-2-0"/>
            <p:cNvGrpSpPr/>
            <p:nvPr/>
          </p:nvGrpSpPr>
          <p:grpSpPr>
            <a:xfrm>
              <a:off x="5867400" y="1657350"/>
              <a:ext cx="457200" cy="457200"/>
              <a:chOff x="0" y="0"/>
              <a:chExt cx="457200" cy="457200"/>
            </a:xfrm>
          </p:grpSpPr>
          <p:sp>
            <p:nvSpPr>
              <p:cNvPr id="86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6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67" name="v-vote-2-1"/>
            <p:cNvGrpSpPr/>
            <p:nvPr/>
          </p:nvGrpSpPr>
          <p:grpSpPr>
            <a:xfrm>
              <a:off x="5867400" y="2371725"/>
              <a:ext cx="457200" cy="457200"/>
              <a:chOff x="0" y="0"/>
              <a:chExt cx="457200" cy="457200"/>
            </a:xfrm>
          </p:grpSpPr>
          <p:sp>
            <p:nvSpPr>
              <p:cNvPr id="865"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6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70" name="v-vote-2-2"/>
            <p:cNvGrpSpPr/>
            <p:nvPr/>
          </p:nvGrpSpPr>
          <p:grpSpPr>
            <a:xfrm>
              <a:off x="5867400" y="3086100"/>
              <a:ext cx="457200" cy="457200"/>
              <a:chOff x="0" y="0"/>
              <a:chExt cx="457200" cy="457200"/>
            </a:xfrm>
          </p:grpSpPr>
          <p:sp>
            <p:nvSpPr>
              <p:cNvPr id="868"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69"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871" name="v-reuse-2"/>
            <p:cNvSpPr/>
            <p:nvPr/>
          </p:nvSpPr>
          <p:spPr>
            <a:xfrm>
              <a:off x="542925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874" name="v-node-3"/>
            <p:cNvGrpSpPr/>
            <p:nvPr/>
          </p:nvGrpSpPr>
          <p:grpSpPr>
            <a:xfrm>
              <a:off x="7000875" y="847725"/>
              <a:ext cx="1333500" cy="495300"/>
              <a:chOff x="0" y="0"/>
              <a:chExt cx="1333500" cy="495300"/>
            </a:xfrm>
          </p:grpSpPr>
          <p:sp>
            <p:nvSpPr>
              <p:cNvPr id="872"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873"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n4</a:t>
                </a:r>
              </a:p>
            </p:txBody>
          </p:sp>
        </p:grpSp>
        <p:grpSp>
          <p:nvGrpSpPr>
            <p:cNvPr id="877" name="v-vote-3-0"/>
            <p:cNvGrpSpPr/>
            <p:nvPr/>
          </p:nvGrpSpPr>
          <p:grpSpPr>
            <a:xfrm>
              <a:off x="7439025" y="1657350"/>
              <a:ext cx="457200" cy="457200"/>
              <a:chOff x="0" y="0"/>
              <a:chExt cx="457200" cy="457200"/>
            </a:xfrm>
          </p:grpSpPr>
          <p:sp>
            <p:nvSpPr>
              <p:cNvPr id="875"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7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80" name="v-vote-3-1"/>
            <p:cNvGrpSpPr/>
            <p:nvPr/>
          </p:nvGrpSpPr>
          <p:grpSpPr>
            <a:xfrm>
              <a:off x="7439025" y="2371725"/>
              <a:ext cx="457200" cy="457200"/>
              <a:chOff x="0" y="0"/>
              <a:chExt cx="457200" cy="457200"/>
            </a:xfrm>
          </p:grpSpPr>
          <p:sp>
            <p:nvSpPr>
              <p:cNvPr id="878"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79"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83" name="v-vote-3-2"/>
            <p:cNvGrpSpPr/>
            <p:nvPr/>
          </p:nvGrpSpPr>
          <p:grpSpPr>
            <a:xfrm>
              <a:off x="7439025" y="3086100"/>
              <a:ext cx="457200" cy="457200"/>
              <a:chOff x="0" y="0"/>
              <a:chExt cx="457200" cy="457200"/>
            </a:xfrm>
          </p:grpSpPr>
          <p:sp>
            <p:nvSpPr>
              <p:cNvPr id="881"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82"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884" name="v-reuse-3"/>
            <p:cNvSpPr/>
            <p:nvPr/>
          </p:nvSpPr>
          <p:spPr>
            <a:xfrm>
              <a:off x="700087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887" name="v-node-4"/>
            <p:cNvGrpSpPr/>
            <p:nvPr/>
          </p:nvGrpSpPr>
          <p:grpSpPr>
            <a:xfrm>
              <a:off x="8572500" y="847725"/>
              <a:ext cx="1333500" cy="495300"/>
              <a:chOff x="0" y="0"/>
              <a:chExt cx="1333500" cy="495300"/>
            </a:xfrm>
          </p:grpSpPr>
          <p:sp>
            <p:nvSpPr>
              <p:cNvPr id="885"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886"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n5</a:t>
                </a:r>
              </a:p>
            </p:txBody>
          </p:sp>
        </p:grpSp>
        <p:grpSp>
          <p:nvGrpSpPr>
            <p:cNvPr id="890" name="v-vote-4-0"/>
            <p:cNvGrpSpPr/>
            <p:nvPr/>
          </p:nvGrpSpPr>
          <p:grpSpPr>
            <a:xfrm>
              <a:off x="9010650" y="1657350"/>
              <a:ext cx="457200" cy="457200"/>
              <a:chOff x="0" y="0"/>
              <a:chExt cx="457200" cy="457200"/>
            </a:xfrm>
          </p:grpSpPr>
          <p:sp>
            <p:nvSpPr>
              <p:cNvPr id="888"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89"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93" name="v-vote-4-1"/>
            <p:cNvGrpSpPr/>
            <p:nvPr/>
          </p:nvGrpSpPr>
          <p:grpSpPr>
            <a:xfrm>
              <a:off x="9010650" y="2371725"/>
              <a:ext cx="457200" cy="457200"/>
              <a:chOff x="0" y="0"/>
              <a:chExt cx="457200" cy="457200"/>
            </a:xfrm>
          </p:grpSpPr>
          <p:sp>
            <p:nvSpPr>
              <p:cNvPr id="891"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92"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896" name="v-vote-4-2"/>
            <p:cNvGrpSpPr/>
            <p:nvPr/>
          </p:nvGrpSpPr>
          <p:grpSpPr>
            <a:xfrm>
              <a:off x="9010650" y="3086100"/>
              <a:ext cx="457200" cy="457200"/>
              <a:chOff x="0" y="0"/>
              <a:chExt cx="457200" cy="457200"/>
            </a:xfrm>
          </p:grpSpPr>
          <p:sp>
            <p:nvSpPr>
              <p:cNvPr id="894"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895"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897"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898"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899"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900"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901"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root</a:t>
              </a:r>
            </a:p>
          </p:txBody>
        </p:sp>
        <p:sp>
          <p:nvSpPr>
            <p:cNvPr id="902"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grpSp>
        <p:nvGrpSpPr>
          <p:cNvPr id="977" name="Check boundary 1"/>
          <p:cNvGrpSpPr/>
          <p:nvPr/>
        </p:nvGrpSpPr>
        <p:grpSpPr>
          <a:xfrm>
            <a:off x="714375" y="838199"/>
            <a:ext cx="10715625" cy="5112386"/>
            <a:chOff x="0" y="0"/>
            <a:chExt cx="10715625" cy="5112384"/>
          </a:xfrm>
        </p:grpSpPr>
        <p:sp>
          <p:nvSpPr>
            <p:cNvPr id="904"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905"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n1: all checks pass</a:t>
              </a:r>
            </a:p>
          </p:txBody>
        </p:sp>
        <p:sp>
          <p:nvSpPr>
            <p:cNvPr id="906" name="v-current"/>
            <p:cNvSpPr/>
            <p:nvPr/>
          </p:nvSpPr>
          <p:spPr>
            <a:xfrm>
              <a:off x="2190750" y="676275"/>
              <a:ext cx="1524000" cy="3124200"/>
            </a:xfrm>
            <a:prstGeom prst="roundRect">
              <a:avLst>
                <a:gd name="adj" fmla="val 4375"/>
              </a:avLst>
            </a:prstGeom>
            <a:solidFill>
              <a:srgbClr val="FAF4E6"/>
            </a:solidFill>
            <a:ln w="28575" cap="flat">
              <a:solidFill>
                <a:srgbClr val="B67A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09" name="v-node-0"/>
            <p:cNvGrpSpPr/>
            <p:nvPr/>
          </p:nvGrpSpPr>
          <p:grpSpPr>
            <a:xfrm>
              <a:off x="2286000" y="847725"/>
              <a:ext cx="1333500" cy="495300"/>
              <a:chOff x="0" y="0"/>
              <a:chExt cx="1333500" cy="495300"/>
            </a:xfrm>
          </p:grpSpPr>
          <p:sp>
            <p:nvSpPr>
              <p:cNvPr id="907"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908"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n1</a:t>
                </a:r>
              </a:p>
            </p:txBody>
          </p:sp>
        </p:grpSp>
        <p:grpSp>
          <p:nvGrpSpPr>
            <p:cNvPr id="912" name="v-vote-0-0"/>
            <p:cNvGrpSpPr/>
            <p:nvPr/>
          </p:nvGrpSpPr>
          <p:grpSpPr>
            <a:xfrm>
              <a:off x="2724150" y="1657350"/>
              <a:ext cx="457200" cy="457200"/>
              <a:chOff x="0" y="0"/>
              <a:chExt cx="457200" cy="457200"/>
            </a:xfrm>
          </p:grpSpPr>
          <p:sp>
            <p:nvSpPr>
              <p:cNvPr id="910"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11"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915" name="v-vote-0-1"/>
            <p:cNvGrpSpPr/>
            <p:nvPr/>
          </p:nvGrpSpPr>
          <p:grpSpPr>
            <a:xfrm>
              <a:off x="2724150" y="2371725"/>
              <a:ext cx="457200" cy="457200"/>
              <a:chOff x="0" y="0"/>
              <a:chExt cx="457200" cy="457200"/>
            </a:xfrm>
          </p:grpSpPr>
          <p:sp>
            <p:nvSpPr>
              <p:cNvPr id="913"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14"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918" name="v-vote-0-2"/>
            <p:cNvGrpSpPr/>
            <p:nvPr/>
          </p:nvGrpSpPr>
          <p:grpSpPr>
            <a:xfrm>
              <a:off x="2724150" y="3086100"/>
              <a:ext cx="457200" cy="457200"/>
              <a:chOff x="0" y="0"/>
              <a:chExt cx="457200" cy="457200"/>
            </a:xfrm>
          </p:grpSpPr>
          <p:sp>
            <p:nvSpPr>
              <p:cNvPr id="916"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17"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919" name="v-reuse-0"/>
            <p:cNvSpPr/>
            <p:nvPr/>
          </p:nvSpPr>
          <p:spPr>
            <a:xfrm>
              <a:off x="228600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22" name="v-node-1"/>
            <p:cNvGrpSpPr/>
            <p:nvPr/>
          </p:nvGrpSpPr>
          <p:grpSpPr>
            <a:xfrm>
              <a:off x="3857625" y="847725"/>
              <a:ext cx="1333500" cy="495300"/>
              <a:chOff x="0" y="0"/>
              <a:chExt cx="1333500" cy="495300"/>
            </a:xfrm>
          </p:grpSpPr>
          <p:sp>
            <p:nvSpPr>
              <p:cNvPr id="920"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921"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n2</a:t>
                </a:r>
              </a:p>
            </p:txBody>
          </p:sp>
        </p:grpSp>
        <p:grpSp>
          <p:nvGrpSpPr>
            <p:cNvPr id="925" name="v-vote-1-0"/>
            <p:cNvGrpSpPr/>
            <p:nvPr/>
          </p:nvGrpSpPr>
          <p:grpSpPr>
            <a:xfrm>
              <a:off x="4295775" y="1657350"/>
              <a:ext cx="457200" cy="457200"/>
              <a:chOff x="0" y="0"/>
              <a:chExt cx="457200" cy="457200"/>
            </a:xfrm>
          </p:grpSpPr>
          <p:sp>
            <p:nvSpPr>
              <p:cNvPr id="923"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24"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28" name="v-vote-1-1"/>
            <p:cNvGrpSpPr/>
            <p:nvPr/>
          </p:nvGrpSpPr>
          <p:grpSpPr>
            <a:xfrm>
              <a:off x="4295775" y="2371725"/>
              <a:ext cx="457200" cy="457200"/>
              <a:chOff x="0" y="0"/>
              <a:chExt cx="457200" cy="457200"/>
            </a:xfrm>
          </p:grpSpPr>
          <p:sp>
            <p:nvSpPr>
              <p:cNvPr id="92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2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31" name="v-vote-1-2"/>
            <p:cNvGrpSpPr/>
            <p:nvPr/>
          </p:nvGrpSpPr>
          <p:grpSpPr>
            <a:xfrm>
              <a:off x="4295775" y="3086100"/>
              <a:ext cx="457200" cy="457200"/>
              <a:chOff x="0" y="0"/>
              <a:chExt cx="457200" cy="457200"/>
            </a:xfrm>
          </p:grpSpPr>
          <p:sp>
            <p:nvSpPr>
              <p:cNvPr id="92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3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932" name="v-reuse-1"/>
            <p:cNvSpPr/>
            <p:nvPr/>
          </p:nvSpPr>
          <p:spPr>
            <a:xfrm>
              <a:off x="385762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35" name="v-node-2"/>
            <p:cNvGrpSpPr/>
            <p:nvPr/>
          </p:nvGrpSpPr>
          <p:grpSpPr>
            <a:xfrm>
              <a:off x="5429250" y="847725"/>
              <a:ext cx="1333500" cy="495300"/>
              <a:chOff x="0" y="0"/>
              <a:chExt cx="1333500" cy="495300"/>
            </a:xfrm>
          </p:grpSpPr>
          <p:sp>
            <p:nvSpPr>
              <p:cNvPr id="933"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934"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n3</a:t>
                </a:r>
              </a:p>
            </p:txBody>
          </p:sp>
        </p:grpSp>
        <p:grpSp>
          <p:nvGrpSpPr>
            <p:cNvPr id="938" name="v-vote-2-0"/>
            <p:cNvGrpSpPr/>
            <p:nvPr/>
          </p:nvGrpSpPr>
          <p:grpSpPr>
            <a:xfrm>
              <a:off x="5867400" y="1657350"/>
              <a:ext cx="457200" cy="457200"/>
              <a:chOff x="0" y="0"/>
              <a:chExt cx="457200" cy="457200"/>
            </a:xfrm>
          </p:grpSpPr>
          <p:sp>
            <p:nvSpPr>
              <p:cNvPr id="93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3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41" name="v-vote-2-1"/>
            <p:cNvGrpSpPr/>
            <p:nvPr/>
          </p:nvGrpSpPr>
          <p:grpSpPr>
            <a:xfrm>
              <a:off x="5867400" y="2371725"/>
              <a:ext cx="457200" cy="457200"/>
              <a:chOff x="0" y="0"/>
              <a:chExt cx="457200" cy="457200"/>
            </a:xfrm>
          </p:grpSpPr>
          <p:sp>
            <p:nvSpPr>
              <p:cNvPr id="93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4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44" name="v-vote-2-2"/>
            <p:cNvGrpSpPr/>
            <p:nvPr/>
          </p:nvGrpSpPr>
          <p:grpSpPr>
            <a:xfrm>
              <a:off x="5867400" y="3086100"/>
              <a:ext cx="457200" cy="457200"/>
              <a:chOff x="0" y="0"/>
              <a:chExt cx="457200" cy="457200"/>
            </a:xfrm>
          </p:grpSpPr>
          <p:sp>
            <p:nvSpPr>
              <p:cNvPr id="94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4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945" name="v-reuse-2"/>
            <p:cNvSpPr/>
            <p:nvPr/>
          </p:nvSpPr>
          <p:spPr>
            <a:xfrm>
              <a:off x="542925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48" name="v-node-3"/>
            <p:cNvGrpSpPr/>
            <p:nvPr/>
          </p:nvGrpSpPr>
          <p:grpSpPr>
            <a:xfrm>
              <a:off x="7000875" y="847725"/>
              <a:ext cx="1333500" cy="495300"/>
              <a:chOff x="0" y="0"/>
              <a:chExt cx="1333500" cy="495300"/>
            </a:xfrm>
          </p:grpSpPr>
          <p:sp>
            <p:nvSpPr>
              <p:cNvPr id="946"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947"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n4</a:t>
                </a:r>
              </a:p>
            </p:txBody>
          </p:sp>
        </p:grpSp>
        <p:grpSp>
          <p:nvGrpSpPr>
            <p:cNvPr id="951" name="v-vote-3-0"/>
            <p:cNvGrpSpPr/>
            <p:nvPr/>
          </p:nvGrpSpPr>
          <p:grpSpPr>
            <a:xfrm>
              <a:off x="7439025" y="1657350"/>
              <a:ext cx="457200" cy="457200"/>
              <a:chOff x="0" y="0"/>
              <a:chExt cx="457200" cy="457200"/>
            </a:xfrm>
          </p:grpSpPr>
          <p:sp>
            <p:nvSpPr>
              <p:cNvPr id="94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5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54" name="v-vote-3-1"/>
            <p:cNvGrpSpPr/>
            <p:nvPr/>
          </p:nvGrpSpPr>
          <p:grpSpPr>
            <a:xfrm>
              <a:off x="7439025" y="2371725"/>
              <a:ext cx="457200" cy="457200"/>
              <a:chOff x="0" y="0"/>
              <a:chExt cx="457200" cy="457200"/>
            </a:xfrm>
          </p:grpSpPr>
          <p:sp>
            <p:nvSpPr>
              <p:cNvPr id="95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5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57" name="v-vote-3-2"/>
            <p:cNvGrpSpPr/>
            <p:nvPr/>
          </p:nvGrpSpPr>
          <p:grpSpPr>
            <a:xfrm>
              <a:off x="7439025" y="3086100"/>
              <a:ext cx="457200" cy="457200"/>
              <a:chOff x="0" y="0"/>
              <a:chExt cx="457200" cy="457200"/>
            </a:xfrm>
          </p:grpSpPr>
          <p:sp>
            <p:nvSpPr>
              <p:cNvPr id="955"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5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958" name="v-reuse-3"/>
            <p:cNvSpPr/>
            <p:nvPr/>
          </p:nvSpPr>
          <p:spPr>
            <a:xfrm>
              <a:off x="700087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61" name="v-node-4"/>
            <p:cNvGrpSpPr/>
            <p:nvPr/>
          </p:nvGrpSpPr>
          <p:grpSpPr>
            <a:xfrm>
              <a:off x="8572500" y="847725"/>
              <a:ext cx="1333500" cy="495300"/>
              <a:chOff x="0" y="0"/>
              <a:chExt cx="1333500" cy="495300"/>
            </a:xfrm>
          </p:grpSpPr>
          <p:sp>
            <p:nvSpPr>
              <p:cNvPr id="959"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960"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n5</a:t>
                </a:r>
              </a:p>
            </p:txBody>
          </p:sp>
        </p:grpSp>
        <p:grpSp>
          <p:nvGrpSpPr>
            <p:cNvPr id="964" name="v-vote-4-0"/>
            <p:cNvGrpSpPr/>
            <p:nvPr/>
          </p:nvGrpSpPr>
          <p:grpSpPr>
            <a:xfrm>
              <a:off x="9010650" y="1657350"/>
              <a:ext cx="457200" cy="457200"/>
              <a:chOff x="0" y="0"/>
              <a:chExt cx="457200" cy="457200"/>
            </a:xfrm>
          </p:grpSpPr>
          <p:sp>
            <p:nvSpPr>
              <p:cNvPr id="96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6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67" name="v-vote-4-1"/>
            <p:cNvGrpSpPr/>
            <p:nvPr/>
          </p:nvGrpSpPr>
          <p:grpSpPr>
            <a:xfrm>
              <a:off x="9010650" y="2371725"/>
              <a:ext cx="457200" cy="457200"/>
              <a:chOff x="0" y="0"/>
              <a:chExt cx="457200" cy="457200"/>
            </a:xfrm>
          </p:grpSpPr>
          <p:sp>
            <p:nvSpPr>
              <p:cNvPr id="965"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6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970" name="v-vote-4-2"/>
            <p:cNvGrpSpPr/>
            <p:nvPr/>
          </p:nvGrpSpPr>
          <p:grpSpPr>
            <a:xfrm>
              <a:off x="9010650" y="3086100"/>
              <a:ext cx="457200" cy="457200"/>
              <a:chOff x="0" y="0"/>
              <a:chExt cx="457200" cy="457200"/>
            </a:xfrm>
          </p:grpSpPr>
          <p:sp>
            <p:nvSpPr>
              <p:cNvPr id="968"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969"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971"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972"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973"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974"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975"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n1</a:t>
              </a:r>
            </a:p>
          </p:txBody>
        </p:sp>
        <p:sp>
          <p:nvSpPr>
            <p:cNvPr id="976"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grpSp>
        <p:nvGrpSpPr>
          <p:cNvPr id="1051" name="Check boundary 2"/>
          <p:cNvGrpSpPr/>
          <p:nvPr/>
        </p:nvGrpSpPr>
        <p:grpSpPr>
          <a:xfrm>
            <a:off x="714375" y="838199"/>
            <a:ext cx="10715625" cy="5112386"/>
            <a:chOff x="0" y="0"/>
            <a:chExt cx="10715625" cy="5112384"/>
          </a:xfrm>
        </p:grpSpPr>
        <p:sp>
          <p:nvSpPr>
            <p:cNvPr id="978"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979"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n2: all pass; advance the boundary</a:t>
              </a:r>
            </a:p>
          </p:txBody>
        </p:sp>
        <p:sp>
          <p:nvSpPr>
            <p:cNvPr id="980" name="v-current"/>
            <p:cNvSpPr/>
            <p:nvPr/>
          </p:nvSpPr>
          <p:spPr>
            <a:xfrm>
              <a:off x="3762375" y="676275"/>
              <a:ext cx="1524000" cy="3124200"/>
            </a:xfrm>
            <a:prstGeom prst="roundRect">
              <a:avLst>
                <a:gd name="adj" fmla="val 4375"/>
              </a:avLst>
            </a:prstGeom>
            <a:solidFill>
              <a:srgbClr val="FAF4E6"/>
            </a:solidFill>
            <a:ln w="28575" cap="flat">
              <a:solidFill>
                <a:srgbClr val="B67A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83" name="v-node-0"/>
            <p:cNvGrpSpPr/>
            <p:nvPr/>
          </p:nvGrpSpPr>
          <p:grpSpPr>
            <a:xfrm>
              <a:off x="2286000" y="847725"/>
              <a:ext cx="1333500" cy="495300"/>
              <a:chOff x="0" y="0"/>
              <a:chExt cx="1333500" cy="495300"/>
            </a:xfrm>
          </p:grpSpPr>
          <p:sp>
            <p:nvSpPr>
              <p:cNvPr id="981"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982"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n1</a:t>
                </a:r>
              </a:p>
            </p:txBody>
          </p:sp>
        </p:grpSp>
        <p:grpSp>
          <p:nvGrpSpPr>
            <p:cNvPr id="986" name="v-vote-0-0"/>
            <p:cNvGrpSpPr/>
            <p:nvPr/>
          </p:nvGrpSpPr>
          <p:grpSpPr>
            <a:xfrm>
              <a:off x="2724150" y="1657350"/>
              <a:ext cx="457200" cy="457200"/>
              <a:chOff x="0" y="0"/>
              <a:chExt cx="457200" cy="457200"/>
            </a:xfrm>
          </p:grpSpPr>
          <p:sp>
            <p:nvSpPr>
              <p:cNvPr id="98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8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989" name="v-vote-0-1"/>
            <p:cNvGrpSpPr/>
            <p:nvPr/>
          </p:nvGrpSpPr>
          <p:grpSpPr>
            <a:xfrm>
              <a:off x="2724150" y="2371725"/>
              <a:ext cx="457200" cy="457200"/>
              <a:chOff x="0" y="0"/>
              <a:chExt cx="457200" cy="457200"/>
            </a:xfrm>
          </p:grpSpPr>
          <p:sp>
            <p:nvSpPr>
              <p:cNvPr id="987"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88"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992" name="v-vote-0-2"/>
            <p:cNvGrpSpPr/>
            <p:nvPr/>
          </p:nvGrpSpPr>
          <p:grpSpPr>
            <a:xfrm>
              <a:off x="2724150" y="3086100"/>
              <a:ext cx="457200" cy="457200"/>
              <a:chOff x="0" y="0"/>
              <a:chExt cx="457200" cy="457200"/>
            </a:xfrm>
          </p:grpSpPr>
          <p:sp>
            <p:nvSpPr>
              <p:cNvPr id="990"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91"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993" name="v-reuse-0"/>
            <p:cNvSpPr/>
            <p:nvPr/>
          </p:nvSpPr>
          <p:spPr>
            <a:xfrm>
              <a:off x="228600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996" name="v-node-1"/>
            <p:cNvGrpSpPr/>
            <p:nvPr/>
          </p:nvGrpSpPr>
          <p:grpSpPr>
            <a:xfrm>
              <a:off x="3857625" y="847725"/>
              <a:ext cx="1333500" cy="495300"/>
              <a:chOff x="0" y="0"/>
              <a:chExt cx="1333500" cy="495300"/>
            </a:xfrm>
          </p:grpSpPr>
          <p:sp>
            <p:nvSpPr>
              <p:cNvPr id="994"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995"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n2</a:t>
                </a:r>
              </a:p>
            </p:txBody>
          </p:sp>
        </p:grpSp>
        <p:grpSp>
          <p:nvGrpSpPr>
            <p:cNvPr id="999" name="v-vote-1-0"/>
            <p:cNvGrpSpPr/>
            <p:nvPr/>
          </p:nvGrpSpPr>
          <p:grpSpPr>
            <a:xfrm>
              <a:off x="4295775" y="1657350"/>
              <a:ext cx="457200" cy="457200"/>
              <a:chOff x="0" y="0"/>
              <a:chExt cx="457200" cy="457200"/>
            </a:xfrm>
          </p:grpSpPr>
          <p:sp>
            <p:nvSpPr>
              <p:cNvPr id="997"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998"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02" name="v-vote-1-1"/>
            <p:cNvGrpSpPr/>
            <p:nvPr/>
          </p:nvGrpSpPr>
          <p:grpSpPr>
            <a:xfrm>
              <a:off x="4295775" y="2371725"/>
              <a:ext cx="457200" cy="457200"/>
              <a:chOff x="0" y="0"/>
              <a:chExt cx="457200" cy="457200"/>
            </a:xfrm>
          </p:grpSpPr>
          <p:sp>
            <p:nvSpPr>
              <p:cNvPr id="1000"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01"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05" name="v-vote-1-2"/>
            <p:cNvGrpSpPr/>
            <p:nvPr/>
          </p:nvGrpSpPr>
          <p:grpSpPr>
            <a:xfrm>
              <a:off x="4295775" y="3086100"/>
              <a:ext cx="457200" cy="457200"/>
              <a:chOff x="0" y="0"/>
              <a:chExt cx="457200" cy="457200"/>
            </a:xfrm>
          </p:grpSpPr>
          <p:sp>
            <p:nvSpPr>
              <p:cNvPr id="1003"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04"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006" name="v-reuse-1"/>
            <p:cNvSpPr/>
            <p:nvPr/>
          </p:nvSpPr>
          <p:spPr>
            <a:xfrm>
              <a:off x="385762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09" name="v-node-2"/>
            <p:cNvGrpSpPr/>
            <p:nvPr/>
          </p:nvGrpSpPr>
          <p:grpSpPr>
            <a:xfrm>
              <a:off x="5429250" y="847725"/>
              <a:ext cx="1333500" cy="495300"/>
              <a:chOff x="0" y="0"/>
              <a:chExt cx="1333500" cy="495300"/>
            </a:xfrm>
          </p:grpSpPr>
          <p:sp>
            <p:nvSpPr>
              <p:cNvPr id="1007"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008"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n3</a:t>
                </a:r>
              </a:p>
            </p:txBody>
          </p:sp>
        </p:grpSp>
        <p:grpSp>
          <p:nvGrpSpPr>
            <p:cNvPr id="1012" name="v-vote-2-0"/>
            <p:cNvGrpSpPr/>
            <p:nvPr/>
          </p:nvGrpSpPr>
          <p:grpSpPr>
            <a:xfrm>
              <a:off x="5867400" y="1657350"/>
              <a:ext cx="457200" cy="457200"/>
              <a:chOff x="0" y="0"/>
              <a:chExt cx="457200" cy="457200"/>
            </a:xfrm>
          </p:grpSpPr>
          <p:sp>
            <p:nvSpPr>
              <p:cNvPr id="1010"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11"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15" name="v-vote-2-1"/>
            <p:cNvGrpSpPr/>
            <p:nvPr/>
          </p:nvGrpSpPr>
          <p:grpSpPr>
            <a:xfrm>
              <a:off x="5867400" y="2371725"/>
              <a:ext cx="457200" cy="457200"/>
              <a:chOff x="0" y="0"/>
              <a:chExt cx="457200" cy="457200"/>
            </a:xfrm>
          </p:grpSpPr>
          <p:sp>
            <p:nvSpPr>
              <p:cNvPr id="1013"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14"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18" name="v-vote-2-2"/>
            <p:cNvGrpSpPr/>
            <p:nvPr/>
          </p:nvGrpSpPr>
          <p:grpSpPr>
            <a:xfrm>
              <a:off x="5867400" y="3086100"/>
              <a:ext cx="457200" cy="457200"/>
              <a:chOff x="0" y="0"/>
              <a:chExt cx="457200" cy="457200"/>
            </a:xfrm>
          </p:grpSpPr>
          <p:sp>
            <p:nvSpPr>
              <p:cNvPr id="101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1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019" name="v-reuse-2"/>
            <p:cNvSpPr/>
            <p:nvPr/>
          </p:nvSpPr>
          <p:spPr>
            <a:xfrm>
              <a:off x="542925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22" name="v-node-3"/>
            <p:cNvGrpSpPr/>
            <p:nvPr/>
          </p:nvGrpSpPr>
          <p:grpSpPr>
            <a:xfrm>
              <a:off x="7000875" y="847725"/>
              <a:ext cx="1333500" cy="495300"/>
              <a:chOff x="0" y="0"/>
              <a:chExt cx="1333500" cy="495300"/>
            </a:xfrm>
          </p:grpSpPr>
          <p:sp>
            <p:nvSpPr>
              <p:cNvPr id="1020"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021"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n4</a:t>
                </a:r>
              </a:p>
            </p:txBody>
          </p:sp>
        </p:grpSp>
        <p:grpSp>
          <p:nvGrpSpPr>
            <p:cNvPr id="1025" name="v-vote-3-0"/>
            <p:cNvGrpSpPr/>
            <p:nvPr/>
          </p:nvGrpSpPr>
          <p:grpSpPr>
            <a:xfrm>
              <a:off x="7439025" y="1657350"/>
              <a:ext cx="457200" cy="457200"/>
              <a:chOff x="0" y="0"/>
              <a:chExt cx="457200" cy="457200"/>
            </a:xfrm>
          </p:grpSpPr>
          <p:sp>
            <p:nvSpPr>
              <p:cNvPr id="1023"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24"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28" name="v-vote-3-1"/>
            <p:cNvGrpSpPr/>
            <p:nvPr/>
          </p:nvGrpSpPr>
          <p:grpSpPr>
            <a:xfrm>
              <a:off x="7439025" y="2371725"/>
              <a:ext cx="457200" cy="457200"/>
              <a:chOff x="0" y="0"/>
              <a:chExt cx="457200" cy="457200"/>
            </a:xfrm>
          </p:grpSpPr>
          <p:sp>
            <p:nvSpPr>
              <p:cNvPr id="102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2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31" name="v-vote-3-2"/>
            <p:cNvGrpSpPr/>
            <p:nvPr/>
          </p:nvGrpSpPr>
          <p:grpSpPr>
            <a:xfrm>
              <a:off x="7439025" y="3086100"/>
              <a:ext cx="457200" cy="457200"/>
              <a:chOff x="0" y="0"/>
              <a:chExt cx="457200" cy="457200"/>
            </a:xfrm>
          </p:grpSpPr>
          <p:sp>
            <p:nvSpPr>
              <p:cNvPr id="102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3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032" name="v-reuse-3"/>
            <p:cNvSpPr/>
            <p:nvPr/>
          </p:nvSpPr>
          <p:spPr>
            <a:xfrm>
              <a:off x="700087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35" name="v-node-4"/>
            <p:cNvGrpSpPr/>
            <p:nvPr/>
          </p:nvGrpSpPr>
          <p:grpSpPr>
            <a:xfrm>
              <a:off x="8572500" y="847725"/>
              <a:ext cx="1333500" cy="495300"/>
              <a:chOff x="0" y="0"/>
              <a:chExt cx="1333500" cy="495300"/>
            </a:xfrm>
          </p:grpSpPr>
          <p:sp>
            <p:nvSpPr>
              <p:cNvPr id="1033"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034"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n5</a:t>
                </a:r>
              </a:p>
            </p:txBody>
          </p:sp>
        </p:grpSp>
        <p:grpSp>
          <p:nvGrpSpPr>
            <p:cNvPr id="1038" name="v-vote-4-0"/>
            <p:cNvGrpSpPr/>
            <p:nvPr/>
          </p:nvGrpSpPr>
          <p:grpSpPr>
            <a:xfrm>
              <a:off x="9010650" y="1657350"/>
              <a:ext cx="457200" cy="457200"/>
              <a:chOff x="0" y="0"/>
              <a:chExt cx="457200" cy="457200"/>
            </a:xfrm>
          </p:grpSpPr>
          <p:sp>
            <p:nvSpPr>
              <p:cNvPr id="103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3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41" name="v-vote-4-1"/>
            <p:cNvGrpSpPr/>
            <p:nvPr/>
          </p:nvGrpSpPr>
          <p:grpSpPr>
            <a:xfrm>
              <a:off x="9010650" y="2371725"/>
              <a:ext cx="457200" cy="457200"/>
              <a:chOff x="0" y="0"/>
              <a:chExt cx="457200" cy="457200"/>
            </a:xfrm>
          </p:grpSpPr>
          <p:sp>
            <p:nvSpPr>
              <p:cNvPr id="1039"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40"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044" name="v-vote-4-2"/>
            <p:cNvGrpSpPr/>
            <p:nvPr/>
          </p:nvGrpSpPr>
          <p:grpSpPr>
            <a:xfrm>
              <a:off x="9010650" y="3086100"/>
              <a:ext cx="457200" cy="457200"/>
              <a:chOff x="0" y="0"/>
              <a:chExt cx="457200" cy="457200"/>
            </a:xfrm>
          </p:grpSpPr>
          <p:sp>
            <p:nvSpPr>
              <p:cNvPr id="1042"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43"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045"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046"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1047"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1048"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1049"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n2</a:t>
              </a:r>
            </a:p>
          </p:txBody>
        </p:sp>
        <p:sp>
          <p:nvSpPr>
            <p:cNvPr id="1050"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grpSp>
        <p:nvGrpSpPr>
          <p:cNvPr id="1125" name="Check boundary 3"/>
          <p:cNvGrpSpPr/>
          <p:nvPr/>
        </p:nvGrpSpPr>
        <p:grpSpPr>
          <a:xfrm>
            <a:off x="714375" y="838199"/>
            <a:ext cx="10715625" cy="5112386"/>
            <a:chOff x="0" y="0"/>
            <a:chExt cx="10715625" cy="5112384"/>
          </a:xfrm>
        </p:grpSpPr>
        <p:sp>
          <p:nvSpPr>
            <p:cNvPr id="1052"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053"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n3: SWA rejects; keep checking</a:t>
              </a:r>
            </a:p>
          </p:txBody>
        </p:sp>
        <p:sp>
          <p:nvSpPr>
            <p:cNvPr id="1054" name="v-current"/>
            <p:cNvSpPr/>
            <p:nvPr/>
          </p:nvSpPr>
          <p:spPr>
            <a:xfrm>
              <a:off x="5334000" y="676275"/>
              <a:ext cx="1524000" cy="3124200"/>
            </a:xfrm>
            <a:prstGeom prst="roundRect">
              <a:avLst>
                <a:gd name="adj" fmla="val 4375"/>
              </a:avLst>
            </a:prstGeom>
            <a:solidFill>
              <a:srgbClr val="FAF4E6"/>
            </a:solidFill>
            <a:ln w="28575" cap="flat">
              <a:solidFill>
                <a:srgbClr val="B67A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57" name="v-node-0"/>
            <p:cNvGrpSpPr/>
            <p:nvPr/>
          </p:nvGrpSpPr>
          <p:grpSpPr>
            <a:xfrm>
              <a:off x="2286000" y="847725"/>
              <a:ext cx="1333500" cy="495300"/>
              <a:chOff x="0" y="0"/>
              <a:chExt cx="1333500" cy="495300"/>
            </a:xfrm>
          </p:grpSpPr>
          <p:sp>
            <p:nvSpPr>
              <p:cNvPr id="1055"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056"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n1</a:t>
                </a:r>
              </a:p>
            </p:txBody>
          </p:sp>
        </p:grpSp>
        <p:grpSp>
          <p:nvGrpSpPr>
            <p:cNvPr id="1060" name="v-vote-0-0"/>
            <p:cNvGrpSpPr/>
            <p:nvPr/>
          </p:nvGrpSpPr>
          <p:grpSpPr>
            <a:xfrm>
              <a:off x="2724150" y="1657350"/>
              <a:ext cx="457200" cy="457200"/>
              <a:chOff x="0" y="0"/>
              <a:chExt cx="457200" cy="457200"/>
            </a:xfrm>
          </p:grpSpPr>
          <p:sp>
            <p:nvSpPr>
              <p:cNvPr id="105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5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63" name="v-vote-0-1"/>
            <p:cNvGrpSpPr/>
            <p:nvPr/>
          </p:nvGrpSpPr>
          <p:grpSpPr>
            <a:xfrm>
              <a:off x="2724150" y="2371725"/>
              <a:ext cx="457200" cy="457200"/>
              <a:chOff x="0" y="0"/>
              <a:chExt cx="457200" cy="457200"/>
            </a:xfrm>
          </p:grpSpPr>
          <p:sp>
            <p:nvSpPr>
              <p:cNvPr id="106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6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66" name="v-vote-0-2"/>
            <p:cNvGrpSpPr/>
            <p:nvPr/>
          </p:nvGrpSpPr>
          <p:grpSpPr>
            <a:xfrm>
              <a:off x="2724150" y="3086100"/>
              <a:ext cx="457200" cy="457200"/>
              <a:chOff x="0" y="0"/>
              <a:chExt cx="457200" cy="457200"/>
            </a:xfrm>
          </p:grpSpPr>
          <p:sp>
            <p:nvSpPr>
              <p:cNvPr id="106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6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067" name="v-reuse-0"/>
            <p:cNvSpPr/>
            <p:nvPr/>
          </p:nvSpPr>
          <p:spPr>
            <a:xfrm>
              <a:off x="228600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70" name="v-node-1"/>
            <p:cNvGrpSpPr/>
            <p:nvPr/>
          </p:nvGrpSpPr>
          <p:grpSpPr>
            <a:xfrm>
              <a:off x="3857625" y="847725"/>
              <a:ext cx="1333500" cy="495300"/>
              <a:chOff x="0" y="0"/>
              <a:chExt cx="1333500" cy="495300"/>
            </a:xfrm>
          </p:grpSpPr>
          <p:sp>
            <p:nvSpPr>
              <p:cNvPr id="1068"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069"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n2</a:t>
                </a:r>
              </a:p>
            </p:txBody>
          </p:sp>
        </p:grpSp>
        <p:grpSp>
          <p:nvGrpSpPr>
            <p:cNvPr id="1073" name="v-vote-1-0"/>
            <p:cNvGrpSpPr/>
            <p:nvPr/>
          </p:nvGrpSpPr>
          <p:grpSpPr>
            <a:xfrm>
              <a:off x="4295775" y="1657350"/>
              <a:ext cx="457200" cy="457200"/>
              <a:chOff x="0" y="0"/>
              <a:chExt cx="457200" cy="457200"/>
            </a:xfrm>
          </p:grpSpPr>
          <p:sp>
            <p:nvSpPr>
              <p:cNvPr id="107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7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76" name="v-vote-1-1"/>
            <p:cNvGrpSpPr/>
            <p:nvPr/>
          </p:nvGrpSpPr>
          <p:grpSpPr>
            <a:xfrm>
              <a:off x="4295775" y="2371725"/>
              <a:ext cx="457200" cy="457200"/>
              <a:chOff x="0" y="0"/>
              <a:chExt cx="457200" cy="457200"/>
            </a:xfrm>
          </p:grpSpPr>
          <p:sp>
            <p:nvSpPr>
              <p:cNvPr id="107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7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79" name="v-vote-1-2"/>
            <p:cNvGrpSpPr/>
            <p:nvPr/>
          </p:nvGrpSpPr>
          <p:grpSpPr>
            <a:xfrm>
              <a:off x="4295775" y="3086100"/>
              <a:ext cx="457200" cy="457200"/>
              <a:chOff x="0" y="0"/>
              <a:chExt cx="457200" cy="457200"/>
            </a:xfrm>
          </p:grpSpPr>
          <p:sp>
            <p:nvSpPr>
              <p:cNvPr id="1077"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78"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080" name="v-reuse-1"/>
            <p:cNvSpPr/>
            <p:nvPr/>
          </p:nvSpPr>
          <p:spPr>
            <a:xfrm>
              <a:off x="385762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83" name="v-node-2"/>
            <p:cNvGrpSpPr/>
            <p:nvPr/>
          </p:nvGrpSpPr>
          <p:grpSpPr>
            <a:xfrm>
              <a:off x="5429250" y="847725"/>
              <a:ext cx="1333500" cy="495300"/>
              <a:chOff x="0" y="0"/>
              <a:chExt cx="1333500" cy="495300"/>
            </a:xfrm>
          </p:grpSpPr>
          <p:sp>
            <p:nvSpPr>
              <p:cNvPr id="1081" name="Rounded Rectangle"/>
              <p:cNvSpPr/>
              <p:nvPr/>
            </p:nvSpPr>
            <p:spPr>
              <a:xfrm>
                <a:off x="0" y="0"/>
                <a:ext cx="1333500" cy="495300"/>
              </a:xfrm>
              <a:prstGeom prst="roundRect">
                <a:avLst>
                  <a:gd name="adj" fmla="val 13462"/>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000">
                    <a:solidFill>
                      <a:srgbClr val="BE4848"/>
                    </a:solidFill>
                    <a:latin typeface="Arial"/>
                    <a:ea typeface="Arial"/>
                    <a:cs typeface="Arial"/>
                    <a:sym typeface="Arial"/>
                  </a:defRPr>
                </a:pPr>
              </a:p>
            </p:txBody>
          </p:sp>
          <p:sp>
            <p:nvSpPr>
              <p:cNvPr id="1082"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BE4848"/>
                    </a:solidFill>
                    <a:latin typeface="Arial"/>
                    <a:ea typeface="Arial"/>
                    <a:cs typeface="Arial"/>
                    <a:sym typeface="Arial"/>
                  </a:defRPr>
                </a:lvl1pPr>
              </a:lstStyle>
              <a:p>
                <a:pPr/>
                <a:r>
                  <a:t>n3</a:t>
                </a:r>
              </a:p>
            </p:txBody>
          </p:sp>
        </p:grpSp>
        <p:grpSp>
          <p:nvGrpSpPr>
            <p:cNvPr id="1086" name="v-vote-2-0"/>
            <p:cNvGrpSpPr/>
            <p:nvPr/>
          </p:nvGrpSpPr>
          <p:grpSpPr>
            <a:xfrm>
              <a:off x="5867400" y="1657350"/>
              <a:ext cx="457200" cy="457200"/>
              <a:chOff x="0" y="0"/>
              <a:chExt cx="457200" cy="457200"/>
            </a:xfrm>
          </p:grpSpPr>
          <p:sp>
            <p:nvSpPr>
              <p:cNvPr id="108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8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089" name="v-vote-2-1"/>
            <p:cNvGrpSpPr/>
            <p:nvPr/>
          </p:nvGrpSpPr>
          <p:grpSpPr>
            <a:xfrm>
              <a:off x="5867400" y="2371725"/>
              <a:ext cx="457200" cy="457200"/>
              <a:chOff x="0" y="0"/>
              <a:chExt cx="457200" cy="457200"/>
            </a:xfrm>
          </p:grpSpPr>
          <p:sp>
            <p:nvSpPr>
              <p:cNvPr id="1087" name="Rounded Rectangle"/>
              <p:cNvSpPr/>
              <p:nvPr/>
            </p:nvSpPr>
            <p:spPr>
              <a:xfrm>
                <a:off x="0" y="0"/>
                <a:ext cx="457200" cy="457200"/>
              </a:xfrm>
              <a:prstGeom prst="roundRect">
                <a:avLst>
                  <a:gd name="adj" fmla="val 14583"/>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400">
                    <a:solidFill>
                      <a:srgbClr val="BE4848"/>
                    </a:solidFill>
                    <a:latin typeface="Arial"/>
                    <a:ea typeface="Arial"/>
                    <a:cs typeface="Arial"/>
                    <a:sym typeface="Arial"/>
                  </a:defRPr>
                </a:pPr>
              </a:p>
            </p:txBody>
          </p:sp>
          <p:sp>
            <p:nvSpPr>
              <p:cNvPr id="1088"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E4848"/>
                    </a:solidFill>
                    <a:latin typeface="Arial"/>
                    <a:ea typeface="Arial"/>
                    <a:cs typeface="Arial"/>
                    <a:sym typeface="Arial"/>
                  </a:defRPr>
                </a:lvl1pPr>
              </a:lstStyle>
              <a:p>
                <a:pPr/>
                <a:r>
                  <a:t>×</a:t>
                </a:r>
              </a:p>
            </p:txBody>
          </p:sp>
        </p:grpSp>
        <p:grpSp>
          <p:nvGrpSpPr>
            <p:cNvPr id="1092" name="v-vote-2-2"/>
            <p:cNvGrpSpPr/>
            <p:nvPr/>
          </p:nvGrpSpPr>
          <p:grpSpPr>
            <a:xfrm>
              <a:off x="5867400" y="3086100"/>
              <a:ext cx="457200" cy="457200"/>
              <a:chOff x="0" y="0"/>
              <a:chExt cx="457200" cy="457200"/>
            </a:xfrm>
          </p:grpSpPr>
          <p:sp>
            <p:nvSpPr>
              <p:cNvPr id="1090"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091"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093" name="v-reuse-2"/>
            <p:cNvSpPr/>
            <p:nvPr/>
          </p:nvSpPr>
          <p:spPr>
            <a:xfrm>
              <a:off x="542925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096" name="v-node-3"/>
            <p:cNvGrpSpPr/>
            <p:nvPr/>
          </p:nvGrpSpPr>
          <p:grpSpPr>
            <a:xfrm>
              <a:off x="7000875" y="847725"/>
              <a:ext cx="1333500" cy="495300"/>
              <a:chOff x="0" y="0"/>
              <a:chExt cx="1333500" cy="495300"/>
            </a:xfrm>
          </p:grpSpPr>
          <p:sp>
            <p:nvSpPr>
              <p:cNvPr id="1094"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095"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n4</a:t>
                </a:r>
              </a:p>
            </p:txBody>
          </p:sp>
        </p:grpSp>
        <p:grpSp>
          <p:nvGrpSpPr>
            <p:cNvPr id="1099" name="v-vote-3-0"/>
            <p:cNvGrpSpPr/>
            <p:nvPr/>
          </p:nvGrpSpPr>
          <p:grpSpPr>
            <a:xfrm>
              <a:off x="7439025" y="1657350"/>
              <a:ext cx="457200" cy="457200"/>
              <a:chOff x="0" y="0"/>
              <a:chExt cx="457200" cy="457200"/>
            </a:xfrm>
          </p:grpSpPr>
          <p:sp>
            <p:nvSpPr>
              <p:cNvPr id="1097"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098"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02" name="v-vote-3-1"/>
            <p:cNvGrpSpPr/>
            <p:nvPr/>
          </p:nvGrpSpPr>
          <p:grpSpPr>
            <a:xfrm>
              <a:off x="7439025" y="2371725"/>
              <a:ext cx="457200" cy="457200"/>
              <a:chOff x="0" y="0"/>
              <a:chExt cx="457200" cy="457200"/>
            </a:xfrm>
          </p:grpSpPr>
          <p:sp>
            <p:nvSpPr>
              <p:cNvPr id="1100"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01"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05" name="v-vote-3-2"/>
            <p:cNvGrpSpPr/>
            <p:nvPr/>
          </p:nvGrpSpPr>
          <p:grpSpPr>
            <a:xfrm>
              <a:off x="7439025" y="3086100"/>
              <a:ext cx="457200" cy="457200"/>
              <a:chOff x="0" y="0"/>
              <a:chExt cx="457200" cy="457200"/>
            </a:xfrm>
          </p:grpSpPr>
          <p:sp>
            <p:nvSpPr>
              <p:cNvPr id="1103"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04"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106" name="v-reuse-3"/>
            <p:cNvSpPr/>
            <p:nvPr/>
          </p:nvSpPr>
          <p:spPr>
            <a:xfrm>
              <a:off x="7000875"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09" name="v-node-4"/>
            <p:cNvGrpSpPr/>
            <p:nvPr/>
          </p:nvGrpSpPr>
          <p:grpSpPr>
            <a:xfrm>
              <a:off x="8572500" y="847725"/>
              <a:ext cx="1333500" cy="495300"/>
              <a:chOff x="0" y="0"/>
              <a:chExt cx="1333500" cy="495300"/>
            </a:xfrm>
          </p:grpSpPr>
          <p:sp>
            <p:nvSpPr>
              <p:cNvPr id="1107"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108"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n5</a:t>
                </a:r>
              </a:p>
            </p:txBody>
          </p:sp>
        </p:grpSp>
        <p:grpSp>
          <p:nvGrpSpPr>
            <p:cNvPr id="1112" name="v-vote-4-0"/>
            <p:cNvGrpSpPr/>
            <p:nvPr/>
          </p:nvGrpSpPr>
          <p:grpSpPr>
            <a:xfrm>
              <a:off x="9010650" y="1657350"/>
              <a:ext cx="457200" cy="457200"/>
              <a:chOff x="0" y="0"/>
              <a:chExt cx="457200" cy="457200"/>
            </a:xfrm>
          </p:grpSpPr>
          <p:sp>
            <p:nvSpPr>
              <p:cNvPr id="1110"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11"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15" name="v-vote-4-1"/>
            <p:cNvGrpSpPr/>
            <p:nvPr/>
          </p:nvGrpSpPr>
          <p:grpSpPr>
            <a:xfrm>
              <a:off x="9010650" y="2371725"/>
              <a:ext cx="457200" cy="457200"/>
              <a:chOff x="0" y="0"/>
              <a:chExt cx="457200" cy="457200"/>
            </a:xfrm>
          </p:grpSpPr>
          <p:sp>
            <p:nvSpPr>
              <p:cNvPr id="1113"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14"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18" name="v-vote-4-2"/>
            <p:cNvGrpSpPr/>
            <p:nvPr/>
          </p:nvGrpSpPr>
          <p:grpSpPr>
            <a:xfrm>
              <a:off x="9010650" y="3086100"/>
              <a:ext cx="457200" cy="457200"/>
              <a:chOff x="0" y="0"/>
              <a:chExt cx="457200" cy="457200"/>
            </a:xfrm>
          </p:grpSpPr>
          <p:sp>
            <p:nvSpPr>
              <p:cNvPr id="1116"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17"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119"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120"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1121"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1122"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1123"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n2</a:t>
              </a:r>
            </a:p>
          </p:txBody>
        </p:sp>
        <p:sp>
          <p:nvSpPr>
            <p:cNvPr id="1124"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grpSp>
        <p:nvGrpSpPr>
          <p:cNvPr id="1199" name="Check boundary 4"/>
          <p:cNvGrpSpPr/>
          <p:nvPr/>
        </p:nvGrpSpPr>
        <p:grpSpPr>
          <a:xfrm>
            <a:off x="714375" y="838199"/>
            <a:ext cx="10715625" cy="5112386"/>
            <a:chOff x="0" y="0"/>
            <a:chExt cx="10715625" cy="5112384"/>
          </a:xfrm>
        </p:grpSpPr>
        <p:sp>
          <p:nvSpPr>
            <p:cNvPr id="1126"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127"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n4: all pass; advance the boundary</a:t>
              </a:r>
            </a:p>
          </p:txBody>
        </p:sp>
        <p:sp>
          <p:nvSpPr>
            <p:cNvPr id="1128" name="v-current"/>
            <p:cNvSpPr/>
            <p:nvPr/>
          </p:nvSpPr>
          <p:spPr>
            <a:xfrm>
              <a:off x="6905625" y="676275"/>
              <a:ext cx="1524000" cy="3124200"/>
            </a:xfrm>
            <a:prstGeom prst="roundRect">
              <a:avLst>
                <a:gd name="adj" fmla="val 4375"/>
              </a:avLst>
            </a:prstGeom>
            <a:solidFill>
              <a:srgbClr val="FAF4E6"/>
            </a:solidFill>
            <a:ln w="28575" cap="flat">
              <a:solidFill>
                <a:srgbClr val="B67A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31" name="v-node-0"/>
            <p:cNvGrpSpPr/>
            <p:nvPr/>
          </p:nvGrpSpPr>
          <p:grpSpPr>
            <a:xfrm>
              <a:off x="2286000" y="847725"/>
              <a:ext cx="1333500" cy="495300"/>
              <a:chOff x="0" y="0"/>
              <a:chExt cx="1333500" cy="495300"/>
            </a:xfrm>
          </p:grpSpPr>
          <p:sp>
            <p:nvSpPr>
              <p:cNvPr id="1129"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130"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n1</a:t>
                </a:r>
              </a:p>
            </p:txBody>
          </p:sp>
        </p:grpSp>
        <p:grpSp>
          <p:nvGrpSpPr>
            <p:cNvPr id="1134" name="v-vote-0-0"/>
            <p:cNvGrpSpPr/>
            <p:nvPr/>
          </p:nvGrpSpPr>
          <p:grpSpPr>
            <a:xfrm>
              <a:off x="2724150" y="1657350"/>
              <a:ext cx="457200" cy="457200"/>
              <a:chOff x="0" y="0"/>
              <a:chExt cx="457200" cy="457200"/>
            </a:xfrm>
          </p:grpSpPr>
          <p:sp>
            <p:nvSpPr>
              <p:cNvPr id="1132"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33"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37" name="v-vote-0-1"/>
            <p:cNvGrpSpPr/>
            <p:nvPr/>
          </p:nvGrpSpPr>
          <p:grpSpPr>
            <a:xfrm>
              <a:off x="2724150" y="2371725"/>
              <a:ext cx="457200" cy="457200"/>
              <a:chOff x="0" y="0"/>
              <a:chExt cx="457200" cy="457200"/>
            </a:xfrm>
          </p:grpSpPr>
          <p:sp>
            <p:nvSpPr>
              <p:cNvPr id="1135"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36"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40" name="v-vote-0-2"/>
            <p:cNvGrpSpPr/>
            <p:nvPr/>
          </p:nvGrpSpPr>
          <p:grpSpPr>
            <a:xfrm>
              <a:off x="2724150" y="3086100"/>
              <a:ext cx="457200" cy="457200"/>
              <a:chOff x="0" y="0"/>
              <a:chExt cx="457200" cy="457200"/>
            </a:xfrm>
          </p:grpSpPr>
          <p:sp>
            <p:nvSpPr>
              <p:cNvPr id="113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3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141" name="v-reuse-0"/>
            <p:cNvSpPr/>
            <p:nvPr/>
          </p:nvSpPr>
          <p:spPr>
            <a:xfrm>
              <a:off x="228600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44" name="v-node-1"/>
            <p:cNvGrpSpPr/>
            <p:nvPr/>
          </p:nvGrpSpPr>
          <p:grpSpPr>
            <a:xfrm>
              <a:off x="3857625" y="847725"/>
              <a:ext cx="1333500" cy="495300"/>
              <a:chOff x="0" y="0"/>
              <a:chExt cx="1333500" cy="495300"/>
            </a:xfrm>
          </p:grpSpPr>
          <p:sp>
            <p:nvSpPr>
              <p:cNvPr id="1142"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143"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n2</a:t>
                </a:r>
              </a:p>
            </p:txBody>
          </p:sp>
        </p:grpSp>
        <p:grpSp>
          <p:nvGrpSpPr>
            <p:cNvPr id="1147" name="v-vote-1-0"/>
            <p:cNvGrpSpPr/>
            <p:nvPr/>
          </p:nvGrpSpPr>
          <p:grpSpPr>
            <a:xfrm>
              <a:off x="4295775" y="1657350"/>
              <a:ext cx="457200" cy="457200"/>
              <a:chOff x="0" y="0"/>
              <a:chExt cx="457200" cy="457200"/>
            </a:xfrm>
          </p:grpSpPr>
          <p:sp>
            <p:nvSpPr>
              <p:cNvPr id="1145"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46"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50" name="v-vote-1-1"/>
            <p:cNvGrpSpPr/>
            <p:nvPr/>
          </p:nvGrpSpPr>
          <p:grpSpPr>
            <a:xfrm>
              <a:off x="4295775" y="2371725"/>
              <a:ext cx="457200" cy="457200"/>
              <a:chOff x="0" y="0"/>
              <a:chExt cx="457200" cy="457200"/>
            </a:xfrm>
          </p:grpSpPr>
          <p:sp>
            <p:nvSpPr>
              <p:cNvPr id="114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4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53" name="v-vote-1-2"/>
            <p:cNvGrpSpPr/>
            <p:nvPr/>
          </p:nvGrpSpPr>
          <p:grpSpPr>
            <a:xfrm>
              <a:off x="4295775" y="3086100"/>
              <a:ext cx="457200" cy="457200"/>
              <a:chOff x="0" y="0"/>
              <a:chExt cx="457200" cy="457200"/>
            </a:xfrm>
          </p:grpSpPr>
          <p:sp>
            <p:nvSpPr>
              <p:cNvPr id="115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5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154" name="v-reuse-1"/>
            <p:cNvSpPr/>
            <p:nvPr/>
          </p:nvSpPr>
          <p:spPr>
            <a:xfrm>
              <a:off x="385762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57" name="v-node-2"/>
            <p:cNvGrpSpPr/>
            <p:nvPr/>
          </p:nvGrpSpPr>
          <p:grpSpPr>
            <a:xfrm>
              <a:off x="5429250" y="847725"/>
              <a:ext cx="1333500" cy="495300"/>
              <a:chOff x="0" y="0"/>
              <a:chExt cx="1333500" cy="495300"/>
            </a:xfrm>
          </p:grpSpPr>
          <p:sp>
            <p:nvSpPr>
              <p:cNvPr id="1155" name="Rounded Rectangle"/>
              <p:cNvSpPr/>
              <p:nvPr/>
            </p:nvSpPr>
            <p:spPr>
              <a:xfrm>
                <a:off x="0" y="0"/>
                <a:ext cx="1333500" cy="495300"/>
              </a:xfrm>
              <a:prstGeom prst="roundRect">
                <a:avLst>
                  <a:gd name="adj" fmla="val 13462"/>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000">
                    <a:solidFill>
                      <a:srgbClr val="BE4848"/>
                    </a:solidFill>
                    <a:latin typeface="Arial"/>
                    <a:ea typeface="Arial"/>
                    <a:cs typeface="Arial"/>
                    <a:sym typeface="Arial"/>
                  </a:defRPr>
                </a:pPr>
              </a:p>
            </p:txBody>
          </p:sp>
          <p:sp>
            <p:nvSpPr>
              <p:cNvPr id="1156"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BE4848"/>
                    </a:solidFill>
                    <a:latin typeface="Arial"/>
                    <a:ea typeface="Arial"/>
                    <a:cs typeface="Arial"/>
                    <a:sym typeface="Arial"/>
                  </a:defRPr>
                </a:lvl1pPr>
              </a:lstStyle>
              <a:p>
                <a:pPr/>
                <a:r>
                  <a:t>n3</a:t>
                </a:r>
              </a:p>
            </p:txBody>
          </p:sp>
        </p:grpSp>
        <p:grpSp>
          <p:nvGrpSpPr>
            <p:cNvPr id="1160" name="v-vote-2-0"/>
            <p:cNvGrpSpPr/>
            <p:nvPr/>
          </p:nvGrpSpPr>
          <p:grpSpPr>
            <a:xfrm>
              <a:off x="5867400" y="1657350"/>
              <a:ext cx="457200" cy="457200"/>
              <a:chOff x="0" y="0"/>
              <a:chExt cx="457200" cy="457200"/>
            </a:xfrm>
          </p:grpSpPr>
          <p:sp>
            <p:nvSpPr>
              <p:cNvPr id="115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5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63" name="v-vote-2-1"/>
            <p:cNvGrpSpPr/>
            <p:nvPr/>
          </p:nvGrpSpPr>
          <p:grpSpPr>
            <a:xfrm>
              <a:off x="5867400" y="2371725"/>
              <a:ext cx="457200" cy="457200"/>
              <a:chOff x="0" y="0"/>
              <a:chExt cx="457200" cy="457200"/>
            </a:xfrm>
          </p:grpSpPr>
          <p:sp>
            <p:nvSpPr>
              <p:cNvPr id="1161" name="Rounded Rectangle"/>
              <p:cNvSpPr/>
              <p:nvPr/>
            </p:nvSpPr>
            <p:spPr>
              <a:xfrm>
                <a:off x="0" y="0"/>
                <a:ext cx="457200" cy="457200"/>
              </a:xfrm>
              <a:prstGeom prst="roundRect">
                <a:avLst>
                  <a:gd name="adj" fmla="val 14583"/>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400">
                    <a:solidFill>
                      <a:srgbClr val="BE4848"/>
                    </a:solidFill>
                    <a:latin typeface="Arial"/>
                    <a:ea typeface="Arial"/>
                    <a:cs typeface="Arial"/>
                    <a:sym typeface="Arial"/>
                  </a:defRPr>
                </a:pPr>
              </a:p>
            </p:txBody>
          </p:sp>
          <p:sp>
            <p:nvSpPr>
              <p:cNvPr id="1162"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E4848"/>
                    </a:solidFill>
                    <a:latin typeface="Arial"/>
                    <a:ea typeface="Arial"/>
                    <a:cs typeface="Arial"/>
                    <a:sym typeface="Arial"/>
                  </a:defRPr>
                </a:lvl1pPr>
              </a:lstStyle>
              <a:p>
                <a:pPr/>
                <a:r>
                  <a:t>×</a:t>
                </a:r>
              </a:p>
            </p:txBody>
          </p:sp>
        </p:grpSp>
        <p:grpSp>
          <p:nvGrpSpPr>
            <p:cNvPr id="1166" name="v-vote-2-2"/>
            <p:cNvGrpSpPr/>
            <p:nvPr/>
          </p:nvGrpSpPr>
          <p:grpSpPr>
            <a:xfrm>
              <a:off x="5867400" y="3086100"/>
              <a:ext cx="457200" cy="457200"/>
              <a:chOff x="0" y="0"/>
              <a:chExt cx="457200" cy="457200"/>
            </a:xfrm>
          </p:grpSpPr>
          <p:sp>
            <p:nvSpPr>
              <p:cNvPr id="116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6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167" name="v-reuse-2"/>
            <p:cNvSpPr/>
            <p:nvPr/>
          </p:nvSpPr>
          <p:spPr>
            <a:xfrm>
              <a:off x="542925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70" name="v-node-3"/>
            <p:cNvGrpSpPr/>
            <p:nvPr/>
          </p:nvGrpSpPr>
          <p:grpSpPr>
            <a:xfrm>
              <a:off x="7000875" y="847725"/>
              <a:ext cx="1333500" cy="495300"/>
              <a:chOff x="0" y="0"/>
              <a:chExt cx="1333500" cy="495300"/>
            </a:xfrm>
          </p:grpSpPr>
          <p:sp>
            <p:nvSpPr>
              <p:cNvPr id="1168"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169"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n4</a:t>
                </a:r>
              </a:p>
            </p:txBody>
          </p:sp>
        </p:grpSp>
        <p:grpSp>
          <p:nvGrpSpPr>
            <p:cNvPr id="1173" name="v-vote-3-0"/>
            <p:cNvGrpSpPr/>
            <p:nvPr/>
          </p:nvGrpSpPr>
          <p:grpSpPr>
            <a:xfrm>
              <a:off x="7439025" y="1657350"/>
              <a:ext cx="457200" cy="457200"/>
              <a:chOff x="0" y="0"/>
              <a:chExt cx="457200" cy="457200"/>
            </a:xfrm>
          </p:grpSpPr>
          <p:sp>
            <p:nvSpPr>
              <p:cNvPr id="117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7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76" name="v-vote-3-1"/>
            <p:cNvGrpSpPr/>
            <p:nvPr/>
          </p:nvGrpSpPr>
          <p:grpSpPr>
            <a:xfrm>
              <a:off x="7439025" y="2371725"/>
              <a:ext cx="457200" cy="457200"/>
              <a:chOff x="0" y="0"/>
              <a:chExt cx="457200" cy="457200"/>
            </a:xfrm>
          </p:grpSpPr>
          <p:sp>
            <p:nvSpPr>
              <p:cNvPr id="1174"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75"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179" name="v-vote-3-2"/>
            <p:cNvGrpSpPr/>
            <p:nvPr/>
          </p:nvGrpSpPr>
          <p:grpSpPr>
            <a:xfrm>
              <a:off x="7439025" y="3086100"/>
              <a:ext cx="457200" cy="457200"/>
              <a:chOff x="0" y="0"/>
              <a:chExt cx="457200" cy="457200"/>
            </a:xfrm>
          </p:grpSpPr>
          <p:sp>
            <p:nvSpPr>
              <p:cNvPr id="1177"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178"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180" name="v-reuse-3"/>
            <p:cNvSpPr/>
            <p:nvPr/>
          </p:nvSpPr>
          <p:spPr>
            <a:xfrm>
              <a:off x="700087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183" name="v-node-4"/>
            <p:cNvGrpSpPr/>
            <p:nvPr/>
          </p:nvGrpSpPr>
          <p:grpSpPr>
            <a:xfrm>
              <a:off x="8572500" y="847725"/>
              <a:ext cx="1333500" cy="495300"/>
              <a:chOff x="0" y="0"/>
              <a:chExt cx="1333500" cy="495300"/>
            </a:xfrm>
          </p:grpSpPr>
          <p:sp>
            <p:nvSpPr>
              <p:cNvPr id="1181" name="Rounded Rectangle"/>
              <p:cNvSpPr/>
              <p:nvPr/>
            </p:nvSpPr>
            <p:spPr>
              <a:xfrm>
                <a:off x="0" y="0"/>
                <a:ext cx="1333500" cy="495300"/>
              </a:xfrm>
              <a:prstGeom prst="roundRect">
                <a:avLst>
                  <a:gd name="adj" fmla="val 13462"/>
                </a:avLst>
              </a:prstGeom>
              <a:solidFill>
                <a:srgbClr val="F0F4F9"/>
              </a:solidFill>
              <a:ln w="19050" cap="flat">
                <a:solidFill>
                  <a:srgbClr val="586B80"/>
                </a:solidFill>
                <a:prstDash val="solid"/>
                <a:round/>
              </a:ln>
              <a:effectLst/>
            </p:spPr>
            <p:txBody>
              <a:bodyPr wrap="square" lIns="45718" tIns="45718" rIns="45718" bIns="45718" numCol="1" anchor="ctr">
                <a:noAutofit/>
              </a:bodyPr>
              <a:lstStyle/>
              <a:p>
                <a:pPr algn="ctr">
                  <a:defRPr b="1" sz="2000">
                    <a:solidFill>
                      <a:srgbClr val="586B80"/>
                    </a:solidFill>
                    <a:latin typeface="Arial"/>
                    <a:ea typeface="Arial"/>
                    <a:cs typeface="Arial"/>
                    <a:sym typeface="Arial"/>
                  </a:defRPr>
                </a:pPr>
              </a:p>
            </p:txBody>
          </p:sp>
          <p:sp>
            <p:nvSpPr>
              <p:cNvPr id="1182"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586B80"/>
                    </a:solidFill>
                    <a:latin typeface="Arial"/>
                    <a:ea typeface="Arial"/>
                    <a:cs typeface="Arial"/>
                    <a:sym typeface="Arial"/>
                  </a:defRPr>
                </a:lvl1pPr>
              </a:lstStyle>
              <a:p>
                <a:pPr/>
                <a:r>
                  <a:t>n5</a:t>
                </a:r>
              </a:p>
            </p:txBody>
          </p:sp>
        </p:grpSp>
        <p:grpSp>
          <p:nvGrpSpPr>
            <p:cNvPr id="1186" name="v-vote-4-0"/>
            <p:cNvGrpSpPr/>
            <p:nvPr/>
          </p:nvGrpSpPr>
          <p:grpSpPr>
            <a:xfrm>
              <a:off x="9010650" y="1657350"/>
              <a:ext cx="457200" cy="457200"/>
              <a:chOff x="0" y="0"/>
              <a:chExt cx="457200" cy="457200"/>
            </a:xfrm>
          </p:grpSpPr>
          <p:sp>
            <p:nvSpPr>
              <p:cNvPr id="1184"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85"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89" name="v-vote-4-1"/>
            <p:cNvGrpSpPr/>
            <p:nvPr/>
          </p:nvGrpSpPr>
          <p:grpSpPr>
            <a:xfrm>
              <a:off x="9010650" y="2371725"/>
              <a:ext cx="457200" cy="457200"/>
              <a:chOff x="0" y="0"/>
              <a:chExt cx="457200" cy="457200"/>
            </a:xfrm>
          </p:grpSpPr>
          <p:sp>
            <p:nvSpPr>
              <p:cNvPr id="1187"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88"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grpSp>
          <p:nvGrpSpPr>
            <p:cNvPr id="1192" name="v-vote-4-2"/>
            <p:cNvGrpSpPr/>
            <p:nvPr/>
          </p:nvGrpSpPr>
          <p:grpSpPr>
            <a:xfrm>
              <a:off x="9010650" y="3086100"/>
              <a:ext cx="457200" cy="457200"/>
              <a:chOff x="0" y="0"/>
              <a:chExt cx="457200" cy="457200"/>
            </a:xfrm>
          </p:grpSpPr>
          <p:sp>
            <p:nvSpPr>
              <p:cNvPr id="1190" name="Rounded Rectangle"/>
              <p:cNvSpPr/>
              <p:nvPr/>
            </p:nvSpPr>
            <p:spPr>
              <a:xfrm>
                <a:off x="0" y="0"/>
                <a:ext cx="457200" cy="457200"/>
              </a:xfrm>
              <a:prstGeom prst="roundRect">
                <a:avLst>
                  <a:gd name="adj" fmla="val 14583"/>
                </a:avLst>
              </a:prstGeom>
              <a:solidFill>
                <a:srgbClr val="F7F9FC"/>
              </a:solidFill>
              <a:ln w="19050" cap="flat">
                <a:solidFill>
                  <a:srgbClr val="BACADD"/>
                </a:solidFill>
                <a:prstDash val="solid"/>
                <a:round/>
              </a:ln>
              <a:effectLst/>
            </p:spPr>
            <p:txBody>
              <a:bodyPr wrap="square" lIns="45718" tIns="45718" rIns="45718" bIns="45718" numCol="1" anchor="ctr">
                <a:noAutofit/>
              </a:bodyPr>
              <a:lstStyle/>
              <a:p>
                <a:pPr algn="ctr">
                  <a:defRPr b="1" sz="2400">
                    <a:solidFill>
                      <a:srgbClr val="BACADD"/>
                    </a:solidFill>
                    <a:latin typeface="Arial"/>
                    <a:ea typeface="Arial"/>
                    <a:cs typeface="Arial"/>
                    <a:sym typeface="Arial"/>
                  </a:defRPr>
                </a:pPr>
              </a:p>
            </p:txBody>
          </p:sp>
          <p:sp>
            <p:nvSpPr>
              <p:cNvPr id="1191"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ACADD"/>
                    </a:solidFill>
                    <a:latin typeface="Arial"/>
                    <a:ea typeface="Arial"/>
                    <a:cs typeface="Arial"/>
                    <a:sym typeface="Arial"/>
                  </a:defRPr>
                </a:lvl1pPr>
              </a:lstStyle>
              <a:p>
                <a:pPr/>
                <a:r>
                  <a:t>·</a:t>
                </a:r>
              </a:p>
            </p:txBody>
          </p:sp>
        </p:grpSp>
        <p:sp>
          <p:nvSpPr>
            <p:cNvPr id="1193"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194"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1195"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1196"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1197"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n4</a:t>
              </a:r>
            </a:p>
          </p:txBody>
        </p:sp>
        <p:sp>
          <p:nvSpPr>
            <p:cNvPr id="1198"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grpSp>
        <p:nvGrpSpPr>
          <p:cNvPr id="1274" name="Check boundary 5"/>
          <p:cNvGrpSpPr/>
          <p:nvPr/>
        </p:nvGrpSpPr>
        <p:grpSpPr>
          <a:xfrm>
            <a:off x="714375" y="838199"/>
            <a:ext cx="10715625" cy="5112386"/>
            <a:chOff x="0" y="0"/>
            <a:chExt cx="10715625" cy="5112384"/>
          </a:xfrm>
        </p:grpSpPr>
        <p:sp>
          <p:nvSpPr>
            <p:cNvPr id="1200" name="v-mask"/>
            <p:cNvSpPr/>
            <p:nvPr/>
          </p:nvSpPr>
          <p:spPr>
            <a:xfrm>
              <a:off x="0" y="0"/>
              <a:ext cx="10715625" cy="5057775"/>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201" name="v-caption"/>
            <p:cNvSpPr/>
            <p:nvPr/>
          </p:nvSpPr>
          <p:spPr>
            <a:xfrm>
              <a:off x="7619" y="238123"/>
              <a:ext cx="1064895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2000">
                  <a:solidFill>
                    <a:srgbClr val="285091"/>
                  </a:solidFill>
                  <a:latin typeface="Arial"/>
                  <a:ea typeface="Arial"/>
                  <a:cs typeface="Arial"/>
                  <a:sym typeface="Arial"/>
                </a:defRPr>
              </a:lvl1pPr>
            </a:lstStyle>
            <a:p>
              <a:pPr/>
              <a:r>
                <a:t>n5: no MAMBA checkpoint; reuse through n4</a:t>
              </a:r>
            </a:p>
          </p:txBody>
        </p:sp>
        <p:sp>
          <p:nvSpPr>
            <p:cNvPr id="1202" name="v-current"/>
            <p:cNvSpPr/>
            <p:nvPr/>
          </p:nvSpPr>
          <p:spPr>
            <a:xfrm>
              <a:off x="8477250" y="676275"/>
              <a:ext cx="1524000" cy="3124200"/>
            </a:xfrm>
            <a:prstGeom prst="roundRect">
              <a:avLst>
                <a:gd name="adj" fmla="val 4375"/>
              </a:avLst>
            </a:prstGeom>
            <a:solidFill>
              <a:srgbClr val="FAF4E6"/>
            </a:solidFill>
            <a:ln w="28575" cap="flat">
              <a:solidFill>
                <a:srgbClr val="B67A00"/>
              </a:solidFill>
              <a:prstDash val="solid"/>
              <a:round/>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205" name="v-node-0"/>
            <p:cNvGrpSpPr/>
            <p:nvPr/>
          </p:nvGrpSpPr>
          <p:grpSpPr>
            <a:xfrm>
              <a:off x="2286000" y="847725"/>
              <a:ext cx="1333500" cy="495300"/>
              <a:chOff x="0" y="0"/>
              <a:chExt cx="1333500" cy="495300"/>
            </a:xfrm>
          </p:grpSpPr>
          <p:sp>
            <p:nvSpPr>
              <p:cNvPr id="1203"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204" name="n1"/>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n1</a:t>
                </a:r>
              </a:p>
            </p:txBody>
          </p:sp>
        </p:grpSp>
        <p:grpSp>
          <p:nvGrpSpPr>
            <p:cNvPr id="1208" name="v-vote-0-0"/>
            <p:cNvGrpSpPr/>
            <p:nvPr/>
          </p:nvGrpSpPr>
          <p:grpSpPr>
            <a:xfrm>
              <a:off x="2724150" y="1657350"/>
              <a:ext cx="457200" cy="457200"/>
              <a:chOff x="0" y="0"/>
              <a:chExt cx="457200" cy="457200"/>
            </a:xfrm>
          </p:grpSpPr>
          <p:sp>
            <p:nvSpPr>
              <p:cNvPr id="1206"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07"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11" name="v-vote-0-1"/>
            <p:cNvGrpSpPr/>
            <p:nvPr/>
          </p:nvGrpSpPr>
          <p:grpSpPr>
            <a:xfrm>
              <a:off x="2724150" y="2371725"/>
              <a:ext cx="457200" cy="457200"/>
              <a:chOff x="0" y="0"/>
              <a:chExt cx="457200" cy="457200"/>
            </a:xfrm>
          </p:grpSpPr>
          <p:sp>
            <p:nvSpPr>
              <p:cNvPr id="1209"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10"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14" name="v-vote-0-2"/>
            <p:cNvGrpSpPr/>
            <p:nvPr/>
          </p:nvGrpSpPr>
          <p:grpSpPr>
            <a:xfrm>
              <a:off x="2724150" y="3086100"/>
              <a:ext cx="457200" cy="457200"/>
              <a:chOff x="0" y="0"/>
              <a:chExt cx="457200" cy="457200"/>
            </a:xfrm>
          </p:grpSpPr>
          <p:sp>
            <p:nvSpPr>
              <p:cNvPr id="1212"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13"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215" name="v-reuse-0"/>
            <p:cNvSpPr/>
            <p:nvPr/>
          </p:nvSpPr>
          <p:spPr>
            <a:xfrm>
              <a:off x="228600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218" name="v-node-1"/>
            <p:cNvGrpSpPr/>
            <p:nvPr/>
          </p:nvGrpSpPr>
          <p:grpSpPr>
            <a:xfrm>
              <a:off x="3857625" y="847725"/>
              <a:ext cx="1333500" cy="495300"/>
              <a:chOff x="0" y="0"/>
              <a:chExt cx="1333500" cy="495300"/>
            </a:xfrm>
          </p:grpSpPr>
          <p:sp>
            <p:nvSpPr>
              <p:cNvPr id="1216"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217" name="n2"/>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n2</a:t>
                </a:r>
              </a:p>
            </p:txBody>
          </p:sp>
        </p:grpSp>
        <p:grpSp>
          <p:nvGrpSpPr>
            <p:cNvPr id="1221" name="v-vote-1-0"/>
            <p:cNvGrpSpPr/>
            <p:nvPr/>
          </p:nvGrpSpPr>
          <p:grpSpPr>
            <a:xfrm>
              <a:off x="4295775" y="1657350"/>
              <a:ext cx="457200" cy="457200"/>
              <a:chOff x="0" y="0"/>
              <a:chExt cx="457200" cy="457200"/>
            </a:xfrm>
          </p:grpSpPr>
          <p:sp>
            <p:nvSpPr>
              <p:cNvPr id="1219"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20"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24" name="v-vote-1-1"/>
            <p:cNvGrpSpPr/>
            <p:nvPr/>
          </p:nvGrpSpPr>
          <p:grpSpPr>
            <a:xfrm>
              <a:off x="4295775" y="2371725"/>
              <a:ext cx="457200" cy="457200"/>
              <a:chOff x="0" y="0"/>
              <a:chExt cx="457200" cy="457200"/>
            </a:xfrm>
          </p:grpSpPr>
          <p:sp>
            <p:nvSpPr>
              <p:cNvPr id="1222"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23"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27" name="v-vote-1-2"/>
            <p:cNvGrpSpPr/>
            <p:nvPr/>
          </p:nvGrpSpPr>
          <p:grpSpPr>
            <a:xfrm>
              <a:off x="4295775" y="3086100"/>
              <a:ext cx="457200" cy="457200"/>
              <a:chOff x="0" y="0"/>
              <a:chExt cx="457200" cy="457200"/>
            </a:xfrm>
          </p:grpSpPr>
          <p:sp>
            <p:nvSpPr>
              <p:cNvPr id="1225"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26"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228" name="v-reuse-1"/>
            <p:cNvSpPr/>
            <p:nvPr/>
          </p:nvSpPr>
          <p:spPr>
            <a:xfrm>
              <a:off x="385762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231" name="v-node-2"/>
            <p:cNvGrpSpPr/>
            <p:nvPr/>
          </p:nvGrpSpPr>
          <p:grpSpPr>
            <a:xfrm>
              <a:off x="5429250" y="847725"/>
              <a:ext cx="1333500" cy="495300"/>
              <a:chOff x="0" y="0"/>
              <a:chExt cx="1333500" cy="495300"/>
            </a:xfrm>
          </p:grpSpPr>
          <p:sp>
            <p:nvSpPr>
              <p:cNvPr id="1229" name="Rounded Rectangle"/>
              <p:cNvSpPr/>
              <p:nvPr/>
            </p:nvSpPr>
            <p:spPr>
              <a:xfrm>
                <a:off x="0" y="0"/>
                <a:ext cx="1333500" cy="495300"/>
              </a:xfrm>
              <a:prstGeom prst="roundRect">
                <a:avLst>
                  <a:gd name="adj" fmla="val 13462"/>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000">
                    <a:solidFill>
                      <a:srgbClr val="BE4848"/>
                    </a:solidFill>
                    <a:latin typeface="Arial"/>
                    <a:ea typeface="Arial"/>
                    <a:cs typeface="Arial"/>
                    <a:sym typeface="Arial"/>
                  </a:defRPr>
                </a:pPr>
              </a:p>
            </p:txBody>
          </p:sp>
          <p:sp>
            <p:nvSpPr>
              <p:cNvPr id="1230" name="n3"/>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BE4848"/>
                    </a:solidFill>
                    <a:latin typeface="Arial"/>
                    <a:ea typeface="Arial"/>
                    <a:cs typeface="Arial"/>
                    <a:sym typeface="Arial"/>
                  </a:defRPr>
                </a:lvl1pPr>
              </a:lstStyle>
              <a:p>
                <a:pPr/>
                <a:r>
                  <a:t>n3</a:t>
                </a:r>
              </a:p>
            </p:txBody>
          </p:sp>
        </p:grpSp>
        <p:grpSp>
          <p:nvGrpSpPr>
            <p:cNvPr id="1234" name="v-vote-2-0"/>
            <p:cNvGrpSpPr/>
            <p:nvPr/>
          </p:nvGrpSpPr>
          <p:grpSpPr>
            <a:xfrm>
              <a:off x="5867400" y="1657350"/>
              <a:ext cx="457200" cy="457200"/>
              <a:chOff x="0" y="0"/>
              <a:chExt cx="457200" cy="457200"/>
            </a:xfrm>
          </p:grpSpPr>
          <p:sp>
            <p:nvSpPr>
              <p:cNvPr id="1232"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33"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37" name="v-vote-2-1"/>
            <p:cNvGrpSpPr/>
            <p:nvPr/>
          </p:nvGrpSpPr>
          <p:grpSpPr>
            <a:xfrm>
              <a:off x="5867400" y="2371725"/>
              <a:ext cx="457200" cy="457200"/>
              <a:chOff x="0" y="0"/>
              <a:chExt cx="457200" cy="457200"/>
            </a:xfrm>
          </p:grpSpPr>
          <p:sp>
            <p:nvSpPr>
              <p:cNvPr id="1235" name="Rounded Rectangle"/>
              <p:cNvSpPr/>
              <p:nvPr/>
            </p:nvSpPr>
            <p:spPr>
              <a:xfrm>
                <a:off x="0" y="0"/>
                <a:ext cx="457200" cy="457200"/>
              </a:xfrm>
              <a:prstGeom prst="roundRect">
                <a:avLst>
                  <a:gd name="adj" fmla="val 14583"/>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400">
                    <a:solidFill>
                      <a:srgbClr val="BE4848"/>
                    </a:solidFill>
                    <a:latin typeface="Arial"/>
                    <a:ea typeface="Arial"/>
                    <a:cs typeface="Arial"/>
                    <a:sym typeface="Arial"/>
                  </a:defRPr>
                </a:pPr>
              </a:p>
            </p:txBody>
          </p:sp>
          <p:sp>
            <p:nvSpPr>
              <p:cNvPr id="1236"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E4848"/>
                    </a:solidFill>
                    <a:latin typeface="Arial"/>
                    <a:ea typeface="Arial"/>
                    <a:cs typeface="Arial"/>
                    <a:sym typeface="Arial"/>
                  </a:defRPr>
                </a:lvl1pPr>
              </a:lstStyle>
              <a:p>
                <a:pPr/>
                <a:r>
                  <a:t>×</a:t>
                </a:r>
              </a:p>
            </p:txBody>
          </p:sp>
        </p:grpSp>
        <p:grpSp>
          <p:nvGrpSpPr>
            <p:cNvPr id="1240" name="v-vote-2-2"/>
            <p:cNvGrpSpPr/>
            <p:nvPr/>
          </p:nvGrpSpPr>
          <p:grpSpPr>
            <a:xfrm>
              <a:off x="5867400" y="3086100"/>
              <a:ext cx="457200" cy="457200"/>
              <a:chOff x="0" y="0"/>
              <a:chExt cx="457200" cy="457200"/>
            </a:xfrm>
          </p:grpSpPr>
          <p:sp>
            <p:nvSpPr>
              <p:cNvPr id="123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3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241" name="v-reuse-2"/>
            <p:cNvSpPr/>
            <p:nvPr/>
          </p:nvSpPr>
          <p:spPr>
            <a:xfrm>
              <a:off x="5429250"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244" name="v-node-3"/>
            <p:cNvGrpSpPr/>
            <p:nvPr/>
          </p:nvGrpSpPr>
          <p:grpSpPr>
            <a:xfrm>
              <a:off x="7000875" y="847725"/>
              <a:ext cx="1333500" cy="495300"/>
              <a:chOff x="0" y="0"/>
              <a:chExt cx="1333500" cy="495300"/>
            </a:xfrm>
          </p:grpSpPr>
          <p:sp>
            <p:nvSpPr>
              <p:cNvPr id="1242" name="Rounded Rectangle"/>
              <p:cNvSpPr/>
              <p:nvPr/>
            </p:nvSpPr>
            <p:spPr>
              <a:xfrm>
                <a:off x="0" y="0"/>
                <a:ext cx="1333500" cy="495300"/>
              </a:xfrm>
              <a:prstGeom prst="roundRect">
                <a:avLst>
                  <a:gd name="adj" fmla="val 13462"/>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000">
                    <a:solidFill>
                      <a:srgbClr val="158A70"/>
                    </a:solidFill>
                    <a:latin typeface="Arial"/>
                    <a:ea typeface="Arial"/>
                    <a:cs typeface="Arial"/>
                    <a:sym typeface="Arial"/>
                  </a:defRPr>
                </a:pPr>
              </a:p>
            </p:txBody>
          </p:sp>
          <p:sp>
            <p:nvSpPr>
              <p:cNvPr id="1243" name="n4"/>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58A70"/>
                    </a:solidFill>
                    <a:latin typeface="Arial"/>
                    <a:ea typeface="Arial"/>
                    <a:cs typeface="Arial"/>
                    <a:sym typeface="Arial"/>
                  </a:defRPr>
                </a:lvl1pPr>
              </a:lstStyle>
              <a:p>
                <a:pPr/>
                <a:r>
                  <a:t>n4</a:t>
                </a:r>
              </a:p>
            </p:txBody>
          </p:sp>
        </p:grpSp>
        <p:grpSp>
          <p:nvGrpSpPr>
            <p:cNvPr id="1247" name="v-vote-3-0"/>
            <p:cNvGrpSpPr/>
            <p:nvPr/>
          </p:nvGrpSpPr>
          <p:grpSpPr>
            <a:xfrm>
              <a:off x="7439025" y="1657350"/>
              <a:ext cx="457200" cy="457200"/>
              <a:chOff x="0" y="0"/>
              <a:chExt cx="457200" cy="457200"/>
            </a:xfrm>
          </p:grpSpPr>
          <p:sp>
            <p:nvSpPr>
              <p:cNvPr id="1245"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46"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50" name="v-vote-3-1"/>
            <p:cNvGrpSpPr/>
            <p:nvPr/>
          </p:nvGrpSpPr>
          <p:grpSpPr>
            <a:xfrm>
              <a:off x="7439025" y="2371725"/>
              <a:ext cx="457200" cy="457200"/>
              <a:chOff x="0" y="0"/>
              <a:chExt cx="457200" cy="457200"/>
            </a:xfrm>
          </p:grpSpPr>
          <p:sp>
            <p:nvSpPr>
              <p:cNvPr id="124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4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53" name="v-vote-3-2"/>
            <p:cNvGrpSpPr/>
            <p:nvPr/>
          </p:nvGrpSpPr>
          <p:grpSpPr>
            <a:xfrm>
              <a:off x="7439025" y="3086100"/>
              <a:ext cx="457200" cy="457200"/>
              <a:chOff x="0" y="0"/>
              <a:chExt cx="457200" cy="457200"/>
            </a:xfrm>
          </p:grpSpPr>
          <p:sp>
            <p:nvSpPr>
              <p:cNvPr id="125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5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sp>
          <p:nvSpPr>
            <p:cNvPr id="1254" name="v-reuse-3"/>
            <p:cNvSpPr/>
            <p:nvPr/>
          </p:nvSpPr>
          <p:spPr>
            <a:xfrm>
              <a:off x="7000875" y="3952875"/>
              <a:ext cx="1333500" cy="190500"/>
            </a:xfrm>
            <a:prstGeom prst="rect">
              <a:avLst/>
            </a:prstGeom>
            <a:solidFill>
              <a:srgbClr val="158A7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grpSp>
          <p:nvGrpSpPr>
            <p:cNvPr id="1257" name="v-node-4"/>
            <p:cNvGrpSpPr/>
            <p:nvPr/>
          </p:nvGrpSpPr>
          <p:grpSpPr>
            <a:xfrm>
              <a:off x="8572500" y="847725"/>
              <a:ext cx="1333500" cy="495300"/>
              <a:chOff x="0" y="0"/>
              <a:chExt cx="1333500" cy="495300"/>
            </a:xfrm>
          </p:grpSpPr>
          <p:sp>
            <p:nvSpPr>
              <p:cNvPr id="1255" name="Rounded Rectangle"/>
              <p:cNvSpPr/>
              <p:nvPr/>
            </p:nvSpPr>
            <p:spPr>
              <a:xfrm>
                <a:off x="0" y="0"/>
                <a:ext cx="1333500" cy="495300"/>
              </a:xfrm>
              <a:prstGeom prst="roundRect">
                <a:avLst>
                  <a:gd name="adj" fmla="val 13462"/>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000">
                    <a:solidFill>
                      <a:srgbClr val="BE4848"/>
                    </a:solidFill>
                    <a:latin typeface="Arial"/>
                    <a:ea typeface="Arial"/>
                    <a:cs typeface="Arial"/>
                    <a:sym typeface="Arial"/>
                  </a:defRPr>
                </a:pPr>
              </a:p>
            </p:txBody>
          </p:sp>
          <p:sp>
            <p:nvSpPr>
              <p:cNvPr id="1256" name="n5"/>
              <p:cNvSpPr txBox="1"/>
              <p:nvPr/>
            </p:nvSpPr>
            <p:spPr>
              <a:xfrm>
                <a:off x="29052" y="106389"/>
                <a:ext cx="1275396"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BE4848"/>
                    </a:solidFill>
                    <a:latin typeface="Arial"/>
                    <a:ea typeface="Arial"/>
                    <a:cs typeface="Arial"/>
                    <a:sym typeface="Arial"/>
                  </a:defRPr>
                </a:lvl1pPr>
              </a:lstStyle>
              <a:p>
                <a:pPr/>
                <a:r>
                  <a:t>n5</a:t>
                </a:r>
              </a:p>
            </p:txBody>
          </p:sp>
        </p:grpSp>
        <p:grpSp>
          <p:nvGrpSpPr>
            <p:cNvPr id="1260" name="v-vote-4-0"/>
            <p:cNvGrpSpPr/>
            <p:nvPr/>
          </p:nvGrpSpPr>
          <p:grpSpPr>
            <a:xfrm>
              <a:off x="9010650" y="1657350"/>
              <a:ext cx="457200" cy="457200"/>
              <a:chOff x="0" y="0"/>
              <a:chExt cx="457200" cy="457200"/>
            </a:xfrm>
          </p:grpSpPr>
          <p:sp>
            <p:nvSpPr>
              <p:cNvPr id="1258"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59"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63" name="v-vote-4-1"/>
            <p:cNvGrpSpPr/>
            <p:nvPr/>
          </p:nvGrpSpPr>
          <p:grpSpPr>
            <a:xfrm>
              <a:off x="9010650" y="2371725"/>
              <a:ext cx="457200" cy="457200"/>
              <a:chOff x="0" y="0"/>
              <a:chExt cx="457200" cy="457200"/>
            </a:xfrm>
          </p:grpSpPr>
          <p:sp>
            <p:nvSpPr>
              <p:cNvPr id="1261" name="Rounded Rectangle"/>
              <p:cNvSpPr/>
              <p:nvPr/>
            </p:nvSpPr>
            <p:spPr>
              <a:xfrm>
                <a:off x="0" y="0"/>
                <a:ext cx="457200" cy="457200"/>
              </a:xfrm>
              <a:prstGeom prst="roundRect">
                <a:avLst>
                  <a:gd name="adj" fmla="val 14583"/>
                </a:avLst>
              </a:prstGeom>
              <a:solidFill>
                <a:srgbClr val="E9F5EF"/>
              </a:solidFill>
              <a:ln w="19050" cap="flat">
                <a:solidFill>
                  <a:srgbClr val="158A70"/>
                </a:solidFill>
                <a:prstDash val="solid"/>
                <a:round/>
              </a:ln>
              <a:effectLst/>
            </p:spPr>
            <p:txBody>
              <a:bodyPr wrap="square" lIns="45718" tIns="45718" rIns="45718" bIns="45718" numCol="1" anchor="ctr">
                <a:noAutofit/>
              </a:bodyPr>
              <a:lstStyle/>
              <a:p>
                <a:pPr algn="ctr">
                  <a:defRPr b="1" sz="2400">
                    <a:solidFill>
                      <a:srgbClr val="158A70"/>
                    </a:solidFill>
                    <a:latin typeface="Arial"/>
                    <a:ea typeface="Arial"/>
                    <a:cs typeface="Arial"/>
                    <a:sym typeface="Arial"/>
                  </a:defRPr>
                </a:pPr>
              </a:p>
            </p:txBody>
          </p:sp>
          <p:sp>
            <p:nvSpPr>
              <p:cNvPr id="1262" name="✓"/>
              <p:cNvSpPr txBox="1"/>
              <p:nvPr/>
            </p:nvSpPr>
            <p:spPr>
              <a:xfrm>
                <a:off x="29051" y="51434"/>
                <a:ext cx="39909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158A70"/>
                    </a:solidFill>
                    <a:latin typeface="Arial"/>
                    <a:ea typeface="Arial"/>
                    <a:cs typeface="Arial"/>
                    <a:sym typeface="Arial"/>
                  </a:defRPr>
                </a:lvl1pPr>
              </a:lstStyle>
              <a:p>
                <a:pPr/>
                <a:r>
                  <a:t>✓</a:t>
                </a:r>
              </a:p>
            </p:txBody>
          </p:sp>
        </p:grpSp>
        <p:grpSp>
          <p:nvGrpSpPr>
            <p:cNvPr id="1266" name="v-vote-4-2"/>
            <p:cNvGrpSpPr/>
            <p:nvPr/>
          </p:nvGrpSpPr>
          <p:grpSpPr>
            <a:xfrm>
              <a:off x="9010650" y="3086100"/>
              <a:ext cx="457200" cy="457200"/>
              <a:chOff x="0" y="0"/>
              <a:chExt cx="457200" cy="457200"/>
            </a:xfrm>
          </p:grpSpPr>
          <p:sp>
            <p:nvSpPr>
              <p:cNvPr id="1264" name="Rounded Rectangle"/>
              <p:cNvSpPr/>
              <p:nvPr/>
            </p:nvSpPr>
            <p:spPr>
              <a:xfrm>
                <a:off x="0" y="0"/>
                <a:ext cx="457200" cy="457200"/>
              </a:xfrm>
              <a:prstGeom prst="roundRect">
                <a:avLst>
                  <a:gd name="adj" fmla="val 14583"/>
                </a:avLst>
              </a:prstGeom>
              <a:solidFill>
                <a:srgbClr val="FBEAEA"/>
              </a:solidFill>
              <a:ln w="19050" cap="flat">
                <a:solidFill>
                  <a:srgbClr val="BE4848"/>
                </a:solidFill>
                <a:prstDash val="solid"/>
                <a:round/>
              </a:ln>
              <a:effectLst/>
            </p:spPr>
            <p:txBody>
              <a:bodyPr wrap="square" lIns="45718" tIns="45718" rIns="45718" bIns="45718" numCol="1" anchor="ctr">
                <a:noAutofit/>
              </a:bodyPr>
              <a:lstStyle/>
              <a:p>
                <a:pPr algn="ctr">
                  <a:defRPr b="1" sz="2400">
                    <a:solidFill>
                      <a:srgbClr val="BE4848"/>
                    </a:solidFill>
                    <a:latin typeface="Arial"/>
                    <a:ea typeface="Arial"/>
                    <a:cs typeface="Arial"/>
                    <a:sym typeface="Arial"/>
                  </a:defRPr>
                </a:pPr>
              </a:p>
            </p:txBody>
          </p:sp>
          <p:sp>
            <p:nvSpPr>
              <p:cNvPr id="1265" name="×"/>
              <p:cNvSpPr txBox="1"/>
              <p:nvPr/>
            </p:nvSpPr>
            <p:spPr>
              <a:xfrm>
                <a:off x="29051" y="56420"/>
                <a:ext cx="399098" cy="345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BE4848"/>
                    </a:solidFill>
                    <a:latin typeface="Arial"/>
                    <a:ea typeface="Arial"/>
                    <a:cs typeface="Arial"/>
                    <a:sym typeface="Arial"/>
                  </a:defRPr>
                </a:lvl1pPr>
              </a:lstStyle>
              <a:p>
                <a:pPr/>
                <a:r>
                  <a:t>×</a:t>
                </a:r>
              </a:p>
            </p:txBody>
          </p:sp>
        </p:grpSp>
        <p:sp>
          <p:nvSpPr>
            <p:cNvPr id="1267" name="v-reuse-4"/>
            <p:cNvSpPr/>
            <p:nvPr/>
          </p:nvSpPr>
          <p:spPr>
            <a:xfrm>
              <a:off x="8572500" y="3952875"/>
              <a:ext cx="1333500" cy="190500"/>
            </a:xfrm>
            <a:prstGeom prst="rect">
              <a:avLst/>
            </a:prstGeom>
            <a:solidFill>
              <a:srgbClr val="E6EAF0"/>
            </a:solidFill>
            <a:ln w="12700" cap="flat">
              <a:noFill/>
              <a:miter lim="400000"/>
            </a:ln>
            <a:effectLst/>
          </p:spPr>
          <p:txBody>
            <a:bodyPr wrap="square" lIns="45718" tIns="45718" rIns="45718" bIns="45718" numCol="1" anchor="t">
              <a:noAutofit/>
            </a:bodyPr>
            <a:lstStyle/>
            <a:p>
              <a:pPr>
                <a:defRPr>
                  <a:latin typeface="+mj-lt"/>
                  <a:ea typeface="+mj-ea"/>
                  <a:cs typeface="+mj-cs"/>
                  <a:sym typeface="Helvetica"/>
                </a:defRPr>
              </a:pPr>
            </a:p>
          </p:txBody>
        </p:sp>
        <p:sp>
          <p:nvSpPr>
            <p:cNvPr id="1268" name="v-row-0"/>
            <p:cNvSpPr txBox="1"/>
            <p:nvPr/>
          </p:nvSpPr>
          <p:spPr>
            <a:xfrm>
              <a:off x="200023" y="174468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85091"/>
                  </a:solidFill>
                  <a:latin typeface="Arial"/>
                  <a:ea typeface="Arial"/>
                  <a:cs typeface="Arial"/>
                  <a:sym typeface="Arial"/>
                </a:defRPr>
              </a:lvl1pPr>
            </a:lstStyle>
            <a:p>
              <a:pPr/>
              <a:r>
                <a:t>FULL</a:t>
              </a:r>
            </a:p>
          </p:txBody>
        </p:sp>
        <p:sp>
          <p:nvSpPr>
            <p:cNvPr id="1269" name="v-row-1"/>
            <p:cNvSpPr txBox="1"/>
            <p:nvPr/>
          </p:nvSpPr>
          <p:spPr>
            <a:xfrm>
              <a:off x="200023" y="2459064"/>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B67A00"/>
                  </a:solidFill>
                  <a:latin typeface="Arial"/>
                  <a:ea typeface="Arial"/>
                  <a:cs typeface="Arial"/>
                  <a:sym typeface="Arial"/>
                </a:defRPr>
              </a:lvl1pPr>
            </a:lstStyle>
            <a:p>
              <a:pPr/>
              <a:r>
                <a:t>SWA</a:t>
              </a:r>
            </a:p>
          </p:txBody>
        </p:sp>
        <p:sp>
          <p:nvSpPr>
            <p:cNvPr id="1270" name="v-row-2"/>
            <p:cNvSpPr txBox="1"/>
            <p:nvPr/>
          </p:nvSpPr>
          <p:spPr>
            <a:xfrm>
              <a:off x="200023" y="3173439"/>
              <a:ext cx="1809752" cy="2837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8056BF"/>
                  </a:solidFill>
                  <a:latin typeface="Arial"/>
                  <a:ea typeface="Arial"/>
                  <a:cs typeface="Arial"/>
                  <a:sym typeface="Arial"/>
                </a:defRPr>
              </a:lvl1pPr>
            </a:lstStyle>
            <a:p>
              <a:pPr/>
              <a:r>
                <a:t>MAMBA</a:t>
              </a:r>
            </a:p>
          </p:txBody>
        </p:sp>
        <p:sp>
          <p:nvSpPr>
            <p:cNvPr id="1271" name="v-boundary"/>
            <p:cNvSpPr txBox="1"/>
            <p:nvPr/>
          </p:nvSpPr>
          <p:spPr>
            <a:xfrm>
              <a:off x="2286000" y="4328159"/>
              <a:ext cx="58102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58A70"/>
                  </a:solidFill>
                  <a:latin typeface="+mj-lt"/>
                  <a:ea typeface="+mj-ea"/>
                  <a:cs typeface="+mj-cs"/>
                  <a:sym typeface="Helvetica"/>
                </a:defRPr>
              </a:lvl1pPr>
            </a:lstStyle>
            <a:p>
              <a:pPr/>
              <a:r>
                <a:t>Deepest safe boundary: n4</a:t>
              </a:r>
            </a:p>
          </p:txBody>
        </p:sp>
        <p:sp>
          <p:nvSpPr>
            <p:cNvPr id="1272" name="v-recompute"/>
            <p:cNvSpPr txBox="1"/>
            <p:nvPr/>
          </p:nvSpPr>
          <p:spPr>
            <a:xfrm>
              <a:off x="8572500" y="4382075"/>
              <a:ext cx="1428750"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BE4848"/>
                  </a:solidFill>
                  <a:latin typeface="Arial"/>
                  <a:ea typeface="Arial"/>
                  <a:cs typeface="Arial"/>
                  <a:sym typeface="Arial"/>
                </a:defRPr>
              </a:lvl1pPr>
            </a:lstStyle>
            <a:p>
              <a:pPr/>
              <a:r>
                <a:t>Recompute n5</a:t>
              </a:r>
            </a:p>
          </p:txBody>
        </p:sp>
        <p:sp>
          <p:nvSpPr>
            <p:cNvPr id="1273" name="v-takeaway"/>
            <p:cNvSpPr txBox="1"/>
            <p:nvPr/>
          </p:nvSpPr>
          <p:spPr>
            <a:xfrm>
              <a:off x="2286000" y="4832984"/>
              <a:ext cx="7905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solidFill>
                    <a:srgbClr val="233852"/>
                  </a:solidFill>
                  <a:latin typeface="+mj-lt"/>
                  <a:ea typeface="+mj-ea"/>
                  <a:cs typeface="+mj-cs"/>
                  <a:sym typeface="Helvetica"/>
                </a:defRPr>
              </a:lvl1pPr>
            </a:lstStyle>
            <a:p>
              <a:pPr/>
              <a:r>
                <a:t>Keep checking even after a candidate is rejected.</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977"/>
                                        </p:tgtEl>
                                        <p:attrNameLst>
                                          <p:attrName>style.visibility</p:attrName>
                                        </p:attrNameLst>
                                      </p:cBhvr>
                                      <p:to>
                                        <p:strVal val="visible"/>
                                      </p:to>
                                    </p:set>
                                    <p:animEffect filter="fade" transition="in">
                                      <p:cBhvr>
                                        <p:cTn id="7" dur="180"/>
                                        <p:tgtEl>
                                          <p:spTgt spid="97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051"/>
                                        </p:tgtEl>
                                        <p:attrNameLst>
                                          <p:attrName>style.visibility</p:attrName>
                                        </p:attrNameLst>
                                      </p:cBhvr>
                                      <p:to>
                                        <p:strVal val="visible"/>
                                      </p:to>
                                    </p:set>
                                    <p:animEffect filter="fade" transition="in">
                                      <p:cBhvr>
                                        <p:cTn id="12" dur="180"/>
                                        <p:tgtEl>
                                          <p:spTgt spid="105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125"/>
                                        </p:tgtEl>
                                        <p:attrNameLst>
                                          <p:attrName>style.visibility</p:attrName>
                                        </p:attrNameLst>
                                      </p:cBhvr>
                                      <p:to>
                                        <p:strVal val="visible"/>
                                      </p:to>
                                    </p:set>
                                    <p:animEffect filter="fade" transition="in">
                                      <p:cBhvr>
                                        <p:cTn id="17" dur="180"/>
                                        <p:tgtEl>
                                          <p:spTgt spid="1125"/>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199"/>
                                        </p:tgtEl>
                                        <p:attrNameLst>
                                          <p:attrName>style.visibility</p:attrName>
                                        </p:attrNameLst>
                                      </p:cBhvr>
                                      <p:to>
                                        <p:strVal val="visible"/>
                                      </p:to>
                                    </p:set>
                                    <p:animEffect filter="fade" transition="in">
                                      <p:cBhvr>
                                        <p:cTn id="22" dur="180"/>
                                        <p:tgtEl>
                                          <p:spTgt spid="119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274"/>
                                        </p:tgtEl>
                                        <p:attrNameLst>
                                          <p:attrName>style.visibility</p:attrName>
                                        </p:attrNameLst>
                                      </p:cBhvr>
                                      <p:to>
                                        <p:strVal val="visible"/>
                                      </p:to>
                                    </p:set>
                                    <p:animEffect filter="fade" transition="in">
                                      <p:cBhvr>
                                        <p:cTn id="27" dur="180"/>
                                        <p:tgtEl>
                                          <p:spTgt spid="1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77" grpId="1"/>
      <p:bldP build="whole" bldLvl="1" animBg="1" rev="0" advAuto="0" spid="1051" grpId="2"/>
      <p:bldP build="whole" bldLvl="1" animBg="1" rev="0" advAuto="0" spid="1274" grpId="5"/>
      <p:bldP build="whole" bldLvl="1" animBg="1" rev="0" advAuto="0" spid="1199" grpId="4"/>
      <p:bldP build="whole" bldLvl="1" animBg="1" rev="0" advAuto="0" spid="1125" grpId="3"/>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8"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Component Hooks: Core and Component Roles</a:t>
            </a:r>
          </a:p>
        </p:txBody>
      </p:sp>
      <p:sp>
        <p:nvSpPr>
          <p:cNvPr id="1279"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20</a:t>
            </a:r>
          </a:p>
        </p:txBody>
      </p:sp>
      <p:pic>
        <p:nvPicPr>
          <p:cNvPr id="1280"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281"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pic>
        <p:nvPicPr>
          <p:cNvPr id="1282" name="pasted-movie.png" descr="pasted-movie.png"/>
          <p:cNvPicPr>
            <a:picLocks noChangeAspect="1"/>
          </p:cNvPicPr>
          <p:nvPr/>
        </p:nvPicPr>
        <p:blipFill>
          <a:blip r:embed="rId5">
            <a:extLst/>
          </a:blip>
          <a:srcRect l="5221" t="11228" r="10814" b="17816"/>
          <a:stretch>
            <a:fillRect/>
          </a:stretch>
        </p:blipFill>
        <p:spPr>
          <a:xfrm>
            <a:off x="732829" y="826133"/>
            <a:ext cx="10726432" cy="5101554"/>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6" name="文本占位符 1"/>
          <p:cNvSpPr txBox="1"/>
          <p:nvPr>
            <p:ph type="body" sz="half" idx="1"/>
          </p:nvPr>
        </p:nvSpPr>
        <p:spPr>
          <a:xfrm>
            <a:off x="569208" y="2821714"/>
            <a:ext cx="8887195" cy="2067176"/>
          </a:xfrm>
          <a:prstGeom prst="rect">
            <a:avLst/>
          </a:prstGeom>
        </p:spPr>
        <p:txBody>
          <a:bodyPr/>
          <a:lstStyle/>
          <a:p>
            <a:pPr defTabSz="859536">
              <a:spcBef>
                <a:spcPts val="900"/>
              </a:spcBef>
              <a:defRPr sz="5000">
                <a:effectLst>
                  <a:outerShdw sx="100000" sy="100000" kx="0" ky="0" algn="b" rotWithShape="0" blurRad="38100" dist="35814" dir="2700000">
                    <a:srgbClr val="000000">
                      <a:alpha val="43137"/>
                    </a:srgbClr>
                  </a:outerShdw>
                </a:effectLst>
              </a:defRPr>
            </a:pPr>
            <a:r>
              <a:t>Other Optimization </a:t>
            </a:r>
            <a:br/>
            <a:r>
              <a:t>Based On Unified Radix Tree</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0"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Session-aware Eviction: Cache for the Next Turn</a:t>
            </a:r>
          </a:p>
        </p:txBody>
      </p:sp>
      <p:sp>
        <p:nvSpPr>
          <p:cNvPr id="1291"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22</a:t>
            </a:r>
          </a:p>
        </p:txBody>
      </p:sp>
      <p:pic>
        <p:nvPicPr>
          <p:cNvPr id="1292"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293"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294" name="body-1"/>
          <p:cNvSpPr txBox="1"/>
          <p:nvPr/>
        </p:nvSpPr>
        <p:spPr>
          <a:xfrm>
            <a:off x="812800" y="1003299"/>
            <a:ext cx="629498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Prefer to evict entries with no active session references.</a:t>
            </a:r>
          </a:p>
        </p:txBody>
      </p:sp>
      <p:sp>
        <p:nvSpPr>
          <p:cNvPr id="1295" name="body-3"/>
          <p:cNvSpPr txBox="1"/>
          <p:nvPr/>
        </p:nvSpPr>
        <p:spPr>
          <a:xfrm>
            <a:off x="2908300" y="1974849"/>
            <a:ext cx="99120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400">
                <a:solidFill>
                  <a:srgbClr val="5C7392"/>
                </a:solidFill>
                <a:latin typeface="+mj-lt"/>
                <a:ea typeface="+mj-ea"/>
                <a:cs typeface="+mj-cs"/>
                <a:sym typeface="Helvetica"/>
              </a:defRPr>
            </a:lvl1pPr>
          </a:lstStyle>
          <a:p>
            <a:pPr/>
            <a:r>
              <a:t>Least recent</a:t>
            </a:r>
          </a:p>
        </p:txBody>
      </p:sp>
      <p:sp>
        <p:nvSpPr>
          <p:cNvPr id="1296" name="body-4"/>
          <p:cNvSpPr txBox="1"/>
          <p:nvPr/>
        </p:nvSpPr>
        <p:spPr>
          <a:xfrm>
            <a:off x="9878850" y="1974849"/>
            <a:ext cx="941550"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r">
              <a:defRPr sz="1400">
                <a:solidFill>
                  <a:srgbClr val="5C7392"/>
                </a:solidFill>
                <a:latin typeface="+mj-lt"/>
                <a:ea typeface="+mj-ea"/>
                <a:cs typeface="+mj-cs"/>
                <a:sym typeface="Helvetica"/>
              </a:defRPr>
            </a:lvl1pPr>
          </a:lstStyle>
          <a:p>
            <a:pPr/>
            <a:r>
              <a:t>Most recent</a:t>
            </a:r>
          </a:p>
        </p:txBody>
      </p:sp>
      <p:sp>
        <p:nvSpPr>
          <p:cNvPr id="1297" name="body-5"/>
          <p:cNvSpPr/>
          <p:nvPr/>
        </p:nvSpPr>
        <p:spPr>
          <a:xfrm>
            <a:off x="4254500" y="2095500"/>
            <a:ext cx="4889500" cy="0"/>
          </a:xfrm>
          <a:prstGeom prst="line">
            <a:avLst/>
          </a:prstGeom>
          <a:ln w="16510">
            <a:solidFill>
              <a:srgbClr val="B9CCE4"/>
            </a:solidFill>
          </a:ln>
        </p:spPr>
        <p:txBody>
          <a:bodyPr lIns="45718" tIns="45718" rIns="45718" bIns="45718"/>
          <a:lstStyle/>
          <a:p>
            <a:pPr/>
          </a:p>
        </p:txBody>
      </p:sp>
      <p:sp>
        <p:nvSpPr>
          <p:cNvPr id="1298" name="body-6"/>
          <p:cNvSpPr/>
          <p:nvPr/>
        </p:nvSpPr>
        <p:spPr>
          <a:xfrm>
            <a:off x="9029700" y="2044700"/>
            <a:ext cx="228600" cy="101600"/>
          </a:xfrm>
          <a:prstGeom prst="rightArrow">
            <a:avLst>
              <a:gd name="adj1" fmla="val 50000"/>
              <a:gd name="adj2" fmla="val 50000"/>
            </a:avLst>
          </a:prstGeom>
          <a:solidFill>
            <a:srgbClr val="B9CCE4"/>
          </a:solidFill>
          <a:ln w="12700">
            <a:miter lim="400000"/>
          </a:ln>
        </p:spPr>
        <p:txBody>
          <a:bodyPr lIns="45718" tIns="45718" rIns="45718" bIns="45718"/>
          <a:lstStyle/>
          <a:p>
            <a:pPr>
              <a:defRPr>
                <a:latin typeface="+mj-lt"/>
                <a:ea typeface="+mj-ea"/>
                <a:cs typeface="+mj-cs"/>
                <a:sym typeface="Helvetica"/>
              </a:defRPr>
            </a:pPr>
          </a:p>
        </p:txBody>
      </p:sp>
      <p:sp>
        <p:nvSpPr>
          <p:cNvPr id="1299" name="body-7"/>
          <p:cNvSpPr txBox="1"/>
          <p:nvPr/>
        </p:nvSpPr>
        <p:spPr>
          <a:xfrm>
            <a:off x="812800" y="2387599"/>
            <a:ext cx="1248644"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D5093"/>
                </a:solidFill>
                <a:latin typeface="+mj-lt"/>
                <a:ea typeface="+mj-ea"/>
                <a:cs typeface="+mj-cs"/>
                <a:sym typeface="Helvetica"/>
              </a:defRPr>
            </a:lvl1pPr>
          </a:lstStyle>
          <a:p>
            <a:pPr/>
            <a:r>
              <a:t>Cache entry</a:t>
            </a:r>
          </a:p>
        </p:txBody>
      </p:sp>
      <p:sp>
        <p:nvSpPr>
          <p:cNvPr id="1300" name="body-8"/>
          <p:cNvSpPr txBox="1"/>
          <p:nvPr/>
        </p:nvSpPr>
        <p:spPr>
          <a:xfrm>
            <a:off x="812800" y="2832099"/>
            <a:ext cx="1200678"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Session refs</a:t>
            </a:r>
          </a:p>
        </p:txBody>
      </p:sp>
      <p:sp>
        <p:nvSpPr>
          <p:cNvPr id="1301" name="body-9"/>
          <p:cNvSpPr txBox="1"/>
          <p:nvPr/>
        </p:nvSpPr>
        <p:spPr>
          <a:xfrm>
            <a:off x="3450803" y="2362199"/>
            <a:ext cx="3373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A1</a:t>
            </a:r>
          </a:p>
        </p:txBody>
      </p:sp>
      <p:sp>
        <p:nvSpPr>
          <p:cNvPr id="1302" name="body-10"/>
          <p:cNvSpPr txBox="1"/>
          <p:nvPr/>
        </p:nvSpPr>
        <p:spPr>
          <a:xfrm>
            <a:off x="3541147" y="2832099"/>
            <a:ext cx="156705"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700">
                <a:solidFill>
                  <a:srgbClr val="5C7392"/>
                </a:solidFill>
                <a:latin typeface="+mj-lt"/>
                <a:ea typeface="+mj-ea"/>
                <a:cs typeface="+mj-cs"/>
                <a:sym typeface="Helvetica"/>
              </a:defRPr>
            </a:lvl1pPr>
          </a:lstStyle>
          <a:p>
            <a:pPr/>
            <a:r>
              <a:t>A</a:t>
            </a:r>
          </a:p>
        </p:txBody>
      </p:sp>
      <p:sp>
        <p:nvSpPr>
          <p:cNvPr id="1303" name="body-11"/>
          <p:cNvSpPr txBox="1"/>
          <p:nvPr/>
        </p:nvSpPr>
        <p:spPr>
          <a:xfrm>
            <a:off x="5076403" y="2362199"/>
            <a:ext cx="3373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B1</a:t>
            </a:r>
          </a:p>
        </p:txBody>
      </p:sp>
      <p:sp>
        <p:nvSpPr>
          <p:cNvPr id="1304" name="body-12"/>
          <p:cNvSpPr txBox="1"/>
          <p:nvPr/>
        </p:nvSpPr>
        <p:spPr>
          <a:xfrm>
            <a:off x="5166747" y="2832099"/>
            <a:ext cx="156705"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700">
                <a:solidFill>
                  <a:srgbClr val="5C7392"/>
                </a:solidFill>
                <a:latin typeface="+mj-lt"/>
                <a:ea typeface="+mj-ea"/>
                <a:cs typeface="+mj-cs"/>
                <a:sym typeface="Helvetica"/>
              </a:defRPr>
            </a:lvl1pPr>
          </a:lstStyle>
          <a:p>
            <a:pPr/>
            <a:r>
              <a:t>B</a:t>
            </a:r>
          </a:p>
        </p:txBody>
      </p:sp>
      <p:sp>
        <p:nvSpPr>
          <p:cNvPr id="1305" name="body-13"/>
          <p:cNvSpPr txBox="1"/>
          <p:nvPr/>
        </p:nvSpPr>
        <p:spPr>
          <a:xfrm>
            <a:off x="6680918" y="2362199"/>
            <a:ext cx="379563"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AB</a:t>
            </a:r>
          </a:p>
        </p:txBody>
      </p:sp>
      <p:sp>
        <p:nvSpPr>
          <p:cNvPr id="1306" name="body-14"/>
          <p:cNvSpPr txBox="1"/>
          <p:nvPr/>
        </p:nvSpPr>
        <p:spPr>
          <a:xfrm>
            <a:off x="6603224" y="2832099"/>
            <a:ext cx="534951"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700">
                <a:solidFill>
                  <a:srgbClr val="5C7392"/>
                </a:solidFill>
                <a:latin typeface="+mj-lt"/>
                <a:ea typeface="+mj-ea"/>
                <a:cs typeface="+mj-cs"/>
                <a:sym typeface="Helvetica"/>
              </a:defRPr>
            </a:lvl1pPr>
          </a:lstStyle>
          <a:p>
            <a:pPr/>
            <a:r>
              <a:t>A + B</a:t>
            </a:r>
          </a:p>
        </p:txBody>
      </p:sp>
      <p:sp>
        <p:nvSpPr>
          <p:cNvPr id="1307" name="body-15"/>
          <p:cNvSpPr txBox="1"/>
          <p:nvPr/>
        </p:nvSpPr>
        <p:spPr>
          <a:xfrm>
            <a:off x="8327603" y="2362199"/>
            <a:ext cx="3373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C1</a:t>
            </a:r>
          </a:p>
        </p:txBody>
      </p:sp>
      <p:sp>
        <p:nvSpPr>
          <p:cNvPr id="1308" name="body-16"/>
          <p:cNvSpPr txBox="1"/>
          <p:nvPr/>
        </p:nvSpPr>
        <p:spPr>
          <a:xfrm>
            <a:off x="8231882" y="2832099"/>
            <a:ext cx="528836"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700">
                <a:solidFill>
                  <a:srgbClr val="5C7392"/>
                </a:solidFill>
                <a:latin typeface="+mj-lt"/>
                <a:ea typeface="+mj-ea"/>
                <a:cs typeface="+mj-cs"/>
                <a:sym typeface="Helvetica"/>
              </a:defRPr>
            </a:lvl1pPr>
          </a:lstStyle>
          <a:p>
            <a:pPr/>
            <a:r>
              <a:t>None</a:t>
            </a:r>
          </a:p>
        </p:txBody>
      </p:sp>
      <p:sp>
        <p:nvSpPr>
          <p:cNvPr id="1309" name="body-17"/>
          <p:cNvSpPr txBox="1"/>
          <p:nvPr/>
        </p:nvSpPr>
        <p:spPr>
          <a:xfrm>
            <a:off x="9953203" y="2362199"/>
            <a:ext cx="3373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C2</a:t>
            </a:r>
          </a:p>
        </p:txBody>
      </p:sp>
      <p:sp>
        <p:nvSpPr>
          <p:cNvPr id="1310" name="body-18"/>
          <p:cNvSpPr txBox="1"/>
          <p:nvPr/>
        </p:nvSpPr>
        <p:spPr>
          <a:xfrm>
            <a:off x="9857482" y="2832099"/>
            <a:ext cx="528836"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700">
                <a:solidFill>
                  <a:srgbClr val="5C7392"/>
                </a:solidFill>
                <a:latin typeface="+mj-lt"/>
                <a:ea typeface="+mj-ea"/>
                <a:cs typeface="+mj-cs"/>
                <a:sym typeface="Helvetica"/>
              </a:defRPr>
            </a:lvl1pPr>
          </a:lstStyle>
          <a:p>
            <a:pPr/>
            <a:r>
              <a:t>None</a:t>
            </a:r>
          </a:p>
        </p:txBody>
      </p:sp>
      <p:sp>
        <p:nvSpPr>
          <p:cNvPr id="1311" name="body-19"/>
          <p:cNvSpPr/>
          <p:nvPr/>
        </p:nvSpPr>
        <p:spPr>
          <a:xfrm>
            <a:off x="812800" y="3276600"/>
            <a:ext cx="10033000" cy="0"/>
          </a:xfrm>
          <a:prstGeom prst="line">
            <a:avLst/>
          </a:prstGeom>
          <a:ln w="16510">
            <a:solidFill>
              <a:srgbClr val="B9CCE4"/>
            </a:solidFill>
          </a:ln>
        </p:spPr>
        <p:txBody>
          <a:bodyPr lIns="45718" tIns="45718" rIns="45718" bIns="45718"/>
          <a:lstStyle/>
          <a:p>
            <a:pPr/>
          </a:p>
        </p:txBody>
      </p:sp>
      <p:sp>
        <p:nvSpPr>
          <p:cNvPr id="1312" name="body-20"/>
          <p:cNvSpPr txBox="1"/>
          <p:nvPr/>
        </p:nvSpPr>
        <p:spPr>
          <a:xfrm>
            <a:off x="719275" y="3632198"/>
            <a:ext cx="1889672"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2D5093"/>
                </a:solidFill>
                <a:latin typeface="+mj-lt"/>
                <a:ea typeface="+mj-ea"/>
                <a:cs typeface="+mj-cs"/>
                <a:sym typeface="Helvetica"/>
              </a:defRPr>
            </a:lvl1pPr>
          </a:lstStyle>
          <a:p>
            <a:pPr/>
            <a:r>
              <a:t>Traditional LRU</a:t>
            </a:r>
          </a:p>
        </p:txBody>
      </p:sp>
      <p:sp>
        <p:nvSpPr>
          <p:cNvPr id="1313" name="body-21"/>
          <p:cNvSpPr txBox="1"/>
          <p:nvPr/>
        </p:nvSpPr>
        <p:spPr>
          <a:xfrm>
            <a:off x="812800" y="4349749"/>
            <a:ext cx="1702625" cy="292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900">
                <a:solidFill>
                  <a:srgbClr val="2D5093"/>
                </a:solidFill>
                <a:latin typeface="+mj-lt"/>
                <a:ea typeface="+mj-ea"/>
                <a:cs typeface="+mj-cs"/>
                <a:sym typeface="Helvetica"/>
              </a:defRPr>
            </a:lvl1pPr>
          </a:lstStyle>
          <a:p>
            <a:pPr/>
            <a:r>
              <a:t>Session-aware</a:t>
            </a:r>
          </a:p>
        </p:txBody>
      </p:sp>
      <p:grpSp>
        <p:nvGrpSpPr>
          <p:cNvPr id="1316" name="body-22"/>
          <p:cNvGrpSpPr/>
          <p:nvPr/>
        </p:nvGrpSpPr>
        <p:grpSpPr>
          <a:xfrm>
            <a:off x="2908300" y="3543300"/>
            <a:ext cx="1422400" cy="482600"/>
            <a:chOff x="0" y="0"/>
            <a:chExt cx="1422400" cy="482600"/>
          </a:xfrm>
        </p:grpSpPr>
        <p:sp>
          <p:nvSpPr>
            <p:cNvPr id="1314" name="Rounded Rectangle"/>
            <p:cNvSpPr/>
            <p:nvPr/>
          </p:nvSpPr>
          <p:spPr>
            <a:xfrm>
              <a:off x="0" y="0"/>
              <a:ext cx="1422400" cy="482600"/>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700">
                  <a:solidFill>
                    <a:srgbClr val="5C7392"/>
                  </a:solidFill>
                  <a:latin typeface="+mj-lt"/>
                  <a:ea typeface="+mj-ea"/>
                  <a:cs typeface="+mj-cs"/>
                  <a:sym typeface="Helvetica"/>
                </a:defRPr>
              </a:pPr>
            </a:p>
          </p:txBody>
        </p:sp>
        <p:sp>
          <p:nvSpPr>
            <p:cNvPr id="1315" name="Evict"/>
            <p:cNvSpPr txBox="1"/>
            <p:nvPr/>
          </p:nvSpPr>
          <p:spPr>
            <a:xfrm>
              <a:off x="446833" y="114298"/>
              <a:ext cx="52873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5C7392"/>
                  </a:solidFill>
                  <a:latin typeface="+mj-lt"/>
                  <a:ea typeface="+mj-ea"/>
                  <a:cs typeface="+mj-cs"/>
                  <a:sym typeface="Helvetica"/>
                </a:defRPr>
              </a:lvl1pPr>
            </a:lstStyle>
            <a:p>
              <a:pPr/>
              <a:r>
                <a:t>Evict</a:t>
              </a:r>
            </a:p>
          </p:txBody>
        </p:sp>
      </p:grpSp>
      <p:grpSp>
        <p:nvGrpSpPr>
          <p:cNvPr id="1319" name="body-23"/>
          <p:cNvGrpSpPr/>
          <p:nvPr/>
        </p:nvGrpSpPr>
        <p:grpSpPr>
          <a:xfrm>
            <a:off x="2908300" y="4267200"/>
            <a:ext cx="1422400" cy="482600"/>
            <a:chOff x="0" y="0"/>
            <a:chExt cx="1422400" cy="482600"/>
          </a:xfrm>
        </p:grpSpPr>
        <p:sp>
          <p:nvSpPr>
            <p:cNvPr id="1317"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18"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22" name="body-24"/>
          <p:cNvGrpSpPr/>
          <p:nvPr/>
        </p:nvGrpSpPr>
        <p:grpSpPr>
          <a:xfrm>
            <a:off x="4533900" y="3543300"/>
            <a:ext cx="1422400" cy="482600"/>
            <a:chOff x="0" y="0"/>
            <a:chExt cx="1422400" cy="482600"/>
          </a:xfrm>
        </p:grpSpPr>
        <p:sp>
          <p:nvSpPr>
            <p:cNvPr id="1320" name="Rounded Rectangle"/>
            <p:cNvSpPr/>
            <p:nvPr/>
          </p:nvSpPr>
          <p:spPr>
            <a:xfrm>
              <a:off x="0" y="0"/>
              <a:ext cx="1422400" cy="482600"/>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700">
                  <a:solidFill>
                    <a:srgbClr val="5C7392"/>
                  </a:solidFill>
                  <a:latin typeface="+mj-lt"/>
                  <a:ea typeface="+mj-ea"/>
                  <a:cs typeface="+mj-cs"/>
                  <a:sym typeface="Helvetica"/>
                </a:defRPr>
              </a:pPr>
            </a:p>
          </p:txBody>
        </p:sp>
        <p:sp>
          <p:nvSpPr>
            <p:cNvPr id="1321" name="Evict"/>
            <p:cNvSpPr txBox="1"/>
            <p:nvPr/>
          </p:nvSpPr>
          <p:spPr>
            <a:xfrm>
              <a:off x="446833" y="114298"/>
              <a:ext cx="52873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5C7392"/>
                  </a:solidFill>
                  <a:latin typeface="+mj-lt"/>
                  <a:ea typeface="+mj-ea"/>
                  <a:cs typeface="+mj-cs"/>
                  <a:sym typeface="Helvetica"/>
                </a:defRPr>
              </a:lvl1pPr>
            </a:lstStyle>
            <a:p>
              <a:pPr/>
              <a:r>
                <a:t>Evict</a:t>
              </a:r>
            </a:p>
          </p:txBody>
        </p:sp>
      </p:grpSp>
      <p:grpSp>
        <p:nvGrpSpPr>
          <p:cNvPr id="1325" name="body-25"/>
          <p:cNvGrpSpPr/>
          <p:nvPr/>
        </p:nvGrpSpPr>
        <p:grpSpPr>
          <a:xfrm>
            <a:off x="4533900" y="4267200"/>
            <a:ext cx="1422400" cy="482600"/>
            <a:chOff x="0" y="0"/>
            <a:chExt cx="1422400" cy="482600"/>
          </a:xfrm>
        </p:grpSpPr>
        <p:sp>
          <p:nvSpPr>
            <p:cNvPr id="1323"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24"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28" name="body-26"/>
          <p:cNvGrpSpPr/>
          <p:nvPr/>
        </p:nvGrpSpPr>
        <p:grpSpPr>
          <a:xfrm>
            <a:off x="6159500" y="3543300"/>
            <a:ext cx="1422400" cy="482600"/>
            <a:chOff x="0" y="0"/>
            <a:chExt cx="1422400" cy="482600"/>
          </a:xfrm>
        </p:grpSpPr>
        <p:sp>
          <p:nvSpPr>
            <p:cNvPr id="1326"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27"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31" name="body-27"/>
          <p:cNvGrpSpPr/>
          <p:nvPr/>
        </p:nvGrpSpPr>
        <p:grpSpPr>
          <a:xfrm>
            <a:off x="6159500" y="4267200"/>
            <a:ext cx="1422400" cy="482600"/>
            <a:chOff x="0" y="0"/>
            <a:chExt cx="1422400" cy="482600"/>
          </a:xfrm>
        </p:grpSpPr>
        <p:sp>
          <p:nvSpPr>
            <p:cNvPr id="1329"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30"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34" name="body-28"/>
          <p:cNvGrpSpPr/>
          <p:nvPr/>
        </p:nvGrpSpPr>
        <p:grpSpPr>
          <a:xfrm>
            <a:off x="7785100" y="3543300"/>
            <a:ext cx="1422400" cy="482600"/>
            <a:chOff x="0" y="0"/>
            <a:chExt cx="1422400" cy="482600"/>
          </a:xfrm>
        </p:grpSpPr>
        <p:sp>
          <p:nvSpPr>
            <p:cNvPr id="1332"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33"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37" name="body-29"/>
          <p:cNvGrpSpPr/>
          <p:nvPr/>
        </p:nvGrpSpPr>
        <p:grpSpPr>
          <a:xfrm>
            <a:off x="7785100" y="4267200"/>
            <a:ext cx="1422400" cy="482600"/>
            <a:chOff x="0" y="0"/>
            <a:chExt cx="1422400" cy="482600"/>
          </a:xfrm>
        </p:grpSpPr>
        <p:sp>
          <p:nvSpPr>
            <p:cNvPr id="1335" name="Rounded Rectangle"/>
            <p:cNvSpPr/>
            <p:nvPr/>
          </p:nvSpPr>
          <p:spPr>
            <a:xfrm>
              <a:off x="0" y="0"/>
              <a:ext cx="1422400" cy="482600"/>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700">
                  <a:solidFill>
                    <a:srgbClr val="5C7392"/>
                  </a:solidFill>
                  <a:latin typeface="+mj-lt"/>
                  <a:ea typeface="+mj-ea"/>
                  <a:cs typeface="+mj-cs"/>
                  <a:sym typeface="Helvetica"/>
                </a:defRPr>
              </a:pPr>
            </a:p>
          </p:txBody>
        </p:sp>
        <p:sp>
          <p:nvSpPr>
            <p:cNvPr id="1336" name="Evict"/>
            <p:cNvSpPr txBox="1"/>
            <p:nvPr/>
          </p:nvSpPr>
          <p:spPr>
            <a:xfrm>
              <a:off x="446833" y="114298"/>
              <a:ext cx="52873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5C7392"/>
                  </a:solidFill>
                  <a:latin typeface="+mj-lt"/>
                  <a:ea typeface="+mj-ea"/>
                  <a:cs typeface="+mj-cs"/>
                  <a:sym typeface="Helvetica"/>
                </a:defRPr>
              </a:lvl1pPr>
            </a:lstStyle>
            <a:p>
              <a:pPr/>
              <a:r>
                <a:t>Evict</a:t>
              </a:r>
            </a:p>
          </p:txBody>
        </p:sp>
      </p:grpSp>
      <p:grpSp>
        <p:nvGrpSpPr>
          <p:cNvPr id="1340" name="body-30"/>
          <p:cNvGrpSpPr/>
          <p:nvPr/>
        </p:nvGrpSpPr>
        <p:grpSpPr>
          <a:xfrm>
            <a:off x="9410700" y="3543300"/>
            <a:ext cx="1422400" cy="482600"/>
            <a:chOff x="0" y="0"/>
            <a:chExt cx="1422400" cy="482600"/>
          </a:xfrm>
        </p:grpSpPr>
        <p:sp>
          <p:nvSpPr>
            <p:cNvPr id="1338" name="Rounded Rectangle"/>
            <p:cNvSpPr/>
            <p:nvPr/>
          </p:nvSpPr>
          <p:spPr>
            <a:xfrm>
              <a:off x="0" y="0"/>
              <a:ext cx="1422400" cy="482600"/>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700">
                  <a:solidFill>
                    <a:srgbClr val="2D5093"/>
                  </a:solidFill>
                  <a:latin typeface="+mj-lt"/>
                  <a:ea typeface="+mj-ea"/>
                  <a:cs typeface="+mj-cs"/>
                  <a:sym typeface="Helvetica"/>
                </a:defRPr>
              </a:pPr>
            </a:p>
          </p:txBody>
        </p:sp>
        <p:sp>
          <p:nvSpPr>
            <p:cNvPr id="1339" name="Keep"/>
            <p:cNvSpPr txBox="1"/>
            <p:nvPr/>
          </p:nvSpPr>
          <p:spPr>
            <a:xfrm>
              <a:off x="440878" y="114298"/>
              <a:ext cx="54064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2D5093"/>
                  </a:solidFill>
                  <a:latin typeface="+mj-lt"/>
                  <a:ea typeface="+mj-ea"/>
                  <a:cs typeface="+mj-cs"/>
                  <a:sym typeface="Helvetica"/>
                </a:defRPr>
              </a:lvl1pPr>
            </a:lstStyle>
            <a:p>
              <a:pPr/>
              <a:r>
                <a:t>Keep</a:t>
              </a:r>
            </a:p>
          </p:txBody>
        </p:sp>
      </p:grpSp>
      <p:grpSp>
        <p:nvGrpSpPr>
          <p:cNvPr id="1343" name="body-31"/>
          <p:cNvGrpSpPr/>
          <p:nvPr/>
        </p:nvGrpSpPr>
        <p:grpSpPr>
          <a:xfrm>
            <a:off x="9410700" y="4267200"/>
            <a:ext cx="1422400" cy="482600"/>
            <a:chOff x="0" y="0"/>
            <a:chExt cx="1422400" cy="482600"/>
          </a:xfrm>
        </p:grpSpPr>
        <p:sp>
          <p:nvSpPr>
            <p:cNvPr id="1341" name="Rounded Rectangle"/>
            <p:cNvSpPr/>
            <p:nvPr/>
          </p:nvSpPr>
          <p:spPr>
            <a:xfrm>
              <a:off x="0" y="0"/>
              <a:ext cx="1422400" cy="482600"/>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700">
                  <a:solidFill>
                    <a:srgbClr val="5C7392"/>
                  </a:solidFill>
                  <a:latin typeface="+mj-lt"/>
                  <a:ea typeface="+mj-ea"/>
                  <a:cs typeface="+mj-cs"/>
                  <a:sym typeface="Helvetica"/>
                </a:defRPr>
              </a:pPr>
            </a:p>
          </p:txBody>
        </p:sp>
        <p:sp>
          <p:nvSpPr>
            <p:cNvPr id="1342" name="Evict"/>
            <p:cNvSpPr txBox="1"/>
            <p:nvPr/>
          </p:nvSpPr>
          <p:spPr>
            <a:xfrm>
              <a:off x="446833" y="114298"/>
              <a:ext cx="52873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700">
                  <a:solidFill>
                    <a:srgbClr val="5C7392"/>
                  </a:solidFill>
                  <a:latin typeface="+mj-lt"/>
                  <a:ea typeface="+mj-ea"/>
                  <a:cs typeface="+mj-cs"/>
                  <a:sym typeface="Helvetica"/>
                </a:defRPr>
              </a:lvl1pPr>
            </a:lstStyle>
            <a:p>
              <a:pPr/>
              <a:r>
                <a:t>Evict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4" grpId="1" fill="hold">
                                  <p:stCondLst>
                                    <p:cond delay="0"/>
                                  </p:stCondLst>
                                  <p:iterate type="el" backwards="0">
                                    <p:tmAbs val="0"/>
                                  </p:iterate>
                                  <p:childTnLst>
                                    <p:set>
                                      <p:cBhvr>
                                        <p:cTn id="6" fill="hold"/>
                                        <p:tgtEl>
                                          <p:spTgt spid="1312"/>
                                        </p:tgtEl>
                                        <p:attrNameLst>
                                          <p:attrName>style.visibility</p:attrName>
                                        </p:attrNameLst>
                                      </p:cBhvr>
                                      <p:to>
                                        <p:strVal val="visible"/>
                                      </p:to>
                                    </p:set>
                                    <p:animEffect filter="box(out)" transition="in">
                                      <p:cBhvr>
                                        <p:cTn id="7" dur="1000"/>
                                        <p:tgtEl>
                                          <p:spTgt spid="1312"/>
                                        </p:tgtEl>
                                      </p:cBhvr>
                                    </p:animEffect>
                                  </p:childTnLst>
                                </p:cTn>
                              </p:par>
                            </p:childTnLst>
                          </p:cTn>
                        </p:par>
                        <p:par>
                          <p:cTn id="8" fill="hold">
                            <p:stCondLst>
                              <p:cond delay="1000"/>
                            </p:stCondLst>
                            <p:childTnLst>
                              <p:par>
                                <p:cTn id="9" presetClass="entr" nodeType="afterEffect" presetSubtype="32" presetID="4" grpId="2" fill="hold">
                                  <p:stCondLst>
                                    <p:cond delay="0"/>
                                  </p:stCondLst>
                                  <p:iterate type="el" backwards="0">
                                    <p:tmAbs val="0"/>
                                  </p:iterate>
                                  <p:childTnLst>
                                    <p:set>
                                      <p:cBhvr>
                                        <p:cTn id="10" fill="hold"/>
                                        <p:tgtEl>
                                          <p:spTgt spid="1316"/>
                                        </p:tgtEl>
                                        <p:attrNameLst>
                                          <p:attrName>style.visibility</p:attrName>
                                        </p:attrNameLst>
                                      </p:cBhvr>
                                      <p:to>
                                        <p:strVal val="visible"/>
                                      </p:to>
                                    </p:set>
                                    <p:animEffect filter="box(out)" transition="in">
                                      <p:cBhvr>
                                        <p:cTn id="11" dur="1000"/>
                                        <p:tgtEl>
                                          <p:spTgt spid="1316"/>
                                        </p:tgtEl>
                                      </p:cBhvr>
                                    </p:animEffect>
                                  </p:childTnLst>
                                </p:cTn>
                              </p:par>
                            </p:childTnLst>
                          </p:cTn>
                        </p:par>
                        <p:par>
                          <p:cTn id="12" fill="hold">
                            <p:stCondLst>
                              <p:cond delay="2000"/>
                            </p:stCondLst>
                            <p:childTnLst>
                              <p:par>
                                <p:cTn id="13" presetClass="entr" nodeType="afterEffect" presetSubtype="32" presetID="4" grpId="3" fill="hold">
                                  <p:stCondLst>
                                    <p:cond delay="0"/>
                                  </p:stCondLst>
                                  <p:iterate type="el" backwards="0">
                                    <p:tmAbs val="0"/>
                                  </p:iterate>
                                  <p:childTnLst>
                                    <p:set>
                                      <p:cBhvr>
                                        <p:cTn id="14" fill="hold"/>
                                        <p:tgtEl>
                                          <p:spTgt spid="1322"/>
                                        </p:tgtEl>
                                        <p:attrNameLst>
                                          <p:attrName>style.visibility</p:attrName>
                                        </p:attrNameLst>
                                      </p:cBhvr>
                                      <p:to>
                                        <p:strVal val="visible"/>
                                      </p:to>
                                    </p:set>
                                    <p:animEffect filter="box(out)" transition="in">
                                      <p:cBhvr>
                                        <p:cTn id="15" dur="1000"/>
                                        <p:tgtEl>
                                          <p:spTgt spid="1322"/>
                                        </p:tgtEl>
                                      </p:cBhvr>
                                    </p:animEffect>
                                  </p:childTnLst>
                                </p:cTn>
                              </p:par>
                            </p:childTnLst>
                          </p:cTn>
                        </p:par>
                        <p:par>
                          <p:cTn id="16" fill="hold">
                            <p:stCondLst>
                              <p:cond delay="3000"/>
                            </p:stCondLst>
                            <p:childTnLst>
                              <p:par>
                                <p:cTn id="17" presetClass="entr" nodeType="afterEffect" presetSubtype="32" presetID="4" grpId="4" fill="hold">
                                  <p:stCondLst>
                                    <p:cond delay="0"/>
                                  </p:stCondLst>
                                  <p:iterate type="el" backwards="0">
                                    <p:tmAbs val="0"/>
                                  </p:iterate>
                                  <p:childTnLst>
                                    <p:set>
                                      <p:cBhvr>
                                        <p:cTn id="18" fill="hold"/>
                                        <p:tgtEl>
                                          <p:spTgt spid="1328"/>
                                        </p:tgtEl>
                                        <p:attrNameLst>
                                          <p:attrName>style.visibility</p:attrName>
                                        </p:attrNameLst>
                                      </p:cBhvr>
                                      <p:to>
                                        <p:strVal val="visible"/>
                                      </p:to>
                                    </p:set>
                                    <p:animEffect filter="box(out)" transition="in">
                                      <p:cBhvr>
                                        <p:cTn id="19" dur="1000"/>
                                        <p:tgtEl>
                                          <p:spTgt spid="1328"/>
                                        </p:tgtEl>
                                      </p:cBhvr>
                                    </p:animEffect>
                                  </p:childTnLst>
                                </p:cTn>
                              </p:par>
                            </p:childTnLst>
                          </p:cTn>
                        </p:par>
                        <p:par>
                          <p:cTn id="20" fill="hold">
                            <p:stCondLst>
                              <p:cond delay="4000"/>
                            </p:stCondLst>
                            <p:childTnLst>
                              <p:par>
                                <p:cTn id="21" presetClass="entr" nodeType="afterEffect" presetSubtype="32" presetID="4" grpId="5" fill="hold">
                                  <p:stCondLst>
                                    <p:cond delay="0"/>
                                  </p:stCondLst>
                                  <p:iterate type="el" backwards="0">
                                    <p:tmAbs val="0"/>
                                  </p:iterate>
                                  <p:childTnLst>
                                    <p:set>
                                      <p:cBhvr>
                                        <p:cTn id="22" fill="hold"/>
                                        <p:tgtEl>
                                          <p:spTgt spid="1334"/>
                                        </p:tgtEl>
                                        <p:attrNameLst>
                                          <p:attrName>style.visibility</p:attrName>
                                        </p:attrNameLst>
                                      </p:cBhvr>
                                      <p:to>
                                        <p:strVal val="visible"/>
                                      </p:to>
                                    </p:set>
                                    <p:animEffect filter="box(out)" transition="in">
                                      <p:cBhvr>
                                        <p:cTn id="23" dur="1000"/>
                                        <p:tgtEl>
                                          <p:spTgt spid="1334"/>
                                        </p:tgtEl>
                                      </p:cBhvr>
                                    </p:animEffect>
                                  </p:childTnLst>
                                </p:cTn>
                              </p:par>
                            </p:childTnLst>
                          </p:cTn>
                        </p:par>
                        <p:par>
                          <p:cTn id="24" fill="hold">
                            <p:stCondLst>
                              <p:cond delay="5000"/>
                            </p:stCondLst>
                            <p:childTnLst>
                              <p:par>
                                <p:cTn id="25" presetClass="entr" nodeType="afterEffect" presetSubtype="32" presetID="4" grpId="6" fill="hold">
                                  <p:stCondLst>
                                    <p:cond delay="0"/>
                                  </p:stCondLst>
                                  <p:iterate type="el" backwards="0">
                                    <p:tmAbs val="0"/>
                                  </p:iterate>
                                  <p:childTnLst>
                                    <p:set>
                                      <p:cBhvr>
                                        <p:cTn id="26" fill="hold"/>
                                        <p:tgtEl>
                                          <p:spTgt spid="1340"/>
                                        </p:tgtEl>
                                        <p:attrNameLst>
                                          <p:attrName>style.visibility</p:attrName>
                                        </p:attrNameLst>
                                      </p:cBhvr>
                                      <p:to>
                                        <p:strVal val="visible"/>
                                      </p:to>
                                    </p:set>
                                    <p:animEffect filter="box(out)" transition="in">
                                      <p:cBhvr>
                                        <p:cTn id="27" dur="1000"/>
                                        <p:tgtEl>
                                          <p:spTgt spid="1340"/>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32" presetID="4" grpId="7" fill="hold">
                                  <p:stCondLst>
                                    <p:cond delay="0"/>
                                  </p:stCondLst>
                                  <p:iterate type="el" backwards="0">
                                    <p:tmAbs val="0"/>
                                  </p:iterate>
                                  <p:childTnLst>
                                    <p:set>
                                      <p:cBhvr>
                                        <p:cTn id="31" fill="hold"/>
                                        <p:tgtEl>
                                          <p:spTgt spid="1313"/>
                                        </p:tgtEl>
                                        <p:attrNameLst>
                                          <p:attrName>style.visibility</p:attrName>
                                        </p:attrNameLst>
                                      </p:cBhvr>
                                      <p:to>
                                        <p:strVal val="visible"/>
                                      </p:to>
                                    </p:set>
                                    <p:animEffect filter="box(out)" transition="in">
                                      <p:cBhvr>
                                        <p:cTn id="32" dur="1000"/>
                                        <p:tgtEl>
                                          <p:spTgt spid="1313"/>
                                        </p:tgtEl>
                                      </p:cBhvr>
                                    </p:animEffect>
                                  </p:childTnLst>
                                </p:cTn>
                              </p:par>
                            </p:childTnLst>
                          </p:cTn>
                        </p:par>
                        <p:par>
                          <p:cTn id="33" fill="hold">
                            <p:stCondLst>
                              <p:cond delay="1000"/>
                            </p:stCondLst>
                            <p:childTnLst>
                              <p:par>
                                <p:cTn id="34" presetClass="entr" nodeType="afterEffect" presetSubtype="32" presetID="4" grpId="8" fill="hold">
                                  <p:stCondLst>
                                    <p:cond delay="0"/>
                                  </p:stCondLst>
                                  <p:iterate type="el" backwards="0">
                                    <p:tmAbs val="0"/>
                                  </p:iterate>
                                  <p:childTnLst>
                                    <p:set>
                                      <p:cBhvr>
                                        <p:cTn id="35" fill="hold"/>
                                        <p:tgtEl>
                                          <p:spTgt spid="1319"/>
                                        </p:tgtEl>
                                        <p:attrNameLst>
                                          <p:attrName>style.visibility</p:attrName>
                                        </p:attrNameLst>
                                      </p:cBhvr>
                                      <p:to>
                                        <p:strVal val="visible"/>
                                      </p:to>
                                    </p:set>
                                    <p:animEffect filter="box(out)" transition="in">
                                      <p:cBhvr>
                                        <p:cTn id="36" dur="1000"/>
                                        <p:tgtEl>
                                          <p:spTgt spid="1319"/>
                                        </p:tgtEl>
                                      </p:cBhvr>
                                    </p:animEffect>
                                  </p:childTnLst>
                                </p:cTn>
                              </p:par>
                            </p:childTnLst>
                          </p:cTn>
                        </p:par>
                        <p:par>
                          <p:cTn id="37" fill="hold">
                            <p:stCondLst>
                              <p:cond delay="2000"/>
                            </p:stCondLst>
                            <p:childTnLst>
                              <p:par>
                                <p:cTn id="38" presetClass="entr" nodeType="afterEffect" presetSubtype="32" presetID="4" grpId="9" fill="hold">
                                  <p:stCondLst>
                                    <p:cond delay="0"/>
                                  </p:stCondLst>
                                  <p:iterate type="el" backwards="0">
                                    <p:tmAbs val="0"/>
                                  </p:iterate>
                                  <p:childTnLst>
                                    <p:set>
                                      <p:cBhvr>
                                        <p:cTn id="39" fill="hold"/>
                                        <p:tgtEl>
                                          <p:spTgt spid="1325"/>
                                        </p:tgtEl>
                                        <p:attrNameLst>
                                          <p:attrName>style.visibility</p:attrName>
                                        </p:attrNameLst>
                                      </p:cBhvr>
                                      <p:to>
                                        <p:strVal val="visible"/>
                                      </p:to>
                                    </p:set>
                                    <p:animEffect filter="box(out)" transition="in">
                                      <p:cBhvr>
                                        <p:cTn id="40" dur="1000"/>
                                        <p:tgtEl>
                                          <p:spTgt spid="1325"/>
                                        </p:tgtEl>
                                      </p:cBhvr>
                                    </p:animEffect>
                                  </p:childTnLst>
                                </p:cTn>
                              </p:par>
                            </p:childTnLst>
                          </p:cTn>
                        </p:par>
                        <p:par>
                          <p:cTn id="41" fill="hold">
                            <p:stCondLst>
                              <p:cond delay="3000"/>
                            </p:stCondLst>
                            <p:childTnLst>
                              <p:par>
                                <p:cTn id="42" presetClass="entr" nodeType="afterEffect" presetSubtype="32" presetID="4" grpId="10" fill="hold">
                                  <p:stCondLst>
                                    <p:cond delay="0"/>
                                  </p:stCondLst>
                                  <p:iterate type="el" backwards="0">
                                    <p:tmAbs val="0"/>
                                  </p:iterate>
                                  <p:childTnLst>
                                    <p:set>
                                      <p:cBhvr>
                                        <p:cTn id="43" fill="hold"/>
                                        <p:tgtEl>
                                          <p:spTgt spid="1331"/>
                                        </p:tgtEl>
                                        <p:attrNameLst>
                                          <p:attrName>style.visibility</p:attrName>
                                        </p:attrNameLst>
                                      </p:cBhvr>
                                      <p:to>
                                        <p:strVal val="visible"/>
                                      </p:to>
                                    </p:set>
                                    <p:animEffect filter="box(out)" transition="in">
                                      <p:cBhvr>
                                        <p:cTn id="44" dur="1000"/>
                                        <p:tgtEl>
                                          <p:spTgt spid="1331"/>
                                        </p:tgtEl>
                                      </p:cBhvr>
                                    </p:animEffect>
                                  </p:childTnLst>
                                </p:cTn>
                              </p:par>
                            </p:childTnLst>
                          </p:cTn>
                        </p:par>
                        <p:par>
                          <p:cTn id="45" fill="hold">
                            <p:stCondLst>
                              <p:cond delay="4000"/>
                            </p:stCondLst>
                            <p:childTnLst>
                              <p:par>
                                <p:cTn id="46" presetClass="entr" nodeType="afterEffect" presetSubtype="32" presetID="4" grpId="11" fill="hold">
                                  <p:stCondLst>
                                    <p:cond delay="0"/>
                                  </p:stCondLst>
                                  <p:iterate type="el" backwards="0">
                                    <p:tmAbs val="0"/>
                                  </p:iterate>
                                  <p:childTnLst>
                                    <p:set>
                                      <p:cBhvr>
                                        <p:cTn id="47" fill="hold"/>
                                        <p:tgtEl>
                                          <p:spTgt spid="1337"/>
                                        </p:tgtEl>
                                        <p:attrNameLst>
                                          <p:attrName>style.visibility</p:attrName>
                                        </p:attrNameLst>
                                      </p:cBhvr>
                                      <p:to>
                                        <p:strVal val="visible"/>
                                      </p:to>
                                    </p:set>
                                    <p:animEffect filter="box(out)" transition="in">
                                      <p:cBhvr>
                                        <p:cTn id="48" dur="1000"/>
                                        <p:tgtEl>
                                          <p:spTgt spid="1337"/>
                                        </p:tgtEl>
                                      </p:cBhvr>
                                    </p:animEffect>
                                  </p:childTnLst>
                                </p:cTn>
                              </p:par>
                            </p:childTnLst>
                          </p:cTn>
                        </p:par>
                        <p:par>
                          <p:cTn id="49" fill="hold">
                            <p:stCondLst>
                              <p:cond delay="5000"/>
                            </p:stCondLst>
                            <p:childTnLst>
                              <p:par>
                                <p:cTn id="50" presetClass="entr" nodeType="afterEffect" presetSubtype="32" presetID="4" grpId="12" fill="hold">
                                  <p:stCondLst>
                                    <p:cond delay="0"/>
                                  </p:stCondLst>
                                  <p:iterate type="el" backwards="0">
                                    <p:tmAbs val="0"/>
                                  </p:iterate>
                                  <p:childTnLst>
                                    <p:set>
                                      <p:cBhvr>
                                        <p:cTn id="51" fill="hold"/>
                                        <p:tgtEl>
                                          <p:spTgt spid="1343"/>
                                        </p:tgtEl>
                                        <p:attrNameLst>
                                          <p:attrName>style.visibility</p:attrName>
                                        </p:attrNameLst>
                                      </p:cBhvr>
                                      <p:to>
                                        <p:strVal val="visible"/>
                                      </p:to>
                                    </p:set>
                                    <p:animEffect filter="box(out)" transition="in">
                                      <p:cBhvr>
                                        <p:cTn id="52" dur="1000"/>
                                        <p:tgtEl>
                                          <p:spTgt spid="1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22" grpId="3"/>
      <p:bldP build="whole" bldLvl="1" animBg="1" rev="0" advAuto="0" spid="1328" grpId="4"/>
      <p:bldP build="whole" bldLvl="1" animBg="1" rev="0" advAuto="0" spid="1337" grpId="11"/>
      <p:bldP build="whole" bldLvl="1" animBg="1" rev="0" advAuto="0" spid="1319" grpId="8"/>
      <p:bldP build="whole" bldLvl="1" animBg="1" rev="0" advAuto="0" spid="1334" grpId="5"/>
      <p:bldP build="whole" bldLvl="1" animBg="1" rev="0" advAuto="0" spid="1316" grpId="2"/>
      <p:bldP build="whole" bldLvl="1" animBg="1" rev="0" advAuto="0" spid="1312" grpId="1"/>
      <p:bldP build="whole" bldLvl="1" animBg="1" rev="0" advAuto="0" spid="1343" grpId="12"/>
      <p:bldP build="whole" bldLvl="1" animBg="1" rev="0" advAuto="0" spid="1331" grpId="10"/>
      <p:bldP build="whole" bldLvl="1" animBg="1" rev="0" advAuto="0" spid="1325" grpId="9"/>
      <p:bldP build="whole" bldLvl="1" animBg="1" rev="0" advAuto="0" spid="1340" grpId="6"/>
      <p:bldP build="whole" bldLvl="1" animBg="1" rev="0" advAuto="0" spid="1313" grpId="7"/>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7"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SWE-bench: Cache Configuration Comparison</a:t>
            </a:r>
          </a:p>
        </p:txBody>
      </p:sp>
      <p:sp>
        <p:nvSpPr>
          <p:cNvPr id="1348"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23</a:t>
            </a:r>
          </a:p>
        </p:txBody>
      </p:sp>
      <p:pic>
        <p:nvPicPr>
          <p:cNvPr id="1349"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350"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351" name="SWE-bench trace replay · Comparison of two cache configurations"/>
          <p:cNvSpPr txBox="1"/>
          <p:nvPr/>
        </p:nvSpPr>
        <p:spPr>
          <a:xfrm>
            <a:off x="812800" y="1003300"/>
            <a:ext cx="7509173" cy="2837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2D5093"/>
                </a:solidFill>
                <a:latin typeface="Arial"/>
                <a:ea typeface="Arial"/>
                <a:cs typeface="Arial"/>
                <a:sym typeface="Arial"/>
              </a:defRPr>
            </a:lvl1pPr>
          </a:lstStyle>
          <a:p>
            <a:pPr/>
            <a:r>
              <a:t>SWE-bench trace replay · Comparison of two cache configurations</a:t>
            </a:r>
          </a:p>
        </p:txBody>
      </p:sp>
      <p:sp>
        <p:nvSpPr>
          <p:cNvPr id="1352" name="Cache-hit rate"/>
          <p:cNvSpPr txBox="1"/>
          <p:nvPr/>
        </p:nvSpPr>
        <p:spPr>
          <a:xfrm>
            <a:off x="1016000" y="1625600"/>
            <a:ext cx="1368717" cy="24693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700">
                <a:solidFill>
                  <a:srgbClr val="576E89"/>
                </a:solidFill>
                <a:latin typeface="Arial"/>
                <a:ea typeface="Arial"/>
                <a:cs typeface="Arial"/>
                <a:sym typeface="Arial"/>
              </a:defRPr>
            </a:lvl1pPr>
          </a:lstStyle>
          <a:p>
            <a:pPr/>
            <a:r>
              <a:t>Cache-hit rate</a:t>
            </a:r>
          </a:p>
        </p:txBody>
      </p:sp>
      <p:graphicFrame>
        <p:nvGraphicFramePr>
          <p:cNvPr id="1353" name="Chart"/>
          <p:cNvGraphicFramePr/>
          <p:nvPr/>
        </p:nvGraphicFramePr>
        <p:xfrm>
          <a:off x="865495" y="2158999"/>
          <a:ext cx="10233684" cy="3354963"/>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7"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Component Locks: Protect Only Needed State</a:t>
            </a:r>
          </a:p>
        </p:txBody>
      </p:sp>
      <p:sp>
        <p:nvSpPr>
          <p:cNvPr id="1358"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24</a:t>
            </a:r>
          </a:p>
        </p:txBody>
      </p:sp>
      <p:pic>
        <p:nvPicPr>
          <p:cNvPr id="1359"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360"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361" name="body-53"/>
          <p:cNvSpPr txBox="1"/>
          <p:nvPr/>
        </p:nvSpPr>
        <p:spPr>
          <a:xfrm>
            <a:off x="812799" y="1003299"/>
            <a:ext cx="6846145"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Each component locks only the state this request must keep.</a:t>
            </a:r>
          </a:p>
        </p:txBody>
      </p:sp>
      <p:sp>
        <p:nvSpPr>
          <p:cNvPr id="1362" name="body-54"/>
          <p:cNvSpPr txBox="1"/>
          <p:nvPr/>
        </p:nvSpPr>
        <p:spPr>
          <a:xfrm>
            <a:off x="812800" y="1543049"/>
            <a:ext cx="5675121"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Example: request ends at block 8; SWA window = 3 blocks.</a:t>
            </a:r>
          </a:p>
        </p:txBody>
      </p:sp>
      <p:sp>
        <p:nvSpPr>
          <p:cNvPr id="1363" name="body-55"/>
          <p:cNvSpPr txBox="1"/>
          <p:nvPr/>
        </p:nvSpPr>
        <p:spPr>
          <a:xfrm>
            <a:off x="3619499"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1</a:t>
            </a:r>
          </a:p>
        </p:txBody>
      </p:sp>
      <p:sp>
        <p:nvSpPr>
          <p:cNvPr id="1364" name="body-56"/>
          <p:cNvSpPr txBox="1"/>
          <p:nvPr/>
        </p:nvSpPr>
        <p:spPr>
          <a:xfrm>
            <a:off x="4559299"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2</a:t>
            </a:r>
          </a:p>
        </p:txBody>
      </p:sp>
      <p:sp>
        <p:nvSpPr>
          <p:cNvPr id="1365" name="body-57"/>
          <p:cNvSpPr txBox="1"/>
          <p:nvPr/>
        </p:nvSpPr>
        <p:spPr>
          <a:xfrm>
            <a:off x="5499099"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3</a:t>
            </a:r>
          </a:p>
        </p:txBody>
      </p:sp>
      <p:sp>
        <p:nvSpPr>
          <p:cNvPr id="1366" name="body-58"/>
          <p:cNvSpPr txBox="1"/>
          <p:nvPr/>
        </p:nvSpPr>
        <p:spPr>
          <a:xfrm>
            <a:off x="6438900"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4</a:t>
            </a:r>
          </a:p>
        </p:txBody>
      </p:sp>
      <p:sp>
        <p:nvSpPr>
          <p:cNvPr id="1367" name="body-59"/>
          <p:cNvSpPr txBox="1"/>
          <p:nvPr/>
        </p:nvSpPr>
        <p:spPr>
          <a:xfrm>
            <a:off x="7378700"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5</a:t>
            </a:r>
          </a:p>
        </p:txBody>
      </p:sp>
      <p:sp>
        <p:nvSpPr>
          <p:cNvPr id="1368" name="body-60"/>
          <p:cNvSpPr txBox="1"/>
          <p:nvPr/>
        </p:nvSpPr>
        <p:spPr>
          <a:xfrm>
            <a:off x="8318500"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6</a:t>
            </a:r>
          </a:p>
        </p:txBody>
      </p:sp>
      <p:sp>
        <p:nvSpPr>
          <p:cNvPr id="1369" name="body-61"/>
          <p:cNvSpPr txBox="1"/>
          <p:nvPr/>
        </p:nvSpPr>
        <p:spPr>
          <a:xfrm>
            <a:off x="9258300"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7</a:t>
            </a:r>
          </a:p>
        </p:txBody>
      </p:sp>
      <p:sp>
        <p:nvSpPr>
          <p:cNvPr id="1370" name="body-62"/>
          <p:cNvSpPr txBox="1"/>
          <p:nvPr/>
        </p:nvSpPr>
        <p:spPr>
          <a:xfrm>
            <a:off x="10198100" y="2101849"/>
            <a:ext cx="1270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8</a:t>
            </a:r>
          </a:p>
        </p:txBody>
      </p:sp>
      <p:sp>
        <p:nvSpPr>
          <p:cNvPr id="1371" name="body-63"/>
          <p:cNvSpPr txBox="1"/>
          <p:nvPr/>
        </p:nvSpPr>
        <p:spPr>
          <a:xfrm>
            <a:off x="812800" y="2590800"/>
            <a:ext cx="661591"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2D5093"/>
                </a:solidFill>
                <a:latin typeface="+mj-lt"/>
                <a:ea typeface="+mj-ea"/>
                <a:cs typeface="+mj-cs"/>
                <a:sym typeface="Helvetica"/>
              </a:defRPr>
            </a:lvl1pPr>
          </a:lstStyle>
          <a:p>
            <a:pPr/>
            <a:r>
              <a:t>FULL</a:t>
            </a:r>
          </a:p>
        </p:txBody>
      </p:sp>
      <p:sp>
        <p:nvSpPr>
          <p:cNvPr id="1372" name="body-64"/>
          <p:cNvSpPr txBox="1"/>
          <p:nvPr/>
        </p:nvSpPr>
        <p:spPr>
          <a:xfrm>
            <a:off x="812800" y="2940050"/>
            <a:ext cx="1029104"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Entire prefix</a:t>
            </a:r>
          </a:p>
        </p:txBody>
      </p:sp>
      <p:sp>
        <p:nvSpPr>
          <p:cNvPr id="1373" name="body-65"/>
          <p:cNvSpPr/>
          <p:nvPr/>
        </p:nvSpPr>
        <p:spPr>
          <a:xfrm>
            <a:off x="32893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4" name="body-66"/>
          <p:cNvSpPr/>
          <p:nvPr/>
        </p:nvSpPr>
        <p:spPr>
          <a:xfrm>
            <a:off x="42291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5" name="body-67"/>
          <p:cNvSpPr/>
          <p:nvPr/>
        </p:nvSpPr>
        <p:spPr>
          <a:xfrm>
            <a:off x="51689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6" name="body-68"/>
          <p:cNvSpPr/>
          <p:nvPr/>
        </p:nvSpPr>
        <p:spPr>
          <a:xfrm>
            <a:off x="61087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7" name="body-69"/>
          <p:cNvSpPr/>
          <p:nvPr/>
        </p:nvSpPr>
        <p:spPr>
          <a:xfrm>
            <a:off x="70485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8" name="body-70"/>
          <p:cNvSpPr/>
          <p:nvPr/>
        </p:nvSpPr>
        <p:spPr>
          <a:xfrm>
            <a:off x="79883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79" name="body-71"/>
          <p:cNvSpPr/>
          <p:nvPr/>
        </p:nvSpPr>
        <p:spPr>
          <a:xfrm>
            <a:off x="89281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80" name="body-72"/>
          <p:cNvSpPr/>
          <p:nvPr/>
        </p:nvSpPr>
        <p:spPr>
          <a:xfrm>
            <a:off x="9867900" y="26035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81" name="body-73"/>
          <p:cNvSpPr txBox="1"/>
          <p:nvPr/>
        </p:nvSpPr>
        <p:spPr>
          <a:xfrm>
            <a:off x="812800" y="3441700"/>
            <a:ext cx="591394"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BA8600"/>
                </a:solidFill>
                <a:latin typeface="+mj-lt"/>
                <a:ea typeface="+mj-ea"/>
                <a:cs typeface="+mj-cs"/>
                <a:sym typeface="Helvetica"/>
              </a:defRPr>
            </a:lvl1pPr>
          </a:lstStyle>
          <a:p>
            <a:pPr/>
            <a:r>
              <a:t>SWA</a:t>
            </a:r>
          </a:p>
        </p:txBody>
      </p:sp>
      <p:sp>
        <p:nvSpPr>
          <p:cNvPr id="1382" name="body-74"/>
          <p:cNvSpPr txBox="1"/>
          <p:nvPr/>
        </p:nvSpPr>
        <p:spPr>
          <a:xfrm>
            <a:off x="812800" y="3790949"/>
            <a:ext cx="1318574"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Trailing window</a:t>
            </a:r>
          </a:p>
        </p:txBody>
      </p:sp>
      <p:sp>
        <p:nvSpPr>
          <p:cNvPr id="1383" name="body-75"/>
          <p:cNvSpPr/>
          <p:nvPr/>
        </p:nvSpPr>
        <p:spPr>
          <a:xfrm>
            <a:off x="3289300" y="34544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84" name="body-76"/>
          <p:cNvSpPr/>
          <p:nvPr/>
        </p:nvSpPr>
        <p:spPr>
          <a:xfrm>
            <a:off x="4229100" y="34544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85" name="body-77"/>
          <p:cNvSpPr/>
          <p:nvPr/>
        </p:nvSpPr>
        <p:spPr>
          <a:xfrm>
            <a:off x="5168900" y="34544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86" name="body-78"/>
          <p:cNvSpPr/>
          <p:nvPr/>
        </p:nvSpPr>
        <p:spPr>
          <a:xfrm>
            <a:off x="6108700" y="34544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87" name="body-79"/>
          <p:cNvSpPr/>
          <p:nvPr/>
        </p:nvSpPr>
        <p:spPr>
          <a:xfrm>
            <a:off x="7048500" y="34544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88" name="body-80"/>
          <p:cNvSpPr/>
          <p:nvPr/>
        </p:nvSpPr>
        <p:spPr>
          <a:xfrm>
            <a:off x="7988300" y="34544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89" name="body-81"/>
          <p:cNvSpPr/>
          <p:nvPr/>
        </p:nvSpPr>
        <p:spPr>
          <a:xfrm>
            <a:off x="8928100" y="34544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90" name="body-82"/>
          <p:cNvSpPr/>
          <p:nvPr/>
        </p:nvSpPr>
        <p:spPr>
          <a:xfrm>
            <a:off x="9867900" y="34544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391" name="body-83"/>
          <p:cNvSpPr txBox="1"/>
          <p:nvPr/>
        </p:nvSpPr>
        <p:spPr>
          <a:xfrm>
            <a:off x="812800" y="4292600"/>
            <a:ext cx="986160"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8055C4"/>
                </a:solidFill>
                <a:latin typeface="+mj-lt"/>
                <a:ea typeface="+mj-ea"/>
                <a:cs typeface="+mj-cs"/>
                <a:sym typeface="Helvetica"/>
              </a:defRPr>
            </a:lvl1pPr>
          </a:lstStyle>
          <a:p>
            <a:pPr/>
            <a:r>
              <a:t>MAMBA</a:t>
            </a:r>
          </a:p>
        </p:txBody>
      </p:sp>
      <p:sp>
        <p:nvSpPr>
          <p:cNvPr id="1392" name="body-84"/>
          <p:cNvSpPr txBox="1"/>
          <p:nvPr/>
        </p:nvSpPr>
        <p:spPr>
          <a:xfrm>
            <a:off x="812800" y="4641849"/>
            <a:ext cx="1336434"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One checkpoint</a:t>
            </a:r>
          </a:p>
        </p:txBody>
      </p:sp>
      <p:sp>
        <p:nvSpPr>
          <p:cNvPr id="1393" name="body-85"/>
          <p:cNvSpPr/>
          <p:nvPr/>
        </p:nvSpPr>
        <p:spPr>
          <a:xfrm>
            <a:off x="32893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4" name="body-86"/>
          <p:cNvSpPr/>
          <p:nvPr/>
        </p:nvSpPr>
        <p:spPr>
          <a:xfrm>
            <a:off x="42291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5" name="body-87"/>
          <p:cNvSpPr/>
          <p:nvPr/>
        </p:nvSpPr>
        <p:spPr>
          <a:xfrm>
            <a:off x="51689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6" name="body-88"/>
          <p:cNvSpPr/>
          <p:nvPr/>
        </p:nvSpPr>
        <p:spPr>
          <a:xfrm>
            <a:off x="61087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7" name="body-89"/>
          <p:cNvSpPr/>
          <p:nvPr/>
        </p:nvSpPr>
        <p:spPr>
          <a:xfrm>
            <a:off x="70485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8" name="body-90"/>
          <p:cNvSpPr/>
          <p:nvPr/>
        </p:nvSpPr>
        <p:spPr>
          <a:xfrm>
            <a:off x="79883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399" name="body-91"/>
          <p:cNvSpPr/>
          <p:nvPr/>
        </p:nvSpPr>
        <p:spPr>
          <a:xfrm>
            <a:off x="8928100" y="4305300"/>
            <a:ext cx="787400" cy="457200"/>
          </a:xfrm>
          <a:prstGeom prst="roundRect">
            <a:avLst>
              <a:gd name="adj" fmla="val 8333"/>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400" name="body-92"/>
          <p:cNvSpPr/>
          <p:nvPr/>
        </p:nvSpPr>
        <p:spPr>
          <a:xfrm>
            <a:off x="9867900" y="4305300"/>
            <a:ext cx="787400" cy="457200"/>
          </a:xfrm>
          <a:prstGeom prst="roundRect">
            <a:avLst>
              <a:gd name="adj" fmla="val 8333"/>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401" name="body-93"/>
          <p:cNvSpPr txBox="1"/>
          <p:nvPr/>
        </p:nvSpPr>
        <p:spPr>
          <a:xfrm>
            <a:off x="9842412" y="1841499"/>
            <a:ext cx="1079675"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400">
                <a:solidFill>
                  <a:srgbClr val="2D5093"/>
                </a:solidFill>
                <a:latin typeface="+mj-lt"/>
                <a:ea typeface="+mj-ea"/>
                <a:cs typeface="+mj-cs"/>
                <a:sym typeface="Helvetica"/>
              </a:defRPr>
            </a:lvl1pPr>
          </a:lstStyle>
          <a:p>
            <a:pPr/>
            <a:r>
              <a:t>Request end</a:t>
            </a:r>
          </a:p>
        </p:txBody>
      </p:sp>
      <p:sp>
        <p:nvSpPr>
          <p:cNvPr id="1402" name="body-94"/>
          <p:cNvSpPr/>
          <p:nvPr/>
        </p:nvSpPr>
        <p:spPr>
          <a:xfrm>
            <a:off x="3302000" y="5067300"/>
            <a:ext cx="203200" cy="203200"/>
          </a:xfrm>
          <a:prstGeom prst="roundRect">
            <a:avLst>
              <a:gd name="adj" fmla="val 6250"/>
            </a:avLst>
          </a:prstGeom>
          <a:solidFill>
            <a:srgbClr val="2D5093"/>
          </a:solidFill>
          <a:ln w="13970">
            <a:solidFill>
              <a:srgbClr val="2D5093"/>
            </a:solidFill>
          </a:ln>
        </p:spPr>
        <p:txBody>
          <a:bodyPr lIns="45718" tIns="45718" rIns="45718" bIns="45718"/>
          <a:lstStyle/>
          <a:p>
            <a:pPr>
              <a:defRPr>
                <a:latin typeface="+mj-lt"/>
                <a:ea typeface="+mj-ea"/>
                <a:cs typeface="+mj-cs"/>
                <a:sym typeface="Helvetica"/>
              </a:defRPr>
            </a:pPr>
          </a:p>
        </p:txBody>
      </p:sp>
      <p:sp>
        <p:nvSpPr>
          <p:cNvPr id="1403" name="body-95"/>
          <p:cNvSpPr txBox="1"/>
          <p:nvPr/>
        </p:nvSpPr>
        <p:spPr>
          <a:xfrm>
            <a:off x="3619500" y="5054598"/>
            <a:ext cx="828093"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2D5093"/>
                </a:solidFill>
                <a:latin typeface="+mj-lt"/>
                <a:ea typeface="+mj-ea"/>
                <a:cs typeface="+mj-cs"/>
                <a:sym typeface="Helvetica"/>
              </a:defRPr>
            </a:lvl1pPr>
          </a:lstStyle>
          <a:p>
            <a:pPr/>
            <a:r>
              <a:t>Protected</a:t>
            </a:r>
          </a:p>
        </p:txBody>
      </p:sp>
      <p:sp>
        <p:nvSpPr>
          <p:cNvPr id="1404" name="body-96"/>
          <p:cNvSpPr/>
          <p:nvPr/>
        </p:nvSpPr>
        <p:spPr>
          <a:xfrm>
            <a:off x="5435600" y="5067300"/>
            <a:ext cx="203200" cy="203200"/>
          </a:xfrm>
          <a:prstGeom prst="roundRect">
            <a:avLst>
              <a:gd name="adj" fmla="val 6250"/>
            </a:avLst>
          </a:prstGeom>
          <a:solidFill>
            <a:srgbClr val="FFFFFF"/>
          </a:solidFill>
          <a:ln w="13970">
            <a:solidFill>
              <a:srgbClr val="B9CCE4"/>
            </a:solidFill>
          </a:ln>
        </p:spPr>
        <p:txBody>
          <a:bodyPr lIns="45718" tIns="45718" rIns="45718" bIns="45718"/>
          <a:lstStyle/>
          <a:p>
            <a:pPr>
              <a:defRPr>
                <a:latin typeface="+mj-lt"/>
                <a:ea typeface="+mj-ea"/>
                <a:cs typeface="+mj-cs"/>
                <a:sym typeface="Helvetica"/>
              </a:defRPr>
            </a:pPr>
          </a:p>
        </p:txBody>
      </p:sp>
      <p:sp>
        <p:nvSpPr>
          <p:cNvPr id="1405" name="body-97"/>
          <p:cNvSpPr txBox="1"/>
          <p:nvPr/>
        </p:nvSpPr>
        <p:spPr>
          <a:xfrm>
            <a:off x="5765800" y="5054598"/>
            <a:ext cx="2448180"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Not protected by this request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4" grpId="1" fill="hold">
                                  <p:stCondLst>
                                    <p:cond delay="0"/>
                                  </p:stCondLst>
                                  <p:iterate type="el" backwards="0">
                                    <p:tmAbs val="0"/>
                                  </p:iterate>
                                  <p:childTnLst>
                                    <p:set>
                                      <p:cBhvr>
                                        <p:cTn id="6" fill="hold"/>
                                        <p:tgtEl>
                                          <p:spTgt spid="1371"/>
                                        </p:tgtEl>
                                        <p:attrNameLst>
                                          <p:attrName>style.visibility</p:attrName>
                                        </p:attrNameLst>
                                      </p:cBhvr>
                                      <p:to>
                                        <p:strVal val="visible"/>
                                      </p:to>
                                    </p:set>
                                    <p:animEffect filter="box(out)" transition="in">
                                      <p:cBhvr>
                                        <p:cTn id="7" dur="1000"/>
                                        <p:tgtEl>
                                          <p:spTgt spid="1371"/>
                                        </p:tgtEl>
                                      </p:cBhvr>
                                    </p:animEffect>
                                  </p:childTnLst>
                                </p:cTn>
                              </p:par>
                            </p:childTnLst>
                          </p:cTn>
                        </p:par>
                        <p:par>
                          <p:cTn id="8" fill="hold">
                            <p:stCondLst>
                              <p:cond delay="1000"/>
                            </p:stCondLst>
                            <p:childTnLst>
                              <p:par>
                                <p:cTn id="9" presetClass="entr" nodeType="afterEffect" presetSubtype="32" presetID="4" grpId="2" fill="hold">
                                  <p:stCondLst>
                                    <p:cond delay="0"/>
                                  </p:stCondLst>
                                  <p:iterate type="el" backwards="0">
                                    <p:tmAbs val="0"/>
                                  </p:iterate>
                                  <p:childTnLst>
                                    <p:set>
                                      <p:cBhvr>
                                        <p:cTn id="10" fill="hold"/>
                                        <p:tgtEl>
                                          <p:spTgt spid="1372"/>
                                        </p:tgtEl>
                                        <p:attrNameLst>
                                          <p:attrName>style.visibility</p:attrName>
                                        </p:attrNameLst>
                                      </p:cBhvr>
                                      <p:to>
                                        <p:strVal val="visible"/>
                                      </p:to>
                                    </p:set>
                                    <p:animEffect filter="box(out)" transition="in">
                                      <p:cBhvr>
                                        <p:cTn id="11" dur="1000"/>
                                        <p:tgtEl>
                                          <p:spTgt spid="1372"/>
                                        </p:tgtEl>
                                      </p:cBhvr>
                                    </p:animEffect>
                                  </p:childTnLst>
                                </p:cTn>
                              </p:par>
                            </p:childTnLst>
                          </p:cTn>
                        </p:par>
                        <p:par>
                          <p:cTn id="12" fill="hold">
                            <p:stCondLst>
                              <p:cond delay="2000"/>
                            </p:stCondLst>
                            <p:childTnLst>
                              <p:par>
                                <p:cTn id="13" presetClass="entr" nodeType="afterEffect" presetSubtype="32" presetID="4" grpId="3" fill="hold">
                                  <p:stCondLst>
                                    <p:cond delay="0"/>
                                  </p:stCondLst>
                                  <p:iterate type="el" backwards="0">
                                    <p:tmAbs val="0"/>
                                  </p:iterate>
                                  <p:childTnLst>
                                    <p:set>
                                      <p:cBhvr>
                                        <p:cTn id="14" fill="hold"/>
                                        <p:tgtEl>
                                          <p:spTgt spid="1373"/>
                                        </p:tgtEl>
                                        <p:attrNameLst>
                                          <p:attrName>style.visibility</p:attrName>
                                        </p:attrNameLst>
                                      </p:cBhvr>
                                      <p:to>
                                        <p:strVal val="visible"/>
                                      </p:to>
                                    </p:set>
                                    <p:animEffect filter="box(out)" transition="in">
                                      <p:cBhvr>
                                        <p:cTn id="15" dur="1000"/>
                                        <p:tgtEl>
                                          <p:spTgt spid="1373"/>
                                        </p:tgtEl>
                                      </p:cBhvr>
                                    </p:animEffect>
                                  </p:childTnLst>
                                </p:cTn>
                              </p:par>
                            </p:childTnLst>
                          </p:cTn>
                        </p:par>
                        <p:par>
                          <p:cTn id="16" fill="hold">
                            <p:stCondLst>
                              <p:cond delay="3000"/>
                            </p:stCondLst>
                            <p:childTnLst>
                              <p:par>
                                <p:cTn id="17" presetClass="entr" nodeType="afterEffect" presetSubtype="32" presetID="4" grpId="4" fill="hold">
                                  <p:stCondLst>
                                    <p:cond delay="0"/>
                                  </p:stCondLst>
                                  <p:iterate type="el" backwards="0">
                                    <p:tmAbs val="0"/>
                                  </p:iterate>
                                  <p:childTnLst>
                                    <p:set>
                                      <p:cBhvr>
                                        <p:cTn id="18" fill="hold"/>
                                        <p:tgtEl>
                                          <p:spTgt spid="1374"/>
                                        </p:tgtEl>
                                        <p:attrNameLst>
                                          <p:attrName>style.visibility</p:attrName>
                                        </p:attrNameLst>
                                      </p:cBhvr>
                                      <p:to>
                                        <p:strVal val="visible"/>
                                      </p:to>
                                    </p:set>
                                    <p:animEffect filter="box(out)" transition="in">
                                      <p:cBhvr>
                                        <p:cTn id="19" dur="1000"/>
                                        <p:tgtEl>
                                          <p:spTgt spid="1374"/>
                                        </p:tgtEl>
                                      </p:cBhvr>
                                    </p:animEffect>
                                  </p:childTnLst>
                                </p:cTn>
                              </p:par>
                            </p:childTnLst>
                          </p:cTn>
                        </p:par>
                        <p:par>
                          <p:cTn id="20" fill="hold">
                            <p:stCondLst>
                              <p:cond delay="4000"/>
                            </p:stCondLst>
                            <p:childTnLst>
                              <p:par>
                                <p:cTn id="21" presetClass="entr" nodeType="afterEffect" presetSubtype="32" presetID="4" grpId="5" fill="hold">
                                  <p:stCondLst>
                                    <p:cond delay="0"/>
                                  </p:stCondLst>
                                  <p:iterate type="el" backwards="0">
                                    <p:tmAbs val="0"/>
                                  </p:iterate>
                                  <p:childTnLst>
                                    <p:set>
                                      <p:cBhvr>
                                        <p:cTn id="22" fill="hold"/>
                                        <p:tgtEl>
                                          <p:spTgt spid="1375"/>
                                        </p:tgtEl>
                                        <p:attrNameLst>
                                          <p:attrName>style.visibility</p:attrName>
                                        </p:attrNameLst>
                                      </p:cBhvr>
                                      <p:to>
                                        <p:strVal val="visible"/>
                                      </p:to>
                                    </p:set>
                                    <p:animEffect filter="box(out)" transition="in">
                                      <p:cBhvr>
                                        <p:cTn id="23" dur="1000"/>
                                        <p:tgtEl>
                                          <p:spTgt spid="1375"/>
                                        </p:tgtEl>
                                      </p:cBhvr>
                                    </p:animEffect>
                                  </p:childTnLst>
                                </p:cTn>
                              </p:par>
                            </p:childTnLst>
                          </p:cTn>
                        </p:par>
                        <p:par>
                          <p:cTn id="24" fill="hold">
                            <p:stCondLst>
                              <p:cond delay="5000"/>
                            </p:stCondLst>
                            <p:childTnLst>
                              <p:par>
                                <p:cTn id="25" presetClass="entr" nodeType="afterEffect" presetSubtype="32" presetID="4" grpId="6" fill="hold">
                                  <p:stCondLst>
                                    <p:cond delay="0"/>
                                  </p:stCondLst>
                                  <p:iterate type="el" backwards="0">
                                    <p:tmAbs val="0"/>
                                  </p:iterate>
                                  <p:childTnLst>
                                    <p:set>
                                      <p:cBhvr>
                                        <p:cTn id="26" fill="hold"/>
                                        <p:tgtEl>
                                          <p:spTgt spid="1376"/>
                                        </p:tgtEl>
                                        <p:attrNameLst>
                                          <p:attrName>style.visibility</p:attrName>
                                        </p:attrNameLst>
                                      </p:cBhvr>
                                      <p:to>
                                        <p:strVal val="visible"/>
                                      </p:to>
                                    </p:set>
                                    <p:animEffect filter="box(out)" transition="in">
                                      <p:cBhvr>
                                        <p:cTn id="27" dur="1000"/>
                                        <p:tgtEl>
                                          <p:spTgt spid="1376"/>
                                        </p:tgtEl>
                                      </p:cBhvr>
                                    </p:animEffect>
                                  </p:childTnLst>
                                </p:cTn>
                              </p:par>
                            </p:childTnLst>
                          </p:cTn>
                        </p:par>
                        <p:par>
                          <p:cTn id="28" fill="hold">
                            <p:stCondLst>
                              <p:cond delay="6000"/>
                            </p:stCondLst>
                            <p:childTnLst>
                              <p:par>
                                <p:cTn id="29" presetClass="entr" nodeType="afterEffect" presetSubtype="32" presetID="4" grpId="7" fill="hold">
                                  <p:stCondLst>
                                    <p:cond delay="0"/>
                                  </p:stCondLst>
                                  <p:iterate type="el" backwards="0">
                                    <p:tmAbs val="0"/>
                                  </p:iterate>
                                  <p:childTnLst>
                                    <p:set>
                                      <p:cBhvr>
                                        <p:cTn id="30" fill="hold"/>
                                        <p:tgtEl>
                                          <p:spTgt spid="1377"/>
                                        </p:tgtEl>
                                        <p:attrNameLst>
                                          <p:attrName>style.visibility</p:attrName>
                                        </p:attrNameLst>
                                      </p:cBhvr>
                                      <p:to>
                                        <p:strVal val="visible"/>
                                      </p:to>
                                    </p:set>
                                    <p:animEffect filter="box(out)" transition="in">
                                      <p:cBhvr>
                                        <p:cTn id="31" dur="1000"/>
                                        <p:tgtEl>
                                          <p:spTgt spid="1377"/>
                                        </p:tgtEl>
                                      </p:cBhvr>
                                    </p:animEffect>
                                  </p:childTnLst>
                                </p:cTn>
                              </p:par>
                            </p:childTnLst>
                          </p:cTn>
                        </p:par>
                        <p:par>
                          <p:cTn id="32" fill="hold">
                            <p:stCondLst>
                              <p:cond delay="7000"/>
                            </p:stCondLst>
                            <p:childTnLst>
                              <p:par>
                                <p:cTn id="33" presetClass="entr" nodeType="afterEffect" presetSubtype="32" presetID="4" grpId="8" fill="hold">
                                  <p:stCondLst>
                                    <p:cond delay="0"/>
                                  </p:stCondLst>
                                  <p:iterate type="el" backwards="0">
                                    <p:tmAbs val="0"/>
                                  </p:iterate>
                                  <p:childTnLst>
                                    <p:set>
                                      <p:cBhvr>
                                        <p:cTn id="34" fill="hold"/>
                                        <p:tgtEl>
                                          <p:spTgt spid="1378"/>
                                        </p:tgtEl>
                                        <p:attrNameLst>
                                          <p:attrName>style.visibility</p:attrName>
                                        </p:attrNameLst>
                                      </p:cBhvr>
                                      <p:to>
                                        <p:strVal val="visible"/>
                                      </p:to>
                                    </p:set>
                                    <p:animEffect filter="box(out)" transition="in">
                                      <p:cBhvr>
                                        <p:cTn id="35" dur="1000"/>
                                        <p:tgtEl>
                                          <p:spTgt spid="1378"/>
                                        </p:tgtEl>
                                      </p:cBhvr>
                                    </p:animEffect>
                                  </p:childTnLst>
                                </p:cTn>
                              </p:par>
                            </p:childTnLst>
                          </p:cTn>
                        </p:par>
                        <p:par>
                          <p:cTn id="36" fill="hold">
                            <p:stCondLst>
                              <p:cond delay="8000"/>
                            </p:stCondLst>
                            <p:childTnLst>
                              <p:par>
                                <p:cTn id="37" presetClass="entr" nodeType="afterEffect" presetSubtype="32" presetID="4" grpId="9" fill="hold">
                                  <p:stCondLst>
                                    <p:cond delay="0"/>
                                  </p:stCondLst>
                                  <p:iterate type="el" backwards="0">
                                    <p:tmAbs val="0"/>
                                  </p:iterate>
                                  <p:childTnLst>
                                    <p:set>
                                      <p:cBhvr>
                                        <p:cTn id="38" fill="hold"/>
                                        <p:tgtEl>
                                          <p:spTgt spid="1379"/>
                                        </p:tgtEl>
                                        <p:attrNameLst>
                                          <p:attrName>style.visibility</p:attrName>
                                        </p:attrNameLst>
                                      </p:cBhvr>
                                      <p:to>
                                        <p:strVal val="visible"/>
                                      </p:to>
                                    </p:set>
                                    <p:animEffect filter="box(out)" transition="in">
                                      <p:cBhvr>
                                        <p:cTn id="39" dur="1000"/>
                                        <p:tgtEl>
                                          <p:spTgt spid="1379"/>
                                        </p:tgtEl>
                                      </p:cBhvr>
                                    </p:animEffect>
                                  </p:childTnLst>
                                </p:cTn>
                              </p:par>
                            </p:childTnLst>
                          </p:cTn>
                        </p:par>
                        <p:par>
                          <p:cTn id="40" fill="hold">
                            <p:stCondLst>
                              <p:cond delay="9000"/>
                            </p:stCondLst>
                            <p:childTnLst>
                              <p:par>
                                <p:cTn id="41" presetClass="entr" nodeType="afterEffect" presetSubtype="32" presetID="4" grpId="10" fill="hold">
                                  <p:stCondLst>
                                    <p:cond delay="0"/>
                                  </p:stCondLst>
                                  <p:iterate type="el" backwards="0">
                                    <p:tmAbs val="0"/>
                                  </p:iterate>
                                  <p:childTnLst>
                                    <p:set>
                                      <p:cBhvr>
                                        <p:cTn id="42" fill="hold"/>
                                        <p:tgtEl>
                                          <p:spTgt spid="1380"/>
                                        </p:tgtEl>
                                        <p:attrNameLst>
                                          <p:attrName>style.visibility</p:attrName>
                                        </p:attrNameLst>
                                      </p:cBhvr>
                                      <p:to>
                                        <p:strVal val="visible"/>
                                      </p:to>
                                    </p:set>
                                    <p:animEffect filter="box(out)" transition="in">
                                      <p:cBhvr>
                                        <p:cTn id="43" dur="1000"/>
                                        <p:tgtEl>
                                          <p:spTgt spid="1380"/>
                                        </p:tgtEl>
                                      </p:cBhvr>
                                    </p:animEffect>
                                  </p:childTnLst>
                                </p:cTn>
                              </p:par>
                            </p:childTnLst>
                          </p:cTn>
                        </p:par>
                      </p:childTnLst>
                    </p:cTn>
                  </p:par>
                  <p:par>
                    <p:cTn id="44" fill="hold">
                      <p:stCondLst>
                        <p:cond delay="indefinite"/>
                      </p:stCondLst>
                      <p:childTnLst>
                        <p:par>
                          <p:cTn id="45" fill="hold">
                            <p:stCondLst>
                              <p:cond delay="0"/>
                            </p:stCondLst>
                            <p:childTnLst>
                              <p:par>
                                <p:cTn id="46" presetClass="entr" nodeType="clickEffect" presetSubtype="32" presetID="4" grpId="11" fill="hold">
                                  <p:stCondLst>
                                    <p:cond delay="0"/>
                                  </p:stCondLst>
                                  <p:iterate type="el" backwards="0">
                                    <p:tmAbs val="0"/>
                                  </p:iterate>
                                  <p:childTnLst>
                                    <p:set>
                                      <p:cBhvr>
                                        <p:cTn id="47" fill="hold"/>
                                        <p:tgtEl>
                                          <p:spTgt spid="1381"/>
                                        </p:tgtEl>
                                        <p:attrNameLst>
                                          <p:attrName>style.visibility</p:attrName>
                                        </p:attrNameLst>
                                      </p:cBhvr>
                                      <p:to>
                                        <p:strVal val="visible"/>
                                      </p:to>
                                    </p:set>
                                    <p:animEffect filter="box(out)" transition="in">
                                      <p:cBhvr>
                                        <p:cTn id="48" dur="1000"/>
                                        <p:tgtEl>
                                          <p:spTgt spid="1381"/>
                                        </p:tgtEl>
                                      </p:cBhvr>
                                    </p:animEffect>
                                  </p:childTnLst>
                                </p:cTn>
                              </p:par>
                            </p:childTnLst>
                          </p:cTn>
                        </p:par>
                        <p:par>
                          <p:cTn id="49" fill="hold">
                            <p:stCondLst>
                              <p:cond delay="1000"/>
                            </p:stCondLst>
                            <p:childTnLst>
                              <p:par>
                                <p:cTn id="50" presetClass="entr" nodeType="afterEffect" presetSubtype="32" presetID="4" grpId="12" fill="hold">
                                  <p:stCondLst>
                                    <p:cond delay="0"/>
                                  </p:stCondLst>
                                  <p:iterate type="el" backwards="0">
                                    <p:tmAbs val="0"/>
                                  </p:iterate>
                                  <p:childTnLst>
                                    <p:set>
                                      <p:cBhvr>
                                        <p:cTn id="51" fill="hold"/>
                                        <p:tgtEl>
                                          <p:spTgt spid="1382"/>
                                        </p:tgtEl>
                                        <p:attrNameLst>
                                          <p:attrName>style.visibility</p:attrName>
                                        </p:attrNameLst>
                                      </p:cBhvr>
                                      <p:to>
                                        <p:strVal val="visible"/>
                                      </p:to>
                                    </p:set>
                                    <p:animEffect filter="box(out)" transition="in">
                                      <p:cBhvr>
                                        <p:cTn id="52" dur="1000"/>
                                        <p:tgtEl>
                                          <p:spTgt spid="1382"/>
                                        </p:tgtEl>
                                      </p:cBhvr>
                                    </p:animEffect>
                                  </p:childTnLst>
                                </p:cTn>
                              </p:par>
                            </p:childTnLst>
                          </p:cTn>
                        </p:par>
                        <p:par>
                          <p:cTn id="53" fill="hold">
                            <p:stCondLst>
                              <p:cond delay="2000"/>
                            </p:stCondLst>
                            <p:childTnLst>
                              <p:par>
                                <p:cTn id="54" presetClass="entr" nodeType="afterEffect" presetSubtype="32" presetID="4" grpId="13" fill="hold">
                                  <p:stCondLst>
                                    <p:cond delay="0"/>
                                  </p:stCondLst>
                                  <p:iterate type="el" backwards="0">
                                    <p:tmAbs val="0"/>
                                  </p:iterate>
                                  <p:childTnLst>
                                    <p:set>
                                      <p:cBhvr>
                                        <p:cTn id="55" fill="hold"/>
                                        <p:tgtEl>
                                          <p:spTgt spid="1383"/>
                                        </p:tgtEl>
                                        <p:attrNameLst>
                                          <p:attrName>style.visibility</p:attrName>
                                        </p:attrNameLst>
                                      </p:cBhvr>
                                      <p:to>
                                        <p:strVal val="visible"/>
                                      </p:to>
                                    </p:set>
                                    <p:animEffect filter="box(out)" transition="in">
                                      <p:cBhvr>
                                        <p:cTn id="56" dur="1000"/>
                                        <p:tgtEl>
                                          <p:spTgt spid="1383"/>
                                        </p:tgtEl>
                                      </p:cBhvr>
                                    </p:animEffect>
                                  </p:childTnLst>
                                </p:cTn>
                              </p:par>
                            </p:childTnLst>
                          </p:cTn>
                        </p:par>
                        <p:par>
                          <p:cTn id="57" fill="hold">
                            <p:stCondLst>
                              <p:cond delay="3000"/>
                            </p:stCondLst>
                            <p:childTnLst>
                              <p:par>
                                <p:cTn id="58" presetClass="entr" nodeType="afterEffect" presetSubtype="32" presetID="4" grpId="14" fill="hold">
                                  <p:stCondLst>
                                    <p:cond delay="0"/>
                                  </p:stCondLst>
                                  <p:iterate type="el" backwards="0">
                                    <p:tmAbs val="0"/>
                                  </p:iterate>
                                  <p:childTnLst>
                                    <p:set>
                                      <p:cBhvr>
                                        <p:cTn id="59" fill="hold"/>
                                        <p:tgtEl>
                                          <p:spTgt spid="1384"/>
                                        </p:tgtEl>
                                        <p:attrNameLst>
                                          <p:attrName>style.visibility</p:attrName>
                                        </p:attrNameLst>
                                      </p:cBhvr>
                                      <p:to>
                                        <p:strVal val="visible"/>
                                      </p:to>
                                    </p:set>
                                    <p:animEffect filter="box(out)" transition="in">
                                      <p:cBhvr>
                                        <p:cTn id="60" dur="1000"/>
                                        <p:tgtEl>
                                          <p:spTgt spid="1384"/>
                                        </p:tgtEl>
                                      </p:cBhvr>
                                    </p:animEffect>
                                  </p:childTnLst>
                                </p:cTn>
                              </p:par>
                            </p:childTnLst>
                          </p:cTn>
                        </p:par>
                        <p:par>
                          <p:cTn id="61" fill="hold">
                            <p:stCondLst>
                              <p:cond delay="4000"/>
                            </p:stCondLst>
                            <p:childTnLst>
                              <p:par>
                                <p:cTn id="62" presetClass="entr" nodeType="afterEffect" presetSubtype="32" presetID="4" grpId="15" fill="hold">
                                  <p:stCondLst>
                                    <p:cond delay="0"/>
                                  </p:stCondLst>
                                  <p:iterate type="el" backwards="0">
                                    <p:tmAbs val="0"/>
                                  </p:iterate>
                                  <p:childTnLst>
                                    <p:set>
                                      <p:cBhvr>
                                        <p:cTn id="63" fill="hold"/>
                                        <p:tgtEl>
                                          <p:spTgt spid="1385"/>
                                        </p:tgtEl>
                                        <p:attrNameLst>
                                          <p:attrName>style.visibility</p:attrName>
                                        </p:attrNameLst>
                                      </p:cBhvr>
                                      <p:to>
                                        <p:strVal val="visible"/>
                                      </p:to>
                                    </p:set>
                                    <p:animEffect filter="box(out)" transition="in">
                                      <p:cBhvr>
                                        <p:cTn id="64" dur="1000"/>
                                        <p:tgtEl>
                                          <p:spTgt spid="1385"/>
                                        </p:tgtEl>
                                      </p:cBhvr>
                                    </p:animEffect>
                                  </p:childTnLst>
                                </p:cTn>
                              </p:par>
                            </p:childTnLst>
                          </p:cTn>
                        </p:par>
                        <p:par>
                          <p:cTn id="65" fill="hold">
                            <p:stCondLst>
                              <p:cond delay="5000"/>
                            </p:stCondLst>
                            <p:childTnLst>
                              <p:par>
                                <p:cTn id="66" presetClass="entr" nodeType="afterEffect" presetSubtype="32" presetID="4" grpId="16" fill="hold">
                                  <p:stCondLst>
                                    <p:cond delay="0"/>
                                  </p:stCondLst>
                                  <p:iterate type="el" backwards="0">
                                    <p:tmAbs val="0"/>
                                  </p:iterate>
                                  <p:childTnLst>
                                    <p:set>
                                      <p:cBhvr>
                                        <p:cTn id="67" fill="hold"/>
                                        <p:tgtEl>
                                          <p:spTgt spid="1386"/>
                                        </p:tgtEl>
                                        <p:attrNameLst>
                                          <p:attrName>style.visibility</p:attrName>
                                        </p:attrNameLst>
                                      </p:cBhvr>
                                      <p:to>
                                        <p:strVal val="visible"/>
                                      </p:to>
                                    </p:set>
                                    <p:animEffect filter="box(out)" transition="in">
                                      <p:cBhvr>
                                        <p:cTn id="68" dur="1000"/>
                                        <p:tgtEl>
                                          <p:spTgt spid="1386"/>
                                        </p:tgtEl>
                                      </p:cBhvr>
                                    </p:animEffect>
                                  </p:childTnLst>
                                </p:cTn>
                              </p:par>
                            </p:childTnLst>
                          </p:cTn>
                        </p:par>
                        <p:par>
                          <p:cTn id="69" fill="hold">
                            <p:stCondLst>
                              <p:cond delay="6000"/>
                            </p:stCondLst>
                            <p:childTnLst>
                              <p:par>
                                <p:cTn id="70" presetClass="entr" nodeType="afterEffect" presetSubtype="32" presetID="4" grpId="17" fill="hold">
                                  <p:stCondLst>
                                    <p:cond delay="0"/>
                                  </p:stCondLst>
                                  <p:iterate type="el" backwards="0">
                                    <p:tmAbs val="0"/>
                                  </p:iterate>
                                  <p:childTnLst>
                                    <p:set>
                                      <p:cBhvr>
                                        <p:cTn id="71" fill="hold"/>
                                        <p:tgtEl>
                                          <p:spTgt spid="1387"/>
                                        </p:tgtEl>
                                        <p:attrNameLst>
                                          <p:attrName>style.visibility</p:attrName>
                                        </p:attrNameLst>
                                      </p:cBhvr>
                                      <p:to>
                                        <p:strVal val="visible"/>
                                      </p:to>
                                    </p:set>
                                    <p:animEffect filter="box(out)" transition="in">
                                      <p:cBhvr>
                                        <p:cTn id="72" dur="1000"/>
                                        <p:tgtEl>
                                          <p:spTgt spid="1387"/>
                                        </p:tgtEl>
                                      </p:cBhvr>
                                    </p:animEffect>
                                  </p:childTnLst>
                                </p:cTn>
                              </p:par>
                            </p:childTnLst>
                          </p:cTn>
                        </p:par>
                        <p:par>
                          <p:cTn id="73" fill="hold">
                            <p:stCondLst>
                              <p:cond delay="7000"/>
                            </p:stCondLst>
                            <p:childTnLst>
                              <p:par>
                                <p:cTn id="74" presetClass="entr" nodeType="afterEffect" presetSubtype="32" presetID="4" grpId="18" fill="hold">
                                  <p:stCondLst>
                                    <p:cond delay="0"/>
                                  </p:stCondLst>
                                  <p:iterate type="el" backwards="0">
                                    <p:tmAbs val="0"/>
                                  </p:iterate>
                                  <p:childTnLst>
                                    <p:set>
                                      <p:cBhvr>
                                        <p:cTn id="75" fill="hold"/>
                                        <p:tgtEl>
                                          <p:spTgt spid="1388"/>
                                        </p:tgtEl>
                                        <p:attrNameLst>
                                          <p:attrName>style.visibility</p:attrName>
                                        </p:attrNameLst>
                                      </p:cBhvr>
                                      <p:to>
                                        <p:strVal val="visible"/>
                                      </p:to>
                                    </p:set>
                                    <p:animEffect filter="box(out)" transition="in">
                                      <p:cBhvr>
                                        <p:cTn id="76" dur="1000"/>
                                        <p:tgtEl>
                                          <p:spTgt spid="1388"/>
                                        </p:tgtEl>
                                      </p:cBhvr>
                                    </p:animEffect>
                                  </p:childTnLst>
                                </p:cTn>
                              </p:par>
                            </p:childTnLst>
                          </p:cTn>
                        </p:par>
                        <p:par>
                          <p:cTn id="77" fill="hold">
                            <p:stCondLst>
                              <p:cond delay="8000"/>
                            </p:stCondLst>
                            <p:childTnLst>
                              <p:par>
                                <p:cTn id="78" presetClass="entr" nodeType="afterEffect" presetSubtype="32" presetID="4" grpId="19" fill="hold">
                                  <p:stCondLst>
                                    <p:cond delay="0"/>
                                  </p:stCondLst>
                                  <p:iterate type="el" backwards="0">
                                    <p:tmAbs val="0"/>
                                  </p:iterate>
                                  <p:childTnLst>
                                    <p:set>
                                      <p:cBhvr>
                                        <p:cTn id="79" fill="hold"/>
                                        <p:tgtEl>
                                          <p:spTgt spid="1389"/>
                                        </p:tgtEl>
                                        <p:attrNameLst>
                                          <p:attrName>style.visibility</p:attrName>
                                        </p:attrNameLst>
                                      </p:cBhvr>
                                      <p:to>
                                        <p:strVal val="visible"/>
                                      </p:to>
                                    </p:set>
                                    <p:animEffect filter="box(out)" transition="in">
                                      <p:cBhvr>
                                        <p:cTn id="80" dur="1000"/>
                                        <p:tgtEl>
                                          <p:spTgt spid="1389"/>
                                        </p:tgtEl>
                                      </p:cBhvr>
                                    </p:animEffect>
                                  </p:childTnLst>
                                </p:cTn>
                              </p:par>
                            </p:childTnLst>
                          </p:cTn>
                        </p:par>
                        <p:par>
                          <p:cTn id="81" fill="hold">
                            <p:stCondLst>
                              <p:cond delay="9000"/>
                            </p:stCondLst>
                            <p:childTnLst>
                              <p:par>
                                <p:cTn id="82" presetClass="entr" nodeType="afterEffect" presetSubtype="32" presetID="4" grpId="20" fill="hold">
                                  <p:stCondLst>
                                    <p:cond delay="0"/>
                                  </p:stCondLst>
                                  <p:iterate type="el" backwards="0">
                                    <p:tmAbs val="0"/>
                                  </p:iterate>
                                  <p:childTnLst>
                                    <p:set>
                                      <p:cBhvr>
                                        <p:cTn id="83" fill="hold"/>
                                        <p:tgtEl>
                                          <p:spTgt spid="1390"/>
                                        </p:tgtEl>
                                        <p:attrNameLst>
                                          <p:attrName>style.visibility</p:attrName>
                                        </p:attrNameLst>
                                      </p:cBhvr>
                                      <p:to>
                                        <p:strVal val="visible"/>
                                      </p:to>
                                    </p:set>
                                    <p:animEffect filter="box(out)" transition="in">
                                      <p:cBhvr>
                                        <p:cTn id="84" dur="1000"/>
                                        <p:tgtEl>
                                          <p:spTgt spid="1390"/>
                                        </p:tgtEl>
                                      </p:cBhvr>
                                    </p:animEffect>
                                  </p:childTnLst>
                                </p:cTn>
                              </p:par>
                            </p:childTnLst>
                          </p:cTn>
                        </p:par>
                      </p:childTnLst>
                    </p:cTn>
                  </p:par>
                  <p:par>
                    <p:cTn id="85" fill="hold">
                      <p:stCondLst>
                        <p:cond delay="indefinite"/>
                      </p:stCondLst>
                      <p:childTnLst>
                        <p:par>
                          <p:cTn id="86" fill="hold">
                            <p:stCondLst>
                              <p:cond delay="0"/>
                            </p:stCondLst>
                            <p:childTnLst>
                              <p:par>
                                <p:cTn id="87" presetClass="entr" nodeType="clickEffect" presetSubtype="32" presetID="4" grpId="21" fill="hold">
                                  <p:stCondLst>
                                    <p:cond delay="0"/>
                                  </p:stCondLst>
                                  <p:iterate type="el" backwards="0">
                                    <p:tmAbs val="0"/>
                                  </p:iterate>
                                  <p:childTnLst>
                                    <p:set>
                                      <p:cBhvr>
                                        <p:cTn id="88" fill="hold"/>
                                        <p:tgtEl>
                                          <p:spTgt spid="1391"/>
                                        </p:tgtEl>
                                        <p:attrNameLst>
                                          <p:attrName>style.visibility</p:attrName>
                                        </p:attrNameLst>
                                      </p:cBhvr>
                                      <p:to>
                                        <p:strVal val="visible"/>
                                      </p:to>
                                    </p:set>
                                    <p:animEffect filter="box(out)" transition="in">
                                      <p:cBhvr>
                                        <p:cTn id="89" dur="1000"/>
                                        <p:tgtEl>
                                          <p:spTgt spid="1391"/>
                                        </p:tgtEl>
                                      </p:cBhvr>
                                    </p:animEffect>
                                  </p:childTnLst>
                                </p:cTn>
                              </p:par>
                            </p:childTnLst>
                          </p:cTn>
                        </p:par>
                        <p:par>
                          <p:cTn id="90" fill="hold">
                            <p:stCondLst>
                              <p:cond delay="1000"/>
                            </p:stCondLst>
                            <p:childTnLst>
                              <p:par>
                                <p:cTn id="91" presetClass="entr" nodeType="afterEffect" presetSubtype="32" presetID="4" grpId="22" fill="hold">
                                  <p:stCondLst>
                                    <p:cond delay="0"/>
                                  </p:stCondLst>
                                  <p:iterate type="el" backwards="0">
                                    <p:tmAbs val="0"/>
                                  </p:iterate>
                                  <p:childTnLst>
                                    <p:set>
                                      <p:cBhvr>
                                        <p:cTn id="92" fill="hold"/>
                                        <p:tgtEl>
                                          <p:spTgt spid="1392"/>
                                        </p:tgtEl>
                                        <p:attrNameLst>
                                          <p:attrName>style.visibility</p:attrName>
                                        </p:attrNameLst>
                                      </p:cBhvr>
                                      <p:to>
                                        <p:strVal val="visible"/>
                                      </p:to>
                                    </p:set>
                                    <p:animEffect filter="box(out)" transition="in">
                                      <p:cBhvr>
                                        <p:cTn id="93" dur="1000"/>
                                        <p:tgtEl>
                                          <p:spTgt spid="1392"/>
                                        </p:tgtEl>
                                      </p:cBhvr>
                                    </p:animEffect>
                                  </p:childTnLst>
                                </p:cTn>
                              </p:par>
                            </p:childTnLst>
                          </p:cTn>
                        </p:par>
                        <p:par>
                          <p:cTn id="94" fill="hold">
                            <p:stCondLst>
                              <p:cond delay="2000"/>
                            </p:stCondLst>
                            <p:childTnLst>
                              <p:par>
                                <p:cTn id="95" presetClass="entr" nodeType="afterEffect" presetSubtype="32" presetID="4" grpId="23" fill="hold">
                                  <p:stCondLst>
                                    <p:cond delay="0"/>
                                  </p:stCondLst>
                                  <p:iterate type="el" backwards="0">
                                    <p:tmAbs val="0"/>
                                  </p:iterate>
                                  <p:childTnLst>
                                    <p:set>
                                      <p:cBhvr>
                                        <p:cTn id="96" fill="hold"/>
                                        <p:tgtEl>
                                          <p:spTgt spid="1393"/>
                                        </p:tgtEl>
                                        <p:attrNameLst>
                                          <p:attrName>style.visibility</p:attrName>
                                        </p:attrNameLst>
                                      </p:cBhvr>
                                      <p:to>
                                        <p:strVal val="visible"/>
                                      </p:to>
                                    </p:set>
                                    <p:animEffect filter="box(out)" transition="in">
                                      <p:cBhvr>
                                        <p:cTn id="97" dur="1000"/>
                                        <p:tgtEl>
                                          <p:spTgt spid="1393"/>
                                        </p:tgtEl>
                                      </p:cBhvr>
                                    </p:animEffect>
                                  </p:childTnLst>
                                </p:cTn>
                              </p:par>
                            </p:childTnLst>
                          </p:cTn>
                        </p:par>
                        <p:par>
                          <p:cTn id="98" fill="hold">
                            <p:stCondLst>
                              <p:cond delay="3000"/>
                            </p:stCondLst>
                            <p:childTnLst>
                              <p:par>
                                <p:cTn id="99" presetClass="entr" nodeType="afterEffect" presetSubtype="32" presetID="4" grpId="24" fill="hold">
                                  <p:stCondLst>
                                    <p:cond delay="0"/>
                                  </p:stCondLst>
                                  <p:iterate type="el" backwards="0">
                                    <p:tmAbs val="0"/>
                                  </p:iterate>
                                  <p:childTnLst>
                                    <p:set>
                                      <p:cBhvr>
                                        <p:cTn id="100" fill="hold"/>
                                        <p:tgtEl>
                                          <p:spTgt spid="1394"/>
                                        </p:tgtEl>
                                        <p:attrNameLst>
                                          <p:attrName>style.visibility</p:attrName>
                                        </p:attrNameLst>
                                      </p:cBhvr>
                                      <p:to>
                                        <p:strVal val="visible"/>
                                      </p:to>
                                    </p:set>
                                    <p:animEffect filter="box(out)" transition="in">
                                      <p:cBhvr>
                                        <p:cTn id="101" dur="1000"/>
                                        <p:tgtEl>
                                          <p:spTgt spid="1394"/>
                                        </p:tgtEl>
                                      </p:cBhvr>
                                    </p:animEffect>
                                  </p:childTnLst>
                                </p:cTn>
                              </p:par>
                            </p:childTnLst>
                          </p:cTn>
                        </p:par>
                        <p:par>
                          <p:cTn id="102" fill="hold">
                            <p:stCondLst>
                              <p:cond delay="4000"/>
                            </p:stCondLst>
                            <p:childTnLst>
                              <p:par>
                                <p:cTn id="103" presetClass="entr" nodeType="afterEffect" presetSubtype="32" presetID="4" grpId="25" fill="hold">
                                  <p:stCondLst>
                                    <p:cond delay="0"/>
                                  </p:stCondLst>
                                  <p:iterate type="el" backwards="0">
                                    <p:tmAbs val="0"/>
                                  </p:iterate>
                                  <p:childTnLst>
                                    <p:set>
                                      <p:cBhvr>
                                        <p:cTn id="104" fill="hold"/>
                                        <p:tgtEl>
                                          <p:spTgt spid="1395"/>
                                        </p:tgtEl>
                                        <p:attrNameLst>
                                          <p:attrName>style.visibility</p:attrName>
                                        </p:attrNameLst>
                                      </p:cBhvr>
                                      <p:to>
                                        <p:strVal val="visible"/>
                                      </p:to>
                                    </p:set>
                                    <p:animEffect filter="box(out)" transition="in">
                                      <p:cBhvr>
                                        <p:cTn id="105" dur="1000"/>
                                        <p:tgtEl>
                                          <p:spTgt spid="1395"/>
                                        </p:tgtEl>
                                      </p:cBhvr>
                                    </p:animEffect>
                                  </p:childTnLst>
                                </p:cTn>
                              </p:par>
                            </p:childTnLst>
                          </p:cTn>
                        </p:par>
                        <p:par>
                          <p:cTn id="106" fill="hold">
                            <p:stCondLst>
                              <p:cond delay="5000"/>
                            </p:stCondLst>
                            <p:childTnLst>
                              <p:par>
                                <p:cTn id="107" presetClass="entr" nodeType="afterEffect" presetSubtype="32" presetID="4" grpId="26" fill="hold">
                                  <p:stCondLst>
                                    <p:cond delay="0"/>
                                  </p:stCondLst>
                                  <p:iterate type="el" backwards="0">
                                    <p:tmAbs val="0"/>
                                  </p:iterate>
                                  <p:childTnLst>
                                    <p:set>
                                      <p:cBhvr>
                                        <p:cTn id="108" fill="hold"/>
                                        <p:tgtEl>
                                          <p:spTgt spid="1396"/>
                                        </p:tgtEl>
                                        <p:attrNameLst>
                                          <p:attrName>style.visibility</p:attrName>
                                        </p:attrNameLst>
                                      </p:cBhvr>
                                      <p:to>
                                        <p:strVal val="visible"/>
                                      </p:to>
                                    </p:set>
                                    <p:animEffect filter="box(out)" transition="in">
                                      <p:cBhvr>
                                        <p:cTn id="109" dur="1000"/>
                                        <p:tgtEl>
                                          <p:spTgt spid="1396"/>
                                        </p:tgtEl>
                                      </p:cBhvr>
                                    </p:animEffect>
                                  </p:childTnLst>
                                </p:cTn>
                              </p:par>
                            </p:childTnLst>
                          </p:cTn>
                        </p:par>
                        <p:par>
                          <p:cTn id="110" fill="hold">
                            <p:stCondLst>
                              <p:cond delay="6000"/>
                            </p:stCondLst>
                            <p:childTnLst>
                              <p:par>
                                <p:cTn id="111" presetClass="entr" nodeType="afterEffect" presetSubtype="32" presetID="4" grpId="27" fill="hold">
                                  <p:stCondLst>
                                    <p:cond delay="0"/>
                                  </p:stCondLst>
                                  <p:iterate type="el" backwards="0">
                                    <p:tmAbs val="0"/>
                                  </p:iterate>
                                  <p:childTnLst>
                                    <p:set>
                                      <p:cBhvr>
                                        <p:cTn id="112" fill="hold"/>
                                        <p:tgtEl>
                                          <p:spTgt spid="1397"/>
                                        </p:tgtEl>
                                        <p:attrNameLst>
                                          <p:attrName>style.visibility</p:attrName>
                                        </p:attrNameLst>
                                      </p:cBhvr>
                                      <p:to>
                                        <p:strVal val="visible"/>
                                      </p:to>
                                    </p:set>
                                    <p:animEffect filter="box(out)" transition="in">
                                      <p:cBhvr>
                                        <p:cTn id="113" dur="1000"/>
                                        <p:tgtEl>
                                          <p:spTgt spid="1397"/>
                                        </p:tgtEl>
                                      </p:cBhvr>
                                    </p:animEffect>
                                  </p:childTnLst>
                                </p:cTn>
                              </p:par>
                            </p:childTnLst>
                          </p:cTn>
                        </p:par>
                        <p:par>
                          <p:cTn id="114" fill="hold">
                            <p:stCondLst>
                              <p:cond delay="7000"/>
                            </p:stCondLst>
                            <p:childTnLst>
                              <p:par>
                                <p:cTn id="115" presetClass="entr" nodeType="afterEffect" presetSubtype="32" presetID="4" grpId="28" fill="hold">
                                  <p:stCondLst>
                                    <p:cond delay="0"/>
                                  </p:stCondLst>
                                  <p:iterate type="el" backwards="0">
                                    <p:tmAbs val="0"/>
                                  </p:iterate>
                                  <p:childTnLst>
                                    <p:set>
                                      <p:cBhvr>
                                        <p:cTn id="116" fill="hold"/>
                                        <p:tgtEl>
                                          <p:spTgt spid="1398"/>
                                        </p:tgtEl>
                                        <p:attrNameLst>
                                          <p:attrName>style.visibility</p:attrName>
                                        </p:attrNameLst>
                                      </p:cBhvr>
                                      <p:to>
                                        <p:strVal val="visible"/>
                                      </p:to>
                                    </p:set>
                                    <p:animEffect filter="box(out)" transition="in">
                                      <p:cBhvr>
                                        <p:cTn id="117" dur="1000"/>
                                        <p:tgtEl>
                                          <p:spTgt spid="1398"/>
                                        </p:tgtEl>
                                      </p:cBhvr>
                                    </p:animEffect>
                                  </p:childTnLst>
                                </p:cTn>
                              </p:par>
                            </p:childTnLst>
                          </p:cTn>
                        </p:par>
                        <p:par>
                          <p:cTn id="118" fill="hold">
                            <p:stCondLst>
                              <p:cond delay="8000"/>
                            </p:stCondLst>
                            <p:childTnLst>
                              <p:par>
                                <p:cTn id="119" presetClass="entr" nodeType="afterEffect" presetSubtype="32" presetID="4" grpId="29" fill="hold">
                                  <p:stCondLst>
                                    <p:cond delay="0"/>
                                  </p:stCondLst>
                                  <p:iterate type="el" backwards="0">
                                    <p:tmAbs val="0"/>
                                  </p:iterate>
                                  <p:childTnLst>
                                    <p:set>
                                      <p:cBhvr>
                                        <p:cTn id="120" fill="hold"/>
                                        <p:tgtEl>
                                          <p:spTgt spid="1399"/>
                                        </p:tgtEl>
                                        <p:attrNameLst>
                                          <p:attrName>style.visibility</p:attrName>
                                        </p:attrNameLst>
                                      </p:cBhvr>
                                      <p:to>
                                        <p:strVal val="visible"/>
                                      </p:to>
                                    </p:set>
                                    <p:animEffect filter="box(out)" transition="in">
                                      <p:cBhvr>
                                        <p:cTn id="121" dur="1000"/>
                                        <p:tgtEl>
                                          <p:spTgt spid="1399"/>
                                        </p:tgtEl>
                                      </p:cBhvr>
                                    </p:animEffect>
                                  </p:childTnLst>
                                </p:cTn>
                              </p:par>
                            </p:childTnLst>
                          </p:cTn>
                        </p:par>
                        <p:par>
                          <p:cTn id="122" fill="hold">
                            <p:stCondLst>
                              <p:cond delay="9000"/>
                            </p:stCondLst>
                            <p:childTnLst>
                              <p:par>
                                <p:cTn id="123" presetClass="entr" nodeType="afterEffect" presetSubtype="32" presetID="4" grpId="30" fill="hold">
                                  <p:stCondLst>
                                    <p:cond delay="0"/>
                                  </p:stCondLst>
                                  <p:iterate type="el" backwards="0">
                                    <p:tmAbs val="0"/>
                                  </p:iterate>
                                  <p:childTnLst>
                                    <p:set>
                                      <p:cBhvr>
                                        <p:cTn id="124" fill="hold"/>
                                        <p:tgtEl>
                                          <p:spTgt spid="1400"/>
                                        </p:tgtEl>
                                        <p:attrNameLst>
                                          <p:attrName>style.visibility</p:attrName>
                                        </p:attrNameLst>
                                      </p:cBhvr>
                                      <p:to>
                                        <p:strVal val="visible"/>
                                      </p:to>
                                    </p:set>
                                    <p:animEffect filter="box(out)" transition="in">
                                      <p:cBhvr>
                                        <p:cTn id="125" dur="1000"/>
                                        <p:tgtEl>
                                          <p:spTgt spid="1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94" grpId="24"/>
      <p:bldP build="whole" bldLvl="1" animBg="1" rev="0" advAuto="0" spid="1389" grpId="19"/>
      <p:bldP build="whole" bldLvl="1" animBg="1" rev="0" advAuto="0" spid="1380" grpId="10"/>
      <p:bldP build="whole" bldLvl="1" animBg="1" rev="0" advAuto="0" spid="1390" grpId="20"/>
      <p:bldP build="whole" bldLvl="1" animBg="1" rev="0" advAuto="0" spid="1395" grpId="25"/>
      <p:bldP build="whole" bldLvl="1" animBg="1" rev="0" advAuto="0" spid="1378" grpId="8"/>
      <p:bldP build="whole" bldLvl="1" animBg="1" rev="0" advAuto="0" spid="1371" grpId="1"/>
      <p:bldP build="whole" bldLvl="1" animBg="1" rev="0" advAuto="0" spid="1383" grpId="13"/>
      <p:bldP build="whole" bldLvl="1" animBg="1" rev="0" advAuto="0" spid="1386" grpId="16"/>
      <p:bldP build="whole" bldLvl="1" animBg="1" rev="0" advAuto="0" spid="1393" grpId="23"/>
      <p:bldP build="whole" bldLvl="1" animBg="1" rev="0" advAuto="0" spid="1381" grpId="11"/>
      <p:bldP build="whole" bldLvl="1" animBg="1" rev="0" advAuto="0" spid="1375" grpId="5"/>
      <p:bldP build="whole" bldLvl="1" animBg="1" rev="0" advAuto="0" spid="1398" grpId="28"/>
      <p:bldP build="whole" bldLvl="1" animBg="1" rev="0" advAuto="0" spid="1400" grpId="30"/>
      <p:bldP build="whole" bldLvl="1" animBg="1" rev="0" advAuto="0" spid="1385" grpId="15"/>
      <p:bldP build="whole" bldLvl="1" animBg="1" rev="0" advAuto="0" spid="1377" grpId="7"/>
      <p:bldP build="whole" bldLvl="1" animBg="1" rev="0" advAuto="0" spid="1373" grpId="3"/>
      <p:bldP build="whole" bldLvl="1" animBg="1" rev="0" advAuto="0" spid="1376" grpId="6"/>
      <p:bldP build="whole" bldLvl="1" animBg="1" rev="0" advAuto="0" spid="1384" grpId="14"/>
      <p:bldP build="whole" bldLvl="1" animBg="1" rev="0" advAuto="0" spid="1392" grpId="22"/>
      <p:bldP build="whole" bldLvl="1" animBg="1" rev="0" advAuto="0" spid="1372" grpId="2"/>
      <p:bldP build="whole" bldLvl="1" animBg="1" rev="0" advAuto="0" spid="1387" grpId="17"/>
      <p:bldP build="whole" bldLvl="1" animBg="1" rev="0" advAuto="0" spid="1396" grpId="26"/>
      <p:bldP build="whole" bldLvl="1" animBg="1" rev="0" advAuto="0" spid="1397" grpId="27"/>
      <p:bldP build="whole" bldLvl="1" animBg="1" rev="0" advAuto="0" spid="1391" grpId="21"/>
      <p:bldP build="whole" bldLvl="1" animBg="1" rev="0" advAuto="0" spid="1379" grpId="9"/>
      <p:bldP build="whole" bldLvl="1" animBg="1" rev="0" advAuto="0" spid="1374" grpId="4"/>
      <p:bldP build="whole" bldLvl="1" animBg="1" rev="0" advAuto="0" spid="1382" grpId="12"/>
      <p:bldP build="whole" bldLvl="1" animBg="1" rev="0" advAuto="0" spid="1399" grpId="29"/>
      <p:bldP build="whole" bldLvl="1" animBg="1" rev="0" advAuto="0" spid="1388" grpId="18"/>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9"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Component Eviction: Priorities and Cascades</a:t>
            </a:r>
          </a:p>
        </p:txBody>
      </p:sp>
      <p:sp>
        <p:nvSpPr>
          <p:cNvPr id="1410"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25</a:t>
            </a:r>
          </a:p>
        </p:txBody>
      </p:sp>
      <p:pic>
        <p:nvPicPr>
          <p:cNvPr id="1411"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412"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413" name="body-34"/>
          <p:cNvSpPr txBox="1"/>
          <p:nvPr/>
        </p:nvSpPr>
        <p:spPr>
          <a:xfrm>
            <a:off x="812799" y="1003299"/>
            <a:ext cx="6310115"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Cascade rules on one internal node with evictable state.</a:t>
            </a:r>
          </a:p>
        </p:txBody>
      </p:sp>
      <p:sp>
        <p:nvSpPr>
          <p:cNvPr id="1414" name="body-36"/>
          <p:cNvSpPr txBox="1"/>
          <p:nvPr/>
        </p:nvSpPr>
        <p:spPr>
          <a:xfrm>
            <a:off x="3655378" y="1905793"/>
            <a:ext cx="817241"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Before</a:t>
            </a:r>
          </a:p>
        </p:txBody>
      </p:sp>
      <p:sp>
        <p:nvSpPr>
          <p:cNvPr id="1415" name="body-37"/>
          <p:cNvSpPr txBox="1"/>
          <p:nvPr/>
        </p:nvSpPr>
        <p:spPr>
          <a:xfrm>
            <a:off x="8090370" y="1905793"/>
            <a:ext cx="2285059"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2000">
                <a:solidFill>
                  <a:srgbClr val="2D5093"/>
                </a:solidFill>
                <a:latin typeface="+mj-lt"/>
                <a:ea typeface="+mj-ea"/>
                <a:cs typeface="+mj-cs"/>
                <a:sym typeface="Helvetica"/>
              </a:defRPr>
            </a:lvl1pPr>
          </a:lstStyle>
          <a:p>
            <a:pPr/>
            <a:r>
              <a:t>After evicting SWA</a:t>
            </a:r>
          </a:p>
        </p:txBody>
      </p:sp>
      <p:sp>
        <p:nvSpPr>
          <p:cNvPr id="1416" name="body-38"/>
          <p:cNvSpPr txBox="1"/>
          <p:nvPr/>
        </p:nvSpPr>
        <p:spPr>
          <a:xfrm>
            <a:off x="812800" y="2483643"/>
            <a:ext cx="661591"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2D5093"/>
                </a:solidFill>
                <a:latin typeface="+mj-lt"/>
                <a:ea typeface="+mj-ea"/>
                <a:cs typeface="+mj-cs"/>
                <a:sym typeface="Helvetica"/>
              </a:defRPr>
            </a:lvl1pPr>
          </a:lstStyle>
          <a:p>
            <a:pPr/>
            <a:r>
              <a:t>FULL</a:t>
            </a:r>
          </a:p>
        </p:txBody>
      </p:sp>
      <p:grpSp>
        <p:nvGrpSpPr>
          <p:cNvPr id="1419" name="body-39"/>
          <p:cNvGrpSpPr/>
          <p:nvPr/>
        </p:nvGrpSpPr>
        <p:grpSpPr>
          <a:xfrm>
            <a:off x="2425700" y="2394742"/>
            <a:ext cx="3187700" cy="482602"/>
            <a:chOff x="0" y="0"/>
            <a:chExt cx="3187700" cy="482601"/>
          </a:xfrm>
        </p:grpSpPr>
        <p:sp>
          <p:nvSpPr>
            <p:cNvPr id="1417" name="Rounded Rectangle"/>
            <p:cNvSpPr/>
            <p:nvPr/>
          </p:nvSpPr>
          <p:spPr>
            <a:xfrm>
              <a:off x="0" y="0"/>
              <a:ext cx="3187700" cy="482602"/>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a:solidFill>
                    <a:srgbClr val="2D5093"/>
                  </a:solidFill>
                  <a:latin typeface="+mj-lt"/>
                  <a:ea typeface="+mj-ea"/>
                  <a:cs typeface="+mj-cs"/>
                  <a:sym typeface="Helvetica"/>
                </a:defRPr>
              </a:pPr>
            </a:p>
          </p:txBody>
        </p:sp>
        <p:sp>
          <p:nvSpPr>
            <p:cNvPr id="1418" name="State   ·   priority 2"/>
            <p:cNvSpPr txBox="1"/>
            <p:nvPr/>
          </p:nvSpPr>
          <p:spPr>
            <a:xfrm>
              <a:off x="596638" y="101599"/>
              <a:ext cx="199442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2D5093"/>
                  </a:solidFill>
                  <a:latin typeface="+mj-lt"/>
                  <a:ea typeface="+mj-ea"/>
                  <a:cs typeface="+mj-cs"/>
                  <a:sym typeface="Helvetica"/>
                </a:defRPr>
              </a:lvl1pPr>
            </a:lstStyle>
            <a:p>
              <a:pPr/>
              <a:r>
                <a:t>State   ·   priority 2</a:t>
              </a:r>
            </a:p>
          </p:txBody>
        </p:sp>
      </p:grpSp>
      <p:grpSp>
        <p:nvGrpSpPr>
          <p:cNvPr id="1422" name="body-40"/>
          <p:cNvGrpSpPr/>
          <p:nvPr/>
        </p:nvGrpSpPr>
        <p:grpSpPr>
          <a:xfrm>
            <a:off x="7670800" y="2394742"/>
            <a:ext cx="3162300" cy="482602"/>
            <a:chOff x="0" y="0"/>
            <a:chExt cx="3162300" cy="482601"/>
          </a:xfrm>
        </p:grpSpPr>
        <p:sp>
          <p:nvSpPr>
            <p:cNvPr id="1420" name="Rounded Rectangle"/>
            <p:cNvSpPr/>
            <p:nvPr/>
          </p:nvSpPr>
          <p:spPr>
            <a:xfrm>
              <a:off x="0" y="0"/>
              <a:ext cx="3162300" cy="482602"/>
            </a:xfrm>
            <a:prstGeom prst="roundRect">
              <a:avLst>
                <a:gd name="adj" fmla="val 10526"/>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900">
                  <a:solidFill>
                    <a:srgbClr val="2D5093"/>
                  </a:solidFill>
                  <a:latin typeface="+mj-lt"/>
                  <a:ea typeface="+mj-ea"/>
                  <a:cs typeface="+mj-cs"/>
                  <a:sym typeface="Helvetica"/>
                </a:defRPr>
              </a:pPr>
            </a:p>
          </p:txBody>
        </p:sp>
        <p:sp>
          <p:nvSpPr>
            <p:cNvPr id="1421" name="Kept"/>
            <p:cNvSpPr txBox="1"/>
            <p:nvPr/>
          </p:nvSpPr>
          <p:spPr>
            <a:xfrm>
              <a:off x="1306694" y="95250"/>
              <a:ext cx="548911"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2D5093"/>
                  </a:solidFill>
                  <a:latin typeface="+mj-lt"/>
                  <a:ea typeface="+mj-ea"/>
                  <a:cs typeface="+mj-cs"/>
                  <a:sym typeface="Helvetica"/>
                </a:defRPr>
              </a:lvl1pPr>
            </a:lstStyle>
            <a:p>
              <a:pPr/>
              <a:r>
                <a:t>Kept</a:t>
              </a:r>
            </a:p>
          </p:txBody>
        </p:sp>
      </p:grpSp>
      <p:sp>
        <p:nvSpPr>
          <p:cNvPr id="1423" name="body-41"/>
          <p:cNvSpPr txBox="1"/>
          <p:nvPr/>
        </p:nvSpPr>
        <p:spPr>
          <a:xfrm>
            <a:off x="812800" y="3207542"/>
            <a:ext cx="5913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BA8600"/>
                </a:solidFill>
                <a:latin typeface="+mj-lt"/>
                <a:ea typeface="+mj-ea"/>
                <a:cs typeface="+mj-cs"/>
                <a:sym typeface="Helvetica"/>
              </a:defRPr>
            </a:lvl1pPr>
          </a:lstStyle>
          <a:p>
            <a:pPr/>
            <a:r>
              <a:t>SWA</a:t>
            </a:r>
          </a:p>
        </p:txBody>
      </p:sp>
      <p:grpSp>
        <p:nvGrpSpPr>
          <p:cNvPr id="1426" name="body-42"/>
          <p:cNvGrpSpPr/>
          <p:nvPr/>
        </p:nvGrpSpPr>
        <p:grpSpPr>
          <a:xfrm>
            <a:off x="2425700" y="3118642"/>
            <a:ext cx="3187700" cy="482602"/>
            <a:chOff x="0" y="0"/>
            <a:chExt cx="3187700" cy="482601"/>
          </a:xfrm>
        </p:grpSpPr>
        <p:sp>
          <p:nvSpPr>
            <p:cNvPr id="1424" name="Rounded Rectangle"/>
            <p:cNvSpPr/>
            <p:nvPr/>
          </p:nvSpPr>
          <p:spPr>
            <a:xfrm>
              <a:off x="0" y="0"/>
              <a:ext cx="3187700" cy="482602"/>
            </a:xfrm>
            <a:prstGeom prst="roundRect">
              <a:avLst>
                <a:gd name="adj" fmla="val 10526"/>
              </a:avLst>
            </a:prstGeom>
            <a:solidFill>
              <a:srgbClr val="EEF3F9"/>
            </a:solidFill>
            <a:ln w="13970" cap="flat">
              <a:solidFill>
                <a:srgbClr val="BA8600"/>
              </a:solidFill>
              <a:prstDash val="solid"/>
              <a:round/>
            </a:ln>
            <a:effectLst/>
          </p:spPr>
          <p:txBody>
            <a:bodyPr wrap="square" lIns="45718" tIns="45718" rIns="45718" bIns="45718" numCol="1" anchor="ctr">
              <a:noAutofit/>
            </a:bodyPr>
            <a:lstStyle/>
            <a:p>
              <a:pPr algn="ctr">
                <a:defRPr b="1">
                  <a:solidFill>
                    <a:srgbClr val="BA8600"/>
                  </a:solidFill>
                  <a:latin typeface="+mj-lt"/>
                  <a:ea typeface="+mj-ea"/>
                  <a:cs typeface="+mj-cs"/>
                  <a:sym typeface="Helvetica"/>
                </a:defRPr>
              </a:pPr>
            </a:p>
          </p:txBody>
        </p:sp>
        <p:sp>
          <p:nvSpPr>
            <p:cNvPr id="1425" name="State   ·   priority 1"/>
            <p:cNvSpPr txBox="1"/>
            <p:nvPr/>
          </p:nvSpPr>
          <p:spPr>
            <a:xfrm>
              <a:off x="596638" y="101599"/>
              <a:ext cx="199442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BA8600"/>
                  </a:solidFill>
                  <a:latin typeface="+mj-lt"/>
                  <a:ea typeface="+mj-ea"/>
                  <a:cs typeface="+mj-cs"/>
                  <a:sym typeface="Helvetica"/>
                </a:defRPr>
              </a:lvl1pPr>
            </a:lstStyle>
            <a:p>
              <a:pPr/>
              <a:r>
                <a:t>State   ·   priority 1</a:t>
              </a:r>
            </a:p>
          </p:txBody>
        </p:sp>
      </p:grpSp>
      <p:grpSp>
        <p:nvGrpSpPr>
          <p:cNvPr id="1429" name="body-43"/>
          <p:cNvGrpSpPr/>
          <p:nvPr/>
        </p:nvGrpSpPr>
        <p:grpSpPr>
          <a:xfrm>
            <a:off x="7670800" y="3118642"/>
            <a:ext cx="3162300" cy="482602"/>
            <a:chOff x="0" y="0"/>
            <a:chExt cx="3162300" cy="482601"/>
          </a:xfrm>
        </p:grpSpPr>
        <p:sp>
          <p:nvSpPr>
            <p:cNvPr id="1427" name="Rounded Rectangle"/>
            <p:cNvSpPr/>
            <p:nvPr/>
          </p:nvSpPr>
          <p:spPr>
            <a:xfrm>
              <a:off x="0" y="0"/>
              <a:ext cx="3162300" cy="482602"/>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900">
                  <a:solidFill>
                    <a:srgbClr val="5C7392"/>
                  </a:solidFill>
                  <a:latin typeface="+mj-lt"/>
                  <a:ea typeface="+mj-ea"/>
                  <a:cs typeface="+mj-cs"/>
                  <a:sym typeface="Helvetica"/>
                </a:defRPr>
              </a:pPr>
            </a:p>
          </p:txBody>
        </p:sp>
        <p:sp>
          <p:nvSpPr>
            <p:cNvPr id="1428" name="Released"/>
            <p:cNvSpPr txBox="1"/>
            <p:nvPr/>
          </p:nvSpPr>
          <p:spPr>
            <a:xfrm>
              <a:off x="1044952" y="95250"/>
              <a:ext cx="1072395"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5C7392"/>
                  </a:solidFill>
                  <a:latin typeface="+mj-lt"/>
                  <a:ea typeface="+mj-ea"/>
                  <a:cs typeface="+mj-cs"/>
                  <a:sym typeface="Helvetica"/>
                </a:defRPr>
              </a:lvl1pPr>
            </a:lstStyle>
            <a:p>
              <a:pPr/>
              <a:r>
                <a:t>Released</a:t>
              </a:r>
            </a:p>
          </p:txBody>
        </p:sp>
      </p:grpSp>
      <p:sp>
        <p:nvSpPr>
          <p:cNvPr id="1430" name="body-44"/>
          <p:cNvSpPr txBox="1"/>
          <p:nvPr/>
        </p:nvSpPr>
        <p:spPr>
          <a:xfrm>
            <a:off x="812800" y="3931442"/>
            <a:ext cx="986160"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8055C4"/>
                </a:solidFill>
                <a:latin typeface="+mj-lt"/>
                <a:ea typeface="+mj-ea"/>
                <a:cs typeface="+mj-cs"/>
                <a:sym typeface="Helvetica"/>
              </a:defRPr>
            </a:lvl1pPr>
          </a:lstStyle>
          <a:p>
            <a:pPr/>
            <a:r>
              <a:t>MAMBA</a:t>
            </a:r>
          </a:p>
        </p:txBody>
      </p:sp>
      <p:grpSp>
        <p:nvGrpSpPr>
          <p:cNvPr id="1433" name="body-45"/>
          <p:cNvGrpSpPr/>
          <p:nvPr/>
        </p:nvGrpSpPr>
        <p:grpSpPr>
          <a:xfrm>
            <a:off x="2425700" y="3842542"/>
            <a:ext cx="3187700" cy="482602"/>
            <a:chOff x="0" y="0"/>
            <a:chExt cx="3187700" cy="482601"/>
          </a:xfrm>
        </p:grpSpPr>
        <p:sp>
          <p:nvSpPr>
            <p:cNvPr id="1431" name="Rounded Rectangle"/>
            <p:cNvSpPr/>
            <p:nvPr/>
          </p:nvSpPr>
          <p:spPr>
            <a:xfrm>
              <a:off x="0" y="0"/>
              <a:ext cx="3187700" cy="482602"/>
            </a:xfrm>
            <a:prstGeom prst="roundRect">
              <a:avLst>
                <a:gd name="adj" fmla="val 10526"/>
              </a:avLst>
            </a:prstGeom>
            <a:solidFill>
              <a:srgbClr val="EEF3F9"/>
            </a:solidFill>
            <a:ln w="13970" cap="flat">
              <a:solidFill>
                <a:srgbClr val="8055C4"/>
              </a:solidFill>
              <a:prstDash val="solid"/>
              <a:round/>
            </a:ln>
            <a:effectLst/>
          </p:spPr>
          <p:txBody>
            <a:bodyPr wrap="square" lIns="45718" tIns="45718" rIns="45718" bIns="45718" numCol="1" anchor="ctr">
              <a:noAutofit/>
            </a:bodyPr>
            <a:lstStyle/>
            <a:p>
              <a:pPr algn="ctr">
                <a:defRPr b="1">
                  <a:solidFill>
                    <a:srgbClr val="8055C4"/>
                  </a:solidFill>
                  <a:latin typeface="+mj-lt"/>
                  <a:ea typeface="+mj-ea"/>
                  <a:cs typeface="+mj-cs"/>
                  <a:sym typeface="Helvetica"/>
                </a:defRPr>
              </a:pPr>
            </a:p>
          </p:txBody>
        </p:sp>
        <p:sp>
          <p:nvSpPr>
            <p:cNvPr id="1432" name="State   ·   priority 0"/>
            <p:cNvSpPr txBox="1"/>
            <p:nvPr/>
          </p:nvSpPr>
          <p:spPr>
            <a:xfrm>
              <a:off x="596638" y="101599"/>
              <a:ext cx="199442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8055C4"/>
                  </a:solidFill>
                  <a:latin typeface="+mj-lt"/>
                  <a:ea typeface="+mj-ea"/>
                  <a:cs typeface="+mj-cs"/>
                  <a:sym typeface="Helvetica"/>
                </a:defRPr>
              </a:lvl1pPr>
            </a:lstStyle>
            <a:p>
              <a:pPr/>
              <a:r>
                <a:t>State   ·   priority 0</a:t>
              </a:r>
            </a:p>
          </p:txBody>
        </p:sp>
      </p:grpSp>
      <p:grpSp>
        <p:nvGrpSpPr>
          <p:cNvPr id="1436" name="body-46"/>
          <p:cNvGrpSpPr/>
          <p:nvPr/>
        </p:nvGrpSpPr>
        <p:grpSpPr>
          <a:xfrm>
            <a:off x="7670800" y="3842542"/>
            <a:ext cx="3162300" cy="482602"/>
            <a:chOff x="0" y="0"/>
            <a:chExt cx="3162300" cy="482601"/>
          </a:xfrm>
        </p:grpSpPr>
        <p:sp>
          <p:nvSpPr>
            <p:cNvPr id="1434" name="Rounded Rectangle"/>
            <p:cNvSpPr/>
            <p:nvPr/>
          </p:nvSpPr>
          <p:spPr>
            <a:xfrm>
              <a:off x="0" y="0"/>
              <a:ext cx="3162300" cy="482602"/>
            </a:xfrm>
            <a:prstGeom prst="roundRect">
              <a:avLst>
                <a:gd name="adj" fmla="val 10526"/>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sz="1900">
                  <a:solidFill>
                    <a:srgbClr val="5C7392"/>
                  </a:solidFill>
                  <a:latin typeface="+mj-lt"/>
                  <a:ea typeface="+mj-ea"/>
                  <a:cs typeface="+mj-cs"/>
                  <a:sym typeface="Helvetica"/>
                </a:defRPr>
              </a:pPr>
            </a:p>
          </p:txBody>
        </p:sp>
        <p:sp>
          <p:nvSpPr>
            <p:cNvPr id="1435" name="Released"/>
            <p:cNvSpPr txBox="1"/>
            <p:nvPr/>
          </p:nvSpPr>
          <p:spPr>
            <a:xfrm>
              <a:off x="1044952" y="95250"/>
              <a:ext cx="1072395"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5C7392"/>
                  </a:solidFill>
                  <a:latin typeface="+mj-lt"/>
                  <a:ea typeface="+mj-ea"/>
                  <a:cs typeface="+mj-cs"/>
                  <a:sym typeface="Helvetica"/>
                </a:defRPr>
              </a:lvl1pPr>
            </a:lstStyle>
            <a:p>
              <a:pPr/>
              <a:r>
                <a:t>Released</a:t>
              </a:r>
            </a:p>
          </p:txBody>
        </p:sp>
      </p:grpSp>
      <p:sp>
        <p:nvSpPr>
          <p:cNvPr id="1437" name="body-47"/>
          <p:cNvSpPr/>
          <p:nvPr/>
        </p:nvSpPr>
        <p:spPr>
          <a:xfrm>
            <a:off x="6019800" y="3309142"/>
            <a:ext cx="1193800" cy="177802"/>
          </a:xfrm>
          <a:prstGeom prst="rightArrow">
            <a:avLst>
              <a:gd name="adj1" fmla="val 50000"/>
              <a:gd name="adj2" fmla="val 50000"/>
            </a:avLst>
          </a:prstGeom>
          <a:solidFill>
            <a:srgbClr val="2D5093"/>
          </a:solidFill>
          <a:ln w="12700">
            <a:miter lim="400000"/>
          </a:ln>
        </p:spPr>
        <p:txBody>
          <a:bodyPr lIns="45718" tIns="45718" rIns="45718" bIns="45718"/>
          <a:lstStyle/>
          <a:p>
            <a:pPr>
              <a:defRPr>
                <a:latin typeface="+mj-lt"/>
                <a:ea typeface="+mj-ea"/>
                <a:cs typeface="+mj-cs"/>
                <a:sym typeface="Helvetica"/>
              </a:defRPr>
            </a:pPr>
          </a:p>
        </p:txBody>
      </p:sp>
      <p:sp>
        <p:nvSpPr>
          <p:cNvPr id="1438" name="body-48"/>
          <p:cNvSpPr txBox="1"/>
          <p:nvPr/>
        </p:nvSpPr>
        <p:spPr>
          <a:xfrm>
            <a:off x="6287438" y="2978943"/>
            <a:ext cx="658523"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500">
                <a:solidFill>
                  <a:srgbClr val="2D5093"/>
                </a:solidFill>
                <a:latin typeface="+mj-lt"/>
                <a:ea typeface="+mj-ea"/>
                <a:cs typeface="+mj-cs"/>
                <a:sym typeface="Helvetica"/>
              </a:defRPr>
            </a:lvl1pPr>
          </a:lstStyle>
          <a:p>
            <a:pPr/>
            <a:r>
              <a:t>Trigger</a:t>
            </a:r>
          </a:p>
        </p:txBody>
      </p:sp>
      <p:sp>
        <p:nvSpPr>
          <p:cNvPr id="1439" name="body-49"/>
          <p:cNvSpPr txBox="1"/>
          <p:nvPr/>
        </p:nvSpPr>
        <p:spPr>
          <a:xfrm>
            <a:off x="6193112" y="3842542"/>
            <a:ext cx="796375"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500">
                <a:solidFill>
                  <a:srgbClr val="8055C4"/>
                </a:solidFill>
                <a:latin typeface="+mj-lt"/>
                <a:ea typeface="+mj-ea"/>
                <a:cs typeface="+mj-cs"/>
                <a:sym typeface="Helvetica"/>
              </a:defRPr>
            </a:lvl1pPr>
          </a:lstStyle>
          <a:p>
            <a:pPr/>
            <a:r>
              <a:t>Cascade</a:t>
            </a:r>
          </a:p>
        </p:txBody>
      </p:sp>
      <p:sp>
        <p:nvSpPr>
          <p:cNvPr id="1440" name="body-50"/>
          <p:cNvSpPr/>
          <p:nvPr/>
        </p:nvSpPr>
        <p:spPr>
          <a:xfrm>
            <a:off x="812800" y="4680743"/>
            <a:ext cx="10033000" cy="1"/>
          </a:xfrm>
          <a:prstGeom prst="line">
            <a:avLst/>
          </a:prstGeom>
          <a:ln w="16510">
            <a:solidFill>
              <a:srgbClr val="B9CCE4"/>
            </a:solidFill>
          </a:ln>
        </p:spPr>
        <p:txBody>
          <a:bodyPr lIns="45718" tIns="45718" rIns="45718" bIns="45718"/>
          <a:lstStyle/>
          <a:p>
            <a:pPr/>
          </a:p>
        </p:txBody>
      </p:sp>
      <p:sp>
        <p:nvSpPr>
          <p:cNvPr id="1441" name="body-51"/>
          <p:cNvSpPr txBox="1"/>
          <p:nvPr/>
        </p:nvSpPr>
        <p:spPr>
          <a:xfrm>
            <a:off x="732909" y="5036342"/>
            <a:ext cx="10192781" cy="292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900">
                <a:solidFill>
                  <a:srgbClr val="223854"/>
                </a:solidFill>
                <a:latin typeface="+mj-lt"/>
                <a:ea typeface="+mj-ea"/>
                <a:cs typeface="+mj-cs"/>
                <a:sym typeface="Helvetica"/>
              </a:defRPr>
            </a:lvl1pPr>
          </a:lstStyle>
          <a:p>
            <a:pPr/>
            <a:r>
              <a:t>Assign retention priorities based on how likely eviction is to disrupt reuse at downstream nodes.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4" grpId="1" fill="hold">
                                  <p:stCondLst>
                                    <p:cond delay="0"/>
                                  </p:stCondLst>
                                  <p:iterate type="el" backwards="0">
                                    <p:tmAbs val="0"/>
                                  </p:iterate>
                                  <p:childTnLst>
                                    <p:set>
                                      <p:cBhvr>
                                        <p:cTn id="6" fill="hold"/>
                                        <p:tgtEl>
                                          <p:spTgt spid="1415"/>
                                        </p:tgtEl>
                                        <p:attrNameLst>
                                          <p:attrName>style.visibility</p:attrName>
                                        </p:attrNameLst>
                                      </p:cBhvr>
                                      <p:to>
                                        <p:strVal val="visible"/>
                                      </p:to>
                                    </p:set>
                                    <p:animEffect filter="box(out)" transition="in">
                                      <p:cBhvr>
                                        <p:cTn id="7" dur="1000"/>
                                        <p:tgtEl>
                                          <p:spTgt spid="1415"/>
                                        </p:tgtEl>
                                      </p:cBhvr>
                                    </p:animEffect>
                                  </p:childTnLst>
                                </p:cTn>
                              </p:par>
                            </p:childTnLst>
                          </p:cTn>
                        </p:par>
                        <p:par>
                          <p:cTn id="8" fill="hold">
                            <p:stCondLst>
                              <p:cond delay="1000"/>
                            </p:stCondLst>
                            <p:childTnLst>
                              <p:par>
                                <p:cTn id="9" presetClass="entr" nodeType="afterEffect" presetSubtype="32" presetID="4" grpId="2" fill="hold">
                                  <p:stCondLst>
                                    <p:cond delay="0"/>
                                  </p:stCondLst>
                                  <p:iterate type="el" backwards="0">
                                    <p:tmAbs val="0"/>
                                  </p:iterate>
                                  <p:childTnLst>
                                    <p:set>
                                      <p:cBhvr>
                                        <p:cTn id="10" fill="hold"/>
                                        <p:tgtEl>
                                          <p:spTgt spid="1429"/>
                                        </p:tgtEl>
                                        <p:attrNameLst>
                                          <p:attrName>style.visibility</p:attrName>
                                        </p:attrNameLst>
                                      </p:cBhvr>
                                      <p:to>
                                        <p:strVal val="visible"/>
                                      </p:to>
                                    </p:set>
                                    <p:animEffect filter="box(out)" transition="in">
                                      <p:cBhvr>
                                        <p:cTn id="11" dur="1000"/>
                                        <p:tgtEl>
                                          <p:spTgt spid="1429"/>
                                        </p:tgtEl>
                                      </p:cBhvr>
                                    </p:animEffect>
                                  </p:childTnLst>
                                </p:cTn>
                              </p:par>
                            </p:childTnLst>
                          </p:cTn>
                        </p:par>
                        <p:par>
                          <p:cTn id="12" fill="hold">
                            <p:stCondLst>
                              <p:cond delay="2000"/>
                            </p:stCondLst>
                            <p:childTnLst>
                              <p:par>
                                <p:cTn id="13" presetClass="entr" nodeType="afterEffect" presetSubtype="32" presetID="4" grpId="3" fill="hold">
                                  <p:stCondLst>
                                    <p:cond delay="0"/>
                                  </p:stCondLst>
                                  <p:iterate type="el" backwards="0">
                                    <p:tmAbs val="0"/>
                                  </p:iterate>
                                  <p:childTnLst>
                                    <p:set>
                                      <p:cBhvr>
                                        <p:cTn id="14" fill="hold"/>
                                        <p:tgtEl>
                                          <p:spTgt spid="1437"/>
                                        </p:tgtEl>
                                        <p:attrNameLst>
                                          <p:attrName>style.visibility</p:attrName>
                                        </p:attrNameLst>
                                      </p:cBhvr>
                                      <p:to>
                                        <p:strVal val="visible"/>
                                      </p:to>
                                    </p:set>
                                    <p:animEffect filter="box(out)" transition="in">
                                      <p:cBhvr>
                                        <p:cTn id="15" dur="1000"/>
                                        <p:tgtEl>
                                          <p:spTgt spid="1437"/>
                                        </p:tgtEl>
                                      </p:cBhvr>
                                    </p:animEffect>
                                  </p:childTnLst>
                                </p:cTn>
                              </p:par>
                            </p:childTnLst>
                          </p:cTn>
                        </p:par>
                        <p:par>
                          <p:cTn id="16" fill="hold">
                            <p:stCondLst>
                              <p:cond delay="3000"/>
                            </p:stCondLst>
                            <p:childTnLst>
                              <p:par>
                                <p:cTn id="17" presetClass="entr" nodeType="afterEffect" presetSubtype="32" presetID="4" grpId="4" fill="hold">
                                  <p:stCondLst>
                                    <p:cond delay="0"/>
                                  </p:stCondLst>
                                  <p:iterate type="el" backwards="0">
                                    <p:tmAbs val="0"/>
                                  </p:iterate>
                                  <p:childTnLst>
                                    <p:set>
                                      <p:cBhvr>
                                        <p:cTn id="18" fill="hold"/>
                                        <p:tgtEl>
                                          <p:spTgt spid="1438"/>
                                        </p:tgtEl>
                                        <p:attrNameLst>
                                          <p:attrName>style.visibility</p:attrName>
                                        </p:attrNameLst>
                                      </p:cBhvr>
                                      <p:to>
                                        <p:strVal val="visible"/>
                                      </p:to>
                                    </p:set>
                                    <p:animEffect filter="box(out)" transition="in">
                                      <p:cBhvr>
                                        <p:cTn id="19" dur="1000"/>
                                        <p:tgtEl>
                                          <p:spTgt spid="1438"/>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32" presetID="4" grpId="5" fill="hold">
                                  <p:stCondLst>
                                    <p:cond delay="0"/>
                                  </p:stCondLst>
                                  <p:iterate type="el" backwards="0">
                                    <p:tmAbs val="0"/>
                                  </p:iterate>
                                  <p:childTnLst>
                                    <p:set>
                                      <p:cBhvr>
                                        <p:cTn id="23" fill="hold"/>
                                        <p:tgtEl>
                                          <p:spTgt spid="1436"/>
                                        </p:tgtEl>
                                        <p:attrNameLst>
                                          <p:attrName>style.visibility</p:attrName>
                                        </p:attrNameLst>
                                      </p:cBhvr>
                                      <p:to>
                                        <p:strVal val="visible"/>
                                      </p:to>
                                    </p:set>
                                    <p:animEffect filter="box(out)" transition="in">
                                      <p:cBhvr>
                                        <p:cTn id="24" dur="1000"/>
                                        <p:tgtEl>
                                          <p:spTgt spid="1436"/>
                                        </p:tgtEl>
                                      </p:cBhvr>
                                    </p:animEffect>
                                  </p:childTnLst>
                                </p:cTn>
                              </p:par>
                            </p:childTnLst>
                          </p:cTn>
                        </p:par>
                        <p:par>
                          <p:cTn id="25" fill="hold">
                            <p:stCondLst>
                              <p:cond delay="1000"/>
                            </p:stCondLst>
                            <p:childTnLst>
                              <p:par>
                                <p:cTn id="26" presetClass="entr" nodeType="afterEffect" presetSubtype="32" presetID="4" grpId="6" fill="hold">
                                  <p:stCondLst>
                                    <p:cond delay="0"/>
                                  </p:stCondLst>
                                  <p:iterate type="el" backwards="0">
                                    <p:tmAbs val="0"/>
                                  </p:iterate>
                                  <p:childTnLst>
                                    <p:set>
                                      <p:cBhvr>
                                        <p:cTn id="27" fill="hold"/>
                                        <p:tgtEl>
                                          <p:spTgt spid="1439"/>
                                        </p:tgtEl>
                                        <p:attrNameLst>
                                          <p:attrName>style.visibility</p:attrName>
                                        </p:attrNameLst>
                                      </p:cBhvr>
                                      <p:to>
                                        <p:strVal val="visible"/>
                                      </p:to>
                                    </p:set>
                                    <p:animEffect filter="box(out)" transition="in">
                                      <p:cBhvr>
                                        <p:cTn id="28" dur="1000"/>
                                        <p:tgtEl>
                                          <p:spTgt spid="1439"/>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32" presetID="4" grpId="7" fill="hold">
                                  <p:stCondLst>
                                    <p:cond delay="0"/>
                                  </p:stCondLst>
                                  <p:iterate type="el" backwards="0">
                                    <p:tmAbs val="0"/>
                                  </p:iterate>
                                  <p:childTnLst>
                                    <p:set>
                                      <p:cBhvr>
                                        <p:cTn id="32" fill="hold"/>
                                        <p:tgtEl>
                                          <p:spTgt spid="1422"/>
                                        </p:tgtEl>
                                        <p:attrNameLst>
                                          <p:attrName>style.visibility</p:attrName>
                                        </p:attrNameLst>
                                      </p:cBhvr>
                                      <p:to>
                                        <p:strVal val="visible"/>
                                      </p:to>
                                    </p:set>
                                    <p:animEffect filter="box(out)" transition="in">
                                      <p:cBhvr>
                                        <p:cTn id="33" dur="1000"/>
                                        <p:tgtEl>
                                          <p:spTgt spid="1422"/>
                                        </p:tgtEl>
                                      </p:cBhvr>
                                    </p:animEffect>
                                  </p:childTnLst>
                                </p:cTn>
                              </p:par>
                            </p:childTnLst>
                          </p:cTn>
                        </p:par>
                        <p:par>
                          <p:cTn id="34" fill="hold">
                            <p:stCondLst>
                              <p:cond delay="1000"/>
                            </p:stCondLst>
                            <p:childTnLst>
                              <p:par>
                                <p:cTn id="35" presetClass="entr" nodeType="afterEffect" presetSubtype="0" presetID="1" grpId="8" fill="hold">
                                  <p:stCondLst>
                                    <p:cond delay="0"/>
                                  </p:stCondLst>
                                  <p:iterate type="el" backwards="0">
                                    <p:tmAbs val="0"/>
                                  </p:iterate>
                                  <p:childTnLst>
                                    <p:set>
                                      <p:cBhvr>
                                        <p:cTn id="36" fill="hold"/>
                                        <p:tgtEl>
                                          <p:spTgt spid="1440"/>
                                        </p:tgtEl>
                                        <p:attrNameLst>
                                          <p:attrName>style.visibility</p:attrName>
                                        </p:attrNameLst>
                                      </p:cBhvr>
                                      <p:to>
                                        <p:strVal val="visible"/>
                                      </p:to>
                                    </p:set>
                                  </p:childTnLst>
                                </p:cTn>
                              </p:par>
                            </p:childTnLst>
                          </p:cTn>
                        </p:par>
                        <p:par>
                          <p:cTn id="37" fill="hold">
                            <p:stCondLst>
                              <p:cond delay="1000"/>
                            </p:stCondLst>
                            <p:childTnLst>
                              <p:par>
                                <p:cTn id="38" presetClass="entr" nodeType="afterEffect" presetSubtype="32" presetID="4" grpId="9" fill="hold">
                                  <p:stCondLst>
                                    <p:cond delay="0"/>
                                  </p:stCondLst>
                                  <p:iterate type="el" backwards="0">
                                    <p:tmAbs val="0"/>
                                  </p:iterate>
                                  <p:childTnLst>
                                    <p:set>
                                      <p:cBhvr>
                                        <p:cTn id="39" fill="hold"/>
                                        <p:tgtEl>
                                          <p:spTgt spid="1441"/>
                                        </p:tgtEl>
                                        <p:attrNameLst>
                                          <p:attrName>style.visibility</p:attrName>
                                        </p:attrNameLst>
                                      </p:cBhvr>
                                      <p:to>
                                        <p:strVal val="visible"/>
                                      </p:to>
                                    </p:set>
                                    <p:animEffect filter="box(out)" transition="in">
                                      <p:cBhvr>
                                        <p:cTn id="40" dur="1000"/>
                                        <p:tgtEl>
                                          <p:spTgt spid="1441"/>
                                        </p:tgtEl>
                                      </p:cBhvr>
                                    </p:animEffect>
                                  </p:childTnLst>
                                </p:cTn>
                              </p:par>
                            </p:childTnLst>
                          </p:cTn>
                        </p:par>
                      </p:childTnLst>
                    </p:cTn>
                  </p:par>
                  <p:par>
                    <p:cTn id="41" fill="hold">
                      <p:stCondLst>
                        <p:cond delay="indefinite"/>
                      </p:stCondLst>
                      <p:childTnLst>
                        <p:par>
                          <p:cTn id="42" fill="hold">
                            <p:stCondLst>
                              <p:cond delay="0"/>
                            </p:stCondLst>
                            <p:childTnLst>
                              <p:par>
                                <p:cTn id="43" presetClass="entr" nodeType="clickEffect" presetSubtype="32" presetID="4" grpId="10" fill="hold">
                                  <p:stCondLst>
                                    <p:cond delay="0"/>
                                  </p:stCondLst>
                                  <p:iterate type="el" backwards="0">
                                    <p:tmAbs val="0"/>
                                  </p:iterate>
                                  <p:childTnLst>
                                    <p:set>
                                      <p:cBhvr>
                                        <p:cTn id="44" fill="hold"/>
                                        <p:tgtEl>
                                          <p:spTgt spid="1413"/>
                                        </p:tgtEl>
                                        <p:attrNameLst>
                                          <p:attrName>style.visibility</p:attrName>
                                        </p:attrNameLst>
                                      </p:cBhvr>
                                      <p:to>
                                        <p:strVal val="visible"/>
                                      </p:to>
                                    </p:set>
                                    <p:animEffect filter="box(out)" transition="in">
                                      <p:cBhvr>
                                        <p:cTn id="45" dur="1000"/>
                                        <p:tgtEl>
                                          <p:spTgt spid="1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29" grpId="2"/>
      <p:bldP build="whole" bldLvl="1" animBg="1" rev="0" advAuto="0" spid="1413" grpId="10"/>
      <p:bldP build="whole" bldLvl="1" animBg="1" rev="0" advAuto="0" spid="1441" grpId="9"/>
      <p:bldP build="whole" bldLvl="1" animBg="1" rev="0" advAuto="0" spid="1437" grpId="3"/>
      <p:bldP build="whole" bldLvl="1" animBg="1" rev="0" advAuto="0" spid="1439" grpId="6"/>
      <p:bldP build="whole" bldLvl="1" animBg="1" rev="0" advAuto="0" spid="1438" grpId="4"/>
      <p:bldP build="whole" bldLvl="1" animBg="1" rev="0" advAuto="0" spid="1436" grpId="5"/>
      <p:bldP build="whole" bldLvl="1" animBg="1" rev="0" advAuto="0" spid="1440" grpId="8"/>
      <p:bldP build="whole" bldLvl="1" animBg="1" rev="0" advAuto="0" spid="1415" grpId="1"/>
      <p:bldP build="whole" bldLvl="1" animBg="1" rev="0" advAuto="0" spid="1422" grpId="7"/>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5"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Branch Points: Keep State for the Next Fork</a:t>
            </a:r>
          </a:p>
        </p:txBody>
      </p:sp>
      <p:sp>
        <p:nvSpPr>
          <p:cNvPr id="1446" name="TextBox 3"/>
          <p:cNvSpPr txBox="1"/>
          <p:nvPr/>
        </p:nvSpPr>
        <p:spPr>
          <a:xfrm>
            <a:off x="11382375" y="6073771"/>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26</a:t>
            </a:r>
          </a:p>
        </p:txBody>
      </p:sp>
      <p:pic>
        <p:nvPicPr>
          <p:cNvPr id="1447"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448" name="图片 45" descr="图片 45"/>
          <p:cNvPicPr>
            <a:picLocks noChangeAspect="1"/>
          </p:cNvPicPr>
          <p:nvPr/>
        </p:nvPicPr>
        <p:blipFill>
          <a:blip r:embed="rId4">
            <a:extLst/>
          </a:blip>
          <a:stretch>
            <a:fillRect/>
          </a:stretch>
        </p:blipFill>
        <p:spPr>
          <a:xfrm>
            <a:off x="9439909" y="326390"/>
            <a:ext cx="2517141" cy="295279"/>
          </a:xfrm>
          <a:prstGeom prst="rect">
            <a:avLst/>
          </a:prstGeom>
          <a:ln w="12700">
            <a:miter lim="400000"/>
          </a:ln>
        </p:spPr>
      </p:pic>
      <p:sp>
        <p:nvSpPr>
          <p:cNvPr id="1449" name="body-1"/>
          <p:cNvSpPr txBox="1"/>
          <p:nvPr/>
        </p:nvSpPr>
        <p:spPr>
          <a:xfrm>
            <a:off x="812800" y="1003299"/>
            <a:ext cx="7750523"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Actively keep the state needed to resume at a detected branch point.</a:t>
            </a:r>
          </a:p>
        </p:txBody>
      </p:sp>
      <p:sp>
        <p:nvSpPr>
          <p:cNvPr id="1450" name="body-2"/>
          <p:cNvSpPr txBox="1"/>
          <p:nvPr/>
        </p:nvSpPr>
        <p:spPr>
          <a:xfrm>
            <a:off x="812800" y="1498599"/>
            <a:ext cx="2439194"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5C7392"/>
                </a:solidFill>
                <a:latin typeface="+mj-lt"/>
                <a:ea typeface="+mj-ea"/>
                <a:cs typeface="+mj-cs"/>
                <a:sym typeface="Helvetica"/>
              </a:defRPr>
            </a:lvl1pPr>
          </a:lstStyle>
          <a:p>
            <a:pPr/>
            <a:r>
              <a:t>Example: SWA window = 2</a:t>
            </a:r>
          </a:p>
        </p:txBody>
      </p:sp>
      <p:sp>
        <p:nvSpPr>
          <p:cNvPr id="1451" name="body-3"/>
          <p:cNvSpPr txBox="1"/>
          <p:nvPr/>
        </p:nvSpPr>
        <p:spPr>
          <a:xfrm>
            <a:off x="812800" y="2190750"/>
            <a:ext cx="1554876" cy="292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900">
                <a:solidFill>
                  <a:srgbClr val="2D5093"/>
                </a:solidFill>
                <a:latin typeface="+mj-lt"/>
                <a:ea typeface="+mj-ea"/>
                <a:cs typeface="+mj-cs"/>
                <a:sym typeface="Helvetica"/>
              </a:defRPr>
            </a:lvl1pPr>
          </a:lstStyle>
          <a:p>
            <a:pPr/>
            <a:r>
              <a:t>Shared prefix</a:t>
            </a:r>
          </a:p>
        </p:txBody>
      </p:sp>
      <p:sp>
        <p:nvSpPr>
          <p:cNvPr id="1452" name="body-4"/>
          <p:cNvSpPr txBox="1"/>
          <p:nvPr/>
        </p:nvSpPr>
        <p:spPr>
          <a:xfrm>
            <a:off x="3746500" y="2197099"/>
            <a:ext cx="1765487"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a:solidFill>
                  <a:srgbClr val="009A80"/>
                </a:solidFill>
                <a:latin typeface="+mj-lt"/>
                <a:ea typeface="+mj-ea"/>
                <a:cs typeface="+mj-cs"/>
                <a:sym typeface="Helvetica"/>
              </a:defRPr>
            </a:lvl1pPr>
          </a:lstStyle>
          <a:p>
            <a:pPr/>
            <a:r>
              <a:t>Branch point P4</a:t>
            </a:r>
          </a:p>
        </p:txBody>
      </p:sp>
      <p:sp>
        <p:nvSpPr>
          <p:cNvPr id="1453" name="body-5"/>
          <p:cNvSpPr txBox="1"/>
          <p:nvPr/>
        </p:nvSpPr>
        <p:spPr>
          <a:xfrm>
            <a:off x="1257300" y="2603499"/>
            <a:ext cx="127000"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300">
                <a:solidFill>
                  <a:srgbClr val="5C7392"/>
                </a:solidFill>
                <a:latin typeface="+mj-lt"/>
                <a:ea typeface="+mj-ea"/>
                <a:cs typeface="+mj-cs"/>
                <a:sym typeface="Helvetica"/>
              </a:defRPr>
            </a:lvl1pPr>
          </a:lstStyle>
          <a:p>
            <a:pPr/>
            <a:r>
              <a:t>1</a:t>
            </a:r>
          </a:p>
        </p:txBody>
      </p:sp>
      <p:grpSp>
        <p:nvGrpSpPr>
          <p:cNvPr id="1456" name="body-6"/>
          <p:cNvGrpSpPr/>
          <p:nvPr/>
        </p:nvGrpSpPr>
        <p:grpSpPr>
          <a:xfrm>
            <a:off x="812800" y="2933700"/>
            <a:ext cx="1016000" cy="558800"/>
            <a:chOff x="0" y="0"/>
            <a:chExt cx="1016000" cy="558800"/>
          </a:xfrm>
        </p:grpSpPr>
        <p:sp>
          <p:nvSpPr>
            <p:cNvPr id="1454" name="Rounded Rectangle"/>
            <p:cNvSpPr/>
            <p:nvPr/>
          </p:nvSpPr>
          <p:spPr>
            <a:xfrm>
              <a:off x="0" y="0"/>
              <a:ext cx="1016000" cy="558800"/>
            </a:xfrm>
            <a:prstGeom prst="roundRect">
              <a:avLst>
                <a:gd name="adj" fmla="val 9091"/>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2000">
                  <a:solidFill>
                    <a:srgbClr val="2D5093"/>
                  </a:solidFill>
                  <a:latin typeface="+mj-lt"/>
                  <a:ea typeface="+mj-ea"/>
                  <a:cs typeface="+mj-cs"/>
                  <a:sym typeface="Helvetica"/>
                </a:defRPr>
              </a:pPr>
            </a:p>
          </p:txBody>
        </p:sp>
        <p:sp>
          <p:nvSpPr>
            <p:cNvPr id="1455" name="Today"/>
            <p:cNvSpPr txBox="1"/>
            <p:nvPr/>
          </p:nvSpPr>
          <p:spPr>
            <a:xfrm>
              <a:off x="137020" y="126998"/>
              <a:ext cx="741959"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000">
                  <a:solidFill>
                    <a:srgbClr val="2D5093"/>
                  </a:solidFill>
                  <a:latin typeface="+mj-lt"/>
                  <a:ea typeface="+mj-ea"/>
                  <a:cs typeface="+mj-cs"/>
                  <a:sym typeface="Helvetica"/>
                </a:defRPr>
              </a:lvl1pPr>
            </a:lstStyle>
            <a:p>
              <a:pPr/>
              <a:r>
                <a:t>Today</a:t>
              </a:r>
            </a:p>
          </p:txBody>
        </p:sp>
      </p:grpSp>
      <p:sp>
        <p:nvSpPr>
          <p:cNvPr id="1457" name="body-7"/>
          <p:cNvSpPr txBox="1"/>
          <p:nvPr/>
        </p:nvSpPr>
        <p:spPr>
          <a:xfrm>
            <a:off x="2349500" y="2603499"/>
            <a:ext cx="127000"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300">
                <a:solidFill>
                  <a:srgbClr val="5C7392"/>
                </a:solidFill>
                <a:latin typeface="+mj-lt"/>
                <a:ea typeface="+mj-ea"/>
                <a:cs typeface="+mj-cs"/>
                <a:sym typeface="Helvetica"/>
              </a:defRPr>
            </a:lvl1pPr>
          </a:lstStyle>
          <a:p>
            <a:pPr/>
            <a:r>
              <a:t>2</a:t>
            </a:r>
          </a:p>
        </p:txBody>
      </p:sp>
      <p:grpSp>
        <p:nvGrpSpPr>
          <p:cNvPr id="1460" name="body-8"/>
          <p:cNvGrpSpPr/>
          <p:nvPr/>
        </p:nvGrpSpPr>
        <p:grpSpPr>
          <a:xfrm>
            <a:off x="1905000" y="2933700"/>
            <a:ext cx="1016000" cy="558800"/>
            <a:chOff x="0" y="0"/>
            <a:chExt cx="1016000" cy="558800"/>
          </a:xfrm>
        </p:grpSpPr>
        <p:sp>
          <p:nvSpPr>
            <p:cNvPr id="1458" name="Rounded Rectangle"/>
            <p:cNvSpPr/>
            <p:nvPr/>
          </p:nvSpPr>
          <p:spPr>
            <a:xfrm>
              <a:off x="0" y="0"/>
              <a:ext cx="1016000" cy="558800"/>
            </a:xfrm>
            <a:prstGeom prst="roundRect">
              <a:avLst>
                <a:gd name="adj" fmla="val 9091"/>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2000">
                  <a:solidFill>
                    <a:srgbClr val="2D5093"/>
                  </a:solidFill>
                  <a:latin typeface="+mj-lt"/>
                  <a:ea typeface="+mj-ea"/>
                  <a:cs typeface="+mj-cs"/>
                  <a:sym typeface="Helvetica"/>
                </a:defRPr>
              </a:pPr>
            </a:p>
          </p:txBody>
        </p:sp>
        <p:sp>
          <p:nvSpPr>
            <p:cNvPr id="1459" name="Alice"/>
            <p:cNvSpPr txBox="1"/>
            <p:nvPr/>
          </p:nvSpPr>
          <p:spPr>
            <a:xfrm>
              <a:off x="198102" y="126998"/>
              <a:ext cx="619795"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000">
                  <a:solidFill>
                    <a:srgbClr val="2D5093"/>
                  </a:solidFill>
                  <a:latin typeface="+mj-lt"/>
                  <a:ea typeface="+mj-ea"/>
                  <a:cs typeface="+mj-cs"/>
                  <a:sym typeface="Helvetica"/>
                </a:defRPr>
              </a:lvl1pPr>
            </a:lstStyle>
            <a:p>
              <a:pPr/>
              <a:r>
                <a:t>Alice</a:t>
              </a:r>
            </a:p>
          </p:txBody>
        </p:sp>
      </p:grpSp>
      <p:sp>
        <p:nvSpPr>
          <p:cNvPr id="1461" name="body-9"/>
          <p:cNvSpPr txBox="1"/>
          <p:nvPr/>
        </p:nvSpPr>
        <p:spPr>
          <a:xfrm>
            <a:off x="3441700" y="2603499"/>
            <a:ext cx="127000"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300">
                <a:solidFill>
                  <a:srgbClr val="5C7392"/>
                </a:solidFill>
                <a:latin typeface="+mj-lt"/>
                <a:ea typeface="+mj-ea"/>
                <a:cs typeface="+mj-cs"/>
                <a:sym typeface="Helvetica"/>
              </a:defRPr>
            </a:lvl1pPr>
          </a:lstStyle>
          <a:p>
            <a:pPr/>
            <a:r>
              <a:t>3</a:t>
            </a:r>
          </a:p>
        </p:txBody>
      </p:sp>
      <p:grpSp>
        <p:nvGrpSpPr>
          <p:cNvPr id="1464" name="body-10"/>
          <p:cNvGrpSpPr/>
          <p:nvPr/>
        </p:nvGrpSpPr>
        <p:grpSpPr>
          <a:xfrm>
            <a:off x="2997200" y="2933700"/>
            <a:ext cx="1016000" cy="558800"/>
            <a:chOff x="0" y="0"/>
            <a:chExt cx="1016000" cy="558800"/>
          </a:xfrm>
        </p:grpSpPr>
        <p:sp>
          <p:nvSpPr>
            <p:cNvPr id="1462" name="Rounded Rectangle"/>
            <p:cNvSpPr/>
            <p:nvPr/>
          </p:nvSpPr>
          <p:spPr>
            <a:xfrm>
              <a:off x="0" y="0"/>
              <a:ext cx="1016000" cy="558800"/>
            </a:xfrm>
            <a:prstGeom prst="roundRect">
              <a:avLst>
                <a:gd name="adj" fmla="val 9091"/>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2000">
                  <a:solidFill>
                    <a:srgbClr val="2D5093"/>
                  </a:solidFill>
                  <a:latin typeface="+mj-lt"/>
                  <a:ea typeface="+mj-ea"/>
                  <a:cs typeface="+mj-cs"/>
                  <a:sym typeface="Helvetica"/>
                </a:defRPr>
              </a:pPr>
            </a:p>
          </p:txBody>
        </p:sp>
        <p:sp>
          <p:nvSpPr>
            <p:cNvPr id="1463" name="went"/>
            <p:cNvSpPr txBox="1"/>
            <p:nvPr/>
          </p:nvSpPr>
          <p:spPr>
            <a:xfrm>
              <a:off x="212364" y="126998"/>
              <a:ext cx="59127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000">
                  <a:solidFill>
                    <a:srgbClr val="2D5093"/>
                  </a:solidFill>
                  <a:latin typeface="+mj-lt"/>
                  <a:ea typeface="+mj-ea"/>
                  <a:cs typeface="+mj-cs"/>
                  <a:sym typeface="Helvetica"/>
                </a:defRPr>
              </a:lvl1pPr>
            </a:lstStyle>
            <a:p>
              <a:pPr/>
              <a:r>
                <a:t>went</a:t>
              </a:r>
            </a:p>
          </p:txBody>
        </p:sp>
      </p:grpSp>
      <p:sp>
        <p:nvSpPr>
          <p:cNvPr id="1465" name="body-11"/>
          <p:cNvSpPr txBox="1"/>
          <p:nvPr/>
        </p:nvSpPr>
        <p:spPr>
          <a:xfrm>
            <a:off x="4533900" y="2603499"/>
            <a:ext cx="127000"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300">
                <a:solidFill>
                  <a:srgbClr val="5C7392"/>
                </a:solidFill>
                <a:latin typeface="+mj-lt"/>
                <a:ea typeface="+mj-ea"/>
                <a:cs typeface="+mj-cs"/>
                <a:sym typeface="Helvetica"/>
              </a:defRPr>
            </a:lvl1pPr>
          </a:lstStyle>
          <a:p>
            <a:pPr/>
            <a:r>
              <a:t>4</a:t>
            </a:r>
          </a:p>
        </p:txBody>
      </p:sp>
      <p:grpSp>
        <p:nvGrpSpPr>
          <p:cNvPr id="1468" name="body-12"/>
          <p:cNvGrpSpPr/>
          <p:nvPr/>
        </p:nvGrpSpPr>
        <p:grpSpPr>
          <a:xfrm>
            <a:off x="4089400" y="2933700"/>
            <a:ext cx="1016000" cy="558800"/>
            <a:chOff x="0" y="0"/>
            <a:chExt cx="1016000" cy="558800"/>
          </a:xfrm>
        </p:grpSpPr>
        <p:sp>
          <p:nvSpPr>
            <p:cNvPr id="1466" name="Rounded Rectangle"/>
            <p:cNvSpPr/>
            <p:nvPr/>
          </p:nvSpPr>
          <p:spPr>
            <a:xfrm>
              <a:off x="0" y="0"/>
              <a:ext cx="1016000" cy="558800"/>
            </a:xfrm>
            <a:prstGeom prst="roundRect">
              <a:avLst>
                <a:gd name="adj" fmla="val 9091"/>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2000">
                  <a:solidFill>
                    <a:srgbClr val="2D5093"/>
                  </a:solidFill>
                  <a:latin typeface="+mj-lt"/>
                  <a:ea typeface="+mj-ea"/>
                  <a:cs typeface="+mj-cs"/>
                  <a:sym typeface="Helvetica"/>
                </a:defRPr>
              </a:pPr>
            </a:p>
          </p:txBody>
        </p:sp>
        <p:sp>
          <p:nvSpPr>
            <p:cNvPr id="1467" name="to"/>
            <p:cNvSpPr txBox="1"/>
            <p:nvPr/>
          </p:nvSpPr>
          <p:spPr>
            <a:xfrm>
              <a:off x="381780" y="126998"/>
              <a:ext cx="252439"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000">
                  <a:solidFill>
                    <a:srgbClr val="2D5093"/>
                  </a:solidFill>
                  <a:latin typeface="+mj-lt"/>
                  <a:ea typeface="+mj-ea"/>
                  <a:cs typeface="+mj-cs"/>
                  <a:sym typeface="Helvetica"/>
                </a:defRPr>
              </a:lvl1pPr>
            </a:lstStyle>
            <a:p>
              <a:pPr/>
              <a:r>
                <a:t>to</a:t>
              </a:r>
            </a:p>
          </p:txBody>
        </p:sp>
      </p:grpSp>
      <p:sp>
        <p:nvSpPr>
          <p:cNvPr id="1469" name="body-13"/>
          <p:cNvSpPr/>
          <p:nvPr/>
        </p:nvSpPr>
        <p:spPr>
          <a:xfrm>
            <a:off x="5257800" y="2781300"/>
            <a:ext cx="0" cy="876300"/>
          </a:xfrm>
          <a:prstGeom prst="line">
            <a:avLst/>
          </a:prstGeom>
          <a:ln w="25400">
            <a:solidFill>
              <a:srgbClr val="009A80"/>
            </a:solidFill>
          </a:ln>
        </p:spPr>
        <p:txBody>
          <a:bodyPr lIns="45718" tIns="45718" rIns="45718" bIns="45718"/>
          <a:lstStyle/>
          <a:p>
            <a:pPr/>
          </a:p>
        </p:txBody>
      </p:sp>
      <p:sp>
        <p:nvSpPr>
          <p:cNvPr id="1470" name="body-14"/>
          <p:cNvSpPr/>
          <p:nvPr/>
        </p:nvSpPr>
        <p:spPr>
          <a:xfrm>
            <a:off x="5105400" y="3213100"/>
            <a:ext cx="1244600" cy="0"/>
          </a:xfrm>
          <a:prstGeom prst="line">
            <a:avLst/>
          </a:prstGeom>
          <a:ln w="22860">
            <a:solidFill>
              <a:srgbClr val="B9CCE4"/>
            </a:solidFill>
          </a:ln>
        </p:spPr>
        <p:txBody>
          <a:bodyPr lIns="45718" tIns="45718" rIns="45718" bIns="45718"/>
          <a:lstStyle/>
          <a:p>
            <a:pPr/>
          </a:p>
        </p:txBody>
      </p:sp>
      <p:sp>
        <p:nvSpPr>
          <p:cNvPr id="1471" name="body-15"/>
          <p:cNvSpPr/>
          <p:nvPr/>
        </p:nvSpPr>
        <p:spPr>
          <a:xfrm>
            <a:off x="6350000" y="2540000"/>
            <a:ext cx="0" cy="1612900"/>
          </a:xfrm>
          <a:prstGeom prst="line">
            <a:avLst/>
          </a:prstGeom>
          <a:ln w="22860">
            <a:solidFill>
              <a:srgbClr val="B9CCE4"/>
            </a:solidFill>
          </a:ln>
        </p:spPr>
        <p:txBody>
          <a:bodyPr lIns="45718" tIns="45718" rIns="45718" bIns="45718"/>
          <a:lstStyle/>
          <a:p>
            <a:pPr/>
          </a:p>
        </p:txBody>
      </p:sp>
      <p:sp>
        <p:nvSpPr>
          <p:cNvPr id="1472" name="body-16"/>
          <p:cNvSpPr/>
          <p:nvPr/>
        </p:nvSpPr>
        <p:spPr>
          <a:xfrm>
            <a:off x="6350000" y="2540000"/>
            <a:ext cx="571500" cy="0"/>
          </a:xfrm>
          <a:prstGeom prst="line">
            <a:avLst/>
          </a:prstGeom>
          <a:ln w="22860">
            <a:solidFill>
              <a:srgbClr val="B9CCE4"/>
            </a:solidFill>
          </a:ln>
        </p:spPr>
        <p:txBody>
          <a:bodyPr lIns="45718" tIns="45718" rIns="45718" bIns="45718"/>
          <a:lstStyle/>
          <a:p>
            <a:pPr/>
          </a:p>
        </p:txBody>
      </p:sp>
      <p:sp>
        <p:nvSpPr>
          <p:cNvPr id="1473" name="body-17"/>
          <p:cNvSpPr/>
          <p:nvPr/>
        </p:nvSpPr>
        <p:spPr>
          <a:xfrm>
            <a:off x="6870700" y="2476500"/>
            <a:ext cx="165100" cy="127000"/>
          </a:xfrm>
          <a:prstGeom prst="rightArrow">
            <a:avLst>
              <a:gd name="adj1" fmla="val 50000"/>
              <a:gd name="adj2" fmla="val 50000"/>
            </a:avLst>
          </a:prstGeom>
          <a:solidFill>
            <a:srgbClr val="B9CCE4"/>
          </a:solidFill>
          <a:ln w="12700">
            <a:miter lim="400000"/>
          </a:ln>
        </p:spPr>
        <p:txBody>
          <a:bodyPr lIns="45718" tIns="45718" rIns="45718" bIns="45718"/>
          <a:lstStyle/>
          <a:p>
            <a:pPr>
              <a:defRPr>
                <a:latin typeface="+mj-lt"/>
                <a:ea typeface="+mj-ea"/>
                <a:cs typeface="+mj-cs"/>
                <a:sym typeface="Helvetica"/>
              </a:defRPr>
            </a:pPr>
          </a:p>
        </p:txBody>
      </p:sp>
      <p:sp>
        <p:nvSpPr>
          <p:cNvPr id="1474" name="body-18"/>
          <p:cNvSpPr/>
          <p:nvPr/>
        </p:nvSpPr>
        <p:spPr>
          <a:xfrm>
            <a:off x="6350000" y="4152900"/>
            <a:ext cx="571500" cy="0"/>
          </a:xfrm>
          <a:prstGeom prst="line">
            <a:avLst/>
          </a:prstGeom>
          <a:ln w="22860">
            <a:solidFill>
              <a:srgbClr val="009A80"/>
            </a:solidFill>
          </a:ln>
        </p:spPr>
        <p:txBody>
          <a:bodyPr lIns="45718" tIns="45718" rIns="45718" bIns="45718"/>
          <a:lstStyle/>
          <a:p>
            <a:pPr/>
          </a:p>
        </p:txBody>
      </p:sp>
      <p:sp>
        <p:nvSpPr>
          <p:cNvPr id="1475" name="body-19"/>
          <p:cNvSpPr/>
          <p:nvPr/>
        </p:nvSpPr>
        <p:spPr>
          <a:xfrm>
            <a:off x="6870700" y="4089400"/>
            <a:ext cx="165100" cy="127000"/>
          </a:xfrm>
          <a:prstGeom prst="rightArrow">
            <a:avLst>
              <a:gd name="adj1" fmla="val 50000"/>
              <a:gd name="adj2" fmla="val 50000"/>
            </a:avLst>
          </a:prstGeom>
          <a:solidFill>
            <a:srgbClr val="009A80"/>
          </a:solidFill>
          <a:ln w="12700">
            <a:miter lim="400000"/>
          </a:ln>
        </p:spPr>
        <p:txBody>
          <a:bodyPr lIns="45718" tIns="45718" rIns="45718" bIns="45718"/>
          <a:lstStyle/>
          <a:p>
            <a:pPr>
              <a:defRPr>
                <a:latin typeface="+mj-lt"/>
                <a:ea typeface="+mj-ea"/>
                <a:cs typeface="+mj-cs"/>
                <a:sym typeface="Helvetica"/>
              </a:defRPr>
            </a:pPr>
          </a:p>
        </p:txBody>
      </p:sp>
      <p:sp>
        <p:nvSpPr>
          <p:cNvPr id="1476" name="body-20"/>
          <p:cNvSpPr txBox="1"/>
          <p:nvPr/>
        </p:nvSpPr>
        <p:spPr>
          <a:xfrm>
            <a:off x="7112000" y="1885950"/>
            <a:ext cx="2336763"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a:solidFill>
                  <a:srgbClr val="2D5093"/>
                </a:solidFill>
                <a:latin typeface="+mj-lt"/>
                <a:ea typeface="+mj-ea"/>
                <a:cs typeface="+mj-cs"/>
                <a:sym typeface="Helvetica"/>
              </a:defRPr>
            </a:lvl1pPr>
          </a:lstStyle>
          <a:p>
            <a:pPr/>
            <a:r>
              <a:t>Existing continuation</a:t>
            </a:r>
          </a:p>
        </p:txBody>
      </p:sp>
      <p:grpSp>
        <p:nvGrpSpPr>
          <p:cNvPr id="1479" name="body-21"/>
          <p:cNvGrpSpPr/>
          <p:nvPr/>
        </p:nvGrpSpPr>
        <p:grpSpPr>
          <a:xfrm>
            <a:off x="7112000" y="2273300"/>
            <a:ext cx="1422400" cy="533400"/>
            <a:chOff x="0" y="0"/>
            <a:chExt cx="1422400" cy="533400"/>
          </a:xfrm>
        </p:grpSpPr>
        <p:sp>
          <p:nvSpPr>
            <p:cNvPr id="1477" name="Rounded Rectangle"/>
            <p:cNvSpPr/>
            <p:nvPr/>
          </p:nvSpPr>
          <p:spPr>
            <a:xfrm>
              <a:off x="0" y="0"/>
              <a:ext cx="1422400" cy="533400"/>
            </a:xfrm>
            <a:prstGeom prst="roundRect">
              <a:avLst>
                <a:gd name="adj" fmla="val 9524"/>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900">
                  <a:solidFill>
                    <a:srgbClr val="2D5093"/>
                  </a:solidFill>
                  <a:latin typeface="+mj-lt"/>
                  <a:ea typeface="+mj-ea"/>
                  <a:cs typeface="+mj-cs"/>
                  <a:sym typeface="Helvetica"/>
                </a:defRPr>
              </a:pPr>
            </a:p>
          </p:txBody>
        </p:sp>
        <p:sp>
          <p:nvSpPr>
            <p:cNvPr id="1478" name="Beijing"/>
            <p:cNvSpPr txBox="1"/>
            <p:nvPr/>
          </p:nvSpPr>
          <p:spPr>
            <a:xfrm>
              <a:off x="302663" y="120650"/>
              <a:ext cx="817073"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2D5093"/>
                  </a:solidFill>
                  <a:latin typeface="+mj-lt"/>
                  <a:ea typeface="+mj-ea"/>
                  <a:cs typeface="+mj-cs"/>
                  <a:sym typeface="Helvetica"/>
                </a:defRPr>
              </a:lvl1pPr>
            </a:lstStyle>
            <a:p>
              <a:pPr/>
              <a:r>
                <a:t>Beijing</a:t>
              </a:r>
            </a:p>
          </p:txBody>
        </p:sp>
      </p:grpSp>
      <p:grpSp>
        <p:nvGrpSpPr>
          <p:cNvPr id="1482" name="body-22"/>
          <p:cNvGrpSpPr/>
          <p:nvPr/>
        </p:nvGrpSpPr>
        <p:grpSpPr>
          <a:xfrm>
            <a:off x="8636000" y="2273300"/>
            <a:ext cx="1016000" cy="533400"/>
            <a:chOff x="0" y="0"/>
            <a:chExt cx="1016000" cy="533400"/>
          </a:xfrm>
        </p:grpSpPr>
        <p:sp>
          <p:nvSpPr>
            <p:cNvPr id="1480" name="Rounded Rectangle"/>
            <p:cNvSpPr/>
            <p:nvPr/>
          </p:nvSpPr>
          <p:spPr>
            <a:xfrm>
              <a:off x="0" y="0"/>
              <a:ext cx="1016000" cy="533400"/>
            </a:xfrm>
            <a:prstGeom prst="roundRect">
              <a:avLst>
                <a:gd name="adj" fmla="val 9524"/>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900">
                  <a:solidFill>
                    <a:srgbClr val="2D5093"/>
                  </a:solidFill>
                  <a:latin typeface="+mj-lt"/>
                  <a:ea typeface="+mj-ea"/>
                  <a:cs typeface="+mj-cs"/>
                  <a:sym typeface="Helvetica"/>
                </a:defRPr>
              </a:pPr>
            </a:p>
          </p:txBody>
        </p:sp>
        <p:sp>
          <p:nvSpPr>
            <p:cNvPr id="1481" name="for"/>
            <p:cNvSpPr txBox="1"/>
            <p:nvPr/>
          </p:nvSpPr>
          <p:spPr>
            <a:xfrm>
              <a:off x="340822" y="120650"/>
              <a:ext cx="334355"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2D5093"/>
                  </a:solidFill>
                  <a:latin typeface="+mj-lt"/>
                  <a:ea typeface="+mj-ea"/>
                  <a:cs typeface="+mj-cs"/>
                  <a:sym typeface="Helvetica"/>
                </a:defRPr>
              </a:lvl1pPr>
            </a:lstStyle>
            <a:p>
              <a:pPr/>
              <a:r>
                <a:t>for</a:t>
              </a:r>
            </a:p>
          </p:txBody>
        </p:sp>
      </p:grpSp>
      <p:grpSp>
        <p:nvGrpSpPr>
          <p:cNvPr id="1485" name="body-23"/>
          <p:cNvGrpSpPr/>
          <p:nvPr/>
        </p:nvGrpSpPr>
        <p:grpSpPr>
          <a:xfrm>
            <a:off x="9753600" y="2273300"/>
            <a:ext cx="1524000" cy="533400"/>
            <a:chOff x="0" y="0"/>
            <a:chExt cx="1524000" cy="533400"/>
          </a:xfrm>
        </p:grpSpPr>
        <p:sp>
          <p:nvSpPr>
            <p:cNvPr id="1483" name="Rounded Rectangle"/>
            <p:cNvSpPr/>
            <p:nvPr/>
          </p:nvSpPr>
          <p:spPr>
            <a:xfrm>
              <a:off x="0" y="0"/>
              <a:ext cx="1524000" cy="533400"/>
            </a:xfrm>
            <a:prstGeom prst="roundRect">
              <a:avLst>
                <a:gd name="adj" fmla="val 9524"/>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900">
                  <a:solidFill>
                    <a:srgbClr val="2D5093"/>
                  </a:solidFill>
                  <a:latin typeface="+mj-lt"/>
                  <a:ea typeface="+mj-ea"/>
                  <a:cs typeface="+mj-cs"/>
                  <a:sym typeface="Helvetica"/>
                </a:defRPr>
              </a:pPr>
            </a:p>
          </p:txBody>
        </p:sp>
        <p:sp>
          <p:nvSpPr>
            <p:cNvPr id="1484" name="work"/>
            <p:cNvSpPr txBox="1"/>
            <p:nvPr/>
          </p:nvSpPr>
          <p:spPr>
            <a:xfrm>
              <a:off x="474053" y="120650"/>
              <a:ext cx="575892"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2D5093"/>
                  </a:solidFill>
                  <a:latin typeface="+mj-lt"/>
                  <a:ea typeface="+mj-ea"/>
                  <a:cs typeface="+mj-cs"/>
                  <a:sym typeface="Helvetica"/>
                </a:defRPr>
              </a:lvl1pPr>
            </a:lstStyle>
            <a:p>
              <a:pPr/>
              <a:r>
                <a:t>work</a:t>
              </a:r>
            </a:p>
          </p:txBody>
        </p:sp>
      </p:grpSp>
      <p:sp>
        <p:nvSpPr>
          <p:cNvPr id="1486" name="body-24"/>
          <p:cNvSpPr txBox="1"/>
          <p:nvPr/>
        </p:nvSpPr>
        <p:spPr>
          <a:xfrm>
            <a:off x="7112000" y="2990850"/>
            <a:ext cx="2715791"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Current SWA window: “for work”</a:t>
            </a:r>
          </a:p>
        </p:txBody>
      </p:sp>
      <p:sp>
        <p:nvSpPr>
          <p:cNvPr id="1487" name="body-25"/>
          <p:cNvSpPr txBox="1"/>
          <p:nvPr/>
        </p:nvSpPr>
        <p:spPr>
          <a:xfrm>
            <a:off x="7112000" y="3498849"/>
            <a:ext cx="3061519"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a:solidFill>
                  <a:srgbClr val="009A80"/>
                </a:solidFill>
                <a:latin typeface="+mj-lt"/>
                <a:ea typeface="+mj-ea"/>
                <a:cs typeface="+mj-cs"/>
                <a:sym typeface="Helvetica"/>
              </a:defRPr>
            </a:lvl1pPr>
          </a:lstStyle>
          <a:p>
            <a:pPr/>
            <a:r>
              <a:t>Later request: a new branch</a:t>
            </a:r>
          </a:p>
        </p:txBody>
      </p:sp>
      <p:grpSp>
        <p:nvGrpSpPr>
          <p:cNvPr id="1490" name="body-26"/>
          <p:cNvGrpSpPr/>
          <p:nvPr/>
        </p:nvGrpSpPr>
        <p:grpSpPr>
          <a:xfrm>
            <a:off x="7112000" y="3886200"/>
            <a:ext cx="4165600" cy="533400"/>
            <a:chOff x="0" y="0"/>
            <a:chExt cx="4165600" cy="533400"/>
          </a:xfrm>
        </p:grpSpPr>
        <p:sp>
          <p:nvSpPr>
            <p:cNvPr id="1488" name="Rounded Rectangle"/>
            <p:cNvSpPr/>
            <p:nvPr/>
          </p:nvSpPr>
          <p:spPr>
            <a:xfrm>
              <a:off x="0" y="0"/>
              <a:ext cx="4165600" cy="533400"/>
            </a:xfrm>
            <a:prstGeom prst="roundRect">
              <a:avLst>
                <a:gd name="adj" fmla="val 9524"/>
              </a:avLst>
            </a:prstGeom>
            <a:solidFill>
              <a:srgbClr val="FFFFFF"/>
            </a:solidFill>
            <a:ln w="13970" cap="flat">
              <a:solidFill>
                <a:srgbClr val="009A80"/>
              </a:solidFill>
              <a:prstDash val="solid"/>
              <a:round/>
            </a:ln>
            <a:effectLst/>
          </p:spPr>
          <p:txBody>
            <a:bodyPr wrap="square" lIns="45718" tIns="45718" rIns="45718" bIns="45718" numCol="1" anchor="ctr">
              <a:noAutofit/>
            </a:bodyPr>
            <a:lstStyle/>
            <a:p>
              <a:pPr algn="ctr">
                <a:defRPr b="1" sz="1900">
                  <a:solidFill>
                    <a:srgbClr val="009A80"/>
                  </a:solidFill>
                  <a:latin typeface="+mj-lt"/>
                  <a:ea typeface="+mj-ea"/>
                  <a:cs typeface="+mj-cs"/>
                  <a:sym typeface="Helvetica"/>
                </a:defRPr>
              </a:pPr>
            </a:p>
          </p:txBody>
        </p:sp>
        <p:sp>
          <p:nvSpPr>
            <p:cNvPr id="1489" name="Shanghai  for  a  meeting"/>
            <p:cNvSpPr txBox="1"/>
            <p:nvPr/>
          </p:nvSpPr>
          <p:spPr>
            <a:xfrm>
              <a:off x="641845" y="120650"/>
              <a:ext cx="2881909"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900">
                  <a:solidFill>
                    <a:srgbClr val="009A80"/>
                  </a:solidFill>
                  <a:latin typeface="+mj-lt"/>
                  <a:ea typeface="+mj-ea"/>
                  <a:cs typeface="+mj-cs"/>
                  <a:sym typeface="Helvetica"/>
                </a:defRPr>
              </a:lvl1pPr>
            </a:lstStyle>
            <a:p>
              <a:pPr/>
              <a:r>
                <a:t>Shanghai  for  a  meeting</a:t>
              </a:r>
            </a:p>
          </p:txBody>
        </p:sp>
      </p:grpSp>
      <p:sp>
        <p:nvSpPr>
          <p:cNvPr id="1491" name="body-27"/>
          <p:cNvSpPr txBox="1"/>
          <p:nvPr/>
        </p:nvSpPr>
        <p:spPr>
          <a:xfrm>
            <a:off x="7112000" y="4603749"/>
            <a:ext cx="1920063"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009A80"/>
                </a:solidFill>
                <a:latin typeface="+mj-lt"/>
                <a:ea typeface="+mj-ea"/>
                <a:cs typeface="+mj-cs"/>
                <a:sym typeface="Helvetica"/>
              </a:defRPr>
            </a:lvl1pPr>
          </a:lstStyle>
          <a:p>
            <a:pPr/>
            <a:r>
              <a:t>Reuse through P4.</a:t>
            </a:r>
          </a:p>
        </p:txBody>
      </p:sp>
      <p:sp>
        <p:nvSpPr>
          <p:cNvPr id="1492" name="body-28"/>
          <p:cNvSpPr txBox="1"/>
          <p:nvPr/>
        </p:nvSpPr>
        <p:spPr>
          <a:xfrm>
            <a:off x="7112000" y="4921249"/>
            <a:ext cx="2324981"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Compute the new suffix.</a:t>
            </a:r>
          </a:p>
        </p:txBody>
      </p:sp>
      <p:sp>
        <p:nvSpPr>
          <p:cNvPr id="1493" name="body-29"/>
          <p:cNvSpPr txBox="1"/>
          <p:nvPr/>
        </p:nvSpPr>
        <p:spPr>
          <a:xfrm>
            <a:off x="812800" y="3835398"/>
            <a:ext cx="1367421" cy="292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900">
                <a:solidFill>
                  <a:srgbClr val="009A80"/>
                </a:solidFill>
                <a:latin typeface="+mj-lt"/>
                <a:ea typeface="+mj-ea"/>
                <a:cs typeface="+mj-cs"/>
                <a:sym typeface="Helvetica"/>
              </a:defRPr>
            </a:lvl1pPr>
          </a:lstStyle>
          <a:p>
            <a:pPr/>
            <a:r>
              <a:t>Saved at P4</a:t>
            </a:r>
          </a:p>
        </p:txBody>
      </p:sp>
      <p:sp>
        <p:nvSpPr>
          <p:cNvPr id="1494" name="body-30"/>
          <p:cNvSpPr txBox="1"/>
          <p:nvPr/>
        </p:nvSpPr>
        <p:spPr>
          <a:xfrm>
            <a:off x="812799" y="4260848"/>
            <a:ext cx="2984911"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D5093"/>
                </a:solidFill>
                <a:latin typeface="+mj-lt"/>
                <a:ea typeface="+mj-ea"/>
                <a:cs typeface="+mj-cs"/>
                <a:sym typeface="Helvetica"/>
              </a:defRPr>
            </a:lvl1pPr>
          </a:lstStyle>
          <a:p>
            <a:pPr/>
            <a:r>
              <a:t>FULL KV: “Today Alice went to”</a:t>
            </a:r>
          </a:p>
        </p:txBody>
      </p:sp>
      <p:sp>
        <p:nvSpPr>
          <p:cNvPr id="1495" name="body-31"/>
          <p:cNvSpPr txBox="1"/>
          <p:nvPr/>
        </p:nvSpPr>
        <p:spPr>
          <a:xfrm>
            <a:off x="804040" y="4616448"/>
            <a:ext cx="1784705"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009A80"/>
                </a:solidFill>
                <a:latin typeface="+mj-lt"/>
                <a:ea typeface="+mj-ea"/>
                <a:cs typeface="+mj-cs"/>
                <a:sym typeface="Helvetica"/>
              </a:defRPr>
            </a:lvl1pPr>
          </a:lstStyle>
          <a:p>
            <a:pPr/>
            <a:r>
              <a:t>SWA KV: “went to”</a:t>
            </a:r>
          </a:p>
        </p:txBody>
      </p:sp>
      <p:sp>
        <p:nvSpPr>
          <p:cNvPr id="1496" name="body-32"/>
          <p:cNvSpPr txBox="1"/>
          <p:nvPr/>
        </p:nvSpPr>
        <p:spPr>
          <a:xfrm>
            <a:off x="812800" y="4952999"/>
            <a:ext cx="2802434"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8055C4"/>
                </a:solidFill>
                <a:latin typeface="+mj-lt"/>
                <a:ea typeface="+mj-ea"/>
                <a:cs typeface="+mj-cs"/>
                <a:sym typeface="Helvetica"/>
              </a:defRPr>
            </a:lvl1pPr>
          </a:lstStyle>
          <a:p>
            <a:pPr/>
            <a:r>
              <a:t>Mamba: checkpoint C4, if used</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7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47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472"/>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473"/>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1476"/>
                                        </p:tgtEl>
                                        <p:attrNameLst>
                                          <p:attrName>style.visibility</p:attrName>
                                        </p:attrNameLst>
                                      </p:cBhvr>
                                      <p:to>
                                        <p:strVal val="visible"/>
                                      </p:to>
                                    </p:set>
                                  </p:childTnLst>
                                </p:cTn>
                              </p:par>
                            </p:childTnLst>
                          </p:cTn>
                        </p:par>
                        <p:par>
                          <p:cTn id="19" fill="hold">
                            <p:stCondLst>
                              <p:cond delay="0"/>
                            </p:stCondLst>
                            <p:childTnLst>
                              <p:par>
                                <p:cTn id="20" presetClass="entr" nodeType="afterEffect" presetSubtype="0" presetID="1" grpId="6" fill="hold">
                                  <p:stCondLst>
                                    <p:cond delay="0"/>
                                  </p:stCondLst>
                                  <p:iterate type="el" backwards="0">
                                    <p:tmAbs val="0"/>
                                  </p:iterate>
                                  <p:childTnLst>
                                    <p:set>
                                      <p:cBhvr>
                                        <p:cTn id="21" fill="hold"/>
                                        <p:tgtEl>
                                          <p:spTgt spid="1479"/>
                                        </p:tgtEl>
                                        <p:attrNameLst>
                                          <p:attrName>style.visibility</p:attrName>
                                        </p:attrNameLst>
                                      </p:cBhvr>
                                      <p:to>
                                        <p:strVal val="visible"/>
                                      </p:to>
                                    </p:set>
                                  </p:childTnLst>
                                </p:cTn>
                              </p:par>
                            </p:childTnLst>
                          </p:cTn>
                        </p:par>
                        <p:par>
                          <p:cTn id="22" fill="hold">
                            <p:stCondLst>
                              <p:cond delay="0"/>
                            </p:stCondLst>
                            <p:childTnLst>
                              <p:par>
                                <p:cTn id="23" presetClass="entr" nodeType="afterEffect" presetSubtype="0" presetID="1" grpId="7" fill="hold">
                                  <p:stCondLst>
                                    <p:cond delay="0"/>
                                  </p:stCondLst>
                                  <p:iterate type="el" backwards="0">
                                    <p:tmAbs val="0"/>
                                  </p:iterate>
                                  <p:childTnLst>
                                    <p:set>
                                      <p:cBhvr>
                                        <p:cTn id="24" fill="hold"/>
                                        <p:tgtEl>
                                          <p:spTgt spid="1482"/>
                                        </p:tgtEl>
                                        <p:attrNameLst>
                                          <p:attrName>style.visibility</p:attrName>
                                        </p:attrNameLst>
                                      </p:cBhvr>
                                      <p:to>
                                        <p:strVal val="visible"/>
                                      </p:to>
                                    </p:set>
                                  </p:childTnLst>
                                </p:cTn>
                              </p:par>
                            </p:childTnLst>
                          </p:cTn>
                        </p:par>
                        <p:par>
                          <p:cTn id="25" fill="hold">
                            <p:stCondLst>
                              <p:cond delay="0"/>
                            </p:stCondLst>
                            <p:childTnLst>
                              <p:par>
                                <p:cTn id="26" presetClass="entr" nodeType="afterEffect" presetSubtype="0" presetID="1" grpId="8" fill="hold">
                                  <p:stCondLst>
                                    <p:cond delay="0"/>
                                  </p:stCondLst>
                                  <p:iterate type="el" backwards="0">
                                    <p:tmAbs val="0"/>
                                  </p:iterate>
                                  <p:childTnLst>
                                    <p:set>
                                      <p:cBhvr>
                                        <p:cTn id="27" fill="hold"/>
                                        <p:tgtEl>
                                          <p:spTgt spid="1485"/>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9" fill="hold">
                                  <p:stCondLst>
                                    <p:cond delay="0"/>
                                  </p:stCondLst>
                                  <p:iterate type="el" backwards="0">
                                    <p:tmAbs val="0"/>
                                  </p:iterate>
                                  <p:childTnLst>
                                    <p:set>
                                      <p:cBhvr>
                                        <p:cTn id="30" fill="hold"/>
                                        <p:tgtEl>
                                          <p:spTgt spid="14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10" fill="hold">
                                  <p:stCondLst>
                                    <p:cond delay="0"/>
                                  </p:stCondLst>
                                  <p:iterate type="el" backwards="0">
                                    <p:tmAbs val="0"/>
                                  </p:iterate>
                                  <p:childTnLst>
                                    <p:set>
                                      <p:cBhvr>
                                        <p:cTn id="34" fill="hold"/>
                                        <p:tgtEl>
                                          <p:spTgt spid="1452"/>
                                        </p:tgtEl>
                                        <p:attrNameLst>
                                          <p:attrName>style.visibility</p:attrName>
                                        </p:attrNameLst>
                                      </p:cBhvr>
                                      <p:to>
                                        <p:strVal val="visible"/>
                                      </p:to>
                                    </p:set>
                                  </p:childTnLst>
                                </p:cTn>
                              </p:par>
                            </p:childTnLst>
                          </p:cTn>
                        </p:par>
                        <p:par>
                          <p:cTn id="35" fill="hold">
                            <p:stCondLst>
                              <p:cond delay="0"/>
                            </p:stCondLst>
                            <p:childTnLst>
                              <p:par>
                                <p:cTn id="36" presetClass="entr" nodeType="afterEffect" presetSubtype="0" presetID="1" grpId="11" fill="hold">
                                  <p:stCondLst>
                                    <p:cond delay="0"/>
                                  </p:stCondLst>
                                  <p:iterate type="el" backwards="0">
                                    <p:tmAbs val="0"/>
                                  </p:iterate>
                                  <p:childTnLst>
                                    <p:set>
                                      <p:cBhvr>
                                        <p:cTn id="37" fill="hold"/>
                                        <p:tgtEl>
                                          <p:spTgt spid="1469"/>
                                        </p:tgtEl>
                                        <p:attrNameLst>
                                          <p:attrName>style.visibility</p:attrName>
                                        </p:attrNameLst>
                                      </p:cBhvr>
                                      <p:to>
                                        <p:strVal val="visible"/>
                                      </p:to>
                                    </p:set>
                                  </p:childTnLst>
                                </p:cTn>
                              </p:par>
                            </p:childTnLst>
                          </p:cTn>
                        </p:par>
                        <p:par>
                          <p:cTn id="38" fill="hold">
                            <p:stCondLst>
                              <p:cond delay="0"/>
                            </p:stCondLst>
                            <p:childTnLst>
                              <p:par>
                                <p:cTn id="39" presetClass="entr" nodeType="afterEffect" presetSubtype="0" presetID="1" grpId="12" fill="hold">
                                  <p:stCondLst>
                                    <p:cond delay="0"/>
                                  </p:stCondLst>
                                  <p:iterate type="el" backwards="0">
                                    <p:tmAbs val="0"/>
                                  </p:iterate>
                                  <p:childTnLst>
                                    <p:set>
                                      <p:cBhvr>
                                        <p:cTn id="40" fill="hold"/>
                                        <p:tgtEl>
                                          <p:spTgt spid="1493"/>
                                        </p:tgtEl>
                                        <p:attrNameLst>
                                          <p:attrName>style.visibility</p:attrName>
                                        </p:attrNameLst>
                                      </p:cBhvr>
                                      <p:to>
                                        <p:strVal val="visible"/>
                                      </p:to>
                                    </p:set>
                                  </p:childTnLst>
                                </p:cTn>
                              </p:par>
                            </p:childTnLst>
                          </p:cTn>
                        </p:par>
                        <p:par>
                          <p:cTn id="41" fill="hold">
                            <p:stCondLst>
                              <p:cond delay="0"/>
                            </p:stCondLst>
                            <p:childTnLst>
                              <p:par>
                                <p:cTn id="42" presetClass="entr" nodeType="afterEffect" presetSubtype="0" presetID="1" grpId="13" fill="hold">
                                  <p:stCondLst>
                                    <p:cond delay="0"/>
                                  </p:stCondLst>
                                  <p:iterate type="el" backwards="0">
                                    <p:tmAbs val="0"/>
                                  </p:iterate>
                                  <p:childTnLst>
                                    <p:set>
                                      <p:cBhvr>
                                        <p:cTn id="43" fill="hold"/>
                                        <p:tgtEl>
                                          <p:spTgt spid="1494"/>
                                        </p:tgtEl>
                                        <p:attrNameLst>
                                          <p:attrName>style.visibility</p:attrName>
                                        </p:attrNameLst>
                                      </p:cBhvr>
                                      <p:to>
                                        <p:strVal val="visible"/>
                                      </p:to>
                                    </p:set>
                                  </p:childTnLst>
                                </p:cTn>
                              </p:par>
                            </p:childTnLst>
                          </p:cTn>
                        </p:par>
                        <p:par>
                          <p:cTn id="44" fill="hold">
                            <p:stCondLst>
                              <p:cond delay="0"/>
                            </p:stCondLst>
                            <p:childTnLst>
                              <p:par>
                                <p:cTn id="45" presetClass="entr" nodeType="afterEffect" presetSubtype="0" presetID="1" grpId="14" fill="hold">
                                  <p:stCondLst>
                                    <p:cond delay="0"/>
                                  </p:stCondLst>
                                  <p:iterate type="el" backwards="0">
                                    <p:tmAbs val="0"/>
                                  </p:iterate>
                                  <p:childTnLst>
                                    <p:set>
                                      <p:cBhvr>
                                        <p:cTn id="46" fill="hold"/>
                                        <p:tgtEl>
                                          <p:spTgt spid="1495"/>
                                        </p:tgtEl>
                                        <p:attrNameLst>
                                          <p:attrName>style.visibility</p:attrName>
                                        </p:attrNameLst>
                                      </p:cBhvr>
                                      <p:to>
                                        <p:strVal val="visible"/>
                                      </p:to>
                                    </p:set>
                                  </p:childTnLst>
                                </p:cTn>
                              </p:par>
                            </p:childTnLst>
                          </p:cTn>
                        </p:par>
                        <p:par>
                          <p:cTn id="47" fill="hold">
                            <p:stCondLst>
                              <p:cond delay="0"/>
                            </p:stCondLst>
                            <p:childTnLst>
                              <p:par>
                                <p:cTn id="48" presetClass="entr" nodeType="afterEffect" presetSubtype="0" presetID="1" grpId="15" fill="hold">
                                  <p:stCondLst>
                                    <p:cond delay="0"/>
                                  </p:stCondLst>
                                  <p:iterate type="el" backwards="0">
                                    <p:tmAbs val="0"/>
                                  </p:iterate>
                                  <p:childTnLst>
                                    <p:set>
                                      <p:cBhvr>
                                        <p:cTn id="49" fill="hold"/>
                                        <p:tgtEl>
                                          <p:spTgt spid="149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Class="entr" nodeType="clickEffect" presetSubtype="0" presetID="1" grpId="16" fill="hold">
                                  <p:stCondLst>
                                    <p:cond delay="0"/>
                                  </p:stCondLst>
                                  <p:iterate type="el" backwards="0">
                                    <p:tmAbs val="0"/>
                                  </p:iterate>
                                  <p:childTnLst>
                                    <p:set>
                                      <p:cBhvr>
                                        <p:cTn id="53" fill="hold"/>
                                        <p:tgtEl>
                                          <p:spTgt spid="1474"/>
                                        </p:tgtEl>
                                        <p:attrNameLst>
                                          <p:attrName>style.visibility</p:attrName>
                                        </p:attrNameLst>
                                      </p:cBhvr>
                                      <p:to>
                                        <p:strVal val="visible"/>
                                      </p:to>
                                    </p:set>
                                  </p:childTnLst>
                                </p:cTn>
                              </p:par>
                            </p:childTnLst>
                          </p:cTn>
                        </p:par>
                        <p:par>
                          <p:cTn id="54" fill="hold">
                            <p:stCondLst>
                              <p:cond delay="0"/>
                            </p:stCondLst>
                            <p:childTnLst>
                              <p:par>
                                <p:cTn id="55" presetClass="entr" nodeType="afterEffect" presetSubtype="0" presetID="1" grpId="17" fill="hold">
                                  <p:stCondLst>
                                    <p:cond delay="0"/>
                                  </p:stCondLst>
                                  <p:iterate type="el" backwards="0">
                                    <p:tmAbs val="0"/>
                                  </p:iterate>
                                  <p:childTnLst>
                                    <p:set>
                                      <p:cBhvr>
                                        <p:cTn id="56" fill="hold"/>
                                        <p:tgtEl>
                                          <p:spTgt spid="1475"/>
                                        </p:tgtEl>
                                        <p:attrNameLst>
                                          <p:attrName>style.visibility</p:attrName>
                                        </p:attrNameLst>
                                      </p:cBhvr>
                                      <p:to>
                                        <p:strVal val="visible"/>
                                      </p:to>
                                    </p:set>
                                  </p:childTnLst>
                                </p:cTn>
                              </p:par>
                            </p:childTnLst>
                          </p:cTn>
                        </p:par>
                        <p:par>
                          <p:cTn id="57" fill="hold">
                            <p:stCondLst>
                              <p:cond delay="0"/>
                            </p:stCondLst>
                            <p:childTnLst>
                              <p:par>
                                <p:cTn id="58" presetClass="entr" nodeType="afterEffect" presetSubtype="0" presetID="1" grpId="18" fill="hold">
                                  <p:stCondLst>
                                    <p:cond delay="0"/>
                                  </p:stCondLst>
                                  <p:iterate type="el" backwards="0">
                                    <p:tmAbs val="0"/>
                                  </p:iterate>
                                  <p:childTnLst>
                                    <p:set>
                                      <p:cBhvr>
                                        <p:cTn id="59" fill="hold"/>
                                        <p:tgtEl>
                                          <p:spTgt spid="1487"/>
                                        </p:tgtEl>
                                        <p:attrNameLst>
                                          <p:attrName>style.visibility</p:attrName>
                                        </p:attrNameLst>
                                      </p:cBhvr>
                                      <p:to>
                                        <p:strVal val="visible"/>
                                      </p:to>
                                    </p:set>
                                  </p:childTnLst>
                                </p:cTn>
                              </p:par>
                            </p:childTnLst>
                          </p:cTn>
                        </p:par>
                        <p:par>
                          <p:cTn id="60" fill="hold">
                            <p:stCondLst>
                              <p:cond delay="0"/>
                            </p:stCondLst>
                            <p:childTnLst>
                              <p:par>
                                <p:cTn id="61" presetClass="entr" nodeType="afterEffect" presetSubtype="0" presetID="1" grpId="19" fill="hold">
                                  <p:stCondLst>
                                    <p:cond delay="0"/>
                                  </p:stCondLst>
                                  <p:iterate type="el" backwards="0">
                                    <p:tmAbs val="0"/>
                                  </p:iterate>
                                  <p:childTnLst>
                                    <p:set>
                                      <p:cBhvr>
                                        <p:cTn id="62" fill="hold"/>
                                        <p:tgtEl>
                                          <p:spTgt spid="1490"/>
                                        </p:tgtEl>
                                        <p:attrNameLst>
                                          <p:attrName>style.visibility</p:attrName>
                                        </p:attrNameLst>
                                      </p:cBhvr>
                                      <p:to>
                                        <p:strVal val="visible"/>
                                      </p:to>
                                    </p:set>
                                  </p:childTnLst>
                                </p:cTn>
                              </p:par>
                            </p:childTnLst>
                          </p:cTn>
                        </p:par>
                        <p:par>
                          <p:cTn id="63" fill="hold">
                            <p:stCondLst>
                              <p:cond delay="0"/>
                            </p:stCondLst>
                            <p:childTnLst>
                              <p:par>
                                <p:cTn id="64" presetClass="entr" nodeType="afterEffect" presetSubtype="0" presetID="1" grpId="20" fill="hold">
                                  <p:stCondLst>
                                    <p:cond delay="0"/>
                                  </p:stCondLst>
                                  <p:iterate type="el" backwards="0">
                                    <p:tmAbs val="0"/>
                                  </p:iterate>
                                  <p:childTnLst>
                                    <p:set>
                                      <p:cBhvr>
                                        <p:cTn id="65" fill="hold"/>
                                        <p:tgtEl>
                                          <p:spTgt spid="1491"/>
                                        </p:tgtEl>
                                        <p:attrNameLst>
                                          <p:attrName>style.visibility</p:attrName>
                                        </p:attrNameLst>
                                      </p:cBhvr>
                                      <p:to>
                                        <p:strVal val="visible"/>
                                      </p:to>
                                    </p:set>
                                  </p:childTnLst>
                                </p:cTn>
                              </p:par>
                            </p:childTnLst>
                          </p:cTn>
                        </p:par>
                        <p:par>
                          <p:cTn id="66" fill="hold">
                            <p:stCondLst>
                              <p:cond delay="0"/>
                            </p:stCondLst>
                            <p:childTnLst>
                              <p:par>
                                <p:cTn id="67" presetClass="entr" nodeType="afterEffect" presetSubtype="0" presetID="1" grpId="21" fill="hold">
                                  <p:stCondLst>
                                    <p:cond delay="0"/>
                                  </p:stCondLst>
                                  <p:iterate type="el" backwards="0">
                                    <p:tmAbs val="0"/>
                                  </p:iterate>
                                  <p:childTnLst>
                                    <p:set>
                                      <p:cBhvr>
                                        <p:cTn id="68" fill="hold"/>
                                        <p:tgtEl>
                                          <p:spTgt spid="14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75" grpId="17"/>
      <p:bldP build="whole" bldLvl="1" animBg="1" rev="0" advAuto="0" spid="1470" grpId="1"/>
      <p:bldP build="whole" bldLvl="1" animBg="1" rev="0" advAuto="0" spid="1494" grpId="13"/>
      <p:bldP build="whole" bldLvl="1" animBg="1" rev="0" advAuto="0" spid="1452" grpId="10"/>
      <p:bldP build="whole" bldLvl="1" animBg="1" rev="0" advAuto="0" spid="1476" grpId="5"/>
      <p:bldP build="whole" bldLvl="1" animBg="1" rev="0" advAuto="0" spid="1491" grpId="20"/>
      <p:bldP build="whole" bldLvl="1" animBg="1" rev="0" advAuto="0" spid="1472" grpId="3"/>
      <p:bldP build="whole" bldLvl="1" animBg="1" rev="0" advAuto="0" spid="1473" grpId="4"/>
      <p:bldP build="whole" bldLvl="1" animBg="1" rev="0" advAuto="0" spid="1487" grpId="18"/>
      <p:bldP build="whole" bldLvl="1" animBg="1" rev="0" advAuto="0" spid="1495" grpId="14"/>
      <p:bldP build="whole" bldLvl="1" animBg="1" rev="0" advAuto="0" spid="1474" grpId="16"/>
      <p:bldP build="whole" bldLvl="1" animBg="1" rev="0" advAuto="0" spid="1485" grpId="8"/>
      <p:bldP build="whole" bldLvl="1" animBg="1" rev="0" advAuto="0" spid="1486" grpId="9"/>
      <p:bldP build="whole" bldLvl="1" animBg="1" rev="0" advAuto="0" spid="1492" grpId="21"/>
      <p:bldP build="whole" bldLvl="1" animBg="1" rev="0" advAuto="0" spid="1469" grpId="11"/>
      <p:bldP build="whole" bldLvl="1" animBg="1" rev="0" advAuto="0" spid="1482" grpId="7"/>
      <p:bldP build="whole" bldLvl="1" animBg="1" rev="0" advAuto="0" spid="1490" grpId="19"/>
      <p:bldP build="whole" bldLvl="1" animBg="1" rev="0" advAuto="0" spid="1493" grpId="12"/>
      <p:bldP build="whole" bldLvl="1" animBg="1" rev="0" advAuto="0" spid="1496" grpId="15"/>
      <p:bldP build="whole" bldLvl="1" animBg="1" rev="0" advAuto="0" spid="1471" grpId="2"/>
      <p:bldP build="whole" bldLvl="1" animBg="1" rev="0" advAuto="0" spid="1479" grpId="6"/>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0"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Branch-point Caching: Reuse at Forks</a:t>
            </a:r>
          </a:p>
        </p:txBody>
      </p:sp>
      <p:sp>
        <p:nvSpPr>
          <p:cNvPr id="1501"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27</a:t>
            </a:r>
          </a:p>
        </p:txBody>
      </p:sp>
      <p:pic>
        <p:nvPicPr>
          <p:cNvPr id="1502"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503"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504" name="Shared-prefix benchmark · Out-of-window release enabled"/>
          <p:cNvSpPr txBox="1"/>
          <p:nvPr/>
        </p:nvSpPr>
        <p:spPr>
          <a:xfrm>
            <a:off x="812799" y="1003300"/>
            <a:ext cx="6935572" cy="29607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100">
                <a:solidFill>
                  <a:srgbClr val="2D5093"/>
                </a:solidFill>
                <a:latin typeface="Arial"/>
                <a:ea typeface="Arial"/>
                <a:cs typeface="Arial"/>
                <a:sym typeface="Arial"/>
              </a:defRPr>
            </a:lvl1pPr>
          </a:lstStyle>
          <a:p>
            <a:pPr/>
            <a:r>
              <a:t>Shared-prefix benchmark · Out-of-window release enabled</a:t>
            </a:r>
          </a:p>
        </p:txBody>
      </p:sp>
      <p:sp>
        <p:nvSpPr>
          <p:cNvPr id="1505" name="Token hit rate"/>
          <p:cNvSpPr txBox="1"/>
          <p:nvPr/>
        </p:nvSpPr>
        <p:spPr>
          <a:xfrm>
            <a:off x="1016000" y="1765300"/>
            <a:ext cx="1576909" cy="2715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1900">
                <a:solidFill>
                  <a:srgbClr val="2D5093"/>
                </a:solidFill>
                <a:latin typeface="Arial"/>
                <a:ea typeface="Arial"/>
                <a:cs typeface="Arial"/>
                <a:sym typeface="Arial"/>
              </a:defRPr>
            </a:lvl1pPr>
          </a:lstStyle>
          <a:p>
            <a:pPr/>
            <a:r>
              <a:t>Token hit rate</a:t>
            </a:r>
          </a:p>
        </p:txBody>
      </p:sp>
      <p:sp>
        <p:nvSpPr>
          <p:cNvPr id="1506" name="Mean TTFT (ms) · Lower is better"/>
          <p:cNvSpPr txBox="1"/>
          <p:nvPr/>
        </p:nvSpPr>
        <p:spPr>
          <a:xfrm>
            <a:off x="6438900" y="1765300"/>
            <a:ext cx="3594398" cy="2592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a:solidFill>
                  <a:srgbClr val="2D5093"/>
                </a:solidFill>
                <a:latin typeface="Arial"/>
                <a:ea typeface="Arial"/>
                <a:cs typeface="Arial"/>
                <a:sym typeface="Arial"/>
              </a:defRPr>
            </a:lvl1pPr>
          </a:lstStyle>
          <a:p>
            <a:pPr/>
            <a:r>
              <a:t>Mean TTFT (ms) · Lower is better</a:t>
            </a:r>
          </a:p>
        </p:txBody>
      </p:sp>
      <p:graphicFrame>
        <p:nvGraphicFramePr>
          <p:cNvPr id="1507" name="Chart"/>
          <p:cNvGraphicFramePr/>
          <p:nvPr/>
        </p:nvGraphicFramePr>
        <p:xfrm>
          <a:off x="865495" y="2104871"/>
          <a:ext cx="4736803" cy="3043421"/>
        </p:xfrm>
        <a:graphic xmlns:a="http://schemas.openxmlformats.org/drawingml/2006/main">
          <a:graphicData uri="http://schemas.openxmlformats.org/drawingml/2006/chart">
            <c:chart xmlns:c="http://schemas.openxmlformats.org/drawingml/2006/chart" r:id="rId5"/>
          </a:graphicData>
        </a:graphic>
      </p:graphicFrame>
      <p:graphicFrame>
        <p:nvGraphicFramePr>
          <p:cNvPr id="1508" name="Chart"/>
          <p:cNvGraphicFramePr/>
          <p:nvPr/>
        </p:nvGraphicFramePr>
        <p:xfrm>
          <a:off x="6445212" y="2104871"/>
          <a:ext cx="4568133" cy="3043421"/>
        </p:xfrm>
        <a:graphic xmlns:a="http://schemas.openxmlformats.org/drawingml/2006/main">
          <a:graphicData uri="http://schemas.openxmlformats.org/drawingml/2006/chart">
            <c:chart xmlns:c="http://schemas.openxmlformats.org/drawingml/2006/chart" r:id="rId6"/>
          </a:graphicData>
        </a:graphic>
      </p:graphicFrame>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0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50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506"/>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1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05" grpId="1"/>
      <p:bldP build="whole" bldLvl="1" animBg="1" rev="0" advAuto="0" spid="1507" grpId="2"/>
      <p:bldP build="whole" bldLvl="1" animBg="1" rev="0" advAuto="0" spid="1506" grpId="3"/>
      <p:bldP build="whole" bldLvl="1" animBg="1" rev="0" advAuto="0" spid="1508" grpId="4"/>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2"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Cache Recovery: State and Read/Write Ordering</a:t>
            </a:r>
          </a:p>
        </p:txBody>
      </p:sp>
      <p:sp>
        <p:nvSpPr>
          <p:cNvPr id="1513"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28</a:t>
            </a:r>
          </a:p>
        </p:txBody>
      </p:sp>
      <p:pic>
        <p:nvPicPr>
          <p:cNvPr id="1514"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515"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516" name="body-161"/>
          <p:cNvSpPr txBox="1"/>
          <p:nvPr/>
        </p:nvSpPr>
        <p:spPr>
          <a:xfrm>
            <a:off x="812799" y="1003299"/>
            <a:ext cx="7269685"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Merge recomputed state safely while other requests are running.</a:t>
            </a:r>
          </a:p>
        </p:txBody>
      </p:sp>
      <p:sp>
        <p:nvSpPr>
          <p:cNvPr id="1517" name="body-162"/>
          <p:cNvSpPr txBox="1"/>
          <p:nvPr/>
        </p:nvSpPr>
        <p:spPr>
          <a:xfrm>
            <a:off x="812800" y="1568449"/>
            <a:ext cx="5625257"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2D5093"/>
                </a:solidFill>
                <a:latin typeface="+mj-lt"/>
                <a:ea typeface="+mj-ea"/>
                <a:cs typeface="+mj-cs"/>
                <a:sym typeface="Helvetica"/>
              </a:defRPr>
            </a:lvl1pPr>
          </a:lstStyle>
          <a:p>
            <a:pPr/>
            <a:r>
              <a:t>1  Attach recomputed SWA to an existing node</a:t>
            </a:r>
          </a:p>
        </p:txBody>
      </p:sp>
      <p:sp>
        <p:nvSpPr>
          <p:cNvPr id="1518" name="body-163"/>
          <p:cNvSpPr txBox="1"/>
          <p:nvPr/>
        </p:nvSpPr>
        <p:spPr>
          <a:xfrm>
            <a:off x="825500" y="2044700"/>
            <a:ext cx="1232694"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5C7392"/>
                </a:solidFill>
                <a:latin typeface="+mj-lt"/>
                <a:ea typeface="+mj-ea"/>
                <a:cs typeface="+mj-cs"/>
                <a:sym typeface="Helvetica"/>
              </a:defRPr>
            </a:lvl1pPr>
          </a:lstStyle>
          <a:p>
            <a:pPr/>
            <a:r>
              <a:t>Existing node</a:t>
            </a:r>
          </a:p>
        </p:txBody>
      </p:sp>
      <p:sp>
        <p:nvSpPr>
          <p:cNvPr id="1519" name="body-164"/>
          <p:cNvSpPr txBox="1"/>
          <p:nvPr/>
        </p:nvSpPr>
        <p:spPr>
          <a:xfrm>
            <a:off x="7150100" y="2044700"/>
            <a:ext cx="1503859"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5C7392"/>
                </a:solidFill>
                <a:latin typeface="+mj-lt"/>
                <a:ea typeface="+mj-ea"/>
                <a:cs typeface="+mj-cs"/>
                <a:sym typeface="Helvetica"/>
              </a:defRPr>
            </a:lvl1pPr>
          </a:lstStyle>
          <a:p>
            <a:pPr/>
            <a:r>
              <a:t>Recovered node</a:t>
            </a:r>
          </a:p>
        </p:txBody>
      </p:sp>
      <p:grpSp>
        <p:nvGrpSpPr>
          <p:cNvPr id="1522" name="body-165"/>
          <p:cNvGrpSpPr/>
          <p:nvPr/>
        </p:nvGrpSpPr>
        <p:grpSpPr>
          <a:xfrm>
            <a:off x="825500" y="2425700"/>
            <a:ext cx="3835400" cy="444500"/>
            <a:chOff x="0" y="0"/>
            <a:chExt cx="3835400" cy="444500"/>
          </a:xfrm>
        </p:grpSpPr>
        <p:sp>
          <p:nvSpPr>
            <p:cNvPr id="1520" name="Rounded Rectangle"/>
            <p:cNvSpPr/>
            <p:nvPr/>
          </p:nvSpPr>
          <p:spPr>
            <a:xfrm>
              <a:off x="0" y="0"/>
              <a:ext cx="3835400" cy="444500"/>
            </a:xfrm>
            <a:prstGeom prst="roundRect">
              <a:avLst>
                <a:gd name="adj" fmla="val 11429"/>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a:solidFill>
                    <a:srgbClr val="2D5093"/>
                  </a:solidFill>
                  <a:latin typeface="+mj-lt"/>
                  <a:ea typeface="+mj-ea"/>
                  <a:cs typeface="+mj-cs"/>
                  <a:sym typeface="Helvetica"/>
                </a:defRPr>
              </a:pPr>
            </a:p>
          </p:txBody>
        </p:sp>
        <p:sp>
          <p:nvSpPr>
            <p:cNvPr id="1521" name="FULL F_A  ·  locked"/>
            <p:cNvSpPr txBox="1"/>
            <p:nvPr/>
          </p:nvSpPr>
          <p:spPr>
            <a:xfrm>
              <a:off x="856976" y="82548"/>
              <a:ext cx="212144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2D5093"/>
                  </a:solidFill>
                  <a:latin typeface="+mj-lt"/>
                  <a:ea typeface="+mj-ea"/>
                  <a:cs typeface="+mj-cs"/>
                  <a:sym typeface="Helvetica"/>
                </a:defRPr>
              </a:lvl1pPr>
            </a:lstStyle>
            <a:p>
              <a:pPr/>
              <a:r>
                <a:t>FULL F_A  ·  locked</a:t>
              </a:r>
            </a:p>
          </p:txBody>
        </p:sp>
      </p:grpSp>
      <p:grpSp>
        <p:nvGrpSpPr>
          <p:cNvPr id="1525" name="body-166"/>
          <p:cNvGrpSpPr/>
          <p:nvPr/>
        </p:nvGrpSpPr>
        <p:grpSpPr>
          <a:xfrm>
            <a:off x="825500" y="3009900"/>
            <a:ext cx="3835400" cy="444500"/>
            <a:chOff x="0" y="0"/>
            <a:chExt cx="3835400" cy="444500"/>
          </a:xfrm>
        </p:grpSpPr>
        <p:sp>
          <p:nvSpPr>
            <p:cNvPr id="1523" name="Rounded Rectangle"/>
            <p:cNvSpPr/>
            <p:nvPr/>
          </p:nvSpPr>
          <p:spPr>
            <a:xfrm>
              <a:off x="0" y="0"/>
              <a:ext cx="3835400" cy="444500"/>
            </a:xfrm>
            <a:prstGeom prst="roundRect">
              <a:avLst>
                <a:gd name="adj" fmla="val 11429"/>
              </a:avLst>
            </a:prstGeom>
            <a:solidFill>
              <a:srgbClr val="FFFFFF"/>
            </a:solidFill>
            <a:ln w="13970" cap="flat">
              <a:solidFill>
                <a:srgbClr val="B9CCE4"/>
              </a:solidFill>
              <a:prstDash val="solid"/>
              <a:round/>
            </a:ln>
            <a:effectLst/>
          </p:spPr>
          <p:txBody>
            <a:bodyPr wrap="square" lIns="45718" tIns="45718" rIns="45718" bIns="45718" numCol="1" anchor="ctr">
              <a:noAutofit/>
            </a:bodyPr>
            <a:lstStyle/>
            <a:p>
              <a:pPr algn="ctr">
                <a:defRPr b="1">
                  <a:solidFill>
                    <a:srgbClr val="5C7392"/>
                  </a:solidFill>
                  <a:latin typeface="+mj-lt"/>
                  <a:ea typeface="+mj-ea"/>
                  <a:cs typeface="+mj-cs"/>
                  <a:sym typeface="Helvetica"/>
                </a:defRPr>
              </a:pPr>
            </a:p>
          </p:txBody>
        </p:sp>
        <p:sp>
          <p:nvSpPr>
            <p:cNvPr id="1524" name="SWA missing"/>
            <p:cNvSpPr txBox="1"/>
            <p:nvPr/>
          </p:nvSpPr>
          <p:spPr>
            <a:xfrm>
              <a:off x="1191448" y="82548"/>
              <a:ext cx="145250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5C7392"/>
                  </a:solidFill>
                  <a:latin typeface="+mj-lt"/>
                  <a:ea typeface="+mj-ea"/>
                  <a:cs typeface="+mj-cs"/>
                  <a:sym typeface="Helvetica"/>
                </a:defRPr>
              </a:lvl1pPr>
            </a:lstStyle>
            <a:p>
              <a:pPr/>
              <a:r>
                <a:t>SWA missing</a:t>
              </a:r>
            </a:p>
          </p:txBody>
        </p:sp>
      </p:grpSp>
      <p:sp>
        <p:nvSpPr>
          <p:cNvPr id="1526" name="body-167"/>
          <p:cNvSpPr/>
          <p:nvPr/>
        </p:nvSpPr>
        <p:spPr>
          <a:xfrm>
            <a:off x="5257800" y="2806700"/>
            <a:ext cx="1270000" cy="177800"/>
          </a:xfrm>
          <a:prstGeom prst="rightArrow">
            <a:avLst>
              <a:gd name="adj1" fmla="val 50000"/>
              <a:gd name="adj2" fmla="val 50000"/>
            </a:avLst>
          </a:prstGeom>
          <a:solidFill>
            <a:srgbClr val="2D5093"/>
          </a:solidFill>
          <a:ln w="12700">
            <a:miter lim="400000"/>
          </a:ln>
        </p:spPr>
        <p:txBody>
          <a:bodyPr lIns="45718" tIns="45718" rIns="45718" bIns="45718"/>
          <a:lstStyle/>
          <a:p>
            <a:pPr>
              <a:defRPr>
                <a:latin typeface="+mj-lt"/>
                <a:ea typeface="+mj-ea"/>
                <a:cs typeface="+mj-cs"/>
                <a:sym typeface="Helvetica"/>
              </a:defRPr>
            </a:pPr>
          </a:p>
        </p:txBody>
      </p:sp>
      <p:grpSp>
        <p:nvGrpSpPr>
          <p:cNvPr id="1529" name="body-168"/>
          <p:cNvGrpSpPr/>
          <p:nvPr/>
        </p:nvGrpSpPr>
        <p:grpSpPr>
          <a:xfrm>
            <a:off x="7150100" y="2425700"/>
            <a:ext cx="3835400" cy="444500"/>
            <a:chOff x="0" y="0"/>
            <a:chExt cx="3835400" cy="444500"/>
          </a:xfrm>
        </p:grpSpPr>
        <p:sp>
          <p:nvSpPr>
            <p:cNvPr id="1527" name="Rounded Rectangle"/>
            <p:cNvSpPr/>
            <p:nvPr/>
          </p:nvSpPr>
          <p:spPr>
            <a:xfrm>
              <a:off x="0" y="0"/>
              <a:ext cx="3835400" cy="444500"/>
            </a:xfrm>
            <a:prstGeom prst="roundRect">
              <a:avLst>
                <a:gd name="adj" fmla="val 11429"/>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a:solidFill>
                    <a:srgbClr val="2D5093"/>
                  </a:solidFill>
                  <a:latin typeface="+mj-lt"/>
                  <a:ea typeface="+mj-ea"/>
                  <a:cs typeface="+mj-cs"/>
                  <a:sym typeface="Helvetica"/>
                </a:defRPr>
              </a:pPr>
            </a:p>
          </p:txBody>
        </p:sp>
        <p:sp>
          <p:nvSpPr>
            <p:cNvPr id="1528" name="Keep FULL F_A"/>
            <p:cNvSpPr txBox="1"/>
            <p:nvPr/>
          </p:nvSpPr>
          <p:spPr>
            <a:xfrm>
              <a:off x="1062414" y="82548"/>
              <a:ext cx="171057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2D5093"/>
                  </a:solidFill>
                  <a:latin typeface="+mj-lt"/>
                  <a:ea typeface="+mj-ea"/>
                  <a:cs typeface="+mj-cs"/>
                  <a:sym typeface="Helvetica"/>
                </a:defRPr>
              </a:lvl1pPr>
            </a:lstStyle>
            <a:p>
              <a:pPr/>
              <a:r>
                <a:t>Keep FULL F_A</a:t>
              </a:r>
            </a:p>
          </p:txBody>
        </p:sp>
      </p:grpSp>
      <p:grpSp>
        <p:nvGrpSpPr>
          <p:cNvPr id="1532" name="body-169"/>
          <p:cNvGrpSpPr/>
          <p:nvPr/>
        </p:nvGrpSpPr>
        <p:grpSpPr>
          <a:xfrm>
            <a:off x="7150100" y="3009900"/>
            <a:ext cx="3835400" cy="444500"/>
            <a:chOff x="0" y="0"/>
            <a:chExt cx="3835400" cy="444500"/>
          </a:xfrm>
        </p:grpSpPr>
        <p:sp>
          <p:nvSpPr>
            <p:cNvPr id="1530" name="Rounded Rectangle"/>
            <p:cNvSpPr/>
            <p:nvPr/>
          </p:nvSpPr>
          <p:spPr>
            <a:xfrm>
              <a:off x="0" y="0"/>
              <a:ext cx="3835400" cy="444500"/>
            </a:xfrm>
            <a:prstGeom prst="roundRect">
              <a:avLst>
                <a:gd name="adj" fmla="val 11429"/>
              </a:avLst>
            </a:prstGeom>
            <a:solidFill>
              <a:srgbClr val="EEF3F9"/>
            </a:solidFill>
            <a:ln w="13970" cap="flat">
              <a:solidFill>
                <a:srgbClr val="009A80"/>
              </a:solidFill>
              <a:prstDash val="solid"/>
              <a:round/>
            </a:ln>
            <a:effectLst/>
          </p:spPr>
          <p:txBody>
            <a:bodyPr wrap="square" lIns="45718" tIns="45718" rIns="45718" bIns="45718" numCol="1" anchor="ctr">
              <a:noAutofit/>
            </a:bodyPr>
            <a:lstStyle/>
            <a:p>
              <a:pPr algn="ctr">
                <a:defRPr b="1">
                  <a:solidFill>
                    <a:srgbClr val="009A80"/>
                  </a:solidFill>
                  <a:latin typeface="+mj-lt"/>
                  <a:ea typeface="+mj-ea"/>
                  <a:cs typeface="+mj-cs"/>
                  <a:sym typeface="Helvetica"/>
                </a:defRPr>
              </a:pPr>
            </a:p>
          </p:txBody>
        </p:sp>
        <p:sp>
          <p:nvSpPr>
            <p:cNvPr id="1531" name="Attach SWA S_B"/>
            <p:cNvSpPr txBox="1"/>
            <p:nvPr/>
          </p:nvSpPr>
          <p:spPr>
            <a:xfrm>
              <a:off x="1013637" y="82548"/>
              <a:ext cx="180812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a:solidFill>
                    <a:srgbClr val="009A80"/>
                  </a:solidFill>
                  <a:latin typeface="+mj-lt"/>
                  <a:ea typeface="+mj-ea"/>
                  <a:cs typeface="+mj-cs"/>
                  <a:sym typeface="Helvetica"/>
                </a:defRPr>
              </a:lvl1pPr>
            </a:lstStyle>
            <a:p>
              <a:pPr/>
              <a:r>
                <a:t>Attach SWA S_B</a:t>
              </a:r>
            </a:p>
          </p:txBody>
        </p:sp>
      </p:grpSp>
      <p:sp>
        <p:nvSpPr>
          <p:cNvPr id="1533" name="body-170"/>
          <p:cNvSpPr txBox="1"/>
          <p:nvPr/>
        </p:nvSpPr>
        <p:spPr>
          <a:xfrm>
            <a:off x="825500" y="3613148"/>
            <a:ext cx="2985096"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Incoming: FULL F_B + SWA S_B</a:t>
            </a:r>
          </a:p>
        </p:txBody>
      </p:sp>
      <p:sp>
        <p:nvSpPr>
          <p:cNvPr id="1534" name="body-171"/>
          <p:cNvSpPr txBox="1"/>
          <p:nvPr/>
        </p:nvSpPr>
        <p:spPr>
          <a:xfrm>
            <a:off x="6477000" y="3613148"/>
            <a:ext cx="3604518"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Map F_A → S_B; release duplicate F_B</a:t>
            </a:r>
          </a:p>
        </p:txBody>
      </p:sp>
      <p:sp>
        <p:nvSpPr>
          <p:cNvPr id="1535" name="body-172"/>
          <p:cNvSpPr/>
          <p:nvPr/>
        </p:nvSpPr>
        <p:spPr>
          <a:xfrm>
            <a:off x="812800" y="4076700"/>
            <a:ext cx="10198100" cy="0"/>
          </a:xfrm>
          <a:prstGeom prst="line">
            <a:avLst/>
          </a:prstGeom>
          <a:ln w="16510">
            <a:solidFill>
              <a:srgbClr val="B9CCE4"/>
            </a:solidFill>
          </a:ln>
        </p:spPr>
        <p:txBody>
          <a:bodyPr lIns="45718" tIns="45718" rIns="45718" bIns="45718"/>
          <a:lstStyle/>
          <a:p>
            <a:pPr/>
          </a:p>
        </p:txBody>
      </p:sp>
      <p:sp>
        <p:nvSpPr>
          <p:cNvPr id="1536" name="body-173"/>
          <p:cNvSpPr txBox="1"/>
          <p:nvPr/>
        </p:nvSpPr>
        <p:spPr>
          <a:xfrm>
            <a:off x="812800" y="4286248"/>
            <a:ext cx="575709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000">
                <a:solidFill>
                  <a:srgbClr val="2D5093"/>
                </a:solidFill>
                <a:latin typeface="+mj-lt"/>
                <a:ea typeface="+mj-ea"/>
                <a:cs typeface="+mj-cs"/>
                <a:sym typeface="Helvetica"/>
              </a:defRPr>
            </a:lvl1pPr>
          </a:lstStyle>
          <a:p>
            <a:pPr/>
            <a:r>
              <a:t>2  Publish mapping updates after forward reads</a:t>
            </a:r>
          </a:p>
        </p:txBody>
      </p:sp>
      <p:sp>
        <p:nvSpPr>
          <p:cNvPr id="1537" name="body-174"/>
          <p:cNvSpPr txBox="1"/>
          <p:nvPr/>
        </p:nvSpPr>
        <p:spPr>
          <a:xfrm>
            <a:off x="825500" y="4876798"/>
            <a:ext cx="864388"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D5093"/>
                </a:solidFill>
                <a:latin typeface="+mj-lt"/>
                <a:ea typeface="+mj-ea"/>
                <a:cs typeface="+mj-cs"/>
                <a:sym typeface="Helvetica"/>
              </a:defRPr>
            </a:lvl1pPr>
          </a:lstStyle>
          <a:p>
            <a:pPr/>
            <a:r>
              <a:t>Forward</a:t>
            </a:r>
          </a:p>
        </p:txBody>
      </p:sp>
      <p:sp>
        <p:nvSpPr>
          <p:cNvPr id="1538" name="body-175"/>
          <p:cNvSpPr txBox="1"/>
          <p:nvPr/>
        </p:nvSpPr>
        <p:spPr>
          <a:xfrm>
            <a:off x="825500" y="5397498"/>
            <a:ext cx="1056569"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D5093"/>
                </a:solidFill>
                <a:latin typeface="+mj-lt"/>
                <a:ea typeface="+mj-ea"/>
                <a:cs typeface="+mj-cs"/>
                <a:sym typeface="Helvetica"/>
              </a:defRPr>
            </a:lvl1pPr>
          </a:lstStyle>
          <a:p>
            <a:pPr/>
            <a:r>
              <a:t>Scheduler</a:t>
            </a:r>
          </a:p>
        </p:txBody>
      </p:sp>
      <p:grpSp>
        <p:nvGrpSpPr>
          <p:cNvPr id="1541" name="body-176"/>
          <p:cNvGrpSpPr/>
          <p:nvPr/>
        </p:nvGrpSpPr>
        <p:grpSpPr>
          <a:xfrm>
            <a:off x="2565400" y="4800600"/>
            <a:ext cx="3619500" cy="368300"/>
            <a:chOff x="0" y="0"/>
            <a:chExt cx="3619500" cy="368300"/>
          </a:xfrm>
        </p:grpSpPr>
        <p:sp>
          <p:nvSpPr>
            <p:cNvPr id="1539" name="Rounded Rectangle"/>
            <p:cNvSpPr/>
            <p:nvPr/>
          </p:nvSpPr>
          <p:spPr>
            <a:xfrm>
              <a:off x="0" y="0"/>
              <a:ext cx="3619500" cy="368300"/>
            </a:xfrm>
            <a:prstGeom prst="roundRect">
              <a:avLst>
                <a:gd name="adj" fmla="val 13793"/>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1600">
                  <a:solidFill>
                    <a:srgbClr val="2D5093"/>
                  </a:solidFill>
                  <a:latin typeface="+mj-lt"/>
                  <a:ea typeface="+mj-ea"/>
                  <a:cs typeface="+mj-cs"/>
                  <a:sym typeface="Helvetica"/>
                </a:defRPr>
              </a:pPr>
            </a:p>
          </p:txBody>
        </p:sp>
        <p:sp>
          <p:nvSpPr>
            <p:cNvPr id="1540" name="Read shared metadata"/>
            <p:cNvSpPr txBox="1"/>
            <p:nvPr/>
          </p:nvSpPr>
          <p:spPr>
            <a:xfrm>
              <a:off x="719235" y="63500"/>
              <a:ext cx="218102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600">
                  <a:solidFill>
                    <a:srgbClr val="2D5093"/>
                  </a:solidFill>
                  <a:latin typeface="+mj-lt"/>
                  <a:ea typeface="+mj-ea"/>
                  <a:cs typeface="+mj-cs"/>
                  <a:sym typeface="Helvetica"/>
                </a:defRPr>
              </a:lvl1pPr>
            </a:lstStyle>
            <a:p>
              <a:pPr/>
              <a:r>
                <a:t>Read shared metadata</a:t>
              </a:r>
            </a:p>
          </p:txBody>
        </p:sp>
      </p:grpSp>
      <p:sp>
        <p:nvSpPr>
          <p:cNvPr id="1542" name="body-177"/>
          <p:cNvSpPr/>
          <p:nvPr/>
        </p:nvSpPr>
        <p:spPr>
          <a:xfrm>
            <a:off x="6184900" y="4978400"/>
            <a:ext cx="723900" cy="0"/>
          </a:xfrm>
          <a:prstGeom prst="line">
            <a:avLst/>
          </a:prstGeom>
          <a:ln w="20320">
            <a:solidFill>
              <a:srgbClr val="009A80"/>
            </a:solidFill>
          </a:ln>
        </p:spPr>
        <p:txBody>
          <a:bodyPr lIns="45718" tIns="45718" rIns="45718" bIns="45718"/>
          <a:lstStyle/>
          <a:p>
            <a:pPr/>
          </a:p>
        </p:txBody>
      </p:sp>
      <p:sp>
        <p:nvSpPr>
          <p:cNvPr id="1543" name="body-178"/>
          <p:cNvSpPr/>
          <p:nvPr/>
        </p:nvSpPr>
        <p:spPr>
          <a:xfrm>
            <a:off x="6908800" y="4978400"/>
            <a:ext cx="0" cy="571500"/>
          </a:xfrm>
          <a:prstGeom prst="line">
            <a:avLst/>
          </a:prstGeom>
          <a:ln w="20320">
            <a:solidFill>
              <a:srgbClr val="009A80"/>
            </a:solidFill>
          </a:ln>
        </p:spPr>
        <p:txBody>
          <a:bodyPr lIns="45718" tIns="45718" rIns="45718" bIns="45718"/>
          <a:lstStyle/>
          <a:p>
            <a:pPr/>
          </a:p>
        </p:txBody>
      </p:sp>
      <p:sp>
        <p:nvSpPr>
          <p:cNvPr id="1544" name="body-179"/>
          <p:cNvSpPr/>
          <p:nvPr/>
        </p:nvSpPr>
        <p:spPr>
          <a:xfrm>
            <a:off x="6908800" y="5461000"/>
            <a:ext cx="342900" cy="152400"/>
          </a:xfrm>
          <a:prstGeom prst="rightArrow">
            <a:avLst>
              <a:gd name="adj1" fmla="val 50000"/>
              <a:gd name="adj2" fmla="val 50000"/>
            </a:avLst>
          </a:prstGeom>
          <a:solidFill>
            <a:srgbClr val="009A80"/>
          </a:solidFill>
          <a:ln w="12700">
            <a:miter lim="400000"/>
          </a:ln>
        </p:spPr>
        <p:txBody>
          <a:bodyPr lIns="45718" tIns="45718" rIns="45718" bIns="45718"/>
          <a:lstStyle/>
          <a:p>
            <a:pPr>
              <a:defRPr>
                <a:latin typeface="+mj-lt"/>
                <a:ea typeface="+mj-ea"/>
                <a:cs typeface="+mj-cs"/>
                <a:sym typeface="Helvetica"/>
              </a:defRPr>
            </a:pPr>
          </a:p>
        </p:txBody>
      </p:sp>
      <p:grpSp>
        <p:nvGrpSpPr>
          <p:cNvPr id="1547" name="body-180"/>
          <p:cNvGrpSpPr/>
          <p:nvPr/>
        </p:nvGrpSpPr>
        <p:grpSpPr>
          <a:xfrm>
            <a:off x="7289800" y="5359400"/>
            <a:ext cx="3695700" cy="368300"/>
            <a:chOff x="0" y="0"/>
            <a:chExt cx="3695700" cy="368300"/>
          </a:xfrm>
        </p:grpSpPr>
        <p:sp>
          <p:nvSpPr>
            <p:cNvPr id="1545" name="Rounded Rectangle"/>
            <p:cNvSpPr/>
            <p:nvPr/>
          </p:nvSpPr>
          <p:spPr>
            <a:xfrm>
              <a:off x="0" y="0"/>
              <a:ext cx="3695700" cy="368300"/>
            </a:xfrm>
            <a:prstGeom prst="roundRect">
              <a:avLst>
                <a:gd name="adj" fmla="val 13793"/>
              </a:avLst>
            </a:prstGeom>
            <a:solidFill>
              <a:srgbClr val="EEF3F9"/>
            </a:solidFill>
            <a:ln w="13970" cap="flat">
              <a:solidFill>
                <a:srgbClr val="009A80"/>
              </a:solidFill>
              <a:prstDash val="solid"/>
              <a:round/>
            </a:ln>
            <a:effectLst/>
          </p:spPr>
          <p:txBody>
            <a:bodyPr wrap="square" lIns="45718" tIns="45718" rIns="45718" bIns="45718" numCol="1" anchor="ctr">
              <a:noAutofit/>
            </a:bodyPr>
            <a:lstStyle/>
            <a:p>
              <a:pPr algn="ctr">
                <a:defRPr b="1" sz="1600">
                  <a:solidFill>
                    <a:srgbClr val="009A80"/>
                  </a:solidFill>
                  <a:latin typeface="+mj-lt"/>
                  <a:ea typeface="+mj-ea"/>
                  <a:cs typeface="+mj-cs"/>
                  <a:sym typeface="Helvetica"/>
                </a:defRPr>
              </a:pPr>
            </a:p>
          </p:txBody>
        </p:sp>
        <p:sp>
          <p:nvSpPr>
            <p:cNvPr id="1546" name="Update rows + mappings"/>
            <p:cNvSpPr txBox="1"/>
            <p:nvPr/>
          </p:nvSpPr>
          <p:spPr>
            <a:xfrm>
              <a:off x="636189" y="63500"/>
              <a:ext cx="242332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1600">
                  <a:solidFill>
                    <a:srgbClr val="009A80"/>
                  </a:solidFill>
                  <a:latin typeface="+mj-lt"/>
                  <a:ea typeface="+mj-ea"/>
                  <a:cs typeface="+mj-cs"/>
                  <a:sym typeface="Helvetica"/>
                </a:defRPr>
              </a:lvl1pPr>
            </a:lstStyle>
            <a:p>
              <a:pPr/>
              <a:r>
                <a:t>Update rows + mappings</a:t>
              </a:r>
            </a:p>
          </p:txBody>
        </p:sp>
      </p:grpSp>
      <p:sp>
        <p:nvSpPr>
          <p:cNvPr id="1548" name="body-181"/>
          <p:cNvSpPr txBox="1"/>
          <p:nvPr/>
        </p:nvSpPr>
        <p:spPr>
          <a:xfrm>
            <a:off x="6223000" y="4629148"/>
            <a:ext cx="810791"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300">
                <a:solidFill>
                  <a:srgbClr val="009A80"/>
                </a:solidFill>
                <a:latin typeface="+mj-lt"/>
                <a:ea typeface="+mj-ea"/>
                <a:cs typeface="+mj-cs"/>
                <a:sym typeface="Helvetica"/>
              </a:defRPr>
            </a:lvl1pPr>
          </a:lstStyle>
          <a:p>
            <a:pPr/>
            <a:r>
              <a:t>read-done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3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32" presetID="4" grpId="2" fill="hold">
                                  <p:stCondLst>
                                    <p:cond delay="0"/>
                                  </p:stCondLst>
                                  <p:iterate type="el" backwards="0">
                                    <p:tmAbs val="0"/>
                                  </p:iterate>
                                  <p:childTnLst>
                                    <p:set>
                                      <p:cBhvr>
                                        <p:cTn id="9" fill="hold"/>
                                        <p:tgtEl>
                                          <p:spTgt spid="1536"/>
                                        </p:tgtEl>
                                        <p:attrNameLst>
                                          <p:attrName>style.visibility</p:attrName>
                                        </p:attrNameLst>
                                      </p:cBhvr>
                                      <p:to>
                                        <p:strVal val="visible"/>
                                      </p:to>
                                    </p:set>
                                    <p:animEffect filter="box(out)" transition="in">
                                      <p:cBhvr>
                                        <p:cTn id="10" dur="1000"/>
                                        <p:tgtEl>
                                          <p:spTgt spid="1536"/>
                                        </p:tgtEl>
                                      </p:cBhvr>
                                    </p:animEffect>
                                  </p:childTnLst>
                                </p:cTn>
                              </p:par>
                            </p:childTnLst>
                          </p:cTn>
                        </p:par>
                        <p:par>
                          <p:cTn id="11" fill="hold">
                            <p:stCondLst>
                              <p:cond delay="1000"/>
                            </p:stCondLst>
                            <p:childTnLst>
                              <p:par>
                                <p:cTn id="12" presetClass="entr" nodeType="afterEffect" presetSubtype="32" presetID="4" grpId="3" fill="hold">
                                  <p:stCondLst>
                                    <p:cond delay="0"/>
                                  </p:stCondLst>
                                  <p:iterate type="el" backwards="0">
                                    <p:tmAbs val="0"/>
                                  </p:iterate>
                                  <p:childTnLst>
                                    <p:set>
                                      <p:cBhvr>
                                        <p:cTn id="13" fill="hold"/>
                                        <p:tgtEl>
                                          <p:spTgt spid="1537"/>
                                        </p:tgtEl>
                                        <p:attrNameLst>
                                          <p:attrName>style.visibility</p:attrName>
                                        </p:attrNameLst>
                                      </p:cBhvr>
                                      <p:to>
                                        <p:strVal val="visible"/>
                                      </p:to>
                                    </p:set>
                                    <p:animEffect filter="box(out)" transition="in">
                                      <p:cBhvr>
                                        <p:cTn id="14" dur="1000"/>
                                        <p:tgtEl>
                                          <p:spTgt spid="1537"/>
                                        </p:tgtEl>
                                      </p:cBhvr>
                                    </p:animEffect>
                                  </p:childTnLst>
                                </p:cTn>
                              </p:par>
                            </p:childTnLst>
                          </p:cTn>
                        </p:par>
                        <p:par>
                          <p:cTn id="15" fill="hold">
                            <p:stCondLst>
                              <p:cond delay="2000"/>
                            </p:stCondLst>
                            <p:childTnLst>
                              <p:par>
                                <p:cTn id="16" presetClass="entr" nodeType="afterEffect" presetSubtype="32" presetID="4" grpId="4" fill="hold">
                                  <p:stCondLst>
                                    <p:cond delay="0"/>
                                  </p:stCondLst>
                                  <p:iterate type="el" backwards="0">
                                    <p:tmAbs val="0"/>
                                  </p:iterate>
                                  <p:childTnLst>
                                    <p:set>
                                      <p:cBhvr>
                                        <p:cTn id="17" fill="hold"/>
                                        <p:tgtEl>
                                          <p:spTgt spid="1538"/>
                                        </p:tgtEl>
                                        <p:attrNameLst>
                                          <p:attrName>style.visibility</p:attrName>
                                        </p:attrNameLst>
                                      </p:cBhvr>
                                      <p:to>
                                        <p:strVal val="visible"/>
                                      </p:to>
                                    </p:set>
                                    <p:animEffect filter="box(out)" transition="in">
                                      <p:cBhvr>
                                        <p:cTn id="18" dur="1000"/>
                                        <p:tgtEl>
                                          <p:spTgt spid="1538"/>
                                        </p:tgtEl>
                                      </p:cBhvr>
                                    </p:animEffect>
                                  </p:childTnLst>
                                </p:cTn>
                              </p:par>
                            </p:childTnLst>
                          </p:cTn>
                        </p:par>
                        <p:par>
                          <p:cTn id="19" fill="hold">
                            <p:stCondLst>
                              <p:cond delay="3000"/>
                            </p:stCondLst>
                            <p:childTnLst>
                              <p:par>
                                <p:cTn id="20" presetClass="entr" nodeType="afterEffect" presetSubtype="32" presetID="4" grpId="5" fill="hold">
                                  <p:stCondLst>
                                    <p:cond delay="0"/>
                                  </p:stCondLst>
                                  <p:iterate type="el" backwards="0">
                                    <p:tmAbs val="0"/>
                                  </p:iterate>
                                  <p:childTnLst>
                                    <p:set>
                                      <p:cBhvr>
                                        <p:cTn id="21" fill="hold"/>
                                        <p:tgtEl>
                                          <p:spTgt spid="1541"/>
                                        </p:tgtEl>
                                        <p:attrNameLst>
                                          <p:attrName>style.visibility</p:attrName>
                                        </p:attrNameLst>
                                      </p:cBhvr>
                                      <p:to>
                                        <p:strVal val="visible"/>
                                      </p:to>
                                    </p:set>
                                    <p:animEffect filter="box(out)" transition="in">
                                      <p:cBhvr>
                                        <p:cTn id="22" dur="1000"/>
                                        <p:tgtEl>
                                          <p:spTgt spid="154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32" presetID="4" grpId="6" fill="hold">
                                  <p:stCondLst>
                                    <p:cond delay="0"/>
                                  </p:stCondLst>
                                  <p:iterate type="el" backwards="0">
                                    <p:tmAbs val="0"/>
                                  </p:iterate>
                                  <p:childTnLst>
                                    <p:set>
                                      <p:cBhvr>
                                        <p:cTn id="26" fill="hold"/>
                                        <p:tgtEl>
                                          <p:spTgt spid="1542"/>
                                        </p:tgtEl>
                                        <p:attrNameLst>
                                          <p:attrName>style.visibility</p:attrName>
                                        </p:attrNameLst>
                                      </p:cBhvr>
                                      <p:to>
                                        <p:strVal val="visible"/>
                                      </p:to>
                                    </p:set>
                                    <p:animEffect filter="box(out)" transition="in">
                                      <p:cBhvr>
                                        <p:cTn id="27" dur="1000"/>
                                        <p:tgtEl>
                                          <p:spTgt spid="1542"/>
                                        </p:tgtEl>
                                      </p:cBhvr>
                                    </p:animEffect>
                                  </p:childTnLst>
                                </p:cTn>
                              </p:par>
                            </p:childTnLst>
                          </p:cTn>
                        </p:par>
                        <p:par>
                          <p:cTn id="28" fill="hold">
                            <p:stCondLst>
                              <p:cond delay="1000"/>
                            </p:stCondLst>
                            <p:childTnLst>
                              <p:par>
                                <p:cTn id="29" presetClass="entr" nodeType="afterEffect" presetSubtype="32" presetID="4" grpId="7" fill="hold">
                                  <p:stCondLst>
                                    <p:cond delay="0"/>
                                  </p:stCondLst>
                                  <p:iterate type="el" backwards="0">
                                    <p:tmAbs val="0"/>
                                  </p:iterate>
                                  <p:childTnLst>
                                    <p:set>
                                      <p:cBhvr>
                                        <p:cTn id="30" fill="hold"/>
                                        <p:tgtEl>
                                          <p:spTgt spid="1543"/>
                                        </p:tgtEl>
                                        <p:attrNameLst>
                                          <p:attrName>style.visibility</p:attrName>
                                        </p:attrNameLst>
                                      </p:cBhvr>
                                      <p:to>
                                        <p:strVal val="visible"/>
                                      </p:to>
                                    </p:set>
                                    <p:animEffect filter="box(out)" transition="in">
                                      <p:cBhvr>
                                        <p:cTn id="31" dur="1000"/>
                                        <p:tgtEl>
                                          <p:spTgt spid="1543"/>
                                        </p:tgtEl>
                                      </p:cBhvr>
                                    </p:animEffect>
                                  </p:childTnLst>
                                </p:cTn>
                              </p:par>
                            </p:childTnLst>
                          </p:cTn>
                        </p:par>
                        <p:par>
                          <p:cTn id="32" fill="hold">
                            <p:stCondLst>
                              <p:cond delay="2000"/>
                            </p:stCondLst>
                            <p:childTnLst>
                              <p:par>
                                <p:cTn id="33" presetClass="entr" nodeType="afterEffect" presetSubtype="32" presetID="4" grpId="8" fill="hold">
                                  <p:stCondLst>
                                    <p:cond delay="0"/>
                                  </p:stCondLst>
                                  <p:iterate type="el" backwards="0">
                                    <p:tmAbs val="0"/>
                                  </p:iterate>
                                  <p:childTnLst>
                                    <p:set>
                                      <p:cBhvr>
                                        <p:cTn id="34" fill="hold"/>
                                        <p:tgtEl>
                                          <p:spTgt spid="1544"/>
                                        </p:tgtEl>
                                        <p:attrNameLst>
                                          <p:attrName>style.visibility</p:attrName>
                                        </p:attrNameLst>
                                      </p:cBhvr>
                                      <p:to>
                                        <p:strVal val="visible"/>
                                      </p:to>
                                    </p:set>
                                    <p:animEffect filter="box(out)" transition="in">
                                      <p:cBhvr>
                                        <p:cTn id="35" dur="1000"/>
                                        <p:tgtEl>
                                          <p:spTgt spid="1544"/>
                                        </p:tgtEl>
                                      </p:cBhvr>
                                    </p:animEffect>
                                  </p:childTnLst>
                                </p:cTn>
                              </p:par>
                            </p:childTnLst>
                          </p:cTn>
                        </p:par>
                        <p:par>
                          <p:cTn id="36" fill="hold">
                            <p:stCondLst>
                              <p:cond delay="3000"/>
                            </p:stCondLst>
                            <p:childTnLst>
                              <p:par>
                                <p:cTn id="37" presetClass="entr" nodeType="afterEffect" presetSubtype="32" presetID="4" grpId="9" fill="hold">
                                  <p:stCondLst>
                                    <p:cond delay="0"/>
                                  </p:stCondLst>
                                  <p:iterate type="el" backwards="0">
                                    <p:tmAbs val="0"/>
                                  </p:iterate>
                                  <p:childTnLst>
                                    <p:set>
                                      <p:cBhvr>
                                        <p:cTn id="38" fill="hold"/>
                                        <p:tgtEl>
                                          <p:spTgt spid="1547"/>
                                        </p:tgtEl>
                                        <p:attrNameLst>
                                          <p:attrName>style.visibility</p:attrName>
                                        </p:attrNameLst>
                                      </p:cBhvr>
                                      <p:to>
                                        <p:strVal val="visible"/>
                                      </p:to>
                                    </p:set>
                                    <p:animEffect filter="box(out)" transition="in">
                                      <p:cBhvr>
                                        <p:cTn id="39" dur="1000"/>
                                        <p:tgtEl>
                                          <p:spTgt spid="1547"/>
                                        </p:tgtEl>
                                      </p:cBhvr>
                                    </p:animEffect>
                                  </p:childTnLst>
                                </p:cTn>
                              </p:par>
                            </p:childTnLst>
                          </p:cTn>
                        </p:par>
                        <p:par>
                          <p:cTn id="40" fill="hold">
                            <p:stCondLst>
                              <p:cond delay="4000"/>
                            </p:stCondLst>
                            <p:childTnLst>
                              <p:par>
                                <p:cTn id="41" presetClass="entr" nodeType="afterEffect" presetSubtype="32" presetID="4" grpId="10" fill="hold">
                                  <p:stCondLst>
                                    <p:cond delay="0"/>
                                  </p:stCondLst>
                                  <p:iterate type="el" backwards="0">
                                    <p:tmAbs val="0"/>
                                  </p:iterate>
                                  <p:childTnLst>
                                    <p:set>
                                      <p:cBhvr>
                                        <p:cTn id="42" fill="hold"/>
                                        <p:tgtEl>
                                          <p:spTgt spid="1548"/>
                                        </p:tgtEl>
                                        <p:attrNameLst>
                                          <p:attrName>style.visibility</p:attrName>
                                        </p:attrNameLst>
                                      </p:cBhvr>
                                      <p:to>
                                        <p:strVal val="visible"/>
                                      </p:to>
                                    </p:set>
                                    <p:animEffect filter="box(out)" transition="in">
                                      <p:cBhvr>
                                        <p:cTn id="43" dur="1000"/>
                                        <p:tgtEl>
                                          <p:spTgt spid="15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48" grpId="10"/>
      <p:bldP build="whole" bldLvl="1" animBg="1" rev="0" advAuto="0" spid="1541" grpId="5"/>
      <p:bldP build="whole" bldLvl="1" animBg="1" rev="0" advAuto="0" spid="1535" grpId="1"/>
      <p:bldP build="whole" bldLvl="1" animBg="1" rev="0" advAuto="0" spid="1544" grpId="8"/>
      <p:bldP build="whole" bldLvl="1" animBg="1" rev="0" advAuto="0" spid="1538" grpId="4"/>
      <p:bldP build="whole" bldLvl="1" animBg="1" rev="0" advAuto="0" spid="1543" grpId="7"/>
      <p:bldP build="whole" bldLvl="1" animBg="1" rev="0" advAuto="0" spid="1542" grpId="6"/>
      <p:bldP build="whole" bldLvl="1" animBg="1" rev="0" advAuto="0" spid="1536" grpId="2"/>
      <p:bldP build="whole" bldLvl="1" animBg="1" rev="0" advAuto="0" spid="1537" grpId="3"/>
      <p:bldP build="whole" bldLvl="1" animBg="1" rev="0" advAuto="0" spid="1547" grpId="9"/>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2" name="标题 2"/>
          <p:cNvSpPr txBox="1"/>
          <p:nvPr>
            <p:ph type="title"/>
          </p:nvPr>
        </p:nvSpPr>
        <p:spPr>
          <a:xfrm>
            <a:off x="421004" y="825500"/>
            <a:ext cx="3550923" cy="2812415"/>
          </a:xfrm>
          <a:prstGeom prst="rect">
            <a:avLst/>
          </a:prstGeom>
        </p:spPr>
        <p:txBody>
          <a:bodyPr/>
          <a:lstStyle>
            <a:lvl1pPr defTabSz="813816">
              <a:defRPr sz="17800"/>
            </a:lvl1pPr>
          </a:lstStyle>
          <a:p>
            <a:pPr/>
            <a:r>
              <a:t>05</a:t>
            </a:r>
          </a:p>
        </p:txBody>
      </p:sp>
      <p:sp>
        <p:nvSpPr>
          <p:cNvPr id="1553" name="文本占位符 1"/>
          <p:cNvSpPr txBox="1"/>
          <p:nvPr>
            <p:ph type="body" sz="quarter" idx="1"/>
          </p:nvPr>
        </p:nvSpPr>
        <p:spPr>
          <a:xfrm>
            <a:off x="569208" y="2821714"/>
            <a:ext cx="8887195" cy="860045"/>
          </a:xfrm>
          <a:prstGeom prst="rect">
            <a:avLst/>
          </a:prstGeom>
        </p:spPr>
        <p:txBody>
          <a:bodyPr/>
          <a:lstStyle>
            <a:lvl1pPr defTabSz="886967">
              <a:spcBef>
                <a:spcPts val="900"/>
              </a:spcBef>
              <a:defRPr sz="5200">
                <a:effectLst>
                  <a:outerShdw sx="100000" sy="100000" kx="0" ky="0" algn="b" rotWithShape="0" blurRad="38100" dist="36957" dir="2700000">
                    <a:srgbClr val="000000">
                      <a:alpha val="43137"/>
                    </a:srgbClr>
                  </a:outerShdw>
                </a:effectLst>
                <a:latin typeface="+mj-lt"/>
                <a:ea typeface="+mj-ea"/>
                <a:cs typeface="+mj-cs"/>
                <a:sym typeface="Helvetica"/>
              </a:defRPr>
            </a:lvl1pPr>
          </a:lstStyle>
          <a:p>
            <a:pPr/>
            <a:r>
              <a:t>Real-Workload Results</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57"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558"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graphicFrame>
        <p:nvGraphicFramePr>
          <p:cNvPr id="1559" name="Chart"/>
          <p:cNvGraphicFramePr/>
          <p:nvPr/>
        </p:nvGraphicFramePr>
        <p:xfrm>
          <a:off x="441935" y="2364621"/>
          <a:ext cx="4847520" cy="2168591"/>
        </p:xfrm>
        <a:graphic xmlns:a="http://schemas.openxmlformats.org/drawingml/2006/main">
          <a:graphicData uri="http://schemas.openxmlformats.org/drawingml/2006/chart">
            <c:chart xmlns:c="http://schemas.openxmlformats.org/drawingml/2006/chart" r:id="rId5"/>
          </a:graphicData>
        </a:graphic>
      </p:graphicFrame>
      <p:graphicFrame>
        <p:nvGraphicFramePr>
          <p:cNvPr id="1560" name="Chart"/>
          <p:cNvGraphicFramePr/>
          <p:nvPr/>
        </p:nvGraphicFramePr>
        <p:xfrm>
          <a:off x="5979135" y="2364621"/>
          <a:ext cx="4600722" cy="2168591"/>
        </p:xfrm>
        <a:graphic xmlns:a="http://schemas.openxmlformats.org/drawingml/2006/main">
          <a:graphicData uri="http://schemas.openxmlformats.org/drawingml/2006/chart">
            <c:chart xmlns:c="http://schemas.openxmlformats.org/drawingml/2006/chart" r:id="rId6"/>
          </a:graphicData>
        </a:graphic>
      </p:graphicFrame>
      <p:sp>
        <p:nvSpPr>
          <p:cNvPr id="1561" name="TextBox 1"/>
          <p:cNvSpPr txBox="1"/>
          <p:nvPr/>
        </p:nvSpPr>
        <p:spPr>
          <a:xfrm>
            <a:off x="247650" y="246701"/>
            <a:ext cx="8982075" cy="3828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Arial"/>
                <a:ea typeface="Arial"/>
                <a:cs typeface="Arial"/>
                <a:sym typeface="Arial"/>
              </a:defRPr>
            </a:lvl1pPr>
          </a:lstStyle>
          <a:p>
            <a:pPr/>
            <a:r>
              <a:t>HiCache Results: Hybrid Models</a:t>
            </a:r>
          </a:p>
        </p:txBody>
      </p:sp>
      <p:sp>
        <p:nvSpPr>
          <p:cNvPr id="1562"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30</a:t>
            </a:r>
          </a:p>
        </p:txBody>
      </p:sp>
      <p:sp>
        <p:nvSpPr>
          <p:cNvPr id="1563" name="body-1"/>
          <p:cNvSpPr txBox="1"/>
          <p:nvPr/>
        </p:nvSpPr>
        <p:spPr>
          <a:xfrm>
            <a:off x="812800" y="1003299"/>
            <a:ext cx="6700540"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Effective input throughput · k tokens/s (including cache hits)</a:t>
            </a:r>
          </a:p>
        </p:txBody>
      </p:sp>
      <p:sp>
        <p:nvSpPr>
          <p:cNvPr id="1564" name="body-2"/>
          <p:cNvSpPr txBox="1"/>
          <p:nvPr/>
        </p:nvSpPr>
        <p:spPr>
          <a:xfrm>
            <a:off x="812799" y="1612899"/>
            <a:ext cx="1752180" cy="355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300">
                <a:solidFill>
                  <a:srgbClr val="2D5093"/>
                </a:solidFill>
                <a:latin typeface="+mj-lt"/>
                <a:ea typeface="+mj-ea"/>
                <a:cs typeface="+mj-cs"/>
                <a:sym typeface="Helvetica"/>
              </a:defRPr>
            </a:lvl1pPr>
          </a:lstStyle>
          <a:p>
            <a:pPr/>
            <a:r>
              <a:t>FULL + SWA</a:t>
            </a:r>
          </a:p>
        </p:txBody>
      </p:sp>
      <p:sp>
        <p:nvSpPr>
          <p:cNvPr id="1565" name="body-3"/>
          <p:cNvSpPr txBox="1"/>
          <p:nvPr/>
        </p:nvSpPr>
        <p:spPr>
          <a:xfrm>
            <a:off x="6350000" y="1612899"/>
            <a:ext cx="3193852" cy="355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300">
                <a:solidFill>
                  <a:srgbClr val="2D5093"/>
                </a:solidFill>
                <a:latin typeface="+mj-lt"/>
                <a:ea typeface="+mj-ea"/>
                <a:cs typeface="+mj-cs"/>
                <a:sym typeface="Helvetica"/>
              </a:defRPr>
            </a:lvl1pPr>
          </a:lstStyle>
          <a:p>
            <a:pPr/>
            <a:r>
              <a:t>FULL + SWA + MAMBA</a:t>
            </a:r>
          </a:p>
        </p:txBody>
      </p:sp>
      <p:sp>
        <p:nvSpPr>
          <p:cNvPr id="1566" name="body-4"/>
          <p:cNvSpPr txBox="1"/>
          <p:nvPr/>
        </p:nvSpPr>
        <p:spPr>
          <a:xfrm>
            <a:off x="812800" y="2070100"/>
            <a:ext cx="1842393"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DeepSeek-V4-Flash</a:t>
            </a:r>
          </a:p>
        </p:txBody>
      </p:sp>
      <p:sp>
        <p:nvSpPr>
          <p:cNvPr id="1567" name="body-5"/>
          <p:cNvSpPr txBox="1"/>
          <p:nvPr/>
        </p:nvSpPr>
        <p:spPr>
          <a:xfrm>
            <a:off x="6350000" y="2070100"/>
            <a:ext cx="1175842"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Inkling-Small</a:t>
            </a:r>
          </a:p>
        </p:txBody>
      </p:sp>
      <p:sp>
        <p:nvSpPr>
          <p:cNvPr id="1568" name="body-6"/>
          <p:cNvSpPr txBox="1"/>
          <p:nvPr/>
        </p:nvSpPr>
        <p:spPr>
          <a:xfrm>
            <a:off x="2722274" y="2076450"/>
            <a:ext cx="2495992"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4×H200 · 48 clients · 60 turns</a:t>
            </a:r>
          </a:p>
        </p:txBody>
      </p:sp>
      <p:sp>
        <p:nvSpPr>
          <p:cNvPr id="1569" name="body-7"/>
          <p:cNvSpPr txBox="1"/>
          <p:nvPr/>
        </p:nvSpPr>
        <p:spPr>
          <a:xfrm>
            <a:off x="7619800" y="2076450"/>
            <a:ext cx="2495991"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5C7392"/>
                </a:solidFill>
                <a:latin typeface="+mj-lt"/>
                <a:ea typeface="+mj-ea"/>
                <a:cs typeface="+mj-cs"/>
                <a:sym typeface="Helvetica"/>
              </a:defRPr>
            </a:lvl1pPr>
          </a:lstStyle>
          <a:p>
            <a:pPr/>
            <a:r>
              <a:t>8×H200 · 64 clients · 30 turns</a:t>
            </a:r>
          </a:p>
        </p:txBody>
      </p:sp>
      <p:sp>
        <p:nvSpPr>
          <p:cNvPr id="1570" name="body-8"/>
          <p:cNvSpPr/>
          <p:nvPr/>
        </p:nvSpPr>
        <p:spPr>
          <a:xfrm flipH="1">
            <a:off x="6095999" y="1625600"/>
            <a:ext cx="1" cy="3810000"/>
          </a:xfrm>
          <a:prstGeom prst="line">
            <a:avLst/>
          </a:prstGeom>
          <a:ln w="12700">
            <a:solidFill>
              <a:srgbClr val="B9CCE4"/>
            </a:solidFill>
          </a:ln>
        </p:spPr>
        <p:txBody>
          <a:bodyPr lIns="45718" tIns="45718" rIns="45718" bIns="45718"/>
          <a:lstStyle/>
          <a:p>
            <a:pPr/>
          </a:p>
        </p:txBody>
      </p:sp>
      <p:sp>
        <p:nvSpPr>
          <p:cNvPr id="1571" name="body-9"/>
          <p:cNvSpPr txBox="1"/>
          <p:nvPr/>
        </p:nvSpPr>
        <p:spPr>
          <a:xfrm>
            <a:off x="1257300" y="4768848"/>
            <a:ext cx="1113917" cy="520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3400">
                <a:solidFill>
                  <a:srgbClr val="009A80"/>
                </a:solidFill>
                <a:latin typeface="+mj-lt"/>
                <a:ea typeface="+mj-ea"/>
                <a:cs typeface="+mj-cs"/>
                <a:sym typeface="Helvetica"/>
              </a:defRPr>
            </a:lvl1pPr>
          </a:lstStyle>
          <a:p>
            <a:pPr/>
            <a:r>
              <a:t>≈98%</a:t>
            </a:r>
          </a:p>
        </p:txBody>
      </p:sp>
      <p:sp>
        <p:nvSpPr>
          <p:cNvPr id="1572" name="body-10"/>
          <p:cNvSpPr txBox="1"/>
          <p:nvPr/>
        </p:nvSpPr>
        <p:spPr>
          <a:xfrm>
            <a:off x="3657600" y="4768848"/>
            <a:ext cx="985094" cy="520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3400">
                <a:solidFill>
                  <a:srgbClr val="2D5093"/>
                </a:solidFill>
                <a:latin typeface="+mj-lt"/>
                <a:ea typeface="+mj-ea"/>
                <a:cs typeface="+mj-cs"/>
                <a:sym typeface="Helvetica"/>
              </a:defRPr>
            </a:lvl1pPr>
          </a:lstStyle>
          <a:p>
            <a:pPr/>
            <a:r>
              <a:t>&lt; 9 s</a:t>
            </a:r>
          </a:p>
        </p:txBody>
      </p:sp>
      <p:sp>
        <p:nvSpPr>
          <p:cNvPr id="1573" name="body-11"/>
          <p:cNvSpPr txBox="1"/>
          <p:nvPr/>
        </p:nvSpPr>
        <p:spPr>
          <a:xfrm>
            <a:off x="1257300" y="5333999"/>
            <a:ext cx="1473914"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009A80"/>
                </a:solidFill>
                <a:latin typeface="+mj-lt"/>
                <a:ea typeface="+mj-ea"/>
                <a:cs typeface="+mj-cs"/>
                <a:sym typeface="Helvetica"/>
              </a:defRPr>
            </a:lvl1pPr>
          </a:lstStyle>
          <a:p>
            <a:pPr/>
            <a:r>
              <a:t>Later-turn hit rate</a:t>
            </a:r>
          </a:p>
        </p:txBody>
      </p:sp>
      <p:sp>
        <p:nvSpPr>
          <p:cNvPr id="1574" name="body-12"/>
          <p:cNvSpPr txBox="1"/>
          <p:nvPr/>
        </p:nvSpPr>
        <p:spPr>
          <a:xfrm>
            <a:off x="3657600" y="5333999"/>
            <a:ext cx="1004268"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2D5093"/>
                </a:solidFill>
                <a:latin typeface="+mj-lt"/>
                <a:ea typeface="+mj-ea"/>
                <a:cs typeface="+mj-cs"/>
                <a:sym typeface="Helvetica"/>
              </a:defRPr>
            </a:lvl1pPr>
          </a:lstStyle>
          <a:p>
            <a:pPr/>
            <a:r>
              <a:t>Mean TTFT</a:t>
            </a:r>
          </a:p>
        </p:txBody>
      </p:sp>
      <p:sp>
        <p:nvSpPr>
          <p:cNvPr id="1575" name="body-13"/>
          <p:cNvSpPr txBox="1"/>
          <p:nvPr/>
        </p:nvSpPr>
        <p:spPr>
          <a:xfrm>
            <a:off x="6794500" y="4768848"/>
            <a:ext cx="1237047" cy="520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3400">
                <a:solidFill>
                  <a:srgbClr val="009A80"/>
                </a:solidFill>
                <a:latin typeface="+mj-lt"/>
                <a:ea typeface="+mj-ea"/>
                <a:cs typeface="+mj-cs"/>
                <a:sym typeface="Helvetica"/>
              </a:defRPr>
            </a:lvl1pPr>
          </a:lstStyle>
          <a:p>
            <a:pPr/>
            <a:r>
              <a:t>96.8%</a:t>
            </a:r>
          </a:p>
        </p:txBody>
      </p:sp>
      <p:sp>
        <p:nvSpPr>
          <p:cNvPr id="1576" name="body-14"/>
          <p:cNvSpPr txBox="1"/>
          <p:nvPr/>
        </p:nvSpPr>
        <p:spPr>
          <a:xfrm>
            <a:off x="9309100" y="4768848"/>
            <a:ext cx="1213223" cy="520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3400">
                <a:solidFill>
                  <a:srgbClr val="2D5093"/>
                </a:solidFill>
                <a:latin typeface="+mj-lt"/>
                <a:ea typeface="+mj-ea"/>
                <a:cs typeface="+mj-cs"/>
                <a:sym typeface="Helvetica"/>
              </a:defRPr>
            </a:lvl1pPr>
          </a:lstStyle>
          <a:p>
            <a:pPr/>
            <a:r>
              <a:t>1.23 s</a:t>
            </a:r>
          </a:p>
        </p:txBody>
      </p:sp>
      <p:sp>
        <p:nvSpPr>
          <p:cNvPr id="1577" name="body-15"/>
          <p:cNvSpPr txBox="1"/>
          <p:nvPr/>
        </p:nvSpPr>
        <p:spPr>
          <a:xfrm>
            <a:off x="6794500" y="5333999"/>
            <a:ext cx="1060916"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009A80"/>
                </a:solidFill>
                <a:latin typeface="+mj-lt"/>
                <a:ea typeface="+mj-ea"/>
                <a:cs typeface="+mj-cs"/>
                <a:sym typeface="Helvetica"/>
              </a:defRPr>
            </a:lvl1pPr>
          </a:lstStyle>
          <a:p>
            <a:pPr/>
            <a:r>
              <a:t>Final hit rate</a:t>
            </a:r>
          </a:p>
        </p:txBody>
      </p:sp>
      <p:sp>
        <p:nvSpPr>
          <p:cNvPr id="1578" name="body-16"/>
          <p:cNvSpPr txBox="1"/>
          <p:nvPr/>
        </p:nvSpPr>
        <p:spPr>
          <a:xfrm>
            <a:off x="9309100" y="5333999"/>
            <a:ext cx="1004268"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500">
                <a:solidFill>
                  <a:srgbClr val="2D5093"/>
                </a:solidFill>
                <a:latin typeface="+mj-lt"/>
                <a:ea typeface="+mj-ea"/>
                <a:cs typeface="+mj-cs"/>
                <a:sym typeface="Helvetica"/>
              </a:defRPr>
            </a:lvl1pPr>
          </a:lstStyle>
          <a:p>
            <a:pPr/>
            <a:r>
              <a:t>Mean TTFT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2"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Independent Results: Recurrent Checkpoint Reuse</a:t>
            </a:r>
          </a:p>
        </p:txBody>
      </p:sp>
      <p:sp>
        <p:nvSpPr>
          <p:cNvPr id="1583"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31</a:t>
            </a:r>
          </a:p>
        </p:txBody>
      </p:sp>
      <p:pic>
        <p:nvPicPr>
          <p:cNvPr id="1584"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585"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586" name="SemiAnalysis · Real agentic coding traces"/>
          <p:cNvSpPr txBox="1"/>
          <p:nvPr/>
        </p:nvSpPr>
        <p:spPr>
          <a:xfrm>
            <a:off x="812800" y="1003300"/>
            <a:ext cx="4993401" cy="29607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100">
                <a:solidFill>
                  <a:srgbClr val="2D5093"/>
                </a:solidFill>
                <a:latin typeface="Arial"/>
                <a:ea typeface="Arial"/>
                <a:cs typeface="Arial"/>
                <a:sym typeface="Arial"/>
              </a:defRPr>
            </a:lvl1pPr>
          </a:lstStyle>
          <a:p>
            <a:pPr/>
            <a:r>
              <a:t>SemiAnalysis · Real agentic coding traces</a:t>
            </a:r>
          </a:p>
        </p:txBody>
      </p:sp>
      <p:sp>
        <p:nvSpPr>
          <p:cNvPr id="1587" name="Throughput (tok/s/GPU)"/>
          <p:cNvSpPr txBox="1"/>
          <p:nvPr/>
        </p:nvSpPr>
        <p:spPr>
          <a:xfrm>
            <a:off x="1016000" y="1752600"/>
            <a:ext cx="2304530" cy="24693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700">
                <a:solidFill>
                  <a:srgbClr val="576E89"/>
                </a:solidFill>
                <a:latin typeface="Arial"/>
                <a:ea typeface="Arial"/>
                <a:cs typeface="Arial"/>
                <a:sym typeface="Arial"/>
              </a:defRPr>
            </a:lvl1pPr>
          </a:lstStyle>
          <a:p>
            <a:pPr/>
            <a:r>
              <a:t>Throughput (tok/s/GPU)</a:t>
            </a:r>
          </a:p>
        </p:txBody>
      </p:sp>
      <p:graphicFrame>
        <p:nvGraphicFramePr>
          <p:cNvPr id="1588" name="Chart"/>
          <p:cNvGraphicFramePr/>
          <p:nvPr/>
        </p:nvGraphicFramePr>
        <p:xfrm>
          <a:off x="1039766" y="2004103"/>
          <a:ext cx="6585243" cy="3898560"/>
        </p:xfrm>
        <a:graphic xmlns:a="http://schemas.openxmlformats.org/drawingml/2006/main">
          <a:graphicData uri="http://schemas.openxmlformats.org/drawingml/2006/chart">
            <c:chart xmlns:c="http://schemas.openxmlformats.org/drawingml/2006/chart" r:id="rId5"/>
          </a:graphicData>
        </a:graphic>
      </p:graphicFrame>
      <p:sp>
        <p:nvSpPr>
          <p:cNvPr id="1589" name="+11%"/>
          <p:cNvSpPr txBox="1"/>
          <p:nvPr/>
        </p:nvSpPr>
        <p:spPr>
          <a:xfrm>
            <a:off x="8686800" y="2565400"/>
            <a:ext cx="1490886" cy="6666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4600">
                <a:solidFill>
                  <a:srgbClr val="009A80"/>
                </a:solidFill>
                <a:latin typeface="Arial"/>
                <a:ea typeface="Arial"/>
                <a:cs typeface="Arial"/>
                <a:sym typeface="Arial"/>
              </a:defRPr>
            </a:lvl1pPr>
          </a:lstStyle>
          <a:p>
            <a:pPr/>
            <a:r>
              <a:t>+11%</a:t>
            </a:r>
          </a:p>
        </p:txBody>
      </p:sp>
      <p:sp>
        <p:nvSpPr>
          <p:cNvPr id="1590" name="Throughput gain"/>
          <p:cNvSpPr txBox="1"/>
          <p:nvPr/>
        </p:nvSpPr>
        <p:spPr>
          <a:xfrm>
            <a:off x="8686800" y="3403600"/>
            <a:ext cx="1770137" cy="2715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900">
                <a:solidFill>
                  <a:srgbClr val="223854"/>
                </a:solidFill>
                <a:latin typeface="Arial"/>
                <a:ea typeface="Arial"/>
                <a:cs typeface="Arial"/>
                <a:sym typeface="Arial"/>
              </a:defRPr>
            </a:lvl1pPr>
          </a:lstStyle>
          <a:p>
            <a:pPr/>
            <a:r>
              <a:t>Throughput gain</a:t>
            </a:r>
          </a:p>
        </p:txBody>
      </p:sp>
      <p:sp>
        <p:nvSpPr>
          <p:cNvPr id="1591" name="92.4%"/>
          <p:cNvSpPr txBox="1"/>
          <p:nvPr/>
        </p:nvSpPr>
        <p:spPr>
          <a:xfrm>
            <a:off x="8686800" y="4241800"/>
            <a:ext cx="1669170" cy="6666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4600">
                <a:solidFill>
                  <a:srgbClr val="009A80"/>
                </a:solidFill>
                <a:latin typeface="Arial"/>
                <a:ea typeface="Arial"/>
                <a:cs typeface="Arial"/>
                <a:sym typeface="Arial"/>
              </a:defRPr>
            </a:lvl1pPr>
          </a:lstStyle>
          <a:p>
            <a:pPr/>
            <a:r>
              <a:t>92.4%</a:t>
            </a:r>
          </a:p>
        </p:txBody>
      </p:sp>
      <p:sp>
        <p:nvSpPr>
          <p:cNvPr id="1592" name="Cache-hit rate"/>
          <p:cNvSpPr txBox="1"/>
          <p:nvPr/>
        </p:nvSpPr>
        <p:spPr>
          <a:xfrm>
            <a:off x="8686800" y="5080000"/>
            <a:ext cx="1528248" cy="2715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900">
                <a:solidFill>
                  <a:srgbClr val="223854"/>
                </a:solidFill>
                <a:latin typeface="Arial"/>
                <a:ea typeface="Arial"/>
                <a:cs typeface="Arial"/>
                <a:sym typeface="Arial"/>
              </a:defRPr>
            </a:lvl1pPr>
          </a:lstStyle>
          <a:p>
            <a:pPr/>
            <a:r>
              <a:t>Cache-hit rate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6"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Next: Context Caching Across the Serving Stack</a:t>
            </a:r>
          </a:p>
        </p:txBody>
      </p:sp>
      <p:sp>
        <p:nvSpPr>
          <p:cNvPr id="1597" name="TextBox 3"/>
          <p:cNvSpPr txBox="1"/>
          <p:nvPr/>
        </p:nvSpPr>
        <p:spPr>
          <a:xfrm>
            <a:off x="11382375" y="6073772"/>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32</a:t>
            </a:r>
          </a:p>
        </p:txBody>
      </p:sp>
      <p:pic>
        <p:nvPicPr>
          <p:cNvPr id="1598"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599" name="图片 45" descr="图片 45"/>
          <p:cNvPicPr>
            <a:picLocks noChangeAspect="1"/>
          </p:cNvPicPr>
          <p:nvPr/>
        </p:nvPicPr>
        <p:blipFill>
          <a:blip r:embed="rId4">
            <a:extLst/>
          </a:blip>
          <a:stretch>
            <a:fillRect/>
          </a:stretch>
        </p:blipFill>
        <p:spPr>
          <a:xfrm>
            <a:off x="9439909" y="326390"/>
            <a:ext cx="2517141" cy="295278"/>
          </a:xfrm>
          <a:prstGeom prst="rect">
            <a:avLst/>
          </a:prstGeom>
          <a:ln w="12700">
            <a:miter lim="400000"/>
          </a:ln>
        </p:spPr>
      </p:pic>
      <p:sp>
        <p:nvSpPr>
          <p:cNvPr id="1600" name="body-1"/>
          <p:cNvSpPr txBox="1"/>
          <p:nvPr/>
        </p:nvSpPr>
        <p:spPr>
          <a:xfrm>
            <a:off x="812799" y="1003299"/>
            <a:ext cx="7946481"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2000">
                <a:solidFill>
                  <a:srgbClr val="2D5093"/>
                </a:solidFill>
                <a:latin typeface="+mj-lt"/>
                <a:ea typeface="+mj-ea"/>
                <a:cs typeface="+mj-cs"/>
                <a:sym typeface="Helvetica"/>
              </a:defRPr>
            </a:lvl1pPr>
          </a:lstStyle>
          <a:p>
            <a:pPr/>
            <a:r>
              <a:t>From per-worker caches to coordinated reuse across the serving stack</a:t>
            </a:r>
          </a:p>
        </p:txBody>
      </p:sp>
      <p:grpSp>
        <p:nvGrpSpPr>
          <p:cNvPr id="1603" name="body-2"/>
          <p:cNvGrpSpPr/>
          <p:nvPr/>
        </p:nvGrpSpPr>
        <p:grpSpPr>
          <a:xfrm>
            <a:off x="812800" y="1536700"/>
            <a:ext cx="3251200" cy="546100"/>
            <a:chOff x="0" y="0"/>
            <a:chExt cx="3251200" cy="546100"/>
          </a:xfrm>
        </p:grpSpPr>
        <p:sp>
          <p:nvSpPr>
            <p:cNvPr id="1601" name="Rounded Rectangle"/>
            <p:cNvSpPr/>
            <p:nvPr/>
          </p:nvSpPr>
          <p:spPr>
            <a:xfrm>
              <a:off x="0" y="0"/>
              <a:ext cx="3251200" cy="546100"/>
            </a:xfrm>
            <a:prstGeom prst="roundRect">
              <a:avLst>
                <a:gd name="adj" fmla="val 9302"/>
              </a:avLst>
            </a:prstGeom>
            <a:solidFill>
              <a:srgbClr val="EEF3F9"/>
            </a:solidFill>
            <a:ln w="13970" cap="flat">
              <a:solidFill>
                <a:srgbClr val="2D5093"/>
              </a:solidFill>
              <a:prstDash val="solid"/>
              <a:round/>
            </a:ln>
            <a:effectLst/>
          </p:spPr>
          <p:txBody>
            <a:bodyPr wrap="square" lIns="45718" tIns="45718" rIns="45718" bIns="45718" numCol="1" anchor="ctr">
              <a:noAutofit/>
            </a:bodyPr>
            <a:lstStyle/>
            <a:p>
              <a:pPr algn="ctr">
                <a:defRPr b="1" sz="2500">
                  <a:solidFill>
                    <a:srgbClr val="2D5093"/>
                  </a:solidFill>
                  <a:latin typeface="+mj-lt"/>
                  <a:ea typeface="+mj-ea"/>
                  <a:cs typeface="+mj-cs"/>
                  <a:sym typeface="Helvetica"/>
                </a:defRPr>
              </a:pPr>
            </a:p>
          </p:txBody>
        </p:sp>
        <p:sp>
          <p:nvSpPr>
            <p:cNvPr id="1602" name="Router"/>
            <p:cNvSpPr txBox="1"/>
            <p:nvPr/>
          </p:nvSpPr>
          <p:spPr>
            <a:xfrm>
              <a:off x="1107730" y="82549"/>
              <a:ext cx="1035739"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500">
                  <a:solidFill>
                    <a:srgbClr val="2D5093"/>
                  </a:solidFill>
                  <a:latin typeface="+mj-lt"/>
                  <a:ea typeface="+mj-ea"/>
                  <a:cs typeface="+mj-cs"/>
                  <a:sym typeface="Helvetica"/>
                </a:defRPr>
              </a:lvl1pPr>
            </a:lstStyle>
            <a:p>
              <a:pPr/>
              <a:r>
                <a:t>Router</a:t>
              </a:r>
            </a:p>
          </p:txBody>
        </p:sp>
      </p:grpSp>
      <p:grpSp>
        <p:nvGrpSpPr>
          <p:cNvPr id="1606" name="body-3"/>
          <p:cNvGrpSpPr/>
          <p:nvPr/>
        </p:nvGrpSpPr>
        <p:grpSpPr>
          <a:xfrm>
            <a:off x="4470400" y="1536700"/>
            <a:ext cx="3251200" cy="546100"/>
            <a:chOff x="0" y="0"/>
            <a:chExt cx="3251200" cy="546100"/>
          </a:xfrm>
        </p:grpSpPr>
        <p:sp>
          <p:nvSpPr>
            <p:cNvPr id="1604" name="Rounded Rectangle"/>
            <p:cNvSpPr/>
            <p:nvPr/>
          </p:nvSpPr>
          <p:spPr>
            <a:xfrm>
              <a:off x="0" y="0"/>
              <a:ext cx="3251200" cy="546100"/>
            </a:xfrm>
            <a:prstGeom prst="roundRect">
              <a:avLst>
                <a:gd name="adj" fmla="val 9302"/>
              </a:avLst>
            </a:prstGeom>
            <a:solidFill>
              <a:srgbClr val="EEF3F9"/>
            </a:solidFill>
            <a:ln w="13970" cap="flat">
              <a:solidFill>
                <a:srgbClr val="2C76B8"/>
              </a:solidFill>
              <a:prstDash val="solid"/>
              <a:round/>
            </a:ln>
            <a:effectLst/>
          </p:spPr>
          <p:txBody>
            <a:bodyPr wrap="square" lIns="45718" tIns="45718" rIns="45718" bIns="45718" numCol="1" anchor="ctr">
              <a:noAutofit/>
            </a:bodyPr>
            <a:lstStyle/>
            <a:p>
              <a:pPr algn="ctr">
                <a:defRPr b="1" sz="2500">
                  <a:solidFill>
                    <a:srgbClr val="2C76B8"/>
                  </a:solidFill>
                  <a:latin typeface="+mj-lt"/>
                  <a:ea typeface="+mj-ea"/>
                  <a:cs typeface="+mj-cs"/>
                  <a:sym typeface="Helvetica"/>
                </a:defRPr>
              </a:pPr>
            </a:p>
          </p:txBody>
        </p:sp>
        <p:sp>
          <p:nvSpPr>
            <p:cNvPr id="1605" name="Worker"/>
            <p:cNvSpPr txBox="1"/>
            <p:nvPr/>
          </p:nvSpPr>
          <p:spPr>
            <a:xfrm>
              <a:off x="1075096" y="82549"/>
              <a:ext cx="1101007"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500">
                  <a:solidFill>
                    <a:srgbClr val="2C76B8"/>
                  </a:solidFill>
                  <a:latin typeface="+mj-lt"/>
                  <a:ea typeface="+mj-ea"/>
                  <a:cs typeface="+mj-cs"/>
                  <a:sym typeface="Helvetica"/>
                </a:defRPr>
              </a:lvl1pPr>
            </a:lstStyle>
            <a:p>
              <a:pPr/>
              <a:r>
                <a:t>Worker</a:t>
              </a:r>
            </a:p>
          </p:txBody>
        </p:sp>
      </p:grpSp>
      <p:grpSp>
        <p:nvGrpSpPr>
          <p:cNvPr id="1609" name="body-4"/>
          <p:cNvGrpSpPr/>
          <p:nvPr/>
        </p:nvGrpSpPr>
        <p:grpSpPr>
          <a:xfrm>
            <a:off x="8128000" y="1536700"/>
            <a:ext cx="3251200" cy="546100"/>
            <a:chOff x="0" y="0"/>
            <a:chExt cx="3251200" cy="546100"/>
          </a:xfrm>
        </p:grpSpPr>
        <p:sp>
          <p:nvSpPr>
            <p:cNvPr id="1607" name="Rounded Rectangle"/>
            <p:cNvSpPr/>
            <p:nvPr/>
          </p:nvSpPr>
          <p:spPr>
            <a:xfrm>
              <a:off x="0" y="0"/>
              <a:ext cx="3251200" cy="546100"/>
            </a:xfrm>
            <a:prstGeom prst="roundRect">
              <a:avLst>
                <a:gd name="adj" fmla="val 9302"/>
              </a:avLst>
            </a:prstGeom>
            <a:solidFill>
              <a:srgbClr val="EEF3F9"/>
            </a:solidFill>
            <a:ln w="13970" cap="flat">
              <a:solidFill>
                <a:srgbClr val="8055C4"/>
              </a:solidFill>
              <a:prstDash val="solid"/>
              <a:round/>
            </a:ln>
            <a:effectLst/>
          </p:spPr>
          <p:txBody>
            <a:bodyPr wrap="square" lIns="45718" tIns="45718" rIns="45718" bIns="45718" numCol="1" anchor="ctr">
              <a:noAutofit/>
            </a:bodyPr>
            <a:lstStyle/>
            <a:p>
              <a:pPr algn="ctr">
                <a:defRPr b="1" sz="2500">
                  <a:solidFill>
                    <a:srgbClr val="8055C4"/>
                  </a:solidFill>
                  <a:latin typeface="+mj-lt"/>
                  <a:ea typeface="+mj-ea"/>
                  <a:cs typeface="+mj-cs"/>
                  <a:sym typeface="Helvetica"/>
                </a:defRPr>
              </a:pPr>
            </a:p>
          </p:txBody>
        </p:sp>
        <p:sp>
          <p:nvSpPr>
            <p:cNvPr id="1608" name="HiCache"/>
            <p:cNvSpPr txBox="1"/>
            <p:nvPr/>
          </p:nvSpPr>
          <p:spPr>
            <a:xfrm>
              <a:off x="984016" y="82549"/>
              <a:ext cx="1283167"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spAutoFit/>
            </a:bodyPr>
            <a:lstStyle>
              <a:lvl1pPr algn="ctr">
                <a:defRPr b="1" sz="2500">
                  <a:solidFill>
                    <a:srgbClr val="8055C4"/>
                  </a:solidFill>
                  <a:latin typeface="+mj-lt"/>
                  <a:ea typeface="+mj-ea"/>
                  <a:cs typeface="+mj-cs"/>
                  <a:sym typeface="Helvetica"/>
                </a:defRPr>
              </a:lvl1pPr>
            </a:lstStyle>
            <a:p>
              <a:pPr/>
              <a:r>
                <a:t>HiCache</a:t>
              </a:r>
            </a:p>
          </p:txBody>
        </p:sp>
      </p:grpSp>
      <p:sp>
        <p:nvSpPr>
          <p:cNvPr id="1610" name="body-5"/>
          <p:cNvSpPr/>
          <p:nvPr/>
        </p:nvSpPr>
        <p:spPr>
          <a:xfrm>
            <a:off x="4178300" y="1739900"/>
            <a:ext cx="203200" cy="127000"/>
          </a:xfrm>
          <a:prstGeom prst="rightArrow">
            <a:avLst>
              <a:gd name="adj1" fmla="val 50000"/>
              <a:gd name="adj2" fmla="val 50000"/>
            </a:avLst>
          </a:prstGeom>
          <a:solidFill>
            <a:srgbClr val="B9CCE4"/>
          </a:solidFill>
          <a:ln w="12700">
            <a:miter lim="400000"/>
          </a:ln>
        </p:spPr>
        <p:txBody>
          <a:bodyPr lIns="45718" tIns="45718" rIns="45718" bIns="45718"/>
          <a:lstStyle/>
          <a:p>
            <a:pPr>
              <a:defRPr>
                <a:latin typeface="+mj-lt"/>
                <a:ea typeface="+mj-ea"/>
                <a:cs typeface="+mj-cs"/>
                <a:sym typeface="Helvetica"/>
              </a:defRPr>
            </a:pPr>
          </a:p>
        </p:txBody>
      </p:sp>
      <p:sp>
        <p:nvSpPr>
          <p:cNvPr id="1611" name="body-6"/>
          <p:cNvSpPr/>
          <p:nvPr/>
        </p:nvSpPr>
        <p:spPr>
          <a:xfrm>
            <a:off x="7835900" y="1739900"/>
            <a:ext cx="203200" cy="127000"/>
          </a:xfrm>
          <a:prstGeom prst="rightArrow">
            <a:avLst>
              <a:gd name="adj1" fmla="val 50000"/>
              <a:gd name="adj2" fmla="val 50000"/>
            </a:avLst>
          </a:prstGeom>
          <a:solidFill>
            <a:srgbClr val="B9CCE4"/>
          </a:solidFill>
          <a:ln w="12700">
            <a:miter lim="400000"/>
          </a:ln>
        </p:spPr>
        <p:txBody>
          <a:bodyPr lIns="45718" tIns="45718" rIns="45718" bIns="45718"/>
          <a:lstStyle/>
          <a:p>
            <a:pPr>
              <a:defRPr>
                <a:latin typeface="+mj-lt"/>
                <a:ea typeface="+mj-ea"/>
                <a:cs typeface="+mj-cs"/>
                <a:sym typeface="Helvetica"/>
              </a:defRPr>
            </a:pPr>
          </a:p>
        </p:txBody>
      </p:sp>
      <p:sp>
        <p:nvSpPr>
          <p:cNvPr id="1612" name="body-7"/>
          <p:cNvSpPr txBox="1"/>
          <p:nvPr/>
        </p:nvSpPr>
        <p:spPr>
          <a:xfrm>
            <a:off x="1183926" y="2209800"/>
            <a:ext cx="2508946"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Choose where requests run</a:t>
            </a:r>
          </a:p>
        </p:txBody>
      </p:sp>
      <p:sp>
        <p:nvSpPr>
          <p:cNvPr id="1613" name="body-8"/>
          <p:cNvSpPr txBox="1"/>
          <p:nvPr/>
        </p:nvSpPr>
        <p:spPr>
          <a:xfrm>
            <a:off x="4993926" y="2209800"/>
            <a:ext cx="2204146"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Execute and reuse state</a:t>
            </a:r>
          </a:p>
        </p:txBody>
      </p:sp>
      <p:sp>
        <p:nvSpPr>
          <p:cNvPr id="1614" name="body-9"/>
          <p:cNvSpPr txBox="1"/>
          <p:nvPr/>
        </p:nvSpPr>
        <p:spPr>
          <a:xfrm>
            <a:off x="8392269" y="2209800"/>
            <a:ext cx="2722662"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600">
                <a:solidFill>
                  <a:srgbClr val="5C7392"/>
                </a:solidFill>
                <a:latin typeface="+mj-lt"/>
                <a:ea typeface="+mj-ea"/>
                <a:cs typeface="+mj-cs"/>
                <a:sym typeface="Helvetica"/>
              </a:defRPr>
            </a:lvl1pPr>
          </a:lstStyle>
          <a:p>
            <a:pPr/>
            <a:r>
              <a:t>Move KV across memory tiers</a:t>
            </a:r>
          </a:p>
        </p:txBody>
      </p:sp>
      <p:sp>
        <p:nvSpPr>
          <p:cNvPr id="1615" name="body-10"/>
          <p:cNvSpPr txBox="1"/>
          <p:nvPr/>
        </p:nvSpPr>
        <p:spPr>
          <a:xfrm>
            <a:off x="812800" y="2666999"/>
            <a:ext cx="737351"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300">
                <a:solidFill>
                  <a:srgbClr val="009A80"/>
                </a:solidFill>
                <a:latin typeface="+mj-lt"/>
                <a:ea typeface="+mj-ea"/>
                <a:cs typeface="+mj-cs"/>
                <a:sym typeface="Helvetica"/>
              </a:defRPr>
            </a:lvl1pPr>
          </a:lstStyle>
          <a:p>
            <a:pPr/>
            <a:r>
              <a:t>MERGED</a:t>
            </a:r>
          </a:p>
        </p:txBody>
      </p:sp>
      <p:sp>
        <p:nvSpPr>
          <p:cNvPr id="1616" name="body-11"/>
          <p:cNvSpPr/>
          <p:nvPr/>
        </p:nvSpPr>
        <p:spPr>
          <a:xfrm>
            <a:off x="1968500" y="2781300"/>
            <a:ext cx="9410700" cy="0"/>
          </a:xfrm>
          <a:prstGeom prst="line">
            <a:avLst/>
          </a:prstGeom>
          <a:ln w="8890">
            <a:solidFill>
              <a:srgbClr val="B9CCE4"/>
            </a:solidFill>
          </a:ln>
        </p:spPr>
        <p:txBody>
          <a:bodyPr lIns="45718" tIns="45718" rIns="45718" bIns="45718"/>
          <a:lstStyle/>
          <a:p>
            <a:pPr/>
          </a:p>
        </p:txBody>
      </p:sp>
      <p:sp>
        <p:nvSpPr>
          <p:cNvPr id="1617" name="body-12"/>
          <p:cNvSpPr txBox="1"/>
          <p:nvPr/>
        </p:nvSpPr>
        <p:spPr>
          <a:xfrm>
            <a:off x="812800" y="3003550"/>
            <a:ext cx="2400462"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23854"/>
                </a:solidFill>
                <a:latin typeface="+mj-lt"/>
                <a:ea typeface="+mj-ea"/>
                <a:cs typeface="+mj-cs"/>
                <a:sym typeface="Helvetica"/>
              </a:defRPr>
            </a:lvl1pPr>
          </a:lstStyle>
          <a:p>
            <a:pPr/>
            <a:r>
              <a:t>Session / cache affinity</a:t>
            </a:r>
          </a:p>
        </p:txBody>
      </p:sp>
      <p:sp>
        <p:nvSpPr>
          <p:cNvPr id="1618" name="body-13"/>
          <p:cNvSpPr txBox="1"/>
          <p:nvPr/>
        </p:nvSpPr>
        <p:spPr>
          <a:xfrm>
            <a:off x="812800" y="3295649"/>
            <a:ext cx="2316758"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with load-aware fallback</a:t>
            </a:r>
          </a:p>
        </p:txBody>
      </p:sp>
      <p:sp>
        <p:nvSpPr>
          <p:cNvPr id="1619" name="body-14"/>
          <p:cNvSpPr txBox="1"/>
          <p:nvPr/>
        </p:nvSpPr>
        <p:spPr>
          <a:xfrm>
            <a:off x="812800" y="3619498"/>
            <a:ext cx="521246"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#41990</a:t>
            </a:r>
          </a:p>
        </p:txBody>
      </p:sp>
      <p:sp>
        <p:nvSpPr>
          <p:cNvPr id="1620" name="body-15"/>
          <p:cNvSpPr txBox="1"/>
          <p:nvPr/>
        </p:nvSpPr>
        <p:spPr>
          <a:xfrm>
            <a:off x="4470400" y="3003550"/>
            <a:ext cx="2880122"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23854"/>
                </a:solidFill>
                <a:latin typeface="+mj-lt"/>
                <a:ea typeface="+mj-ea"/>
                <a:cs typeface="+mj-cs"/>
                <a:sym typeface="Helvetica"/>
              </a:defRPr>
            </a:lvl1pPr>
          </a:lstStyle>
          <a:p>
            <a:pPr/>
            <a:r>
              <a:t>Rust TreeCore is the default</a:t>
            </a:r>
          </a:p>
        </p:txBody>
      </p:sp>
      <p:sp>
        <p:nvSpPr>
          <p:cNvPr id="1621" name="body-16"/>
          <p:cNvSpPr txBox="1"/>
          <p:nvPr/>
        </p:nvSpPr>
        <p:spPr>
          <a:xfrm>
            <a:off x="4470400" y="3295649"/>
            <a:ext cx="2689101"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for supported configurations</a:t>
            </a:r>
          </a:p>
        </p:txBody>
      </p:sp>
      <p:sp>
        <p:nvSpPr>
          <p:cNvPr id="1622" name="body-17"/>
          <p:cNvSpPr txBox="1"/>
          <p:nvPr/>
        </p:nvSpPr>
        <p:spPr>
          <a:xfrm>
            <a:off x="4470400" y="3619498"/>
            <a:ext cx="521246"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#39627</a:t>
            </a:r>
          </a:p>
        </p:txBody>
      </p:sp>
      <p:sp>
        <p:nvSpPr>
          <p:cNvPr id="1623" name="body-18"/>
          <p:cNvSpPr txBox="1"/>
          <p:nvPr/>
        </p:nvSpPr>
        <p:spPr>
          <a:xfrm>
            <a:off x="8128000" y="3003550"/>
            <a:ext cx="2592537"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700">
                <a:solidFill>
                  <a:srgbClr val="223854"/>
                </a:solidFill>
                <a:latin typeface="+mj-lt"/>
                <a:ea typeface="+mj-ea"/>
                <a:cs typeface="+mj-cs"/>
                <a:sym typeface="Helvetica"/>
              </a:defRPr>
            </a:lvl1pPr>
          </a:lstStyle>
          <a:p>
            <a:pPr/>
            <a:r>
              <a:t>Mooncake external linker</a:t>
            </a:r>
          </a:p>
        </p:txBody>
      </p:sp>
      <p:sp>
        <p:nvSpPr>
          <p:cNvPr id="1624" name="body-19"/>
          <p:cNvSpPr txBox="1"/>
          <p:nvPr/>
        </p:nvSpPr>
        <p:spPr>
          <a:xfrm>
            <a:off x="8128000" y="3295649"/>
            <a:ext cx="1848694" cy="254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700">
                <a:solidFill>
                  <a:srgbClr val="223854"/>
                </a:solidFill>
                <a:latin typeface="+mj-lt"/>
                <a:ea typeface="+mj-ea"/>
                <a:cs typeface="+mj-cs"/>
                <a:sym typeface="Helvetica"/>
              </a:defRPr>
            </a:lvl1pPr>
          </a:lstStyle>
          <a:p>
            <a:pPr/>
            <a:r>
              <a:t>for direct load-back</a:t>
            </a:r>
          </a:p>
        </p:txBody>
      </p:sp>
      <p:sp>
        <p:nvSpPr>
          <p:cNvPr id="1625" name="body-20"/>
          <p:cNvSpPr txBox="1"/>
          <p:nvPr/>
        </p:nvSpPr>
        <p:spPr>
          <a:xfrm>
            <a:off x="8128000" y="3619498"/>
            <a:ext cx="521246"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#37381</a:t>
            </a:r>
          </a:p>
        </p:txBody>
      </p:sp>
      <p:sp>
        <p:nvSpPr>
          <p:cNvPr id="1626" name="body-21"/>
          <p:cNvSpPr txBox="1"/>
          <p:nvPr/>
        </p:nvSpPr>
        <p:spPr>
          <a:xfrm>
            <a:off x="812800" y="3987798"/>
            <a:ext cx="847632"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300">
                <a:solidFill>
                  <a:srgbClr val="2D5093"/>
                </a:solidFill>
                <a:latin typeface="+mj-lt"/>
                <a:ea typeface="+mj-ea"/>
                <a:cs typeface="+mj-cs"/>
                <a:sym typeface="Helvetica"/>
              </a:defRPr>
            </a:lvl1pPr>
          </a:lstStyle>
          <a:p>
            <a:pPr/>
            <a:r>
              <a:t>OPEN PRs</a:t>
            </a:r>
          </a:p>
        </p:txBody>
      </p:sp>
      <p:sp>
        <p:nvSpPr>
          <p:cNvPr id="1627" name="body-22"/>
          <p:cNvSpPr/>
          <p:nvPr/>
        </p:nvSpPr>
        <p:spPr>
          <a:xfrm>
            <a:off x="1968500" y="4102100"/>
            <a:ext cx="9410700" cy="0"/>
          </a:xfrm>
          <a:prstGeom prst="line">
            <a:avLst/>
          </a:prstGeom>
          <a:ln w="8890">
            <a:solidFill>
              <a:srgbClr val="B9CCE4"/>
            </a:solidFill>
          </a:ln>
        </p:spPr>
        <p:txBody>
          <a:bodyPr lIns="45718" tIns="45718" rIns="45718" bIns="45718"/>
          <a:lstStyle/>
          <a:p>
            <a:pPr/>
          </a:p>
        </p:txBody>
      </p:sp>
      <p:sp>
        <p:nvSpPr>
          <p:cNvPr id="1628" name="body-23"/>
          <p:cNvSpPr txBox="1"/>
          <p:nvPr/>
        </p:nvSpPr>
        <p:spPr>
          <a:xfrm>
            <a:off x="812799" y="4330699"/>
            <a:ext cx="2834979"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600">
                <a:solidFill>
                  <a:srgbClr val="223854"/>
                </a:solidFill>
                <a:latin typeface="+mj-lt"/>
                <a:ea typeface="+mj-ea"/>
                <a:cs typeface="+mj-cs"/>
                <a:sym typeface="Helvetica"/>
              </a:defRPr>
            </a:lvl1pPr>
          </a:lstStyle>
          <a:p>
            <a:pPr/>
            <a:r>
              <a:t>Count saved prefill in routing</a:t>
            </a:r>
          </a:p>
        </p:txBody>
      </p:sp>
      <p:sp>
        <p:nvSpPr>
          <p:cNvPr id="1629" name="body-24"/>
          <p:cNvSpPr txBox="1"/>
          <p:nvPr/>
        </p:nvSpPr>
        <p:spPr>
          <a:xfrm>
            <a:off x="812800" y="4635499"/>
            <a:ext cx="2756992"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Retry after admission rejection</a:t>
            </a:r>
          </a:p>
        </p:txBody>
      </p:sp>
      <p:sp>
        <p:nvSpPr>
          <p:cNvPr id="1630" name="body-25"/>
          <p:cNvSpPr txBox="1"/>
          <p:nvPr/>
        </p:nvSpPr>
        <p:spPr>
          <a:xfrm>
            <a:off x="812800" y="4965698"/>
            <a:ext cx="1156817"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#42430 / #42432</a:t>
            </a:r>
          </a:p>
        </p:txBody>
      </p:sp>
      <p:sp>
        <p:nvSpPr>
          <p:cNvPr id="1631" name="body-26"/>
          <p:cNvSpPr txBox="1"/>
          <p:nvPr/>
        </p:nvSpPr>
        <p:spPr>
          <a:xfrm>
            <a:off x="4470400" y="4330699"/>
            <a:ext cx="2707779"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600">
                <a:solidFill>
                  <a:srgbClr val="223854"/>
                </a:solidFill>
                <a:latin typeface="+mj-lt"/>
                <a:ea typeface="+mj-ea"/>
                <a:cs typeface="+mj-cs"/>
                <a:sym typeface="Helvetica"/>
              </a:defRPr>
            </a:lvl1pPr>
          </a:lstStyle>
          <a:p>
            <a:pPr/>
            <a:r>
              <a:t>Torch-free cache simulation</a:t>
            </a:r>
          </a:p>
        </p:txBody>
      </p:sp>
      <p:sp>
        <p:nvSpPr>
          <p:cNvPr id="1632" name="body-27"/>
          <p:cNvSpPr txBox="1"/>
          <p:nvPr/>
        </p:nvSpPr>
        <p:spPr>
          <a:xfrm>
            <a:off x="4470400" y="4635499"/>
            <a:ext cx="2452490"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Insert from a retained node</a:t>
            </a:r>
          </a:p>
        </p:txBody>
      </p:sp>
      <p:sp>
        <p:nvSpPr>
          <p:cNvPr id="1633" name="body-28"/>
          <p:cNvSpPr txBox="1"/>
          <p:nvPr/>
        </p:nvSpPr>
        <p:spPr>
          <a:xfrm>
            <a:off x="4470400" y="4965698"/>
            <a:ext cx="521246"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#38636</a:t>
            </a:r>
          </a:p>
        </p:txBody>
      </p:sp>
      <p:sp>
        <p:nvSpPr>
          <p:cNvPr id="1634" name="body-29"/>
          <p:cNvSpPr txBox="1"/>
          <p:nvPr/>
        </p:nvSpPr>
        <p:spPr>
          <a:xfrm>
            <a:off x="8128000" y="4330699"/>
            <a:ext cx="3174901"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1600">
                <a:solidFill>
                  <a:srgbClr val="223854"/>
                </a:solidFill>
                <a:latin typeface="+mj-lt"/>
                <a:ea typeface="+mj-ea"/>
                <a:cs typeface="+mj-cs"/>
                <a:sym typeface="Helvetica"/>
              </a:defRPr>
            </a:lvl1pPr>
          </a:lstStyle>
          <a:p>
            <a:pPr/>
            <a:r>
              <a:t>Share L3 keys across topologies</a:t>
            </a:r>
          </a:p>
        </p:txBody>
      </p:sp>
      <p:sp>
        <p:nvSpPr>
          <p:cNvPr id="1635" name="body-30"/>
          <p:cNvSpPr txBox="1"/>
          <p:nvPr/>
        </p:nvSpPr>
        <p:spPr>
          <a:xfrm>
            <a:off x="8128000" y="4635499"/>
            <a:ext cx="3062387"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600">
                <a:solidFill>
                  <a:srgbClr val="223854"/>
                </a:solidFill>
                <a:latin typeface="+mj-lt"/>
                <a:ea typeface="+mj-ea"/>
                <a:cs typeface="+mj-cs"/>
                <a:sym typeface="Helvetica"/>
              </a:defRPr>
            </a:lvl1pPr>
          </a:lstStyle>
          <a:p>
            <a:pPr/>
            <a:r>
              <a:t>Prefetch L3 → L2 during tool calls</a:t>
            </a:r>
          </a:p>
        </p:txBody>
      </p:sp>
      <p:sp>
        <p:nvSpPr>
          <p:cNvPr id="1636" name="body-31"/>
          <p:cNvSpPr txBox="1"/>
          <p:nvPr/>
        </p:nvSpPr>
        <p:spPr>
          <a:xfrm>
            <a:off x="8128000" y="4965698"/>
            <a:ext cx="1156817"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200">
                <a:solidFill>
                  <a:srgbClr val="5C7392"/>
                </a:solidFill>
                <a:latin typeface="+mj-lt"/>
                <a:ea typeface="+mj-ea"/>
                <a:cs typeface="+mj-cs"/>
                <a:sym typeface="Helvetica"/>
              </a:defRPr>
            </a:lvl1pPr>
          </a:lstStyle>
          <a:p>
            <a:pPr/>
            <a:r>
              <a:t>#39727 / #42434</a:t>
            </a:r>
          </a:p>
        </p:txBody>
      </p:sp>
      <p:sp>
        <p:nvSpPr>
          <p:cNvPr id="1637" name="body-32"/>
          <p:cNvSpPr txBox="1"/>
          <p:nvPr/>
        </p:nvSpPr>
        <p:spPr>
          <a:xfrm>
            <a:off x="8128000" y="5238748"/>
            <a:ext cx="2907097" cy="152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000">
                <a:solidFill>
                  <a:srgbClr val="5C7392"/>
                </a:solidFill>
                <a:latin typeface="+mj-lt"/>
                <a:ea typeface="+mj-ea"/>
                <a:cs typeface="+mj-cs"/>
                <a:sym typeface="Helvetica"/>
              </a:defRPr>
            </a:lvl1pPr>
          </a:lstStyle>
          <a:p>
            <a:pPr/>
            <a:r>
              <a:t>Prefetch prototype: FULL, file backend, one worker.</a:t>
            </a:r>
          </a:p>
        </p:txBody>
      </p:sp>
      <p:sp>
        <p:nvSpPr>
          <p:cNvPr id="1638" name="body-33"/>
          <p:cNvSpPr/>
          <p:nvPr/>
        </p:nvSpPr>
        <p:spPr>
          <a:xfrm>
            <a:off x="2425700" y="5499100"/>
            <a:ext cx="8953500" cy="0"/>
          </a:xfrm>
          <a:prstGeom prst="line">
            <a:avLst/>
          </a:prstGeom>
          <a:ln w="8890">
            <a:solidFill>
              <a:srgbClr val="B9CCE4"/>
            </a:solidFill>
          </a:ln>
        </p:spPr>
        <p:txBody>
          <a:bodyPr lIns="45718" tIns="45718" rIns="45718" bIns="45718"/>
          <a:lstStyle/>
          <a:p>
            <a:pPr/>
          </a:p>
        </p:txBody>
      </p:sp>
      <p:sp>
        <p:nvSpPr>
          <p:cNvPr id="1639" name="body-34"/>
          <p:cNvSpPr txBox="1"/>
          <p:nvPr/>
        </p:nvSpPr>
        <p:spPr>
          <a:xfrm>
            <a:off x="2463800" y="5613399"/>
            <a:ext cx="7008497"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b="1" sz="2100">
                <a:solidFill>
                  <a:srgbClr val="009A80"/>
                </a:solidFill>
                <a:latin typeface="+mj-lt"/>
                <a:ea typeface="+mj-ea"/>
                <a:cs typeface="+mj-cs"/>
                <a:sym typeface="Helvetica"/>
              </a:defRPr>
            </a:lvl1pPr>
          </a:lstStyle>
          <a:p>
            <a:pPr/>
            <a:r>
              <a:t>Next: orchestrator hints and shared KV across workers</a:t>
            </a:r>
          </a:p>
        </p:txBody>
      </p:sp>
      <p:sp>
        <p:nvSpPr>
          <p:cNvPr id="1640" name="body-35"/>
          <p:cNvSpPr txBox="1"/>
          <p:nvPr/>
        </p:nvSpPr>
        <p:spPr>
          <a:xfrm>
            <a:off x="2463800" y="5975348"/>
            <a:ext cx="573529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400">
                <a:solidFill>
                  <a:srgbClr val="223854"/>
                </a:solidFill>
                <a:latin typeface="+mj-lt"/>
                <a:ea typeface="+mj-ea"/>
                <a:cs typeface="+mj-cs"/>
                <a:sym typeface="Helvetica"/>
              </a:defRPr>
            </a:lvl1pPr>
          </a:lstStyle>
          <a:p>
            <a:pPr/>
            <a:r>
              <a:t>Coordinate sessions and tool calls with prefetch, demotion and retention.</a:t>
            </a:r>
          </a:p>
        </p:txBody>
      </p:sp>
      <p:sp>
        <p:nvSpPr>
          <p:cNvPr id="1641" name="body-36"/>
          <p:cNvSpPr txBox="1"/>
          <p:nvPr/>
        </p:nvSpPr>
        <p:spPr>
          <a:xfrm>
            <a:off x="2463800" y="6261098"/>
            <a:ext cx="3549725" cy="152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1000">
                <a:solidFill>
                  <a:srgbClr val="5C7392"/>
                </a:solidFill>
                <a:latin typeface="+mj-lt"/>
                <a:ea typeface="+mj-ea"/>
                <a:cs typeface="+mj-cs"/>
                <a:sym typeface="Helvetica"/>
              </a:defRPr>
            </a:lvl1pPr>
          </a:lstStyle>
          <a:p>
            <a:pPr/>
            <a:r>
              <a:t>Roadmap #21846 / RFC #27574     Status checked 4 Oct 2026</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60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612"/>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617"/>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618"/>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1619"/>
                                        </p:tgtEl>
                                        <p:attrNameLst>
                                          <p:attrName>style.visibility</p:attrName>
                                        </p:attrNameLst>
                                      </p:cBhvr>
                                      <p:to>
                                        <p:strVal val="visible"/>
                                      </p:to>
                                    </p:set>
                                  </p:childTnLst>
                                </p:cTn>
                              </p:par>
                            </p:childTnLst>
                          </p:cTn>
                        </p:par>
                        <p:par>
                          <p:cTn id="19" fill="hold">
                            <p:stCondLst>
                              <p:cond delay="0"/>
                            </p:stCondLst>
                            <p:childTnLst>
                              <p:par>
                                <p:cTn id="20" presetClass="entr" nodeType="afterEffect" presetSubtype="0" presetID="1" grpId="6" fill="hold">
                                  <p:stCondLst>
                                    <p:cond delay="0"/>
                                  </p:stCondLst>
                                  <p:iterate type="el" backwards="0">
                                    <p:tmAbs val="0"/>
                                  </p:iterate>
                                  <p:childTnLst>
                                    <p:set>
                                      <p:cBhvr>
                                        <p:cTn id="21" fill="hold"/>
                                        <p:tgtEl>
                                          <p:spTgt spid="1628"/>
                                        </p:tgtEl>
                                        <p:attrNameLst>
                                          <p:attrName>style.visibility</p:attrName>
                                        </p:attrNameLst>
                                      </p:cBhvr>
                                      <p:to>
                                        <p:strVal val="visible"/>
                                      </p:to>
                                    </p:set>
                                  </p:childTnLst>
                                </p:cTn>
                              </p:par>
                            </p:childTnLst>
                          </p:cTn>
                        </p:par>
                        <p:par>
                          <p:cTn id="22" fill="hold">
                            <p:stCondLst>
                              <p:cond delay="0"/>
                            </p:stCondLst>
                            <p:childTnLst>
                              <p:par>
                                <p:cTn id="23" presetClass="entr" nodeType="afterEffect" presetSubtype="0" presetID="1" grpId="7" fill="hold">
                                  <p:stCondLst>
                                    <p:cond delay="0"/>
                                  </p:stCondLst>
                                  <p:iterate type="el" backwards="0">
                                    <p:tmAbs val="0"/>
                                  </p:iterate>
                                  <p:childTnLst>
                                    <p:set>
                                      <p:cBhvr>
                                        <p:cTn id="24" fill="hold"/>
                                        <p:tgtEl>
                                          <p:spTgt spid="1629"/>
                                        </p:tgtEl>
                                        <p:attrNameLst>
                                          <p:attrName>style.visibility</p:attrName>
                                        </p:attrNameLst>
                                      </p:cBhvr>
                                      <p:to>
                                        <p:strVal val="visible"/>
                                      </p:to>
                                    </p:set>
                                  </p:childTnLst>
                                </p:cTn>
                              </p:par>
                            </p:childTnLst>
                          </p:cTn>
                        </p:par>
                        <p:par>
                          <p:cTn id="25" fill="hold">
                            <p:stCondLst>
                              <p:cond delay="0"/>
                            </p:stCondLst>
                            <p:childTnLst>
                              <p:par>
                                <p:cTn id="26" presetClass="entr" nodeType="afterEffect" presetSubtype="0" presetID="1" grpId="8" fill="hold">
                                  <p:stCondLst>
                                    <p:cond delay="0"/>
                                  </p:stCondLst>
                                  <p:iterate type="el" backwards="0">
                                    <p:tmAbs val="0"/>
                                  </p:iterate>
                                  <p:childTnLst>
                                    <p:set>
                                      <p:cBhvr>
                                        <p:cTn id="27" fill="hold"/>
                                        <p:tgtEl>
                                          <p:spTgt spid="163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0" presetID="1" grpId="9" fill="hold">
                                  <p:stCondLst>
                                    <p:cond delay="0"/>
                                  </p:stCondLst>
                                  <p:iterate type="el" backwards="0">
                                    <p:tmAbs val="0"/>
                                  </p:iterate>
                                  <p:childTnLst>
                                    <p:set>
                                      <p:cBhvr>
                                        <p:cTn id="31" fill="hold"/>
                                        <p:tgtEl>
                                          <p:spTgt spid="1606"/>
                                        </p:tgtEl>
                                        <p:attrNameLst>
                                          <p:attrName>style.visibility</p:attrName>
                                        </p:attrNameLst>
                                      </p:cBhvr>
                                      <p:to>
                                        <p:strVal val="visible"/>
                                      </p:to>
                                    </p:set>
                                  </p:childTnLst>
                                </p:cTn>
                              </p:par>
                            </p:childTnLst>
                          </p:cTn>
                        </p:par>
                        <p:par>
                          <p:cTn id="32" fill="hold">
                            <p:stCondLst>
                              <p:cond delay="0"/>
                            </p:stCondLst>
                            <p:childTnLst>
                              <p:par>
                                <p:cTn id="33" presetClass="entr" nodeType="afterEffect" presetSubtype="0" presetID="1" grpId="10" fill="hold">
                                  <p:stCondLst>
                                    <p:cond delay="0"/>
                                  </p:stCondLst>
                                  <p:iterate type="el" backwards="0">
                                    <p:tmAbs val="0"/>
                                  </p:iterate>
                                  <p:childTnLst>
                                    <p:set>
                                      <p:cBhvr>
                                        <p:cTn id="34" fill="hold"/>
                                        <p:tgtEl>
                                          <p:spTgt spid="1610"/>
                                        </p:tgtEl>
                                        <p:attrNameLst>
                                          <p:attrName>style.visibility</p:attrName>
                                        </p:attrNameLst>
                                      </p:cBhvr>
                                      <p:to>
                                        <p:strVal val="visible"/>
                                      </p:to>
                                    </p:set>
                                  </p:childTnLst>
                                </p:cTn>
                              </p:par>
                            </p:childTnLst>
                          </p:cTn>
                        </p:par>
                        <p:par>
                          <p:cTn id="35" fill="hold">
                            <p:stCondLst>
                              <p:cond delay="0"/>
                            </p:stCondLst>
                            <p:childTnLst>
                              <p:par>
                                <p:cTn id="36" presetClass="entr" nodeType="afterEffect" presetSubtype="0" presetID="1" grpId="11" fill="hold">
                                  <p:stCondLst>
                                    <p:cond delay="0"/>
                                  </p:stCondLst>
                                  <p:iterate type="el" backwards="0">
                                    <p:tmAbs val="0"/>
                                  </p:iterate>
                                  <p:childTnLst>
                                    <p:set>
                                      <p:cBhvr>
                                        <p:cTn id="37" fill="hold"/>
                                        <p:tgtEl>
                                          <p:spTgt spid="1613"/>
                                        </p:tgtEl>
                                        <p:attrNameLst>
                                          <p:attrName>style.visibility</p:attrName>
                                        </p:attrNameLst>
                                      </p:cBhvr>
                                      <p:to>
                                        <p:strVal val="visible"/>
                                      </p:to>
                                    </p:set>
                                  </p:childTnLst>
                                </p:cTn>
                              </p:par>
                            </p:childTnLst>
                          </p:cTn>
                        </p:par>
                        <p:par>
                          <p:cTn id="38" fill="hold">
                            <p:stCondLst>
                              <p:cond delay="0"/>
                            </p:stCondLst>
                            <p:childTnLst>
                              <p:par>
                                <p:cTn id="39" presetClass="entr" nodeType="afterEffect" presetSubtype="0" presetID="1" grpId="12" fill="hold">
                                  <p:stCondLst>
                                    <p:cond delay="0"/>
                                  </p:stCondLst>
                                  <p:iterate type="el" backwards="0">
                                    <p:tmAbs val="0"/>
                                  </p:iterate>
                                  <p:childTnLst>
                                    <p:set>
                                      <p:cBhvr>
                                        <p:cTn id="40" fill="hold"/>
                                        <p:tgtEl>
                                          <p:spTgt spid="1620"/>
                                        </p:tgtEl>
                                        <p:attrNameLst>
                                          <p:attrName>style.visibility</p:attrName>
                                        </p:attrNameLst>
                                      </p:cBhvr>
                                      <p:to>
                                        <p:strVal val="visible"/>
                                      </p:to>
                                    </p:set>
                                  </p:childTnLst>
                                </p:cTn>
                              </p:par>
                            </p:childTnLst>
                          </p:cTn>
                        </p:par>
                        <p:par>
                          <p:cTn id="41" fill="hold">
                            <p:stCondLst>
                              <p:cond delay="0"/>
                            </p:stCondLst>
                            <p:childTnLst>
                              <p:par>
                                <p:cTn id="42" presetClass="entr" nodeType="afterEffect" presetSubtype="0" presetID="1" grpId="13" fill="hold">
                                  <p:stCondLst>
                                    <p:cond delay="0"/>
                                  </p:stCondLst>
                                  <p:iterate type="el" backwards="0">
                                    <p:tmAbs val="0"/>
                                  </p:iterate>
                                  <p:childTnLst>
                                    <p:set>
                                      <p:cBhvr>
                                        <p:cTn id="43" fill="hold"/>
                                        <p:tgtEl>
                                          <p:spTgt spid="1621"/>
                                        </p:tgtEl>
                                        <p:attrNameLst>
                                          <p:attrName>style.visibility</p:attrName>
                                        </p:attrNameLst>
                                      </p:cBhvr>
                                      <p:to>
                                        <p:strVal val="visible"/>
                                      </p:to>
                                    </p:set>
                                  </p:childTnLst>
                                </p:cTn>
                              </p:par>
                            </p:childTnLst>
                          </p:cTn>
                        </p:par>
                        <p:par>
                          <p:cTn id="44" fill="hold">
                            <p:stCondLst>
                              <p:cond delay="0"/>
                            </p:stCondLst>
                            <p:childTnLst>
                              <p:par>
                                <p:cTn id="45" presetClass="entr" nodeType="afterEffect" presetSubtype="0" presetID="1" grpId="14" fill="hold">
                                  <p:stCondLst>
                                    <p:cond delay="0"/>
                                  </p:stCondLst>
                                  <p:iterate type="el" backwards="0">
                                    <p:tmAbs val="0"/>
                                  </p:iterate>
                                  <p:childTnLst>
                                    <p:set>
                                      <p:cBhvr>
                                        <p:cTn id="46" fill="hold"/>
                                        <p:tgtEl>
                                          <p:spTgt spid="1622"/>
                                        </p:tgtEl>
                                        <p:attrNameLst>
                                          <p:attrName>style.visibility</p:attrName>
                                        </p:attrNameLst>
                                      </p:cBhvr>
                                      <p:to>
                                        <p:strVal val="visible"/>
                                      </p:to>
                                    </p:set>
                                  </p:childTnLst>
                                </p:cTn>
                              </p:par>
                            </p:childTnLst>
                          </p:cTn>
                        </p:par>
                        <p:par>
                          <p:cTn id="47" fill="hold">
                            <p:stCondLst>
                              <p:cond delay="0"/>
                            </p:stCondLst>
                            <p:childTnLst>
                              <p:par>
                                <p:cTn id="48" presetClass="entr" nodeType="afterEffect" presetSubtype="0" presetID="1" grpId="15" fill="hold">
                                  <p:stCondLst>
                                    <p:cond delay="0"/>
                                  </p:stCondLst>
                                  <p:iterate type="el" backwards="0">
                                    <p:tmAbs val="0"/>
                                  </p:iterate>
                                  <p:childTnLst>
                                    <p:set>
                                      <p:cBhvr>
                                        <p:cTn id="49" fill="hold"/>
                                        <p:tgtEl>
                                          <p:spTgt spid="1631"/>
                                        </p:tgtEl>
                                        <p:attrNameLst>
                                          <p:attrName>style.visibility</p:attrName>
                                        </p:attrNameLst>
                                      </p:cBhvr>
                                      <p:to>
                                        <p:strVal val="visible"/>
                                      </p:to>
                                    </p:set>
                                  </p:childTnLst>
                                </p:cTn>
                              </p:par>
                            </p:childTnLst>
                          </p:cTn>
                        </p:par>
                        <p:par>
                          <p:cTn id="50" fill="hold">
                            <p:stCondLst>
                              <p:cond delay="0"/>
                            </p:stCondLst>
                            <p:childTnLst>
                              <p:par>
                                <p:cTn id="51" presetClass="entr" nodeType="afterEffect" presetSubtype="0" presetID="1" grpId="16" fill="hold">
                                  <p:stCondLst>
                                    <p:cond delay="0"/>
                                  </p:stCondLst>
                                  <p:iterate type="el" backwards="0">
                                    <p:tmAbs val="0"/>
                                  </p:iterate>
                                  <p:childTnLst>
                                    <p:set>
                                      <p:cBhvr>
                                        <p:cTn id="52" fill="hold"/>
                                        <p:tgtEl>
                                          <p:spTgt spid="1632"/>
                                        </p:tgtEl>
                                        <p:attrNameLst>
                                          <p:attrName>style.visibility</p:attrName>
                                        </p:attrNameLst>
                                      </p:cBhvr>
                                      <p:to>
                                        <p:strVal val="visible"/>
                                      </p:to>
                                    </p:set>
                                  </p:childTnLst>
                                </p:cTn>
                              </p:par>
                            </p:childTnLst>
                          </p:cTn>
                        </p:par>
                        <p:par>
                          <p:cTn id="53" fill="hold">
                            <p:stCondLst>
                              <p:cond delay="0"/>
                            </p:stCondLst>
                            <p:childTnLst>
                              <p:par>
                                <p:cTn id="54" presetClass="entr" nodeType="afterEffect" presetSubtype="0" presetID="1" grpId="17" fill="hold">
                                  <p:stCondLst>
                                    <p:cond delay="0"/>
                                  </p:stCondLst>
                                  <p:iterate type="el" backwards="0">
                                    <p:tmAbs val="0"/>
                                  </p:iterate>
                                  <p:childTnLst>
                                    <p:set>
                                      <p:cBhvr>
                                        <p:cTn id="55" fill="hold"/>
                                        <p:tgtEl>
                                          <p:spTgt spid="16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0" presetID="1" grpId="18" fill="hold">
                                  <p:stCondLst>
                                    <p:cond delay="0"/>
                                  </p:stCondLst>
                                  <p:iterate type="el" backwards="0">
                                    <p:tmAbs val="0"/>
                                  </p:iterate>
                                  <p:childTnLst>
                                    <p:set>
                                      <p:cBhvr>
                                        <p:cTn id="59" fill="hold"/>
                                        <p:tgtEl>
                                          <p:spTgt spid="1609"/>
                                        </p:tgtEl>
                                        <p:attrNameLst>
                                          <p:attrName>style.visibility</p:attrName>
                                        </p:attrNameLst>
                                      </p:cBhvr>
                                      <p:to>
                                        <p:strVal val="visible"/>
                                      </p:to>
                                    </p:set>
                                  </p:childTnLst>
                                </p:cTn>
                              </p:par>
                            </p:childTnLst>
                          </p:cTn>
                        </p:par>
                        <p:par>
                          <p:cTn id="60" fill="hold">
                            <p:stCondLst>
                              <p:cond delay="0"/>
                            </p:stCondLst>
                            <p:childTnLst>
                              <p:par>
                                <p:cTn id="61" presetClass="entr" nodeType="afterEffect" presetSubtype="0" presetID="1" grpId="19" fill="hold">
                                  <p:stCondLst>
                                    <p:cond delay="0"/>
                                  </p:stCondLst>
                                  <p:iterate type="el" backwards="0">
                                    <p:tmAbs val="0"/>
                                  </p:iterate>
                                  <p:childTnLst>
                                    <p:set>
                                      <p:cBhvr>
                                        <p:cTn id="62" fill="hold"/>
                                        <p:tgtEl>
                                          <p:spTgt spid="1611"/>
                                        </p:tgtEl>
                                        <p:attrNameLst>
                                          <p:attrName>style.visibility</p:attrName>
                                        </p:attrNameLst>
                                      </p:cBhvr>
                                      <p:to>
                                        <p:strVal val="visible"/>
                                      </p:to>
                                    </p:set>
                                  </p:childTnLst>
                                </p:cTn>
                              </p:par>
                            </p:childTnLst>
                          </p:cTn>
                        </p:par>
                        <p:par>
                          <p:cTn id="63" fill="hold">
                            <p:stCondLst>
                              <p:cond delay="0"/>
                            </p:stCondLst>
                            <p:childTnLst>
                              <p:par>
                                <p:cTn id="64" presetClass="entr" nodeType="afterEffect" presetSubtype="0" presetID="1" grpId="20" fill="hold">
                                  <p:stCondLst>
                                    <p:cond delay="0"/>
                                  </p:stCondLst>
                                  <p:iterate type="el" backwards="0">
                                    <p:tmAbs val="0"/>
                                  </p:iterate>
                                  <p:childTnLst>
                                    <p:set>
                                      <p:cBhvr>
                                        <p:cTn id="65" fill="hold"/>
                                        <p:tgtEl>
                                          <p:spTgt spid="1614"/>
                                        </p:tgtEl>
                                        <p:attrNameLst>
                                          <p:attrName>style.visibility</p:attrName>
                                        </p:attrNameLst>
                                      </p:cBhvr>
                                      <p:to>
                                        <p:strVal val="visible"/>
                                      </p:to>
                                    </p:set>
                                  </p:childTnLst>
                                </p:cTn>
                              </p:par>
                            </p:childTnLst>
                          </p:cTn>
                        </p:par>
                        <p:par>
                          <p:cTn id="66" fill="hold">
                            <p:stCondLst>
                              <p:cond delay="0"/>
                            </p:stCondLst>
                            <p:childTnLst>
                              <p:par>
                                <p:cTn id="67" presetClass="entr" nodeType="afterEffect" presetSubtype="0" presetID="1" grpId="21" fill="hold">
                                  <p:stCondLst>
                                    <p:cond delay="0"/>
                                  </p:stCondLst>
                                  <p:iterate type="el" backwards="0">
                                    <p:tmAbs val="0"/>
                                  </p:iterate>
                                  <p:childTnLst>
                                    <p:set>
                                      <p:cBhvr>
                                        <p:cTn id="68" fill="hold"/>
                                        <p:tgtEl>
                                          <p:spTgt spid="1623"/>
                                        </p:tgtEl>
                                        <p:attrNameLst>
                                          <p:attrName>style.visibility</p:attrName>
                                        </p:attrNameLst>
                                      </p:cBhvr>
                                      <p:to>
                                        <p:strVal val="visible"/>
                                      </p:to>
                                    </p:set>
                                  </p:childTnLst>
                                </p:cTn>
                              </p:par>
                            </p:childTnLst>
                          </p:cTn>
                        </p:par>
                        <p:par>
                          <p:cTn id="69" fill="hold">
                            <p:stCondLst>
                              <p:cond delay="0"/>
                            </p:stCondLst>
                            <p:childTnLst>
                              <p:par>
                                <p:cTn id="70" presetClass="entr" nodeType="afterEffect" presetSubtype="0" presetID="1" grpId="22" fill="hold">
                                  <p:stCondLst>
                                    <p:cond delay="0"/>
                                  </p:stCondLst>
                                  <p:iterate type="el" backwards="0">
                                    <p:tmAbs val="0"/>
                                  </p:iterate>
                                  <p:childTnLst>
                                    <p:set>
                                      <p:cBhvr>
                                        <p:cTn id="71" fill="hold"/>
                                        <p:tgtEl>
                                          <p:spTgt spid="1624"/>
                                        </p:tgtEl>
                                        <p:attrNameLst>
                                          <p:attrName>style.visibility</p:attrName>
                                        </p:attrNameLst>
                                      </p:cBhvr>
                                      <p:to>
                                        <p:strVal val="visible"/>
                                      </p:to>
                                    </p:set>
                                  </p:childTnLst>
                                </p:cTn>
                              </p:par>
                            </p:childTnLst>
                          </p:cTn>
                        </p:par>
                        <p:par>
                          <p:cTn id="72" fill="hold">
                            <p:stCondLst>
                              <p:cond delay="0"/>
                            </p:stCondLst>
                            <p:childTnLst>
                              <p:par>
                                <p:cTn id="73" presetClass="entr" nodeType="afterEffect" presetSubtype="0" presetID="1" grpId="23" fill="hold">
                                  <p:stCondLst>
                                    <p:cond delay="0"/>
                                  </p:stCondLst>
                                  <p:iterate type="el" backwards="0">
                                    <p:tmAbs val="0"/>
                                  </p:iterate>
                                  <p:childTnLst>
                                    <p:set>
                                      <p:cBhvr>
                                        <p:cTn id="74" fill="hold"/>
                                        <p:tgtEl>
                                          <p:spTgt spid="1625"/>
                                        </p:tgtEl>
                                        <p:attrNameLst>
                                          <p:attrName>style.visibility</p:attrName>
                                        </p:attrNameLst>
                                      </p:cBhvr>
                                      <p:to>
                                        <p:strVal val="visible"/>
                                      </p:to>
                                    </p:set>
                                  </p:childTnLst>
                                </p:cTn>
                              </p:par>
                            </p:childTnLst>
                          </p:cTn>
                        </p:par>
                        <p:par>
                          <p:cTn id="75" fill="hold">
                            <p:stCondLst>
                              <p:cond delay="0"/>
                            </p:stCondLst>
                            <p:childTnLst>
                              <p:par>
                                <p:cTn id="76" presetClass="entr" nodeType="afterEffect" presetSubtype="0" presetID="1" grpId="24" fill="hold">
                                  <p:stCondLst>
                                    <p:cond delay="0"/>
                                  </p:stCondLst>
                                  <p:iterate type="el" backwards="0">
                                    <p:tmAbs val="0"/>
                                  </p:iterate>
                                  <p:childTnLst>
                                    <p:set>
                                      <p:cBhvr>
                                        <p:cTn id="77" fill="hold"/>
                                        <p:tgtEl>
                                          <p:spTgt spid="1634"/>
                                        </p:tgtEl>
                                        <p:attrNameLst>
                                          <p:attrName>style.visibility</p:attrName>
                                        </p:attrNameLst>
                                      </p:cBhvr>
                                      <p:to>
                                        <p:strVal val="visible"/>
                                      </p:to>
                                    </p:set>
                                  </p:childTnLst>
                                </p:cTn>
                              </p:par>
                            </p:childTnLst>
                          </p:cTn>
                        </p:par>
                        <p:par>
                          <p:cTn id="78" fill="hold">
                            <p:stCondLst>
                              <p:cond delay="0"/>
                            </p:stCondLst>
                            <p:childTnLst>
                              <p:par>
                                <p:cTn id="79" presetClass="entr" nodeType="afterEffect" presetSubtype="0" presetID="1" grpId="25" fill="hold">
                                  <p:stCondLst>
                                    <p:cond delay="0"/>
                                  </p:stCondLst>
                                  <p:iterate type="el" backwards="0">
                                    <p:tmAbs val="0"/>
                                  </p:iterate>
                                  <p:childTnLst>
                                    <p:set>
                                      <p:cBhvr>
                                        <p:cTn id="80" fill="hold"/>
                                        <p:tgtEl>
                                          <p:spTgt spid="1635"/>
                                        </p:tgtEl>
                                        <p:attrNameLst>
                                          <p:attrName>style.visibility</p:attrName>
                                        </p:attrNameLst>
                                      </p:cBhvr>
                                      <p:to>
                                        <p:strVal val="visible"/>
                                      </p:to>
                                    </p:set>
                                  </p:childTnLst>
                                </p:cTn>
                              </p:par>
                            </p:childTnLst>
                          </p:cTn>
                        </p:par>
                        <p:par>
                          <p:cTn id="81" fill="hold">
                            <p:stCondLst>
                              <p:cond delay="0"/>
                            </p:stCondLst>
                            <p:childTnLst>
                              <p:par>
                                <p:cTn id="82" presetClass="entr" nodeType="afterEffect" presetSubtype="0" presetID="1" grpId="26" fill="hold">
                                  <p:stCondLst>
                                    <p:cond delay="0"/>
                                  </p:stCondLst>
                                  <p:iterate type="el" backwards="0">
                                    <p:tmAbs val="0"/>
                                  </p:iterate>
                                  <p:childTnLst>
                                    <p:set>
                                      <p:cBhvr>
                                        <p:cTn id="83" fill="hold"/>
                                        <p:tgtEl>
                                          <p:spTgt spid="1636"/>
                                        </p:tgtEl>
                                        <p:attrNameLst>
                                          <p:attrName>style.visibility</p:attrName>
                                        </p:attrNameLst>
                                      </p:cBhvr>
                                      <p:to>
                                        <p:strVal val="visible"/>
                                      </p:to>
                                    </p:set>
                                  </p:childTnLst>
                                </p:cTn>
                              </p:par>
                            </p:childTnLst>
                          </p:cTn>
                        </p:par>
                        <p:par>
                          <p:cTn id="84" fill="hold">
                            <p:stCondLst>
                              <p:cond delay="0"/>
                            </p:stCondLst>
                            <p:childTnLst>
                              <p:par>
                                <p:cTn id="85" presetClass="entr" nodeType="afterEffect" presetSubtype="0" presetID="1" grpId="27" fill="hold">
                                  <p:stCondLst>
                                    <p:cond delay="0"/>
                                  </p:stCondLst>
                                  <p:iterate type="el" backwards="0">
                                    <p:tmAbs val="0"/>
                                  </p:iterate>
                                  <p:childTnLst>
                                    <p:set>
                                      <p:cBhvr>
                                        <p:cTn id="86" fill="hold"/>
                                        <p:tgtEl>
                                          <p:spTgt spid="16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Class="entr" nodeType="clickEffect" presetSubtype="0" presetID="1" grpId="28" fill="hold">
                                  <p:stCondLst>
                                    <p:cond delay="0"/>
                                  </p:stCondLst>
                                  <p:iterate type="el" backwards="0">
                                    <p:tmAbs val="0"/>
                                  </p:iterate>
                                  <p:childTnLst>
                                    <p:set>
                                      <p:cBhvr>
                                        <p:cTn id="90" fill="hold"/>
                                        <p:tgtEl>
                                          <p:spTgt spid="1638"/>
                                        </p:tgtEl>
                                        <p:attrNameLst>
                                          <p:attrName>style.visibility</p:attrName>
                                        </p:attrNameLst>
                                      </p:cBhvr>
                                      <p:to>
                                        <p:strVal val="visible"/>
                                      </p:to>
                                    </p:set>
                                  </p:childTnLst>
                                </p:cTn>
                              </p:par>
                            </p:childTnLst>
                          </p:cTn>
                        </p:par>
                        <p:par>
                          <p:cTn id="91" fill="hold">
                            <p:stCondLst>
                              <p:cond delay="0"/>
                            </p:stCondLst>
                            <p:childTnLst>
                              <p:par>
                                <p:cTn id="92" presetClass="entr" nodeType="afterEffect" presetSubtype="0" presetID="1" grpId="29" fill="hold">
                                  <p:stCondLst>
                                    <p:cond delay="0"/>
                                  </p:stCondLst>
                                  <p:iterate type="el" backwards="0">
                                    <p:tmAbs val="0"/>
                                  </p:iterate>
                                  <p:childTnLst>
                                    <p:set>
                                      <p:cBhvr>
                                        <p:cTn id="93" fill="hold"/>
                                        <p:tgtEl>
                                          <p:spTgt spid="1639"/>
                                        </p:tgtEl>
                                        <p:attrNameLst>
                                          <p:attrName>style.visibility</p:attrName>
                                        </p:attrNameLst>
                                      </p:cBhvr>
                                      <p:to>
                                        <p:strVal val="visible"/>
                                      </p:to>
                                    </p:set>
                                  </p:childTnLst>
                                </p:cTn>
                              </p:par>
                            </p:childTnLst>
                          </p:cTn>
                        </p:par>
                        <p:par>
                          <p:cTn id="94" fill="hold">
                            <p:stCondLst>
                              <p:cond delay="0"/>
                            </p:stCondLst>
                            <p:childTnLst>
                              <p:par>
                                <p:cTn id="95" presetClass="entr" nodeType="afterEffect" presetSubtype="0" presetID="1" grpId="30" fill="hold">
                                  <p:stCondLst>
                                    <p:cond delay="0"/>
                                  </p:stCondLst>
                                  <p:iterate type="el" backwards="0">
                                    <p:tmAbs val="0"/>
                                  </p:iterate>
                                  <p:childTnLst>
                                    <p:set>
                                      <p:cBhvr>
                                        <p:cTn id="96" fill="hold"/>
                                        <p:tgtEl>
                                          <p:spTgt spid="16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03" grpId="1"/>
      <p:bldP build="whole" bldLvl="1" animBg="1" rev="0" advAuto="0" spid="1631" grpId="15"/>
      <p:bldP build="whole" bldLvl="1" animBg="1" rev="0" advAuto="0" spid="1622" grpId="14"/>
      <p:bldP build="whole" bldLvl="1" animBg="1" rev="0" advAuto="0" spid="1618" grpId="4"/>
      <p:bldP build="whole" bldLvl="1" animBg="1" rev="0" advAuto="0" spid="1621" grpId="13"/>
      <p:bldP build="whole" bldLvl="1" animBg="1" rev="0" advAuto="0" spid="1620" grpId="12"/>
      <p:bldP build="whole" bldLvl="1" animBg="1" rev="0" advAuto="0" spid="1634" grpId="24"/>
      <p:bldP build="whole" bldLvl="1" animBg="1" rev="0" advAuto="0" spid="1612" grpId="2"/>
      <p:bldP build="whole" bldLvl="1" animBg="1" rev="0" advAuto="0" spid="1635" grpId="25"/>
      <p:bldP build="whole" bldLvl="1" animBg="1" rev="0" advAuto="0" spid="1640" grpId="30"/>
      <p:bldP build="whole" bldLvl="1" animBg="1" rev="0" advAuto="0" spid="1630" grpId="8"/>
      <p:bldP build="whole" bldLvl="1" animBg="1" rev="0" advAuto="0" spid="1633" grpId="17"/>
      <p:bldP build="whole" bldLvl="1" animBg="1" rev="0" advAuto="0" spid="1611" grpId="19"/>
      <p:bldP build="whole" bldLvl="1" animBg="1" rev="0" advAuto="0" spid="1639" grpId="29"/>
      <p:bldP build="whole" bldLvl="1" animBg="1" rev="0" advAuto="0" spid="1623" grpId="21"/>
      <p:bldP build="whole" bldLvl="1" animBg="1" rev="0" advAuto="0" spid="1617" grpId="3"/>
      <p:bldP build="whole" bldLvl="1" animBg="1" rev="0" advAuto="0" spid="1619" grpId="5"/>
      <p:bldP build="whole" bldLvl="1" animBg="1" rev="0" advAuto="0" spid="1637" grpId="27"/>
      <p:bldP build="whole" bldLvl="1" animBg="1" rev="0" advAuto="0" spid="1638" grpId="28"/>
      <p:bldP build="whole" bldLvl="1" animBg="1" rev="0" advAuto="0" spid="1624" grpId="22"/>
      <p:bldP build="whole" bldLvl="1" animBg="1" rev="0" advAuto="0" spid="1614" grpId="20"/>
      <p:bldP build="whole" bldLvl="1" animBg="1" rev="0" advAuto="0" spid="1636" grpId="26"/>
      <p:bldP build="whole" bldLvl="1" animBg="1" rev="0" advAuto="0" spid="1625" grpId="23"/>
      <p:bldP build="whole" bldLvl="1" animBg="1" rev="0" advAuto="0" spid="1613" grpId="11"/>
      <p:bldP build="whole" bldLvl="1" animBg="1" rev="0" advAuto="0" spid="1609" grpId="18"/>
      <p:bldP build="whole" bldLvl="1" animBg="1" rev="0" advAuto="0" spid="1632" grpId="16"/>
      <p:bldP build="whole" bldLvl="1" animBg="1" rev="0" advAuto="0" spid="1606" grpId="9"/>
      <p:bldP build="whole" bldLvl="1" animBg="1" rev="0" advAuto="0" spid="1628" grpId="6"/>
      <p:bldP build="whole" bldLvl="1" animBg="1" rev="0" advAuto="0" spid="1610" grpId="10"/>
      <p:bldP build="whole" bldLvl="1" animBg="1" rev="0" advAuto="0" spid="1629" grpId="7"/>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5" name="TextBox 1"/>
          <p:cNvSpPr txBox="1"/>
          <p:nvPr/>
        </p:nvSpPr>
        <p:spPr>
          <a:xfrm>
            <a:off x="247650" y="241299"/>
            <a:ext cx="8982075"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233852"/>
                </a:solidFill>
                <a:latin typeface="+mj-lt"/>
                <a:ea typeface="+mj-ea"/>
                <a:cs typeface="+mj-cs"/>
                <a:sym typeface="Helvetica"/>
              </a:defRPr>
            </a:lvl1pPr>
          </a:lstStyle>
          <a:p>
            <a:pPr/>
            <a:r>
              <a:t>Three Takeaways</a:t>
            </a:r>
          </a:p>
        </p:txBody>
      </p:sp>
      <p:sp>
        <p:nvSpPr>
          <p:cNvPr id="1646" name="TextBox 3"/>
          <p:cNvSpPr txBox="1"/>
          <p:nvPr/>
        </p:nvSpPr>
        <p:spPr>
          <a:xfrm>
            <a:off x="11382375" y="6073773"/>
            <a:ext cx="4953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86B80"/>
                </a:solidFill>
                <a:latin typeface="Courier New"/>
                <a:ea typeface="Courier New"/>
                <a:cs typeface="Courier New"/>
                <a:sym typeface="Courier New"/>
              </a:defRPr>
            </a:lvl1pPr>
          </a:lstStyle>
          <a:p>
            <a:pPr/>
            <a:r>
              <a:t>33</a:t>
            </a:r>
          </a:p>
        </p:txBody>
      </p:sp>
      <p:pic>
        <p:nvPicPr>
          <p:cNvPr id="1647" name="Picture 4" descr="Picture 4"/>
          <p:cNvPicPr>
            <a:picLocks noChangeAspect="1"/>
          </p:cNvPicPr>
          <p:nvPr/>
        </p:nvPicPr>
        <p:blipFill>
          <a:blip r:embed="rId3">
            <a:extLst/>
          </a:blip>
          <a:stretch>
            <a:fillRect/>
          </a:stretch>
        </p:blipFill>
        <p:spPr>
          <a:xfrm>
            <a:off x="10382250" y="6000750"/>
            <a:ext cx="842012" cy="256223"/>
          </a:xfrm>
          <a:prstGeom prst="rect">
            <a:avLst/>
          </a:prstGeom>
          <a:ln w="12700">
            <a:miter lim="400000"/>
          </a:ln>
        </p:spPr>
      </p:pic>
      <p:pic>
        <p:nvPicPr>
          <p:cNvPr id="1648" name="图片 45" descr="图片 45"/>
          <p:cNvPicPr>
            <a:picLocks noChangeAspect="1"/>
          </p:cNvPicPr>
          <p:nvPr/>
        </p:nvPicPr>
        <p:blipFill>
          <a:blip r:embed="rId4">
            <a:extLst/>
          </a:blip>
          <a:stretch>
            <a:fillRect/>
          </a:stretch>
        </p:blipFill>
        <p:spPr>
          <a:xfrm>
            <a:off x="9439909" y="326390"/>
            <a:ext cx="2517141" cy="295277"/>
          </a:xfrm>
          <a:prstGeom prst="rect">
            <a:avLst/>
          </a:prstGeom>
          <a:ln w="12700">
            <a:miter lim="400000"/>
          </a:ln>
        </p:spPr>
      </p:pic>
      <p:sp>
        <p:nvSpPr>
          <p:cNvPr id="1649" name="v-967"/>
          <p:cNvSpPr/>
          <p:nvPr/>
        </p:nvSpPr>
        <p:spPr>
          <a:xfrm>
            <a:off x="523875" y="819150"/>
            <a:ext cx="11049000" cy="5219700"/>
          </a:xfrm>
          <a:prstGeom prst="rect">
            <a:avLst/>
          </a:prstGeom>
          <a:solidFill>
            <a:srgbClr val="FFFFFF"/>
          </a:solidFill>
          <a:ln w="12700">
            <a:miter lim="400000"/>
          </a:ln>
        </p:spPr>
        <p:txBody>
          <a:bodyPr lIns="45718" tIns="45718" rIns="45718" bIns="45718"/>
          <a:lstStyle/>
          <a:p>
            <a:pPr>
              <a:defRPr>
                <a:latin typeface="+mj-lt"/>
                <a:ea typeface="+mj-ea"/>
                <a:cs typeface="+mj-cs"/>
                <a:sym typeface="Helvetica"/>
              </a:defRPr>
            </a:pPr>
          </a:p>
        </p:txBody>
      </p:sp>
      <p:sp>
        <p:nvSpPr>
          <p:cNvPr id="1650" name="v-968"/>
          <p:cNvSpPr txBox="1"/>
          <p:nvPr/>
        </p:nvSpPr>
        <p:spPr>
          <a:xfrm>
            <a:off x="779144" y="1667564"/>
            <a:ext cx="1146812" cy="6463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4000">
                <a:solidFill>
                  <a:srgbClr val="2B5294"/>
                </a:solidFill>
                <a:latin typeface="Arial"/>
                <a:ea typeface="Arial"/>
                <a:cs typeface="Arial"/>
                <a:sym typeface="Arial"/>
              </a:defRPr>
            </a:lvl1pPr>
          </a:lstStyle>
          <a:p>
            <a:pPr/>
            <a:r>
              <a:t>01</a:t>
            </a:r>
          </a:p>
        </p:txBody>
      </p:sp>
      <p:sp>
        <p:nvSpPr>
          <p:cNvPr id="1651" name="v-969"/>
          <p:cNvSpPr txBox="1"/>
          <p:nvPr/>
        </p:nvSpPr>
        <p:spPr>
          <a:xfrm>
            <a:off x="2560320" y="1640087"/>
            <a:ext cx="8290560" cy="5107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3000">
                <a:solidFill>
                  <a:srgbClr val="2B5294"/>
                </a:solidFill>
                <a:latin typeface="Arial"/>
                <a:ea typeface="Arial"/>
                <a:cs typeface="Arial"/>
                <a:sym typeface="Arial"/>
              </a:defRPr>
            </a:lvl1pPr>
          </a:lstStyle>
          <a:p>
            <a:pPr/>
            <a:r>
              <a:t>RadixAttention</a:t>
            </a:r>
          </a:p>
        </p:txBody>
      </p:sp>
      <p:sp>
        <p:nvSpPr>
          <p:cNvPr id="1652" name="v-970"/>
          <p:cNvSpPr txBox="1"/>
          <p:nvPr/>
        </p:nvSpPr>
        <p:spPr>
          <a:xfrm>
            <a:off x="2588895" y="2270443"/>
            <a:ext cx="8195310" cy="459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400">
                <a:solidFill>
                  <a:srgbClr val="203752"/>
                </a:solidFill>
                <a:latin typeface="+mj-lt"/>
                <a:ea typeface="+mj-ea"/>
                <a:cs typeface="+mj-cs"/>
                <a:sym typeface="Helvetica"/>
              </a:defRPr>
            </a:lvl1pPr>
          </a:lstStyle>
          <a:p>
            <a:pPr/>
            <a:r>
              <a:t>Match prefixes, reuse KV</a:t>
            </a:r>
          </a:p>
        </p:txBody>
      </p:sp>
      <p:sp>
        <p:nvSpPr>
          <p:cNvPr id="1653" name="v-971"/>
          <p:cNvSpPr txBox="1"/>
          <p:nvPr/>
        </p:nvSpPr>
        <p:spPr>
          <a:xfrm>
            <a:off x="779144" y="3086789"/>
            <a:ext cx="1146812" cy="6463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4000">
                <a:solidFill>
                  <a:srgbClr val="2E75B8"/>
                </a:solidFill>
                <a:latin typeface="Arial"/>
                <a:ea typeface="Arial"/>
                <a:cs typeface="Arial"/>
                <a:sym typeface="Arial"/>
              </a:defRPr>
            </a:lvl1pPr>
          </a:lstStyle>
          <a:p>
            <a:pPr/>
            <a:r>
              <a:t>02</a:t>
            </a:r>
          </a:p>
        </p:txBody>
      </p:sp>
      <p:sp>
        <p:nvSpPr>
          <p:cNvPr id="1654" name="v-972"/>
          <p:cNvSpPr txBox="1"/>
          <p:nvPr/>
        </p:nvSpPr>
        <p:spPr>
          <a:xfrm>
            <a:off x="2560320" y="3059312"/>
            <a:ext cx="8290560" cy="5107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3000">
                <a:solidFill>
                  <a:srgbClr val="2E75B8"/>
                </a:solidFill>
                <a:latin typeface="Arial"/>
                <a:ea typeface="Arial"/>
                <a:cs typeface="Arial"/>
                <a:sym typeface="Arial"/>
              </a:defRPr>
            </a:lvl1pPr>
          </a:lstStyle>
          <a:p>
            <a:pPr/>
            <a:r>
              <a:t>HiCache</a:t>
            </a:r>
          </a:p>
        </p:txBody>
      </p:sp>
      <p:sp>
        <p:nvSpPr>
          <p:cNvPr id="1655" name="v-973"/>
          <p:cNvSpPr txBox="1"/>
          <p:nvPr/>
        </p:nvSpPr>
        <p:spPr>
          <a:xfrm>
            <a:off x="2588895" y="3689668"/>
            <a:ext cx="8195310" cy="459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400">
                <a:solidFill>
                  <a:srgbClr val="203752"/>
                </a:solidFill>
                <a:latin typeface="+mj-lt"/>
                <a:ea typeface="+mj-ea"/>
                <a:cs typeface="+mj-cs"/>
                <a:sym typeface="Helvetica"/>
              </a:defRPr>
            </a:lvl1pPr>
          </a:lstStyle>
          <a:p>
            <a:pPr/>
            <a:r>
              <a:t>Store across tiers, restore on demand</a:t>
            </a:r>
          </a:p>
        </p:txBody>
      </p:sp>
      <p:sp>
        <p:nvSpPr>
          <p:cNvPr id="1656" name="v-974"/>
          <p:cNvSpPr txBox="1"/>
          <p:nvPr/>
        </p:nvSpPr>
        <p:spPr>
          <a:xfrm>
            <a:off x="779144" y="4506014"/>
            <a:ext cx="1146812" cy="6463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4000">
                <a:solidFill>
                  <a:srgbClr val="8056BF"/>
                </a:solidFill>
                <a:latin typeface="Arial"/>
                <a:ea typeface="Arial"/>
                <a:cs typeface="Arial"/>
                <a:sym typeface="Arial"/>
              </a:defRPr>
            </a:lvl1pPr>
          </a:lstStyle>
          <a:p>
            <a:pPr/>
            <a:r>
              <a:t>03</a:t>
            </a:r>
          </a:p>
        </p:txBody>
      </p:sp>
      <p:sp>
        <p:nvSpPr>
          <p:cNvPr id="1657" name="v-975"/>
          <p:cNvSpPr txBox="1"/>
          <p:nvPr/>
        </p:nvSpPr>
        <p:spPr>
          <a:xfrm>
            <a:off x="2560320" y="4478537"/>
            <a:ext cx="8290560" cy="5107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3000">
                <a:solidFill>
                  <a:srgbClr val="8056BF"/>
                </a:solidFill>
                <a:latin typeface="Arial"/>
                <a:ea typeface="Arial"/>
                <a:cs typeface="Arial"/>
                <a:sym typeface="Arial"/>
              </a:defRPr>
            </a:lvl1pPr>
          </a:lstStyle>
          <a:p>
            <a:pPr/>
            <a:r>
              <a:t>Unified Radix Tree</a:t>
            </a:r>
          </a:p>
        </p:txBody>
      </p:sp>
      <p:sp>
        <p:nvSpPr>
          <p:cNvPr id="1658" name="v-976"/>
          <p:cNvSpPr txBox="1"/>
          <p:nvPr/>
        </p:nvSpPr>
        <p:spPr>
          <a:xfrm>
            <a:off x="2588895" y="5108893"/>
            <a:ext cx="8195310" cy="459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400">
                <a:solidFill>
                  <a:srgbClr val="203752"/>
                </a:solidFill>
                <a:latin typeface="+mj-lt"/>
                <a:ea typeface="+mj-ea"/>
                <a:cs typeface="+mj-cs"/>
                <a:sym typeface="Helvetica"/>
              </a:defRPr>
            </a:lvl1pPr>
          </a:lstStyle>
          <a:p>
            <a:pPr/>
            <a:r>
              <a:t>Share the tree, compose state rules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65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65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6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4" fill="hold">
                                  <p:stCondLst>
                                    <p:cond delay="0"/>
                                  </p:stCondLst>
                                  <p:iterate type="el" backwards="0">
                                    <p:tmAbs val="0"/>
                                  </p:iterate>
                                  <p:childTnLst>
                                    <p:set>
                                      <p:cBhvr>
                                        <p:cTn id="16" fill="hold"/>
                                        <p:tgtEl>
                                          <p:spTgt spid="1653"/>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5" fill="hold">
                                  <p:stCondLst>
                                    <p:cond delay="0"/>
                                  </p:stCondLst>
                                  <p:iterate type="el" backwards="0">
                                    <p:tmAbs val="0"/>
                                  </p:iterate>
                                  <p:childTnLst>
                                    <p:set>
                                      <p:cBhvr>
                                        <p:cTn id="19" fill="hold"/>
                                        <p:tgtEl>
                                          <p:spTgt spid="1654"/>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16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7" fill="hold">
                                  <p:stCondLst>
                                    <p:cond delay="0"/>
                                  </p:stCondLst>
                                  <p:iterate type="el" backwards="0">
                                    <p:tmAbs val="0"/>
                                  </p:iterate>
                                  <p:childTnLst>
                                    <p:set>
                                      <p:cBhvr>
                                        <p:cTn id="26" fill="hold"/>
                                        <p:tgtEl>
                                          <p:spTgt spid="1656"/>
                                        </p:tgtEl>
                                        <p:attrNameLst>
                                          <p:attrName>style.visibility</p:attrName>
                                        </p:attrNameLst>
                                      </p:cBhvr>
                                      <p:to>
                                        <p:strVal val="visible"/>
                                      </p:to>
                                    </p:set>
                                  </p:childTnLst>
                                </p:cTn>
                              </p:par>
                            </p:childTnLst>
                          </p:cTn>
                        </p:par>
                        <p:par>
                          <p:cTn id="27" fill="hold">
                            <p:stCondLst>
                              <p:cond delay="0"/>
                            </p:stCondLst>
                            <p:childTnLst>
                              <p:par>
                                <p:cTn id="28" presetClass="entr" nodeType="afterEffect" presetSubtype="0" presetID="1" grpId="8" fill="hold">
                                  <p:stCondLst>
                                    <p:cond delay="0"/>
                                  </p:stCondLst>
                                  <p:iterate type="el" backwards="0">
                                    <p:tmAbs val="0"/>
                                  </p:iterate>
                                  <p:childTnLst>
                                    <p:set>
                                      <p:cBhvr>
                                        <p:cTn id="29" fill="hold"/>
                                        <p:tgtEl>
                                          <p:spTgt spid="1657"/>
                                        </p:tgtEl>
                                        <p:attrNameLst>
                                          <p:attrName>style.visibility</p:attrName>
                                        </p:attrNameLst>
                                      </p:cBhvr>
                                      <p:to>
                                        <p:strVal val="visible"/>
                                      </p:to>
                                    </p:set>
                                  </p:childTnLst>
                                </p:cTn>
                              </p:par>
                            </p:childTnLst>
                          </p:cTn>
                        </p:par>
                        <p:par>
                          <p:cTn id="30" fill="hold">
                            <p:stCondLst>
                              <p:cond delay="0"/>
                            </p:stCondLst>
                            <p:childTnLst>
                              <p:par>
                                <p:cTn id="31" presetClass="entr" nodeType="afterEffect" presetSubtype="0" presetID="1" grpId="9" fill="hold">
                                  <p:stCondLst>
                                    <p:cond delay="0"/>
                                  </p:stCondLst>
                                  <p:iterate type="el" backwards="0">
                                    <p:tmAbs val="0"/>
                                  </p:iterate>
                                  <p:childTnLst>
                                    <p:set>
                                      <p:cBhvr>
                                        <p:cTn id="32" fill="hold"/>
                                        <p:tgtEl>
                                          <p:spTgt spid="16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56" grpId="7"/>
      <p:bldP build="whole" bldLvl="1" animBg="1" rev="0" advAuto="0" spid="1655" grpId="6"/>
      <p:bldP build="whole" bldLvl="1" animBg="1" rev="0" advAuto="0" spid="1651" grpId="2"/>
      <p:bldP build="whole" bldLvl="1" animBg="1" rev="0" advAuto="0" spid="1652" grpId="3"/>
      <p:bldP build="whole" bldLvl="1" animBg="1" rev="0" advAuto="0" spid="1653" grpId="4"/>
      <p:bldP build="whole" bldLvl="1" animBg="1" rev="0" advAuto="0" spid="1654" grpId="5"/>
      <p:bldP build="whole" bldLvl="1" animBg="1" rev="0" advAuto="0" spid="1657" grpId="8"/>
      <p:bldP build="whole" bldLvl="1" animBg="1" rev="0" advAuto="0" spid="1658" grpId="9"/>
      <p:bldP build="whole" bldLvl="1" animBg="1" rev="0" advAuto="0" spid="1650"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2" name="TextBox 1"/>
          <p:cNvSpPr txBox="1"/>
          <p:nvPr/>
        </p:nvSpPr>
        <p:spPr>
          <a:xfrm>
            <a:off x="396646" y="1968499"/>
            <a:ext cx="4088255" cy="292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600">
                <a:solidFill>
                  <a:srgbClr val="FFFFFF"/>
                </a:solidFill>
                <a:latin typeface="+mj-lt"/>
                <a:ea typeface="+mj-ea"/>
                <a:cs typeface="+mj-cs"/>
                <a:sym typeface="Helvetica"/>
              </a:defRPr>
            </a:lvl1pPr>
          </a:lstStyle>
          <a:p>
            <a:pPr/>
            <a:r>
              <a:t>Thank You</a:t>
            </a:r>
          </a:p>
        </p:txBody>
      </p:sp>
      <p:pic>
        <p:nvPicPr>
          <p:cNvPr id="1663" name="Image 0" descr="Image 0"/>
          <p:cNvPicPr>
            <a:picLocks noChangeAspect="1"/>
          </p:cNvPicPr>
          <p:nvPr/>
        </p:nvPicPr>
        <p:blipFill>
          <a:blip r:embed="rId2">
            <a:extLst/>
          </a:blip>
          <a:stretch>
            <a:fillRect/>
          </a:stretch>
        </p:blipFill>
        <p:spPr>
          <a:xfrm>
            <a:off x="4637663" y="1970663"/>
            <a:ext cx="2916674" cy="2916674"/>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GOSIM-默认">
  <a:themeElements>
    <a:clrScheme name="GOSIM-默认">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GOSIM-默认">
      <a:majorFont>
        <a:latin typeface="Helvetica"/>
        <a:ea typeface="Helvetica"/>
        <a:cs typeface="Helvetica"/>
      </a:majorFont>
      <a:minorFont>
        <a:latin typeface="Helvetica Neue"/>
        <a:ea typeface="Helvetica Neue"/>
        <a:cs typeface="Helvetica Neue"/>
      </a:minorFont>
    </a:fontScheme>
    <a:fmtScheme name="GOSIM-默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GOSIM-默认">
  <a:themeElements>
    <a:clrScheme name="GOSIM-默认">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GOSIM-默认">
      <a:majorFont>
        <a:latin typeface="Helvetica"/>
        <a:ea typeface="Helvetica"/>
        <a:cs typeface="Helvetica"/>
      </a:majorFont>
      <a:minorFont>
        <a:latin typeface="Helvetica Neue"/>
        <a:ea typeface="Helvetica Neue"/>
        <a:cs typeface="Helvetica Neue"/>
      </a:minorFont>
    </a:fontScheme>
    <a:fmtScheme name="GOSIM-默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