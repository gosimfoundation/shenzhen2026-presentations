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6"/>
    <p:restoredTop sz="94681"/>
  </p:normalViewPr>
  <p:slideViewPr>
    <p:cSldViewPr snapToGrid="0" showGuides="1">
      <p:cViewPr varScale="1">
        <p:scale>
          <a:sx n="149" d="100"/>
          <a:sy n="149" d="100"/>
        </p:scale>
        <p:origin x="50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  <a:t>2026/10/17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/Users/enson/Downloads/GOSIM-Shenzhen-2026KV.jpgGOSIM-Shenzhen-2026KV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5" descr="组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2" descr="/Users/enson/Downloads/GOSIM-Shenzhen-2026KV1.jpgGOSIM-Shenzhen-2026KV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6" descr="GOSIM Shenzhen 2026"/>
          <p:cNvPicPr>
            <a:picLocks noChangeAspect="1"/>
          </p:cNvPicPr>
          <p:nvPr userDrawn="1"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</a:p>
        </p:txBody>
      </p:sp>
      <p:pic>
        <p:nvPicPr>
          <p:cNvPr id="9" name="图片 7" descr="组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 descr="/Users/enson/Downloads/GOSIM-Shenzhen-2026KV.jpgGOSIM-Shenzhen-2026KV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3" descr="CONTENTS_"/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13" name="图片 5" descr="GOSIM Shenzhen 2026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4" name="矩形 4"/>
          <p:cNvSpPr/>
          <p:nvPr userDrawn="1"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15" name="图片 1"/>
          <p:cNvPicPr>
            <a:picLocks noChangeAspect="1"/>
          </p:cNvPicPr>
          <p:nvPr userDrawn="1"/>
        </p:nvPicPr>
        <p:blipFill>
          <a:blip r:embed="rId5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16" name="图片 7" descr="/Users/enson/Downloads/组 2.png组 2"/>
          <p:cNvPicPr>
            <a:picLocks noChangeAspect="1"/>
          </p:cNvPicPr>
          <p:nvPr userDrawn="1"/>
        </p:nvPicPr>
        <p:blipFill>
          <a:blip r:embed="rId6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 descr="/Users/enson/Downloads/GOSIM-Shenzhen-2026KV1.jpgGOSIM-Shenzhen-2026KV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图片 6" descr="GOSIM Shenzhen 2026"/>
          <p:cNvPicPr>
            <a:picLocks noChangeAspect="1"/>
          </p:cNvPicPr>
          <p:nvPr userDrawn="1"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0" name="标题 1"/>
          <p:cNvSpPr>
            <a:spLocks noGrp="1"/>
          </p:cNvSpPr>
          <p:nvPr>
            <p:ph type="ctrTitle" hasCustomPrompt="1"/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22" name="图片 7" descr="组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25" name="矩形 40"/>
          <p:cNvSpPr/>
          <p:nvPr userDrawn="1"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26" name="直接连接符 8"/>
          <p:cNvCxnSpPr/>
          <p:nvPr userDrawn="1"/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11"/>
          <p:cNvCxnSpPr/>
          <p:nvPr userDrawn="1"/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45" descr="GOSIM Shenzhen 20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29" name="图片 46" descr="/Users/enson/Downloads/组 2.png组 2"/>
          <p:cNvPicPr>
            <a:picLocks noChangeAspect="1"/>
          </p:cNvPicPr>
          <p:nvPr userDrawn="1"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30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31" name="图片 12" descr="/Users/enson/Downloads/组 3.png组 3"/>
          <p:cNvPicPr>
            <a:picLocks noChangeAspect="1"/>
          </p:cNvPicPr>
          <p:nvPr userDrawn="1"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3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36" name="矩形 40"/>
          <p:cNvSpPr/>
          <p:nvPr userDrawn="1"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37" name="直接连接符 8"/>
          <p:cNvCxnSpPr/>
          <p:nvPr userDrawn="1"/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11"/>
          <p:cNvCxnSpPr/>
          <p:nvPr userDrawn="1"/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45" descr="GOSIM Shenzhen 20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0" name="图片 46" descr="/Users/enson/Downloads/组 2.png组 2"/>
          <p:cNvPicPr>
            <a:picLocks noChangeAspect="1"/>
          </p:cNvPicPr>
          <p:nvPr userDrawn="1"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41" name="图片 12" descr="/Users/enson/Downloads/组 3.png组 3"/>
          <p:cNvPicPr>
            <a:picLocks noChangeAspect="1"/>
          </p:cNvPicPr>
          <p:nvPr userDrawn="1"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图片占位符 2"/>
          <p:cNvSpPr>
            <a:spLocks noGrp="1"/>
          </p:cNvSpPr>
          <p:nvPr>
            <p:ph type="pic" idx="1"/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4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</a:p>
        </p:txBody>
      </p:sp>
      <p:sp>
        <p:nvSpPr>
          <p:cNvPr id="4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6" name="矩形 40"/>
          <p:cNvSpPr/>
          <p:nvPr userDrawn="1"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7" name="直接连接符 8"/>
          <p:cNvCxnSpPr/>
          <p:nvPr userDrawn="1"/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11"/>
          <p:cNvCxnSpPr/>
          <p:nvPr userDrawn="1"/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5" descr="GOSIM Shenzhen 20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0" name="图片 46" descr="/Users/enson/Downloads/组 2.png组 2"/>
          <p:cNvPicPr>
            <a:picLocks noChangeAspect="1"/>
          </p:cNvPicPr>
          <p:nvPr userDrawn="1"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51" name="图片 12" descr="/Users/enson/Downloads/组 3.png组 3"/>
          <p:cNvPicPr>
            <a:picLocks noChangeAspect="1"/>
          </p:cNvPicPr>
          <p:nvPr userDrawn="1"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2" descr="/Users/enson/Downloads/GOSIM-Shenzhen-2026KV.jpgGOSIM-Shenzhen-2026KV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4" name="图片 12" descr="/Users/enson/Downloads/组 3.png组 3"/>
          <p:cNvPicPr>
            <a:picLocks noChangeAspect="1"/>
          </p:cNvPicPr>
          <p:nvPr userDrawn="1"/>
        </p:nvPicPr>
        <p:blipFill>
          <a:blip r:embed="rId3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55" name="图片 5" descr="GOSIM Shenzhen 2026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6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2050000"/>
            <a:ext cx="10401300" cy="187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0" b="1" i="0">
                <a:solidFill>
                  <a:srgbClr val="FFFFFF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FlexKV</a:t>
            </a:r>
            <a:endParaRPr/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2600" b="1" i="0">
                <a:solidFill>
                  <a:srgbClr val="FFFFFF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面向大规模 LLM 推理的分布式 KVCache 管理框架</a:t>
            </a: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0000" y="3950000"/>
            <a:ext cx="5000000" cy="52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分级存储 · 池化共享 · 引擎中立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0000" y="5850000"/>
            <a:ext cx="8000000" cy="223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 dirty="0" err="1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腾讯云</a:t>
            </a:r>
            <a:r>
              <a:rPr sz="1400" b="0" i="0" dirty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lang="en-US" sz="1400" b="0" i="0" dirty="0" err="1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I</a:t>
            </a:r>
            <a:r>
              <a:rPr lang="en-US" sz="1400" dirty="0" err="1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aaS前沿</a:t>
            </a:r>
            <a:r>
              <a:rPr sz="1400" b="0" i="0" dirty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lang="zh-CN" altLang="en-US" sz="1400" dirty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孙飞强</a:t>
            </a:r>
            <a:r>
              <a:rPr sz="1400" b="0" i="0" dirty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  |  GOSIM Shenzhen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ounded Rectangle 1"/>
          <p:cNvSpPr/>
          <p:nvPr/>
        </p:nvSpPr>
        <p:spPr>
          <a:xfrm>
            <a:off x="640000" y="2380000"/>
            <a:ext cx="1200000" cy="5600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Part 01</a:t>
            </a:r>
            <a:endParaRPr/>
          </a:p>
        </p:txBody>
      </p:sp>
      <p:sp>
        <p:nvSpPr>
          <p:cNvPr id="137" name="Rounded Rectangle 2"/>
          <p:cNvSpPr/>
          <p:nvPr/>
        </p:nvSpPr>
        <p:spPr>
          <a:xfrm>
            <a:off x="2000000" y="2380000"/>
            <a:ext cx="9300000" cy="5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0000" tIns="30000" rIns="60000" bIns="30000" rtlCol="0" anchor="ctr"/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背景：Agentic AI 时代，KVCache 为什么成了瓶颈</a:t>
            </a:r>
            <a:endParaRPr/>
          </a:p>
        </p:txBody>
      </p:sp>
      <p:sp>
        <p:nvSpPr>
          <p:cNvPr id="138" name="Rounded Rectangle 3"/>
          <p:cNvSpPr/>
          <p:nvPr/>
        </p:nvSpPr>
        <p:spPr>
          <a:xfrm>
            <a:off x="640000" y="3200000"/>
            <a:ext cx="1200000" cy="5600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Part 02</a:t>
            </a:r>
            <a:endParaRPr/>
          </a:p>
        </p:txBody>
      </p:sp>
      <p:sp>
        <p:nvSpPr>
          <p:cNvPr id="139" name="Rounded Rectangle 4"/>
          <p:cNvSpPr/>
          <p:nvPr/>
        </p:nvSpPr>
        <p:spPr>
          <a:xfrm>
            <a:off x="2000000" y="3200000"/>
            <a:ext cx="9300000" cy="5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0000" tIns="30000" rIns="60000" bIns="30000" rtlCol="0" anchor="ctr"/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FlexKV 的核心能力</a:t>
            </a:r>
            <a:endParaRPr/>
          </a:p>
        </p:txBody>
      </p:sp>
      <p:sp>
        <p:nvSpPr>
          <p:cNvPr id="140" name="Rounded Rectangle 5"/>
          <p:cNvSpPr/>
          <p:nvPr/>
        </p:nvSpPr>
        <p:spPr>
          <a:xfrm>
            <a:off x="640000" y="4020000"/>
            <a:ext cx="1200000" cy="5600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Part 03</a:t>
            </a:r>
            <a:endParaRPr/>
          </a:p>
        </p:txBody>
      </p:sp>
      <p:sp>
        <p:nvSpPr>
          <p:cNvPr id="141" name="Rounded Rectangle 6"/>
          <p:cNvSpPr/>
          <p:nvPr/>
        </p:nvSpPr>
        <p:spPr>
          <a:xfrm>
            <a:off x="2000000" y="4020000"/>
            <a:ext cx="9300000" cy="5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0000" tIns="30000" rIns="60000" bIns="30000" rtlCol="0" anchor="ctr"/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生态与集成</a:t>
            </a:r>
            <a:endParaRPr/>
          </a:p>
        </p:txBody>
      </p:sp>
      <p:sp>
        <p:nvSpPr>
          <p:cNvPr id="142" name="Rounded Rectangle 7"/>
          <p:cNvSpPr/>
          <p:nvPr/>
        </p:nvSpPr>
        <p:spPr>
          <a:xfrm>
            <a:off x="640000" y="4840000"/>
            <a:ext cx="1200000" cy="5600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Part 04</a:t>
            </a:r>
            <a:endParaRPr/>
          </a:p>
        </p:txBody>
      </p:sp>
      <p:sp>
        <p:nvSpPr>
          <p:cNvPr id="143" name="Rounded Rectangle 8"/>
          <p:cNvSpPr/>
          <p:nvPr/>
        </p:nvSpPr>
        <p:spPr>
          <a:xfrm>
            <a:off x="2000000" y="4840000"/>
            <a:ext cx="9300000" cy="56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0000" tIns="30000" rIns="60000" bIns="30000" rtlCol="0" anchor="ctr"/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总结：一套完整的 KVCache 管理方案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20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01</a:t>
            </a:r>
            <a:endParaRPr/>
          </a:p>
        </p:txBody>
      </p:sp>
      <p:sp>
        <p:nvSpPr>
          <p:cNvPr id="146" name="Text Placeholder 2"/>
          <p:cNvSpPr>
            <a:spLocks noGrp="1"/>
          </p:cNvSpPr>
          <p:nvPr>
            <p:ph type="body" idx="15"/>
          </p:nvPr>
        </p:nvSpPr>
        <p:spPr>
          <a:xfrm>
            <a:off x="569209" y="3300000"/>
            <a:ext cx="10800000" cy="1600000"/>
          </a:xfrm>
        </p:spPr>
        <p:txBody>
          <a:bodyPr wrap="square"/>
          <a:lstStyle/>
          <a:p>
            <a:r>
              <a:rPr sz="27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背景：Agentic AI 时代，KVCache 为什么成了瓶颈</a:t>
            </a:r>
            <a:endParaRPr/>
          </a:p>
          <a:p>
            <a:r>
              <a:rPr sz="1500" b="0" i="0">
                <a:solidFill>
                  <a:srgbClr val="91D2DD"/>
                </a:solidFill>
                <a:latin typeface="思源黑体 CN"/>
                <a:ea typeface="思源黑体 CN"/>
                <a:cs typeface="思源黑体 CN"/>
              </a:rPr>
              <a:t>以空间换时间 | Agent 的三个新特点 | HBM 装不下了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01 · 背景</a:t>
            </a:r>
            <a:endParaRPr/>
          </a:p>
        </p:txBody>
      </p:sp>
      <p:sp>
        <p:nvSpPr>
          <p:cNvPr id="149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KVCache 基本原理：以空间换时间</a:t>
            </a:r>
            <a:endParaRPr/>
          </a:p>
        </p:txBody>
      </p:sp>
      <p:sp>
        <p:nvSpPr>
          <p:cNvPr id="150" name="Rounded Rectangle 3"/>
          <p:cNvSpPr/>
          <p:nvPr/>
        </p:nvSpPr>
        <p:spPr>
          <a:xfrm>
            <a:off x="550000" y="1650000"/>
            <a:ext cx="4300000" cy="125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51" name="Rounded Rectangle 4"/>
          <p:cNvSpPr/>
          <p:nvPr/>
        </p:nvSpPr>
        <p:spPr>
          <a:xfrm>
            <a:off x="640000" y="174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52" name="TextBox 5"/>
          <p:cNvSpPr txBox="1"/>
          <p:nvPr/>
        </p:nvSpPr>
        <p:spPr>
          <a:xfrm>
            <a:off x="750000" y="1910000"/>
            <a:ext cx="392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Prefill 是大头</a:t>
            </a:r>
            <a:endParaRPr/>
          </a:p>
        </p:txBody>
      </p:sp>
      <p:sp>
        <p:nvSpPr>
          <p:cNvPr id="153" name="TextBox 6"/>
          <p:cNvSpPr txBox="1"/>
          <p:nvPr/>
        </p:nvSpPr>
        <p:spPr>
          <a:xfrm>
            <a:off x="750000" y="2430000"/>
            <a:ext cx="3920000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每个输入 token 都要计算 K/V，代价与上下文长度成正比</a:t>
            </a:r>
            <a:endParaRPr/>
          </a:p>
        </p:txBody>
      </p:sp>
      <p:sp>
        <p:nvSpPr>
          <p:cNvPr id="154" name="Rounded Rectangle 7"/>
          <p:cNvSpPr/>
          <p:nvPr/>
        </p:nvSpPr>
        <p:spPr>
          <a:xfrm>
            <a:off x="550000" y="3040000"/>
            <a:ext cx="4300000" cy="125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55" name="Rounded Rectangle 8"/>
          <p:cNvSpPr/>
          <p:nvPr/>
        </p:nvSpPr>
        <p:spPr>
          <a:xfrm>
            <a:off x="640000" y="313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56" name="TextBox 9"/>
          <p:cNvSpPr txBox="1"/>
          <p:nvPr/>
        </p:nvSpPr>
        <p:spPr>
          <a:xfrm>
            <a:off x="750000" y="3300000"/>
            <a:ext cx="392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缓存复用</a:t>
            </a:r>
            <a:endParaRPr/>
          </a:p>
        </p:txBody>
      </p:sp>
      <p:sp>
        <p:nvSpPr>
          <p:cNvPr id="157" name="TextBox 10"/>
          <p:cNvSpPr txBox="1"/>
          <p:nvPr/>
        </p:nvSpPr>
        <p:spPr>
          <a:xfrm>
            <a:off x="750000" y="3820000"/>
            <a:ext cx="3920000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把已计算的 K/V 存下来，相同前缀直接读取，跳过重复计算</a:t>
            </a:r>
            <a:endParaRPr/>
          </a:p>
        </p:txBody>
      </p:sp>
      <p:sp>
        <p:nvSpPr>
          <p:cNvPr id="158" name="Rounded Rectangle 11"/>
          <p:cNvSpPr/>
          <p:nvPr/>
        </p:nvSpPr>
        <p:spPr>
          <a:xfrm>
            <a:off x="550000" y="4430000"/>
            <a:ext cx="4300000" cy="125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59" name="Rounded Rectangle 12"/>
          <p:cNvSpPr/>
          <p:nvPr/>
        </p:nvSpPr>
        <p:spPr>
          <a:xfrm>
            <a:off x="640000" y="452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60" name="TextBox 13"/>
          <p:cNvSpPr txBox="1"/>
          <p:nvPr/>
        </p:nvSpPr>
        <p:spPr>
          <a:xfrm>
            <a:off x="750000" y="4690000"/>
            <a:ext cx="392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收益</a:t>
            </a:r>
            <a:endParaRPr/>
          </a:p>
        </p:txBody>
      </p:sp>
      <p:sp>
        <p:nvSpPr>
          <p:cNvPr id="161" name="TextBox 14"/>
          <p:cNvSpPr txBox="1"/>
          <p:nvPr/>
        </p:nvSpPr>
        <p:spPr>
          <a:xfrm>
            <a:off x="750000" y="5210000"/>
            <a:ext cx="3920000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多轮对话只需增量计算新 token，TTFT 显著下降、算力省下来</a:t>
            </a:r>
            <a:endParaRPr/>
          </a:p>
        </p:txBody>
      </p:sp>
      <p:sp>
        <p:nvSpPr>
          <p:cNvPr id="162" name="Rounded Rectangle 15"/>
          <p:cNvSpPr/>
          <p:nvPr/>
        </p:nvSpPr>
        <p:spPr>
          <a:xfrm>
            <a:off x="5200000" y="1650000"/>
            <a:ext cx="6440000" cy="390000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多轮对话请求的两种处理方式</a:t>
            </a:r>
            <a:endParaRPr/>
          </a:p>
        </p:txBody>
      </p:sp>
      <p:sp>
        <p:nvSpPr>
          <p:cNvPr id="163" name="TextBox 16"/>
          <p:cNvSpPr txBox="1"/>
          <p:nvPr/>
        </p:nvSpPr>
        <p:spPr>
          <a:xfrm>
            <a:off x="5200000" y="2280000"/>
            <a:ext cx="15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无 KVCache</a:t>
            </a:r>
            <a:endParaRPr/>
          </a:p>
        </p:txBody>
      </p:sp>
      <p:sp>
        <p:nvSpPr>
          <p:cNvPr id="164" name="Rounded Rectangle 17"/>
          <p:cNvSpPr/>
          <p:nvPr/>
        </p:nvSpPr>
        <p:spPr>
          <a:xfrm>
            <a:off x="6750000" y="22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系统提示</a:t>
            </a:r>
            <a:endParaRPr/>
          </a:p>
        </p:txBody>
      </p:sp>
      <p:sp>
        <p:nvSpPr>
          <p:cNvPr id="165" name="Rounded Rectangle 18"/>
          <p:cNvSpPr/>
          <p:nvPr/>
        </p:nvSpPr>
        <p:spPr>
          <a:xfrm>
            <a:off x="7890000" y="22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问题 A1</a:t>
            </a:r>
            <a:endParaRPr/>
          </a:p>
        </p:txBody>
      </p:sp>
      <p:sp>
        <p:nvSpPr>
          <p:cNvPr id="166" name="Rounded Rectangle 19"/>
          <p:cNvSpPr/>
          <p:nvPr/>
        </p:nvSpPr>
        <p:spPr>
          <a:xfrm>
            <a:off x="9030000" y="22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回答 A1</a:t>
            </a:r>
            <a:endParaRPr/>
          </a:p>
        </p:txBody>
      </p:sp>
      <p:sp>
        <p:nvSpPr>
          <p:cNvPr id="167" name="Rounded Rectangle 20"/>
          <p:cNvSpPr/>
          <p:nvPr/>
        </p:nvSpPr>
        <p:spPr>
          <a:xfrm>
            <a:off x="10170000" y="22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追问 A2</a:t>
            </a:r>
            <a:endParaRPr/>
          </a:p>
        </p:txBody>
      </p:sp>
      <p:sp>
        <p:nvSpPr>
          <p:cNvPr id="168" name="TextBox 21"/>
          <p:cNvSpPr txBox="1"/>
          <p:nvPr/>
        </p:nvSpPr>
        <p:spPr>
          <a:xfrm>
            <a:off x="6750000" y="2700000"/>
            <a:ext cx="48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B87A00"/>
                </a:solidFill>
                <a:latin typeface="思源黑体 CN"/>
                <a:ea typeface="思源黑体 CN"/>
                <a:cs typeface="思源黑体 CN"/>
              </a:rPr>
              <a:t>→ 每一轮都全量 prefill，前缀被反复重算</a:t>
            </a:r>
            <a:endParaRPr/>
          </a:p>
        </p:txBody>
      </p:sp>
      <p:sp>
        <p:nvSpPr>
          <p:cNvPr id="169" name="TextBox 22"/>
          <p:cNvSpPr txBox="1"/>
          <p:nvPr/>
        </p:nvSpPr>
        <p:spPr>
          <a:xfrm>
            <a:off x="5200000" y="3380000"/>
            <a:ext cx="15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有 KVCache</a:t>
            </a:r>
            <a:endParaRPr/>
          </a:p>
        </p:txBody>
      </p:sp>
      <p:sp>
        <p:nvSpPr>
          <p:cNvPr id="170" name="Rounded Rectangle 23"/>
          <p:cNvSpPr/>
          <p:nvPr/>
        </p:nvSpPr>
        <p:spPr>
          <a:xfrm>
            <a:off x="6750000" y="33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系统提示</a:t>
            </a:r>
            <a:r>
              <a:rPr sz="1050" b="0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✓ 命中</a:t>
            </a: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系统提示</a:t>
            </a:r>
            <a:endParaRPr/>
          </a:p>
        </p:txBody>
      </p:sp>
      <p:sp>
        <p:nvSpPr>
          <p:cNvPr id="171" name="Rounded Rectangle 24"/>
          <p:cNvSpPr/>
          <p:nvPr/>
        </p:nvSpPr>
        <p:spPr>
          <a:xfrm>
            <a:off x="7890000" y="33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问题 A1</a:t>
            </a:r>
            <a:r>
              <a:rPr sz="1050" b="0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✓ 命中</a:t>
            </a: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问题 A1</a:t>
            </a:r>
            <a:endParaRPr/>
          </a:p>
        </p:txBody>
      </p:sp>
      <p:sp>
        <p:nvSpPr>
          <p:cNvPr id="172" name="Rounded Rectangle 25"/>
          <p:cNvSpPr/>
          <p:nvPr/>
        </p:nvSpPr>
        <p:spPr>
          <a:xfrm>
            <a:off x="9030000" y="33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回答 A1</a:t>
            </a:r>
            <a:endParaRPr/>
          </a:p>
        </p:txBody>
      </p:sp>
      <p:sp>
        <p:nvSpPr>
          <p:cNvPr id="173" name="Rounded Rectangle 26"/>
          <p:cNvSpPr/>
          <p:nvPr/>
        </p:nvSpPr>
        <p:spPr>
          <a:xfrm>
            <a:off x="10170000" y="3330000"/>
            <a:ext cx="1080000" cy="400000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追问 A2</a:t>
            </a:r>
            <a:endParaRPr/>
          </a:p>
        </p:txBody>
      </p:sp>
      <p:sp>
        <p:nvSpPr>
          <p:cNvPr id="174" name="TextBox 27"/>
          <p:cNvSpPr txBox="1"/>
          <p:nvPr/>
        </p:nvSpPr>
        <p:spPr>
          <a:xfrm>
            <a:off x="6750000" y="3800000"/>
            <a:ext cx="48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→ 命中前缀直接复用，仅增量计算新 token</a:t>
            </a:r>
            <a:endParaRPr/>
          </a:p>
        </p:txBody>
      </p:sp>
      <p:sp>
        <p:nvSpPr>
          <p:cNvPr id="175" name="TextBox 28"/>
          <p:cNvSpPr txBox="1"/>
          <p:nvPr/>
        </p:nvSpPr>
        <p:spPr>
          <a:xfrm>
            <a:off x="5200000" y="4430000"/>
            <a:ext cx="644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TTFT 对比（首 token 延迟）</a:t>
            </a:r>
            <a:endParaRPr/>
          </a:p>
        </p:txBody>
      </p:sp>
      <p:sp>
        <p:nvSpPr>
          <p:cNvPr id="176" name="Rounded Rectangle 29"/>
          <p:cNvSpPr/>
          <p:nvPr/>
        </p:nvSpPr>
        <p:spPr>
          <a:xfrm>
            <a:off x="5200000" y="4830000"/>
            <a:ext cx="6300000" cy="380000"/>
          </a:xfrm>
          <a:prstGeom prst="roundRect">
            <a:avLst>
              <a:gd name="adj" fmla="val 25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无缓存：全量 prefill</a:t>
            </a:r>
            <a:endParaRPr/>
          </a:p>
        </p:txBody>
      </p:sp>
      <p:sp>
        <p:nvSpPr>
          <p:cNvPr id="177" name="Rounded Rectangle 30"/>
          <p:cNvSpPr/>
          <p:nvPr/>
        </p:nvSpPr>
        <p:spPr>
          <a:xfrm>
            <a:off x="5200000" y="5330000"/>
            <a:ext cx="2100000" cy="380000"/>
          </a:xfrm>
          <a:prstGeom prst="roundRect">
            <a:avLst>
              <a:gd name="adj" fmla="val 25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有缓存：仅增量</a:t>
            </a:r>
            <a:endParaRPr/>
          </a:p>
        </p:txBody>
      </p:sp>
      <p:sp>
        <p:nvSpPr>
          <p:cNvPr id="178" name="TextBox 31"/>
          <p:cNvSpPr txBox="1"/>
          <p:nvPr/>
        </p:nvSpPr>
        <p:spPr>
          <a:xfrm>
            <a:off x="7450000" y="539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TTFT 大幅下降，GPU 算力用于真正的生成</a:t>
            </a:r>
            <a:endParaRPr/>
          </a:p>
        </p:txBody>
      </p:sp>
      <p:sp>
        <p:nvSpPr>
          <p:cNvPr id="179" name="Rounded Rectangle 32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前缀复用率越高，KVCache 收益越大 —— 而这正是 Agent 场景的常态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01 · 背景</a:t>
            </a:r>
            <a:endParaRPr/>
          </a:p>
        </p:txBody>
      </p:sp>
      <p:sp>
        <p:nvSpPr>
          <p:cNvPr id="182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Agent 场景的三个新特点</a:t>
            </a:r>
            <a:endParaRPr/>
          </a:p>
        </p:txBody>
      </p:sp>
      <p:sp>
        <p:nvSpPr>
          <p:cNvPr id="183" name="Rounded Rectangle 3"/>
          <p:cNvSpPr/>
          <p:nvPr/>
        </p:nvSpPr>
        <p:spPr>
          <a:xfrm>
            <a:off x="550000" y="1750000"/>
            <a:ext cx="3530000" cy="365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84" name="Rounded Rectangle 4"/>
          <p:cNvSpPr/>
          <p:nvPr/>
        </p:nvSpPr>
        <p:spPr>
          <a:xfrm>
            <a:off x="640000" y="184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85" name="TextBox 5"/>
          <p:cNvSpPr txBox="1"/>
          <p:nvPr/>
        </p:nvSpPr>
        <p:spPr>
          <a:xfrm>
            <a:off x="750000" y="201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01  上下文越来越长</a:t>
            </a:r>
            <a:endParaRPr/>
          </a:p>
        </p:txBody>
      </p:sp>
      <p:sp>
        <p:nvSpPr>
          <p:cNvPr id="186" name="TextBox 6"/>
          <p:cNvSpPr txBox="1"/>
          <p:nvPr/>
        </p:nvSpPr>
        <p:spPr>
          <a:xfrm>
            <a:off x="750000" y="2530000"/>
            <a:ext cx="31559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长文档、代码仓库、工具结果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进入上下文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单请求可达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数十万 token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prefill 开销随长度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线性膨胀</a:t>
            </a:r>
            <a:endParaRPr/>
          </a:p>
        </p:txBody>
      </p:sp>
      <p:sp>
        <p:nvSpPr>
          <p:cNvPr id="187" name="Rounded Rectangle 7"/>
          <p:cNvSpPr/>
          <p:nvPr/>
        </p:nvSpPr>
        <p:spPr>
          <a:xfrm>
            <a:off x="4331000" y="1750000"/>
            <a:ext cx="3530000" cy="365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88" name="Rounded Rectangle 8"/>
          <p:cNvSpPr/>
          <p:nvPr/>
        </p:nvSpPr>
        <p:spPr>
          <a:xfrm>
            <a:off x="4421000" y="184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89" name="TextBox 9"/>
          <p:cNvSpPr txBox="1"/>
          <p:nvPr/>
        </p:nvSpPr>
        <p:spPr>
          <a:xfrm>
            <a:off x="4531000" y="201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02  前缀高度复用</a:t>
            </a:r>
            <a:endParaRPr/>
          </a:p>
        </p:txBody>
      </p:sp>
      <p:sp>
        <p:nvSpPr>
          <p:cNvPr id="190" name="TextBox 10"/>
          <p:cNvSpPr txBox="1"/>
          <p:nvPr/>
        </p:nvSpPr>
        <p:spPr>
          <a:xfrm>
            <a:off x="4531000" y="2530000"/>
            <a:ext cx="31559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System Prompt + 工具定义 + 历史轮次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多个子 Agent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 继承同一段父级前缀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同一模板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被海量会话与子任务共享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相同前缀反复出现，被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大量重复计算</a:t>
            </a:r>
            <a:endParaRPr/>
          </a:p>
        </p:txBody>
      </p:sp>
      <p:sp>
        <p:nvSpPr>
          <p:cNvPr id="191" name="Rounded Rectangle 11"/>
          <p:cNvSpPr/>
          <p:nvPr/>
        </p:nvSpPr>
        <p:spPr>
          <a:xfrm>
            <a:off x="8112000" y="1750000"/>
            <a:ext cx="3530000" cy="365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92" name="Rounded Rectangle 12"/>
          <p:cNvSpPr/>
          <p:nvPr/>
        </p:nvSpPr>
        <p:spPr>
          <a:xfrm>
            <a:off x="8202000" y="184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93" name="TextBox 13"/>
          <p:cNvSpPr txBox="1"/>
          <p:nvPr/>
        </p:nvSpPr>
        <p:spPr>
          <a:xfrm>
            <a:off x="8312000" y="201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03  并发会话多</a:t>
            </a:r>
            <a:endParaRPr/>
          </a:p>
        </p:txBody>
      </p:sp>
      <p:sp>
        <p:nvSpPr>
          <p:cNvPr id="194" name="TextBox 14"/>
          <p:cNvSpPr txBox="1"/>
          <p:nvPr/>
        </p:nvSpPr>
        <p:spPr>
          <a:xfrm>
            <a:off x="8312000" y="2530000"/>
            <a:ext cx="3150000" cy="26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数百上千会话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并行，缓存争抢激烈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多会话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共享相同前缀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（同模板 / 同文档）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300" b="1">
                <a:solidFill>
                  <a:srgbClr val="285091"/>
                </a:solidFill>
                <a:latin typeface="Source Han Sans CN"/>
              </a:rPr>
              <a:t>命中率</a:t>
            </a:r>
            <a:r>
              <a:rPr sz="1300" b="0">
                <a:solidFill>
                  <a:srgbClr val="44546A"/>
                </a:solidFill>
                <a:latin typeface="Source Han Sans CN"/>
              </a:rPr>
              <a:t>直接决定吞吐与成本</a:t>
            </a:r>
            <a:endParaRPr/>
          </a:p>
        </p:txBody>
      </p:sp>
      <p:sp>
        <p:nvSpPr>
          <p:cNvPr id="195" name="Rounded Rectangle 15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三个特点叠加：重复计算大规模存在，KVCache 复用的价值被急剧放大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01 · 背景</a:t>
            </a:r>
            <a:endParaRPr/>
          </a:p>
        </p:txBody>
      </p:sp>
      <p:sp>
        <p:nvSpPr>
          <p:cNvPr id="198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HBM 装不下爆发增长的 KVCache</a:t>
            </a:r>
            <a:endParaRPr/>
          </a:p>
        </p:txBody>
      </p:sp>
      <p:sp>
        <p:nvSpPr>
          <p:cNvPr id="199" name="Rounded Rectangle 3"/>
          <p:cNvSpPr/>
          <p:nvPr/>
        </p:nvSpPr>
        <p:spPr>
          <a:xfrm>
            <a:off x="550000" y="1700000"/>
            <a:ext cx="470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00" name="Rounded Rectangle 4"/>
          <p:cNvSpPr/>
          <p:nvPr/>
        </p:nvSpPr>
        <p:spPr>
          <a:xfrm>
            <a:off x="640000" y="17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01" name="TextBox 5"/>
          <p:cNvSpPr txBox="1"/>
          <p:nvPr/>
        </p:nvSpPr>
        <p:spPr>
          <a:xfrm>
            <a:off x="750000" y="1960000"/>
            <a:ext cx="432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矛盾的根源</a:t>
            </a:r>
            <a:endParaRPr/>
          </a:p>
        </p:txBody>
      </p:sp>
      <p:sp>
        <p:nvSpPr>
          <p:cNvPr id="202" name="TextBox 6"/>
          <p:cNvSpPr txBox="1"/>
          <p:nvPr/>
        </p:nvSpPr>
        <p:spPr>
          <a:xfrm>
            <a:off x="750000" y="2480000"/>
            <a:ext cx="432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3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KVCache 随上下文长度与并发数急剧膨胀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3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HBM 容量有限，还要装模型权重与激活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3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装不下 → 淘汰 → 下次请求重新 prefill</a:t>
            </a:r>
            <a:endParaRPr/>
          </a:p>
        </p:txBody>
      </p:sp>
      <p:sp>
        <p:nvSpPr>
          <p:cNvPr id="203" name="TextBox 7"/>
          <p:cNvSpPr txBox="1"/>
          <p:nvPr/>
        </p:nvSpPr>
        <p:spPr>
          <a:xfrm>
            <a:off x="730000" y="3820000"/>
            <a:ext cx="44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87A00"/>
                </a:solidFill>
                <a:latin typeface="思源黑体 CN"/>
                <a:ea typeface="思源黑体 CN"/>
                <a:cs typeface="思源黑体 CN"/>
              </a:rPr>
              <a:t>后果：TTFT 恶化、GPU 算力被重复 prefill 浪费、单请求成本上升</a:t>
            </a:r>
            <a:endParaRPr/>
          </a:p>
        </p:txBody>
      </p:sp>
      <p:sp>
        <p:nvSpPr>
          <p:cNvPr id="204" name="Rounded Rectangle 8"/>
          <p:cNvSpPr/>
          <p:nvPr/>
        </p:nvSpPr>
        <p:spPr>
          <a:xfrm>
            <a:off x="7570000" y="1700000"/>
            <a:ext cx="2300000" cy="8400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GPU HBM</a:t>
            </a:r>
            <a:endParaRPr/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最快 · 最小 · 最贵</a:t>
            </a:r>
            <a:endParaRPr/>
          </a:p>
        </p:txBody>
      </p:sp>
      <p:sp>
        <p:nvSpPr>
          <p:cNvPr id="205" name="Rounded Rectangle 9"/>
          <p:cNvSpPr/>
          <p:nvPr/>
        </p:nvSpPr>
        <p:spPr>
          <a:xfrm>
            <a:off x="7020000" y="2600000"/>
            <a:ext cx="3400000" cy="840000"/>
          </a:xfrm>
          <a:prstGeom prst="roundRect">
            <a:avLst>
              <a:gd name="adj" fmla="val 12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CPU 内存</a:t>
            </a:r>
            <a:endParaRPr/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一级外部缓存</a:t>
            </a:r>
            <a:endParaRPr/>
          </a:p>
        </p:txBody>
      </p:sp>
      <p:sp>
        <p:nvSpPr>
          <p:cNvPr id="206" name="Rounded Rectangle 10"/>
          <p:cNvSpPr/>
          <p:nvPr/>
        </p:nvSpPr>
        <p:spPr>
          <a:xfrm>
            <a:off x="6420000" y="3500000"/>
            <a:ext cx="4600000" cy="840000"/>
          </a:xfrm>
          <a:prstGeom prst="roundRect">
            <a:avLst>
              <a:gd name="adj" fmla="val 12000"/>
            </a:avLst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本地 SSD</a:t>
            </a:r>
            <a:endParaRPr/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持久化大容量</a:t>
            </a:r>
            <a:endParaRPr/>
          </a:p>
        </p:txBody>
      </p:sp>
      <p:sp>
        <p:nvSpPr>
          <p:cNvPr id="207" name="Rounded Rectangle 11"/>
          <p:cNvSpPr/>
          <p:nvPr/>
        </p:nvSpPr>
        <p:spPr>
          <a:xfrm>
            <a:off x="5820000" y="4400000"/>
            <a:ext cx="5800000" cy="840000"/>
          </a:xfrm>
          <a:prstGeom prst="roundRect">
            <a:avLst>
              <a:gd name="adj" fmla="val 12000"/>
            </a:avLst>
          </a:prstGeom>
          <a:solidFill>
            <a:srgbClr val="91D2DD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分布式共享存储</a:t>
            </a:r>
            <a:endParaRPr/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超大容量 · 跨节点共享</a:t>
            </a:r>
            <a:endParaRPr/>
          </a:p>
        </p:txBody>
      </p:sp>
      <p:sp>
        <p:nvSpPr>
          <p:cNvPr id="208" name="TextBox 12"/>
          <p:cNvSpPr txBox="1"/>
          <p:nvPr/>
        </p:nvSpPr>
        <p:spPr>
          <a:xfrm>
            <a:off x="5750000" y="5330000"/>
            <a:ext cx="594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▲ 自上而下：速度递减、容量递增、单位成本递减</a:t>
            </a:r>
            <a:endParaRPr/>
          </a:p>
        </p:txBody>
      </p:sp>
      <p:sp>
        <p:nvSpPr>
          <p:cNvPr id="209" name="Rounded Rectangle 13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“分级存储 + 池化共享”是必然方向：用低成本介质扩容量，用共享提命中率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20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02</a:t>
            </a:r>
            <a:endParaRPr/>
          </a:p>
        </p:txBody>
      </p:sp>
      <p:sp>
        <p:nvSpPr>
          <p:cNvPr id="212" name="Text Placeholder 2"/>
          <p:cNvSpPr>
            <a:spLocks noGrp="1"/>
          </p:cNvSpPr>
          <p:nvPr>
            <p:ph type="body" idx="15"/>
          </p:nvPr>
        </p:nvSpPr>
        <p:spPr>
          <a:xfrm>
            <a:off x="569209" y="3300000"/>
            <a:ext cx="10800000" cy="1600000"/>
          </a:xfrm>
        </p:spPr>
        <p:txBody>
          <a:bodyPr wrap="square"/>
          <a:lstStyle/>
          <a:p>
            <a:r>
              <a:rPr sz="27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FlexKV 的核心能力</a:t>
            </a:r>
            <a:endParaRPr/>
          </a:p>
          <a:p>
            <a:r>
              <a:rPr sz="1500" b="0" i="0">
                <a:solidFill>
                  <a:srgbClr val="91D2DD"/>
                </a:solidFill>
                <a:latin typeface="思源黑体 CN"/>
                <a:ea typeface="思源黑体 CN"/>
                <a:cs typeface="思源黑体 CN"/>
              </a:rPr>
              <a:t>引擎中立的 KVCache 管理框架：统一管理 · 压缩 · 池化 · 高效传输 · 隔离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02 · 核心能力</a:t>
            </a:r>
            <a:endParaRPr/>
          </a:p>
        </p:txBody>
      </p:sp>
      <p:sp>
        <p:nvSpPr>
          <p:cNvPr id="215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FlexKV 总体架构：控制面 + 存储面 + 数据面</a:t>
            </a:r>
            <a:endParaRPr/>
          </a:p>
        </p:txBody>
      </p:sp>
      <p:sp>
        <p:nvSpPr>
          <p:cNvPr id="216" name="Rounded Rectangle 3"/>
          <p:cNvSpPr/>
          <p:nvPr/>
        </p:nvSpPr>
        <p:spPr>
          <a:xfrm>
            <a:off x="2400000" y="1580000"/>
            <a:ext cx="7400000" cy="560000"/>
          </a:xfrm>
          <a:prstGeom prst="roundRect">
            <a:avLst>
              <a:gd name="adj" fmla="val 1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推理引擎  vLLM / SGLang / TensorRT-LLM / Dynamo</a:t>
            </a:r>
            <a:endParaRPr/>
          </a:p>
        </p:txBody>
      </p:sp>
      <p:sp>
        <p:nvSpPr>
          <p:cNvPr id="217" name="Down Arrow 4"/>
          <p:cNvSpPr/>
          <p:nvPr/>
        </p:nvSpPr>
        <p:spPr>
          <a:xfrm>
            <a:off x="5880000" y="2200000"/>
            <a:ext cx="420000" cy="520000"/>
          </a:xfrm>
          <a:prstGeom prst="downArrow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18" name="TextBox 5"/>
          <p:cNvSpPr txBox="1"/>
          <p:nvPr/>
        </p:nvSpPr>
        <p:spPr>
          <a:xfrm>
            <a:off x="6420000" y="2330000"/>
            <a:ext cx="22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87A00"/>
                </a:solidFill>
                <a:latin typeface="思源黑体 CN"/>
                <a:ea typeface="思源黑体 CN"/>
                <a:cs typeface="思源黑体 CN"/>
              </a:rPr>
              <a:t>put / get 异步 API</a:t>
            </a:r>
            <a:endParaRPr/>
          </a:p>
        </p:txBody>
      </p:sp>
      <p:sp>
        <p:nvSpPr>
          <p:cNvPr id="219" name="Rounded Rectangle 6"/>
          <p:cNvSpPr/>
          <p:nvPr/>
        </p:nvSpPr>
        <p:spPr>
          <a:xfrm>
            <a:off x="550000" y="2830000"/>
            <a:ext cx="11092000" cy="245000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85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20" name="TextBox 7"/>
          <p:cNvSpPr txBox="1"/>
          <p:nvPr/>
        </p:nvSpPr>
        <p:spPr>
          <a:xfrm>
            <a:off x="710000" y="29000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FlexKV（进程内库调用）</a:t>
            </a:r>
            <a:endParaRPr/>
          </a:p>
        </p:txBody>
      </p:sp>
      <p:sp>
        <p:nvSpPr>
          <p:cNvPr id="221" name="Rounded Rectangle 8"/>
          <p:cNvSpPr/>
          <p:nvPr/>
        </p:nvSpPr>
        <p:spPr>
          <a:xfrm>
            <a:off x="750000" y="3260000"/>
            <a:ext cx="3450000" cy="420000"/>
          </a:xfrm>
          <a:prstGeom prst="roundRect">
            <a:avLst>
              <a:gd name="adj" fmla="val 14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GlobalCacheEngine · 控制面</a:t>
            </a:r>
            <a:endParaRPr/>
          </a:p>
        </p:txBody>
      </p:sp>
      <p:sp>
        <p:nvSpPr>
          <p:cNvPr id="222" name="Rounded Rectangle 9"/>
          <p:cNvSpPr/>
          <p:nvPr/>
        </p:nvSpPr>
        <p:spPr>
          <a:xfrm>
            <a:off x="750000" y="3680000"/>
            <a:ext cx="3450000" cy="142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RadixTree 前缀匹配（match / insert）</a:t>
            </a:r>
            <a:endParaRPr/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Mempool 空间追踪与淘汰触发</a:t>
            </a:r>
            <a:endParaRPr/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决策：从哪级取、取哪些 block</a:t>
            </a:r>
            <a:endParaRPr/>
          </a:p>
        </p:txBody>
      </p:sp>
      <p:sp>
        <p:nvSpPr>
          <p:cNvPr id="223" name="Rounded Rectangle 10"/>
          <p:cNvSpPr/>
          <p:nvPr/>
        </p:nvSpPr>
        <p:spPr>
          <a:xfrm>
            <a:off x="4470000" y="3260000"/>
            <a:ext cx="3450000" cy="420000"/>
          </a:xfrm>
          <a:prstGeom prst="roundRect">
            <a:avLst>
              <a:gd name="adj" fmla="val 14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StorageEngine · 存储面</a:t>
            </a:r>
            <a:endParaRPr/>
          </a:p>
        </p:txBody>
      </p:sp>
      <p:sp>
        <p:nvSpPr>
          <p:cNvPr id="224" name="Rounded Rectangle 11"/>
          <p:cNvSpPr/>
          <p:nvPr/>
        </p:nvSpPr>
        <p:spPr>
          <a:xfrm>
            <a:off x="4470000" y="3680000"/>
            <a:ext cx="3450000" cy="142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按 block 存储，KV shape 与 GPU 一致</a:t>
            </a:r>
            <a:endParaRPr/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CPU / SSD / 可扩展存储统一初始化</a:t>
            </a:r>
            <a:endParaRPr/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block-wise 模式合并更大 I/O 单位</a:t>
            </a:r>
            <a:endParaRPr/>
          </a:p>
        </p:txBody>
      </p:sp>
      <p:sp>
        <p:nvSpPr>
          <p:cNvPr id="225" name="Rounded Rectangle 12"/>
          <p:cNvSpPr/>
          <p:nvPr/>
        </p:nvSpPr>
        <p:spPr>
          <a:xfrm>
            <a:off x="8190000" y="3260000"/>
            <a:ext cx="3450000" cy="420000"/>
          </a:xfrm>
          <a:prstGeom prst="roundRect">
            <a:avLst>
              <a:gd name="adj" fmla="val 14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TransferEngine · 数据面</a:t>
            </a:r>
            <a:endParaRPr/>
          </a:p>
        </p:txBody>
      </p:sp>
      <p:sp>
        <p:nvSpPr>
          <p:cNvPr id="226" name="Rounded Rectangle 13"/>
          <p:cNvSpPr/>
          <p:nvPr/>
        </p:nvSpPr>
        <p:spPr>
          <a:xfrm>
            <a:off x="8190000" y="3680000"/>
            <a:ext cx="3450000" cy="142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多进程多线程并行传输</a:t>
            </a:r>
            <a:endParaRPr/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io_uring 加速 SSD I/O</a:t>
            </a:r>
            <a:endParaRPr/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GDS 直传 / RDMA 跨节点</a:t>
            </a:r>
            <a:endParaRPr/>
          </a:p>
        </p:txBody>
      </p:sp>
      <p:sp>
        <p:nvSpPr>
          <p:cNvPr id="227" name="Rounded Rectangle 14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原生 Prometheus 监控 + 纯库函数形态（v1.0 API），无 client-server 通信开销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02 · 核心能力 1/5</a:t>
            </a:r>
            <a:endParaRPr/>
          </a:p>
        </p:txBody>
      </p:sp>
      <p:sp>
        <p:nvSpPr>
          <p:cNvPr id="230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多级存储管理：一套索引调度 GPU 之下的所有介质</a:t>
            </a:r>
            <a:endParaRPr/>
          </a:p>
        </p:txBody>
      </p:sp>
      <p:sp>
        <p:nvSpPr>
          <p:cNvPr id="231" name="Rounded Rectangle 3"/>
          <p:cNvSpPr/>
          <p:nvPr/>
        </p:nvSpPr>
        <p:spPr>
          <a:xfrm>
            <a:off x="550000" y="1750000"/>
            <a:ext cx="4700000" cy="1000000"/>
          </a:xfrm>
          <a:prstGeom prst="roundRect">
            <a:avLst>
              <a:gd name="adj" fmla="val 1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CPU 内存</a:t>
            </a:r>
            <a:endParaRPr/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一级外部缓存 · 微秒级</a:t>
            </a:r>
            <a:endParaRPr/>
          </a:p>
        </p:txBody>
      </p:sp>
      <p:sp>
        <p:nvSpPr>
          <p:cNvPr id="232" name="Rounded Rectangle 4"/>
          <p:cNvSpPr/>
          <p:nvPr/>
        </p:nvSpPr>
        <p:spPr>
          <a:xfrm>
            <a:off x="550000" y="2830000"/>
            <a:ext cx="4700000" cy="1000000"/>
          </a:xfrm>
          <a:prstGeom prst="roundRect">
            <a:avLst>
              <a:gd name="adj" fmla="val 10000"/>
            </a:avLst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本地 SSD</a:t>
            </a:r>
            <a:endParaRPr/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持久化缓存 · 支持多盘并行</a:t>
            </a:r>
            <a:endParaRPr/>
          </a:p>
        </p:txBody>
      </p:sp>
      <p:sp>
        <p:nvSpPr>
          <p:cNvPr id="233" name="Rounded Rectangle 5"/>
          <p:cNvSpPr/>
          <p:nvPr/>
        </p:nvSpPr>
        <p:spPr>
          <a:xfrm>
            <a:off x="550000" y="3910000"/>
            <a:ext cx="4700000" cy="10000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分布式扩展存储</a:t>
            </a:r>
            <a:endParaRPr/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集群级容量 · 跨节点共享（Mooncake Store）</a:t>
            </a:r>
            <a:endParaRPr/>
          </a:p>
        </p:txBody>
      </p:sp>
      <p:sp>
        <p:nvSpPr>
          <p:cNvPr id="234" name="Rounded Rectangle 6"/>
          <p:cNvSpPr/>
          <p:nvPr/>
        </p:nvSpPr>
        <p:spPr>
          <a:xfrm>
            <a:off x="5550000" y="1750000"/>
            <a:ext cx="6090000" cy="101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35" name="Rounded Rectangle 7"/>
          <p:cNvSpPr/>
          <p:nvPr/>
        </p:nvSpPr>
        <p:spPr>
          <a:xfrm>
            <a:off x="5640000" y="184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36" name="TextBox 8"/>
          <p:cNvSpPr txBox="1"/>
          <p:nvPr/>
        </p:nvSpPr>
        <p:spPr>
          <a:xfrm>
            <a:off x="5750000" y="2010000"/>
            <a:ext cx="571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Block 粒度存储</a:t>
            </a:r>
            <a:endParaRPr/>
          </a:p>
        </p:txBody>
      </p:sp>
      <p:sp>
        <p:nvSpPr>
          <p:cNvPr id="237" name="TextBox 9"/>
          <p:cNvSpPr txBox="1"/>
          <p:nvPr/>
        </p:nvSpPr>
        <p:spPr>
          <a:xfrm>
            <a:off x="5750000" y="2530000"/>
            <a:ext cx="5710000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多 token 组成 block，KV shape 与 GPU 完全一致，地址即 block ID</a:t>
            </a:r>
            <a:endParaRPr/>
          </a:p>
        </p:txBody>
      </p:sp>
      <p:sp>
        <p:nvSpPr>
          <p:cNvPr id="238" name="Rounded Rectangle 10"/>
          <p:cNvSpPr/>
          <p:nvPr/>
        </p:nvSpPr>
        <p:spPr>
          <a:xfrm>
            <a:off x="5550000" y="2840000"/>
            <a:ext cx="6090000" cy="101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39" name="Rounded Rectangle 11"/>
          <p:cNvSpPr/>
          <p:nvPr/>
        </p:nvSpPr>
        <p:spPr>
          <a:xfrm>
            <a:off x="5640000" y="293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40" name="TextBox 12"/>
          <p:cNvSpPr txBox="1"/>
          <p:nvPr/>
        </p:nvSpPr>
        <p:spPr>
          <a:xfrm>
            <a:off x="5750000" y="3100000"/>
            <a:ext cx="571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统一前缀索引</a:t>
            </a:r>
            <a:endParaRPr/>
          </a:p>
        </p:txBody>
      </p:sp>
      <p:sp>
        <p:nvSpPr>
          <p:cNvPr id="241" name="TextBox 13"/>
          <p:cNvSpPr txBox="1"/>
          <p:nvPr/>
        </p:nvSpPr>
        <p:spPr>
          <a:xfrm>
            <a:off x="5750000" y="3620000"/>
            <a:ext cx="5710000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每级介质一棵 RadixTree，跨级比较命中长度，取最优来源</a:t>
            </a:r>
            <a:endParaRPr/>
          </a:p>
        </p:txBody>
      </p:sp>
      <p:sp>
        <p:nvSpPr>
          <p:cNvPr id="242" name="Rounded Rectangle 14"/>
          <p:cNvSpPr/>
          <p:nvPr/>
        </p:nvSpPr>
        <p:spPr>
          <a:xfrm>
            <a:off x="5550000" y="3930000"/>
            <a:ext cx="6090000" cy="101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43" name="Rounded Rectangle 15"/>
          <p:cNvSpPr/>
          <p:nvPr/>
        </p:nvSpPr>
        <p:spPr>
          <a:xfrm>
            <a:off x="5640000" y="402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44" name="TextBox 16"/>
          <p:cNvSpPr txBox="1"/>
          <p:nvPr/>
        </p:nvSpPr>
        <p:spPr>
          <a:xfrm>
            <a:off x="5750000" y="4190000"/>
            <a:ext cx="571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灵活淘汰策略</a:t>
            </a:r>
            <a:endParaRPr/>
          </a:p>
        </p:txBody>
      </p:sp>
      <p:sp>
        <p:nvSpPr>
          <p:cNvPr id="245" name="TextBox 17"/>
          <p:cNvSpPr txBox="1"/>
          <p:nvPr/>
        </p:nvSpPr>
        <p:spPr>
          <a:xfrm>
            <a:off x="5750000" y="4710000"/>
            <a:ext cx="5710000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LRU / LFU / SLRU / FIFO / MRU / FILO 六种 + 频率感知奖励；逻辑淘汰零数据搬运</a:t>
            </a:r>
            <a:endParaRPr/>
          </a:p>
        </p:txBody>
      </p:sp>
      <p:sp>
        <p:nvSpPr>
          <p:cNvPr id="246" name="Rounded Rectangle 18"/>
          <p:cNvSpPr/>
          <p:nvPr/>
        </p:nvSpPr>
        <p:spPr>
          <a:xfrm>
            <a:off x="5550000" y="5020000"/>
            <a:ext cx="6090000" cy="101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47" name="Rounded Rectangle 19"/>
          <p:cNvSpPr/>
          <p:nvPr/>
        </p:nvSpPr>
        <p:spPr>
          <a:xfrm>
            <a:off x="5640000" y="511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48" name="TextBox 20"/>
          <p:cNvSpPr txBox="1"/>
          <p:nvPr/>
        </p:nvSpPr>
        <p:spPr>
          <a:xfrm>
            <a:off x="5750000" y="5280000"/>
            <a:ext cx="571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容量即配置</a:t>
            </a:r>
            <a:endParaRPr/>
          </a:p>
        </p:txBody>
      </p:sp>
      <p:sp>
        <p:nvSpPr>
          <p:cNvPr id="249" name="TextBox 21"/>
          <p:cNvSpPr txBox="1"/>
          <p:nvPr/>
        </p:nvSpPr>
        <p:spPr>
          <a:xfrm>
            <a:off x="5750000" y="5800000"/>
            <a:ext cx="5710000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cpu_cache_gb / ssd_cache_gb 一行配置完成扩容，HugePage 降低 TLB 开销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02 · 核心能力 2/5</a:t>
            </a:r>
            <a:endParaRPr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KVCache 压缩：让同样的存储装下更多 KV</a:t>
            </a:r>
            <a:endParaRPr/>
          </a:p>
        </p:txBody>
      </p:sp>
      <p:sp>
        <p:nvSpPr>
          <p:cNvPr id="8" name="Rounded Rectangle 3"/>
          <p:cNvSpPr/>
          <p:nvPr/>
        </p:nvSpPr>
        <p:spPr>
          <a:xfrm>
            <a:off x="900000" y="1800000"/>
            <a:ext cx="1750000" cy="70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GPU KV</a:t>
            </a:r>
            <a:endParaRPr/>
          </a:p>
        </p:txBody>
      </p:sp>
      <p:sp>
        <p:nvSpPr>
          <p:cNvPr id="9" name="Right Arrow 4"/>
          <p:cNvSpPr/>
          <p:nvPr/>
        </p:nvSpPr>
        <p:spPr>
          <a:xfrm>
            <a:off x="2710000" y="2020000"/>
            <a:ext cx="420000" cy="260000"/>
          </a:xfrm>
          <a:prstGeom prst="rightArrow">
            <a:avLst/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0" name="Rounded Rectangle 5"/>
          <p:cNvSpPr/>
          <p:nvPr/>
        </p:nvSpPr>
        <p:spPr>
          <a:xfrm>
            <a:off x="3190000" y="1800000"/>
            <a:ext cx="1750000" cy="700000"/>
          </a:xfrm>
          <a:prstGeom prst="roundRect">
            <a:avLst>
              <a:gd name="adj" fmla="val 14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ANS 压缩</a:t>
            </a:r>
            <a:endParaRPr/>
          </a:p>
        </p:txBody>
      </p:sp>
      <p:sp>
        <p:nvSpPr>
          <p:cNvPr id="11" name="Right Arrow 6"/>
          <p:cNvSpPr/>
          <p:nvPr/>
        </p:nvSpPr>
        <p:spPr>
          <a:xfrm>
            <a:off x="5000000" y="2020000"/>
            <a:ext cx="420000" cy="260000"/>
          </a:xfrm>
          <a:prstGeom prst="rightArrow">
            <a:avLst/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2" name="Rounded Rectangle 7"/>
          <p:cNvSpPr/>
          <p:nvPr/>
        </p:nvSpPr>
        <p:spPr>
          <a:xfrm>
            <a:off x="5480000" y="1800000"/>
            <a:ext cx="1750000" cy="700000"/>
          </a:xfrm>
          <a:prstGeom prst="roundRect">
            <a:avLst>
              <a:gd name="adj" fmla="val 14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CPU / SSD</a:t>
            </a:r>
            <a:endParaRPr/>
          </a:p>
        </p:txBody>
      </p:sp>
      <p:sp>
        <p:nvSpPr>
          <p:cNvPr id="13" name="Right Arrow 8"/>
          <p:cNvSpPr/>
          <p:nvPr/>
        </p:nvSpPr>
        <p:spPr>
          <a:xfrm>
            <a:off x="7290000" y="2020000"/>
            <a:ext cx="420000" cy="260000"/>
          </a:xfrm>
          <a:prstGeom prst="rightArrow">
            <a:avLst/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7770000" y="1800000"/>
            <a:ext cx="1750000" cy="700000"/>
          </a:xfrm>
          <a:prstGeom prst="roundRect">
            <a:avLst>
              <a:gd name="adj" fmla="val 14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ANS 解压</a:t>
            </a:r>
            <a:endParaRPr/>
          </a:p>
        </p:txBody>
      </p:sp>
      <p:sp>
        <p:nvSpPr>
          <p:cNvPr id="15" name="Right Arrow 10"/>
          <p:cNvSpPr/>
          <p:nvPr/>
        </p:nvSpPr>
        <p:spPr>
          <a:xfrm>
            <a:off x="9580000" y="2020000"/>
            <a:ext cx="420000" cy="260000"/>
          </a:xfrm>
          <a:prstGeom prst="rightArrow">
            <a:avLst/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6" name="Rounded Rectangle 11"/>
          <p:cNvSpPr/>
          <p:nvPr/>
        </p:nvSpPr>
        <p:spPr>
          <a:xfrm>
            <a:off x="10060000" y="1800000"/>
            <a:ext cx="1750000" cy="70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GPU KV</a:t>
            </a:r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900000" y="2560000"/>
            <a:ext cx="10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压缩在 D2H 路径完成：先压缩再落盘；解压在 H2D 路径完成，全程 GPU 端批量执行</a:t>
            </a:r>
            <a:endParaRPr/>
          </a:p>
        </p:txBody>
      </p:sp>
      <p:sp>
        <p:nvSpPr>
          <p:cNvPr id="18" name="Rounded Rectangle 13"/>
          <p:cNvSpPr/>
          <p:nvPr/>
        </p:nvSpPr>
        <p:spPr>
          <a:xfrm>
            <a:off x="550000" y="3080000"/>
            <a:ext cx="3530000" cy="23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9" name="Rounded Rectangle 14"/>
          <p:cNvSpPr/>
          <p:nvPr/>
        </p:nvSpPr>
        <p:spPr>
          <a:xfrm>
            <a:off x="640000" y="317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0" name="TextBox 15"/>
          <p:cNvSpPr txBox="1"/>
          <p:nvPr/>
        </p:nvSpPr>
        <p:spPr>
          <a:xfrm>
            <a:off x="750000" y="334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 dirty="0" err="1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nvCOMP</a:t>
            </a:r>
            <a:r>
              <a:rPr sz="1450" b="1" i="0" dirty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 ANS </a:t>
            </a:r>
            <a:r>
              <a:rPr sz="1450" b="1" i="0" dirty="0" err="1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无损压缩</a:t>
            </a:r>
            <a:endParaRPr dirty="0"/>
          </a:p>
        </p:txBody>
      </p:sp>
      <p:sp>
        <p:nvSpPr>
          <p:cNvPr id="21" name="TextBox 16"/>
          <p:cNvSpPr txBox="1"/>
          <p:nvPr/>
        </p:nvSpPr>
        <p:spPr>
          <a:xfrm>
            <a:off x="750000" y="3860000"/>
            <a:ext cx="3155950" cy="717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基于 NVIDIA nvCOMP 的 ANS 熵编码，数据零失真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GPU 端批量压缩 / 解压</a:t>
            </a:r>
            <a:endParaRPr/>
          </a:p>
        </p:txBody>
      </p:sp>
      <p:sp>
        <p:nvSpPr>
          <p:cNvPr id="22" name="Rounded Rectangle 17"/>
          <p:cNvSpPr/>
          <p:nvPr/>
        </p:nvSpPr>
        <p:spPr>
          <a:xfrm>
            <a:off x="4331000" y="3080000"/>
            <a:ext cx="3530000" cy="23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3" name="Rounded Rectangle 18"/>
          <p:cNvSpPr/>
          <p:nvPr/>
        </p:nvSpPr>
        <p:spPr>
          <a:xfrm>
            <a:off x="4421000" y="317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4" name="TextBox 19"/>
          <p:cNvSpPr txBox="1"/>
          <p:nvPr/>
        </p:nvSpPr>
        <p:spPr>
          <a:xfrm>
            <a:off x="4531000" y="334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双缓冲流水线</a:t>
            </a:r>
            <a:endParaRPr/>
          </a:p>
        </p:txBody>
      </p:sp>
      <p:sp>
        <p:nvSpPr>
          <p:cNvPr id="25" name="TextBox 20"/>
          <p:cNvSpPr txBox="1"/>
          <p:nvPr/>
        </p:nvSpPr>
        <p:spPr>
          <a:xfrm>
            <a:off x="4531000" y="3860000"/>
            <a:ext cx="3150000" cy="1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压缩与传输双缓冲重叠执行，隐藏压缩开销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写 CPU/SSD 的数据量同步下降，带宽压力更小</a:t>
            </a:r>
            <a:endParaRPr/>
          </a:p>
        </p:txBody>
      </p:sp>
      <p:sp>
        <p:nvSpPr>
          <p:cNvPr id="26" name="Rounded Rectangle 21"/>
          <p:cNvSpPr/>
          <p:nvPr/>
        </p:nvSpPr>
        <p:spPr>
          <a:xfrm>
            <a:off x="8112000" y="3080000"/>
            <a:ext cx="3530000" cy="23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7" name="Rounded Rectangle 22"/>
          <p:cNvSpPr/>
          <p:nvPr/>
        </p:nvSpPr>
        <p:spPr>
          <a:xfrm>
            <a:off x="8202000" y="317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28" name="TextBox 23"/>
          <p:cNvSpPr txBox="1"/>
          <p:nvPr/>
        </p:nvSpPr>
        <p:spPr>
          <a:xfrm>
            <a:off x="8312000" y="334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低精度 KV 也无损</a:t>
            </a:r>
            <a:endParaRPr/>
          </a:p>
        </p:txBody>
      </p:sp>
      <p:sp>
        <p:nvSpPr>
          <p:cNvPr id="29" name="TextBox 24"/>
          <p:cNvSpPr txBox="1"/>
          <p:nvPr/>
        </p:nvSpPr>
        <p:spPr>
          <a:xfrm>
            <a:off x="8312000" y="3860000"/>
            <a:ext cx="3150000" cy="1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vLLM Blackwell NVFP4 KV Cache 字节级无损卸载与恢复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量化场景下缓存数据同样可靠</a:t>
            </a:r>
            <a:endParaRPr/>
          </a:p>
        </p:txBody>
      </p:sp>
      <p:sp>
        <p:nvSpPr>
          <p:cNvPr id="30" name="Rounded Rectangle 25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同样容量的 CPU / SSD 装下更多 KV，等效于容量和带宽双扩展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02 · 核心能力 3/5</a:t>
            </a:r>
            <a:endParaRPr/>
          </a:p>
        </p:txBody>
      </p:sp>
      <p:sp>
        <p:nvSpPr>
          <p:cNvPr id="33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分布式 KVCache 池化：跨节点共享 + 单机多实例复用</a:t>
            </a:r>
            <a:endParaRPr/>
          </a:p>
        </p:txBody>
      </p:sp>
      <p:sp>
        <p:nvSpPr>
          <p:cNvPr id="34" name="Rounded Rectangle 3"/>
          <p:cNvSpPr/>
          <p:nvPr/>
        </p:nvSpPr>
        <p:spPr>
          <a:xfrm>
            <a:off x="550000" y="2130000"/>
            <a:ext cx="5420000" cy="356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35" name="Rounded Rectangle 4"/>
          <p:cNvSpPr/>
          <p:nvPr/>
        </p:nvSpPr>
        <p:spPr>
          <a:xfrm>
            <a:off x="640000" y="222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36" name="TextBox 5"/>
          <p:cNvSpPr txBox="1"/>
          <p:nvPr/>
        </p:nvSpPr>
        <p:spPr>
          <a:xfrm>
            <a:off x="750000" y="239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跨节点共享（集群级池化）</a:t>
            </a:r>
            <a:endParaRPr/>
          </a:p>
        </p:txBody>
      </p:sp>
      <p:sp>
        <p:nvSpPr>
          <p:cNvPr id="37" name="TextBox 6"/>
          <p:cNvSpPr txBox="1"/>
          <p:nvPr/>
        </p:nvSpPr>
        <p:spPr>
          <a:xfrm>
            <a:off x="750000" y="2910000"/>
            <a:ext cx="5040000" cy="2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分布式 RadixTree 索引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每节点持有全局索引本地快照，查询无中心瓶颈、无网络往返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租约机制（Lease）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跨节点传输期间锁定数据，保证读到的一定有效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索引 Upload &amp; Rebuild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本地索引定期上传 GMS（Redis），再拉取重建全局视图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Mooncake Transfer Engine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RDMA 零拷贝跨节点传输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Mooncake Store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基于 Key 的远端缓存层，实现集群级 KV 复用</a:t>
            </a:r>
            <a:endParaRPr/>
          </a:p>
        </p:txBody>
      </p:sp>
      <p:sp>
        <p:nvSpPr>
          <p:cNvPr id="38" name="Rounded Rectangle 7"/>
          <p:cNvSpPr/>
          <p:nvPr/>
        </p:nvSpPr>
        <p:spPr>
          <a:xfrm>
            <a:off x="6220000" y="2130000"/>
            <a:ext cx="5420000" cy="356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39" name="Rounded Rectangle 8"/>
          <p:cNvSpPr/>
          <p:nvPr/>
        </p:nvSpPr>
        <p:spPr>
          <a:xfrm>
            <a:off x="6310000" y="222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40" name="TextBox 9"/>
          <p:cNvSpPr txBox="1"/>
          <p:nvPr/>
        </p:nvSpPr>
        <p:spPr>
          <a:xfrm>
            <a:off x="6420000" y="239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单机多实例复用</a:t>
            </a:r>
            <a:endParaRPr/>
          </a:p>
        </p:txBody>
      </p:sp>
      <p:sp>
        <p:nvSpPr>
          <p:cNvPr id="41" name="TextBox 10"/>
          <p:cNvSpPr txBox="1"/>
          <p:nvPr/>
        </p:nvSpPr>
        <p:spPr>
          <a:xfrm>
            <a:off x="6420000" y="2910000"/>
            <a:ext cx="5040000" cy="2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共享同一套缓存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多个推理实例共用一份 CPU / SSD 缓存池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Server 自动创建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实例 0 创建 FlexKV Server，其余实例即插即用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跨实例前缀复用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相同前缀跨实例命中，整体命中率显著提升</a:t>
            </a:r>
            <a:endParaRPr/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• 消除缓存孤岛</a:t>
            </a:r>
            <a:endParaRPr/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　单机多 GPU 部署多服务时，缓存不再各自为政</a:t>
            </a:r>
            <a:endParaRPr/>
          </a:p>
        </p:txBody>
      </p:sp>
      <p:sp>
        <p:nvSpPr>
          <p:cNvPr id="42" name="Rounded Rectangle 11"/>
          <p:cNvSpPr/>
          <p:nvPr/>
        </p:nvSpPr>
        <p:spPr>
          <a:xfrm>
            <a:off x="550000" y="599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把分散在各节点、各实例的缓存变成一个可统一调度的池</a:t>
            </a:r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50000" y="1450000"/>
            <a:ext cx="11092000" cy="620000"/>
          </a:xfrm>
          <a:prstGeom prst="roundRect">
            <a:avLst/>
          </a:prstGeom>
          <a:solidFill>
            <a:srgbClr val="E3EDF8"/>
          </a:solidFill>
          <a:ln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85000" y="1530000"/>
            <a:ext cx="55000" cy="48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90000" y="1610000"/>
            <a:ext cx="1780000" cy="300000"/>
          </a:xfrm>
          <a:prstGeom prst="roundRect">
            <a:avLst/>
          </a:prstGeom>
          <a:solidFill>
            <a:srgbClr val="C5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思源黑体 CN"/>
              </a:rPr>
              <a:t>单机单实例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510000" y="1690000"/>
            <a:ext cx="250000" cy="140000"/>
          </a:xfrm>
          <a:prstGeom prst="rightArrow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800000" y="1610000"/>
            <a:ext cx="1780000" cy="300000"/>
          </a:xfrm>
          <a:prstGeom prst="roundRect">
            <a:avLst/>
          </a:prstGeom>
          <a:solidFill>
            <a:srgbClr val="629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思源黑体 CN"/>
              </a:rPr>
              <a:t>单机多实例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620000" y="1690000"/>
            <a:ext cx="250000" cy="140000"/>
          </a:xfrm>
          <a:prstGeom prst="rightArrow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910000" y="1610000"/>
            <a:ext cx="1780000" cy="300000"/>
          </a:xfrm>
          <a:prstGeom prst="roundRect">
            <a:avLst/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思源黑体 CN"/>
              </a:rPr>
              <a:t>跨节点集群池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40000" y="1470000"/>
            <a:ext cx="4722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85091"/>
                </a:solidFill>
                <a:latin typeface="思源黑体 CN"/>
              </a:rPr>
              <a:t>KVCache 复用率高 → 池子越大，命中率越高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思源黑体 CN"/>
              </a:rPr>
              <a:t>性能提升与成本优势同步放大 —— 池化是必然趋势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02 · 核心能力 4/5</a:t>
            </a:r>
            <a:endParaRPr/>
          </a:p>
        </p:txBody>
      </p:sp>
      <p:sp>
        <p:nvSpPr>
          <p:cNvPr id="45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高效传输：异步重叠 · 逐层流水 · 自适应选路</a:t>
            </a:r>
            <a:endParaRPr/>
          </a:p>
        </p:txBody>
      </p:sp>
      <p:sp>
        <p:nvSpPr>
          <p:cNvPr id="46" name="Rounded Rectangle 3"/>
          <p:cNvSpPr/>
          <p:nvPr/>
        </p:nvSpPr>
        <p:spPr>
          <a:xfrm>
            <a:off x="550000" y="1700000"/>
            <a:ext cx="542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47" name="Rounded Rectangle 4"/>
          <p:cNvSpPr/>
          <p:nvPr/>
        </p:nvSpPr>
        <p:spPr>
          <a:xfrm>
            <a:off x="640000" y="17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48" name="TextBox 5"/>
          <p:cNvSpPr txBox="1"/>
          <p:nvPr/>
        </p:nvSpPr>
        <p:spPr>
          <a:xfrm>
            <a:off x="750000" y="196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异步传输与计算重叠</a:t>
            </a:r>
            <a:endParaRPr/>
          </a:p>
        </p:txBody>
      </p:sp>
      <p:sp>
        <p:nvSpPr>
          <p:cNvPr id="49" name="TextBox 6"/>
          <p:cNvSpPr txBox="1"/>
          <p:nvPr/>
        </p:nvSpPr>
        <p:spPr>
          <a:xfrm>
            <a:off x="750000" y="2480000"/>
            <a:ext cx="504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get 预取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与当前计算重叠执行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put 下沉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与后续计算重叠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下层介质间传输，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主进程完全不感知</a:t>
            </a:r>
            <a:endParaRPr/>
          </a:p>
        </p:txBody>
      </p:sp>
      <p:sp>
        <p:nvSpPr>
          <p:cNvPr id="50" name="Rounded Rectangle 7"/>
          <p:cNvSpPr/>
          <p:nvPr/>
        </p:nvSpPr>
        <p:spPr>
          <a:xfrm>
            <a:off x="6220000" y="1700000"/>
            <a:ext cx="542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51" name="Rounded Rectangle 8"/>
          <p:cNvSpPr/>
          <p:nvPr/>
        </p:nvSpPr>
        <p:spPr>
          <a:xfrm>
            <a:off x="6310000" y="17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52" name="TextBox 9"/>
          <p:cNvSpPr txBox="1"/>
          <p:nvPr/>
        </p:nvSpPr>
        <p:spPr>
          <a:xfrm>
            <a:off x="6420000" y="196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逐层传输（Layerwise）</a:t>
            </a:r>
            <a:endParaRPr/>
          </a:p>
        </p:txBody>
      </p:sp>
      <p:sp>
        <p:nvSpPr>
          <p:cNvPr id="53" name="TextBox 10"/>
          <p:cNvSpPr txBox="1"/>
          <p:nvPr/>
        </p:nvSpPr>
        <p:spPr>
          <a:xfrm>
            <a:off x="6420000" y="2480000"/>
            <a:ext cx="5041900" cy="908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KV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按层流水线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H2D 恢复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前几层就绪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即可开始计算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首 token 更早返回，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TTFT 进一步降低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8×GPU 实测：批完成通知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4.39 → 1.87 ms（2.35×）</a:t>
            </a:r>
            <a:endParaRPr/>
          </a:p>
        </p:txBody>
      </p:sp>
      <p:sp>
        <p:nvSpPr>
          <p:cNvPr id="54" name="Rounded Rectangle 11"/>
          <p:cNvSpPr/>
          <p:nvPr/>
        </p:nvSpPr>
        <p:spPr>
          <a:xfrm>
            <a:off x="550000" y="3720000"/>
            <a:ext cx="5422000" cy="2179633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55" name="Rounded Rectangle 12"/>
          <p:cNvSpPr/>
          <p:nvPr/>
        </p:nvSpPr>
        <p:spPr>
          <a:xfrm>
            <a:off x="640000" y="381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56" name="TextBox 13"/>
          <p:cNvSpPr txBox="1"/>
          <p:nvPr/>
        </p:nvSpPr>
        <p:spPr>
          <a:xfrm>
            <a:off x="750000" y="398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自适应路径选择</a:t>
            </a:r>
            <a:endParaRPr/>
          </a:p>
        </p:txBody>
      </p:sp>
      <p:sp>
        <p:nvSpPr>
          <p:cNvPr id="57" name="TextBox 14"/>
          <p:cNvSpPr txBox="1"/>
          <p:nvPr/>
        </p:nvSpPr>
        <p:spPr>
          <a:xfrm>
            <a:off x="750000" y="4440000"/>
            <a:ext cx="50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机内传输</a:t>
            </a:r>
            <a:endParaRPr/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Kernel / CE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多模式自适应选择</a:t>
            </a:r>
            <a:endParaRPr/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PCIe 多路径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条带化并发</a:t>
            </a:r>
            <a:endParaRPr/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NUMA 亲和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的存储与传输</a:t>
            </a:r>
            <a:endParaRPr/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>
                <a:solidFill>
                  <a:srgbClr val="285091"/>
                </a:solidFill>
                <a:latin typeface="Source Han Sans CN"/>
              </a:rPr>
              <a:t>机间传输</a:t>
            </a:r>
            <a:endParaRPr/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RDMA 多路径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并发传输</a:t>
            </a:r>
            <a:endParaRPr/>
          </a:p>
        </p:txBody>
      </p:sp>
      <p:sp>
        <p:nvSpPr>
          <p:cNvPr id="58" name="Rounded Rectangle 15"/>
          <p:cNvSpPr/>
          <p:nvPr/>
        </p:nvSpPr>
        <p:spPr>
          <a:xfrm>
            <a:off x="6220000" y="3720000"/>
            <a:ext cx="5422010" cy="2179633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59" name="Rounded Rectangle 16"/>
          <p:cNvSpPr/>
          <p:nvPr/>
        </p:nvSpPr>
        <p:spPr>
          <a:xfrm>
            <a:off x="6310000" y="381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60" name="TextBox 17"/>
          <p:cNvSpPr txBox="1"/>
          <p:nvPr/>
        </p:nvSpPr>
        <p:spPr>
          <a:xfrm>
            <a:off x="6420000" y="398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硬件级加速</a:t>
            </a:r>
            <a:endParaRPr/>
          </a:p>
        </p:txBody>
      </p:sp>
      <p:sp>
        <p:nvSpPr>
          <p:cNvPr id="61" name="TextBox 18"/>
          <p:cNvSpPr txBox="1"/>
          <p:nvPr/>
        </p:nvSpPr>
        <p:spPr>
          <a:xfrm>
            <a:off x="6420000" y="4500000"/>
            <a:ext cx="504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GDS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：SSD 直达 GPU，绕过 CPU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io_uring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：高并发 SSD I/O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RDMA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：跨节点零拷贝传输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02 · 核心能力 5/5</a:t>
            </a:r>
            <a:endParaRPr/>
          </a:p>
        </p:txBody>
      </p:sp>
      <p:sp>
        <p:nvSpPr>
          <p:cNvPr id="64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Namespace 缓存隔离：多租户共池互不干扰</a:t>
            </a:r>
            <a:endParaRPr/>
          </a:p>
        </p:txBody>
      </p:sp>
      <p:sp>
        <p:nvSpPr>
          <p:cNvPr id="65" name="Rounded Rectangle 3"/>
          <p:cNvSpPr/>
          <p:nvPr/>
        </p:nvSpPr>
        <p:spPr>
          <a:xfrm>
            <a:off x="2100000" y="1700000"/>
            <a:ext cx="8000000" cy="80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hash = H( namespace_id ‖ token_ids )</a:t>
            </a:r>
            <a:endParaRPr/>
          </a:p>
        </p:txBody>
      </p:sp>
      <p:sp>
        <p:nvSpPr>
          <p:cNvPr id="66" name="TextBox 4"/>
          <p:cNvSpPr txBox="1"/>
          <p:nvPr/>
        </p:nvSpPr>
        <p:spPr>
          <a:xfrm>
            <a:off x="2100000" y="2560000"/>
            <a:ext cx="80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同一份 token，不同 namespace 哈希不同 —— 隔离发生在块哈希级别，零额外开销</a:t>
            </a:r>
            <a:endParaRPr/>
          </a:p>
        </p:txBody>
      </p:sp>
      <p:sp>
        <p:nvSpPr>
          <p:cNvPr id="67" name="Rounded Rectangle 5"/>
          <p:cNvSpPr/>
          <p:nvPr/>
        </p:nvSpPr>
        <p:spPr>
          <a:xfrm>
            <a:off x="550000" y="3080000"/>
            <a:ext cx="3530000" cy="21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68" name="Rounded Rectangle 6"/>
          <p:cNvSpPr/>
          <p:nvPr/>
        </p:nvSpPr>
        <p:spPr>
          <a:xfrm>
            <a:off x="640000" y="317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69" name="TextBox 7"/>
          <p:cNvSpPr txBox="1"/>
          <p:nvPr/>
        </p:nvSpPr>
        <p:spPr>
          <a:xfrm>
            <a:off x="750000" y="334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多租户隔离</a:t>
            </a:r>
            <a:endParaRPr/>
          </a:p>
        </p:txBody>
      </p:sp>
      <p:sp>
        <p:nvSpPr>
          <p:cNvPr id="70" name="TextBox 8"/>
          <p:cNvSpPr txBox="1"/>
          <p:nvPr/>
        </p:nvSpPr>
        <p:spPr>
          <a:xfrm>
            <a:off x="750000" y="3860000"/>
            <a:ext cx="3150000" cy="11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tenant / user 维度划分命名空间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不同租户缓存互不可见，安全与公平兼得</a:t>
            </a:r>
            <a:endParaRPr/>
          </a:p>
        </p:txBody>
      </p:sp>
      <p:sp>
        <p:nvSpPr>
          <p:cNvPr id="71" name="Rounded Rectangle 9"/>
          <p:cNvSpPr/>
          <p:nvPr/>
        </p:nvSpPr>
        <p:spPr>
          <a:xfrm>
            <a:off x="4331000" y="3080000"/>
            <a:ext cx="3530000" cy="21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72" name="Rounded Rectangle 10"/>
          <p:cNvSpPr/>
          <p:nvPr/>
        </p:nvSpPr>
        <p:spPr>
          <a:xfrm>
            <a:off x="4421000" y="317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73" name="TextBox 11"/>
          <p:cNvSpPr txBox="1"/>
          <p:nvPr/>
        </p:nvSpPr>
        <p:spPr>
          <a:xfrm>
            <a:off x="4531000" y="334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85091"/>
                </a:solidFill>
                <a:latin typeface="Source Han Sans CN"/>
              </a:rPr>
              <a:t>多模型 / 多 LoRA 共池</a:t>
            </a:r>
            <a:endParaRPr/>
          </a:p>
        </p:txBody>
      </p:sp>
      <p:sp>
        <p:nvSpPr>
          <p:cNvPr id="74" name="TextBox 12"/>
          <p:cNvSpPr txBox="1"/>
          <p:nvPr/>
        </p:nvSpPr>
        <p:spPr>
          <a:xfrm>
            <a:off x="4531000" y="3860000"/>
            <a:ext cx="315595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46A">
                    <a:alpha val="100000"/>
                  </a:srgbClr>
                </a:solidFill>
                <a:latin typeface="Source Han Sans CN"/>
                <a:ea typeface="思源黑体 CN"/>
                <a:cs typeface="+mn-cs"/>
              </a:rPr>
              <a:t>lora_name 或模型标识并入 namespace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46A">
                    <a:alpha val="100000"/>
                  </a:srgbClr>
                </a:solidFill>
                <a:latin typeface="Source Han Sans CN"/>
                <a:ea typeface="思源黑体 CN"/>
                <a:cs typeface="+mn-cs"/>
              </a:rPr>
              <a:t>多模型、多适配器共池，互不污染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44546A">
                  <a:alpha val="100000"/>
                </a:srgbClr>
              </a:solidFill>
              <a:latin typeface="Source Han Sans CN"/>
              <a:ea typeface="思源黑体 CN"/>
              <a:cs typeface="+mn-cs"/>
            </a:endParaRPr>
          </a:p>
        </p:txBody>
      </p:sp>
      <p:sp>
        <p:nvSpPr>
          <p:cNvPr id="75" name="Rounded Rectangle 13"/>
          <p:cNvSpPr/>
          <p:nvPr/>
        </p:nvSpPr>
        <p:spPr>
          <a:xfrm>
            <a:off x="8112000" y="3080000"/>
            <a:ext cx="3530000" cy="21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76" name="Rounded Rectangle 14"/>
          <p:cNvSpPr/>
          <p:nvPr/>
        </p:nvSpPr>
        <p:spPr>
          <a:xfrm>
            <a:off x="8202000" y="317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77" name="TextBox 15"/>
          <p:cNvSpPr txBox="1"/>
          <p:nvPr/>
        </p:nvSpPr>
        <p:spPr>
          <a:xfrm>
            <a:off x="8312000" y="334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会话级隔离</a:t>
            </a:r>
            <a:endParaRPr/>
          </a:p>
        </p:txBody>
      </p:sp>
      <p:sp>
        <p:nvSpPr>
          <p:cNvPr id="78" name="TextBox 16"/>
          <p:cNvSpPr txBox="1"/>
          <p:nvPr/>
        </p:nvSpPr>
        <p:spPr>
          <a:xfrm>
            <a:off x="8312000" y="3860000"/>
            <a:ext cx="3150000" cy="11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cache_salt 按会话划分缓存</a:t>
            </a:r>
            <a:endParaRPr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00" b="0" i="0">
                <a:solidFill>
                  <a:srgbClr val="44546A"/>
                </a:solidFill>
                <a:latin typeface="思源黑体 CN"/>
                <a:ea typeface="思源黑体 CN"/>
                <a:cs typeface="思源黑体 CN"/>
              </a:rPr>
              <a:t>同模板不同会话，命中行为精确可控</a:t>
            </a:r>
            <a:endParaRPr/>
          </a:p>
        </p:txBody>
      </p:sp>
      <p:sp>
        <p:nvSpPr>
          <p:cNvPr id="79" name="Rounded Rectangle 17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支持模型 / LoRA 版本切换与秒级回滚：新版本独立 namespace 上线，异常即切回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20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03</a:t>
            </a:r>
            <a:endParaRPr/>
          </a:p>
        </p:txBody>
      </p:sp>
      <p:sp>
        <p:nvSpPr>
          <p:cNvPr id="82" name="Text Placeholder 2"/>
          <p:cNvSpPr>
            <a:spLocks noGrp="1"/>
          </p:cNvSpPr>
          <p:nvPr>
            <p:ph type="body" idx="15"/>
          </p:nvPr>
        </p:nvSpPr>
        <p:spPr>
          <a:xfrm>
            <a:off x="569209" y="3300000"/>
            <a:ext cx="10800000" cy="1600000"/>
          </a:xfrm>
        </p:spPr>
        <p:txBody>
          <a:bodyPr wrap="square"/>
          <a:lstStyle/>
          <a:p>
            <a:r>
              <a:rPr sz="2700" b="1" i="0" dirty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生态与集成</a:t>
            </a:r>
            <a:endParaRPr dirty="0"/>
          </a:p>
          <a:p>
            <a:r>
              <a:rPr sz="1500" b="0" i="0" dirty="0">
                <a:solidFill>
                  <a:srgbClr val="91D2DD"/>
                </a:solidFill>
                <a:latin typeface="思源黑体 CN"/>
                <a:ea typeface="思源黑体 CN"/>
                <a:cs typeface="思源黑体 CN"/>
              </a:rPr>
              <a:t>已合入 vLLM / SGLang / TRT-LLM / Dynamo  | 支持 DeepSeek / GLM / Qwen</a:t>
            </a:r>
            <a:r>
              <a:rPr lang="zh-CN" altLang="en-US" sz="1500" b="0" i="0" dirty="0">
                <a:solidFill>
                  <a:srgbClr val="91D2DD"/>
                </a:solidFill>
                <a:latin typeface="思源黑体 CN"/>
                <a:ea typeface="思源黑体 CN"/>
                <a:cs typeface="思源黑体 CN"/>
              </a:rPr>
              <a:t>等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03 · 生态</a:t>
            </a:r>
            <a:endParaRPr/>
          </a:p>
        </p:txBody>
      </p:sp>
      <p:sp>
        <p:nvSpPr>
          <p:cNvPr id="85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开源与社区集成：一次接入，多框架复用</a:t>
            </a:r>
            <a:endParaRPr/>
          </a:p>
        </p:txBody>
      </p:sp>
      <p:sp>
        <p:nvSpPr>
          <p:cNvPr id="86" name="Rounded Rectangle 3"/>
          <p:cNvSpPr/>
          <p:nvPr/>
        </p:nvSpPr>
        <p:spPr>
          <a:xfrm>
            <a:off x="550000" y="1700000"/>
            <a:ext cx="542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87" name="Rounded Rectangle 4"/>
          <p:cNvSpPr/>
          <p:nvPr/>
        </p:nvSpPr>
        <p:spPr>
          <a:xfrm>
            <a:off x="640000" y="17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88" name="TextBox 5"/>
          <p:cNvSpPr txBox="1"/>
          <p:nvPr/>
        </p:nvSpPr>
        <p:spPr>
          <a:xfrm>
            <a:off x="750000" y="196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vLLM</a:t>
            </a:r>
            <a:endParaRPr/>
          </a:p>
        </p:txBody>
      </p:sp>
      <p:sp>
        <p:nvSpPr>
          <p:cNvPr id="89" name="TextBox 6"/>
          <p:cNvSpPr txBox="1"/>
          <p:nvPr/>
        </p:nvSpPr>
        <p:spPr>
          <a:xfrm>
            <a:off x="750000" y="2480000"/>
            <a:ext cx="504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v0.17.2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起内置 FlexKVConnectorV1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无需手动打 patch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，原生启用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支持 dp&gt;1、TP16、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NVFP4 无损卸载</a:t>
            </a:r>
            <a:endParaRPr/>
          </a:p>
        </p:txBody>
      </p:sp>
      <p:sp>
        <p:nvSpPr>
          <p:cNvPr id="90" name="Rounded Rectangle 7"/>
          <p:cNvSpPr/>
          <p:nvPr/>
        </p:nvSpPr>
        <p:spPr>
          <a:xfrm>
            <a:off x="6220000" y="1700000"/>
            <a:ext cx="542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91" name="Rounded Rectangle 8"/>
          <p:cNvSpPr/>
          <p:nvPr/>
        </p:nvSpPr>
        <p:spPr>
          <a:xfrm>
            <a:off x="6310000" y="17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92" name="TextBox 9"/>
          <p:cNvSpPr txBox="1"/>
          <p:nvPr/>
        </p:nvSpPr>
        <p:spPr>
          <a:xfrm>
            <a:off x="6420000" y="196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SGLang</a:t>
            </a:r>
            <a:endParaRPr/>
          </a:p>
        </p:txBody>
      </p:sp>
      <p:sp>
        <p:nvSpPr>
          <p:cNvPr id="93" name="TextBox 10"/>
          <p:cNvSpPr txBox="1"/>
          <p:nvPr/>
        </p:nvSpPr>
        <p:spPr>
          <a:xfrm>
            <a:off x="6420000" y="2480000"/>
            <a:ext cx="504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v0.5.16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起原生内置 backend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--enable-flexkv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一键开启 CPU / SSD 卸载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DeepSeek-V4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全特性适配</a:t>
            </a:r>
            <a:endParaRPr/>
          </a:p>
        </p:txBody>
      </p:sp>
      <p:sp>
        <p:nvSpPr>
          <p:cNvPr id="94" name="Rounded Rectangle 11"/>
          <p:cNvSpPr/>
          <p:nvPr/>
        </p:nvSpPr>
        <p:spPr>
          <a:xfrm>
            <a:off x="550000" y="3720000"/>
            <a:ext cx="542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95" name="Rounded Rectangle 12"/>
          <p:cNvSpPr/>
          <p:nvPr/>
        </p:nvSpPr>
        <p:spPr>
          <a:xfrm>
            <a:off x="640000" y="381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96" name="TextBox 13"/>
          <p:cNvSpPr txBox="1"/>
          <p:nvPr/>
        </p:nvSpPr>
        <p:spPr>
          <a:xfrm>
            <a:off x="750000" y="398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 dirty="0" err="1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TensorRT</a:t>
            </a:r>
            <a:r>
              <a:rPr sz="1500" b="1" i="0" dirty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-LLM</a:t>
            </a:r>
            <a:endParaRPr dirty="0"/>
          </a:p>
        </p:txBody>
      </p:sp>
      <p:sp>
        <p:nvSpPr>
          <p:cNvPr id="97" name="TextBox 14"/>
          <p:cNvSpPr txBox="1"/>
          <p:nvPr/>
        </p:nvSpPr>
        <p:spPr>
          <a:xfrm>
            <a:off x="750000" y="4500000"/>
            <a:ext cx="5040000" cy="491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dirty="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 dirty="0">
                <a:solidFill>
                  <a:srgbClr val="285091"/>
                </a:solidFill>
                <a:latin typeface="Source Han Sans CN"/>
              </a:rPr>
              <a:t>TP16</a:t>
            </a:r>
            <a:r>
              <a:rPr sz="1200" b="0" dirty="0">
                <a:solidFill>
                  <a:srgbClr val="44546A"/>
                </a:solidFill>
                <a:latin typeface="Source Han Sans CN"/>
              </a:rPr>
              <a:t> </a:t>
            </a:r>
            <a:r>
              <a:rPr sz="1200" b="0" dirty="0" err="1">
                <a:solidFill>
                  <a:srgbClr val="44546A"/>
                </a:solidFill>
                <a:latin typeface="Source Han Sans CN"/>
              </a:rPr>
              <a:t>大规模并行支持</a:t>
            </a:r>
            <a:endParaRPr dirty="0"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dirty="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 dirty="0">
                <a:solidFill>
                  <a:srgbClr val="285091"/>
                </a:solidFill>
                <a:latin typeface="Source Han Sans CN"/>
              </a:rPr>
              <a:t>Namespace </a:t>
            </a:r>
            <a:r>
              <a:rPr sz="1200" b="1" dirty="0" err="1">
                <a:solidFill>
                  <a:srgbClr val="285091"/>
                </a:solidFill>
                <a:latin typeface="Source Han Sans CN"/>
              </a:rPr>
              <a:t>隔离</a:t>
            </a:r>
            <a:r>
              <a:rPr sz="1200" b="0" dirty="0" err="1">
                <a:solidFill>
                  <a:srgbClr val="44546A"/>
                </a:solidFill>
                <a:latin typeface="Source Han Sans CN"/>
              </a:rPr>
              <a:t>能力同步支持</a:t>
            </a:r>
            <a:endParaRPr dirty="0"/>
          </a:p>
        </p:txBody>
      </p:sp>
      <p:sp>
        <p:nvSpPr>
          <p:cNvPr id="98" name="Rounded Rectangle 15"/>
          <p:cNvSpPr/>
          <p:nvPr/>
        </p:nvSpPr>
        <p:spPr>
          <a:xfrm>
            <a:off x="6220000" y="3720000"/>
            <a:ext cx="542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99" name="Rounded Rectangle 16"/>
          <p:cNvSpPr/>
          <p:nvPr/>
        </p:nvSpPr>
        <p:spPr>
          <a:xfrm>
            <a:off x="6310000" y="381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00" name="TextBox 17"/>
          <p:cNvSpPr txBox="1"/>
          <p:nvPr/>
        </p:nvSpPr>
        <p:spPr>
          <a:xfrm>
            <a:off x="6420000" y="3980000"/>
            <a:ext cx="504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NVIDIA Dynamo</a:t>
            </a:r>
            <a:endParaRPr/>
          </a:p>
        </p:txBody>
      </p:sp>
      <p:sp>
        <p:nvSpPr>
          <p:cNvPr id="101" name="TextBox 18"/>
          <p:cNvSpPr txBox="1"/>
          <p:nvPr/>
        </p:nvSpPr>
        <p:spPr>
          <a:xfrm>
            <a:off x="6420000" y="4500000"/>
            <a:ext cx="504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原生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KV Cache Offloading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方案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KV 感知路由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 + 多级缓存联合部署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00" b="0">
                <a:solidFill>
                  <a:srgbClr val="44546A"/>
                </a:solidFill>
                <a:latin typeface="Source Han Sans CN"/>
              </a:rPr>
              <a:t>多实例共享缓存</a:t>
            </a:r>
            <a:r>
              <a:rPr sz="1200" b="1">
                <a:solidFill>
                  <a:srgbClr val="285091"/>
                </a:solidFill>
                <a:latin typeface="Source Han Sans CN"/>
              </a:rPr>
              <a:t>开箱即用</a:t>
            </a:r>
            <a:endParaRPr/>
          </a:p>
        </p:txBody>
      </p:sp>
      <p:sp>
        <p:nvSpPr>
          <p:cNvPr id="102" name="Rounded Rectangle 19"/>
          <p:cNvSpPr/>
          <p:nvPr/>
        </p:nvSpPr>
        <p:spPr>
          <a:xfrm>
            <a:off x="550000" y="5950000"/>
            <a:ext cx="11092000" cy="62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450" b="1" i="0" dirty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◆  </a:t>
            </a:r>
            <a:r>
              <a:rPr sz="1450" b="1" i="0" dirty="0" err="1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全部合入上游主干：无</a:t>
            </a:r>
            <a:r>
              <a:rPr sz="1450" b="1" i="0" dirty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sz="1450" b="1" i="0" dirty="0" err="1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fork、无</a:t>
            </a:r>
            <a:r>
              <a:rPr sz="1450" b="1" i="0" dirty="0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 patch </a:t>
            </a:r>
            <a:r>
              <a:rPr sz="1450" b="1" i="0" dirty="0" err="1">
                <a:solidFill>
                  <a:srgbClr val="FFC000"/>
                </a:solidFill>
                <a:latin typeface="思源黑体 CN"/>
                <a:ea typeface="思源黑体 CN"/>
                <a:cs typeface="思源黑体 CN"/>
              </a:rPr>
              <a:t>维护负担，版本升级即享新能力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03 · 生态</a:t>
            </a:r>
            <a:endParaRPr/>
          </a:p>
        </p:txBody>
      </p:sp>
      <p:sp>
        <p:nvSpPr>
          <p:cNvPr id="105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主流模型支持：从通用架构到最复杂的 DeepSeek-V4</a:t>
            </a:r>
            <a:endParaRPr/>
          </a:p>
        </p:txBody>
      </p:sp>
      <p:sp>
        <p:nvSpPr>
          <p:cNvPr id="106" name="Rounded Rectangle 3"/>
          <p:cNvSpPr/>
          <p:nvPr/>
        </p:nvSpPr>
        <p:spPr>
          <a:xfrm>
            <a:off x="550000" y="1700000"/>
            <a:ext cx="11092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07" name="Rounded Rectangle 4"/>
          <p:cNvSpPr/>
          <p:nvPr/>
        </p:nvSpPr>
        <p:spPr>
          <a:xfrm>
            <a:off x="640000" y="17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08" name="TextBox 5"/>
          <p:cNvSpPr txBox="1"/>
          <p:nvPr/>
        </p:nvSpPr>
        <p:spPr>
          <a:xfrm>
            <a:off x="750000" y="1960000"/>
            <a:ext cx="10712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DeepSeek 全系列（含 V4 最新特性）</a:t>
            </a:r>
            <a:endParaRPr/>
          </a:p>
        </p:txBody>
      </p:sp>
      <p:sp>
        <p:nvSpPr>
          <p:cNvPr id="109" name="TextBox 6"/>
          <p:cNvSpPr txBox="1"/>
          <p:nvPr/>
        </p:nvSpPr>
        <p:spPr>
          <a:xfrm>
            <a:off x="750000" y="2480000"/>
            <a:ext cx="10712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50" b="0">
                <a:solidFill>
                  <a:srgbClr val="44546A"/>
                </a:solidFill>
                <a:latin typeface="Source Han Sans CN"/>
              </a:rPr>
              <a:t>异构 </a:t>
            </a:r>
            <a:r>
              <a:rPr sz="1250" b="1">
                <a:solidFill>
                  <a:srgbClr val="285091"/>
                </a:solidFill>
                <a:latin typeface="Source Han Sans CN"/>
              </a:rPr>
              <a:t>C4 / C128 / indexer</a:t>
            </a:r>
            <a:r>
              <a:rPr sz="1250" b="0">
                <a:solidFill>
                  <a:srgbClr val="44546A"/>
                </a:solidFill>
                <a:latin typeface="Source Han Sans CN"/>
              </a:rPr>
              <a:t> KV group 分组管理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50" b="1">
                <a:solidFill>
                  <a:srgbClr val="285091"/>
                </a:solidFill>
                <a:latin typeface="Source Han Sans CN"/>
              </a:rPr>
              <a:t>FullKV + SWA 双缓存</a:t>
            </a:r>
            <a:r>
              <a:rPr sz="1250" b="0">
                <a:solidFill>
                  <a:srgbClr val="44546A"/>
                </a:solidFill>
                <a:latin typeface="Source Han Sans CN"/>
              </a:rPr>
              <a:t>；attention / indexer compress-state sidecar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250" b="1">
                <a:solidFill>
                  <a:srgbClr val="285091"/>
                </a:solidFill>
                <a:latin typeface="Source Han Sans CN"/>
              </a:rPr>
              <a:t>逐层恢复</a:t>
            </a:r>
            <a:r>
              <a:rPr sz="1250" b="0">
                <a:solidFill>
                  <a:srgbClr val="44546A"/>
                </a:solidFill>
                <a:latin typeface="Source Han Sans CN"/>
              </a:rPr>
              <a:t>（layerwise restore）+ SWA / state H2D 融合流水线</a:t>
            </a:r>
            <a:endParaRPr/>
          </a:p>
        </p:txBody>
      </p:sp>
      <p:sp>
        <p:nvSpPr>
          <p:cNvPr id="110" name="Rounded Rectangle 7"/>
          <p:cNvSpPr/>
          <p:nvPr/>
        </p:nvSpPr>
        <p:spPr>
          <a:xfrm>
            <a:off x="550000" y="3800000"/>
            <a:ext cx="353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11" name="Rounded Rectangle 8"/>
          <p:cNvSpPr/>
          <p:nvPr/>
        </p:nvSpPr>
        <p:spPr>
          <a:xfrm>
            <a:off x="640000" y="38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12" name="TextBox 9"/>
          <p:cNvSpPr txBox="1"/>
          <p:nvPr/>
        </p:nvSpPr>
        <p:spPr>
          <a:xfrm>
            <a:off x="750000" y="406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GLM / Qwen 等主流模型</a:t>
            </a:r>
            <a:endParaRPr/>
          </a:p>
        </p:txBody>
      </p:sp>
      <p:sp>
        <p:nvSpPr>
          <p:cNvPr id="113" name="TextBox 10"/>
          <p:cNvSpPr txBox="1"/>
          <p:nvPr/>
        </p:nvSpPr>
        <p:spPr>
          <a:xfrm>
            <a:off x="750000" y="4580000"/>
            <a:ext cx="315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150" b="1">
                <a:solidFill>
                  <a:srgbClr val="285091"/>
                </a:solidFill>
                <a:latin typeface="Source Han Sans CN"/>
              </a:rPr>
              <a:t>Dense / MoE</a:t>
            </a:r>
            <a:r>
              <a:rPr sz="1150" b="0">
                <a:solidFill>
                  <a:srgbClr val="44546A"/>
                </a:solidFill>
                <a:latin typeface="Source Han Sans CN"/>
              </a:rPr>
              <a:t> 主流架构全覆盖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1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150" b="0">
                <a:solidFill>
                  <a:srgbClr val="44546A"/>
                </a:solidFill>
                <a:latin typeface="Source Han Sans CN"/>
              </a:rPr>
              <a:t>新模型适配</a:t>
            </a:r>
            <a:r>
              <a:rPr sz="1150" b="1">
                <a:solidFill>
                  <a:srgbClr val="285091"/>
                </a:solidFill>
                <a:latin typeface="Source Han Sans CN"/>
              </a:rPr>
              <a:t>只需声明 KV 布局</a:t>
            </a:r>
            <a:endParaRPr/>
          </a:p>
        </p:txBody>
      </p:sp>
      <p:sp>
        <p:nvSpPr>
          <p:cNvPr id="114" name="Rounded Rectangle 11"/>
          <p:cNvSpPr/>
          <p:nvPr/>
        </p:nvSpPr>
        <p:spPr>
          <a:xfrm>
            <a:off x="4331000" y="3800000"/>
            <a:ext cx="353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15" name="Rounded Rectangle 12"/>
          <p:cNvSpPr/>
          <p:nvPr/>
        </p:nvSpPr>
        <p:spPr>
          <a:xfrm>
            <a:off x="4421000" y="38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16" name="TextBox 13"/>
          <p:cNvSpPr txBox="1"/>
          <p:nvPr/>
        </p:nvSpPr>
        <p:spPr>
          <a:xfrm>
            <a:off x="4531000" y="406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三种 KV 布局原生兼容</a:t>
            </a:r>
            <a:endParaRPr/>
          </a:p>
        </p:txBody>
      </p:sp>
      <p:sp>
        <p:nvSpPr>
          <p:cNvPr id="117" name="TextBox 14"/>
          <p:cNvSpPr txBox="1"/>
          <p:nvPr/>
        </p:nvSpPr>
        <p:spPr>
          <a:xfrm>
            <a:off x="4531000" y="4580000"/>
            <a:ext cx="315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150" b="0">
                <a:solidFill>
                  <a:srgbClr val="44546A"/>
                </a:solidFill>
                <a:latin typeface="Source Han Sans CN"/>
              </a:rPr>
              <a:t>vLLM / SGLang / TRT-LLM 布局</a:t>
            </a:r>
            <a:r>
              <a:rPr sz="1150" b="1">
                <a:solidFill>
                  <a:srgbClr val="285091"/>
                </a:solidFill>
                <a:latin typeface="Source Han Sans CN"/>
              </a:rPr>
              <a:t>自动适配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1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150" b="1">
                <a:solidFill>
                  <a:srgbClr val="285091"/>
                </a:solidFill>
                <a:latin typeface="Source Han Sans CN"/>
              </a:rPr>
              <a:t>BLOCKFIRST / LAYERFIRST</a:t>
            </a:r>
            <a:r>
              <a:rPr sz="1150" b="0">
                <a:solidFill>
                  <a:srgbClr val="44546A"/>
                </a:solidFill>
                <a:latin typeface="Source Han Sans CN"/>
              </a:rPr>
              <a:t> 可选并自动选路</a:t>
            </a:r>
            <a:endParaRPr/>
          </a:p>
        </p:txBody>
      </p:sp>
      <p:sp>
        <p:nvSpPr>
          <p:cNvPr id="118" name="Rounded Rectangle 15"/>
          <p:cNvSpPr/>
          <p:nvPr/>
        </p:nvSpPr>
        <p:spPr>
          <a:xfrm>
            <a:off x="8112000" y="3800000"/>
            <a:ext cx="3530000" cy="1900000"/>
          </a:xfrm>
          <a:prstGeom prst="roundRect">
            <a:avLst>
              <a:gd name="adj" fmla="val 55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19" name="Rounded Rectangle 16"/>
          <p:cNvSpPr/>
          <p:nvPr/>
        </p:nvSpPr>
        <p:spPr>
          <a:xfrm>
            <a:off x="8202000" y="3890000"/>
            <a:ext cx="420000" cy="900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endParaRPr/>
          </a:p>
        </p:txBody>
      </p:sp>
      <p:sp>
        <p:nvSpPr>
          <p:cNvPr id="120" name="TextBox 17"/>
          <p:cNvSpPr txBox="1"/>
          <p:nvPr/>
        </p:nvSpPr>
        <p:spPr>
          <a:xfrm>
            <a:off x="8312000" y="4060000"/>
            <a:ext cx="315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MLA 专项优化</a:t>
            </a:r>
            <a:endParaRPr/>
          </a:p>
        </p:txBody>
      </p:sp>
      <p:sp>
        <p:nvSpPr>
          <p:cNvPr id="121" name="TextBox 18"/>
          <p:cNvSpPr txBox="1"/>
          <p:nvPr/>
        </p:nvSpPr>
        <p:spPr>
          <a:xfrm>
            <a:off x="8312000" y="4580000"/>
            <a:ext cx="3150000" cy="9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46A"/>
                </a:solidFill>
                <a:latin typeface="Source Han Sans CN"/>
              </a:rPr>
              <a:t>• D2H 分片写入：</a:t>
            </a:r>
            <a:r>
              <a:rPr sz="1150" b="1">
                <a:solidFill>
                  <a:srgbClr val="285091"/>
                </a:solidFill>
                <a:latin typeface="Source Han Sans CN"/>
              </a:rPr>
              <a:t>sharded 等 5 种模式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150">
                <a:solidFill>
                  <a:srgbClr val="44546A"/>
                </a:solidFill>
                <a:latin typeface="Source Han Sans CN"/>
              </a:rPr>
              <a:t>• </a:t>
            </a:r>
            <a:r>
              <a:rPr sz="1150" b="1">
                <a:solidFill>
                  <a:srgbClr val="285091"/>
                </a:solidFill>
                <a:latin typeface="Source Han Sans CN"/>
              </a:rPr>
              <a:t>rank 轮换</a:t>
            </a:r>
            <a:r>
              <a:rPr sz="1150" b="0">
                <a:solidFill>
                  <a:srgbClr val="44546A"/>
                </a:solidFill>
                <a:latin typeface="Source Han Sans CN"/>
              </a:rPr>
              <a:t>写入避免单卡热节流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2652760-E9AB-04F8-E578-453016EE312F}"/>
              </a:ext>
            </a:extLst>
          </p:cNvPr>
          <p:cNvSpPr/>
          <p:nvPr/>
        </p:nvSpPr>
        <p:spPr>
          <a:xfrm>
            <a:off x="2615013" y="5459556"/>
            <a:ext cx="5734228" cy="471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300" b="1" i="0">
                <a:solidFill>
                  <a:srgbClr val="285091"/>
                </a:solidFill>
                <a:latin typeface="思源黑体 CN"/>
                <a:ea typeface="思源黑体 CN"/>
                <a:cs typeface="思源黑体 CN"/>
              </a:rPr>
              <a:t>Part 04 · 总结</a:t>
            </a:r>
            <a:endParaRPr/>
          </a:p>
        </p:txBody>
      </p:sp>
      <p:sp>
        <p:nvSpPr>
          <p:cNvPr id="124" name="Title 2"/>
          <p:cNvSpPr>
            <a:spLocks noGrp="1"/>
          </p:cNvSpPr>
          <p:nvPr>
            <p:ph type="title"/>
          </p:nvPr>
        </p:nvSpPr>
        <p:spPr>
          <a:xfrm>
            <a:off x="550000" y="700000"/>
            <a:ext cx="11092000" cy="680000"/>
          </a:xfrm>
        </p:spPr>
        <p:txBody>
          <a:bodyPr wrap="square"/>
          <a:lstStyle/>
          <a:p>
            <a:r>
              <a:rPr sz="270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一套完整的 KVCache 管理解决方案</a:t>
            </a:r>
            <a:endParaRPr/>
          </a:p>
        </p:txBody>
      </p:sp>
      <p:sp>
        <p:nvSpPr>
          <p:cNvPr id="125" name="Rounded Rectangle 3"/>
          <p:cNvSpPr/>
          <p:nvPr/>
        </p:nvSpPr>
        <p:spPr>
          <a:xfrm>
            <a:off x="550000" y="1700000"/>
            <a:ext cx="1500000" cy="1000000"/>
          </a:xfrm>
          <a:prstGeom prst="roundRect">
            <a:avLst>
              <a:gd name="adj" fmla="val 14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为什么</a:t>
            </a:r>
            <a:endParaRPr/>
          </a:p>
        </p:txBody>
      </p:sp>
      <p:sp>
        <p:nvSpPr>
          <p:cNvPr id="126" name="Rounded Rectangle 4"/>
          <p:cNvSpPr/>
          <p:nvPr/>
        </p:nvSpPr>
        <p:spPr>
          <a:xfrm>
            <a:off x="2220000" y="1700000"/>
            <a:ext cx="9420000" cy="10000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30000" rIns="200000" bIns="30000" rtlCol="0" anchor="ctr"/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Agent 场景下 KVCache 爆发增长，HBM 装不下；“分级存储 + 池化共享”是必然方向</a:t>
            </a:r>
            <a:endParaRPr/>
          </a:p>
        </p:txBody>
      </p:sp>
      <p:sp>
        <p:nvSpPr>
          <p:cNvPr id="127" name="Rounded Rectangle 5"/>
          <p:cNvSpPr/>
          <p:nvPr/>
        </p:nvSpPr>
        <p:spPr>
          <a:xfrm>
            <a:off x="550000" y="2830000"/>
            <a:ext cx="1500000" cy="1000000"/>
          </a:xfrm>
          <a:prstGeom prst="roundRect">
            <a:avLst>
              <a:gd name="adj" fmla="val 14000"/>
            </a:avLst>
          </a:prstGeom>
          <a:solidFill>
            <a:srgbClr val="285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怎么做</a:t>
            </a:r>
            <a:endParaRPr/>
          </a:p>
        </p:txBody>
      </p:sp>
      <p:sp>
        <p:nvSpPr>
          <p:cNvPr id="128" name="Rounded Rectangle 6"/>
          <p:cNvSpPr/>
          <p:nvPr/>
        </p:nvSpPr>
        <p:spPr>
          <a:xfrm>
            <a:off x="2220000" y="2830000"/>
            <a:ext cx="9420000" cy="10000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30000" rIns="200000" bIns="30000" rtlCol="0" anchor="ctr"/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五大核心能力：多级存储管理 · KV 压缩 · 分布式池化 · 高效传输 · Namespace 隔离</a:t>
            </a:r>
            <a:endParaRPr/>
          </a:p>
        </p:txBody>
      </p:sp>
      <p:sp>
        <p:nvSpPr>
          <p:cNvPr id="129" name="Rounded Rectangle 7"/>
          <p:cNvSpPr/>
          <p:nvPr/>
        </p:nvSpPr>
        <p:spPr>
          <a:xfrm>
            <a:off x="550000" y="3960000"/>
            <a:ext cx="1500000" cy="1000000"/>
          </a:xfrm>
          <a:prstGeom prst="roundRect">
            <a:avLst>
              <a:gd name="adj" fmla="val 14000"/>
            </a:avLst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用起来</a:t>
            </a:r>
            <a:endParaRPr/>
          </a:p>
        </p:txBody>
      </p:sp>
      <p:sp>
        <p:nvSpPr>
          <p:cNvPr id="130" name="Rounded Rectangle 8"/>
          <p:cNvSpPr/>
          <p:nvPr/>
        </p:nvSpPr>
        <p:spPr>
          <a:xfrm>
            <a:off x="2220000" y="3960000"/>
            <a:ext cx="9420000" cy="10000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30000" rIns="200000" bIns="30000" rtlCol="0" anchor="ctr"/>
          <a:lstStyle/>
          <a:p>
            <a:pPr algn="l">
              <a:lnSpc>
                <a:spcPct val="120000"/>
              </a:lnSpc>
            </a:pPr>
            <a:r>
              <a:rPr sz="1450" b="1" i="0" dirty="0" err="1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已合入</a:t>
            </a:r>
            <a:r>
              <a:rPr sz="1450" b="1" i="0" dirty="0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sz="1450" b="1" i="0" dirty="0" err="1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vLLM</a:t>
            </a:r>
            <a:r>
              <a:rPr sz="1450" b="1" i="0" dirty="0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 / </a:t>
            </a:r>
            <a:r>
              <a:rPr sz="1450" b="1" i="0" dirty="0" err="1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SGLang</a:t>
            </a:r>
            <a:r>
              <a:rPr sz="1450" b="1" i="0" dirty="0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 / TRT-LLM / Dynamo ，</a:t>
            </a:r>
            <a:r>
              <a:rPr sz="1450" b="1" i="0" dirty="0" err="1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库函数形态低开销接入，支持</a:t>
            </a:r>
            <a:r>
              <a:rPr sz="1450" b="1" i="0" dirty="0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 DeepSeek / GLM / Qwen</a:t>
            </a:r>
            <a:r>
              <a:rPr lang="zh-CN" sz="1450" b="1" i="0" dirty="0">
                <a:solidFill>
                  <a:srgbClr val="0A2540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等主流模型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5B6E65-6CDC-8425-FBEF-40813637E89D}"/>
              </a:ext>
            </a:extLst>
          </p:cNvPr>
          <p:cNvSpPr txBox="1"/>
          <p:nvPr/>
        </p:nvSpPr>
        <p:spPr>
          <a:xfrm>
            <a:off x="2879933" y="5512037"/>
            <a:ext cx="137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TTFT: 60% </a:t>
            </a:r>
            <a:endParaRPr kumimoji="1" lang="zh-CN" altLang="en-US" dirty="0"/>
          </a:p>
        </p:txBody>
      </p:sp>
      <p:sp>
        <p:nvSpPr>
          <p:cNvPr id="3" name="下箭头 2">
            <a:extLst>
              <a:ext uri="{FF2B5EF4-FFF2-40B4-BE49-F238E27FC236}">
                <a16:creationId xmlns:a16="http://schemas.microsoft.com/office/drawing/2014/main" id="{91973C75-346C-1E58-F26A-63E9591CCA81}"/>
              </a:ext>
            </a:extLst>
          </p:cNvPr>
          <p:cNvSpPr/>
          <p:nvPr/>
        </p:nvSpPr>
        <p:spPr>
          <a:xfrm>
            <a:off x="4182309" y="5559039"/>
            <a:ext cx="131602" cy="2753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C12410-7DFE-6927-7805-2F76F219CFE9}"/>
              </a:ext>
            </a:extLst>
          </p:cNvPr>
          <p:cNvSpPr txBox="1"/>
          <p:nvPr/>
        </p:nvSpPr>
        <p:spPr>
          <a:xfrm>
            <a:off x="4621852" y="5510612"/>
            <a:ext cx="1433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TPOT: 13% </a:t>
            </a:r>
            <a:endParaRPr kumimoji="1" lang="zh-CN" altLang="en-US" dirty="0"/>
          </a:p>
        </p:txBody>
      </p:sp>
      <p:sp>
        <p:nvSpPr>
          <p:cNvPr id="5" name="下箭头 4">
            <a:extLst>
              <a:ext uri="{FF2B5EF4-FFF2-40B4-BE49-F238E27FC236}">
                <a16:creationId xmlns:a16="http://schemas.microsoft.com/office/drawing/2014/main" id="{7BE12944-BEA8-A337-9D82-678BCD473905}"/>
              </a:ext>
            </a:extLst>
          </p:cNvPr>
          <p:cNvSpPr/>
          <p:nvPr/>
        </p:nvSpPr>
        <p:spPr>
          <a:xfrm>
            <a:off x="5964398" y="5559039"/>
            <a:ext cx="131602" cy="2753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03AB48-E7AA-C344-1D7A-C30D5768DC64}"/>
              </a:ext>
            </a:extLst>
          </p:cNvPr>
          <p:cNvSpPr txBox="1"/>
          <p:nvPr/>
        </p:nvSpPr>
        <p:spPr>
          <a:xfrm>
            <a:off x="6418337" y="5514391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QPM: 16% </a:t>
            </a:r>
            <a:endParaRPr kumimoji="1" lang="zh-CN" altLang="en-US" dirty="0"/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A02DB615-46AF-DE8A-A5B3-3C0E9E7F68B0}"/>
              </a:ext>
            </a:extLst>
          </p:cNvPr>
          <p:cNvSpPr/>
          <p:nvPr/>
        </p:nvSpPr>
        <p:spPr>
          <a:xfrm rot="10800000">
            <a:off x="7760883" y="5562818"/>
            <a:ext cx="131602" cy="2753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6600" b="1" i="0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Thanks!</a:t>
            </a:r>
            <a:endParaRPr/>
          </a:p>
        </p:txBody>
      </p:sp>
      <p:sp>
        <p:nvSpPr>
          <p:cNvPr id="134" name="TextBox 2"/>
          <p:cNvSpPr txBox="1"/>
          <p:nvPr/>
        </p:nvSpPr>
        <p:spPr>
          <a:xfrm>
            <a:off x="430000" y="4520000"/>
            <a:ext cx="850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FlexKV：</a:t>
            </a:r>
            <a:r>
              <a:rPr lang="zh-CN" sz="2000" b="1" i="0">
                <a:solidFill>
                  <a:srgbClr val="FFFFFF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代码已开源，欢迎您的参与</a:t>
            </a:r>
            <a:endParaRPr/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 i="0">
                <a:solidFill>
                  <a:srgbClr val="91D2DD">
                    <a:alpha val="100000"/>
                  </a:srgbClr>
                </a:solidFill>
                <a:latin typeface="思源黑体 CN"/>
                <a:ea typeface="思源黑体 CN"/>
                <a:cs typeface="思源黑体 CN"/>
              </a:rPr>
              <a:t>GitHub: github.com/taco-project/FlexKV  |  Apache-2.0 开源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D2F757-3440-206F-8D3F-8EF5E1E88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49" y="2584013"/>
            <a:ext cx="1914910" cy="17556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14413</TotalTime>
  <Words>1129</Words>
  <Application>Microsoft Macintosh PowerPoint</Application>
  <PresentationFormat>宽屏</PresentationFormat>
  <Paragraphs>243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思源黑体 CN</vt:lpstr>
      <vt:lpstr>微软雅黑</vt:lpstr>
      <vt:lpstr>Source Han Sans CN</vt:lpstr>
      <vt:lpstr>Source Han Sans CN Bold</vt:lpstr>
      <vt:lpstr>Arial</vt:lpstr>
      <vt:lpstr>GOSIM-默认</vt:lpstr>
      <vt:lpstr>PowerPoint 演示文稿</vt:lpstr>
      <vt:lpstr>PowerPoint 演示文稿</vt:lpstr>
      <vt:lpstr>01</vt:lpstr>
      <vt:lpstr>KVCache 基本原理：以空间换时间</vt:lpstr>
      <vt:lpstr>Agent 场景的三个新特点</vt:lpstr>
      <vt:lpstr>HBM 装不下爆发增长的 KVCache</vt:lpstr>
      <vt:lpstr>02</vt:lpstr>
      <vt:lpstr>FlexKV 总体架构：控制面 + 存储面 + 数据面</vt:lpstr>
      <vt:lpstr>多级存储管理：一套索引调度 GPU 之下的所有介质</vt:lpstr>
      <vt:lpstr>KVCache 压缩：让同样的存储装下更多 KV</vt:lpstr>
      <vt:lpstr>分布式 KVCache 池化：跨节点共享 + 单机多实例复用</vt:lpstr>
      <vt:lpstr>高效传输：异步重叠 · 逐层流水 · 自适应选路</vt:lpstr>
      <vt:lpstr>Namespace 缓存隔离：多租户共池互不干扰</vt:lpstr>
      <vt:lpstr>03</vt:lpstr>
      <vt:lpstr>开源与社区集成：一次接入，多框架复用</vt:lpstr>
      <vt:lpstr>主流模型支持：从通用架构到最复杂的 DeepSeek-V4</vt:lpstr>
      <vt:lpstr>一套完整的 KVCache 管理解决方案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T164471</cp:lastModifiedBy>
  <cp:revision>12</cp:revision>
  <dcterms:created xsi:type="dcterms:W3CDTF">2026-09-30T18:11:56Z</dcterms:created>
  <dcterms:modified xsi:type="dcterms:W3CDTF">2026-10-17T04:04:24Z</dcterms:modified>
</cp:coreProperties>
</file>