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Sources: Cloudflare Workers AI · Fireworks AI · vLLM official Day 0 announcements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模型能力构成质量基础，上下文长度与输出体验共同决定交付质量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单请求 Output TPS 对应 Interactivity；系统聚合 TPS 对应 Throughput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Sources: Reading-rate meta-analysis · Agentic Coding in the Wild · Kimi · GLM · OpenAI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Sources: OpenAI GPT-5.6 model/pricing docs · Fast mode · Ultrafast preview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Sources: iFLYTEK · MetaX tuning guide · MTT · Huawei · NVIDIA. *C500 为 Microbenchmark 参考值；**Rubin 规格为 preliminary。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北京趋境科技有限责任公司工业部署材料。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Qin et al., “Prefill-as-a-Service: KVCache of Next-Generation Models Could Go Cross-Datacenter,” arXiv:2604.15039,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SGLang PD execution model; Prefill-as-a-Service communication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Prefill-as-a-Service deployment model; cross-building network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Kimi K2.6 3P1D 部署与性能记录；四源聚合 iperf3 为链路容量参考，不是模型运行中的 KV goodput。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Kimi K2.6 3P1D 性能曲线。单请求速度排除 TTFT，不以 Output TPS / C 估算。</a:t>
            </a:r>
          </a:p>
          <a:p>
            <a:r>
              <a:t>两组对照来自独立实验测量，统计窗口口径存在差异。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Kimi K2.6 3P1D 曲线；仅展示 TTFT ≤ 30 s。32K 峰值存在窗口波动，不作为稳态平台结论。</a:t>
            </a:r>
          </a:p>
          <a:p>
            <a:r>
              <a:t>两组对照来自独立实验测量，统计窗口口径存在差异。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Kimi K2.6 3P1D 部署与低带宽实验。跨园区实验为 100GbE，同园区实验为 20GbE；两组独立，不作纯带宽 A/B 归因。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Kimi K2.6 低带宽 Decode 曲线；输入 2K / 8K / 32K，输出 256 tokens，并发 1–64。单请求速度排除 TTFT。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Kimi K2.6 低带宽 Prefill 曲线、MLA KV 数据量及 TCP 链路测速。图中仅展示 P90 TTFT ≤ 30 s 的点。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Kimi K2.6 3P1D 性能与长上下文验证。32K 高并发部分点存在窗口波动，不代表全部高压验证通过。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Plan: validate larger-scale heterogeneous PD with more Prefill and Decode resources and multiple capacity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Prefill-as-a-Service workload model; KVCache.AI KV Cache Size Calculator.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第五章实验。P90 倍数为网络受限条件的端到端观察，未分离纯网络贡献；平均延迟一行为流水原理推论。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KVCache.AI and official model configs; 128K context, BF16-normalized cache; Kimi K2.6 value verified by transfer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Kimi K2.6 · 8K Input · 异构实测与同构计算参考。两组为独立实验，统计口径有差异。</a:t>
            </a:r>
          </a:p>
          <a:p>
            <a:r>
              <a:t>横轴为链路可用 Goodput；90.95Gb/s 来自链路测速，并非压测期间的 KV 流量。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  <a:p>
            <a:r>
              <a:t>- Source: official Hugging Face model cards/configs; KVCache.AI; 128K estimates in references/recent-model-prefill-kv-128k.md. V4 Pro uses BF16-normalized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Converted from /Users/hongbokang/approaching_ai/pclab_910c_h20_hetero_pd/report/slides/deck.html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F6EAF0A-4930-481A-A941-B621E531B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lang="zh-CN" altLang="en-US" sz="7200" b="1" noProof="1">
                <a:solidFill>
                  <a:schemeClr val="tx1"/>
                </a:solidFill>
                <a:latin typeface="+mj-lt"/>
                <a:ea typeface="PingFang SC"/>
                <a:cs typeface="Arial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7F967DA-E599-42C5-B0FD-454354D4B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lang="zh-CN" altLang="en-US" sz="3150" b="0" noProof="1">
                <a:solidFill>
                  <a:schemeClr val="tx1"/>
                </a:solidFill>
                <a:latin typeface="+mn-lt"/>
                <a:ea typeface="PingFang SC"/>
                <a:cs typeface="Arial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3B8DF61-2F7F-4F2E-8D6D-2C0B1739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lang="zh-CN" altLang="en-US" sz="6300" b="1" noProof="1">
                <a:solidFill>
                  <a:schemeClr val="tx1"/>
                </a:solidFill>
                <a:latin typeface="+mj-lt"/>
                <a:ea typeface="PingFang SC"/>
                <a:cs typeface="Arial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ED96667-F7FA-47FC-AC21-D288D370D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lang="zh-CN" altLang="en-US" sz="4950" b="1" noProof="1">
                <a:solidFill>
                  <a:schemeClr val="tx1"/>
                </a:solidFill>
                <a:latin typeface="+mj-lt"/>
                <a:ea typeface="PingFang SC"/>
                <a:cs typeface="Arial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D1C59CB-4CDF-4341-BDAE-86F432B52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lang="zh-CN" altLang="en-US" sz="3375" b="0" noProof="1">
                <a:solidFill>
                  <a:schemeClr val="tx1"/>
                </a:solidFill>
                <a:latin typeface="+mn-lt"/>
                <a:ea typeface="PingFang SC"/>
                <a:cs typeface="Arial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15792B4-7978-40AF-A42F-8A4322A9D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lang="zh-CN" altLang="en-US" sz="4950" b="1" noProof="1">
                <a:solidFill>
                  <a:schemeClr val="tx1"/>
                </a:solidFill>
                <a:latin typeface="+mj-lt"/>
                <a:ea typeface="PingFang SC"/>
                <a:cs typeface="Arial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CB378D7-3971-4519-9BBE-DD4D37DE2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lang="zh-CN" altLang="en-US" sz="3150" b="0" noProof="1">
                <a:solidFill>
                  <a:schemeClr val="tx1"/>
                </a:solidFill>
                <a:latin typeface="+mn-lt"/>
                <a:ea typeface="PingFang SC"/>
                <a:cs typeface="Arial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9639154-1991-4D9F-8417-042D8F90B3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lang="zh-CN" altLang="en-US" sz="3150" b="0" noProof="1">
                <a:solidFill>
                  <a:schemeClr val="tx1"/>
                </a:solidFill>
                <a:latin typeface="+mn-lt"/>
                <a:ea typeface="PingFang SC"/>
                <a:cs typeface="Arial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1BADF94-3618-484A-9C5A-B8BA4C65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lang="zh-CN" altLang="en-US" sz="4950" b="1" noProof="1">
                <a:solidFill>
                  <a:schemeClr val="tx1"/>
                </a:solidFill>
                <a:latin typeface="+mj-lt"/>
                <a:ea typeface="PingFang SC"/>
                <a:cs typeface="Arial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6AE598F-7423-4DFE-BBB1-8F9BB9707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lang="zh-CN" altLang="en-US" sz="3375" b="0" noProof="1">
                <a:solidFill>
                  <a:schemeClr val="tx1"/>
                </a:solidFill>
                <a:latin typeface="+mn-lt"/>
                <a:ea typeface="PingFang SC"/>
                <a:cs typeface="Arial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lang="zh-CN" altLang="en-US" sz="4400" noProof="1">
          <a:solidFill>
            <a:schemeClr val="tx1"/>
          </a:solidFill>
          <a:latin typeface="+mj-lt"/>
          <a:ea typeface="PingFang SC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lang="zh-CN" altLang="en-US" sz="2800" noProof="1">
          <a:solidFill>
            <a:schemeClr val="tx1"/>
          </a:solidFill>
          <a:latin typeface="+mn-lt"/>
          <a:ea typeface="PingFang SC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lang="zh-CN" altLang="en-US" sz="2400" noProof="1">
          <a:solidFill>
            <a:schemeClr val="tx1"/>
          </a:solidFill>
          <a:latin typeface="+mn-lt"/>
          <a:ea typeface="PingFang SC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lang="zh-CN" altLang="en-US" sz="2000" noProof="1">
          <a:solidFill>
            <a:schemeClr val="tx1"/>
          </a:solidFill>
          <a:latin typeface="+mn-lt"/>
          <a:ea typeface="PingFang SC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9pPr>
    </p:bodyStyle>
    <p:otherStyle>
      <a:lvl1pPr marL="0" algn="l">
        <a:buNone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1pPr>
      <a:lvl2pPr marL="457200" algn="l">
        <a:buNone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2pPr>
      <a:lvl3pPr marL="914400" algn="l">
        <a:buNone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3pPr>
      <a:lvl4pPr marL="1371600" algn="l">
        <a:buNone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4pPr>
      <a:lvl5pPr marL="1828800" algn="l">
        <a:buNone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5pPr>
      <a:lvl6pPr marL="2286000" algn="l">
        <a:buNone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6pPr>
      <a:lvl7pPr marL="2743200" algn="l">
        <a:buNone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7pPr>
      <a:lvl8pPr marL="3200400" algn="l">
        <a:buNone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8pPr>
      <a:lvl9pPr marL="3657600" algn="l">
        <a:buNone/>
        <a:defRPr lang="zh-CN" altLang="en-US" sz="1800" noProof="1">
          <a:solidFill>
            <a:schemeClr val="tx1"/>
          </a:solidFill>
          <a:latin typeface="+mn-lt"/>
          <a:ea typeface="PingFang SC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html-line-1">
            <a:extLst>
              <a:ext uri="{FF2B5EF4-FFF2-40B4-BE49-F238E27FC236}">
                <a16:creationId xmlns:a16="http://schemas.microsoft.com/office/drawing/2014/main" id="{E6E54649-9B6E-4F90-A5E2-C47473A03724}"/>
              </a:ext>
            </a:extLst>
          </p:cNvPr>
          <p:cNvSpPr>
            <a:spLocks noGrp="1"/>
          </p:cNvSpPr>
          <p:nvPr/>
        </p:nvSpPr>
        <p:spPr>
          <a:xfrm>
            <a:off x="1285875" y="4052888"/>
            <a:ext cx="1600200" cy="4763"/>
          </a:xfrm>
          <a:prstGeom prst="line">
            <a:avLst/>
          </a:prstGeom>
          <a:noFill/>
          <a:ln w="85725">
            <a:solidFill>
              <a:srgbClr val="642AF0"/>
            </a:solidFill>
            <a:prstDash val="solid"/>
          </a:ln>
        </p:spPr>
      </p:sp>
      <p:sp>
        <p:nvSpPr>
          <p:cNvPr id="2" name="html-shape-1">
            <a:extLst>
              <a:ext uri="{FF2B5EF4-FFF2-40B4-BE49-F238E27FC236}">
                <a16:creationId xmlns:a16="http://schemas.microsoft.com/office/drawing/2014/main" id="{7EA3D89C-D20A-40C1-9A9B-C3DDB9847F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3" name="html-shape-2">
            <a:extLst>
              <a:ext uri="{FF2B5EF4-FFF2-40B4-BE49-F238E27FC236}">
                <a16:creationId xmlns:a16="http://schemas.microsoft.com/office/drawing/2014/main" id="{612E079F-8F8F-4E51-99A0-25716D0115FB}"/>
              </a:ext>
            </a:extLst>
          </p:cNvPr>
          <p:cNvSpPr>
            <a:spLocks noGrp="1"/>
          </p:cNvSpPr>
          <p:nvPr/>
        </p:nvSpPr>
        <p:spPr>
          <a:xfrm>
            <a:off x="1285875" y="7629525"/>
            <a:ext cx="3371850" cy="1143000"/>
          </a:xfrm>
          <a:prstGeom prst="roundRect">
            <a:avLst>
              <a:gd name="adj" fmla="val 15000"/>
            </a:avLst>
          </a:prstGeom>
          <a:solidFill>
            <a:srgbClr val="F7F8FB"/>
          </a:solidFill>
          <a:ln w="9525">
            <a:solidFill>
              <a:srgbClr val="D7DDEA"/>
            </a:solidFill>
            <a:prstDash val="solid"/>
          </a:ln>
        </p:spPr>
      </p:sp>
      <p:sp>
        <p:nvSpPr>
          <p:cNvPr id="4" name="html-shape-3">
            <a:extLst>
              <a:ext uri="{FF2B5EF4-FFF2-40B4-BE49-F238E27FC236}">
                <a16:creationId xmlns:a16="http://schemas.microsoft.com/office/drawing/2014/main" id="{2CCBB90F-0F5E-4906-BA0D-4F969ADDE5AB}"/>
              </a:ext>
            </a:extLst>
          </p:cNvPr>
          <p:cNvSpPr>
            <a:spLocks noGrp="1"/>
          </p:cNvSpPr>
          <p:nvPr/>
        </p:nvSpPr>
        <p:spPr>
          <a:xfrm>
            <a:off x="5400675" y="7629525"/>
            <a:ext cx="3371850" cy="1143000"/>
          </a:xfrm>
          <a:prstGeom prst="roundRect">
            <a:avLst>
              <a:gd name="adj" fmla="val 15000"/>
            </a:avLst>
          </a:prstGeom>
          <a:solidFill>
            <a:srgbClr val="F7F8FB"/>
          </a:solidFill>
          <a:ln w="9525">
            <a:solidFill>
              <a:srgbClr val="D7DDEA"/>
            </a:solidFill>
            <a:prstDash val="solid"/>
          </a:ln>
        </p:spPr>
      </p:sp>
      <p:sp>
        <p:nvSpPr>
          <p:cNvPr id="5" name="html-shape-4">
            <a:extLst>
              <a:ext uri="{FF2B5EF4-FFF2-40B4-BE49-F238E27FC236}">
                <a16:creationId xmlns:a16="http://schemas.microsoft.com/office/drawing/2014/main" id="{DDC36E29-BDD2-44F8-8818-2A2D3F890615}"/>
              </a:ext>
            </a:extLst>
          </p:cNvPr>
          <p:cNvSpPr>
            <a:spLocks noGrp="1"/>
          </p:cNvSpPr>
          <p:nvPr/>
        </p:nvSpPr>
        <p:spPr>
          <a:xfrm>
            <a:off x="9515475" y="7629525"/>
            <a:ext cx="3371850" cy="1143000"/>
          </a:xfrm>
          <a:prstGeom prst="roundRect">
            <a:avLst>
              <a:gd name="adj" fmla="val 15000"/>
            </a:avLst>
          </a:prstGeom>
          <a:solidFill>
            <a:srgbClr val="E7F7F0"/>
          </a:solidFill>
          <a:ln w="9525">
            <a:solidFill>
              <a:srgbClr val="B8E1CF"/>
            </a:solidFill>
            <a:prstDash val="solid"/>
          </a:ln>
        </p:spPr>
      </p:sp>
      <p:sp>
        <p:nvSpPr>
          <p:cNvPr id="6" name="html-shape-5">
            <a:extLst>
              <a:ext uri="{FF2B5EF4-FFF2-40B4-BE49-F238E27FC236}">
                <a16:creationId xmlns:a16="http://schemas.microsoft.com/office/drawing/2014/main" id="{FAE8614B-A45A-4890-92A6-CC34A8C26F87}"/>
              </a:ext>
            </a:extLst>
          </p:cNvPr>
          <p:cNvSpPr>
            <a:spLocks noGrp="1"/>
          </p:cNvSpPr>
          <p:nvPr/>
        </p:nvSpPr>
        <p:spPr>
          <a:xfrm>
            <a:off x="13630275" y="7629525"/>
            <a:ext cx="3371850" cy="1143000"/>
          </a:xfrm>
          <a:prstGeom prst="roundRect">
            <a:avLst>
              <a:gd name="adj" fmla="val 15000"/>
            </a:avLst>
          </a:prstGeom>
          <a:solidFill>
            <a:srgbClr val="E7F7F0"/>
          </a:solidFill>
          <a:ln w="9525">
            <a:solidFill>
              <a:srgbClr val="B8E1CF"/>
            </a:solidFill>
            <a:prstDash val="solid"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C6171D7-C98F-49DC-952E-9E0798442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573365" y="514350"/>
            <a:ext cx="2857269" cy="876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3F28B48-415D-4B47-9239-66B183F45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49050" y="784963"/>
            <a:ext cx="2857500" cy="334788"/>
          </a:xfrm>
          <a:prstGeom prst="rect">
            <a:avLst/>
          </a:prstGeom>
        </p:spPr>
      </p:pic>
      <p:sp>
        <p:nvSpPr>
          <p:cNvPr id="9" name="text-1">
            <a:extLst>
              <a:ext uri="{FF2B5EF4-FFF2-40B4-BE49-F238E27FC236}">
                <a16:creationId xmlns:a16="http://schemas.microsoft.com/office/drawing/2014/main" id="{A6B79811-4D74-45D9-A011-03688295F95D}"/>
              </a:ext>
            </a:extLst>
          </p:cNvPr>
          <p:cNvSpPr>
            <a:spLocks noGrp="1"/>
          </p:cNvSpPr>
          <p:nvPr/>
        </p:nvSpPr>
        <p:spPr>
          <a:xfrm>
            <a:off x="1276350" y="723900"/>
            <a:ext cx="641223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spc="15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spc="15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spc="15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TECHNICAL REPORT · HETEROGENEOUS PD</a:t>
            </a:r>
          </a:p>
        </p:txBody>
      </p:sp>
      <p:sp>
        <p:nvSpPr>
          <p:cNvPr id="10" name="text-2">
            <a:extLst>
              <a:ext uri="{FF2B5EF4-FFF2-40B4-BE49-F238E27FC236}">
                <a16:creationId xmlns:a16="http://schemas.microsoft.com/office/drawing/2014/main" id="{86BE635D-0623-484D-BF94-9E92E016503C}"/>
              </a:ext>
            </a:extLst>
          </p:cNvPr>
          <p:cNvSpPr>
            <a:spLocks noGrp="1"/>
          </p:cNvSpPr>
          <p:nvPr/>
        </p:nvSpPr>
        <p:spPr>
          <a:xfrm>
            <a:off x="1276350" y="2286000"/>
            <a:ext cx="9428226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134"/>
          </a:bodyPr>
          <a:lstStyle>
            <a:defPPr algn="l">
              <a:defRPr lang="zh-CN" altLang="en-US" sz="9000" b="1" i="0" spc="-30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9000" b="1" i="0" spc="-30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9000" b="1" i="0" spc="-30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高质量 Token 服务</a:t>
            </a:r>
          </a:p>
        </p:txBody>
      </p:sp>
      <p:sp>
        <p:nvSpPr>
          <p:cNvPr id="11" name="text-3">
            <a:extLst>
              <a:ext uri="{FF2B5EF4-FFF2-40B4-BE49-F238E27FC236}">
                <a16:creationId xmlns:a16="http://schemas.microsoft.com/office/drawing/2014/main" id="{3B49A40F-A9D9-4F40-9D5C-25D1B7D3D395}"/>
              </a:ext>
            </a:extLst>
          </p:cNvPr>
          <p:cNvSpPr>
            <a:spLocks noGrp="1"/>
          </p:cNvSpPr>
          <p:nvPr/>
        </p:nvSpPr>
        <p:spPr>
          <a:xfrm>
            <a:off x="1276350" y="4391025"/>
            <a:ext cx="7445883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355"/>
          </a:bodyPr>
          <a:lstStyle>
            <a:defPPr algn="l">
              <a:defRPr lang="zh-CN" altLang="en-US" sz="4950" b="1" i="0" spc="-112" noProof="1">
                <a:solidFill>
                  <a:srgbClr val="343B49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12" noProof="1">
                <a:solidFill>
                  <a:srgbClr val="343B49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12" noProof="1">
                <a:solidFill>
                  <a:srgbClr val="343B49"/>
                </a:solidFill>
                <a:latin typeface="PingFang SC"/>
                <a:ea typeface="PingFang SC"/>
                <a:cs typeface="Arial"/>
              </a:rPr>
              <a:t>从异构 PD 分离到算力网络</a:t>
            </a:r>
          </a:p>
        </p:txBody>
      </p:sp>
      <p:sp>
        <p:nvSpPr>
          <p:cNvPr id="12" name="text-4">
            <a:extLst>
              <a:ext uri="{FF2B5EF4-FFF2-40B4-BE49-F238E27FC236}">
                <a16:creationId xmlns:a16="http://schemas.microsoft.com/office/drawing/2014/main" id="{D2EC48DA-11B5-4C5D-90AC-2EA19D24AF83}"/>
              </a:ext>
            </a:extLst>
          </p:cNvPr>
          <p:cNvSpPr>
            <a:spLocks noGrp="1"/>
          </p:cNvSpPr>
          <p:nvPr/>
        </p:nvSpPr>
        <p:spPr>
          <a:xfrm>
            <a:off x="1304925" y="5467350"/>
            <a:ext cx="953338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高算力设备如何支撑高质量 Token 服务，并进一步实现跨区域 P/D 协同</a:t>
            </a:r>
          </a:p>
        </p:txBody>
      </p:sp>
      <p:sp>
        <p:nvSpPr>
          <p:cNvPr id="13" name="text-5">
            <a:extLst>
              <a:ext uri="{FF2B5EF4-FFF2-40B4-BE49-F238E27FC236}">
                <a16:creationId xmlns:a16="http://schemas.microsoft.com/office/drawing/2014/main" id="{D0D44FE2-7EC5-44DE-A08F-B25C6BB448F2}"/>
              </a:ext>
            </a:extLst>
          </p:cNvPr>
          <p:cNvSpPr>
            <a:spLocks noGrp="1"/>
          </p:cNvSpPr>
          <p:nvPr/>
        </p:nvSpPr>
        <p:spPr>
          <a:xfrm>
            <a:off x="1571625" y="8029575"/>
            <a:ext cx="316706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14" name="text-6">
            <a:extLst>
              <a:ext uri="{FF2B5EF4-FFF2-40B4-BE49-F238E27FC236}">
                <a16:creationId xmlns:a16="http://schemas.microsoft.com/office/drawing/2014/main" id="{40CEA88B-3FBF-4933-BD4F-3482449BED19}"/>
              </a:ext>
            </a:extLst>
          </p:cNvPr>
          <p:cNvSpPr>
            <a:spLocks noGrp="1"/>
          </p:cNvSpPr>
          <p:nvPr/>
        </p:nvSpPr>
        <p:spPr>
          <a:xfrm>
            <a:off x="2002631" y="8005763"/>
            <a:ext cx="244687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30374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30374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303746"/>
                </a:solidFill>
                <a:latin typeface="PingFang SC"/>
                <a:ea typeface="PingFang SC"/>
                <a:cs typeface="Arial"/>
              </a:rPr>
              <a:t>高质量 Token 服务</a:t>
            </a:r>
          </a:p>
        </p:txBody>
      </p:sp>
      <p:sp>
        <p:nvSpPr>
          <p:cNvPr id="15" name="text-7">
            <a:extLst>
              <a:ext uri="{FF2B5EF4-FFF2-40B4-BE49-F238E27FC236}">
                <a16:creationId xmlns:a16="http://schemas.microsoft.com/office/drawing/2014/main" id="{56DA7D8A-D148-4698-8E6A-5CAF632037C4}"/>
              </a:ext>
            </a:extLst>
          </p:cNvPr>
          <p:cNvSpPr>
            <a:spLocks noGrp="1"/>
          </p:cNvSpPr>
          <p:nvPr/>
        </p:nvSpPr>
        <p:spPr>
          <a:xfrm>
            <a:off x="4838700" y="7943850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A4ADB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A4ADB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A4ADBD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16" name="text-8">
            <a:extLst>
              <a:ext uri="{FF2B5EF4-FFF2-40B4-BE49-F238E27FC236}">
                <a16:creationId xmlns:a16="http://schemas.microsoft.com/office/drawing/2014/main" id="{ABF539ED-1FE9-4E88-B9F5-4A2D95CFF733}"/>
              </a:ext>
            </a:extLst>
          </p:cNvPr>
          <p:cNvSpPr>
            <a:spLocks noGrp="1"/>
          </p:cNvSpPr>
          <p:nvPr/>
        </p:nvSpPr>
        <p:spPr>
          <a:xfrm>
            <a:off x="5686425" y="8029575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17" name="text-9">
            <a:extLst>
              <a:ext uri="{FF2B5EF4-FFF2-40B4-BE49-F238E27FC236}">
                <a16:creationId xmlns:a16="http://schemas.microsoft.com/office/drawing/2014/main" id="{B2C6AF8E-CB2E-40C0-8A4B-D1FDE3A88B55}"/>
              </a:ext>
            </a:extLst>
          </p:cNvPr>
          <p:cNvSpPr>
            <a:spLocks noGrp="1"/>
          </p:cNvSpPr>
          <p:nvPr/>
        </p:nvSpPr>
        <p:spPr>
          <a:xfrm>
            <a:off x="6162675" y="8005763"/>
            <a:ext cx="1100614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30374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30374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303746"/>
                </a:solidFill>
                <a:latin typeface="PingFang SC"/>
                <a:ea typeface="PingFang SC"/>
                <a:cs typeface="Arial"/>
              </a:rPr>
              <a:t>PD 分离</a:t>
            </a:r>
          </a:p>
        </p:txBody>
      </p:sp>
      <p:sp>
        <p:nvSpPr>
          <p:cNvPr id="18" name="text-10">
            <a:extLst>
              <a:ext uri="{FF2B5EF4-FFF2-40B4-BE49-F238E27FC236}">
                <a16:creationId xmlns:a16="http://schemas.microsoft.com/office/drawing/2014/main" id="{54A0CB51-7B30-4658-BC90-3936FE7E3814}"/>
              </a:ext>
            </a:extLst>
          </p:cNvPr>
          <p:cNvSpPr>
            <a:spLocks noGrp="1"/>
          </p:cNvSpPr>
          <p:nvPr/>
        </p:nvSpPr>
        <p:spPr>
          <a:xfrm>
            <a:off x="8953500" y="7943850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A4ADB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A4ADB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A4ADBD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19" name="text-11">
            <a:extLst>
              <a:ext uri="{FF2B5EF4-FFF2-40B4-BE49-F238E27FC236}">
                <a16:creationId xmlns:a16="http://schemas.microsoft.com/office/drawing/2014/main" id="{320C19DF-E6E0-46E2-8E99-544875F772AD}"/>
              </a:ext>
            </a:extLst>
          </p:cNvPr>
          <p:cNvSpPr>
            <a:spLocks noGrp="1"/>
          </p:cNvSpPr>
          <p:nvPr/>
        </p:nvSpPr>
        <p:spPr>
          <a:xfrm>
            <a:off x="9801225" y="8029575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03</a:t>
            </a:r>
          </a:p>
        </p:txBody>
      </p:sp>
      <p:sp>
        <p:nvSpPr>
          <p:cNvPr id="20" name="text-12">
            <a:extLst>
              <a:ext uri="{FF2B5EF4-FFF2-40B4-BE49-F238E27FC236}">
                <a16:creationId xmlns:a16="http://schemas.microsoft.com/office/drawing/2014/main" id="{D19AF13D-5DB6-41DB-B193-99CE0DAD6855}"/>
              </a:ext>
            </a:extLst>
          </p:cNvPr>
          <p:cNvSpPr>
            <a:spLocks noGrp="1"/>
          </p:cNvSpPr>
          <p:nvPr/>
        </p:nvSpPr>
        <p:spPr>
          <a:xfrm>
            <a:off x="10277475" y="8005763"/>
            <a:ext cx="1181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异构协同</a:t>
            </a:r>
          </a:p>
        </p:txBody>
      </p:sp>
      <p:sp>
        <p:nvSpPr>
          <p:cNvPr id="21" name="text-13">
            <a:extLst>
              <a:ext uri="{FF2B5EF4-FFF2-40B4-BE49-F238E27FC236}">
                <a16:creationId xmlns:a16="http://schemas.microsoft.com/office/drawing/2014/main" id="{CBF3391A-3E9B-43FD-9AFD-0C8597B34E7D}"/>
              </a:ext>
            </a:extLst>
          </p:cNvPr>
          <p:cNvSpPr>
            <a:spLocks noGrp="1"/>
          </p:cNvSpPr>
          <p:nvPr/>
        </p:nvSpPr>
        <p:spPr>
          <a:xfrm>
            <a:off x="13068300" y="7943850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A4ADB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A4ADB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A4ADBD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2" name="text-14">
            <a:extLst>
              <a:ext uri="{FF2B5EF4-FFF2-40B4-BE49-F238E27FC236}">
                <a16:creationId xmlns:a16="http://schemas.microsoft.com/office/drawing/2014/main" id="{FA0C7175-209A-40F7-81CA-6ED38C6AD41B}"/>
              </a:ext>
            </a:extLst>
          </p:cNvPr>
          <p:cNvSpPr>
            <a:spLocks noGrp="1"/>
          </p:cNvSpPr>
          <p:nvPr/>
        </p:nvSpPr>
        <p:spPr>
          <a:xfrm>
            <a:off x="13916025" y="8029575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04</a:t>
            </a:r>
          </a:p>
        </p:txBody>
      </p:sp>
      <p:sp>
        <p:nvSpPr>
          <p:cNvPr id="23" name="text-15">
            <a:extLst>
              <a:ext uri="{FF2B5EF4-FFF2-40B4-BE49-F238E27FC236}">
                <a16:creationId xmlns:a16="http://schemas.microsoft.com/office/drawing/2014/main" id="{DC277792-6099-48EC-B0FF-2472C758E176}"/>
              </a:ext>
            </a:extLst>
          </p:cNvPr>
          <p:cNvSpPr>
            <a:spLocks noGrp="1"/>
          </p:cNvSpPr>
          <p:nvPr/>
        </p:nvSpPr>
        <p:spPr>
          <a:xfrm>
            <a:off x="14392275" y="8005763"/>
            <a:ext cx="1733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跨区域算力网</a:t>
            </a:r>
          </a:p>
        </p:txBody>
      </p:sp>
      <p:sp>
        <p:nvSpPr>
          <p:cNvPr id="24" name="text-16">
            <a:extLst>
              <a:ext uri="{FF2B5EF4-FFF2-40B4-BE49-F238E27FC236}">
                <a16:creationId xmlns:a16="http://schemas.microsoft.com/office/drawing/2014/main" id="{D76CCD56-5E8F-424E-8EFF-CF1713A49681}"/>
              </a:ext>
            </a:extLst>
          </p:cNvPr>
          <p:cNvSpPr>
            <a:spLocks noGrp="1"/>
          </p:cNvSpPr>
          <p:nvPr/>
        </p:nvSpPr>
        <p:spPr>
          <a:xfrm>
            <a:off x="1304925" y="9429750"/>
            <a:ext cx="754084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8C98A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8C98A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8C98AB"/>
                </a:solidFill>
                <a:latin typeface="PingFang SC"/>
                <a:ea typeface="PingFang SC"/>
                <a:cs typeface="Arial"/>
              </a:rPr>
              <a:t>方案与汇报材料：康鸿博 ｜ 北京趋境科技有限责任公司 ｜ 2026 年 10 月</a:t>
            </a:r>
          </a:p>
        </p:txBody>
      </p:sp>
      <p:sp>
        <p:nvSpPr>
          <p:cNvPr id="25" name="text-17">
            <a:extLst>
              <a:ext uri="{FF2B5EF4-FFF2-40B4-BE49-F238E27FC236}">
                <a16:creationId xmlns:a16="http://schemas.microsoft.com/office/drawing/2014/main" id="{8D5F6D05-F230-47F0-BF61-2E54ED0997A1}"/>
              </a:ext>
            </a:extLst>
          </p:cNvPr>
          <p:cNvSpPr>
            <a:spLocks noGrp="1"/>
          </p:cNvSpPr>
          <p:nvPr/>
        </p:nvSpPr>
        <p:spPr>
          <a:xfrm>
            <a:off x="17031272" y="9848850"/>
            <a:ext cx="551879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 / 43</a:t>
            </a:r>
          </a:p>
        </p:txBody>
      </p:sp>
    </p:spTree>
    <p:extLst>
      <p:ext uri="{BB962C8B-B14F-4D97-AF65-F5344CB8AC3E}">
        <p14:creationId xmlns:p14="http://schemas.microsoft.com/office/powerpoint/2010/main" val="91197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html-shape-1">
            <a:extLst>
              <a:ext uri="{FF2B5EF4-FFF2-40B4-BE49-F238E27FC236}">
                <a16:creationId xmlns:a16="http://schemas.microsoft.com/office/drawing/2014/main" id="{9827B332-15BC-4BD9-B521-7B224EF5173E}"/>
              </a:ext>
            </a:extLst>
          </p:cNvPr>
          <p:cNvSpPr>
            <a:spLocks noGrp="1"/>
          </p:cNvSpPr>
          <p:nvPr/>
        </p:nvSpPr>
        <p:spPr>
          <a:xfrm>
            <a:off x="771525" y="3105150"/>
            <a:ext cx="2514600" cy="24955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" name="html-shape-7">
            <a:extLst>
              <a:ext uri="{FF2B5EF4-FFF2-40B4-BE49-F238E27FC236}">
                <a16:creationId xmlns:a16="http://schemas.microsoft.com/office/drawing/2014/main" id="{D3678B97-286B-443D-BA36-351D0F17CD2F}"/>
              </a:ext>
            </a:extLst>
          </p:cNvPr>
          <p:cNvSpPr>
            <a:spLocks noGrp="1"/>
          </p:cNvSpPr>
          <p:nvPr/>
        </p:nvSpPr>
        <p:spPr>
          <a:xfrm>
            <a:off x="771525" y="6324600"/>
            <a:ext cx="2514600" cy="24955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border-2">
            <a:extLst>
              <a:ext uri="{FF2B5EF4-FFF2-40B4-BE49-F238E27FC236}">
                <a16:creationId xmlns:a16="http://schemas.microsoft.com/office/drawing/2014/main" id="{2FF53A36-F37E-498C-B9F5-F53988761C0B}"/>
              </a:ext>
            </a:extLst>
          </p:cNvPr>
          <p:cNvSpPr>
            <a:spLocks noGrp="1"/>
          </p:cNvSpPr>
          <p:nvPr/>
        </p:nvSpPr>
        <p:spPr>
          <a:xfrm>
            <a:off x="3267075" y="3105150"/>
            <a:ext cx="19050" cy="24955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4" name="pseudo-3">
            <a:extLst>
              <a:ext uri="{FF2B5EF4-FFF2-40B4-BE49-F238E27FC236}">
                <a16:creationId xmlns:a16="http://schemas.microsoft.com/office/drawing/2014/main" id="{EA3DF1F0-8935-4CBF-AF16-06C24CDFBD8C}"/>
              </a:ext>
            </a:extLst>
          </p:cNvPr>
          <p:cNvSpPr>
            <a:spLocks noGrp="1"/>
          </p:cNvSpPr>
          <p:nvPr/>
        </p:nvSpPr>
        <p:spPr>
          <a:xfrm>
            <a:off x="4200525" y="3581400"/>
            <a:ext cx="12801600" cy="28575"/>
          </a:xfrm>
          <a:prstGeom prst="rect">
            <a:avLst/>
          </a:prstGeom>
          <a:solidFill>
            <a:srgbClr val="CCD3DF"/>
          </a:solidFill>
          <a:ln w="0">
            <a:noFill/>
            <a:prstDash val="solid"/>
          </a:ln>
        </p:spPr>
      </p:sp>
      <p:sp>
        <p:nvSpPr>
          <p:cNvPr id="5" name="html-shape-4">
            <a:extLst>
              <a:ext uri="{FF2B5EF4-FFF2-40B4-BE49-F238E27FC236}">
                <a16:creationId xmlns:a16="http://schemas.microsoft.com/office/drawing/2014/main" id="{2271F287-3F8C-4F58-A1C5-79150C321F9F}"/>
              </a:ext>
            </a:extLst>
          </p:cNvPr>
          <p:cNvSpPr>
            <a:spLocks noGrp="1"/>
          </p:cNvSpPr>
          <p:nvPr/>
        </p:nvSpPr>
        <p:spPr>
          <a:xfrm>
            <a:off x="3914775" y="327660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6" name="html-shape-5">
            <a:extLst>
              <a:ext uri="{FF2B5EF4-FFF2-40B4-BE49-F238E27FC236}">
                <a16:creationId xmlns:a16="http://schemas.microsoft.com/office/drawing/2014/main" id="{161E7E9C-E095-4897-9715-ACD4F5FC1F8B}"/>
              </a:ext>
            </a:extLst>
          </p:cNvPr>
          <p:cNvSpPr>
            <a:spLocks noGrp="1"/>
          </p:cNvSpPr>
          <p:nvPr/>
        </p:nvSpPr>
        <p:spPr>
          <a:xfrm>
            <a:off x="8601075" y="327660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7" name="html-shape-6">
            <a:extLst>
              <a:ext uri="{FF2B5EF4-FFF2-40B4-BE49-F238E27FC236}">
                <a16:creationId xmlns:a16="http://schemas.microsoft.com/office/drawing/2014/main" id="{56EBD341-349E-49E9-8114-AFEC458D68BA}"/>
              </a:ext>
            </a:extLst>
          </p:cNvPr>
          <p:cNvSpPr>
            <a:spLocks noGrp="1"/>
          </p:cNvSpPr>
          <p:nvPr/>
        </p:nvSpPr>
        <p:spPr>
          <a:xfrm>
            <a:off x="13287375" y="327660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8" name="border-8">
            <a:extLst>
              <a:ext uri="{FF2B5EF4-FFF2-40B4-BE49-F238E27FC236}">
                <a16:creationId xmlns:a16="http://schemas.microsoft.com/office/drawing/2014/main" id="{01301024-6BBF-4826-B5A9-93E5B91EA63E}"/>
              </a:ext>
            </a:extLst>
          </p:cNvPr>
          <p:cNvSpPr>
            <a:spLocks noGrp="1"/>
          </p:cNvSpPr>
          <p:nvPr/>
        </p:nvSpPr>
        <p:spPr>
          <a:xfrm>
            <a:off x="3267075" y="6324600"/>
            <a:ext cx="19050" cy="24955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9" name="pseudo-9">
            <a:extLst>
              <a:ext uri="{FF2B5EF4-FFF2-40B4-BE49-F238E27FC236}">
                <a16:creationId xmlns:a16="http://schemas.microsoft.com/office/drawing/2014/main" id="{FB18B00B-26EC-436F-B384-08BBAF2F962F}"/>
              </a:ext>
            </a:extLst>
          </p:cNvPr>
          <p:cNvSpPr>
            <a:spLocks noGrp="1"/>
          </p:cNvSpPr>
          <p:nvPr/>
        </p:nvSpPr>
        <p:spPr>
          <a:xfrm>
            <a:off x="4200525" y="6800850"/>
            <a:ext cx="12801600" cy="28575"/>
          </a:xfrm>
          <a:prstGeom prst="rect">
            <a:avLst/>
          </a:prstGeom>
          <a:solidFill>
            <a:srgbClr val="CCD3DF"/>
          </a:solidFill>
          <a:ln w="0">
            <a:noFill/>
            <a:prstDash val="solid"/>
          </a:ln>
        </p:spPr>
      </p:sp>
      <p:sp>
        <p:nvSpPr>
          <p:cNvPr id="10" name="html-shape-10">
            <a:extLst>
              <a:ext uri="{FF2B5EF4-FFF2-40B4-BE49-F238E27FC236}">
                <a16:creationId xmlns:a16="http://schemas.microsoft.com/office/drawing/2014/main" id="{1A90F025-EF63-4488-8350-BE643E760EE1}"/>
              </a:ext>
            </a:extLst>
          </p:cNvPr>
          <p:cNvSpPr>
            <a:spLocks noGrp="1"/>
          </p:cNvSpPr>
          <p:nvPr/>
        </p:nvSpPr>
        <p:spPr>
          <a:xfrm>
            <a:off x="3914775" y="64960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11" name="html-shape-11">
            <a:extLst>
              <a:ext uri="{FF2B5EF4-FFF2-40B4-BE49-F238E27FC236}">
                <a16:creationId xmlns:a16="http://schemas.microsoft.com/office/drawing/2014/main" id="{65E95D2C-0314-4D1F-AF2A-334D0E2099F4}"/>
              </a:ext>
            </a:extLst>
          </p:cNvPr>
          <p:cNvSpPr>
            <a:spLocks noGrp="1"/>
          </p:cNvSpPr>
          <p:nvPr/>
        </p:nvSpPr>
        <p:spPr>
          <a:xfrm>
            <a:off x="8601075" y="64960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12" name="html-shape-12">
            <a:extLst>
              <a:ext uri="{FF2B5EF4-FFF2-40B4-BE49-F238E27FC236}">
                <a16:creationId xmlns:a16="http://schemas.microsoft.com/office/drawing/2014/main" id="{EF62AD2C-5F56-4949-9382-134152A8C441}"/>
              </a:ext>
            </a:extLst>
          </p:cNvPr>
          <p:cNvSpPr>
            <a:spLocks noGrp="1"/>
          </p:cNvSpPr>
          <p:nvPr/>
        </p:nvSpPr>
        <p:spPr>
          <a:xfrm>
            <a:off x="13287375" y="64960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82FDF13-0E47-441B-B6B7-35A780182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7F37CBB-E625-45D3-832D-4E723A469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5" name="text-1">
            <a:extLst>
              <a:ext uri="{FF2B5EF4-FFF2-40B4-BE49-F238E27FC236}">
                <a16:creationId xmlns:a16="http://schemas.microsoft.com/office/drawing/2014/main" id="{BA0585EF-B7BC-4637-8D0D-325FFF907CEB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6" name="text-2">
            <a:extLst>
              <a:ext uri="{FF2B5EF4-FFF2-40B4-BE49-F238E27FC236}">
                <a16:creationId xmlns:a16="http://schemas.microsoft.com/office/drawing/2014/main" id="{9DB0CCE3-39DD-40CF-A526-796B01A42E00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30442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汇报目录 · KEY TAKEAWAYS</a:t>
            </a:r>
          </a:p>
        </p:txBody>
      </p:sp>
      <p:sp>
        <p:nvSpPr>
          <p:cNvPr id="17" name="text-3">
            <a:extLst>
              <a:ext uri="{FF2B5EF4-FFF2-40B4-BE49-F238E27FC236}">
                <a16:creationId xmlns:a16="http://schemas.microsoft.com/office/drawing/2014/main" id="{052E5A3D-529A-4023-B2D7-65720D1F59E3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0157651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437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从 Token 服务需求到跨区域算力网络</a:t>
            </a:r>
          </a:p>
        </p:txBody>
      </p:sp>
      <p:sp>
        <p:nvSpPr>
          <p:cNvPr id="18" name="text-4">
            <a:extLst>
              <a:ext uri="{FF2B5EF4-FFF2-40B4-BE49-F238E27FC236}">
                <a16:creationId xmlns:a16="http://schemas.microsoft.com/office/drawing/2014/main" id="{31D7E425-E049-4CD4-9E71-A04D8E48579F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12815316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从 Token 服务需求理解 PD 分离，再介绍异构实践、跨机房实验与跨区域部署的网络需求。</a:t>
            </a:r>
          </a:p>
        </p:txBody>
      </p:sp>
      <p:sp>
        <p:nvSpPr>
          <p:cNvPr id="19" name="text-5">
            <a:extLst>
              <a:ext uri="{FF2B5EF4-FFF2-40B4-BE49-F238E27FC236}">
                <a16:creationId xmlns:a16="http://schemas.microsoft.com/office/drawing/2014/main" id="{9F3B967F-6A32-49D8-A929-3F301F0D0272}"/>
              </a:ext>
            </a:extLst>
          </p:cNvPr>
          <p:cNvSpPr>
            <a:spLocks noGrp="1"/>
          </p:cNvSpPr>
          <p:nvPr/>
        </p:nvSpPr>
        <p:spPr>
          <a:xfrm>
            <a:off x="800100" y="3295650"/>
            <a:ext cx="1600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为什么做</a:t>
            </a:r>
          </a:p>
        </p:txBody>
      </p:sp>
      <p:sp>
        <p:nvSpPr>
          <p:cNvPr id="20" name="text-6">
            <a:extLst>
              <a:ext uri="{FF2B5EF4-FFF2-40B4-BE49-F238E27FC236}">
                <a16:creationId xmlns:a16="http://schemas.microsoft.com/office/drawing/2014/main" id="{E59FA99C-0CA3-4134-9030-23545159B22F}"/>
              </a:ext>
            </a:extLst>
          </p:cNvPr>
          <p:cNvSpPr>
            <a:spLocks noGrp="1"/>
          </p:cNvSpPr>
          <p:nvPr/>
        </p:nvSpPr>
        <p:spPr>
          <a:xfrm>
            <a:off x="800100" y="3752850"/>
            <a:ext cx="1489043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PD 分离</a:t>
            </a:r>
          </a:p>
        </p:txBody>
      </p:sp>
      <p:sp>
        <p:nvSpPr>
          <p:cNvPr id="21" name="text-7">
            <a:extLst>
              <a:ext uri="{FF2B5EF4-FFF2-40B4-BE49-F238E27FC236}">
                <a16:creationId xmlns:a16="http://schemas.microsoft.com/office/drawing/2014/main" id="{5D55F598-B84B-43A8-BF56-A5F1100B016E}"/>
              </a:ext>
            </a:extLst>
          </p:cNvPr>
          <p:cNvSpPr>
            <a:spLocks noGrp="1"/>
          </p:cNvSpPr>
          <p:nvPr/>
        </p:nvSpPr>
        <p:spPr>
          <a:xfrm>
            <a:off x="800100" y="4410551"/>
            <a:ext cx="206987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从 Token 服务需求出</a:t>
            </a:r>
          </a:p>
        </p:txBody>
      </p:sp>
      <p:sp>
        <p:nvSpPr>
          <p:cNvPr id="22" name="text-8">
            <a:extLst>
              <a:ext uri="{FF2B5EF4-FFF2-40B4-BE49-F238E27FC236}">
                <a16:creationId xmlns:a16="http://schemas.microsoft.com/office/drawing/2014/main" id="{92DB5517-00DA-40FF-B235-C90B3D87C1B0}"/>
              </a:ext>
            </a:extLst>
          </p:cNvPr>
          <p:cNvSpPr>
            <a:spLocks noGrp="1"/>
          </p:cNvSpPr>
          <p:nvPr/>
        </p:nvSpPr>
        <p:spPr>
          <a:xfrm>
            <a:off x="800100" y="4714304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发，介绍分离的可行性</a:t>
            </a:r>
          </a:p>
        </p:txBody>
      </p:sp>
      <p:sp>
        <p:nvSpPr>
          <p:cNvPr id="23" name="text-9">
            <a:extLst>
              <a:ext uri="{FF2B5EF4-FFF2-40B4-BE49-F238E27FC236}">
                <a16:creationId xmlns:a16="http://schemas.microsoft.com/office/drawing/2014/main" id="{4F5C8727-22BE-469D-9F80-8DC3AAF828C7}"/>
              </a:ext>
            </a:extLst>
          </p:cNvPr>
          <p:cNvSpPr>
            <a:spLocks noGrp="1"/>
          </p:cNvSpPr>
          <p:nvPr/>
        </p:nvSpPr>
        <p:spPr>
          <a:xfrm>
            <a:off x="800100" y="5018056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与收益。</a:t>
            </a:r>
          </a:p>
        </p:txBody>
      </p:sp>
      <p:sp>
        <p:nvSpPr>
          <p:cNvPr id="24" name="text-10">
            <a:extLst>
              <a:ext uri="{FF2B5EF4-FFF2-40B4-BE49-F238E27FC236}">
                <a16:creationId xmlns:a16="http://schemas.microsoft.com/office/drawing/2014/main" id="{4CDB76A8-049A-4533-8BE0-80C198500D76}"/>
              </a:ext>
            </a:extLst>
          </p:cNvPr>
          <p:cNvSpPr>
            <a:spLocks noGrp="1"/>
          </p:cNvSpPr>
          <p:nvPr/>
        </p:nvSpPr>
        <p:spPr>
          <a:xfrm>
            <a:off x="4108895" y="3433763"/>
            <a:ext cx="29746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25" name="text-11">
            <a:extLst>
              <a:ext uri="{FF2B5EF4-FFF2-40B4-BE49-F238E27FC236}">
                <a16:creationId xmlns:a16="http://schemas.microsoft.com/office/drawing/2014/main" id="{0849A36F-DB24-4B0E-AB97-7FE14B3256E6}"/>
              </a:ext>
            </a:extLst>
          </p:cNvPr>
          <p:cNvSpPr>
            <a:spLocks noGrp="1"/>
          </p:cNvSpPr>
          <p:nvPr/>
        </p:nvSpPr>
        <p:spPr>
          <a:xfrm>
            <a:off x="3905250" y="4095750"/>
            <a:ext cx="252860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rPr>
              <a:t>高质量 Token 服务</a:t>
            </a:r>
          </a:p>
        </p:txBody>
      </p:sp>
      <p:sp>
        <p:nvSpPr>
          <p:cNvPr id="26" name="text-12">
            <a:extLst>
              <a:ext uri="{FF2B5EF4-FFF2-40B4-BE49-F238E27FC236}">
                <a16:creationId xmlns:a16="http://schemas.microsoft.com/office/drawing/2014/main" id="{985167A9-0375-42CA-86F4-1344E765EAEE}"/>
              </a:ext>
            </a:extLst>
          </p:cNvPr>
          <p:cNvSpPr>
            <a:spLocks noGrp="1"/>
          </p:cNvSpPr>
          <p:nvPr/>
        </p:nvSpPr>
        <p:spPr>
          <a:xfrm>
            <a:off x="3905250" y="4556665"/>
            <a:ext cx="36766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从模型能力进一步看到上下文、速度与稳</a:t>
            </a:r>
          </a:p>
        </p:txBody>
      </p:sp>
      <p:sp>
        <p:nvSpPr>
          <p:cNvPr id="27" name="text-13">
            <a:extLst>
              <a:ext uri="{FF2B5EF4-FFF2-40B4-BE49-F238E27FC236}">
                <a16:creationId xmlns:a16="http://schemas.microsoft.com/office/drawing/2014/main" id="{BAD40BFC-8CEE-432A-8FB0-CDCD9664D50D}"/>
              </a:ext>
            </a:extLst>
          </p:cNvPr>
          <p:cNvSpPr>
            <a:spLocks noGrp="1"/>
          </p:cNvSpPr>
          <p:nvPr/>
        </p:nvSpPr>
        <p:spPr>
          <a:xfrm>
            <a:off x="3905250" y="4840605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定交付。</a:t>
            </a:r>
          </a:p>
        </p:txBody>
      </p:sp>
      <p:sp>
        <p:nvSpPr>
          <p:cNvPr id="28" name="text-14">
            <a:extLst>
              <a:ext uri="{FF2B5EF4-FFF2-40B4-BE49-F238E27FC236}">
                <a16:creationId xmlns:a16="http://schemas.microsoft.com/office/drawing/2014/main" id="{8D5BA3C9-6D31-4D43-9D22-4076A24CE2F9}"/>
              </a:ext>
            </a:extLst>
          </p:cNvPr>
          <p:cNvSpPr>
            <a:spLocks noGrp="1"/>
          </p:cNvSpPr>
          <p:nvPr/>
        </p:nvSpPr>
        <p:spPr>
          <a:xfrm>
            <a:off x="8774335" y="3433763"/>
            <a:ext cx="339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29" name="text-15">
            <a:extLst>
              <a:ext uri="{FF2B5EF4-FFF2-40B4-BE49-F238E27FC236}">
                <a16:creationId xmlns:a16="http://schemas.microsoft.com/office/drawing/2014/main" id="{A17D43FF-1EE1-48D1-B939-A87C5BFEBED9}"/>
              </a:ext>
            </a:extLst>
          </p:cNvPr>
          <p:cNvSpPr>
            <a:spLocks noGrp="1"/>
          </p:cNvSpPr>
          <p:nvPr/>
        </p:nvSpPr>
        <p:spPr>
          <a:xfrm>
            <a:off x="8591550" y="4095750"/>
            <a:ext cx="170735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rPr>
              <a:t>PD 分离基础</a:t>
            </a:r>
          </a:p>
        </p:txBody>
      </p:sp>
      <p:sp>
        <p:nvSpPr>
          <p:cNvPr id="30" name="text-16">
            <a:extLst>
              <a:ext uri="{FF2B5EF4-FFF2-40B4-BE49-F238E27FC236}">
                <a16:creationId xmlns:a16="http://schemas.microsoft.com/office/drawing/2014/main" id="{6AC661EC-9392-45CF-8555-5B82EA70A068}"/>
              </a:ext>
            </a:extLst>
          </p:cNvPr>
          <p:cNvSpPr>
            <a:spLocks noGrp="1"/>
          </p:cNvSpPr>
          <p:nvPr/>
        </p:nvSpPr>
        <p:spPr>
          <a:xfrm>
            <a:off x="8591550" y="4556665"/>
            <a:ext cx="3177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 与 Decode 天然分阶段，KV</a:t>
            </a:r>
          </a:p>
        </p:txBody>
      </p:sp>
      <p:sp>
        <p:nvSpPr>
          <p:cNvPr id="31" name="text-17">
            <a:extLst>
              <a:ext uri="{FF2B5EF4-FFF2-40B4-BE49-F238E27FC236}">
                <a16:creationId xmlns:a16="http://schemas.microsoft.com/office/drawing/2014/main" id="{B3245151-A949-46A4-A687-C276C3ED7193}"/>
              </a:ext>
            </a:extLst>
          </p:cNvPr>
          <p:cNvSpPr>
            <a:spLocks noGrp="1"/>
          </p:cNvSpPr>
          <p:nvPr/>
        </p:nvSpPr>
        <p:spPr>
          <a:xfrm>
            <a:off x="8591550" y="4840605"/>
            <a:ext cx="213207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Cache 连接两段执行。</a:t>
            </a:r>
          </a:p>
        </p:txBody>
      </p:sp>
      <p:sp>
        <p:nvSpPr>
          <p:cNvPr id="32" name="text-18">
            <a:extLst>
              <a:ext uri="{FF2B5EF4-FFF2-40B4-BE49-F238E27FC236}">
                <a16:creationId xmlns:a16="http://schemas.microsoft.com/office/drawing/2014/main" id="{6154C8BB-1F7A-4714-AD4D-3021CAAA216B}"/>
              </a:ext>
            </a:extLst>
          </p:cNvPr>
          <p:cNvSpPr>
            <a:spLocks noGrp="1"/>
          </p:cNvSpPr>
          <p:nvPr/>
        </p:nvSpPr>
        <p:spPr>
          <a:xfrm>
            <a:off x="13460635" y="3433763"/>
            <a:ext cx="339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03</a:t>
            </a:r>
          </a:p>
        </p:txBody>
      </p:sp>
      <p:sp>
        <p:nvSpPr>
          <p:cNvPr id="33" name="text-19">
            <a:extLst>
              <a:ext uri="{FF2B5EF4-FFF2-40B4-BE49-F238E27FC236}">
                <a16:creationId xmlns:a16="http://schemas.microsoft.com/office/drawing/2014/main" id="{4115BFB6-419C-4165-B869-22B79B42C139}"/>
              </a:ext>
            </a:extLst>
          </p:cNvPr>
          <p:cNvSpPr>
            <a:spLocks noGrp="1"/>
          </p:cNvSpPr>
          <p:nvPr/>
        </p:nvSpPr>
        <p:spPr>
          <a:xfrm>
            <a:off x="13277850" y="4095750"/>
            <a:ext cx="170735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rPr>
              <a:t>PD 分离收益</a:t>
            </a:r>
          </a:p>
        </p:txBody>
      </p:sp>
      <p:sp>
        <p:nvSpPr>
          <p:cNvPr id="34" name="text-20">
            <a:extLst>
              <a:ext uri="{FF2B5EF4-FFF2-40B4-BE49-F238E27FC236}">
                <a16:creationId xmlns:a16="http://schemas.microsoft.com/office/drawing/2014/main" id="{3A607CC9-DF4F-48F6-BD35-1E012FB95F07}"/>
              </a:ext>
            </a:extLst>
          </p:cNvPr>
          <p:cNvSpPr>
            <a:spLocks noGrp="1"/>
          </p:cNvSpPr>
          <p:nvPr/>
        </p:nvSpPr>
        <p:spPr>
          <a:xfrm>
            <a:off x="13277850" y="4556665"/>
            <a:ext cx="36766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两阶段可以独立规划容量、硬件与部署位</a:t>
            </a:r>
          </a:p>
        </p:txBody>
      </p:sp>
      <p:sp>
        <p:nvSpPr>
          <p:cNvPr id="35" name="text-21">
            <a:extLst>
              <a:ext uri="{FF2B5EF4-FFF2-40B4-BE49-F238E27FC236}">
                <a16:creationId xmlns:a16="http://schemas.microsoft.com/office/drawing/2014/main" id="{9789C057-FA69-4362-B706-C0DB799BB38A}"/>
              </a:ext>
            </a:extLst>
          </p:cNvPr>
          <p:cNvSpPr>
            <a:spLocks noGrp="1"/>
          </p:cNvSpPr>
          <p:nvPr/>
        </p:nvSpPr>
        <p:spPr>
          <a:xfrm>
            <a:off x="13277850" y="4840605"/>
            <a:ext cx="476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置。</a:t>
            </a:r>
          </a:p>
        </p:txBody>
      </p:sp>
      <p:sp>
        <p:nvSpPr>
          <p:cNvPr id="36" name="text-22">
            <a:extLst>
              <a:ext uri="{FF2B5EF4-FFF2-40B4-BE49-F238E27FC236}">
                <a16:creationId xmlns:a16="http://schemas.microsoft.com/office/drawing/2014/main" id="{0953B635-A24D-4A2F-B319-8C1A8D90E0A6}"/>
              </a:ext>
            </a:extLst>
          </p:cNvPr>
          <p:cNvSpPr>
            <a:spLocks noGrp="1"/>
          </p:cNvSpPr>
          <p:nvPr/>
        </p:nvSpPr>
        <p:spPr>
          <a:xfrm>
            <a:off x="800100" y="6515100"/>
            <a:ext cx="1219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从异构</a:t>
            </a:r>
          </a:p>
        </p:txBody>
      </p:sp>
      <p:sp>
        <p:nvSpPr>
          <p:cNvPr id="37" name="text-23">
            <a:extLst>
              <a:ext uri="{FF2B5EF4-FFF2-40B4-BE49-F238E27FC236}">
                <a16:creationId xmlns:a16="http://schemas.microsoft.com/office/drawing/2014/main" id="{060D19B8-9FEE-48FE-BA96-FC9191266F2D}"/>
              </a:ext>
            </a:extLst>
          </p:cNvPr>
          <p:cNvSpPr>
            <a:spLocks noGrp="1"/>
          </p:cNvSpPr>
          <p:nvPr/>
        </p:nvSpPr>
        <p:spPr>
          <a:xfrm>
            <a:off x="800100" y="6972300"/>
            <a:ext cx="1981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0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走向跨区域</a:t>
            </a:r>
          </a:p>
        </p:txBody>
      </p:sp>
      <p:sp>
        <p:nvSpPr>
          <p:cNvPr id="38" name="text-24">
            <a:extLst>
              <a:ext uri="{FF2B5EF4-FFF2-40B4-BE49-F238E27FC236}">
                <a16:creationId xmlns:a16="http://schemas.microsoft.com/office/drawing/2014/main" id="{26528147-A06E-4FC7-AD9B-813B19332085}"/>
              </a:ext>
            </a:extLst>
          </p:cNvPr>
          <p:cNvSpPr>
            <a:spLocks noGrp="1"/>
          </p:cNvSpPr>
          <p:nvPr/>
        </p:nvSpPr>
        <p:spPr>
          <a:xfrm>
            <a:off x="800100" y="7630001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介绍异构工业实践、跨</a:t>
            </a:r>
          </a:p>
        </p:txBody>
      </p:sp>
      <p:sp>
        <p:nvSpPr>
          <p:cNvPr id="39" name="text-25">
            <a:extLst>
              <a:ext uri="{FF2B5EF4-FFF2-40B4-BE49-F238E27FC236}">
                <a16:creationId xmlns:a16="http://schemas.microsoft.com/office/drawing/2014/main" id="{1C2F4BCF-1C83-4F36-A1D3-4D0D6971BB60}"/>
              </a:ext>
            </a:extLst>
          </p:cNvPr>
          <p:cNvSpPr>
            <a:spLocks noGrp="1"/>
          </p:cNvSpPr>
          <p:nvPr/>
        </p:nvSpPr>
        <p:spPr>
          <a:xfrm>
            <a:off x="800100" y="7933754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机房实验，以及跨区域</a:t>
            </a:r>
          </a:p>
        </p:txBody>
      </p:sp>
      <p:sp>
        <p:nvSpPr>
          <p:cNvPr id="40" name="text-26">
            <a:extLst>
              <a:ext uri="{FF2B5EF4-FFF2-40B4-BE49-F238E27FC236}">
                <a16:creationId xmlns:a16="http://schemas.microsoft.com/office/drawing/2014/main" id="{36146B0D-63CB-46F0-BE25-73724F3344AD}"/>
              </a:ext>
            </a:extLst>
          </p:cNvPr>
          <p:cNvSpPr>
            <a:spLocks noGrp="1"/>
          </p:cNvSpPr>
          <p:nvPr/>
        </p:nvSpPr>
        <p:spPr>
          <a:xfrm>
            <a:off x="800100" y="8237506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部署的网络需求。</a:t>
            </a:r>
          </a:p>
        </p:txBody>
      </p:sp>
      <p:sp>
        <p:nvSpPr>
          <p:cNvPr id="41" name="text-27">
            <a:extLst>
              <a:ext uri="{FF2B5EF4-FFF2-40B4-BE49-F238E27FC236}">
                <a16:creationId xmlns:a16="http://schemas.microsoft.com/office/drawing/2014/main" id="{5072390F-A35C-4CC8-A6EF-8FEAF4CC8297}"/>
              </a:ext>
            </a:extLst>
          </p:cNvPr>
          <p:cNvSpPr>
            <a:spLocks noGrp="1"/>
          </p:cNvSpPr>
          <p:nvPr/>
        </p:nvSpPr>
        <p:spPr>
          <a:xfrm>
            <a:off x="4088035" y="6653213"/>
            <a:ext cx="339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04</a:t>
            </a:r>
          </a:p>
        </p:txBody>
      </p:sp>
      <p:sp>
        <p:nvSpPr>
          <p:cNvPr id="42" name="text-28">
            <a:extLst>
              <a:ext uri="{FF2B5EF4-FFF2-40B4-BE49-F238E27FC236}">
                <a16:creationId xmlns:a16="http://schemas.microsoft.com/office/drawing/2014/main" id="{A162E2AB-8D7C-43A4-A424-6888753F09A6}"/>
              </a:ext>
            </a:extLst>
          </p:cNvPr>
          <p:cNvSpPr>
            <a:spLocks noGrp="1"/>
          </p:cNvSpPr>
          <p:nvPr/>
        </p:nvSpPr>
        <p:spPr>
          <a:xfrm>
            <a:off x="3905250" y="7315200"/>
            <a:ext cx="113585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rPr>
              <a:t>异构 PD</a:t>
            </a:r>
          </a:p>
        </p:txBody>
      </p:sp>
      <p:sp>
        <p:nvSpPr>
          <p:cNvPr id="43" name="text-29">
            <a:extLst>
              <a:ext uri="{FF2B5EF4-FFF2-40B4-BE49-F238E27FC236}">
                <a16:creationId xmlns:a16="http://schemas.microsoft.com/office/drawing/2014/main" id="{2AA208B4-D9FA-4C74-93D9-31F63B394CCF}"/>
              </a:ext>
            </a:extLst>
          </p:cNvPr>
          <p:cNvSpPr>
            <a:spLocks noGrp="1"/>
          </p:cNvSpPr>
          <p:nvPr/>
        </p:nvSpPr>
        <p:spPr>
          <a:xfrm>
            <a:off x="3905250" y="7776115"/>
            <a:ext cx="367131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高算力设备参与 Prefill，高带宽设备提升</a:t>
            </a:r>
          </a:p>
        </p:txBody>
      </p:sp>
      <p:sp>
        <p:nvSpPr>
          <p:cNvPr id="44" name="text-30">
            <a:extLst>
              <a:ext uri="{FF2B5EF4-FFF2-40B4-BE49-F238E27FC236}">
                <a16:creationId xmlns:a16="http://schemas.microsoft.com/office/drawing/2014/main" id="{20B67919-A8DA-4170-978B-9E83DE4D210F}"/>
              </a:ext>
            </a:extLst>
          </p:cNvPr>
          <p:cNvSpPr>
            <a:spLocks noGrp="1"/>
          </p:cNvSpPr>
          <p:nvPr/>
        </p:nvSpPr>
        <p:spPr>
          <a:xfrm>
            <a:off x="3905250" y="8060055"/>
            <a:ext cx="185004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Decode 输出速度。</a:t>
            </a:r>
          </a:p>
        </p:txBody>
      </p:sp>
      <p:sp>
        <p:nvSpPr>
          <p:cNvPr id="45" name="text-31">
            <a:extLst>
              <a:ext uri="{FF2B5EF4-FFF2-40B4-BE49-F238E27FC236}">
                <a16:creationId xmlns:a16="http://schemas.microsoft.com/office/drawing/2014/main" id="{1D68FE37-8983-4141-9BB2-99BF3553BD20}"/>
              </a:ext>
            </a:extLst>
          </p:cNvPr>
          <p:cNvSpPr>
            <a:spLocks noGrp="1"/>
          </p:cNvSpPr>
          <p:nvPr/>
        </p:nvSpPr>
        <p:spPr>
          <a:xfrm>
            <a:off x="8774335" y="6653213"/>
            <a:ext cx="339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05</a:t>
            </a:r>
          </a:p>
        </p:txBody>
      </p:sp>
      <p:sp>
        <p:nvSpPr>
          <p:cNvPr id="46" name="text-32">
            <a:extLst>
              <a:ext uri="{FF2B5EF4-FFF2-40B4-BE49-F238E27FC236}">
                <a16:creationId xmlns:a16="http://schemas.microsoft.com/office/drawing/2014/main" id="{2E56B6B7-1FB9-41D0-9942-F230913651A2}"/>
              </a:ext>
            </a:extLst>
          </p:cNvPr>
          <p:cNvSpPr>
            <a:spLocks noGrp="1"/>
          </p:cNvSpPr>
          <p:nvPr/>
        </p:nvSpPr>
        <p:spPr>
          <a:xfrm>
            <a:off x="8591550" y="7315200"/>
            <a:ext cx="2076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rPr>
              <a:t>跨机房异构实验</a:t>
            </a:r>
          </a:p>
        </p:txBody>
      </p:sp>
      <p:sp>
        <p:nvSpPr>
          <p:cNvPr id="47" name="text-33">
            <a:extLst>
              <a:ext uri="{FF2B5EF4-FFF2-40B4-BE49-F238E27FC236}">
                <a16:creationId xmlns:a16="http://schemas.microsoft.com/office/drawing/2014/main" id="{E45089A0-C0B8-4B3B-802C-651216A6B38A}"/>
              </a:ext>
            </a:extLst>
          </p:cNvPr>
          <p:cNvSpPr>
            <a:spLocks noGrp="1"/>
          </p:cNvSpPr>
          <p:nvPr/>
        </p:nvSpPr>
        <p:spPr>
          <a:xfrm>
            <a:off x="8591550" y="7776115"/>
            <a:ext cx="36766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同园区与跨园区实验均保持高质量输出。</a:t>
            </a:r>
          </a:p>
        </p:txBody>
      </p:sp>
      <p:sp>
        <p:nvSpPr>
          <p:cNvPr id="48" name="text-34">
            <a:extLst>
              <a:ext uri="{FF2B5EF4-FFF2-40B4-BE49-F238E27FC236}">
                <a16:creationId xmlns:a16="http://schemas.microsoft.com/office/drawing/2014/main" id="{D59274F3-7472-4638-9810-AFBCB9B21C19}"/>
              </a:ext>
            </a:extLst>
          </p:cNvPr>
          <p:cNvSpPr>
            <a:spLocks noGrp="1"/>
          </p:cNvSpPr>
          <p:nvPr/>
        </p:nvSpPr>
        <p:spPr>
          <a:xfrm>
            <a:off x="13460635" y="6653213"/>
            <a:ext cx="339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06</a:t>
            </a:r>
          </a:p>
        </p:txBody>
      </p:sp>
      <p:sp>
        <p:nvSpPr>
          <p:cNvPr id="49" name="text-35">
            <a:extLst>
              <a:ext uri="{FF2B5EF4-FFF2-40B4-BE49-F238E27FC236}">
                <a16:creationId xmlns:a16="http://schemas.microsoft.com/office/drawing/2014/main" id="{41A3C329-3D80-4CD4-B3B7-2782D3C34770}"/>
              </a:ext>
            </a:extLst>
          </p:cNvPr>
          <p:cNvSpPr>
            <a:spLocks noGrp="1"/>
          </p:cNvSpPr>
          <p:nvPr/>
        </p:nvSpPr>
        <p:spPr>
          <a:xfrm>
            <a:off x="13277850" y="7315200"/>
            <a:ext cx="142160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292F3D"/>
                </a:solidFill>
                <a:latin typeface="PingFang SC"/>
                <a:ea typeface="PingFang SC"/>
                <a:cs typeface="Arial"/>
              </a:rPr>
              <a:t>跨区域 PD</a:t>
            </a:r>
          </a:p>
        </p:txBody>
      </p:sp>
      <p:sp>
        <p:nvSpPr>
          <p:cNvPr id="50" name="text-36">
            <a:extLst>
              <a:ext uri="{FF2B5EF4-FFF2-40B4-BE49-F238E27FC236}">
                <a16:creationId xmlns:a16="http://schemas.microsoft.com/office/drawing/2014/main" id="{2F0890DB-59C8-4AE0-9A3E-28D34B06C98D}"/>
              </a:ext>
            </a:extLst>
          </p:cNvPr>
          <p:cNvSpPr>
            <a:spLocks noGrp="1"/>
          </p:cNvSpPr>
          <p:nvPr/>
        </p:nvSpPr>
        <p:spPr>
          <a:xfrm>
            <a:off x="13277850" y="7776115"/>
            <a:ext cx="353796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由模型与 Prefill 产能推导带宽和传输长</a:t>
            </a:r>
          </a:p>
        </p:txBody>
      </p:sp>
      <p:sp>
        <p:nvSpPr>
          <p:cNvPr id="51" name="text-37">
            <a:extLst>
              <a:ext uri="{FF2B5EF4-FFF2-40B4-BE49-F238E27FC236}">
                <a16:creationId xmlns:a16="http://schemas.microsoft.com/office/drawing/2014/main" id="{35E36D1D-BAB8-4F74-8E75-5EEAFDD33FEF}"/>
              </a:ext>
            </a:extLst>
          </p:cNvPr>
          <p:cNvSpPr>
            <a:spLocks noGrp="1"/>
          </p:cNvSpPr>
          <p:nvPr/>
        </p:nvSpPr>
        <p:spPr>
          <a:xfrm>
            <a:off x="13277850" y="8060055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尾要求。</a:t>
            </a:r>
          </a:p>
        </p:txBody>
      </p:sp>
      <p:sp>
        <p:nvSpPr>
          <p:cNvPr id="52" name="text-38">
            <a:extLst>
              <a:ext uri="{FF2B5EF4-FFF2-40B4-BE49-F238E27FC236}">
                <a16:creationId xmlns:a16="http://schemas.microsoft.com/office/drawing/2014/main" id="{566D9750-DFB2-4E31-B838-AD62CDE9CBC7}"/>
              </a:ext>
            </a:extLst>
          </p:cNvPr>
          <p:cNvSpPr>
            <a:spLocks noGrp="1"/>
          </p:cNvSpPr>
          <p:nvPr/>
        </p:nvSpPr>
        <p:spPr>
          <a:xfrm>
            <a:off x="16998410" y="9848850"/>
            <a:ext cx="58474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 / 43</a:t>
            </a:r>
          </a:p>
        </p:txBody>
      </p:sp>
    </p:spTree>
    <p:extLst>
      <p:ext uri="{BB962C8B-B14F-4D97-AF65-F5344CB8AC3E}">
        <p14:creationId xmlns:p14="http://schemas.microsoft.com/office/powerpoint/2010/main" val="208198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tml-shape-1">
            <a:extLst>
              <a:ext uri="{FF2B5EF4-FFF2-40B4-BE49-F238E27FC236}">
                <a16:creationId xmlns:a16="http://schemas.microsoft.com/office/drawing/2014/main" id="{67C39155-EE39-4F88-8BF7-BE056C069D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143625" cy="102870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2" name="html-shape-2">
            <a:extLst>
              <a:ext uri="{FF2B5EF4-FFF2-40B4-BE49-F238E27FC236}">
                <a16:creationId xmlns:a16="http://schemas.microsoft.com/office/drawing/2014/main" id="{84F76231-4FF2-4A48-A7FE-CBA07477CCFD}"/>
              </a:ext>
            </a:extLst>
          </p:cNvPr>
          <p:cNvSpPr>
            <a:spLocks noGrp="1"/>
          </p:cNvSpPr>
          <p:nvPr/>
        </p:nvSpPr>
        <p:spPr>
          <a:xfrm>
            <a:off x="7143750" y="4448175"/>
            <a:ext cx="2933700" cy="1600200"/>
          </a:xfrm>
          <a:prstGeom prst="roundRect">
            <a:avLst>
              <a:gd name="adj" fmla="val 10714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3" name="html-shape-3">
            <a:extLst>
              <a:ext uri="{FF2B5EF4-FFF2-40B4-BE49-F238E27FC236}">
                <a16:creationId xmlns:a16="http://schemas.microsoft.com/office/drawing/2014/main" id="{6DDCDD74-2D79-44DE-9AAB-7D64E991F768}"/>
              </a:ext>
            </a:extLst>
          </p:cNvPr>
          <p:cNvSpPr>
            <a:spLocks noGrp="1"/>
          </p:cNvSpPr>
          <p:nvPr/>
        </p:nvSpPr>
        <p:spPr>
          <a:xfrm>
            <a:off x="10763250" y="4448175"/>
            <a:ext cx="2933700" cy="1600200"/>
          </a:xfrm>
          <a:prstGeom prst="roundRect">
            <a:avLst>
              <a:gd name="adj" fmla="val 10714"/>
            </a:avLst>
          </a:prstGeom>
          <a:solidFill>
            <a:srgbClr val="E9EFFF"/>
          </a:solidFill>
          <a:ln w="0">
            <a:noFill/>
            <a:prstDash val="solid"/>
          </a:ln>
        </p:spPr>
      </p:sp>
      <p:sp>
        <p:nvSpPr>
          <p:cNvPr id="4" name="html-shape-4">
            <a:extLst>
              <a:ext uri="{FF2B5EF4-FFF2-40B4-BE49-F238E27FC236}">
                <a16:creationId xmlns:a16="http://schemas.microsoft.com/office/drawing/2014/main" id="{7032552E-7417-49A4-9A18-2E4AC1480EB3}"/>
              </a:ext>
            </a:extLst>
          </p:cNvPr>
          <p:cNvSpPr>
            <a:spLocks noGrp="1"/>
          </p:cNvSpPr>
          <p:nvPr/>
        </p:nvSpPr>
        <p:spPr>
          <a:xfrm>
            <a:off x="14382750" y="4448175"/>
            <a:ext cx="2933700" cy="1600200"/>
          </a:xfrm>
          <a:prstGeom prst="roundRect">
            <a:avLst>
              <a:gd name="adj" fmla="val 10714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5" name="html-shape-5">
            <a:extLst>
              <a:ext uri="{FF2B5EF4-FFF2-40B4-BE49-F238E27FC236}">
                <a16:creationId xmlns:a16="http://schemas.microsoft.com/office/drawing/2014/main" id="{A9F02A5E-21B7-4079-91D5-F468E96EEDAB}"/>
              </a:ext>
            </a:extLst>
          </p:cNvPr>
          <p:cNvSpPr>
            <a:spLocks noGrp="1"/>
          </p:cNvSpPr>
          <p:nvPr/>
        </p:nvSpPr>
        <p:spPr>
          <a:xfrm>
            <a:off x="7143750" y="6534150"/>
            <a:ext cx="10172700" cy="1371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" name="html-shape-7">
            <a:extLst>
              <a:ext uri="{FF2B5EF4-FFF2-40B4-BE49-F238E27FC236}">
                <a16:creationId xmlns:a16="http://schemas.microsoft.com/office/drawing/2014/main" id="{D457DA6A-39E2-4F1C-8335-5227B5606630}"/>
              </a:ext>
            </a:extLst>
          </p:cNvPr>
          <p:cNvSpPr>
            <a:spLocks noGrp="1"/>
          </p:cNvSpPr>
          <p:nvPr/>
        </p:nvSpPr>
        <p:spPr>
          <a:xfrm>
            <a:off x="7143750" y="8872538"/>
            <a:ext cx="10172700" cy="800100"/>
          </a:xfrm>
          <a:prstGeom prst="roundRect">
            <a:avLst>
              <a:gd name="adj" fmla="val 14286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7" name="html-line-1">
            <a:extLst>
              <a:ext uri="{FF2B5EF4-FFF2-40B4-BE49-F238E27FC236}">
                <a16:creationId xmlns:a16="http://schemas.microsoft.com/office/drawing/2014/main" id="{B8E9B614-1EDC-4B9D-9FA1-A5BBBE487B98}"/>
              </a:ext>
            </a:extLst>
          </p:cNvPr>
          <p:cNvSpPr>
            <a:spLocks noGrp="1"/>
          </p:cNvSpPr>
          <p:nvPr/>
        </p:nvSpPr>
        <p:spPr>
          <a:xfrm>
            <a:off x="828675" y="6786372"/>
            <a:ext cx="4486275" cy="4763"/>
          </a:xfrm>
          <a:prstGeom prst="line">
            <a:avLst/>
          </a:prstGeom>
          <a:noFill/>
          <a:ln w="28575">
            <a:solidFill>
              <a:srgbClr val="AD8DFF"/>
            </a:solidFill>
            <a:prstDash val="solid"/>
          </a:ln>
        </p:spPr>
      </p:sp>
      <p:sp>
        <p:nvSpPr>
          <p:cNvPr id="8" name="border-6">
            <a:extLst>
              <a:ext uri="{FF2B5EF4-FFF2-40B4-BE49-F238E27FC236}">
                <a16:creationId xmlns:a16="http://schemas.microsoft.com/office/drawing/2014/main" id="{51E15B3D-AA7E-4A3D-9341-A2BEA21BB12A}"/>
              </a:ext>
            </a:extLst>
          </p:cNvPr>
          <p:cNvSpPr>
            <a:spLocks noGrp="1"/>
          </p:cNvSpPr>
          <p:nvPr/>
        </p:nvSpPr>
        <p:spPr>
          <a:xfrm>
            <a:off x="7143750" y="6534150"/>
            <a:ext cx="101727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AB4984F-3DCA-47B0-8E9D-C81599242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983345" y="314325"/>
            <a:ext cx="2608811" cy="8001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707043D-A456-401F-AA45-F46B8620D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849100" y="546838"/>
            <a:ext cx="2857500" cy="334788"/>
          </a:xfrm>
          <a:prstGeom prst="rect">
            <a:avLst/>
          </a:prstGeom>
        </p:spPr>
      </p:pic>
      <p:sp>
        <p:nvSpPr>
          <p:cNvPr id="11" name="text-1">
            <a:extLst>
              <a:ext uri="{FF2B5EF4-FFF2-40B4-BE49-F238E27FC236}">
                <a16:creationId xmlns:a16="http://schemas.microsoft.com/office/drawing/2014/main" id="{8A73E0B9-094B-4AA1-AA54-15EFF1417335}"/>
              </a:ext>
            </a:extLst>
          </p:cNvPr>
          <p:cNvSpPr>
            <a:spLocks noGrp="1"/>
          </p:cNvSpPr>
          <p:nvPr/>
        </p:nvSpPr>
        <p:spPr>
          <a:xfrm>
            <a:off x="819150" y="685800"/>
            <a:ext cx="1731931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38" b="1" i="0" noProof="1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noProof="1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noProof="1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  <a:cs typeface="Arial"/>
              </a:rPr>
              <a:t>CHAPTER 01</a:t>
            </a:r>
          </a:p>
        </p:txBody>
      </p:sp>
      <p:sp>
        <p:nvSpPr>
          <p:cNvPr id="12" name="text-2">
            <a:extLst>
              <a:ext uri="{FF2B5EF4-FFF2-40B4-BE49-F238E27FC236}">
                <a16:creationId xmlns:a16="http://schemas.microsoft.com/office/drawing/2014/main" id="{FF386C67-4819-4831-8257-958E0DD02EE2}"/>
              </a:ext>
            </a:extLst>
          </p:cNvPr>
          <p:cNvSpPr>
            <a:spLocks noGrp="1"/>
          </p:cNvSpPr>
          <p:nvPr/>
        </p:nvSpPr>
        <p:spPr>
          <a:xfrm>
            <a:off x="819150" y="1533525"/>
            <a:ext cx="620173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6975" b="1" i="0" noProof="1">
                <a:solidFill>
                  <a:srgbClr val="B99B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6975" b="1" i="0" noProof="1">
                <a:solidFill>
                  <a:srgbClr val="B99B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6975" b="1" i="0" noProof="1">
                <a:solidFill>
                  <a:srgbClr val="B99BFF"/>
                </a:solidFill>
                <a:latin typeface="PingFang SC"/>
                <a:ea typeface="PingFang SC"/>
                <a:cs typeface="Arial"/>
              </a:rPr>
              <a:t>“</a:t>
            </a:r>
          </a:p>
        </p:txBody>
      </p:sp>
      <p:sp>
        <p:nvSpPr>
          <p:cNvPr id="13" name="text-3">
            <a:extLst>
              <a:ext uri="{FF2B5EF4-FFF2-40B4-BE49-F238E27FC236}">
                <a16:creationId xmlns:a16="http://schemas.microsoft.com/office/drawing/2014/main" id="{086F0FD5-20E9-45E8-9EF7-0BB8AC155687}"/>
              </a:ext>
            </a:extLst>
          </p:cNvPr>
          <p:cNvSpPr>
            <a:spLocks noGrp="1"/>
          </p:cNvSpPr>
          <p:nvPr/>
        </p:nvSpPr>
        <p:spPr>
          <a:xfrm>
            <a:off x="819150" y="2756440"/>
            <a:ext cx="3227832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In the age of AI,</a:t>
            </a:r>
          </a:p>
        </p:txBody>
      </p:sp>
      <p:sp>
        <p:nvSpPr>
          <p:cNvPr id="14" name="text-4">
            <a:extLst>
              <a:ext uri="{FF2B5EF4-FFF2-40B4-BE49-F238E27FC236}">
                <a16:creationId xmlns:a16="http://schemas.microsoft.com/office/drawing/2014/main" id="{D086CA69-1B33-4ADF-8093-0BC08FF218C8}"/>
              </a:ext>
            </a:extLst>
          </p:cNvPr>
          <p:cNvSpPr>
            <a:spLocks noGrp="1"/>
          </p:cNvSpPr>
          <p:nvPr/>
        </p:nvSpPr>
        <p:spPr>
          <a:xfrm>
            <a:off x="819150" y="3315748"/>
            <a:ext cx="455657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intelligence tokens are</a:t>
            </a:r>
          </a:p>
        </p:txBody>
      </p:sp>
      <p:sp>
        <p:nvSpPr>
          <p:cNvPr id="15" name="text-5">
            <a:extLst>
              <a:ext uri="{FF2B5EF4-FFF2-40B4-BE49-F238E27FC236}">
                <a16:creationId xmlns:a16="http://schemas.microsoft.com/office/drawing/2014/main" id="{6F7CDBC5-38F6-4180-8E3D-1C6FA3611767}"/>
              </a:ext>
            </a:extLst>
          </p:cNvPr>
          <p:cNvSpPr>
            <a:spLocks noGrp="1"/>
          </p:cNvSpPr>
          <p:nvPr/>
        </p:nvSpPr>
        <p:spPr>
          <a:xfrm>
            <a:off x="819150" y="3875056"/>
            <a:ext cx="4462463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the new currency, and</a:t>
            </a:r>
          </a:p>
        </p:txBody>
      </p:sp>
      <p:sp>
        <p:nvSpPr>
          <p:cNvPr id="16" name="text-6">
            <a:extLst>
              <a:ext uri="{FF2B5EF4-FFF2-40B4-BE49-F238E27FC236}">
                <a16:creationId xmlns:a16="http://schemas.microsoft.com/office/drawing/2014/main" id="{59B30F08-E1CA-43B5-95FA-96806FA4E2DD}"/>
              </a:ext>
            </a:extLst>
          </p:cNvPr>
          <p:cNvSpPr>
            <a:spLocks noGrp="1"/>
          </p:cNvSpPr>
          <p:nvPr/>
        </p:nvSpPr>
        <p:spPr>
          <a:xfrm>
            <a:off x="819150" y="4434364"/>
            <a:ext cx="4223004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AI factories generate</a:t>
            </a:r>
          </a:p>
        </p:txBody>
      </p:sp>
      <p:sp>
        <p:nvSpPr>
          <p:cNvPr id="17" name="text-7">
            <a:extLst>
              <a:ext uri="{FF2B5EF4-FFF2-40B4-BE49-F238E27FC236}">
                <a16:creationId xmlns:a16="http://schemas.microsoft.com/office/drawing/2014/main" id="{7B496792-9102-4DCC-B287-98CD4314A03F}"/>
              </a:ext>
            </a:extLst>
          </p:cNvPr>
          <p:cNvSpPr>
            <a:spLocks noGrp="1"/>
          </p:cNvSpPr>
          <p:nvPr/>
        </p:nvSpPr>
        <p:spPr>
          <a:xfrm>
            <a:off x="819150" y="4993672"/>
            <a:ext cx="1180529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26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them.</a:t>
            </a:r>
          </a:p>
        </p:txBody>
      </p:sp>
      <p:sp>
        <p:nvSpPr>
          <p:cNvPr id="18" name="text-8">
            <a:extLst>
              <a:ext uri="{FF2B5EF4-FFF2-40B4-BE49-F238E27FC236}">
                <a16:creationId xmlns:a16="http://schemas.microsoft.com/office/drawing/2014/main" id="{0C778B9D-1546-48CA-9EC9-3C63C5500D8B}"/>
              </a:ext>
            </a:extLst>
          </p:cNvPr>
          <p:cNvSpPr>
            <a:spLocks noGrp="1"/>
          </p:cNvSpPr>
          <p:nvPr/>
        </p:nvSpPr>
        <p:spPr>
          <a:xfrm>
            <a:off x="819150" y="6086285"/>
            <a:ext cx="2917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13" b="0" i="0" noProof="1">
                <a:solidFill>
                  <a:srgbClr val="E2D7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13" b="0" i="0" noProof="1">
                <a:solidFill>
                  <a:srgbClr val="E2D7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13" b="0" i="0" noProof="1">
                <a:solidFill>
                  <a:srgbClr val="E2D7FF"/>
                </a:solidFill>
                <a:latin typeface="PingFang SC"/>
                <a:ea typeface="PingFang SC"/>
                <a:cs typeface="Arial"/>
              </a:rPr>
              <a:t>— Jensen Huang, NVIDIA</a:t>
            </a:r>
          </a:p>
        </p:txBody>
      </p:sp>
      <p:sp>
        <p:nvSpPr>
          <p:cNvPr id="19" name="text-9">
            <a:extLst>
              <a:ext uri="{FF2B5EF4-FFF2-40B4-BE49-F238E27FC236}">
                <a16:creationId xmlns:a16="http://schemas.microsoft.com/office/drawing/2014/main" id="{BDE66A34-3C2E-4B24-8734-B46897C999BA}"/>
              </a:ext>
            </a:extLst>
          </p:cNvPr>
          <p:cNvSpPr>
            <a:spLocks noGrp="1"/>
          </p:cNvSpPr>
          <p:nvPr/>
        </p:nvSpPr>
        <p:spPr>
          <a:xfrm>
            <a:off x="819150" y="7143560"/>
            <a:ext cx="3122104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88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88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88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AI 基础设施的角色，</a:t>
            </a:r>
          </a:p>
        </p:txBody>
      </p:sp>
      <p:sp>
        <p:nvSpPr>
          <p:cNvPr id="20" name="text-10">
            <a:extLst>
              <a:ext uri="{FF2B5EF4-FFF2-40B4-BE49-F238E27FC236}">
                <a16:creationId xmlns:a16="http://schemas.microsoft.com/office/drawing/2014/main" id="{48EE1B36-90FE-4265-96B7-629CDB230DB8}"/>
              </a:ext>
            </a:extLst>
          </p:cNvPr>
          <p:cNvSpPr>
            <a:spLocks noGrp="1"/>
          </p:cNvSpPr>
          <p:nvPr/>
        </p:nvSpPr>
        <p:spPr>
          <a:xfrm>
            <a:off x="819150" y="7610189"/>
            <a:ext cx="245154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88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88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88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正由“运行模型”</a:t>
            </a:r>
          </a:p>
        </p:txBody>
      </p:sp>
      <p:sp>
        <p:nvSpPr>
          <p:cNvPr id="21" name="text-11">
            <a:extLst>
              <a:ext uri="{FF2B5EF4-FFF2-40B4-BE49-F238E27FC236}">
                <a16:creationId xmlns:a16="http://schemas.microsoft.com/office/drawing/2014/main" id="{52C82DB4-982D-48EF-B109-251ED7133223}"/>
              </a:ext>
            </a:extLst>
          </p:cNvPr>
          <p:cNvSpPr>
            <a:spLocks noGrp="1"/>
          </p:cNvSpPr>
          <p:nvPr/>
        </p:nvSpPr>
        <p:spPr>
          <a:xfrm>
            <a:off x="819150" y="8076724"/>
            <a:ext cx="2780157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88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88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88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转向“生产智能”。</a:t>
            </a:r>
          </a:p>
        </p:txBody>
      </p:sp>
      <p:sp>
        <p:nvSpPr>
          <p:cNvPr id="22" name="text-12">
            <a:extLst>
              <a:ext uri="{FF2B5EF4-FFF2-40B4-BE49-F238E27FC236}">
                <a16:creationId xmlns:a16="http://schemas.microsoft.com/office/drawing/2014/main" id="{22094270-963E-4A11-8A21-17A428E527A1}"/>
              </a:ext>
            </a:extLst>
          </p:cNvPr>
          <p:cNvSpPr>
            <a:spLocks noGrp="1"/>
          </p:cNvSpPr>
          <p:nvPr/>
        </p:nvSpPr>
        <p:spPr>
          <a:xfrm>
            <a:off x="7134225" y="1876425"/>
            <a:ext cx="6060091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36"/>
          </a:bodyPr>
          <a:lstStyle>
            <a:def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高质量 Token 服务</a:t>
            </a:r>
          </a:p>
        </p:txBody>
      </p:sp>
      <p:sp>
        <p:nvSpPr>
          <p:cNvPr id="23" name="text-13">
            <a:extLst>
              <a:ext uri="{FF2B5EF4-FFF2-40B4-BE49-F238E27FC236}">
                <a16:creationId xmlns:a16="http://schemas.microsoft.com/office/drawing/2014/main" id="{0B063AEC-77A9-4B97-B954-9B2B9AB912DC}"/>
              </a:ext>
            </a:extLst>
          </p:cNvPr>
          <p:cNvSpPr>
            <a:spLocks noGrp="1"/>
          </p:cNvSpPr>
          <p:nvPr/>
        </p:nvSpPr>
        <p:spPr>
          <a:xfrm>
            <a:off x="7134225" y="3133725"/>
            <a:ext cx="5788533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AI 工厂的核心产品，是高质量 Token 服务</a:t>
            </a:r>
          </a:p>
        </p:txBody>
      </p:sp>
      <p:sp>
        <p:nvSpPr>
          <p:cNvPr id="24" name="text-14">
            <a:extLst>
              <a:ext uri="{FF2B5EF4-FFF2-40B4-BE49-F238E27FC236}">
                <a16:creationId xmlns:a16="http://schemas.microsoft.com/office/drawing/2014/main" id="{7F5074AB-1AAC-49A2-B215-89FC22E9F719}"/>
              </a:ext>
            </a:extLst>
          </p:cNvPr>
          <p:cNvSpPr>
            <a:spLocks noGrp="1"/>
          </p:cNvSpPr>
          <p:nvPr/>
        </p:nvSpPr>
        <p:spPr>
          <a:xfrm>
            <a:off x="8301609" y="4764881"/>
            <a:ext cx="674942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INPUT</a:t>
            </a:r>
          </a:p>
        </p:txBody>
      </p:sp>
      <p:sp>
        <p:nvSpPr>
          <p:cNvPr id="25" name="text-15">
            <a:extLst>
              <a:ext uri="{FF2B5EF4-FFF2-40B4-BE49-F238E27FC236}">
                <a16:creationId xmlns:a16="http://schemas.microsoft.com/office/drawing/2014/main" id="{BA38427A-4E93-40F7-BBBF-541C2C9C104B}"/>
              </a:ext>
            </a:extLst>
          </p:cNvPr>
          <p:cNvSpPr>
            <a:spLocks noGrp="1"/>
          </p:cNvSpPr>
          <p:nvPr/>
        </p:nvSpPr>
        <p:spPr>
          <a:xfrm>
            <a:off x="7810214" y="5312569"/>
            <a:ext cx="1657826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63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63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63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能源 + 算力</a:t>
            </a:r>
          </a:p>
        </p:txBody>
      </p:sp>
      <p:sp>
        <p:nvSpPr>
          <p:cNvPr id="26" name="text-16">
            <a:extLst>
              <a:ext uri="{FF2B5EF4-FFF2-40B4-BE49-F238E27FC236}">
                <a16:creationId xmlns:a16="http://schemas.microsoft.com/office/drawing/2014/main" id="{0B808A60-02B4-45F3-9F45-5B19F162EC04}"/>
              </a:ext>
            </a:extLst>
          </p:cNvPr>
          <p:cNvSpPr>
            <a:spLocks noGrp="1"/>
          </p:cNvSpPr>
          <p:nvPr/>
        </p:nvSpPr>
        <p:spPr>
          <a:xfrm>
            <a:off x="10167938" y="4910138"/>
            <a:ext cx="5619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825" b="0" i="0" noProof="1">
                <a:solidFill>
                  <a:srgbClr val="BAC2D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825" b="0" i="0" noProof="1">
                <a:solidFill>
                  <a:srgbClr val="BAC2D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825" b="0" i="0" noProof="1">
                <a:solidFill>
                  <a:srgbClr val="BAC2D1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7" name="text-17">
            <a:extLst>
              <a:ext uri="{FF2B5EF4-FFF2-40B4-BE49-F238E27FC236}">
                <a16:creationId xmlns:a16="http://schemas.microsoft.com/office/drawing/2014/main" id="{79882448-A3E0-4025-9C78-3E95EECB5153}"/>
              </a:ext>
            </a:extLst>
          </p:cNvPr>
          <p:cNvSpPr>
            <a:spLocks noGrp="1"/>
          </p:cNvSpPr>
          <p:nvPr/>
        </p:nvSpPr>
        <p:spPr>
          <a:xfrm>
            <a:off x="11743277" y="4764881"/>
            <a:ext cx="103060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FACTORY</a:t>
            </a:r>
          </a:p>
        </p:txBody>
      </p:sp>
      <p:sp>
        <p:nvSpPr>
          <p:cNvPr id="28" name="text-18">
            <a:extLst>
              <a:ext uri="{FF2B5EF4-FFF2-40B4-BE49-F238E27FC236}">
                <a16:creationId xmlns:a16="http://schemas.microsoft.com/office/drawing/2014/main" id="{92ED1CAC-E881-4DDC-A7A0-9D0F705B4678}"/>
              </a:ext>
            </a:extLst>
          </p:cNvPr>
          <p:cNvSpPr>
            <a:spLocks noGrp="1"/>
          </p:cNvSpPr>
          <p:nvPr/>
        </p:nvSpPr>
        <p:spPr>
          <a:xfrm>
            <a:off x="11493532" y="5312569"/>
            <a:ext cx="1530287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63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63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63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AI Factory</a:t>
            </a:r>
          </a:p>
        </p:txBody>
      </p:sp>
      <p:sp>
        <p:nvSpPr>
          <p:cNvPr id="29" name="text-19">
            <a:extLst>
              <a:ext uri="{FF2B5EF4-FFF2-40B4-BE49-F238E27FC236}">
                <a16:creationId xmlns:a16="http://schemas.microsoft.com/office/drawing/2014/main" id="{B708992F-161A-429F-A0B8-590043051EC9}"/>
              </a:ext>
            </a:extLst>
          </p:cNvPr>
          <p:cNvSpPr>
            <a:spLocks noGrp="1"/>
          </p:cNvSpPr>
          <p:nvPr/>
        </p:nvSpPr>
        <p:spPr>
          <a:xfrm>
            <a:off x="13787438" y="4910138"/>
            <a:ext cx="5619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825" b="0" i="0" noProof="1">
                <a:solidFill>
                  <a:srgbClr val="BAC2D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825" b="0" i="0" noProof="1">
                <a:solidFill>
                  <a:srgbClr val="BAC2D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825" b="0" i="0" noProof="1">
                <a:solidFill>
                  <a:srgbClr val="BAC2D1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30" name="text-20">
            <a:extLst>
              <a:ext uri="{FF2B5EF4-FFF2-40B4-BE49-F238E27FC236}">
                <a16:creationId xmlns:a16="http://schemas.microsoft.com/office/drawing/2014/main" id="{5F481463-30D5-4BD0-9181-DF7B9B67ED3F}"/>
              </a:ext>
            </a:extLst>
          </p:cNvPr>
          <p:cNvSpPr>
            <a:spLocks noGrp="1"/>
          </p:cNvSpPr>
          <p:nvPr/>
        </p:nvSpPr>
        <p:spPr>
          <a:xfrm>
            <a:off x="15427071" y="4764881"/>
            <a:ext cx="90201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OUTPUT</a:t>
            </a:r>
          </a:p>
        </p:txBody>
      </p:sp>
      <p:sp>
        <p:nvSpPr>
          <p:cNvPr id="31" name="text-21">
            <a:extLst>
              <a:ext uri="{FF2B5EF4-FFF2-40B4-BE49-F238E27FC236}">
                <a16:creationId xmlns:a16="http://schemas.microsoft.com/office/drawing/2014/main" id="{E4D2F857-D331-49C7-A1CA-EDC49AA5763A}"/>
              </a:ext>
            </a:extLst>
          </p:cNvPr>
          <p:cNvSpPr>
            <a:spLocks noGrp="1"/>
          </p:cNvSpPr>
          <p:nvPr/>
        </p:nvSpPr>
        <p:spPr>
          <a:xfrm>
            <a:off x="14552581" y="5312569"/>
            <a:ext cx="2651188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63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63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63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高质量 Token 服务</a:t>
            </a:r>
          </a:p>
        </p:txBody>
      </p:sp>
      <p:sp>
        <p:nvSpPr>
          <p:cNvPr id="32" name="text-22">
            <a:extLst>
              <a:ext uri="{FF2B5EF4-FFF2-40B4-BE49-F238E27FC236}">
                <a16:creationId xmlns:a16="http://schemas.microsoft.com/office/drawing/2014/main" id="{11043F4E-A0C5-482B-B296-3512CB1A4AA8}"/>
              </a:ext>
            </a:extLst>
          </p:cNvPr>
          <p:cNvSpPr>
            <a:spLocks noGrp="1"/>
          </p:cNvSpPr>
          <p:nvPr/>
        </p:nvSpPr>
        <p:spPr>
          <a:xfrm>
            <a:off x="7134225" y="6886575"/>
            <a:ext cx="819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规模</a:t>
            </a:r>
          </a:p>
        </p:txBody>
      </p:sp>
      <p:sp>
        <p:nvSpPr>
          <p:cNvPr id="33" name="text-23">
            <a:extLst>
              <a:ext uri="{FF2B5EF4-FFF2-40B4-BE49-F238E27FC236}">
                <a16:creationId xmlns:a16="http://schemas.microsoft.com/office/drawing/2014/main" id="{93F752F5-F3F7-45C2-B27C-2A9E6A880490}"/>
              </a:ext>
            </a:extLst>
          </p:cNvPr>
          <p:cNvSpPr>
            <a:spLocks noGrp="1"/>
          </p:cNvSpPr>
          <p:nvPr/>
        </p:nvSpPr>
        <p:spPr>
          <a:xfrm>
            <a:off x="7134225" y="7543800"/>
            <a:ext cx="346605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在单位时间内生产更多 Token</a:t>
            </a:r>
          </a:p>
        </p:txBody>
      </p:sp>
      <p:sp>
        <p:nvSpPr>
          <p:cNvPr id="34" name="text-24">
            <a:extLst>
              <a:ext uri="{FF2B5EF4-FFF2-40B4-BE49-F238E27FC236}">
                <a16:creationId xmlns:a16="http://schemas.microsoft.com/office/drawing/2014/main" id="{5439B428-AFB0-4BBD-AC8F-DAC6E62C7383}"/>
              </a:ext>
            </a:extLst>
          </p:cNvPr>
          <p:cNvSpPr>
            <a:spLocks noGrp="1"/>
          </p:cNvSpPr>
          <p:nvPr/>
        </p:nvSpPr>
        <p:spPr>
          <a:xfrm>
            <a:off x="12449175" y="6886575"/>
            <a:ext cx="819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质量</a:t>
            </a:r>
          </a:p>
        </p:txBody>
      </p:sp>
      <p:sp>
        <p:nvSpPr>
          <p:cNvPr id="35" name="text-25">
            <a:extLst>
              <a:ext uri="{FF2B5EF4-FFF2-40B4-BE49-F238E27FC236}">
                <a16:creationId xmlns:a16="http://schemas.microsoft.com/office/drawing/2014/main" id="{CD5B76B8-D401-4F4D-9BF5-5728AD1FB206}"/>
              </a:ext>
            </a:extLst>
          </p:cNvPr>
          <p:cNvSpPr>
            <a:spLocks noGrp="1"/>
          </p:cNvSpPr>
          <p:nvPr/>
        </p:nvSpPr>
        <p:spPr>
          <a:xfrm>
            <a:off x="12449175" y="7543800"/>
            <a:ext cx="4448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模型更强、上下文更长、响应更快更稳</a:t>
            </a:r>
          </a:p>
        </p:txBody>
      </p:sp>
      <p:sp>
        <p:nvSpPr>
          <p:cNvPr id="36" name="text-26">
            <a:extLst>
              <a:ext uri="{FF2B5EF4-FFF2-40B4-BE49-F238E27FC236}">
                <a16:creationId xmlns:a16="http://schemas.microsoft.com/office/drawing/2014/main" id="{8820F7F7-C906-4533-9483-E729E264436A}"/>
              </a:ext>
            </a:extLst>
          </p:cNvPr>
          <p:cNvSpPr>
            <a:spLocks noGrp="1"/>
          </p:cNvSpPr>
          <p:nvPr/>
        </p:nvSpPr>
        <p:spPr>
          <a:xfrm>
            <a:off x="8279797" y="9072563"/>
            <a:ext cx="795785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本章界定高质量 Token 服务的内涵，并分析其价值与定价依据</a:t>
            </a:r>
          </a:p>
        </p:txBody>
      </p:sp>
      <p:sp>
        <p:nvSpPr>
          <p:cNvPr id="37" name="text-27">
            <a:extLst>
              <a:ext uri="{FF2B5EF4-FFF2-40B4-BE49-F238E27FC236}">
                <a16:creationId xmlns:a16="http://schemas.microsoft.com/office/drawing/2014/main" id="{638C28E3-BD21-46B5-BF0C-82A01860391A}"/>
              </a:ext>
            </a:extLst>
          </p:cNvPr>
          <p:cNvSpPr>
            <a:spLocks noGrp="1"/>
          </p:cNvSpPr>
          <p:nvPr/>
        </p:nvSpPr>
        <p:spPr>
          <a:xfrm>
            <a:off x="16998410" y="9848850"/>
            <a:ext cx="58474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 / 43</a:t>
            </a:r>
          </a:p>
        </p:txBody>
      </p:sp>
    </p:spTree>
    <p:extLst>
      <p:ext uri="{BB962C8B-B14F-4D97-AF65-F5344CB8AC3E}">
        <p14:creationId xmlns:p14="http://schemas.microsoft.com/office/powerpoint/2010/main" val="206716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html-shape-1">
            <a:extLst>
              <a:ext uri="{FF2B5EF4-FFF2-40B4-BE49-F238E27FC236}">
                <a16:creationId xmlns:a16="http://schemas.microsoft.com/office/drawing/2014/main" id="{72B6AEF3-EB95-4C88-939F-2A2896D967A6}"/>
              </a:ext>
            </a:extLst>
          </p:cNvPr>
          <p:cNvSpPr>
            <a:spLocks noGrp="1"/>
          </p:cNvSpPr>
          <p:nvPr/>
        </p:nvSpPr>
        <p:spPr>
          <a:xfrm>
            <a:off x="771525" y="3000375"/>
            <a:ext cx="4429125" cy="5500688"/>
          </a:xfrm>
          <a:prstGeom prst="roundRect">
            <a:avLst>
              <a:gd name="adj" fmla="val 5161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2" name="html-shape-6">
            <a:extLst>
              <a:ext uri="{FF2B5EF4-FFF2-40B4-BE49-F238E27FC236}">
                <a16:creationId xmlns:a16="http://schemas.microsoft.com/office/drawing/2014/main" id="{91131F02-6899-4CE1-BC5C-FC792369F620}"/>
              </a:ext>
            </a:extLst>
          </p:cNvPr>
          <p:cNvSpPr>
            <a:spLocks noGrp="1"/>
          </p:cNvSpPr>
          <p:nvPr/>
        </p:nvSpPr>
        <p:spPr>
          <a:xfrm>
            <a:off x="5743575" y="7215188"/>
            <a:ext cx="11744325" cy="1000125"/>
          </a:xfrm>
          <a:prstGeom prst="rect">
            <a:avLst/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3" name="html-shape-8">
            <a:extLst>
              <a:ext uri="{FF2B5EF4-FFF2-40B4-BE49-F238E27FC236}">
                <a16:creationId xmlns:a16="http://schemas.microsoft.com/office/drawing/2014/main" id="{17BC10B8-AD43-486F-99C7-E168D33C1A05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4" name="html-line-1">
            <a:extLst>
              <a:ext uri="{FF2B5EF4-FFF2-40B4-BE49-F238E27FC236}">
                <a16:creationId xmlns:a16="http://schemas.microsoft.com/office/drawing/2014/main" id="{23236AF7-135B-4B81-BA55-07732C1D8F78}"/>
              </a:ext>
            </a:extLst>
          </p:cNvPr>
          <p:cNvSpPr>
            <a:spLocks noGrp="1"/>
          </p:cNvSpPr>
          <p:nvPr/>
        </p:nvSpPr>
        <p:spPr>
          <a:xfrm>
            <a:off x="1171575" y="5939123"/>
            <a:ext cx="3629025" cy="4763"/>
          </a:xfrm>
          <a:prstGeom prst="line">
            <a:avLst/>
          </a:prstGeom>
          <a:noFill/>
          <a:ln w="28575">
            <a:solidFill>
              <a:srgbClr val="9671DF"/>
            </a:solidFill>
            <a:prstDash val="solid"/>
          </a:ln>
        </p:spPr>
      </p:sp>
      <p:sp>
        <p:nvSpPr>
          <p:cNvPr id="5" name="html-line-2">
            <a:extLst>
              <a:ext uri="{FF2B5EF4-FFF2-40B4-BE49-F238E27FC236}">
                <a16:creationId xmlns:a16="http://schemas.microsoft.com/office/drawing/2014/main" id="{D7BF37F3-6624-41E5-BBE1-985C8EDC2F5C}"/>
              </a:ext>
            </a:extLst>
          </p:cNvPr>
          <p:cNvSpPr>
            <a:spLocks noGrp="1"/>
          </p:cNvSpPr>
          <p:nvPr/>
        </p:nvSpPr>
        <p:spPr>
          <a:xfrm>
            <a:off x="7100888" y="5100638"/>
            <a:ext cx="9029700" cy="4763"/>
          </a:xfrm>
          <a:prstGeom prst="line">
            <a:avLst/>
          </a:prstGeom>
          <a:noFill/>
          <a:ln w="38100">
            <a:solidFill>
              <a:srgbClr val="D9DFEB"/>
            </a:solidFill>
            <a:prstDash val="solid"/>
          </a:ln>
        </p:spPr>
      </p:sp>
      <p:sp>
        <p:nvSpPr>
          <p:cNvPr id="6" name="html-shape-2">
            <a:extLst>
              <a:ext uri="{FF2B5EF4-FFF2-40B4-BE49-F238E27FC236}">
                <a16:creationId xmlns:a16="http://schemas.microsoft.com/office/drawing/2014/main" id="{97499E5B-0B3F-4ADC-9EE6-BF95B7119C43}"/>
              </a:ext>
            </a:extLst>
          </p:cNvPr>
          <p:cNvSpPr>
            <a:spLocks noGrp="1"/>
          </p:cNvSpPr>
          <p:nvPr/>
        </p:nvSpPr>
        <p:spPr>
          <a:xfrm>
            <a:off x="6986588" y="498633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642AF0"/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7" name="html-shape-3">
            <a:extLst>
              <a:ext uri="{FF2B5EF4-FFF2-40B4-BE49-F238E27FC236}">
                <a16:creationId xmlns:a16="http://schemas.microsoft.com/office/drawing/2014/main" id="{66168DCA-2EEB-47AB-A890-EF6D31639104}"/>
              </a:ext>
            </a:extLst>
          </p:cNvPr>
          <p:cNvSpPr>
            <a:spLocks noGrp="1"/>
          </p:cNvSpPr>
          <p:nvPr/>
        </p:nvSpPr>
        <p:spPr>
          <a:xfrm>
            <a:off x="9996488" y="498633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642AF0"/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8" name="html-shape-4">
            <a:extLst>
              <a:ext uri="{FF2B5EF4-FFF2-40B4-BE49-F238E27FC236}">
                <a16:creationId xmlns:a16="http://schemas.microsoft.com/office/drawing/2014/main" id="{A620C20F-A26B-4AAD-A757-408FFE3ACA35}"/>
              </a:ext>
            </a:extLst>
          </p:cNvPr>
          <p:cNvSpPr>
            <a:spLocks noGrp="1"/>
          </p:cNvSpPr>
          <p:nvPr/>
        </p:nvSpPr>
        <p:spPr>
          <a:xfrm>
            <a:off x="13006388" y="498633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15FD5"/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9" name="html-shape-5">
            <a:extLst>
              <a:ext uri="{FF2B5EF4-FFF2-40B4-BE49-F238E27FC236}">
                <a16:creationId xmlns:a16="http://schemas.microsoft.com/office/drawing/2014/main" id="{0D92846C-24D4-43A4-82E8-3AE6610DD214}"/>
              </a:ext>
            </a:extLst>
          </p:cNvPr>
          <p:cNvSpPr>
            <a:spLocks noGrp="1"/>
          </p:cNvSpPr>
          <p:nvPr/>
        </p:nvSpPr>
        <p:spPr>
          <a:xfrm>
            <a:off x="16016288" y="498633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10" name="border-7">
            <a:extLst>
              <a:ext uri="{FF2B5EF4-FFF2-40B4-BE49-F238E27FC236}">
                <a16:creationId xmlns:a16="http://schemas.microsoft.com/office/drawing/2014/main" id="{EA42B5FA-A0A9-4ACF-A998-A91C27EFDB00}"/>
              </a:ext>
            </a:extLst>
          </p:cNvPr>
          <p:cNvSpPr>
            <a:spLocks noGrp="1"/>
          </p:cNvSpPr>
          <p:nvPr/>
        </p:nvSpPr>
        <p:spPr>
          <a:xfrm>
            <a:off x="5743575" y="7215188"/>
            <a:ext cx="66675" cy="100012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DE4904D-DF3C-4DA2-98A8-FF724F7F0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DD83680-4E98-467E-A266-B20566567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3" name="text-1">
            <a:extLst>
              <a:ext uri="{FF2B5EF4-FFF2-40B4-BE49-F238E27FC236}">
                <a16:creationId xmlns:a16="http://schemas.microsoft.com/office/drawing/2014/main" id="{4F3E6E04-CD36-48B8-B243-8C5FDB7F9869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4" name="text-2">
            <a:extLst>
              <a:ext uri="{FF2B5EF4-FFF2-40B4-BE49-F238E27FC236}">
                <a16:creationId xmlns:a16="http://schemas.microsoft.com/office/drawing/2014/main" id="{D5F3E83D-3676-48F0-9FBC-92EF885DD10E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18264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第一章 · 用户目标</a:t>
            </a:r>
          </a:p>
        </p:txBody>
      </p:sp>
      <p:sp>
        <p:nvSpPr>
          <p:cNvPr id="15" name="text-3">
            <a:extLst>
              <a:ext uri="{FF2B5EF4-FFF2-40B4-BE49-F238E27FC236}">
                <a16:creationId xmlns:a16="http://schemas.microsoft.com/office/drawing/2014/main" id="{75ED0628-AD29-47F0-9559-A654D484DCEF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443809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337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行业对高质量 Token 服务的关注，往往聚焦模型能力</a:t>
            </a:r>
          </a:p>
        </p:txBody>
      </p:sp>
      <p:sp>
        <p:nvSpPr>
          <p:cNvPr id="16" name="text-4">
            <a:extLst>
              <a:ext uri="{FF2B5EF4-FFF2-40B4-BE49-F238E27FC236}">
                <a16:creationId xmlns:a16="http://schemas.microsoft.com/office/drawing/2014/main" id="{26D6641F-0493-470B-AAD7-9991E9EA8B0A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8361902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新模型发布已进入 Day 0 竞争，服务交付质量却较少被讨论</a:t>
            </a:r>
          </a:p>
        </p:txBody>
      </p:sp>
      <p:sp>
        <p:nvSpPr>
          <p:cNvPr id="17" name="text-5">
            <a:extLst>
              <a:ext uri="{FF2B5EF4-FFF2-40B4-BE49-F238E27FC236}">
                <a16:creationId xmlns:a16="http://schemas.microsoft.com/office/drawing/2014/main" id="{012E5554-88B3-4263-99EF-ADBA5FFD129D}"/>
              </a:ext>
            </a:extLst>
          </p:cNvPr>
          <p:cNvSpPr>
            <a:spLocks noGrp="1"/>
          </p:cNvSpPr>
          <p:nvPr/>
        </p:nvSpPr>
        <p:spPr>
          <a:xfrm>
            <a:off x="1162050" y="3267075"/>
            <a:ext cx="368331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B99B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B99B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B99BFF"/>
                </a:solidFill>
                <a:latin typeface="PingFang SC"/>
                <a:ea typeface="PingFang SC"/>
                <a:cs typeface="Arial"/>
              </a:rPr>
              <a:t>HIGH-QUALITY TOKEN SERVICE · 01</a:t>
            </a:r>
          </a:p>
        </p:txBody>
      </p:sp>
      <p:sp>
        <p:nvSpPr>
          <p:cNvPr id="18" name="text-6">
            <a:extLst>
              <a:ext uri="{FF2B5EF4-FFF2-40B4-BE49-F238E27FC236}">
                <a16:creationId xmlns:a16="http://schemas.microsoft.com/office/drawing/2014/main" id="{7BBE5375-62AB-476E-B6B2-37A58953FEF9}"/>
              </a:ext>
            </a:extLst>
          </p:cNvPr>
          <p:cNvSpPr>
            <a:spLocks noGrp="1"/>
          </p:cNvSpPr>
          <p:nvPr/>
        </p:nvSpPr>
        <p:spPr>
          <a:xfrm>
            <a:off x="1162050" y="3611785"/>
            <a:ext cx="2774633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58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8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8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MODEL</a:t>
            </a:r>
          </a:p>
        </p:txBody>
      </p:sp>
      <p:sp>
        <p:nvSpPr>
          <p:cNvPr id="19" name="text-7">
            <a:extLst>
              <a:ext uri="{FF2B5EF4-FFF2-40B4-BE49-F238E27FC236}">
                <a16:creationId xmlns:a16="http://schemas.microsoft.com/office/drawing/2014/main" id="{0E708B67-5C31-4FFF-88A9-2418EFC80F2F}"/>
              </a:ext>
            </a:extLst>
          </p:cNvPr>
          <p:cNvSpPr>
            <a:spLocks noGrp="1"/>
          </p:cNvSpPr>
          <p:nvPr/>
        </p:nvSpPr>
        <p:spPr>
          <a:xfrm>
            <a:off x="1162050" y="4769930"/>
            <a:ext cx="2576513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1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1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1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最容易被看见的</a:t>
            </a:r>
          </a:p>
        </p:txBody>
      </p:sp>
      <p:sp>
        <p:nvSpPr>
          <p:cNvPr id="20" name="text-8">
            <a:extLst>
              <a:ext uri="{FF2B5EF4-FFF2-40B4-BE49-F238E27FC236}">
                <a16:creationId xmlns:a16="http://schemas.microsoft.com/office/drawing/2014/main" id="{05E0D4C2-E5D9-44B1-A1C5-ABD4AFC05709}"/>
              </a:ext>
            </a:extLst>
          </p:cNvPr>
          <p:cNvSpPr>
            <a:spLocks noGrp="1"/>
          </p:cNvSpPr>
          <p:nvPr/>
        </p:nvSpPr>
        <p:spPr>
          <a:xfrm>
            <a:off x="1162050" y="5252180"/>
            <a:ext cx="15049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1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1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13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质量基础</a:t>
            </a:r>
          </a:p>
        </p:txBody>
      </p:sp>
      <p:sp>
        <p:nvSpPr>
          <p:cNvPr id="21" name="text-9">
            <a:extLst>
              <a:ext uri="{FF2B5EF4-FFF2-40B4-BE49-F238E27FC236}">
                <a16:creationId xmlns:a16="http://schemas.microsoft.com/office/drawing/2014/main" id="{4F009936-E6D0-4F68-8178-30E5525D1C40}"/>
              </a:ext>
            </a:extLst>
          </p:cNvPr>
          <p:cNvSpPr>
            <a:spLocks noGrp="1"/>
          </p:cNvSpPr>
          <p:nvPr/>
        </p:nvSpPr>
        <p:spPr>
          <a:xfrm>
            <a:off x="1162050" y="5991511"/>
            <a:ext cx="154486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8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8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8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DAY 0</a:t>
            </a:r>
          </a:p>
        </p:txBody>
      </p:sp>
      <p:sp>
        <p:nvSpPr>
          <p:cNvPr id="22" name="text-10">
            <a:extLst>
              <a:ext uri="{FF2B5EF4-FFF2-40B4-BE49-F238E27FC236}">
                <a16:creationId xmlns:a16="http://schemas.microsoft.com/office/drawing/2014/main" id="{2294DAF5-A2A9-4544-9FA6-C374CAD3CE8E}"/>
              </a:ext>
            </a:extLst>
          </p:cNvPr>
          <p:cNvSpPr>
            <a:spLocks noGrp="1"/>
          </p:cNvSpPr>
          <p:nvPr/>
        </p:nvSpPr>
        <p:spPr>
          <a:xfrm>
            <a:off x="1162050" y="6744938"/>
            <a:ext cx="226218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13" b="0" i="0" noProof="1">
                <a:solidFill>
                  <a:srgbClr val="DFD3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13" b="0" i="0" noProof="1">
                <a:solidFill>
                  <a:srgbClr val="DFD3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13" b="0" i="0" noProof="1">
                <a:solidFill>
                  <a:srgbClr val="DFD3FF"/>
                </a:solidFill>
                <a:latin typeface="PingFang SC"/>
                <a:ea typeface="PingFang SC"/>
                <a:cs typeface="Arial"/>
              </a:rPr>
              <a:t>更强模型，更早可用</a:t>
            </a:r>
          </a:p>
        </p:txBody>
      </p:sp>
      <p:sp>
        <p:nvSpPr>
          <p:cNvPr id="23" name="text-11">
            <a:extLst>
              <a:ext uri="{FF2B5EF4-FFF2-40B4-BE49-F238E27FC236}">
                <a16:creationId xmlns:a16="http://schemas.microsoft.com/office/drawing/2014/main" id="{B80BF2E3-4837-4226-89C3-7B1AEBE1B1AE}"/>
              </a:ext>
            </a:extLst>
          </p:cNvPr>
          <p:cNvSpPr>
            <a:spLocks noGrp="1"/>
          </p:cNvSpPr>
          <p:nvPr/>
        </p:nvSpPr>
        <p:spPr>
          <a:xfrm>
            <a:off x="1162050" y="7223093"/>
            <a:ext cx="25908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模型能力决定任务上限，</a:t>
            </a:r>
          </a:p>
        </p:txBody>
      </p:sp>
      <p:sp>
        <p:nvSpPr>
          <p:cNvPr id="24" name="text-12">
            <a:extLst>
              <a:ext uri="{FF2B5EF4-FFF2-40B4-BE49-F238E27FC236}">
                <a16:creationId xmlns:a16="http://schemas.microsoft.com/office/drawing/2014/main" id="{CC5DBE63-FDBD-4E1A-BEDA-828D8F0A29FE}"/>
              </a:ext>
            </a:extLst>
          </p:cNvPr>
          <p:cNvSpPr>
            <a:spLocks noGrp="1"/>
          </p:cNvSpPr>
          <p:nvPr/>
        </p:nvSpPr>
        <p:spPr>
          <a:xfrm>
            <a:off x="1162050" y="7531608"/>
            <a:ext cx="25908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也最容易成为用户和平台</a:t>
            </a:r>
          </a:p>
        </p:txBody>
      </p:sp>
      <p:sp>
        <p:nvSpPr>
          <p:cNvPr id="25" name="text-13">
            <a:extLst>
              <a:ext uri="{FF2B5EF4-FFF2-40B4-BE49-F238E27FC236}">
                <a16:creationId xmlns:a16="http://schemas.microsoft.com/office/drawing/2014/main" id="{DA9F52EE-6E43-4BC1-A954-4355F5177CAA}"/>
              </a:ext>
            </a:extLst>
          </p:cNvPr>
          <p:cNvSpPr>
            <a:spLocks noGrp="1"/>
          </p:cNvSpPr>
          <p:nvPr/>
        </p:nvSpPr>
        <p:spPr>
          <a:xfrm>
            <a:off x="1162050" y="7840123"/>
            <a:ext cx="25908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选择服务时的显性依据。</a:t>
            </a:r>
          </a:p>
        </p:txBody>
      </p:sp>
      <p:sp>
        <p:nvSpPr>
          <p:cNvPr id="26" name="text-14">
            <a:extLst>
              <a:ext uri="{FF2B5EF4-FFF2-40B4-BE49-F238E27FC236}">
                <a16:creationId xmlns:a16="http://schemas.microsoft.com/office/drawing/2014/main" id="{ACFD90B1-A90A-48AB-AB0D-DD25004EF78F}"/>
              </a:ext>
            </a:extLst>
          </p:cNvPr>
          <p:cNvSpPr>
            <a:spLocks noGrp="1"/>
          </p:cNvSpPr>
          <p:nvPr/>
        </p:nvSpPr>
        <p:spPr>
          <a:xfrm>
            <a:off x="5734050" y="3000375"/>
            <a:ext cx="6917722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新模型发布推动平台开展 Day 0 服务竞争</a:t>
            </a:r>
          </a:p>
        </p:txBody>
      </p:sp>
      <p:sp>
        <p:nvSpPr>
          <p:cNvPr id="27" name="text-15">
            <a:extLst>
              <a:ext uri="{FF2B5EF4-FFF2-40B4-BE49-F238E27FC236}">
                <a16:creationId xmlns:a16="http://schemas.microsoft.com/office/drawing/2014/main" id="{4FC05A5D-3F31-460D-8B81-138A034BEC02}"/>
              </a:ext>
            </a:extLst>
          </p:cNvPr>
          <p:cNvSpPr>
            <a:spLocks noGrp="1"/>
          </p:cNvSpPr>
          <p:nvPr/>
        </p:nvSpPr>
        <p:spPr>
          <a:xfrm>
            <a:off x="5734050" y="3614738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产业链争相将新增模型能力第一时间转化为可调用服务</a:t>
            </a:r>
          </a:p>
        </p:txBody>
      </p:sp>
      <p:sp>
        <p:nvSpPr>
          <p:cNvPr id="28" name="text-16">
            <a:extLst>
              <a:ext uri="{FF2B5EF4-FFF2-40B4-BE49-F238E27FC236}">
                <a16:creationId xmlns:a16="http://schemas.microsoft.com/office/drawing/2014/main" id="{50BCDB97-149F-499C-B979-0D4FAE3FBDEA}"/>
              </a:ext>
            </a:extLst>
          </p:cNvPr>
          <p:cNvSpPr>
            <a:spLocks noGrp="1"/>
          </p:cNvSpPr>
          <p:nvPr/>
        </p:nvSpPr>
        <p:spPr>
          <a:xfrm>
            <a:off x="6676168" y="4357688"/>
            <a:ext cx="9066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rPr>
              <a:t>2025.08</a:t>
            </a:r>
          </a:p>
        </p:txBody>
      </p:sp>
      <p:sp>
        <p:nvSpPr>
          <p:cNvPr id="29" name="text-17">
            <a:extLst>
              <a:ext uri="{FF2B5EF4-FFF2-40B4-BE49-F238E27FC236}">
                <a16:creationId xmlns:a16="http://schemas.microsoft.com/office/drawing/2014/main" id="{78F241A0-48F4-42B2-99A4-948D5099BCE7}"/>
              </a:ext>
            </a:extLst>
          </p:cNvPr>
          <p:cNvSpPr>
            <a:spLocks noGrp="1"/>
          </p:cNvSpPr>
          <p:nvPr/>
        </p:nvSpPr>
        <p:spPr>
          <a:xfrm>
            <a:off x="6003322" y="5457825"/>
            <a:ext cx="225218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OpenAI gpt-oss</a:t>
            </a:r>
          </a:p>
        </p:txBody>
      </p:sp>
      <p:sp>
        <p:nvSpPr>
          <p:cNvPr id="30" name="text-18">
            <a:extLst>
              <a:ext uri="{FF2B5EF4-FFF2-40B4-BE49-F238E27FC236}">
                <a16:creationId xmlns:a16="http://schemas.microsoft.com/office/drawing/2014/main" id="{0B5CB59E-DE34-46B2-A5AF-DB2D70DE5DB4}"/>
              </a:ext>
            </a:extLst>
          </p:cNvPr>
          <p:cNvSpPr>
            <a:spLocks noGrp="1"/>
          </p:cNvSpPr>
          <p:nvPr/>
        </p:nvSpPr>
        <p:spPr>
          <a:xfrm>
            <a:off x="6578822" y="5934075"/>
            <a:ext cx="1101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Cloudflare</a:t>
            </a:r>
          </a:p>
        </p:txBody>
      </p:sp>
      <p:sp>
        <p:nvSpPr>
          <p:cNvPr id="31" name="text-19">
            <a:extLst>
              <a:ext uri="{FF2B5EF4-FFF2-40B4-BE49-F238E27FC236}">
                <a16:creationId xmlns:a16="http://schemas.microsoft.com/office/drawing/2014/main" id="{51B92F8B-C80B-4EDF-9893-6D7A42DC6BC1}"/>
              </a:ext>
            </a:extLst>
          </p:cNvPr>
          <p:cNvSpPr>
            <a:spLocks noGrp="1"/>
          </p:cNvSpPr>
          <p:nvPr/>
        </p:nvSpPr>
        <p:spPr>
          <a:xfrm>
            <a:off x="6402610" y="6223445"/>
            <a:ext cx="145361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Day 0 Partner</a:t>
            </a:r>
          </a:p>
        </p:txBody>
      </p:sp>
      <p:sp>
        <p:nvSpPr>
          <p:cNvPr id="32" name="text-20">
            <a:extLst>
              <a:ext uri="{FF2B5EF4-FFF2-40B4-BE49-F238E27FC236}">
                <a16:creationId xmlns:a16="http://schemas.microsoft.com/office/drawing/2014/main" id="{96D01549-76DC-4DA5-A4F1-AF7216E27803}"/>
              </a:ext>
            </a:extLst>
          </p:cNvPr>
          <p:cNvSpPr>
            <a:spLocks noGrp="1"/>
          </p:cNvSpPr>
          <p:nvPr/>
        </p:nvSpPr>
        <p:spPr>
          <a:xfrm>
            <a:off x="9706261" y="4357688"/>
            <a:ext cx="866013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rPr>
              <a:t>2026.01</a:t>
            </a:r>
          </a:p>
        </p:txBody>
      </p:sp>
      <p:sp>
        <p:nvSpPr>
          <p:cNvPr id="33" name="text-21">
            <a:extLst>
              <a:ext uri="{FF2B5EF4-FFF2-40B4-BE49-F238E27FC236}">
                <a16:creationId xmlns:a16="http://schemas.microsoft.com/office/drawing/2014/main" id="{E0C73A28-E645-41EE-B764-DC7E001AC6D3}"/>
              </a:ext>
            </a:extLst>
          </p:cNvPr>
          <p:cNvSpPr>
            <a:spLocks noGrp="1"/>
          </p:cNvSpPr>
          <p:nvPr/>
        </p:nvSpPr>
        <p:spPr>
          <a:xfrm>
            <a:off x="9433941" y="5457825"/>
            <a:ext cx="14107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Kimi K2.5</a:t>
            </a:r>
          </a:p>
        </p:txBody>
      </p:sp>
      <p:sp>
        <p:nvSpPr>
          <p:cNvPr id="34" name="text-22">
            <a:extLst>
              <a:ext uri="{FF2B5EF4-FFF2-40B4-BE49-F238E27FC236}">
                <a16:creationId xmlns:a16="http://schemas.microsoft.com/office/drawing/2014/main" id="{CB79FBB5-8A4A-43F8-AFFF-42634415209D}"/>
              </a:ext>
            </a:extLst>
          </p:cNvPr>
          <p:cNvSpPr>
            <a:spLocks noGrp="1"/>
          </p:cNvSpPr>
          <p:nvPr/>
        </p:nvSpPr>
        <p:spPr>
          <a:xfrm>
            <a:off x="9619774" y="5934075"/>
            <a:ext cx="103908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Fireworks</a:t>
            </a:r>
          </a:p>
        </p:txBody>
      </p:sp>
      <p:sp>
        <p:nvSpPr>
          <p:cNvPr id="35" name="text-23">
            <a:extLst>
              <a:ext uri="{FF2B5EF4-FFF2-40B4-BE49-F238E27FC236}">
                <a16:creationId xmlns:a16="http://schemas.microsoft.com/office/drawing/2014/main" id="{BFD865A8-9519-43E0-AC96-271CFA093F2B}"/>
              </a:ext>
            </a:extLst>
          </p:cNvPr>
          <p:cNvSpPr>
            <a:spLocks noGrp="1"/>
          </p:cNvSpPr>
          <p:nvPr/>
        </p:nvSpPr>
        <p:spPr>
          <a:xfrm>
            <a:off x="9383649" y="6223445"/>
            <a:ext cx="151152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Day 0 Support</a:t>
            </a:r>
          </a:p>
        </p:txBody>
      </p:sp>
      <p:sp>
        <p:nvSpPr>
          <p:cNvPr id="36" name="text-24">
            <a:extLst>
              <a:ext uri="{FF2B5EF4-FFF2-40B4-BE49-F238E27FC236}">
                <a16:creationId xmlns:a16="http://schemas.microsoft.com/office/drawing/2014/main" id="{4E9C2233-9156-4DBE-933D-3567DEC7BE12}"/>
              </a:ext>
            </a:extLst>
          </p:cNvPr>
          <p:cNvSpPr>
            <a:spLocks noGrp="1"/>
          </p:cNvSpPr>
          <p:nvPr/>
        </p:nvSpPr>
        <p:spPr>
          <a:xfrm>
            <a:off x="12695968" y="4357688"/>
            <a:ext cx="9066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rPr>
              <a:t>2026.04</a:t>
            </a:r>
          </a:p>
        </p:txBody>
      </p:sp>
      <p:sp>
        <p:nvSpPr>
          <p:cNvPr id="37" name="text-25">
            <a:extLst>
              <a:ext uri="{FF2B5EF4-FFF2-40B4-BE49-F238E27FC236}">
                <a16:creationId xmlns:a16="http://schemas.microsoft.com/office/drawing/2014/main" id="{87FF91CE-531E-4325-A92E-3F27E50F1A56}"/>
              </a:ext>
            </a:extLst>
          </p:cNvPr>
          <p:cNvSpPr>
            <a:spLocks noGrp="1"/>
          </p:cNvSpPr>
          <p:nvPr/>
        </p:nvSpPr>
        <p:spPr>
          <a:xfrm>
            <a:off x="12443841" y="5457825"/>
            <a:ext cx="14107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Kimi K2.6</a:t>
            </a:r>
          </a:p>
        </p:txBody>
      </p:sp>
      <p:sp>
        <p:nvSpPr>
          <p:cNvPr id="38" name="text-26">
            <a:extLst>
              <a:ext uri="{FF2B5EF4-FFF2-40B4-BE49-F238E27FC236}">
                <a16:creationId xmlns:a16="http://schemas.microsoft.com/office/drawing/2014/main" id="{A1BF2F97-114E-4DE0-A5A0-909FAA524AE5}"/>
              </a:ext>
            </a:extLst>
          </p:cNvPr>
          <p:cNvSpPr>
            <a:spLocks noGrp="1"/>
          </p:cNvSpPr>
          <p:nvPr/>
        </p:nvSpPr>
        <p:spPr>
          <a:xfrm>
            <a:off x="12598622" y="5934075"/>
            <a:ext cx="1101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Cloudflare</a:t>
            </a:r>
          </a:p>
        </p:txBody>
      </p:sp>
      <p:sp>
        <p:nvSpPr>
          <p:cNvPr id="39" name="text-27">
            <a:extLst>
              <a:ext uri="{FF2B5EF4-FFF2-40B4-BE49-F238E27FC236}">
                <a16:creationId xmlns:a16="http://schemas.microsoft.com/office/drawing/2014/main" id="{B1BD8602-84C7-459F-9D4B-03EB6C450151}"/>
              </a:ext>
            </a:extLst>
          </p:cNvPr>
          <p:cNvSpPr>
            <a:spLocks noGrp="1"/>
          </p:cNvSpPr>
          <p:nvPr/>
        </p:nvSpPr>
        <p:spPr>
          <a:xfrm>
            <a:off x="12393549" y="6223445"/>
            <a:ext cx="151152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Day 0 Support</a:t>
            </a:r>
          </a:p>
        </p:txBody>
      </p:sp>
      <p:sp>
        <p:nvSpPr>
          <p:cNvPr id="40" name="text-28">
            <a:extLst>
              <a:ext uri="{FF2B5EF4-FFF2-40B4-BE49-F238E27FC236}">
                <a16:creationId xmlns:a16="http://schemas.microsoft.com/office/drawing/2014/main" id="{53DA1497-FD07-487B-8C63-3A82922D7295}"/>
              </a:ext>
            </a:extLst>
          </p:cNvPr>
          <p:cNvSpPr>
            <a:spLocks noGrp="1"/>
          </p:cNvSpPr>
          <p:nvPr/>
        </p:nvSpPr>
        <p:spPr>
          <a:xfrm>
            <a:off x="15710726" y="4357688"/>
            <a:ext cx="89668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8591A8"/>
                </a:solidFill>
                <a:latin typeface="PingFang SC"/>
                <a:ea typeface="PingFang SC"/>
                <a:cs typeface="Arial"/>
              </a:rPr>
              <a:t>2026.07</a:t>
            </a:r>
          </a:p>
        </p:txBody>
      </p:sp>
      <p:sp>
        <p:nvSpPr>
          <p:cNvPr id="41" name="text-29">
            <a:extLst>
              <a:ext uri="{FF2B5EF4-FFF2-40B4-BE49-F238E27FC236}">
                <a16:creationId xmlns:a16="http://schemas.microsoft.com/office/drawing/2014/main" id="{6D7721F7-52BE-4D50-B508-51B48FE8E438}"/>
              </a:ext>
            </a:extLst>
          </p:cNvPr>
          <p:cNvSpPr>
            <a:spLocks noGrp="1"/>
          </p:cNvSpPr>
          <p:nvPr/>
        </p:nvSpPr>
        <p:spPr>
          <a:xfrm>
            <a:off x="15578709" y="5457825"/>
            <a:ext cx="1160717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Kimi K3</a:t>
            </a:r>
          </a:p>
        </p:txBody>
      </p:sp>
      <p:sp>
        <p:nvSpPr>
          <p:cNvPr id="42" name="text-30">
            <a:extLst>
              <a:ext uri="{FF2B5EF4-FFF2-40B4-BE49-F238E27FC236}">
                <a16:creationId xmlns:a16="http://schemas.microsoft.com/office/drawing/2014/main" id="{E291BDAB-DA71-4CB5-B4EA-4EB6C6A7D3B9}"/>
              </a:ext>
            </a:extLst>
          </p:cNvPr>
          <p:cNvSpPr>
            <a:spLocks noGrp="1"/>
          </p:cNvSpPr>
          <p:nvPr/>
        </p:nvSpPr>
        <p:spPr>
          <a:xfrm>
            <a:off x="15848838" y="5934075"/>
            <a:ext cx="62064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vLLM</a:t>
            </a:r>
          </a:p>
        </p:txBody>
      </p:sp>
      <p:sp>
        <p:nvSpPr>
          <p:cNvPr id="43" name="text-31">
            <a:extLst>
              <a:ext uri="{FF2B5EF4-FFF2-40B4-BE49-F238E27FC236}">
                <a16:creationId xmlns:a16="http://schemas.microsoft.com/office/drawing/2014/main" id="{597BF0A4-34B7-4E38-B498-5F5BB9E16B5F}"/>
              </a:ext>
            </a:extLst>
          </p:cNvPr>
          <p:cNvSpPr>
            <a:spLocks noGrp="1"/>
          </p:cNvSpPr>
          <p:nvPr/>
        </p:nvSpPr>
        <p:spPr>
          <a:xfrm>
            <a:off x="15403449" y="6223445"/>
            <a:ext cx="151152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Day 0 Support</a:t>
            </a:r>
          </a:p>
        </p:txBody>
      </p:sp>
      <p:sp>
        <p:nvSpPr>
          <p:cNvPr id="44" name="text-32">
            <a:extLst>
              <a:ext uri="{FF2B5EF4-FFF2-40B4-BE49-F238E27FC236}">
                <a16:creationId xmlns:a16="http://schemas.microsoft.com/office/drawing/2014/main" id="{23BE9849-23E5-4EC9-A6AB-F364E3F4BC79}"/>
              </a:ext>
            </a:extLst>
          </p:cNvPr>
          <p:cNvSpPr>
            <a:spLocks noGrp="1"/>
          </p:cNvSpPr>
          <p:nvPr/>
        </p:nvSpPr>
        <p:spPr>
          <a:xfrm>
            <a:off x="6086475" y="7424833"/>
            <a:ext cx="15335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13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13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13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注意力集中：</a:t>
            </a:r>
          </a:p>
        </p:txBody>
      </p:sp>
      <p:sp>
        <p:nvSpPr>
          <p:cNvPr id="45" name="text-33">
            <a:extLst>
              <a:ext uri="{FF2B5EF4-FFF2-40B4-BE49-F238E27FC236}">
                <a16:creationId xmlns:a16="http://schemas.microsoft.com/office/drawing/2014/main" id="{EC5B512A-BDDE-4320-8433-7879DD16414F}"/>
              </a:ext>
            </a:extLst>
          </p:cNvPr>
          <p:cNvSpPr>
            <a:spLocks noGrp="1"/>
          </p:cNvSpPr>
          <p:nvPr/>
        </p:nvSpPr>
        <p:spPr>
          <a:xfrm>
            <a:off x="7543800" y="7424833"/>
            <a:ext cx="665873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13" b="0" i="0" noProof="1">
                <a:solidFill>
                  <a:srgbClr val="315D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13" b="0" i="0" noProof="1">
                <a:solidFill>
                  <a:srgbClr val="315D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13" b="0" i="0" noProof="1">
                <a:solidFill>
                  <a:srgbClr val="315D4D"/>
                </a:solidFill>
                <a:latin typeface="PingFang SC"/>
                <a:ea typeface="PingFang SC"/>
                <a:cs typeface="Arial"/>
              </a:rPr>
              <a:t>Day 0 已成为平台竞争标志，但它只回答“何时能调用模型”。</a:t>
            </a:r>
          </a:p>
        </p:txBody>
      </p:sp>
      <p:sp>
        <p:nvSpPr>
          <p:cNvPr id="46" name="text-34">
            <a:extLst>
              <a:ext uri="{FF2B5EF4-FFF2-40B4-BE49-F238E27FC236}">
                <a16:creationId xmlns:a16="http://schemas.microsoft.com/office/drawing/2014/main" id="{80349979-B0CD-4F1B-B665-5150C865F5EE}"/>
              </a:ext>
            </a:extLst>
          </p:cNvPr>
          <p:cNvSpPr>
            <a:spLocks noGrp="1"/>
          </p:cNvSpPr>
          <p:nvPr/>
        </p:nvSpPr>
        <p:spPr>
          <a:xfrm>
            <a:off x="4562475" y="9067800"/>
            <a:ext cx="607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模型能力决定任务上限；用户获得的服务质量，</a:t>
            </a:r>
          </a:p>
        </p:txBody>
      </p:sp>
      <p:sp>
        <p:nvSpPr>
          <p:cNvPr id="47" name="text-35">
            <a:extLst>
              <a:ext uri="{FF2B5EF4-FFF2-40B4-BE49-F238E27FC236}">
                <a16:creationId xmlns:a16="http://schemas.microsoft.com/office/drawing/2014/main" id="{844C44E0-9728-487A-97EF-2A828573304E}"/>
              </a:ext>
            </a:extLst>
          </p:cNvPr>
          <p:cNvSpPr>
            <a:spLocks noGrp="1"/>
          </p:cNvSpPr>
          <p:nvPr/>
        </p:nvSpPr>
        <p:spPr>
          <a:xfrm>
            <a:off x="10563225" y="9067800"/>
            <a:ext cx="3219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还取决于模型如何被交付</a:t>
            </a:r>
          </a:p>
        </p:txBody>
      </p:sp>
      <p:sp>
        <p:nvSpPr>
          <p:cNvPr id="48" name="text-36">
            <a:extLst>
              <a:ext uri="{FF2B5EF4-FFF2-40B4-BE49-F238E27FC236}">
                <a16:creationId xmlns:a16="http://schemas.microsoft.com/office/drawing/2014/main" id="{74F46F23-DFF0-40FD-9B53-69444A7357FD}"/>
              </a:ext>
            </a:extLst>
          </p:cNvPr>
          <p:cNvSpPr>
            <a:spLocks noGrp="1"/>
          </p:cNvSpPr>
          <p:nvPr/>
        </p:nvSpPr>
        <p:spPr>
          <a:xfrm>
            <a:off x="776288" y="9865043"/>
            <a:ext cx="6241066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Sources: Cloudflare Workers AI · Fireworks AI · vLLM official Day 0 announcements</a:t>
            </a:r>
          </a:p>
        </p:txBody>
      </p:sp>
      <p:sp>
        <p:nvSpPr>
          <p:cNvPr id="49" name="text-37">
            <a:extLst>
              <a:ext uri="{FF2B5EF4-FFF2-40B4-BE49-F238E27FC236}">
                <a16:creationId xmlns:a16="http://schemas.microsoft.com/office/drawing/2014/main" id="{FC80C16C-74D2-438E-A193-00375958B926}"/>
              </a:ext>
            </a:extLst>
          </p:cNvPr>
          <p:cNvSpPr>
            <a:spLocks noGrp="1"/>
          </p:cNvSpPr>
          <p:nvPr/>
        </p:nvSpPr>
        <p:spPr>
          <a:xfrm>
            <a:off x="16998410" y="9848850"/>
            <a:ext cx="58474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4 / 43</a:t>
            </a:r>
          </a:p>
        </p:txBody>
      </p:sp>
    </p:spTree>
    <p:extLst>
      <p:ext uri="{BB962C8B-B14F-4D97-AF65-F5344CB8AC3E}">
        <p14:creationId xmlns:p14="http://schemas.microsoft.com/office/powerpoint/2010/main" val="125903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tml-shape-1">
            <a:extLst>
              <a:ext uri="{FF2B5EF4-FFF2-40B4-BE49-F238E27FC236}">
                <a16:creationId xmlns:a16="http://schemas.microsoft.com/office/drawing/2014/main" id="{8E55F0DE-830C-443A-8D97-7F70FB738D1E}"/>
              </a:ext>
            </a:extLst>
          </p:cNvPr>
          <p:cNvSpPr>
            <a:spLocks noGrp="1"/>
          </p:cNvSpPr>
          <p:nvPr/>
        </p:nvSpPr>
        <p:spPr>
          <a:xfrm>
            <a:off x="771525" y="2928938"/>
            <a:ext cx="5353050" cy="5214938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html-shape-9">
            <a:extLst>
              <a:ext uri="{FF2B5EF4-FFF2-40B4-BE49-F238E27FC236}">
                <a16:creationId xmlns:a16="http://schemas.microsoft.com/office/drawing/2014/main" id="{7C63E7DF-24B8-435E-8F4A-9BF3F8462CDC}"/>
              </a:ext>
            </a:extLst>
          </p:cNvPr>
          <p:cNvSpPr>
            <a:spLocks noGrp="1"/>
          </p:cNvSpPr>
          <p:nvPr/>
        </p:nvSpPr>
        <p:spPr>
          <a:xfrm>
            <a:off x="6467475" y="2928938"/>
            <a:ext cx="5353050" cy="5214938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html-shape-17">
            <a:extLst>
              <a:ext uri="{FF2B5EF4-FFF2-40B4-BE49-F238E27FC236}">
                <a16:creationId xmlns:a16="http://schemas.microsoft.com/office/drawing/2014/main" id="{7020CA4A-4B17-455B-9A28-7B4F3C6FA48E}"/>
              </a:ext>
            </a:extLst>
          </p:cNvPr>
          <p:cNvSpPr>
            <a:spLocks noGrp="1"/>
          </p:cNvSpPr>
          <p:nvPr/>
        </p:nvSpPr>
        <p:spPr>
          <a:xfrm>
            <a:off x="12163425" y="2928938"/>
            <a:ext cx="5353050" cy="5214938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html-shape-26">
            <a:extLst>
              <a:ext uri="{FF2B5EF4-FFF2-40B4-BE49-F238E27FC236}">
                <a16:creationId xmlns:a16="http://schemas.microsoft.com/office/drawing/2014/main" id="{86032960-22E6-4FAE-81A2-ACE6A3669F0A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5" name="border-2">
            <a:extLst>
              <a:ext uri="{FF2B5EF4-FFF2-40B4-BE49-F238E27FC236}">
                <a16:creationId xmlns:a16="http://schemas.microsoft.com/office/drawing/2014/main" id="{9817C7AA-6923-4332-9A4A-94C0F4FAF394}"/>
              </a:ext>
            </a:extLst>
          </p:cNvPr>
          <p:cNvSpPr>
            <a:spLocks noGrp="1"/>
          </p:cNvSpPr>
          <p:nvPr/>
        </p:nvSpPr>
        <p:spPr>
          <a:xfrm>
            <a:off x="771525" y="2928938"/>
            <a:ext cx="5353050" cy="6667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6" name="border-3">
            <a:extLst>
              <a:ext uri="{FF2B5EF4-FFF2-40B4-BE49-F238E27FC236}">
                <a16:creationId xmlns:a16="http://schemas.microsoft.com/office/drawing/2014/main" id="{2349BE4E-489F-4440-B78E-F849BF3C28B8}"/>
              </a:ext>
            </a:extLst>
          </p:cNvPr>
          <p:cNvSpPr>
            <a:spLocks noGrp="1"/>
          </p:cNvSpPr>
          <p:nvPr/>
        </p:nvSpPr>
        <p:spPr>
          <a:xfrm>
            <a:off x="6115050" y="2928938"/>
            <a:ext cx="9525" cy="5214938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7" name="border-4">
            <a:extLst>
              <a:ext uri="{FF2B5EF4-FFF2-40B4-BE49-F238E27FC236}">
                <a16:creationId xmlns:a16="http://schemas.microsoft.com/office/drawing/2014/main" id="{F4559ECC-CFF0-4BAE-A2AE-9778AFF43DC0}"/>
              </a:ext>
            </a:extLst>
          </p:cNvPr>
          <p:cNvSpPr>
            <a:spLocks noGrp="1"/>
          </p:cNvSpPr>
          <p:nvPr/>
        </p:nvSpPr>
        <p:spPr>
          <a:xfrm>
            <a:off x="771525" y="8134350"/>
            <a:ext cx="53530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8" name="border-5">
            <a:extLst>
              <a:ext uri="{FF2B5EF4-FFF2-40B4-BE49-F238E27FC236}">
                <a16:creationId xmlns:a16="http://schemas.microsoft.com/office/drawing/2014/main" id="{96FF9578-8B97-444E-8AE0-9ADC42CF8270}"/>
              </a:ext>
            </a:extLst>
          </p:cNvPr>
          <p:cNvSpPr>
            <a:spLocks noGrp="1"/>
          </p:cNvSpPr>
          <p:nvPr/>
        </p:nvSpPr>
        <p:spPr>
          <a:xfrm>
            <a:off x="771525" y="2928938"/>
            <a:ext cx="9525" cy="5214938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9" name="html-shape-6">
            <a:extLst>
              <a:ext uri="{FF2B5EF4-FFF2-40B4-BE49-F238E27FC236}">
                <a16:creationId xmlns:a16="http://schemas.microsoft.com/office/drawing/2014/main" id="{FEF282C8-665F-4A33-8211-6672D3AD0606}"/>
              </a:ext>
            </a:extLst>
          </p:cNvPr>
          <p:cNvSpPr>
            <a:spLocks noGrp="1"/>
          </p:cNvSpPr>
          <p:nvPr/>
        </p:nvSpPr>
        <p:spPr>
          <a:xfrm>
            <a:off x="1152525" y="6631496"/>
            <a:ext cx="1574768" cy="400050"/>
          </a:xfrm>
          <a:prstGeom prst="roundRect">
            <a:avLst>
              <a:gd name="adj" fmla="val 21429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10" name="html-shape-7">
            <a:extLst>
              <a:ext uri="{FF2B5EF4-FFF2-40B4-BE49-F238E27FC236}">
                <a16:creationId xmlns:a16="http://schemas.microsoft.com/office/drawing/2014/main" id="{76E542E6-5B48-4ECE-85BF-262EA561A5C4}"/>
              </a:ext>
            </a:extLst>
          </p:cNvPr>
          <p:cNvSpPr>
            <a:spLocks noGrp="1"/>
          </p:cNvSpPr>
          <p:nvPr/>
        </p:nvSpPr>
        <p:spPr>
          <a:xfrm>
            <a:off x="2841593" y="6631496"/>
            <a:ext cx="785622" cy="400050"/>
          </a:xfrm>
          <a:prstGeom prst="roundRect">
            <a:avLst>
              <a:gd name="adj" fmla="val 21429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11" name="html-shape-8">
            <a:extLst>
              <a:ext uri="{FF2B5EF4-FFF2-40B4-BE49-F238E27FC236}">
                <a16:creationId xmlns:a16="http://schemas.microsoft.com/office/drawing/2014/main" id="{E72D7EC6-EF2F-47E4-B871-44141226FA62}"/>
              </a:ext>
            </a:extLst>
          </p:cNvPr>
          <p:cNvSpPr>
            <a:spLocks noGrp="1"/>
          </p:cNvSpPr>
          <p:nvPr/>
        </p:nvSpPr>
        <p:spPr>
          <a:xfrm>
            <a:off x="3741515" y="6631496"/>
            <a:ext cx="1774222" cy="400050"/>
          </a:xfrm>
          <a:prstGeom prst="roundRect">
            <a:avLst>
              <a:gd name="adj" fmla="val 21429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12" name="border-10">
            <a:extLst>
              <a:ext uri="{FF2B5EF4-FFF2-40B4-BE49-F238E27FC236}">
                <a16:creationId xmlns:a16="http://schemas.microsoft.com/office/drawing/2014/main" id="{12B7AE8D-F233-4A64-8BCF-04FE46812F1A}"/>
              </a:ext>
            </a:extLst>
          </p:cNvPr>
          <p:cNvSpPr>
            <a:spLocks noGrp="1"/>
          </p:cNvSpPr>
          <p:nvPr/>
        </p:nvSpPr>
        <p:spPr>
          <a:xfrm>
            <a:off x="6467475" y="2928938"/>
            <a:ext cx="5353050" cy="66675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3" name="border-11">
            <a:extLst>
              <a:ext uri="{FF2B5EF4-FFF2-40B4-BE49-F238E27FC236}">
                <a16:creationId xmlns:a16="http://schemas.microsoft.com/office/drawing/2014/main" id="{8DDEA1AB-9BD7-4D37-82B9-3A2B137A7293}"/>
              </a:ext>
            </a:extLst>
          </p:cNvPr>
          <p:cNvSpPr>
            <a:spLocks noGrp="1"/>
          </p:cNvSpPr>
          <p:nvPr/>
        </p:nvSpPr>
        <p:spPr>
          <a:xfrm>
            <a:off x="11811000" y="2928938"/>
            <a:ext cx="9525" cy="5214938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" name="border-12">
            <a:extLst>
              <a:ext uri="{FF2B5EF4-FFF2-40B4-BE49-F238E27FC236}">
                <a16:creationId xmlns:a16="http://schemas.microsoft.com/office/drawing/2014/main" id="{23231F5A-5766-4EAE-B6A3-3290CF237641}"/>
              </a:ext>
            </a:extLst>
          </p:cNvPr>
          <p:cNvSpPr>
            <a:spLocks noGrp="1"/>
          </p:cNvSpPr>
          <p:nvPr/>
        </p:nvSpPr>
        <p:spPr>
          <a:xfrm>
            <a:off x="6467475" y="8134350"/>
            <a:ext cx="53530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5" name="border-13">
            <a:extLst>
              <a:ext uri="{FF2B5EF4-FFF2-40B4-BE49-F238E27FC236}">
                <a16:creationId xmlns:a16="http://schemas.microsoft.com/office/drawing/2014/main" id="{3AE506A2-59B7-4A09-976F-1B62C296E6B3}"/>
              </a:ext>
            </a:extLst>
          </p:cNvPr>
          <p:cNvSpPr>
            <a:spLocks noGrp="1"/>
          </p:cNvSpPr>
          <p:nvPr/>
        </p:nvSpPr>
        <p:spPr>
          <a:xfrm>
            <a:off x="6467475" y="2928938"/>
            <a:ext cx="9525" cy="5214938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6" name="html-shape-14">
            <a:extLst>
              <a:ext uri="{FF2B5EF4-FFF2-40B4-BE49-F238E27FC236}">
                <a16:creationId xmlns:a16="http://schemas.microsoft.com/office/drawing/2014/main" id="{24BB75E4-9D79-4031-959D-97E4E52D887F}"/>
              </a:ext>
            </a:extLst>
          </p:cNvPr>
          <p:cNvSpPr>
            <a:spLocks noGrp="1"/>
          </p:cNvSpPr>
          <p:nvPr/>
        </p:nvSpPr>
        <p:spPr>
          <a:xfrm>
            <a:off x="6848475" y="6631496"/>
            <a:ext cx="1823180" cy="400050"/>
          </a:xfrm>
          <a:prstGeom prst="roundRect">
            <a:avLst>
              <a:gd name="adj" fmla="val 21429"/>
            </a:avLst>
          </a:prstGeom>
          <a:solidFill>
            <a:srgbClr val="E9EFFF"/>
          </a:solidFill>
          <a:ln w="0">
            <a:noFill/>
            <a:prstDash val="solid"/>
          </a:ln>
        </p:spPr>
      </p:sp>
      <p:sp>
        <p:nvSpPr>
          <p:cNvPr id="17" name="html-shape-15">
            <a:extLst>
              <a:ext uri="{FF2B5EF4-FFF2-40B4-BE49-F238E27FC236}">
                <a16:creationId xmlns:a16="http://schemas.microsoft.com/office/drawing/2014/main" id="{1EE2977D-77BC-4E50-8DA7-59F209F68A09}"/>
              </a:ext>
            </a:extLst>
          </p:cNvPr>
          <p:cNvSpPr>
            <a:spLocks noGrp="1"/>
          </p:cNvSpPr>
          <p:nvPr/>
        </p:nvSpPr>
        <p:spPr>
          <a:xfrm>
            <a:off x="8785955" y="6631496"/>
            <a:ext cx="887730" cy="400050"/>
          </a:xfrm>
          <a:prstGeom prst="roundRect">
            <a:avLst>
              <a:gd name="adj" fmla="val 21429"/>
            </a:avLst>
          </a:prstGeom>
          <a:solidFill>
            <a:srgbClr val="E9EFFF"/>
          </a:solidFill>
          <a:ln w="0">
            <a:noFill/>
            <a:prstDash val="solid"/>
          </a:ln>
        </p:spPr>
      </p:sp>
      <p:sp>
        <p:nvSpPr>
          <p:cNvPr id="18" name="html-shape-16">
            <a:extLst>
              <a:ext uri="{FF2B5EF4-FFF2-40B4-BE49-F238E27FC236}">
                <a16:creationId xmlns:a16="http://schemas.microsoft.com/office/drawing/2014/main" id="{09661BCD-0099-461D-AD97-A3EEC5DC28A4}"/>
              </a:ext>
            </a:extLst>
          </p:cNvPr>
          <p:cNvSpPr>
            <a:spLocks noGrp="1"/>
          </p:cNvSpPr>
          <p:nvPr/>
        </p:nvSpPr>
        <p:spPr>
          <a:xfrm>
            <a:off x="9787985" y="6631496"/>
            <a:ext cx="1418082" cy="400050"/>
          </a:xfrm>
          <a:prstGeom prst="roundRect">
            <a:avLst>
              <a:gd name="adj" fmla="val 21429"/>
            </a:avLst>
          </a:prstGeom>
          <a:solidFill>
            <a:srgbClr val="E9EFFF"/>
          </a:solidFill>
          <a:ln w="0">
            <a:noFill/>
            <a:prstDash val="solid"/>
          </a:ln>
        </p:spPr>
      </p:sp>
      <p:sp>
        <p:nvSpPr>
          <p:cNvPr id="19" name="border-18">
            <a:extLst>
              <a:ext uri="{FF2B5EF4-FFF2-40B4-BE49-F238E27FC236}">
                <a16:creationId xmlns:a16="http://schemas.microsoft.com/office/drawing/2014/main" id="{66EF19ED-D619-40AC-843E-678318B1E8AA}"/>
              </a:ext>
            </a:extLst>
          </p:cNvPr>
          <p:cNvSpPr>
            <a:spLocks noGrp="1"/>
          </p:cNvSpPr>
          <p:nvPr/>
        </p:nvSpPr>
        <p:spPr>
          <a:xfrm>
            <a:off x="12163425" y="2928938"/>
            <a:ext cx="5353050" cy="6667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0" name="border-19">
            <a:extLst>
              <a:ext uri="{FF2B5EF4-FFF2-40B4-BE49-F238E27FC236}">
                <a16:creationId xmlns:a16="http://schemas.microsoft.com/office/drawing/2014/main" id="{6862C6F3-BCF9-4FF5-954D-8EB754171F54}"/>
              </a:ext>
            </a:extLst>
          </p:cNvPr>
          <p:cNvSpPr>
            <a:spLocks noGrp="1"/>
          </p:cNvSpPr>
          <p:nvPr/>
        </p:nvSpPr>
        <p:spPr>
          <a:xfrm>
            <a:off x="17506950" y="2928938"/>
            <a:ext cx="9525" cy="5214938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1" name="border-20">
            <a:extLst>
              <a:ext uri="{FF2B5EF4-FFF2-40B4-BE49-F238E27FC236}">
                <a16:creationId xmlns:a16="http://schemas.microsoft.com/office/drawing/2014/main" id="{DAB2A13F-8379-4530-98B2-ADFDC0F6DC81}"/>
              </a:ext>
            </a:extLst>
          </p:cNvPr>
          <p:cNvSpPr>
            <a:spLocks noGrp="1"/>
          </p:cNvSpPr>
          <p:nvPr/>
        </p:nvSpPr>
        <p:spPr>
          <a:xfrm>
            <a:off x="12163425" y="8134350"/>
            <a:ext cx="53530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2" name="border-21">
            <a:extLst>
              <a:ext uri="{FF2B5EF4-FFF2-40B4-BE49-F238E27FC236}">
                <a16:creationId xmlns:a16="http://schemas.microsoft.com/office/drawing/2014/main" id="{74F27D3C-F945-4DFD-8479-9917A8EE4FC4}"/>
              </a:ext>
            </a:extLst>
          </p:cNvPr>
          <p:cNvSpPr>
            <a:spLocks noGrp="1"/>
          </p:cNvSpPr>
          <p:nvPr/>
        </p:nvSpPr>
        <p:spPr>
          <a:xfrm>
            <a:off x="12163425" y="2928938"/>
            <a:ext cx="9525" cy="5214938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3" name="html-shape-22">
            <a:extLst>
              <a:ext uri="{FF2B5EF4-FFF2-40B4-BE49-F238E27FC236}">
                <a16:creationId xmlns:a16="http://schemas.microsoft.com/office/drawing/2014/main" id="{5CC0F3F3-6BA4-498E-9EDA-51E7C3BB4B72}"/>
              </a:ext>
            </a:extLst>
          </p:cNvPr>
          <p:cNvSpPr>
            <a:spLocks noGrp="1"/>
          </p:cNvSpPr>
          <p:nvPr/>
        </p:nvSpPr>
        <p:spPr>
          <a:xfrm>
            <a:off x="12544425" y="6631496"/>
            <a:ext cx="771239" cy="400050"/>
          </a:xfrm>
          <a:prstGeom prst="roundRect">
            <a:avLst>
              <a:gd name="adj" fmla="val 21429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24" name="html-shape-23">
            <a:extLst>
              <a:ext uri="{FF2B5EF4-FFF2-40B4-BE49-F238E27FC236}">
                <a16:creationId xmlns:a16="http://schemas.microsoft.com/office/drawing/2014/main" id="{7E98B1ED-E54B-4755-9B02-8FF4DD413813}"/>
              </a:ext>
            </a:extLst>
          </p:cNvPr>
          <p:cNvSpPr>
            <a:spLocks noGrp="1"/>
          </p:cNvSpPr>
          <p:nvPr/>
        </p:nvSpPr>
        <p:spPr>
          <a:xfrm>
            <a:off x="13429964" y="6631496"/>
            <a:ext cx="1401985" cy="400050"/>
          </a:xfrm>
          <a:prstGeom prst="roundRect">
            <a:avLst>
              <a:gd name="adj" fmla="val 21429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25" name="html-shape-24">
            <a:extLst>
              <a:ext uri="{FF2B5EF4-FFF2-40B4-BE49-F238E27FC236}">
                <a16:creationId xmlns:a16="http://schemas.microsoft.com/office/drawing/2014/main" id="{5B4EA3AA-EC88-4C3F-AEAF-3E11702A9C6A}"/>
              </a:ext>
            </a:extLst>
          </p:cNvPr>
          <p:cNvSpPr>
            <a:spLocks noGrp="1"/>
          </p:cNvSpPr>
          <p:nvPr/>
        </p:nvSpPr>
        <p:spPr>
          <a:xfrm>
            <a:off x="14946249" y="6631496"/>
            <a:ext cx="1380554" cy="400050"/>
          </a:xfrm>
          <a:prstGeom prst="roundRect">
            <a:avLst>
              <a:gd name="adj" fmla="val 21429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26" name="html-shape-25">
            <a:extLst>
              <a:ext uri="{FF2B5EF4-FFF2-40B4-BE49-F238E27FC236}">
                <a16:creationId xmlns:a16="http://schemas.microsoft.com/office/drawing/2014/main" id="{7BAAAD25-F9B2-4A93-97B9-6BA791B51B32}"/>
              </a:ext>
            </a:extLst>
          </p:cNvPr>
          <p:cNvSpPr>
            <a:spLocks noGrp="1"/>
          </p:cNvSpPr>
          <p:nvPr/>
        </p:nvSpPr>
        <p:spPr>
          <a:xfrm>
            <a:off x="16441007" y="6631496"/>
            <a:ext cx="689515" cy="400050"/>
          </a:xfrm>
          <a:prstGeom prst="roundRect">
            <a:avLst>
              <a:gd name="adj" fmla="val 21429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B2EE66C-8130-4153-953E-17864A75C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6498014C-CD21-4031-B674-F9B247918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29" name="text-1">
            <a:extLst>
              <a:ext uri="{FF2B5EF4-FFF2-40B4-BE49-F238E27FC236}">
                <a16:creationId xmlns:a16="http://schemas.microsoft.com/office/drawing/2014/main" id="{016D5637-E322-409E-8C87-9AF76FDA457F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30" name="text-2">
            <a:extLst>
              <a:ext uri="{FF2B5EF4-FFF2-40B4-BE49-F238E27FC236}">
                <a16:creationId xmlns:a16="http://schemas.microsoft.com/office/drawing/2014/main" id="{EEBB1021-AE84-41D4-B0E8-F9C2574761E4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18264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第一章 · 用户目标</a:t>
            </a:r>
          </a:p>
        </p:txBody>
      </p:sp>
      <p:sp>
        <p:nvSpPr>
          <p:cNvPr id="31" name="text-3">
            <a:extLst>
              <a:ext uri="{FF2B5EF4-FFF2-40B4-BE49-F238E27FC236}">
                <a16:creationId xmlns:a16="http://schemas.microsoft.com/office/drawing/2014/main" id="{9502B96B-10EC-4E87-B15F-252B118B3D19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2603671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337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高质量 Token 服务取决于模型能力与交付质量</a:t>
            </a:r>
          </a:p>
        </p:txBody>
      </p:sp>
      <p:sp>
        <p:nvSpPr>
          <p:cNvPr id="32" name="text-4">
            <a:extLst>
              <a:ext uri="{FF2B5EF4-FFF2-40B4-BE49-F238E27FC236}">
                <a16:creationId xmlns:a16="http://schemas.microsoft.com/office/drawing/2014/main" id="{31673B39-3AAB-4143-9AD5-7BC347DC8E77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1013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上下文长度决定任务信息覆盖范围，输出时延与稳定性决定实际服务体验</a:t>
            </a:r>
          </a:p>
        </p:txBody>
      </p:sp>
      <p:sp>
        <p:nvSpPr>
          <p:cNvPr id="33" name="text-5">
            <a:extLst>
              <a:ext uri="{FF2B5EF4-FFF2-40B4-BE49-F238E27FC236}">
                <a16:creationId xmlns:a16="http://schemas.microsoft.com/office/drawing/2014/main" id="{322C0CB7-0909-46E4-87AE-C4FAD0F3F45E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1967198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 · CAPABILITY</a:t>
            </a:r>
          </a:p>
        </p:txBody>
      </p:sp>
      <p:sp>
        <p:nvSpPr>
          <p:cNvPr id="34" name="text-6">
            <a:extLst>
              <a:ext uri="{FF2B5EF4-FFF2-40B4-BE49-F238E27FC236}">
                <a16:creationId xmlns:a16="http://schemas.microsoft.com/office/drawing/2014/main" id="{9EB9DA92-B4BF-4CA2-9B27-F9729E624F45}"/>
              </a:ext>
            </a:extLst>
          </p:cNvPr>
          <p:cNvSpPr>
            <a:spLocks noGrp="1"/>
          </p:cNvSpPr>
          <p:nvPr/>
        </p:nvSpPr>
        <p:spPr>
          <a:xfrm>
            <a:off x="1143000" y="3762375"/>
            <a:ext cx="10763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93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93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93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能力</a:t>
            </a:r>
          </a:p>
        </p:txBody>
      </p:sp>
      <p:sp>
        <p:nvSpPr>
          <p:cNvPr id="35" name="text-7">
            <a:extLst>
              <a:ext uri="{FF2B5EF4-FFF2-40B4-BE49-F238E27FC236}">
                <a16:creationId xmlns:a16="http://schemas.microsoft.com/office/drawing/2014/main" id="{10077CF3-8F28-4D50-942B-34125C4F5D89}"/>
              </a:ext>
            </a:extLst>
          </p:cNvPr>
          <p:cNvSpPr>
            <a:spLocks noGrp="1"/>
          </p:cNvSpPr>
          <p:nvPr/>
        </p:nvSpPr>
        <p:spPr>
          <a:xfrm>
            <a:off x="1143000" y="4689920"/>
            <a:ext cx="27051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88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88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88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决定任务完成能力</a:t>
            </a:r>
          </a:p>
        </p:txBody>
      </p:sp>
      <p:sp>
        <p:nvSpPr>
          <p:cNvPr id="36" name="text-8">
            <a:extLst>
              <a:ext uri="{FF2B5EF4-FFF2-40B4-BE49-F238E27FC236}">
                <a16:creationId xmlns:a16="http://schemas.microsoft.com/office/drawing/2014/main" id="{1CAD7D6B-C8DB-45B0-A3FA-6750498408CE}"/>
              </a:ext>
            </a:extLst>
          </p:cNvPr>
          <p:cNvSpPr>
            <a:spLocks noGrp="1"/>
          </p:cNvSpPr>
          <p:nvPr/>
        </p:nvSpPr>
        <p:spPr>
          <a:xfrm>
            <a:off x="1143000" y="5315807"/>
            <a:ext cx="387477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理解、推理、Coding 与工具调用。</a:t>
            </a:r>
          </a:p>
        </p:txBody>
      </p:sp>
      <p:sp>
        <p:nvSpPr>
          <p:cNvPr id="37" name="text-9">
            <a:extLst>
              <a:ext uri="{FF2B5EF4-FFF2-40B4-BE49-F238E27FC236}">
                <a16:creationId xmlns:a16="http://schemas.microsoft.com/office/drawing/2014/main" id="{12396BAB-FF2C-4F79-A608-FE454381ACEE}"/>
              </a:ext>
            </a:extLst>
          </p:cNvPr>
          <p:cNvSpPr>
            <a:spLocks noGrp="1"/>
          </p:cNvSpPr>
          <p:nvPr/>
        </p:nvSpPr>
        <p:spPr>
          <a:xfrm>
            <a:off x="1285875" y="6693408"/>
            <a:ext cx="136521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Task success</a:t>
            </a:r>
          </a:p>
        </p:txBody>
      </p:sp>
      <p:sp>
        <p:nvSpPr>
          <p:cNvPr id="38" name="text-10">
            <a:extLst>
              <a:ext uri="{FF2B5EF4-FFF2-40B4-BE49-F238E27FC236}">
                <a16:creationId xmlns:a16="http://schemas.microsoft.com/office/drawing/2014/main" id="{8DA835D7-9C23-41DF-BDD5-B39FBA6BAC80}"/>
              </a:ext>
            </a:extLst>
          </p:cNvPr>
          <p:cNvSpPr>
            <a:spLocks noGrp="1"/>
          </p:cNvSpPr>
          <p:nvPr/>
        </p:nvSpPr>
        <p:spPr>
          <a:xfrm>
            <a:off x="2974943" y="6693408"/>
            <a:ext cx="576072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Evals</a:t>
            </a:r>
          </a:p>
        </p:txBody>
      </p:sp>
      <p:sp>
        <p:nvSpPr>
          <p:cNvPr id="39" name="text-11">
            <a:extLst>
              <a:ext uri="{FF2B5EF4-FFF2-40B4-BE49-F238E27FC236}">
                <a16:creationId xmlns:a16="http://schemas.microsoft.com/office/drawing/2014/main" id="{A720DE55-D926-4396-B833-6000091CDB52}"/>
              </a:ext>
            </a:extLst>
          </p:cNvPr>
          <p:cNvSpPr>
            <a:spLocks noGrp="1"/>
          </p:cNvSpPr>
          <p:nvPr/>
        </p:nvSpPr>
        <p:spPr>
          <a:xfrm>
            <a:off x="3874865" y="6693408"/>
            <a:ext cx="1564672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Active compute</a:t>
            </a:r>
          </a:p>
        </p:txBody>
      </p:sp>
      <p:sp>
        <p:nvSpPr>
          <p:cNvPr id="40" name="text-12">
            <a:extLst>
              <a:ext uri="{FF2B5EF4-FFF2-40B4-BE49-F238E27FC236}">
                <a16:creationId xmlns:a16="http://schemas.microsoft.com/office/drawing/2014/main" id="{10D4C5B8-4485-4450-87BD-C754D36FC5E7}"/>
              </a:ext>
            </a:extLst>
          </p:cNvPr>
          <p:cNvSpPr>
            <a:spLocks noGrp="1"/>
          </p:cNvSpPr>
          <p:nvPr/>
        </p:nvSpPr>
        <p:spPr>
          <a:xfrm>
            <a:off x="6838950" y="3352800"/>
            <a:ext cx="174383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spc="9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spc="9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spc="9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02 · CONTEXT</a:t>
            </a:r>
          </a:p>
        </p:txBody>
      </p:sp>
      <p:sp>
        <p:nvSpPr>
          <p:cNvPr id="41" name="text-13">
            <a:extLst>
              <a:ext uri="{FF2B5EF4-FFF2-40B4-BE49-F238E27FC236}">
                <a16:creationId xmlns:a16="http://schemas.microsoft.com/office/drawing/2014/main" id="{0EFA5DC6-E30F-4AB2-B4A9-1EDC18161130}"/>
              </a:ext>
            </a:extLst>
          </p:cNvPr>
          <p:cNvSpPr>
            <a:spLocks noGrp="1"/>
          </p:cNvSpPr>
          <p:nvPr/>
        </p:nvSpPr>
        <p:spPr>
          <a:xfrm>
            <a:off x="6838950" y="3762375"/>
            <a:ext cx="2576513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938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938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938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上下文长度</a:t>
            </a:r>
          </a:p>
        </p:txBody>
      </p:sp>
      <p:sp>
        <p:nvSpPr>
          <p:cNvPr id="42" name="text-14">
            <a:extLst>
              <a:ext uri="{FF2B5EF4-FFF2-40B4-BE49-F238E27FC236}">
                <a16:creationId xmlns:a16="http://schemas.microsoft.com/office/drawing/2014/main" id="{EFC3CD5C-D122-4D91-86C6-B97C06E6F8F0}"/>
              </a:ext>
            </a:extLst>
          </p:cNvPr>
          <p:cNvSpPr>
            <a:spLocks noGrp="1"/>
          </p:cNvSpPr>
          <p:nvPr/>
        </p:nvSpPr>
        <p:spPr>
          <a:xfrm>
            <a:off x="6838950" y="4689920"/>
            <a:ext cx="33623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88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88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88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决定任务信息覆盖范围</a:t>
            </a:r>
          </a:p>
        </p:txBody>
      </p:sp>
      <p:sp>
        <p:nvSpPr>
          <p:cNvPr id="43" name="text-15">
            <a:extLst>
              <a:ext uri="{FF2B5EF4-FFF2-40B4-BE49-F238E27FC236}">
                <a16:creationId xmlns:a16="http://schemas.microsoft.com/office/drawing/2014/main" id="{A579046B-68DD-415D-AB58-36E4A01C3803}"/>
              </a:ext>
            </a:extLst>
          </p:cNvPr>
          <p:cNvSpPr>
            <a:spLocks noGrp="1"/>
          </p:cNvSpPr>
          <p:nvPr/>
        </p:nvSpPr>
        <p:spPr>
          <a:xfrm>
            <a:off x="6838950" y="5315807"/>
            <a:ext cx="44481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长文档、代码库、工具定义与多轮历史。</a:t>
            </a:r>
          </a:p>
        </p:txBody>
      </p:sp>
      <p:sp>
        <p:nvSpPr>
          <p:cNvPr id="44" name="text-16">
            <a:extLst>
              <a:ext uri="{FF2B5EF4-FFF2-40B4-BE49-F238E27FC236}">
                <a16:creationId xmlns:a16="http://schemas.microsoft.com/office/drawing/2014/main" id="{95996F0D-AB91-482D-AB53-18F836CAF17C}"/>
              </a:ext>
            </a:extLst>
          </p:cNvPr>
          <p:cNvSpPr>
            <a:spLocks noGrp="1"/>
          </p:cNvSpPr>
          <p:nvPr/>
        </p:nvSpPr>
        <p:spPr>
          <a:xfrm>
            <a:off x="6981825" y="6693408"/>
            <a:ext cx="161363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Context window</a:t>
            </a:r>
          </a:p>
        </p:txBody>
      </p:sp>
      <p:sp>
        <p:nvSpPr>
          <p:cNvPr id="45" name="text-17">
            <a:extLst>
              <a:ext uri="{FF2B5EF4-FFF2-40B4-BE49-F238E27FC236}">
                <a16:creationId xmlns:a16="http://schemas.microsoft.com/office/drawing/2014/main" id="{5D193789-19C8-49B4-9238-A4E8AA70198A}"/>
              </a:ext>
            </a:extLst>
          </p:cNvPr>
          <p:cNvSpPr>
            <a:spLocks noGrp="1"/>
          </p:cNvSpPr>
          <p:nvPr/>
        </p:nvSpPr>
        <p:spPr>
          <a:xfrm>
            <a:off x="8919305" y="6693408"/>
            <a:ext cx="67818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Cache</a:t>
            </a:r>
          </a:p>
        </p:txBody>
      </p:sp>
      <p:sp>
        <p:nvSpPr>
          <p:cNvPr id="46" name="text-18">
            <a:extLst>
              <a:ext uri="{FF2B5EF4-FFF2-40B4-BE49-F238E27FC236}">
                <a16:creationId xmlns:a16="http://schemas.microsoft.com/office/drawing/2014/main" id="{812F50CB-16F3-4C81-9C24-88C3D94A02DC}"/>
              </a:ext>
            </a:extLst>
          </p:cNvPr>
          <p:cNvSpPr>
            <a:spLocks noGrp="1"/>
          </p:cNvSpPr>
          <p:nvPr/>
        </p:nvSpPr>
        <p:spPr>
          <a:xfrm>
            <a:off x="9921335" y="6693408"/>
            <a:ext cx="1208532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Input length</a:t>
            </a:r>
          </a:p>
        </p:txBody>
      </p:sp>
      <p:sp>
        <p:nvSpPr>
          <p:cNvPr id="47" name="text-19">
            <a:extLst>
              <a:ext uri="{FF2B5EF4-FFF2-40B4-BE49-F238E27FC236}">
                <a16:creationId xmlns:a16="http://schemas.microsoft.com/office/drawing/2014/main" id="{7D1AFDE1-73AB-4048-B2A9-38FA1F1E2429}"/>
              </a:ext>
            </a:extLst>
          </p:cNvPr>
          <p:cNvSpPr>
            <a:spLocks noGrp="1"/>
          </p:cNvSpPr>
          <p:nvPr/>
        </p:nvSpPr>
        <p:spPr>
          <a:xfrm>
            <a:off x="12534900" y="3352800"/>
            <a:ext cx="178203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03 · DELIVERY</a:t>
            </a:r>
          </a:p>
        </p:txBody>
      </p:sp>
      <p:sp>
        <p:nvSpPr>
          <p:cNvPr id="48" name="text-20">
            <a:extLst>
              <a:ext uri="{FF2B5EF4-FFF2-40B4-BE49-F238E27FC236}">
                <a16:creationId xmlns:a16="http://schemas.microsoft.com/office/drawing/2014/main" id="{96FC0725-A783-4F56-AB1B-E7A330303454}"/>
              </a:ext>
            </a:extLst>
          </p:cNvPr>
          <p:cNvSpPr>
            <a:spLocks noGrp="1"/>
          </p:cNvSpPr>
          <p:nvPr/>
        </p:nvSpPr>
        <p:spPr>
          <a:xfrm>
            <a:off x="12534900" y="3762375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938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938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938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输出体验</a:t>
            </a:r>
          </a:p>
        </p:txBody>
      </p:sp>
      <p:sp>
        <p:nvSpPr>
          <p:cNvPr id="49" name="text-21">
            <a:extLst>
              <a:ext uri="{FF2B5EF4-FFF2-40B4-BE49-F238E27FC236}">
                <a16:creationId xmlns:a16="http://schemas.microsoft.com/office/drawing/2014/main" id="{E58AC08D-931B-4938-AF2C-92F8E11C0281}"/>
              </a:ext>
            </a:extLst>
          </p:cNvPr>
          <p:cNvSpPr>
            <a:spLocks noGrp="1"/>
          </p:cNvSpPr>
          <p:nvPr/>
        </p:nvSpPr>
        <p:spPr>
          <a:xfrm>
            <a:off x="12534900" y="4689920"/>
            <a:ext cx="33623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88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88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88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决定服务响应与连续性</a:t>
            </a:r>
          </a:p>
        </p:txBody>
      </p:sp>
      <p:sp>
        <p:nvSpPr>
          <p:cNvPr id="50" name="text-22">
            <a:extLst>
              <a:ext uri="{FF2B5EF4-FFF2-40B4-BE49-F238E27FC236}">
                <a16:creationId xmlns:a16="http://schemas.microsoft.com/office/drawing/2014/main" id="{80C9E648-D7A4-42F0-A899-A457B32961D8}"/>
              </a:ext>
            </a:extLst>
          </p:cNvPr>
          <p:cNvSpPr>
            <a:spLocks noGrp="1"/>
          </p:cNvSpPr>
          <p:nvPr/>
        </p:nvSpPr>
        <p:spPr>
          <a:xfrm>
            <a:off x="12534900" y="5315807"/>
            <a:ext cx="420528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13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响应速度、持续输出、吞吐与稳定性。</a:t>
            </a:r>
          </a:p>
        </p:txBody>
      </p:sp>
      <p:sp>
        <p:nvSpPr>
          <p:cNvPr id="51" name="text-23">
            <a:extLst>
              <a:ext uri="{FF2B5EF4-FFF2-40B4-BE49-F238E27FC236}">
                <a16:creationId xmlns:a16="http://schemas.microsoft.com/office/drawing/2014/main" id="{EF7460C0-2372-4302-A1C7-6E7B93262519}"/>
              </a:ext>
            </a:extLst>
          </p:cNvPr>
          <p:cNvSpPr>
            <a:spLocks noGrp="1"/>
          </p:cNvSpPr>
          <p:nvPr/>
        </p:nvSpPr>
        <p:spPr>
          <a:xfrm>
            <a:off x="12677775" y="6693408"/>
            <a:ext cx="56168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TTFT</a:t>
            </a:r>
          </a:p>
        </p:txBody>
      </p:sp>
      <p:sp>
        <p:nvSpPr>
          <p:cNvPr id="52" name="text-24">
            <a:extLst>
              <a:ext uri="{FF2B5EF4-FFF2-40B4-BE49-F238E27FC236}">
                <a16:creationId xmlns:a16="http://schemas.microsoft.com/office/drawing/2014/main" id="{0DE857CB-DA9A-447C-9423-E56F2E3DF5EF}"/>
              </a:ext>
            </a:extLst>
          </p:cNvPr>
          <p:cNvSpPr>
            <a:spLocks noGrp="1"/>
          </p:cNvSpPr>
          <p:nvPr/>
        </p:nvSpPr>
        <p:spPr>
          <a:xfrm>
            <a:off x="13563314" y="6693408"/>
            <a:ext cx="119243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Interactivity</a:t>
            </a:r>
          </a:p>
        </p:txBody>
      </p:sp>
      <p:sp>
        <p:nvSpPr>
          <p:cNvPr id="53" name="text-25">
            <a:extLst>
              <a:ext uri="{FF2B5EF4-FFF2-40B4-BE49-F238E27FC236}">
                <a16:creationId xmlns:a16="http://schemas.microsoft.com/office/drawing/2014/main" id="{A7FDF041-186E-4462-822E-A3DD396FB39B}"/>
              </a:ext>
            </a:extLst>
          </p:cNvPr>
          <p:cNvSpPr>
            <a:spLocks noGrp="1"/>
          </p:cNvSpPr>
          <p:nvPr/>
        </p:nvSpPr>
        <p:spPr>
          <a:xfrm>
            <a:off x="15079599" y="6693408"/>
            <a:ext cx="1171004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Throughput</a:t>
            </a:r>
          </a:p>
        </p:txBody>
      </p:sp>
      <p:sp>
        <p:nvSpPr>
          <p:cNvPr id="54" name="text-26">
            <a:extLst>
              <a:ext uri="{FF2B5EF4-FFF2-40B4-BE49-F238E27FC236}">
                <a16:creationId xmlns:a16="http://schemas.microsoft.com/office/drawing/2014/main" id="{70BFF40B-9164-49E8-8D3D-E213212B91FD}"/>
              </a:ext>
            </a:extLst>
          </p:cNvPr>
          <p:cNvSpPr>
            <a:spLocks noGrp="1"/>
          </p:cNvSpPr>
          <p:nvPr/>
        </p:nvSpPr>
        <p:spPr>
          <a:xfrm>
            <a:off x="16574357" y="6693408"/>
            <a:ext cx="47996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SLO</a:t>
            </a:r>
          </a:p>
        </p:txBody>
      </p:sp>
      <p:sp>
        <p:nvSpPr>
          <p:cNvPr id="55" name="text-27">
            <a:extLst>
              <a:ext uri="{FF2B5EF4-FFF2-40B4-BE49-F238E27FC236}">
                <a16:creationId xmlns:a16="http://schemas.microsoft.com/office/drawing/2014/main" id="{9E849388-7492-4CF4-93A4-3770599A0AE4}"/>
              </a:ext>
            </a:extLst>
          </p:cNvPr>
          <p:cNvSpPr>
            <a:spLocks noGrp="1"/>
          </p:cNvSpPr>
          <p:nvPr/>
        </p:nvSpPr>
        <p:spPr>
          <a:xfrm>
            <a:off x="4424553" y="9063038"/>
            <a:ext cx="949594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63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63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63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高质量 Token 服务 = 模型能力 + 交付质量（上下文长度 + 输出体验）</a:t>
            </a:r>
          </a:p>
        </p:txBody>
      </p:sp>
      <p:sp>
        <p:nvSpPr>
          <p:cNvPr id="56" name="text-28">
            <a:extLst>
              <a:ext uri="{FF2B5EF4-FFF2-40B4-BE49-F238E27FC236}">
                <a16:creationId xmlns:a16="http://schemas.microsoft.com/office/drawing/2014/main" id="{8DC0D331-26FD-4EED-A2E7-E4E1493E7378}"/>
              </a:ext>
            </a:extLst>
          </p:cNvPr>
          <p:cNvSpPr>
            <a:spLocks noGrp="1"/>
          </p:cNvSpPr>
          <p:nvPr/>
        </p:nvSpPr>
        <p:spPr>
          <a:xfrm>
            <a:off x="776288" y="9865043"/>
            <a:ext cx="4633913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模型能力构成质量基础，上下文长度与输出体验共同决定交付质量</a:t>
            </a:r>
          </a:p>
        </p:txBody>
      </p:sp>
      <p:sp>
        <p:nvSpPr>
          <p:cNvPr id="57" name="text-29">
            <a:extLst>
              <a:ext uri="{FF2B5EF4-FFF2-40B4-BE49-F238E27FC236}">
                <a16:creationId xmlns:a16="http://schemas.microsoft.com/office/drawing/2014/main" id="{0A5B4F47-06B0-4A73-8376-26AD15807BC3}"/>
              </a:ext>
            </a:extLst>
          </p:cNvPr>
          <p:cNvSpPr>
            <a:spLocks noGrp="1"/>
          </p:cNvSpPr>
          <p:nvPr/>
        </p:nvSpPr>
        <p:spPr>
          <a:xfrm>
            <a:off x="16998410" y="9848850"/>
            <a:ext cx="58474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5 / 43</a:t>
            </a:r>
          </a:p>
        </p:txBody>
      </p:sp>
    </p:spTree>
    <p:extLst>
      <p:ext uri="{BB962C8B-B14F-4D97-AF65-F5344CB8AC3E}">
        <p14:creationId xmlns:p14="http://schemas.microsoft.com/office/powerpoint/2010/main" val="69879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html-shape-1">
            <a:extLst>
              <a:ext uri="{FF2B5EF4-FFF2-40B4-BE49-F238E27FC236}">
                <a16:creationId xmlns:a16="http://schemas.microsoft.com/office/drawing/2014/main" id="{B0004A23-DDBA-4CC8-9672-E384C1A5EF0D}"/>
              </a:ext>
            </a:extLst>
          </p:cNvPr>
          <p:cNvSpPr>
            <a:spLocks noGrp="1"/>
          </p:cNvSpPr>
          <p:nvPr/>
        </p:nvSpPr>
        <p:spPr>
          <a:xfrm>
            <a:off x="771525" y="3000375"/>
            <a:ext cx="4014788" cy="271462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html-shape-6">
            <a:extLst>
              <a:ext uri="{FF2B5EF4-FFF2-40B4-BE49-F238E27FC236}">
                <a16:creationId xmlns:a16="http://schemas.microsoft.com/office/drawing/2014/main" id="{317C5ECA-C2C7-441E-B6E8-DFC58D6841D6}"/>
              </a:ext>
            </a:extLst>
          </p:cNvPr>
          <p:cNvSpPr>
            <a:spLocks noGrp="1"/>
          </p:cNvSpPr>
          <p:nvPr/>
        </p:nvSpPr>
        <p:spPr>
          <a:xfrm>
            <a:off x="5014913" y="3000375"/>
            <a:ext cx="4014788" cy="271462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html-shape-11">
            <a:extLst>
              <a:ext uri="{FF2B5EF4-FFF2-40B4-BE49-F238E27FC236}">
                <a16:creationId xmlns:a16="http://schemas.microsoft.com/office/drawing/2014/main" id="{7BF0F737-DF56-4933-BD8B-50EC323A504C}"/>
              </a:ext>
            </a:extLst>
          </p:cNvPr>
          <p:cNvSpPr>
            <a:spLocks noGrp="1"/>
          </p:cNvSpPr>
          <p:nvPr/>
        </p:nvSpPr>
        <p:spPr>
          <a:xfrm>
            <a:off x="9258300" y="3000375"/>
            <a:ext cx="4014788" cy="271462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html-shape-16">
            <a:extLst>
              <a:ext uri="{FF2B5EF4-FFF2-40B4-BE49-F238E27FC236}">
                <a16:creationId xmlns:a16="http://schemas.microsoft.com/office/drawing/2014/main" id="{9661A247-3723-447E-ABF1-4ADE651F3A6F}"/>
              </a:ext>
            </a:extLst>
          </p:cNvPr>
          <p:cNvSpPr>
            <a:spLocks noGrp="1"/>
          </p:cNvSpPr>
          <p:nvPr/>
        </p:nvSpPr>
        <p:spPr>
          <a:xfrm>
            <a:off x="13501688" y="3000375"/>
            <a:ext cx="4014788" cy="271462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html-shape-21">
            <a:extLst>
              <a:ext uri="{FF2B5EF4-FFF2-40B4-BE49-F238E27FC236}">
                <a16:creationId xmlns:a16="http://schemas.microsoft.com/office/drawing/2014/main" id="{A5A76ED5-AA60-49EB-BA03-1D3960E22109}"/>
              </a:ext>
            </a:extLst>
          </p:cNvPr>
          <p:cNvSpPr>
            <a:spLocks noGrp="1"/>
          </p:cNvSpPr>
          <p:nvPr/>
        </p:nvSpPr>
        <p:spPr>
          <a:xfrm>
            <a:off x="771525" y="6000750"/>
            <a:ext cx="16744950" cy="3429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9780F4"/>
            </a:solidFill>
            <a:prstDash val="solid"/>
          </a:ln>
        </p:spPr>
      </p:sp>
      <p:sp>
        <p:nvSpPr>
          <p:cNvPr id="6" name="html-line-1">
            <a:extLst>
              <a:ext uri="{FF2B5EF4-FFF2-40B4-BE49-F238E27FC236}">
                <a16:creationId xmlns:a16="http://schemas.microsoft.com/office/drawing/2014/main" id="{7CCABD04-A9F0-4D36-9E14-299F39355C96}"/>
              </a:ext>
            </a:extLst>
          </p:cNvPr>
          <p:cNvSpPr>
            <a:spLocks noGrp="1"/>
          </p:cNvSpPr>
          <p:nvPr/>
        </p:nvSpPr>
        <p:spPr>
          <a:xfrm>
            <a:off x="7360444" y="6429375"/>
            <a:ext cx="4763" cy="2571750"/>
          </a:xfrm>
          <a:prstGeom prst="line">
            <a:avLst/>
          </a:prstGeom>
          <a:noFill/>
          <a:ln w="14288">
            <a:solidFill>
              <a:srgbClr val="C8BDF9"/>
            </a:solidFill>
            <a:prstDash val="solid"/>
          </a:ln>
        </p:spPr>
      </p:sp>
      <p:sp>
        <p:nvSpPr>
          <p:cNvPr id="7" name="border-2">
            <a:extLst>
              <a:ext uri="{FF2B5EF4-FFF2-40B4-BE49-F238E27FC236}">
                <a16:creationId xmlns:a16="http://schemas.microsoft.com/office/drawing/2014/main" id="{8AD1F21A-AD65-42A4-A4DE-DB227217DE23}"/>
              </a:ext>
            </a:extLst>
          </p:cNvPr>
          <p:cNvSpPr>
            <a:spLocks noGrp="1"/>
          </p:cNvSpPr>
          <p:nvPr/>
        </p:nvSpPr>
        <p:spPr>
          <a:xfrm>
            <a:off x="771525" y="3000375"/>
            <a:ext cx="4014788" cy="6667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8" name="border-3">
            <a:extLst>
              <a:ext uri="{FF2B5EF4-FFF2-40B4-BE49-F238E27FC236}">
                <a16:creationId xmlns:a16="http://schemas.microsoft.com/office/drawing/2014/main" id="{2506EC61-A1FC-4E17-8724-7260F9253095}"/>
              </a:ext>
            </a:extLst>
          </p:cNvPr>
          <p:cNvSpPr>
            <a:spLocks noGrp="1"/>
          </p:cNvSpPr>
          <p:nvPr/>
        </p:nvSpPr>
        <p:spPr>
          <a:xfrm>
            <a:off x="4776788" y="3000375"/>
            <a:ext cx="9525" cy="2714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9" name="border-4">
            <a:extLst>
              <a:ext uri="{FF2B5EF4-FFF2-40B4-BE49-F238E27FC236}">
                <a16:creationId xmlns:a16="http://schemas.microsoft.com/office/drawing/2014/main" id="{A92FD444-F0FA-4728-836B-6C63509E0E57}"/>
              </a:ext>
            </a:extLst>
          </p:cNvPr>
          <p:cNvSpPr>
            <a:spLocks noGrp="1"/>
          </p:cNvSpPr>
          <p:nvPr/>
        </p:nvSpPr>
        <p:spPr>
          <a:xfrm>
            <a:off x="771525" y="5705475"/>
            <a:ext cx="4014788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0" name="border-5">
            <a:extLst>
              <a:ext uri="{FF2B5EF4-FFF2-40B4-BE49-F238E27FC236}">
                <a16:creationId xmlns:a16="http://schemas.microsoft.com/office/drawing/2014/main" id="{FFE42F53-BA18-4BFE-B4FD-9198264D9C8D}"/>
              </a:ext>
            </a:extLst>
          </p:cNvPr>
          <p:cNvSpPr>
            <a:spLocks noGrp="1"/>
          </p:cNvSpPr>
          <p:nvPr/>
        </p:nvSpPr>
        <p:spPr>
          <a:xfrm>
            <a:off x="771525" y="3000375"/>
            <a:ext cx="9525" cy="2714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" name="border-7">
            <a:extLst>
              <a:ext uri="{FF2B5EF4-FFF2-40B4-BE49-F238E27FC236}">
                <a16:creationId xmlns:a16="http://schemas.microsoft.com/office/drawing/2014/main" id="{7680661B-FD2F-452E-BA4D-4AA8D93AD345}"/>
              </a:ext>
            </a:extLst>
          </p:cNvPr>
          <p:cNvSpPr>
            <a:spLocks noGrp="1"/>
          </p:cNvSpPr>
          <p:nvPr/>
        </p:nvSpPr>
        <p:spPr>
          <a:xfrm>
            <a:off x="5014913" y="3000375"/>
            <a:ext cx="4014788" cy="6667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2" name="border-8">
            <a:extLst>
              <a:ext uri="{FF2B5EF4-FFF2-40B4-BE49-F238E27FC236}">
                <a16:creationId xmlns:a16="http://schemas.microsoft.com/office/drawing/2014/main" id="{F7B61E6C-ACAB-4081-B9A1-0A87CD52AE05}"/>
              </a:ext>
            </a:extLst>
          </p:cNvPr>
          <p:cNvSpPr>
            <a:spLocks noGrp="1"/>
          </p:cNvSpPr>
          <p:nvPr/>
        </p:nvSpPr>
        <p:spPr>
          <a:xfrm>
            <a:off x="9020175" y="3000375"/>
            <a:ext cx="9525" cy="2714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3" name="border-9">
            <a:extLst>
              <a:ext uri="{FF2B5EF4-FFF2-40B4-BE49-F238E27FC236}">
                <a16:creationId xmlns:a16="http://schemas.microsoft.com/office/drawing/2014/main" id="{C7DB6B17-BAE7-4B65-AECC-0E5E819B96AC}"/>
              </a:ext>
            </a:extLst>
          </p:cNvPr>
          <p:cNvSpPr>
            <a:spLocks noGrp="1"/>
          </p:cNvSpPr>
          <p:nvPr/>
        </p:nvSpPr>
        <p:spPr>
          <a:xfrm>
            <a:off x="5014913" y="5705475"/>
            <a:ext cx="4014788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" name="border-10">
            <a:extLst>
              <a:ext uri="{FF2B5EF4-FFF2-40B4-BE49-F238E27FC236}">
                <a16:creationId xmlns:a16="http://schemas.microsoft.com/office/drawing/2014/main" id="{CCCDC554-DBAC-49CA-8823-60F843A46F4D}"/>
              </a:ext>
            </a:extLst>
          </p:cNvPr>
          <p:cNvSpPr>
            <a:spLocks noGrp="1"/>
          </p:cNvSpPr>
          <p:nvPr/>
        </p:nvSpPr>
        <p:spPr>
          <a:xfrm>
            <a:off x="5014913" y="3000375"/>
            <a:ext cx="9525" cy="2714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5" name="border-12">
            <a:extLst>
              <a:ext uri="{FF2B5EF4-FFF2-40B4-BE49-F238E27FC236}">
                <a16:creationId xmlns:a16="http://schemas.microsoft.com/office/drawing/2014/main" id="{F71D94B9-78DC-42FE-8069-3C3D9702A9AB}"/>
              </a:ext>
            </a:extLst>
          </p:cNvPr>
          <p:cNvSpPr>
            <a:spLocks noGrp="1"/>
          </p:cNvSpPr>
          <p:nvPr/>
        </p:nvSpPr>
        <p:spPr>
          <a:xfrm>
            <a:off x="9258300" y="3000375"/>
            <a:ext cx="4014788" cy="6667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6" name="border-13">
            <a:extLst>
              <a:ext uri="{FF2B5EF4-FFF2-40B4-BE49-F238E27FC236}">
                <a16:creationId xmlns:a16="http://schemas.microsoft.com/office/drawing/2014/main" id="{4A2F3AD8-9E5C-49BF-B6F7-C0279CC0689D}"/>
              </a:ext>
            </a:extLst>
          </p:cNvPr>
          <p:cNvSpPr>
            <a:spLocks noGrp="1"/>
          </p:cNvSpPr>
          <p:nvPr/>
        </p:nvSpPr>
        <p:spPr>
          <a:xfrm>
            <a:off x="13263563" y="3000375"/>
            <a:ext cx="9525" cy="2714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7" name="border-14">
            <a:extLst>
              <a:ext uri="{FF2B5EF4-FFF2-40B4-BE49-F238E27FC236}">
                <a16:creationId xmlns:a16="http://schemas.microsoft.com/office/drawing/2014/main" id="{BEFF55B1-63C2-431F-B2BE-5F059A22ACE0}"/>
              </a:ext>
            </a:extLst>
          </p:cNvPr>
          <p:cNvSpPr>
            <a:spLocks noGrp="1"/>
          </p:cNvSpPr>
          <p:nvPr/>
        </p:nvSpPr>
        <p:spPr>
          <a:xfrm>
            <a:off x="9258300" y="5705475"/>
            <a:ext cx="4014788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8" name="border-15">
            <a:extLst>
              <a:ext uri="{FF2B5EF4-FFF2-40B4-BE49-F238E27FC236}">
                <a16:creationId xmlns:a16="http://schemas.microsoft.com/office/drawing/2014/main" id="{66159314-01DB-4850-B9F9-290EF3982609}"/>
              </a:ext>
            </a:extLst>
          </p:cNvPr>
          <p:cNvSpPr>
            <a:spLocks noGrp="1"/>
          </p:cNvSpPr>
          <p:nvPr/>
        </p:nvSpPr>
        <p:spPr>
          <a:xfrm>
            <a:off x="9258300" y="3000375"/>
            <a:ext cx="9525" cy="2714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9" name="border-17">
            <a:extLst>
              <a:ext uri="{FF2B5EF4-FFF2-40B4-BE49-F238E27FC236}">
                <a16:creationId xmlns:a16="http://schemas.microsoft.com/office/drawing/2014/main" id="{B7E32D55-06DB-4E5F-AD6F-BE6A117A8956}"/>
              </a:ext>
            </a:extLst>
          </p:cNvPr>
          <p:cNvSpPr>
            <a:spLocks noGrp="1"/>
          </p:cNvSpPr>
          <p:nvPr/>
        </p:nvSpPr>
        <p:spPr>
          <a:xfrm>
            <a:off x="13501688" y="3000375"/>
            <a:ext cx="4014788" cy="6667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0" name="border-18">
            <a:extLst>
              <a:ext uri="{FF2B5EF4-FFF2-40B4-BE49-F238E27FC236}">
                <a16:creationId xmlns:a16="http://schemas.microsoft.com/office/drawing/2014/main" id="{C58E4BA2-6DF6-4254-920A-09FB6784C49B}"/>
              </a:ext>
            </a:extLst>
          </p:cNvPr>
          <p:cNvSpPr>
            <a:spLocks noGrp="1"/>
          </p:cNvSpPr>
          <p:nvPr/>
        </p:nvSpPr>
        <p:spPr>
          <a:xfrm>
            <a:off x="17506950" y="3000375"/>
            <a:ext cx="9525" cy="2714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1" name="border-19">
            <a:extLst>
              <a:ext uri="{FF2B5EF4-FFF2-40B4-BE49-F238E27FC236}">
                <a16:creationId xmlns:a16="http://schemas.microsoft.com/office/drawing/2014/main" id="{4DDF2201-8B4F-439F-A488-1090C4C8929E}"/>
              </a:ext>
            </a:extLst>
          </p:cNvPr>
          <p:cNvSpPr>
            <a:spLocks noGrp="1"/>
          </p:cNvSpPr>
          <p:nvPr/>
        </p:nvSpPr>
        <p:spPr>
          <a:xfrm>
            <a:off x="13501688" y="5705475"/>
            <a:ext cx="4014788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2" name="border-20">
            <a:extLst>
              <a:ext uri="{FF2B5EF4-FFF2-40B4-BE49-F238E27FC236}">
                <a16:creationId xmlns:a16="http://schemas.microsoft.com/office/drawing/2014/main" id="{0F06A9D7-CE66-45DD-99E0-2786790635E6}"/>
              </a:ext>
            </a:extLst>
          </p:cNvPr>
          <p:cNvSpPr>
            <a:spLocks noGrp="1"/>
          </p:cNvSpPr>
          <p:nvPr/>
        </p:nvSpPr>
        <p:spPr>
          <a:xfrm>
            <a:off x="13501688" y="3000375"/>
            <a:ext cx="9525" cy="2714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23" name="图形 22">
            <a:extLst>
              <a:ext uri="{FF2B5EF4-FFF2-40B4-BE49-F238E27FC236}">
                <a16:creationId xmlns:a16="http://schemas.microsoft.com/office/drawing/2014/main" id="{990A27B8-2BF4-4AB4-82B1-4FED03E51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19200" y="7119938"/>
            <a:ext cx="1381125" cy="119062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87D7DF7-03C1-46E9-A03D-7CF99B370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53D3AF8-72F3-4850-A474-9882E4B37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26" name="text-1">
            <a:extLst>
              <a:ext uri="{FF2B5EF4-FFF2-40B4-BE49-F238E27FC236}">
                <a16:creationId xmlns:a16="http://schemas.microsoft.com/office/drawing/2014/main" id="{EB3E0AE4-FEC7-49FC-B5CD-2C26FF29BAB2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27" name="text-2">
            <a:extLst>
              <a:ext uri="{FF2B5EF4-FFF2-40B4-BE49-F238E27FC236}">
                <a16:creationId xmlns:a16="http://schemas.microsoft.com/office/drawing/2014/main" id="{8578F84F-A312-480F-A86E-7DE6F8FECD42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18264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第一章 · 用户目标</a:t>
            </a:r>
          </a:p>
        </p:txBody>
      </p:sp>
      <p:sp>
        <p:nvSpPr>
          <p:cNvPr id="28" name="text-3">
            <a:extLst>
              <a:ext uri="{FF2B5EF4-FFF2-40B4-BE49-F238E27FC236}">
                <a16:creationId xmlns:a16="http://schemas.microsoft.com/office/drawing/2014/main" id="{F435BC0F-8E50-400B-AB26-C5D6E5E5FA25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0157651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437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四个指标衡量 Token 服务的输出体验</a:t>
            </a:r>
          </a:p>
        </p:txBody>
      </p:sp>
      <p:sp>
        <p:nvSpPr>
          <p:cNvPr id="29" name="text-4">
            <a:extLst>
              <a:ext uri="{FF2B5EF4-FFF2-40B4-BE49-F238E27FC236}">
                <a16:creationId xmlns:a16="http://schemas.microsoft.com/office/drawing/2014/main" id="{7F6F3597-6458-4756-AFAE-1F9A4002B271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9505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上半部分给出技术定义，下半部分说明这些指标对应怎样的用户体验</a:t>
            </a:r>
          </a:p>
        </p:txBody>
      </p:sp>
      <p:sp>
        <p:nvSpPr>
          <p:cNvPr id="30" name="text-5">
            <a:extLst>
              <a:ext uri="{FF2B5EF4-FFF2-40B4-BE49-F238E27FC236}">
                <a16:creationId xmlns:a16="http://schemas.microsoft.com/office/drawing/2014/main" id="{9BA8905C-7125-4933-B553-A47E421197FC}"/>
              </a:ext>
            </a:extLst>
          </p:cNvPr>
          <p:cNvSpPr>
            <a:spLocks noGrp="1"/>
          </p:cNvSpPr>
          <p:nvPr/>
        </p:nvSpPr>
        <p:spPr>
          <a:xfrm>
            <a:off x="1038225" y="3257550"/>
            <a:ext cx="123777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63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63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63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USER WAIT</a:t>
            </a:r>
          </a:p>
        </p:txBody>
      </p:sp>
      <p:sp>
        <p:nvSpPr>
          <p:cNvPr id="31" name="text-6">
            <a:extLst>
              <a:ext uri="{FF2B5EF4-FFF2-40B4-BE49-F238E27FC236}">
                <a16:creationId xmlns:a16="http://schemas.microsoft.com/office/drawing/2014/main" id="{3F0014C9-31FF-40F5-BA78-CD29461BD4D5}"/>
              </a:ext>
            </a:extLst>
          </p:cNvPr>
          <p:cNvSpPr>
            <a:spLocks noGrp="1"/>
          </p:cNvSpPr>
          <p:nvPr/>
        </p:nvSpPr>
        <p:spPr>
          <a:xfrm>
            <a:off x="1038225" y="3519488"/>
            <a:ext cx="121710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825" b="1" i="0" spc="-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825" b="1" i="0" spc="-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825" b="1" i="0" spc="-7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TTFT</a:t>
            </a:r>
          </a:p>
        </p:txBody>
      </p:sp>
      <p:sp>
        <p:nvSpPr>
          <p:cNvPr id="32" name="text-7">
            <a:extLst>
              <a:ext uri="{FF2B5EF4-FFF2-40B4-BE49-F238E27FC236}">
                <a16:creationId xmlns:a16="http://schemas.microsoft.com/office/drawing/2014/main" id="{58DE8447-D23E-4C0B-85D3-AE17D0C13091}"/>
              </a:ext>
            </a:extLst>
          </p:cNvPr>
          <p:cNvSpPr>
            <a:spLocks noGrp="1"/>
          </p:cNvSpPr>
          <p:nvPr/>
        </p:nvSpPr>
        <p:spPr>
          <a:xfrm>
            <a:off x="1038225" y="4157663"/>
            <a:ext cx="195710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首 Token 延迟</a:t>
            </a:r>
          </a:p>
        </p:txBody>
      </p:sp>
      <p:sp>
        <p:nvSpPr>
          <p:cNvPr id="33" name="text-8">
            <a:extLst>
              <a:ext uri="{FF2B5EF4-FFF2-40B4-BE49-F238E27FC236}">
                <a16:creationId xmlns:a16="http://schemas.microsoft.com/office/drawing/2014/main" id="{32C7E2A0-085E-4B83-BEEC-E99331C2C47B}"/>
              </a:ext>
            </a:extLst>
          </p:cNvPr>
          <p:cNvSpPr>
            <a:spLocks noGrp="1"/>
          </p:cNvSpPr>
          <p:nvPr/>
        </p:nvSpPr>
        <p:spPr>
          <a:xfrm>
            <a:off x="1038225" y="4624388"/>
            <a:ext cx="3076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请求发出后，到收到第一个输出</a:t>
            </a:r>
          </a:p>
        </p:txBody>
      </p:sp>
      <p:sp>
        <p:nvSpPr>
          <p:cNvPr id="34" name="text-9">
            <a:extLst>
              <a:ext uri="{FF2B5EF4-FFF2-40B4-BE49-F238E27FC236}">
                <a16:creationId xmlns:a16="http://schemas.microsoft.com/office/drawing/2014/main" id="{851EDB7A-9E67-45B1-B187-EED3123BE16C}"/>
              </a:ext>
            </a:extLst>
          </p:cNvPr>
          <p:cNvSpPr>
            <a:spLocks noGrp="1"/>
          </p:cNvSpPr>
          <p:nvPr/>
        </p:nvSpPr>
        <p:spPr>
          <a:xfrm>
            <a:off x="1038225" y="4924425"/>
            <a:ext cx="161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Token 的时间。</a:t>
            </a:r>
          </a:p>
        </p:txBody>
      </p:sp>
      <p:sp>
        <p:nvSpPr>
          <p:cNvPr id="35" name="text-10">
            <a:extLst>
              <a:ext uri="{FF2B5EF4-FFF2-40B4-BE49-F238E27FC236}">
                <a16:creationId xmlns:a16="http://schemas.microsoft.com/office/drawing/2014/main" id="{ED3FF07F-54F0-4322-A56F-5D200AF6FD7E}"/>
              </a:ext>
            </a:extLst>
          </p:cNvPr>
          <p:cNvSpPr>
            <a:spLocks noGrp="1"/>
          </p:cNvSpPr>
          <p:nvPr/>
        </p:nvSpPr>
        <p:spPr>
          <a:xfrm>
            <a:off x="1038225" y="5262563"/>
            <a:ext cx="201472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rPr>
              <a:t>s / request · 越低越好</a:t>
            </a:r>
          </a:p>
        </p:txBody>
      </p:sp>
      <p:sp>
        <p:nvSpPr>
          <p:cNvPr id="36" name="text-11">
            <a:extLst>
              <a:ext uri="{FF2B5EF4-FFF2-40B4-BE49-F238E27FC236}">
                <a16:creationId xmlns:a16="http://schemas.microsoft.com/office/drawing/2014/main" id="{C4877C76-1FA1-4C98-96C9-3D7ADA96408F}"/>
              </a:ext>
            </a:extLst>
          </p:cNvPr>
          <p:cNvSpPr>
            <a:spLocks noGrp="1"/>
          </p:cNvSpPr>
          <p:nvPr/>
        </p:nvSpPr>
        <p:spPr>
          <a:xfrm>
            <a:off x="5281613" y="3257550"/>
            <a:ext cx="219389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63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63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63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GENERATION SPEED</a:t>
            </a:r>
          </a:p>
        </p:txBody>
      </p:sp>
      <p:sp>
        <p:nvSpPr>
          <p:cNvPr id="37" name="text-12">
            <a:extLst>
              <a:ext uri="{FF2B5EF4-FFF2-40B4-BE49-F238E27FC236}">
                <a16:creationId xmlns:a16="http://schemas.microsoft.com/office/drawing/2014/main" id="{C591F99F-4E75-4CB8-95E4-F98540AE82C6}"/>
              </a:ext>
            </a:extLst>
          </p:cNvPr>
          <p:cNvSpPr>
            <a:spLocks noGrp="1"/>
          </p:cNvSpPr>
          <p:nvPr/>
        </p:nvSpPr>
        <p:spPr>
          <a:xfrm>
            <a:off x="5281613" y="3595688"/>
            <a:ext cx="202530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22"/>
          </a:bodyPr>
          <a:lstStyle>
            <a:defPPr algn="l">
              <a:defRPr lang="zh-CN" altLang="en-US" sz="2925" b="1" i="0" spc="-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spc="-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spc="-7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Interactivity</a:t>
            </a:r>
          </a:p>
        </p:txBody>
      </p:sp>
      <p:sp>
        <p:nvSpPr>
          <p:cNvPr id="38" name="text-13">
            <a:extLst>
              <a:ext uri="{FF2B5EF4-FFF2-40B4-BE49-F238E27FC236}">
                <a16:creationId xmlns:a16="http://schemas.microsoft.com/office/drawing/2014/main" id="{24BADDB4-3986-4B51-BF5B-DA5B3ECC85BA}"/>
              </a:ext>
            </a:extLst>
          </p:cNvPr>
          <p:cNvSpPr>
            <a:spLocks noGrp="1"/>
          </p:cNvSpPr>
          <p:nvPr/>
        </p:nvSpPr>
        <p:spPr>
          <a:xfrm>
            <a:off x="5281613" y="4154710"/>
            <a:ext cx="2076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单请求输出速度</a:t>
            </a:r>
          </a:p>
        </p:txBody>
      </p:sp>
      <p:sp>
        <p:nvSpPr>
          <p:cNvPr id="39" name="text-14">
            <a:extLst>
              <a:ext uri="{FF2B5EF4-FFF2-40B4-BE49-F238E27FC236}">
                <a16:creationId xmlns:a16="http://schemas.microsoft.com/office/drawing/2014/main" id="{E4D9F7DC-AAE6-4CEF-B7BC-D9B5CDFD6E65}"/>
              </a:ext>
            </a:extLst>
          </p:cNvPr>
          <p:cNvSpPr>
            <a:spLocks noGrp="1"/>
          </p:cNvSpPr>
          <p:nvPr/>
        </p:nvSpPr>
        <p:spPr>
          <a:xfrm>
            <a:off x="5281613" y="4621435"/>
            <a:ext cx="3187351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单个请求每秒持续生成的 Output</a:t>
            </a:r>
          </a:p>
        </p:txBody>
      </p:sp>
      <p:sp>
        <p:nvSpPr>
          <p:cNvPr id="40" name="text-15">
            <a:extLst>
              <a:ext uri="{FF2B5EF4-FFF2-40B4-BE49-F238E27FC236}">
                <a16:creationId xmlns:a16="http://schemas.microsoft.com/office/drawing/2014/main" id="{8A49C0CF-75F2-4245-852B-C1488CEC7DD8}"/>
              </a:ext>
            </a:extLst>
          </p:cNvPr>
          <p:cNvSpPr>
            <a:spLocks noGrp="1"/>
          </p:cNvSpPr>
          <p:nvPr/>
        </p:nvSpPr>
        <p:spPr>
          <a:xfrm>
            <a:off x="5281613" y="4921472"/>
            <a:ext cx="140093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Token 数量。</a:t>
            </a:r>
          </a:p>
        </p:txBody>
      </p:sp>
      <p:sp>
        <p:nvSpPr>
          <p:cNvPr id="41" name="text-16">
            <a:extLst>
              <a:ext uri="{FF2B5EF4-FFF2-40B4-BE49-F238E27FC236}">
                <a16:creationId xmlns:a16="http://schemas.microsoft.com/office/drawing/2014/main" id="{75287785-1581-4349-B77A-2B2339A2FBCB}"/>
              </a:ext>
            </a:extLst>
          </p:cNvPr>
          <p:cNvSpPr>
            <a:spLocks noGrp="1"/>
          </p:cNvSpPr>
          <p:nvPr/>
        </p:nvSpPr>
        <p:spPr>
          <a:xfrm>
            <a:off x="5281613" y="5262563"/>
            <a:ext cx="247840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rPr>
              <a:t>token/s/request · 越高越好</a:t>
            </a:r>
          </a:p>
        </p:txBody>
      </p:sp>
      <p:sp>
        <p:nvSpPr>
          <p:cNvPr id="42" name="text-17">
            <a:extLst>
              <a:ext uri="{FF2B5EF4-FFF2-40B4-BE49-F238E27FC236}">
                <a16:creationId xmlns:a16="http://schemas.microsoft.com/office/drawing/2014/main" id="{B2B95D5D-1073-4E09-B7E0-0048E56BB39F}"/>
              </a:ext>
            </a:extLst>
          </p:cNvPr>
          <p:cNvSpPr>
            <a:spLocks noGrp="1"/>
          </p:cNvSpPr>
          <p:nvPr/>
        </p:nvSpPr>
        <p:spPr>
          <a:xfrm>
            <a:off x="9525000" y="3257550"/>
            <a:ext cx="205997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63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63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63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SYSTEM CAPACITY</a:t>
            </a:r>
          </a:p>
        </p:txBody>
      </p:sp>
      <p:sp>
        <p:nvSpPr>
          <p:cNvPr id="43" name="text-18">
            <a:extLst>
              <a:ext uri="{FF2B5EF4-FFF2-40B4-BE49-F238E27FC236}">
                <a16:creationId xmlns:a16="http://schemas.microsoft.com/office/drawing/2014/main" id="{8CDF2F26-A0D1-4BD2-8C06-ABEDD6F7E5A1}"/>
              </a:ext>
            </a:extLst>
          </p:cNvPr>
          <p:cNvSpPr>
            <a:spLocks noGrp="1"/>
          </p:cNvSpPr>
          <p:nvPr/>
        </p:nvSpPr>
        <p:spPr>
          <a:xfrm>
            <a:off x="9525000" y="3595688"/>
            <a:ext cx="201406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001"/>
          </a:bodyPr>
          <a:lstStyle>
            <a:defPPr algn="l">
              <a:defRPr lang="zh-CN" altLang="en-US" sz="2925" b="1" i="0" spc="-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spc="-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spc="-7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Throughput</a:t>
            </a:r>
          </a:p>
        </p:txBody>
      </p:sp>
      <p:sp>
        <p:nvSpPr>
          <p:cNvPr id="44" name="text-19">
            <a:extLst>
              <a:ext uri="{FF2B5EF4-FFF2-40B4-BE49-F238E27FC236}">
                <a16:creationId xmlns:a16="http://schemas.microsoft.com/office/drawing/2014/main" id="{D9B04429-F587-49C3-9230-24E60582B50A}"/>
              </a:ext>
            </a:extLst>
          </p:cNvPr>
          <p:cNvSpPr>
            <a:spLocks noGrp="1"/>
          </p:cNvSpPr>
          <p:nvPr/>
        </p:nvSpPr>
        <p:spPr>
          <a:xfrm>
            <a:off x="9525000" y="4154710"/>
            <a:ext cx="179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系统聚合吞吐</a:t>
            </a:r>
          </a:p>
        </p:txBody>
      </p:sp>
      <p:sp>
        <p:nvSpPr>
          <p:cNvPr id="45" name="text-20">
            <a:extLst>
              <a:ext uri="{FF2B5EF4-FFF2-40B4-BE49-F238E27FC236}">
                <a16:creationId xmlns:a16="http://schemas.microsoft.com/office/drawing/2014/main" id="{D8200841-0609-4E78-83A0-67DC35B532BD}"/>
              </a:ext>
            </a:extLst>
          </p:cNvPr>
          <p:cNvSpPr>
            <a:spLocks noGrp="1"/>
          </p:cNvSpPr>
          <p:nvPr/>
        </p:nvSpPr>
        <p:spPr>
          <a:xfrm>
            <a:off x="9525000" y="4621435"/>
            <a:ext cx="28543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整个系统每秒处理的 Input 或</a:t>
            </a:r>
          </a:p>
        </p:txBody>
      </p:sp>
      <p:sp>
        <p:nvSpPr>
          <p:cNvPr id="46" name="text-21">
            <a:extLst>
              <a:ext uri="{FF2B5EF4-FFF2-40B4-BE49-F238E27FC236}">
                <a16:creationId xmlns:a16="http://schemas.microsoft.com/office/drawing/2014/main" id="{733B3A9F-BBDA-4B1D-899F-12111F4947A8}"/>
              </a:ext>
            </a:extLst>
          </p:cNvPr>
          <p:cNvSpPr>
            <a:spLocks noGrp="1"/>
          </p:cNvSpPr>
          <p:nvPr/>
        </p:nvSpPr>
        <p:spPr>
          <a:xfrm>
            <a:off x="9525000" y="4921472"/>
            <a:ext cx="21544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Output Token 总量。</a:t>
            </a:r>
          </a:p>
        </p:txBody>
      </p:sp>
      <p:sp>
        <p:nvSpPr>
          <p:cNvPr id="47" name="text-22">
            <a:extLst>
              <a:ext uri="{FF2B5EF4-FFF2-40B4-BE49-F238E27FC236}">
                <a16:creationId xmlns:a16="http://schemas.microsoft.com/office/drawing/2014/main" id="{A855B66E-B816-4858-9F52-40DEA258355A}"/>
              </a:ext>
            </a:extLst>
          </p:cNvPr>
          <p:cNvSpPr>
            <a:spLocks noGrp="1"/>
          </p:cNvSpPr>
          <p:nvPr/>
        </p:nvSpPr>
        <p:spPr>
          <a:xfrm>
            <a:off x="9525000" y="5262563"/>
            <a:ext cx="1720787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rPr>
              <a:t>token/s · 越高越好</a:t>
            </a:r>
          </a:p>
        </p:txBody>
      </p:sp>
      <p:sp>
        <p:nvSpPr>
          <p:cNvPr id="48" name="text-23">
            <a:extLst>
              <a:ext uri="{FF2B5EF4-FFF2-40B4-BE49-F238E27FC236}">
                <a16:creationId xmlns:a16="http://schemas.microsoft.com/office/drawing/2014/main" id="{C8543AE2-FB43-4B1B-8364-296152F4B2BE}"/>
              </a:ext>
            </a:extLst>
          </p:cNvPr>
          <p:cNvSpPr>
            <a:spLocks noGrp="1"/>
          </p:cNvSpPr>
          <p:nvPr/>
        </p:nvSpPr>
        <p:spPr>
          <a:xfrm>
            <a:off x="13768388" y="3257550"/>
            <a:ext cx="195414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63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63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63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SERVICE QUALITY</a:t>
            </a:r>
          </a:p>
        </p:txBody>
      </p:sp>
      <p:sp>
        <p:nvSpPr>
          <p:cNvPr id="49" name="text-24">
            <a:extLst>
              <a:ext uri="{FF2B5EF4-FFF2-40B4-BE49-F238E27FC236}">
                <a16:creationId xmlns:a16="http://schemas.microsoft.com/office/drawing/2014/main" id="{A95A4524-368C-4082-ACC6-60AE4B5CA5B0}"/>
              </a:ext>
            </a:extLst>
          </p:cNvPr>
          <p:cNvSpPr>
            <a:spLocks noGrp="1"/>
          </p:cNvSpPr>
          <p:nvPr/>
        </p:nvSpPr>
        <p:spPr>
          <a:xfrm>
            <a:off x="13768388" y="3519488"/>
            <a:ext cx="1027938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825" b="1" i="0" spc="-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825" b="1" i="0" spc="-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825" b="1" i="0" spc="-7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SLO</a:t>
            </a:r>
          </a:p>
        </p:txBody>
      </p:sp>
      <p:sp>
        <p:nvSpPr>
          <p:cNvPr id="50" name="text-25">
            <a:extLst>
              <a:ext uri="{FF2B5EF4-FFF2-40B4-BE49-F238E27FC236}">
                <a16:creationId xmlns:a16="http://schemas.microsoft.com/office/drawing/2014/main" id="{11AFBB2A-9436-49F5-BD15-4955F7509A8C}"/>
              </a:ext>
            </a:extLst>
          </p:cNvPr>
          <p:cNvSpPr>
            <a:spLocks noGrp="1"/>
          </p:cNvSpPr>
          <p:nvPr/>
        </p:nvSpPr>
        <p:spPr>
          <a:xfrm>
            <a:off x="13768388" y="4157663"/>
            <a:ext cx="179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服务等级目标</a:t>
            </a:r>
          </a:p>
        </p:txBody>
      </p:sp>
      <p:sp>
        <p:nvSpPr>
          <p:cNvPr id="51" name="text-26">
            <a:extLst>
              <a:ext uri="{FF2B5EF4-FFF2-40B4-BE49-F238E27FC236}">
                <a16:creationId xmlns:a16="http://schemas.microsoft.com/office/drawing/2014/main" id="{7425B1EB-19A4-4AC9-89CC-1BCBC902A032}"/>
              </a:ext>
            </a:extLst>
          </p:cNvPr>
          <p:cNvSpPr>
            <a:spLocks noGrp="1"/>
          </p:cNvSpPr>
          <p:nvPr/>
        </p:nvSpPr>
        <p:spPr>
          <a:xfrm>
            <a:off x="13768388" y="4624388"/>
            <a:ext cx="3473101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对 P90/P99 时延、成功率和稳定性</a:t>
            </a:r>
          </a:p>
        </p:txBody>
      </p:sp>
      <p:sp>
        <p:nvSpPr>
          <p:cNvPr id="52" name="text-27">
            <a:extLst>
              <a:ext uri="{FF2B5EF4-FFF2-40B4-BE49-F238E27FC236}">
                <a16:creationId xmlns:a16="http://schemas.microsoft.com/office/drawing/2014/main" id="{979EE7D8-1FF3-41D6-A565-4ED2CD3A9D15}"/>
              </a:ext>
            </a:extLst>
          </p:cNvPr>
          <p:cNvSpPr>
            <a:spLocks noGrp="1"/>
          </p:cNvSpPr>
          <p:nvPr/>
        </p:nvSpPr>
        <p:spPr>
          <a:xfrm>
            <a:off x="13768388" y="4924425"/>
            <a:ext cx="13620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设定的目标。</a:t>
            </a:r>
          </a:p>
        </p:txBody>
      </p:sp>
      <p:sp>
        <p:nvSpPr>
          <p:cNvPr id="53" name="text-28">
            <a:extLst>
              <a:ext uri="{FF2B5EF4-FFF2-40B4-BE49-F238E27FC236}">
                <a16:creationId xmlns:a16="http://schemas.microsoft.com/office/drawing/2014/main" id="{8A7803AC-7D96-4428-80F7-8800ACE45CAD}"/>
              </a:ext>
            </a:extLst>
          </p:cNvPr>
          <p:cNvSpPr>
            <a:spLocks noGrp="1"/>
          </p:cNvSpPr>
          <p:nvPr/>
        </p:nvSpPr>
        <p:spPr>
          <a:xfrm>
            <a:off x="13768388" y="5262563"/>
            <a:ext cx="224161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63" b="1" i="0" noProof="1">
                <a:solidFill>
                  <a:srgbClr val="8793A8"/>
                </a:solidFill>
                <a:latin typeface="PingFang SC"/>
                <a:ea typeface="PingFang SC"/>
                <a:cs typeface="Arial"/>
              </a:rPr>
              <a:t>threshold / success rate</a:t>
            </a:r>
          </a:p>
        </p:txBody>
      </p:sp>
      <p:sp>
        <p:nvSpPr>
          <p:cNvPr id="54" name="text-29">
            <a:extLst>
              <a:ext uri="{FF2B5EF4-FFF2-40B4-BE49-F238E27FC236}">
                <a16:creationId xmlns:a16="http://schemas.microsoft.com/office/drawing/2014/main" id="{9E74BFFF-02DC-4210-A30F-04D528443C0E}"/>
              </a:ext>
            </a:extLst>
          </p:cNvPr>
          <p:cNvSpPr>
            <a:spLocks noGrp="1"/>
          </p:cNvSpPr>
          <p:nvPr/>
        </p:nvSpPr>
        <p:spPr>
          <a:xfrm>
            <a:off x="2914650" y="7219093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spc="113" noProof="1">
                <a:solidFill>
                  <a:srgbClr val="8172B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spc="113" noProof="1">
                <a:solidFill>
                  <a:srgbClr val="8172B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spc="113" noProof="1">
                <a:solidFill>
                  <a:srgbClr val="8172B7"/>
                </a:solidFill>
                <a:latin typeface="PingFang SC"/>
                <a:ea typeface="PingFang SC"/>
                <a:cs typeface="Arial"/>
              </a:rPr>
              <a:t>直观理解</a:t>
            </a:r>
          </a:p>
        </p:txBody>
      </p:sp>
      <p:sp>
        <p:nvSpPr>
          <p:cNvPr id="55" name="text-30">
            <a:extLst>
              <a:ext uri="{FF2B5EF4-FFF2-40B4-BE49-F238E27FC236}">
                <a16:creationId xmlns:a16="http://schemas.microsoft.com/office/drawing/2014/main" id="{75BB7066-E12E-444A-9A32-D3C73C68ABB1}"/>
              </a:ext>
            </a:extLst>
          </p:cNvPr>
          <p:cNvSpPr>
            <a:spLocks noGrp="1"/>
          </p:cNvSpPr>
          <p:nvPr/>
        </p:nvSpPr>
        <p:spPr>
          <a:xfrm>
            <a:off x="2914650" y="7581043"/>
            <a:ext cx="37338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把术语翻译成人话</a:t>
            </a:r>
          </a:p>
        </p:txBody>
      </p:sp>
      <p:sp>
        <p:nvSpPr>
          <p:cNvPr id="56" name="text-31">
            <a:extLst>
              <a:ext uri="{FF2B5EF4-FFF2-40B4-BE49-F238E27FC236}">
                <a16:creationId xmlns:a16="http://schemas.microsoft.com/office/drawing/2014/main" id="{AEB6CEC1-AA88-43C7-864F-CB7AD60621A6}"/>
              </a:ext>
            </a:extLst>
          </p:cNvPr>
          <p:cNvSpPr>
            <a:spLocks noGrp="1"/>
          </p:cNvSpPr>
          <p:nvPr/>
        </p:nvSpPr>
        <p:spPr>
          <a:xfrm>
            <a:off x="7881938" y="6577013"/>
            <a:ext cx="74666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rPr>
              <a:t>TTFT</a:t>
            </a:r>
          </a:p>
        </p:txBody>
      </p:sp>
      <p:sp>
        <p:nvSpPr>
          <p:cNvPr id="57" name="text-32">
            <a:extLst>
              <a:ext uri="{FF2B5EF4-FFF2-40B4-BE49-F238E27FC236}">
                <a16:creationId xmlns:a16="http://schemas.microsoft.com/office/drawing/2014/main" id="{3A6E6352-24AA-493F-AE09-0C1D4FD78E8C}"/>
              </a:ext>
            </a:extLst>
          </p:cNvPr>
          <p:cNvSpPr>
            <a:spLocks noGrp="1"/>
          </p:cNvSpPr>
          <p:nvPr/>
        </p:nvSpPr>
        <p:spPr>
          <a:xfrm>
            <a:off x="10215563" y="6557963"/>
            <a:ext cx="25498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=</a:t>
            </a:r>
          </a:p>
        </p:txBody>
      </p:sp>
      <p:sp>
        <p:nvSpPr>
          <p:cNvPr id="58" name="text-33">
            <a:extLst>
              <a:ext uri="{FF2B5EF4-FFF2-40B4-BE49-F238E27FC236}">
                <a16:creationId xmlns:a16="http://schemas.microsoft.com/office/drawing/2014/main" id="{CF61A5C8-B80B-4F58-8274-EDAB311DFD2D}"/>
              </a:ext>
            </a:extLst>
          </p:cNvPr>
          <p:cNvSpPr>
            <a:spLocks noGrp="1"/>
          </p:cNvSpPr>
          <p:nvPr/>
        </p:nvSpPr>
        <p:spPr>
          <a:xfrm>
            <a:off x="10653713" y="6568345"/>
            <a:ext cx="299932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rPr>
              <a:t>第一个 Token 要等多久</a:t>
            </a:r>
          </a:p>
        </p:txBody>
      </p:sp>
      <p:sp>
        <p:nvSpPr>
          <p:cNvPr id="59" name="text-34">
            <a:extLst>
              <a:ext uri="{FF2B5EF4-FFF2-40B4-BE49-F238E27FC236}">
                <a16:creationId xmlns:a16="http://schemas.microsoft.com/office/drawing/2014/main" id="{CF757EFF-F3F6-44DA-B041-6FD5D836AFF1}"/>
              </a:ext>
            </a:extLst>
          </p:cNvPr>
          <p:cNvSpPr>
            <a:spLocks noGrp="1"/>
          </p:cNvSpPr>
          <p:nvPr/>
        </p:nvSpPr>
        <p:spPr>
          <a:xfrm>
            <a:off x="7881938" y="7205663"/>
            <a:ext cx="1617631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rPr>
              <a:t>Interactivity</a:t>
            </a:r>
          </a:p>
        </p:txBody>
      </p:sp>
      <p:sp>
        <p:nvSpPr>
          <p:cNvPr id="60" name="text-35">
            <a:extLst>
              <a:ext uri="{FF2B5EF4-FFF2-40B4-BE49-F238E27FC236}">
                <a16:creationId xmlns:a16="http://schemas.microsoft.com/office/drawing/2014/main" id="{717CA6BC-D03B-4020-89DA-0D6EAAFF7637}"/>
              </a:ext>
            </a:extLst>
          </p:cNvPr>
          <p:cNvSpPr>
            <a:spLocks noGrp="1"/>
          </p:cNvSpPr>
          <p:nvPr/>
        </p:nvSpPr>
        <p:spPr>
          <a:xfrm>
            <a:off x="10215563" y="7186613"/>
            <a:ext cx="25498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=</a:t>
            </a:r>
          </a:p>
        </p:txBody>
      </p:sp>
      <p:sp>
        <p:nvSpPr>
          <p:cNvPr id="61" name="text-36">
            <a:extLst>
              <a:ext uri="{FF2B5EF4-FFF2-40B4-BE49-F238E27FC236}">
                <a16:creationId xmlns:a16="http://schemas.microsoft.com/office/drawing/2014/main" id="{7A2441FC-896C-4DD9-86BC-3134F0CF33E9}"/>
              </a:ext>
            </a:extLst>
          </p:cNvPr>
          <p:cNvSpPr>
            <a:spLocks noGrp="1"/>
          </p:cNvSpPr>
          <p:nvPr/>
        </p:nvSpPr>
        <p:spPr>
          <a:xfrm>
            <a:off x="10653713" y="7196995"/>
            <a:ext cx="2838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rPr>
              <a:t>回答持续生成得有多快</a:t>
            </a:r>
          </a:p>
        </p:txBody>
      </p:sp>
      <p:sp>
        <p:nvSpPr>
          <p:cNvPr id="62" name="text-37">
            <a:extLst>
              <a:ext uri="{FF2B5EF4-FFF2-40B4-BE49-F238E27FC236}">
                <a16:creationId xmlns:a16="http://schemas.microsoft.com/office/drawing/2014/main" id="{787F64F5-507D-4A89-A702-3CBEA7D30269}"/>
              </a:ext>
            </a:extLst>
          </p:cNvPr>
          <p:cNvSpPr>
            <a:spLocks noGrp="1"/>
          </p:cNvSpPr>
          <p:nvPr/>
        </p:nvSpPr>
        <p:spPr>
          <a:xfrm>
            <a:off x="7881938" y="7834313"/>
            <a:ext cx="1588008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rPr>
              <a:t>Throughput</a:t>
            </a:r>
          </a:p>
        </p:txBody>
      </p:sp>
      <p:sp>
        <p:nvSpPr>
          <p:cNvPr id="63" name="text-38">
            <a:extLst>
              <a:ext uri="{FF2B5EF4-FFF2-40B4-BE49-F238E27FC236}">
                <a16:creationId xmlns:a16="http://schemas.microsoft.com/office/drawing/2014/main" id="{BE4826EC-1091-48B4-B966-C69E7BE924DE}"/>
              </a:ext>
            </a:extLst>
          </p:cNvPr>
          <p:cNvSpPr>
            <a:spLocks noGrp="1"/>
          </p:cNvSpPr>
          <p:nvPr/>
        </p:nvSpPr>
        <p:spPr>
          <a:xfrm>
            <a:off x="10215563" y="7815263"/>
            <a:ext cx="25498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=</a:t>
            </a:r>
          </a:p>
        </p:txBody>
      </p:sp>
      <p:sp>
        <p:nvSpPr>
          <p:cNvPr id="64" name="text-39">
            <a:extLst>
              <a:ext uri="{FF2B5EF4-FFF2-40B4-BE49-F238E27FC236}">
                <a16:creationId xmlns:a16="http://schemas.microsoft.com/office/drawing/2014/main" id="{8BA024A7-50CF-420F-9593-9C1D5867944E}"/>
              </a:ext>
            </a:extLst>
          </p:cNvPr>
          <p:cNvSpPr>
            <a:spLocks noGrp="1"/>
          </p:cNvSpPr>
          <p:nvPr/>
        </p:nvSpPr>
        <p:spPr>
          <a:xfrm>
            <a:off x="10653713" y="7825645"/>
            <a:ext cx="4012216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rPr>
              <a:t>整个系统每秒能处理多少 Token</a:t>
            </a:r>
          </a:p>
        </p:txBody>
      </p:sp>
      <p:sp>
        <p:nvSpPr>
          <p:cNvPr id="65" name="text-40">
            <a:extLst>
              <a:ext uri="{FF2B5EF4-FFF2-40B4-BE49-F238E27FC236}">
                <a16:creationId xmlns:a16="http://schemas.microsoft.com/office/drawing/2014/main" id="{B927D7DF-AC22-409C-88F8-5087575258F4}"/>
              </a:ext>
            </a:extLst>
          </p:cNvPr>
          <p:cNvSpPr>
            <a:spLocks noGrp="1"/>
          </p:cNvSpPr>
          <p:nvPr/>
        </p:nvSpPr>
        <p:spPr>
          <a:xfrm>
            <a:off x="7881938" y="8462963"/>
            <a:ext cx="633698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92F3B"/>
                </a:solidFill>
                <a:latin typeface="PingFang SC"/>
                <a:ea typeface="PingFang SC"/>
                <a:cs typeface="Arial"/>
              </a:rPr>
              <a:t>SLO</a:t>
            </a:r>
          </a:p>
        </p:txBody>
      </p:sp>
      <p:sp>
        <p:nvSpPr>
          <p:cNvPr id="66" name="text-41">
            <a:extLst>
              <a:ext uri="{FF2B5EF4-FFF2-40B4-BE49-F238E27FC236}">
                <a16:creationId xmlns:a16="http://schemas.microsoft.com/office/drawing/2014/main" id="{BE004FBC-FD69-4431-81F5-12B30C185FA0}"/>
              </a:ext>
            </a:extLst>
          </p:cNvPr>
          <p:cNvSpPr>
            <a:spLocks noGrp="1"/>
          </p:cNvSpPr>
          <p:nvPr/>
        </p:nvSpPr>
        <p:spPr>
          <a:xfrm>
            <a:off x="10215563" y="8443913"/>
            <a:ext cx="25498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=</a:t>
            </a:r>
          </a:p>
        </p:txBody>
      </p:sp>
      <p:sp>
        <p:nvSpPr>
          <p:cNvPr id="67" name="text-42">
            <a:extLst>
              <a:ext uri="{FF2B5EF4-FFF2-40B4-BE49-F238E27FC236}">
                <a16:creationId xmlns:a16="http://schemas.microsoft.com/office/drawing/2014/main" id="{CB71CEFB-C169-433B-A1C7-C4E7FE47753C}"/>
              </a:ext>
            </a:extLst>
          </p:cNvPr>
          <p:cNvSpPr>
            <a:spLocks noGrp="1"/>
          </p:cNvSpPr>
          <p:nvPr/>
        </p:nvSpPr>
        <p:spPr>
          <a:xfrm>
            <a:off x="10653713" y="8454295"/>
            <a:ext cx="47720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02632"/>
                </a:solidFill>
                <a:latin typeface="PingFang SC"/>
                <a:ea typeface="PingFang SC"/>
                <a:cs typeface="Arial"/>
              </a:rPr>
              <a:t>上述体验在高负载下能否稳定达到目标</a:t>
            </a:r>
          </a:p>
        </p:txBody>
      </p:sp>
      <p:sp>
        <p:nvSpPr>
          <p:cNvPr id="68" name="text-43">
            <a:extLst>
              <a:ext uri="{FF2B5EF4-FFF2-40B4-BE49-F238E27FC236}">
                <a16:creationId xmlns:a16="http://schemas.microsoft.com/office/drawing/2014/main" id="{3C882C12-17BD-4CFE-AC98-AAA7CE9F8BBE}"/>
              </a:ext>
            </a:extLst>
          </p:cNvPr>
          <p:cNvSpPr>
            <a:spLocks noGrp="1"/>
          </p:cNvSpPr>
          <p:nvPr/>
        </p:nvSpPr>
        <p:spPr>
          <a:xfrm>
            <a:off x="776288" y="9865043"/>
            <a:ext cx="510721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单请求 Output TPS 对应 Interactivity；系统聚合 TPS 对应 Throughput</a:t>
            </a:r>
          </a:p>
        </p:txBody>
      </p:sp>
      <p:sp>
        <p:nvSpPr>
          <p:cNvPr id="69" name="text-44">
            <a:extLst>
              <a:ext uri="{FF2B5EF4-FFF2-40B4-BE49-F238E27FC236}">
                <a16:creationId xmlns:a16="http://schemas.microsoft.com/office/drawing/2014/main" id="{9C78A77E-723F-4DE3-8A20-13BC975F2FAF}"/>
              </a:ext>
            </a:extLst>
          </p:cNvPr>
          <p:cNvSpPr>
            <a:spLocks noGrp="1"/>
          </p:cNvSpPr>
          <p:nvPr/>
        </p:nvSpPr>
        <p:spPr>
          <a:xfrm>
            <a:off x="16998410" y="9848850"/>
            <a:ext cx="58474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6 / 43</a:t>
            </a:r>
          </a:p>
        </p:txBody>
      </p:sp>
    </p:spTree>
    <p:extLst>
      <p:ext uri="{BB962C8B-B14F-4D97-AF65-F5344CB8AC3E}">
        <p14:creationId xmlns:p14="http://schemas.microsoft.com/office/powerpoint/2010/main" val="49928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html-shape-2">
            <a:extLst>
              <a:ext uri="{FF2B5EF4-FFF2-40B4-BE49-F238E27FC236}">
                <a16:creationId xmlns:a16="http://schemas.microsoft.com/office/drawing/2014/main" id="{359DA19E-BC79-46E1-AFAC-AA6EEC65A2EB}"/>
              </a:ext>
            </a:extLst>
          </p:cNvPr>
          <p:cNvSpPr>
            <a:spLocks noGrp="1"/>
          </p:cNvSpPr>
          <p:nvPr/>
        </p:nvSpPr>
        <p:spPr>
          <a:xfrm>
            <a:off x="771525" y="3429000"/>
            <a:ext cx="16744950" cy="3448050"/>
          </a:xfrm>
          <a:prstGeom prst="roundRect">
            <a:avLst>
              <a:gd name="adj" fmla="val 4972"/>
            </a:avLst>
          </a:prstGeom>
          <a:solidFill>
            <a:srgbClr val="FFFFFF"/>
          </a:solidFill>
          <a:ln w="9525">
            <a:solidFill>
              <a:srgbClr val="D9DFEB"/>
            </a:solidFill>
            <a:prstDash val="solid"/>
          </a:ln>
        </p:spPr>
      </p:sp>
      <p:sp>
        <p:nvSpPr>
          <p:cNvPr id="2" name="html-shape-3">
            <a:extLst>
              <a:ext uri="{FF2B5EF4-FFF2-40B4-BE49-F238E27FC236}">
                <a16:creationId xmlns:a16="http://schemas.microsoft.com/office/drawing/2014/main" id="{30C8DF09-0BBD-4892-8D0A-3341D3F5A4F1}"/>
              </a:ext>
            </a:extLst>
          </p:cNvPr>
          <p:cNvSpPr>
            <a:spLocks noGrp="1"/>
          </p:cNvSpPr>
          <p:nvPr/>
        </p:nvSpPr>
        <p:spPr>
          <a:xfrm>
            <a:off x="781050" y="3438525"/>
            <a:ext cx="16725900" cy="704850"/>
          </a:xfrm>
          <a:prstGeom prst="rect">
            <a:avLst/>
          </a:prstGeom>
          <a:solidFill>
            <a:srgbClr val="F7F5FF"/>
          </a:solidFill>
          <a:ln w="0">
            <a:noFill/>
            <a:prstDash val="solid"/>
          </a:ln>
        </p:spPr>
      </p:sp>
      <p:sp>
        <p:nvSpPr>
          <p:cNvPr id="3" name="html-shape-10">
            <a:extLst>
              <a:ext uri="{FF2B5EF4-FFF2-40B4-BE49-F238E27FC236}">
                <a16:creationId xmlns:a16="http://schemas.microsoft.com/office/drawing/2014/main" id="{C822C050-0E36-449F-B51F-8783D6EFEE7D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16725900" cy="876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html-shape-18">
            <a:extLst>
              <a:ext uri="{FF2B5EF4-FFF2-40B4-BE49-F238E27FC236}">
                <a16:creationId xmlns:a16="http://schemas.microsoft.com/office/drawing/2014/main" id="{0F9B8EA3-CEBA-4120-A04A-576BA75F84DF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16725900" cy="876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" name="html-shape-26">
            <a:extLst>
              <a:ext uri="{FF2B5EF4-FFF2-40B4-BE49-F238E27FC236}">
                <a16:creationId xmlns:a16="http://schemas.microsoft.com/office/drawing/2014/main" id="{FFF69EFB-AE34-48D6-ABE3-09AADC0A9C3B}"/>
              </a:ext>
            </a:extLst>
          </p:cNvPr>
          <p:cNvSpPr>
            <a:spLocks noGrp="1"/>
          </p:cNvSpPr>
          <p:nvPr/>
        </p:nvSpPr>
        <p:spPr>
          <a:xfrm>
            <a:off x="781050" y="5895975"/>
            <a:ext cx="16725900" cy="9715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" name="html-shape-28">
            <a:extLst>
              <a:ext uri="{FF2B5EF4-FFF2-40B4-BE49-F238E27FC236}">
                <a16:creationId xmlns:a16="http://schemas.microsoft.com/office/drawing/2014/main" id="{46147C43-B2AE-4C82-9D8C-8F83ECCBF57E}"/>
              </a:ext>
            </a:extLst>
          </p:cNvPr>
          <p:cNvSpPr>
            <a:spLocks noGrp="1"/>
          </p:cNvSpPr>
          <p:nvPr/>
        </p:nvSpPr>
        <p:spPr>
          <a:xfrm>
            <a:off x="3352800" y="5905500"/>
            <a:ext cx="4718018" cy="9620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html-shape-30">
            <a:extLst>
              <a:ext uri="{FF2B5EF4-FFF2-40B4-BE49-F238E27FC236}">
                <a16:creationId xmlns:a16="http://schemas.microsoft.com/office/drawing/2014/main" id="{B9B23CBE-16E4-43EE-8765-DEEF83C02DAB}"/>
              </a:ext>
            </a:extLst>
          </p:cNvPr>
          <p:cNvSpPr>
            <a:spLocks noGrp="1"/>
          </p:cNvSpPr>
          <p:nvPr/>
        </p:nvSpPr>
        <p:spPr>
          <a:xfrm>
            <a:off x="8070818" y="5905500"/>
            <a:ext cx="4718018" cy="9620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" name="html-shape-32">
            <a:extLst>
              <a:ext uri="{FF2B5EF4-FFF2-40B4-BE49-F238E27FC236}">
                <a16:creationId xmlns:a16="http://schemas.microsoft.com/office/drawing/2014/main" id="{9462DD2C-16B4-460C-9092-61EB57D3040D}"/>
              </a:ext>
            </a:extLst>
          </p:cNvPr>
          <p:cNvSpPr>
            <a:spLocks noGrp="1"/>
          </p:cNvSpPr>
          <p:nvPr/>
        </p:nvSpPr>
        <p:spPr>
          <a:xfrm>
            <a:off x="12788837" y="5905500"/>
            <a:ext cx="4718114" cy="9620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html-shape-34">
            <a:extLst>
              <a:ext uri="{FF2B5EF4-FFF2-40B4-BE49-F238E27FC236}">
                <a16:creationId xmlns:a16="http://schemas.microsoft.com/office/drawing/2014/main" id="{BBB9D308-C50D-448E-B901-AF3E7788C808}"/>
              </a:ext>
            </a:extLst>
          </p:cNvPr>
          <p:cNvSpPr>
            <a:spLocks noGrp="1"/>
          </p:cNvSpPr>
          <p:nvPr/>
        </p:nvSpPr>
        <p:spPr>
          <a:xfrm>
            <a:off x="771525" y="7239000"/>
            <a:ext cx="16744950" cy="1295400"/>
          </a:xfrm>
          <a:prstGeom prst="roundRect">
            <a:avLst>
              <a:gd name="adj" fmla="val 13235"/>
            </a:avLst>
          </a:prstGeom>
          <a:solidFill>
            <a:srgbClr val="EFF9F4"/>
          </a:solidFill>
          <a:ln w="9525">
            <a:solidFill>
              <a:srgbClr val="B9DDCC"/>
            </a:solidFill>
            <a:prstDash val="solid"/>
          </a:ln>
        </p:spPr>
      </p:sp>
      <p:sp>
        <p:nvSpPr>
          <p:cNvPr id="10" name="html-shape-35">
            <a:extLst>
              <a:ext uri="{FF2B5EF4-FFF2-40B4-BE49-F238E27FC236}">
                <a16:creationId xmlns:a16="http://schemas.microsoft.com/office/drawing/2014/main" id="{0555CBEB-F193-4116-A539-6A332CE0E591}"/>
              </a:ext>
            </a:extLst>
          </p:cNvPr>
          <p:cNvSpPr>
            <a:spLocks noGrp="1"/>
          </p:cNvSpPr>
          <p:nvPr/>
        </p:nvSpPr>
        <p:spPr>
          <a:xfrm>
            <a:off x="781050" y="7248525"/>
            <a:ext cx="3714750" cy="1276350"/>
          </a:xfrm>
          <a:prstGeom prst="rect">
            <a:avLst/>
          </a:prstGeom>
          <a:solidFill>
            <a:srgbClr val="E4F5EC"/>
          </a:solidFill>
          <a:ln w="0">
            <a:noFill/>
            <a:prstDash val="solid"/>
          </a:ln>
        </p:spPr>
      </p:sp>
      <p:sp>
        <p:nvSpPr>
          <p:cNvPr id="11" name="html-shape-40">
            <a:extLst>
              <a:ext uri="{FF2B5EF4-FFF2-40B4-BE49-F238E27FC236}">
                <a16:creationId xmlns:a16="http://schemas.microsoft.com/office/drawing/2014/main" id="{BB977E71-294D-43C1-8C49-5D3F1C41FC6C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12" name="html-line-1">
            <a:extLst>
              <a:ext uri="{FF2B5EF4-FFF2-40B4-BE49-F238E27FC236}">
                <a16:creationId xmlns:a16="http://schemas.microsoft.com/office/drawing/2014/main" id="{249D171D-0917-46C3-ABD6-F0D5ED279C85}"/>
              </a:ext>
            </a:extLst>
          </p:cNvPr>
          <p:cNvSpPr>
            <a:spLocks noGrp="1"/>
          </p:cNvSpPr>
          <p:nvPr/>
        </p:nvSpPr>
        <p:spPr>
          <a:xfrm>
            <a:off x="3676650" y="3009900"/>
            <a:ext cx="13687425" cy="4763"/>
          </a:xfrm>
          <a:prstGeom prst="line">
            <a:avLst/>
          </a:prstGeom>
          <a:noFill/>
          <a:ln w="76200">
            <a:solidFill>
              <a:srgbClr val="8C69EE"/>
            </a:solidFill>
            <a:prstDash val="solid"/>
          </a:ln>
        </p:spPr>
      </p:sp>
      <p:sp>
        <p:nvSpPr>
          <p:cNvPr id="13" name="css-triangle-1">
            <a:extLst>
              <a:ext uri="{FF2B5EF4-FFF2-40B4-BE49-F238E27FC236}">
                <a16:creationId xmlns:a16="http://schemas.microsoft.com/office/drawing/2014/main" id="{E9D61DAB-ED0B-4603-A012-598BAFC9FC7D}"/>
              </a:ext>
            </a:extLst>
          </p:cNvPr>
          <p:cNvSpPr>
            <a:spLocks noGrp="1"/>
          </p:cNvSpPr>
          <p:nvPr/>
        </p:nvSpPr>
        <p:spPr>
          <a:xfrm>
            <a:off x="17345025" y="2905125"/>
            <a:ext cx="171450" cy="209550"/>
          </a:xfrm>
          <a:custGeom>
            <a:avLst/>
            <a:gdLst/>
            <a:ahLst/>
            <a:cxnLst/>
            <a:rect l="0" t="0" r="0" b="0"/>
            <a:pathLst>
              <a:path w="171450" h="209550">
                <a:moveTo>
                  <a:pt x="0" y="0"/>
                </a:moveTo>
                <a:lnTo>
                  <a:pt x="171450" y="104775"/>
                </a:lnTo>
                <a:lnTo>
                  <a:pt x="0" y="209550"/>
                </a:lnTo>
                <a:close/>
              </a:path>
            </a:pathLst>
          </a:custGeom>
          <a:solidFill>
            <a:srgbClr val="8C69EE"/>
          </a:solidFill>
          <a:ln w="9525">
            <a:noFill/>
            <a:prstDash val="solid"/>
          </a:ln>
        </p:spPr>
      </p:sp>
      <p:sp>
        <p:nvSpPr>
          <p:cNvPr id="14" name="html-line-2">
            <a:extLst>
              <a:ext uri="{FF2B5EF4-FFF2-40B4-BE49-F238E27FC236}">
                <a16:creationId xmlns:a16="http://schemas.microsoft.com/office/drawing/2014/main" id="{51CB147C-E4BF-426F-A9B0-D6B6B0A8D15A}"/>
              </a:ext>
            </a:extLst>
          </p:cNvPr>
          <p:cNvSpPr>
            <a:spLocks noGrp="1"/>
          </p:cNvSpPr>
          <p:nvPr/>
        </p:nvSpPr>
        <p:spPr>
          <a:xfrm>
            <a:off x="5048250" y="7929563"/>
            <a:ext cx="12096750" cy="4763"/>
          </a:xfrm>
          <a:prstGeom prst="line">
            <a:avLst/>
          </a:prstGeom>
          <a:noFill/>
          <a:ln w="66675">
            <a:solidFill>
              <a:srgbClr val="54B789"/>
            </a:solidFill>
            <a:prstDash val="solid"/>
          </a:ln>
        </p:spPr>
      </p:sp>
      <p:sp>
        <p:nvSpPr>
          <p:cNvPr id="15" name="css-triangle-36">
            <a:extLst>
              <a:ext uri="{FF2B5EF4-FFF2-40B4-BE49-F238E27FC236}">
                <a16:creationId xmlns:a16="http://schemas.microsoft.com/office/drawing/2014/main" id="{D69D68AC-D513-4465-AFE3-731FEDE8E56A}"/>
              </a:ext>
            </a:extLst>
          </p:cNvPr>
          <p:cNvSpPr>
            <a:spLocks noGrp="1"/>
          </p:cNvSpPr>
          <p:nvPr/>
        </p:nvSpPr>
        <p:spPr>
          <a:xfrm>
            <a:off x="17145000" y="7834313"/>
            <a:ext cx="171450" cy="190500"/>
          </a:xfrm>
          <a:custGeom>
            <a:avLst/>
            <a:gdLst/>
            <a:ahLst/>
            <a:cxnLst/>
            <a:rect l="0" t="0" r="0" b="0"/>
            <a:pathLst>
              <a:path w="171450" h="190500">
                <a:moveTo>
                  <a:pt x="0" y="0"/>
                </a:moveTo>
                <a:lnTo>
                  <a:pt x="17145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54B789"/>
          </a:solidFill>
          <a:ln w="9525">
            <a:noFill/>
            <a:prstDash val="solid"/>
          </a:ln>
        </p:spPr>
      </p:sp>
      <p:sp>
        <p:nvSpPr>
          <p:cNvPr id="16" name="html-shape-4">
            <a:extLst>
              <a:ext uri="{FF2B5EF4-FFF2-40B4-BE49-F238E27FC236}">
                <a16:creationId xmlns:a16="http://schemas.microsoft.com/office/drawing/2014/main" id="{4F33FC38-DC24-489C-961A-0A8A756E4F8F}"/>
              </a:ext>
            </a:extLst>
          </p:cNvPr>
          <p:cNvSpPr>
            <a:spLocks noGrp="1"/>
          </p:cNvSpPr>
          <p:nvPr/>
        </p:nvSpPr>
        <p:spPr>
          <a:xfrm>
            <a:off x="3352800" y="3438525"/>
            <a:ext cx="4718018" cy="7048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7" name="border-5">
            <a:extLst>
              <a:ext uri="{FF2B5EF4-FFF2-40B4-BE49-F238E27FC236}">
                <a16:creationId xmlns:a16="http://schemas.microsoft.com/office/drawing/2014/main" id="{23AD0F48-0284-4EF2-A2CE-AB96B011BBC8}"/>
              </a:ext>
            </a:extLst>
          </p:cNvPr>
          <p:cNvSpPr>
            <a:spLocks noGrp="1"/>
          </p:cNvSpPr>
          <p:nvPr/>
        </p:nvSpPr>
        <p:spPr>
          <a:xfrm>
            <a:off x="3352800" y="3438525"/>
            <a:ext cx="9525" cy="7048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8" name="html-shape-6">
            <a:extLst>
              <a:ext uri="{FF2B5EF4-FFF2-40B4-BE49-F238E27FC236}">
                <a16:creationId xmlns:a16="http://schemas.microsoft.com/office/drawing/2014/main" id="{2448DF3E-E6E5-4698-B614-AC46F37E37B5}"/>
              </a:ext>
            </a:extLst>
          </p:cNvPr>
          <p:cNvSpPr>
            <a:spLocks noGrp="1"/>
          </p:cNvSpPr>
          <p:nvPr/>
        </p:nvSpPr>
        <p:spPr>
          <a:xfrm>
            <a:off x="8070818" y="3438525"/>
            <a:ext cx="4718018" cy="7048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9" name="border-7">
            <a:extLst>
              <a:ext uri="{FF2B5EF4-FFF2-40B4-BE49-F238E27FC236}">
                <a16:creationId xmlns:a16="http://schemas.microsoft.com/office/drawing/2014/main" id="{5E5E1E77-DA10-471E-8DEB-1C9ADF08F7C3}"/>
              </a:ext>
            </a:extLst>
          </p:cNvPr>
          <p:cNvSpPr>
            <a:spLocks noGrp="1"/>
          </p:cNvSpPr>
          <p:nvPr/>
        </p:nvSpPr>
        <p:spPr>
          <a:xfrm>
            <a:off x="8070818" y="3438525"/>
            <a:ext cx="9525" cy="7048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0" name="html-shape-8">
            <a:extLst>
              <a:ext uri="{FF2B5EF4-FFF2-40B4-BE49-F238E27FC236}">
                <a16:creationId xmlns:a16="http://schemas.microsoft.com/office/drawing/2014/main" id="{4742A7EB-2461-489F-9C91-55CC8E85B545}"/>
              </a:ext>
            </a:extLst>
          </p:cNvPr>
          <p:cNvSpPr>
            <a:spLocks noGrp="1"/>
          </p:cNvSpPr>
          <p:nvPr/>
        </p:nvSpPr>
        <p:spPr>
          <a:xfrm>
            <a:off x="12788837" y="3438525"/>
            <a:ext cx="4718114" cy="7048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1" name="border-9">
            <a:extLst>
              <a:ext uri="{FF2B5EF4-FFF2-40B4-BE49-F238E27FC236}">
                <a16:creationId xmlns:a16="http://schemas.microsoft.com/office/drawing/2014/main" id="{0680E26F-E791-4536-8019-F7C3A8F038BF}"/>
              </a:ext>
            </a:extLst>
          </p:cNvPr>
          <p:cNvSpPr>
            <a:spLocks noGrp="1"/>
          </p:cNvSpPr>
          <p:nvPr/>
        </p:nvSpPr>
        <p:spPr>
          <a:xfrm>
            <a:off x="12788837" y="3438525"/>
            <a:ext cx="9525" cy="7048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2" name="border-11">
            <a:extLst>
              <a:ext uri="{FF2B5EF4-FFF2-40B4-BE49-F238E27FC236}">
                <a16:creationId xmlns:a16="http://schemas.microsoft.com/office/drawing/2014/main" id="{FE494600-BC13-4F29-886F-AF538D224194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167259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3" name="html-shape-12">
            <a:extLst>
              <a:ext uri="{FF2B5EF4-FFF2-40B4-BE49-F238E27FC236}">
                <a16:creationId xmlns:a16="http://schemas.microsoft.com/office/drawing/2014/main" id="{552FF9AB-EA43-4868-89DB-0929BA4F42A6}"/>
              </a:ext>
            </a:extLst>
          </p:cNvPr>
          <p:cNvSpPr>
            <a:spLocks noGrp="1"/>
          </p:cNvSpPr>
          <p:nvPr/>
        </p:nvSpPr>
        <p:spPr>
          <a:xfrm>
            <a:off x="3352800" y="4152900"/>
            <a:ext cx="4718018" cy="8667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4" name="border-13">
            <a:extLst>
              <a:ext uri="{FF2B5EF4-FFF2-40B4-BE49-F238E27FC236}">
                <a16:creationId xmlns:a16="http://schemas.microsoft.com/office/drawing/2014/main" id="{3E9E9A5A-AA00-4184-BE7A-F558B4B95F56}"/>
              </a:ext>
            </a:extLst>
          </p:cNvPr>
          <p:cNvSpPr>
            <a:spLocks noGrp="1"/>
          </p:cNvSpPr>
          <p:nvPr/>
        </p:nvSpPr>
        <p:spPr>
          <a:xfrm>
            <a:off x="3352800" y="4152900"/>
            <a:ext cx="9525" cy="8667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5" name="html-shape-14">
            <a:extLst>
              <a:ext uri="{FF2B5EF4-FFF2-40B4-BE49-F238E27FC236}">
                <a16:creationId xmlns:a16="http://schemas.microsoft.com/office/drawing/2014/main" id="{A1157527-5453-416E-A072-3FEDBCF83E59}"/>
              </a:ext>
            </a:extLst>
          </p:cNvPr>
          <p:cNvSpPr>
            <a:spLocks noGrp="1"/>
          </p:cNvSpPr>
          <p:nvPr/>
        </p:nvSpPr>
        <p:spPr>
          <a:xfrm>
            <a:off x="8070818" y="4152900"/>
            <a:ext cx="4718018" cy="8667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6" name="border-15">
            <a:extLst>
              <a:ext uri="{FF2B5EF4-FFF2-40B4-BE49-F238E27FC236}">
                <a16:creationId xmlns:a16="http://schemas.microsoft.com/office/drawing/2014/main" id="{CEB83E02-08B3-46AD-A200-DF4EA4CC8F94}"/>
              </a:ext>
            </a:extLst>
          </p:cNvPr>
          <p:cNvSpPr>
            <a:spLocks noGrp="1"/>
          </p:cNvSpPr>
          <p:nvPr/>
        </p:nvSpPr>
        <p:spPr>
          <a:xfrm>
            <a:off x="8070818" y="4152900"/>
            <a:ext cx="9525" cy="8667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7" name="html-shape-16">
            <a:extLst>
              <a:ext uri="{FF2B5EF4-FFF2-40B4-BE49-F238E27FC236}">
                <a16:creationId xmlns:a16="http://schemas.microsoft.com/office/drawing/2014/main" id="{E21D1504-A617-487F-A073-DDEDDE638431}"/>
              </a:ext>
            </a:extLst>
          </p:cNvPr>
          <p:cNvSpPr>
            <a:spLocks noGrp="1"/>
          </p:cNvSpPr>
          <p:nvPr/>
        </p:nvSpPr>
        <p:spPr>
          <a:xfrm>
            <a:off x="12788837" y="4152900"/>
            <a:ext cx="4718114" cy="8667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8" name="border-17">
            <a:extLst>
              <a:ext uri="{FF2B5EF4-FFF2-40B4-BE49-F238E27FC236}">
                <a16:creationId xmlns:a16="http://schemas.microsoft.com/office/drawing/2014/main" id="{F4D84964-925A-4226-99B5-2A81291C8F7F}"/>
              </a:ext>
            </a:extLst>
          </p:cNvPr>
          <p:cNvSpPr>
            <a:spLocks noGrp="1"/>
          </p:cNvSpPr>
          <p:nvPr/>
        </p:nvSpPr>
        <p:spPr>
          <a:xfrm>
            <a:off x="12788837" y="4152900"/>
            <a:ext cx="9525" cy="8667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9" name="border-19">
            <a:extLst>
              <a:ext uri="{FF2B5EF4-FFF2-40B4-BE49-F238E27FC236}">
                <a16:creationId xmlns:a16="http://schemas.microsoft.com/office/drawing/2014/main" id="{BE1C83D7-E514-4761-AA4D-49C1374C905B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167259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0" name="html-shape-20">
            <a:extLst>
              <a:ext uri="{FF2B5EF4-FFF2-40B4-BE49-F238E27FC236}">
                <a16:creationId xmlns:a16="http://schemas.microsoft.com/office/drawing/2014/main" id="{E4031746-9821-4285-8ABF-D03DA4D805D2}"/>
              </a:ext>
            </a:extLst>
          </p:cNvPr>
          <p:cNvSpPr>
            <a:spLocks noGrp="1"/>
          </p:cNvSpPr>
          <p:nvPr/>
        </p:nvSpPr>
        <p:spPr>
          <a:xfrm>
            <a:off x="3352800" y="5029200"/>
            <a:ext cx="4718018" cy="8667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1" name="border-21">
            <a:extLst>
              <a:ext uri="{FF2B5EF4-FFF2-40B4-BE49-F238E27FC236}">
                <a16:creationId xmlns:a16="http://schemas.microsoft.com/office/drawing/2014/main" id="{AC716EC6-F6F2-4BBA-A8BC-89B23F80391F}"/>
              </a:ext>
            </a:extLst>
          </p:cNvPr>
          <p:cNvSpPr>
            <a:spLocks noGrp="1"/>
          </p:cNvSpPr>
          <p:nvPr/>
        </p:nvSpPr>
        <p:spPr>
          <a:xfrm>
            <a:off x="3352800" y="5029200"/>
            <a:ext cx="9525" cy="8667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2" name="html-shape-22">
            <a:extLst>
              <a:ext uri="{FF2B5EF4-FFF2-40B4-BE49-F238E27FC236}">
                <a16:creationId xmlns:a16="http://schemas.microsoft.com/office/drawing/2014/main" id="{A7E747D5-A64F-422B-AE53-6F30D2DA559D}"/>
              </a:ext>
            </a:extLst>
          </p:cNvPr>
          <p:cNvSpPr>
            <a:spLocks noGrp="1"/>
          </p:cNvSpPr>
          <p:nvPr/>
        </p:nvSpPr>
        <p:spPr>
          <a:xfrm>
            <a:off x="8070818" y="5029200"/>
            <a:ext cx="4718018" cy="8667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3" name="border-23">
            <a:extLst>
              <a:ext uri="{FF2B5EF4-FFF2-40B4-BE49-F238E27FC236}">
                <a16:creationId xmlns:a16="http://schemas.microsoft.com/office/drawing/2014/main" id="{F489EFDD-D15E-47A8-AF73-D5B494B82847}"/>
              </a:ext>
            </a:extLst>
          </p:cNvPr>
          <p:cNvSpPr>
            <a:spLocks noGrp="1"/>
          </p:cNvSpPr>
          <p:nvPr/>
        </p:nvSpPr>
        <p:spPr>
          <a:xfrm>
            <a:off x="8070818" y="5029200"/>
            <a:ext cx="9525" cy="8667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4" name="html-shape-24">
            <a:extLst>
              <a:ext uri="{FF2B5EF4-FFF2-40B4-BE49-F238E27FC236}">
                <a16:creationId xmlns:a16="http://schemas.microsoft.com/office/drawing/2014/main" id="{EAE8E7B9-58F3-4DA4-B314-87B19E2F51BA}"/>
              </a:ext>
            </a:extLst>
          </p:cNvPr>
          <p:cNvSpPr>
            <a:spLocks noGrp="1"/>
          </p:cNvSpPr>
          <p:nvPr/>
        </p:nvSpPr>
        <p:spPr>
          <a:xfrm>
            <a:off x="12788837" y="5029200"/>
            <a:ext cx="4718114" cy="8667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5" name="border-25">
            <a:extLst>
              <a:ext uri="{FF2B5EF4-FFF2-40B4-BE49-F238E27FC236}">
                <a16:creationId xmlns:a16="http://schemas.microsoft.com/office/drawing/2014/main" id="{74F23198-824A-4AE4-AFA4-61DF41C29863}"/>
              </a:ext>
            </a:extLst>
          </p:cNvPr>
          <p:cNvSpPr>
            <a:spLocks noGrp="1"/>
          </p:cNvSpPr>
          <p:nvPr/>
        </p:nvSpPr>
        <p:spPr>
          <a:xfrm>
            <a:off x="12788837" y="5029200"/>
            <a:ext cx="9525" cy="8667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6" name="border-27">
            <a:extLst>
              <a:ext uri="{FF2B5EF4-FFF2-40B4-BE49-F238E27FC236}">
                <a16:creationId xmlns:a16="http://schemas.microsoft.com/office/drawing/2014/main" id="{DC8223C0-F492-4ACC-B49C-E4FAB5FB18FF}"/>
              </a:ext>
            </a:extLst>
          </p:cNvPr>
          <p:cNvSpPr>
            <a:spLocks noGrp="1"/>
          </p:cNvSpPr>
          <p:nvPr/>
        </p:nvSpPr>
        <p:spPr>
          <a:xfrm>
            <a:off x="781050" y="5895975"/>
            <a:ext cx="167259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7" name="border-29">
            <a:extLst>
              <a:ext uri="{FF2B5EF4-FFF2-40B4-BE49-F238E27FC236}">
                <a16:creationId xmlns:a16="http://schemas.microsoft.com/office/drawing/2014/main" id="{F1824555-766E-46E3-BF66-5A3641BCF6D1}"/>
              </a:ext>
            </a:extLst>
          </p:cNvPr>
          <p:cNvSpPr>
            <a:spLocks noGrp="1"/>
          </p:cNvSpPr>
          <p:nvPr/>
        </p:nvSpPr>
        <p:spPr>
          <a:xfrm>
            <a:off x="3352800" y="5905500"/>
            <a:ext cx="9525" cy="9620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8" name="border-31">
            <a:extLst>
              <a:ext uri="{FF2B5EF4-FFF2-40B4-BE49-F238E27FC236}">
                <a16:creationId xmlns:a16="http://schemas.microsoft.com/office/drawing/2014/main" id="{199500E4-6655-49B5-9AED-C3E0FBD97ADF}"/>
              </a:ext>
            </a:extLst>
          </p:cNvPr>
          <p:cNvSpPr>
            <a:spLocks noGrp="1"/>
          </p:cNvSpPr>
          <p:nvPr/>
        </p:nvSpPr>
        <p:spPr>
          <a:xfrm>
            <a:off x="8070818" y="5905500"/>
            <a:ext cx="9525" cy="9620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9" name="border-33">
            <a:extLst>
              <a:ext uri="{FF2B5EF4-FFF2-40B4-BE49-F238E27FC236}">
                <a16:creationId xmlns:a16="http://schemas.microsoft.com/office/drawing/2014/main" id="{6A711036-6F98-484B-9444-8CBBC3778713}"/>
              </a:ext>
            </a:extLst>
          </p:cNvPr>
          <p:cNvSpPr>
            <a:spLocks noGrp="1"/>
          </p:cNvSpPr>
          <p:nvPr/>
        </p:nvSpPr>
        <p:spPr>
          <a:xfrm>
            <a:off x="12788837" y="5905500"/>
            <a:ext cx="9525" cy="9620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40" name="html-shape-37">
            <a:extLst>
              <a:ext uri="{FF2B5EF4-FFF2-40B4-BE49-F238E27FC236}">
                <a16:creationId xmlns:a16="http://schemas.microsoft.com/office/drawing/2014/main" id="{8F624F2A-9423-4426-99B3-0FA5ADA8E659}"/>
              </a:ext>
            </a:extLst>
          </p:cNvPr>
          <p:cNvSpPr>
            <a:spLocks noGrp="1"/>
          </p:cNvSpPr>
          <p:nvPr/>
        </p:nvSpPr>
        <p:spPr>
          <a:xfrm>
            <a:off x="5958364" y="7519988"/>
            <a:ext cx="1411796" cy="247650"/>
          </a:xfrm>
          <a:prstGeom prst="rect">
            <a:avLst/>
          </a:prstGeom>
          <a:solidFill>
            <a:srgbClr val="EFF9F4"/>
          </a:solidFill>
          <a:ln w="0">
            <a:noFill/>
            <a:prstDash val="solid"/>
          </a:ln>
        </p:spPr>
      </p:sp>
      <p:sp>
        <p:nvSpPr>
          <p:cNvPr id="41" name="html-shape-38">
            <a:extLst>
              <a:ext uri="{FF2B5EF4-FFF2-40B4-BE49-F238E27FC236}">
                <a16:creationId xmlns:a16="http://schemas.microsoft.com/office/drawing/2014/main" id="{BB47A621-77C5-4D09-A27A-346274A733D8}"/>
              </a:ext>
            </a:extLst>
          </p:cNvPr>
          <p:cNvSpPr>
            <a:spLocks noGrp="1"/>
          </p:cNvSpPr>
          <p:nvPr/>
        </p:nvSpPr>
        <p:spPr>
          <a:xfrm>
            <a:off x="9791414" y="7519988"/>
            <a:ext cx="2419826" cy="247650"/>
          </a:xfrm>
          <a:prstGeom prst="rect">
            <a:avLst/>
          </a:prstGeom>
          <a:solidFill>
            <a:srgbClr val="EFF9F4"/>
          </a:solidFill>
          <a:ln w="0">
            <a:noFill/>
            <a:prstDash val="solid"/>
          </a:ln>
        </p:spPr>
      </p:sp>
      <p:sp>
        <p:nvSpPr>
          <p:cNvPr id="42" name="html-shape-39">
            <a:extLst>
              <a:ext uri="{FF2B5EF4-FFF2-40B4-BE49-F238E27FC236}">
                <a16:creationId xmlns:a16="http://schemas.microsoft.com/office/drawing/2014/main" id="{0E7B53ED-1405-488B-91FC-73C0511148DB}"/>
              </a:ext>
            </a:extLst>
          </p:cNvPr>
          <p:cNvSpPr>
            <a:spLocks noGrp="1"/>
          </p:cNvSpPr>
          <p:nvPr/>
        </p:nvSpPr>
        <p:spPr>
          <a:xfrm>
            <a:off x="14655070" y="7519988"/>
            <a:ext cx="1366552" cy="247650"/>
          </a:xfrm>
          <a:prstGeom prst="rect">
            <a:avLst/>
          </a:prstGeom>
          <a:solidFill>
            <a:srgbClr val="EFF9F4"/>
          </a:solidFill>
          <a:ln w="0">
            <a:noFill/>
            <a:prstDash val="solid"/>
          </a:ln>
        </p:spPr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8DE2D4F9-8ADD-4A39-86F8-EB1428F47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DFFD618F-19EB-4C06-BDBE-034522D51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45" name="text-1">
            <a:extLst>
              <a:ext uri="{FF2B5EF4-FFF2-40B4-BE49-F238E27FC236}">
                <a16:creationId xmlns:a16="http://schemas.microsoft.com/office/drawing/2014/main" id="{6DAE505F-C73C-4702-8AF9-CFE6F3374648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46" name="text-2">
            <a:extLst>
              <a:ext uri="{FF2B5EF4-FFF2-40B4-BE49-F238E27FC236}">
                <a16:creationId xmlns:a16="http://schemas.microsoft.com/office/drawing/2014/main" id="{EA76AB89-D732-49F7-8394-DC95BB256A6A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18264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第一章 · 用户目标</a:t>
            </a:r>
          </a:p>
        </p:txBody>
      </p:sp>
      <p:sp>
        <p:nvSpPr>
          <p:cNvPr id="47" name="text-3">
            <a:extLst>
              <a:ext uri="{FF2B5EF4-FFF2-40B4-BE49-F238E27FC236}">
                <a16:creationId xmlns:a16="http://schemas.microsoft.com/office/drawing/2014/main" id="{21C198C4-0C93-4A4A-A2E3-664578B28A2B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3215176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337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工作负载演进提高了对 Token 交付速度的敏感性</a:t>
            </a:r>
          </a:p>
        </p:txBody>
      </p:sp>
      <p:sp>
        <p:nvSpPr>
          <p:cNvPr id="48" name="text-4">
            <a:extLst>
              <a:ext uri="{FF2B5EF4-FFF2-40B4-BE49-F238E27FC236}">
                <a16:creationId xmlns:a16="http://schemas.microsoft.com/office/drawing/2014/main" id="{4D7FBEE4-280D-440B-AB81-7895AC74829C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13125164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用户从直接阅读答案，走向与模型协作并让程序自动执行；速度的价值随 Token 消费方式改变</a:t>
            </a:r>
          </a:p>
        </p:txBody>
      </p:sp>
      <p:sp>
        <p:nvSpPr>
          <p:cNvPr id="49" name="text-5">
            <a:extLst>
              <a:ext uri="{FF2B5EF4-FFF2-40B4-BE49-F238E27FC236}">
                <a16:creationId xmlns:a16="http://schemas.microsoft.com/office/drawing/2014/main" id="{206FB6EA-BA1F-47D7-8926-AFFE0D3A5BC8}"/>
              </a:ext>
            </a:extLst>
          </p:cNvPr>
          <p:cNvSpPr>
            <a:spLocks noGrp="1"/>
          </p:cNvSpPr>
          <p:nvPr/>
        </p:nvSpPr>
        <p:spPr>
          <a:xfrm>
            <a:off x="762000" y="2819400"/>
            <a:ext cx="2209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用户使用方式演变</a:t>
            </a:r>
          </a:p>
        </p:txBody>
      </p:sp>
      <p:sp>
        <p:nvSpPr>
          <p:cNvPr id="50" name="text-6">
            <a:extLst>
              <a:ext uri="{FF2B5EF4-FFF2-40B4-BE49-F238E27FC236}">
                <a16:creationId xmlns:a16="http://schemas.microsoft.com/office/drawing/2014/main" id="{ACF36520-6627-4F08-9ABF-38A3050BC4E3}"/>
              </a:ext>
            </a:extLst>
          </p:cNvPr>
          <p:cNvSpPr>
            <a:spLocks noGrp="1"/>
          </p:cNvSpPr>
          <p:nvPr/>
        </p:nvSpPr>
        <p:spPr>
          <a:xfrm>
            <a:off x="1133475" y="3604927"/>
            <a:ext cx="110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rPr>
              <a:t>工作负载</a:t>
            </a:r>
          </a:p>
        </p:txBody>
      </p:sp>
      <p:sp>
        <p:nvSpPr>
          <p:cNvPr id="51" name="text-7">
            <a:extLst>
              <a:ext uri="{FF2B5EF4-FFF2-40B4-BE49-F238E27FC236}">
                <a16:creationId xmlns:a16="http://schemas.microsoft.com/office/drawing/2014/main" id="{2C61FA1E-00B0-4FED-8259-E99D00062060}"/>
              </a:ext>
            </a:extLst>
          </p:cNvPr>
          <p:cNvSpPr>
            <a:spLocks noGrp="1"/>
          </p:cNvSpPr>
          <p:nvPr/>
        </p:nvSpPr>
        <p:spPr>
          <a:xfrm>
            <a:off x="5375815" y="3576638"/>
            <a:ext cx="73866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Chat</a:t>
            </a:r>
          </a:p>
        </p:txBody>
      </p:sp>
      <p:sp>
        <p:nvSpPr>
          <p:cNvPr id="52" name="text-8">
            <a:extLst>
              <a:ext uri="{FF2B5EF4-FFF2-40B4-BE49-F238E27FC236}">
                <a16:creationId xmlns:a16="http://schemas.microsoft.com/office/drawing/2014/main" id="{319B47ED-D3FD-4D01-847C-6679ED9B913F}"/>
              </a:ext>
            </a:extLst>
          </p:cNvPr>
          <p:cNvSpPr>
            <a:spLocks noGrp="1"/>
          </p:cNvSpPr>
          <p:nvPr/>
        </p:nvSpPr>
        <p:spPr>
          <a:xfrm>
            <a:off x="9302972" y="3576638"/>
            <a:ext cx="232038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Coding &amp; Agent</a:t>
            </a:r>
          </a:p>
        </p:txBody>
      </p:sp>
      <p:sp>
        <p:nvSpPr>
          <p:cNvPr id="53" name="text-9">
            <a:extLst>
              <a:ext uri="{FF2B5EF4-FFF2-40B4-BE49-F238E27FC236}">
                <a16:creationId xmlns:a16="http://schemas.microsoft.com/office/drawing/2014/main" id="{4925A1B8-A74C-4C87-A3B5-5E9639F44A82}"/>
              </a:ext>
            </a:extLst>
          </p:cNvPr>
          <p:cNvSpPr>
            <a:spLocks noGrp="1"/>
          </p:cNvSpPr>
          <p:nvPr/>
        </p:nvSpPr>
        <p:spPr>
          <a:xfrm>
            <a:off x="14328458" y="3576638"/>
            <a:ext cx="1705547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Agent Loop</a:t>
            </a:r>
          </a:p>
        </p:txBody>
      </p:sp>
      <p:sp>
        <p:nvSpPr>
          <p:cNvPr id="54" name="text-10">
            <a:extLst>
              <a:ext uri="{FF2B5EF4-FFF2-40B4-BE49-F238E27FC236}">
                <a16:creationId xmlns:a16="http://schemas.microsoft.com/office/drawing/2014/main" id="{57239D26-92C0-4C99-9DEB-DB4EF029BE8A}"/>
              </a:ext>
            </a:extLst>
          </p:cNvPr>
          <p:cNvSpPr>
            <a:spLocks noGrp="1"/>
          </p:cNvSpPr>
          <p:nvPr/>
        </p:nvSpPr>
        <p:spPr>
          <a:xfrm>
            <a:off x="1133475" y="4400264"/>
            <a:ext cx="110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rPr>
              <a:t>典型任务</a:t>
            </a:r>
          </a:p>
        </p:txBody>
      </p:sp>
      <p:sp>
        <p:nvSpPr>
          <p:cNvPr id="55" name="text-11">
            <a:extLst>
              <a:ext uri="{FF2B5EF4-FFF2-40B4-BE49-F238E27FC236}">
                <a16:creationId xmlns:a16="http://schemas.microsoft.com/office/drawing/2014/main" id="{7745447D-4A18-46C0-8201-4ACC5040B35D}"/>
              </a:ext>
            </a:extLst>
          </p:cNvPr>
          <p:cNvSpPr>
            <a:spLocks noGrp="1"/>
          </p:cNvSpPr>
          <p:nvPr/>
        </p:nvSpPr>
        <p:spPr>
          <a:xfrm>
            <a:off x="4378357" y="4397026"/>
            <a:ext cx="273338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问答 · 阅读 · 内容交流</a:t>
            </a:r>
          </a:p>
        </p:txBody>
      </p:sp>
      <p:sp>
        <p:nvSpPr>
          <p:cNvPr id="56" name="text-12">
            <a:extLst>
              <a:ext uri="{FF2B5EF4-FFF2-40B4-BE49-F238E27FC236}">
                <a16:creationId xmlns:a16="http://schemas.microsoft.com/office/drawing/2014/main" id="{F001C7A6-D3E6-4864-B04D-C446B8244133}"/>
              </a:ext>
            </a:extLst>
          </p:cNvPr>
          <p:cNvSpPr>
            <a:spLocks noGrp="1"/>
          </p:cNvSpPr>
          <p:nvPr/>
        </p:nvSpPr>
        <p:spPr>
          <a:xfrm>
            <a:off x="8839200" y="4397026"/>
            <a:ext cx="324773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编程 · 工具调用 · 长程执行</a:t>
            </a:r>
          </a:p>
        </p:txBody>
      </p:sp>
      <p:sp>
        <p:nvSpPr>
          <p:cNvPr id="57" name="text-13">
            <a:extLst>
              <a:ext uri="{FF2B5EF4-FFF2-40B4-BE49-F238E27FC236}">
                <a16:creationId xmlns:a16="http://schemas.microsoft.com/office/drawing/2014/main" id="{66D57CDC-5E64-4912-AD77-A94886C24C5F}"/>
              </a:ext>
            </a:extLst>
          </p:cNvPr>
          <p:cNvSpPr>
            <a:spLocks noGrp="1"/>
          </p:cNvSpPr>
          <p:nvPr/>
        </p:nvSpPr>
        <p:spPr>
          <a:xfrm>
            <a:off x="13300139" y="4397026"/>
            <a:ext cx="376208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代码迭代 · 深度研究 · 长程执行</a:t>
            </a:r>
          </a:p>
        </p:txBody>
      </p:sp>
      <p:sp>
        <p:nvSpPr>
          <p:cNvPr id="58" name="text-14">
            <a:extLst>
              <a:ext uri="{FF2B5EF4-FFF2-40B4-BE49-F238E27FC236}">
                <a16:creationId xmlns:a16="http://schemas.microsoft.com/office/drawing/2014/main" id="{9DD3EB81-5EE0-4B7B-8810-83650B4725A0}"/>
              </a:ext>
            </a:extLst>
          </p:cNvPr>
          <p:cNvSpPr>
            <a:spLocks noGrp="1"/>
          </p:cNvSpPr>
          <p:nvPr/>
        </p:nvSpPr>
        <p:spPr>
          <a:xfrm>
            <a:off x="1133475" y="5276564"/>
            <a:ext cx="13620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rPr>
              <a:t>输出消费者</a:t>
            </a:r>
          </a:p>
        </p:txBody>
      </p:sp>
      <p:sp>
        <p:nvSpPr>
          <p:cNvPr id="59" name="text-15">
            <a:extLst>
              <a:ext uri="{FF2B5EF4-FFF2-40B4-BE49-F238E27FC236}">
                <a16:creationId xmlns:a16="http://schemas.microsoft.com/office/drawing/2014/main" id="{51F6A0BB-78E4-496D-80E8-E97592BF6BF9}"/>
              </a:ext>
            </a:extLst>
          </p:cNvPr>
          <p:cNvSpPr>
            <a:spLocks noGrp="1"/>
          </p:cNvSpPr>
          <p:nvPr/>
        </p:nvSpPr>
        <p:spPr>
          <a:xfrm>
            <a:off x="5064062" y="5273326"/>
            <a:ext cx="13620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人直接阅读</a:t>
            </a:r>
          </a:p>
        </p:txBody>
      </p:sp>
      <p:sp>
        <p:nvSpPr>
          <p:cNvPr id="60" name="text-16">
            <a:extLst>
              <a:ext uri="{FF2B5EF4-FFF2-40B4-BE49-F238E27FC236}">
                <a16:creationId xmlns:a16="http://schemas.microsoft.com/office/drawing/2014/main" id="{E8F39093-0EF0-4BCF-B193-889312EA8D94}"/>
              </a:ext>
            </a:extLst>
          </p:cNvPr>
          <p:cNvSpPr>
            <a:spLocks noGrp="1"/>
          </p:cNvSpPr>
          <p:nvPr/>
        </p:nvSpPr>
        <p:spPr>
          <a:xfrm>
            <a:off x="9396222" y="5273326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人与模型交替协作</a:t>
            </a:r>
          </a:p>
        </p:txBody>
      </p:sp>
      <p:sp>
        <p:nvSpPr>
          <p:cNvPr id="61" name="text-17">
            <a:extLst>
              <a:ext uri="{FF2B5EF4-FFF2-40B4-BE49-F238E27FC236}">
                <a16:creationId xmlns:a16="http://schemas.microsoft.com/office/drawing/2014/main" id="{EF3E235D-90A8-411A-BB55-B8B1A4896BC3}"/>
              </a:ext>
            </a:extLst>
          </p:cNvPr>
          <p:cNvSpPr>
            <a:spLocks noGrp="1"/>
          </p:cNvSpPr>
          <p:nvPr/>
        </p:nvSpPr>
        <p:spPr>
          <a:xfrm>
            <a:off x="13857256" y="5273326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程序连续消费中间结果</a:t>
            </a:r>
          </a:p>
        </p:txBody>
      </p:sp>
      <p:sp>
        <p:nvSpPr>
          <p:cNvPr id="62" name="text-18">
            <a:extLst>
              <a:ext uri="{FF2B5EF4-FFF2-40B4-BE49-F238E27FC236}">
                <a16:creationId xmlns:a16="http://schemas.microsoft.com/office/drawing/2014/main" id="{F22237B1-B2B7-4B43-A4DD-368A03342487}"/>
              </a:ext>
            </a:extLst>
          </p:cNvPr>
          <p:cNvSpPr>
            <a:spLocks noGrp="1"/>
          </p:cNvSpPr>
          <p:nvPr/>
        </p:nvSpPr>
        <p:spPr>
          <a:xfrm>
            <a:off x="1133475" y="6200489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5A6373"/>
                </a:solidFill>
                <a:latin typeface="PingFang SC"/>
                <a:ea typeface="PingFang SC"/>
                <a:cs typeface="Arial"/>
              </a:rPr>
              <a:t>典型速度目标</a:t>
            </a:r>
          </a:p>
        </p:txBody>
      </p:sp>
      <p:sp>
        <p:nvSpPr>
          <p:cNvPr id="63" name="text-19">
            <a:extLst>
              <a:ext uri="{FF2B5EF4-FFF2-40B4-BE49-F238E27FC236}">
                <a16:creationId xmlns:a16="http://schemas.microsoft.com/office/drawing/2014/main" id="{9B076122-FB7C-43F1-943F-DF02B3924E7F}"/>
              </a:ext>
            </a:extLst>
          </p:cNvPr>
          <p:cNvSpPr>
            <a:spLocks noGrp="1"/>
          </p:cNvSpPr>
          <p:nvPr/>
        </p:nvSpPr>
        <p:spPr>
          <a:xfrm>
            <a:off x="4593146" y="6053138"/>
            <a:ext cx="2304002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阅读级 · 约 5 TPS</a:t>
            </a:r>
          </a:p>
        </p:txBody>
      </p:sp>
      <p:sp>
        <p:nvSpPr>
          <p:cNvPr id="64" name="text-20">
            <a:extLst>
              <a:ext uri="{FF2B5EF4-FFF2-40B4-BE49-F238E27FC236}">
                <a16:creationId xmlns:a16="http://schemas.microsoft.com/office/drawing/2014/main" id="{F31742D3-9125-454A-B29A-6DC887D08C4B}"/>
              </a:ext>
            </a:extLst>
          </p:cNvPr>
          <p:cNvSpPr>
            <a:spLocks noGrp="1"/>
          </p:cNvSpPr>
          <p:nvPr/>
        </p:nvSpPr>
        <p:spPr>
          <a:xfrm>
            <a:off x="4944999" y="6434138"/>
            <a:ext cx="160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匹配成人阅读速度</a:t>
            </a:r>
          </a:p>
        </p:txBody>
      </p:sp>
      <p:sp>
        <p:nvSpPr>
          <p:cNvPr id="65" name="text-21">
            <a:extLst>
              <a:ext uri="{FF2B5EF4-FFF2-40B4-BE49-F238E27FC236}">
                <a16:creationId xmlns:a16="http://schemas.microsoft.com/office/drawing/2014/main" id="{070A4B0E-ABE2-4829-B8EF-074BD712FFD7}"/>
              </a:ext>
            </a:extLst>
          </p:cNvPr>
          <p:cNvSpPr>
            <a:spLocks noGrp="1"/>
          </p:cNvSpPr>
          <p:nvPr/>
        </p:nvSpPr>
        <p:spPr>
          <a:xfrm>
            <a:off x="9231059" y="6053138"/>
            <a:ext cx="2464022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交互级 · 约 50 TPS</a:t>
            </a:r>
          </a:p>
        </p:txBody>
      </p:sp>
      <p:sp>
        <p:nvSpPr>
          <p:cNvPr id="66" name="text-22">
            <a:extLst>
              <a:ext uri="{FF2B5EF4-FFF2-40B4-BE49-F238E27FC236}">
                <a16:creationId xmlns:a16="http://schemas.microsoft.com/office/drawing/2014/main" id="{2DEF403E-D537-4301-82C6-3398B94B42E9}"/>
              </a:ext>
            </a:extLst>
          </p:cNvPr>
          <p:cNvSpPr>
            <a:spLocks noGrp="1"/>
          </p:cNvSpPr>
          <p:nvPr/>
        </p:nvSpPr>
        <p:spPr>
          <a:xfrm>
            <a:off x="8823389" y="6434138"/>
            <a:ext cx="3279267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约 250 Token / 轮，可在 5 秒内输出</a:t>
            </a:r>
          </a:p>
        </p:txBody>
      </p:sp>
      <p:sp>
        <p:nvSpPr>
          <p:cNvPr id="67" name="text-23">
            <a:extLst>
              <a:ext uri="{FF2B5EF4-FFF2-40B4-BE49-F238E27FC236}">
                <a16:creationId xmlns:a16="http://schemas.microsoft.com/office/drawing/2014/main" id="{3FA8A0C7-8C1C-437D-A94F-EAF1803BD3A5}"/>
              </a:ext>
            </a:extLst>
          </p:cNvPr>
          <p:cNvSpPr>
            <a:spLocks noGrp="1"/>
          </p:cNvSpPr>
          <p:nvPr/>
        </p:nvSpPr>
        <p:spPr>
          <a:xfrm>
            <a:off x="14209681" y="6053138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按完成时限选择</a:t>
            </a:r>
          </a:p>
        </p:txBody>
      </p:sp>
      <p:sp>
        <p:nvSpPr>
          <p:cNvPr id="68" name="text-24">
            <a:extLst>
              <a:ext uri="{FF2B5EF4-FFF2-40B4-BE49-F238E27FC236}">
                <a16:creationId xmlns:a16="http://schemas.microsoft.com/office/drawing/2014/main" id="{B6C2D9EE-C918-4185-900E-DE8A2A4F4B8E}"/>
              </a:ext>
            </a:extLst>
          </p:cNvPr>
          <p:cNvSpPr>
            <a:spLocks noGrp="1"/>
          </p:cNvSpPr>
          <p:nvPr/>
        </p:nvSpPr>
        <p:spPr>
          <a:xfrm>
            <a:off x="14095381" y="6434138"/>
            <a:ext cx="2171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多轮调用会累积等待时间</a:t>
            </a:r>
          </a:p>
        </p:txBody>
      </p:sp>
      <p:sp>
        <p:nvSpPr>
          <p:cNvPr id="69" name="text-25">
            <a:extLst>
              <a:ext uri="{FF2B5EF4-FFF2-40B4-BE49-F238E27FC236}">
                <a16:creationId xmlns:a16="http://schemas.microsoft.com/office/drawing/2014/main" id="{92293B6D-2D83-4DA9-81E7-FC867A837517}"/>
              </a:ext>
            </a:extLst>
          </p:cNvPr>
          <p:cNvSpPr>
            <a:spLocks noGrp="1"/>
          </p:cNvSpPr>
          <p:nvPr/>
        </p:nvSpPr>
        <p:spPr>
          <a:xfrm>
            <a:off x="1133475" y="7539038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厂家将速度产品化</a:t>
            </a:r>
          </a:p>
        </p:txBody>
      </p:sp>
      <p:sp>
        <p:nvSpPr>
          <p:cNvPr id="70" name="text-26">
            <a:extLst>
              <a:ext uri="{FF2B5EF4-FFF2-40B4-BE49-F238E27FC236}">
                <a16:creationId xmlns:a16="http://schemas.microsoft.com/office/drawing/2014/main" id="{491A8F09-8DE4-4285-9C4C-6AC65F3184F6}"/>
              </a:ext>
            </a:extLst>
          </p:cNvPr>
          <p:cNvSpPr>
            <a:spLocks noGrp="1"/>
          </p:cNvSpPr>
          <p:nvPr/>
        </p:nvSpPr>
        <p:spPr>
          <a:xfrm>
            <a:off x="1133475" y="7929563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rPr>
              <a:t>形成独立的可选服务等级</a:t>
            </a:r>
          </a:p>
        </p:txBody>
      </p:sp>
      <p:sp>
        <p:nvSpPr>
          <p:cNvPr id="71" name="text-27">
            <a:extLst>
              <a:ext uri="{FF2B5EF4-FFF2-40B4-BE49-F238E27FC236}">
                <a16:creationId xmlns:a16="http://schemas.microsoft.com/office/drawing/2014/main" id="{CC4C3378-6C32-447D-9B67-34D05BE9BECD}"/>
              </a:ext>
            </a:extLst>
          </p:cNvPr>
          <p:cNvSpPr>
            <a:spLocks noGrp="1"/>
          </p:cNvSpPr>
          <p:nvPr/>
        </p:nvSpPr>
        <p:spPr>
          <a:xfrm>
            <a:off x="6120289" y="7462838"/>
            <a:ext cx="1145096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3744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3744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3744F"/>
                </a:solidFill>
                <a:latin typeface="PingFang SC"/>
                <a:ea typeface="PingFang SC"/>
                <a:cs typeface="Arial"/>
              </a:rPr>
              <a:t>Standard</a:t>
            </a:r>
          </a:p>
        </p:txBody>
      </p:sp>
      <p:sp>
        <p:nvSpPr>
          <p:cNvPr id="72" name="text-28">
            <a:extLst>
              <a:ext uri="{FF2B5EF4-FFF2-40B4-BE49-F238E27FC236}">
                <a16:creationId xmlns:a16="http://schemas.microsoft.com/office/drawing/2014/main" id="{53AFFA1E-729F-46B4-BDB2-3C44E70FB0D8}"/>
              </a:ext>
            </a:extLst>
          </p:cNvPr>
          <p:cNvSpPr>
            <a:spLocks noGrp="1"/>
          </p:cNvSpPr>
          <p:nvPr/>
        </p:nvSpPr>
        <p:spPr>
          <a:xfrm>
            <a:off x="6254687" y="8015288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rPr>
              <a:t>常规交付</a:t>
            </a:r>
          </a:p>
        </p:txBody>
      </p:sp>
      <p:sp>
        <p:nvSpPr>
          <p:cNvPr id="73" name="text-29">
            <a:extLst>
              <a:ext uri="{FF2B5EF4-FFF2-40B4-BE49-F238E27FC236}">
                <a16:creationId xmlns:a16="http://schemas.microsoft.com/office/drawing/2014/main" id="{C0634C99-FF01-48B6-8846-299BA85ADA89}"/>
              </a:ext>
            </a:extLst>
          </p:cNvPr>
          <p:cNvSpPr>
            <a:spLocks noGrp="1"/>
          </p:cNvSpPr>
          <p:nvPr/>
        </p:nvSpPr>
        <p:spPr>
          <a:xfrm>
            <a:off x="9953339" y="7462838"/>
            <a:ext cx="2153126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3744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3744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3744F"/>
                </a:solidFill>
                <a:latin typeface="PingFang SC"/>
                <a:ea typeface="PingFang SC"/>
                <a:cs typeface="Arial"/>
              </a:rPr>
              <a:t>Fast / HighSpeed</a:t>
            </a:r>
          </a:p>
        </p:txBody>
      </p:sp>
      <p:sp>
        <p:nvSpPr>
          <p:cNvPr id="74" name="text-30">
            <a:extLst>
              <a:ext uri="{FF2B5EF4-FFF2-40B4-BE49-F238E27FC236}">
                <a16:creationId xmlns:a16="http://schemas.microsoft.com/office/drawing/2014/main" id="{EF47FA1E-0AA3-4C9F-9927-C178C97BB6C9}"/>
              </a:ext>
            </a:extLst>
          </p:cNvPr>
          <p:cNvSpPr>
            <a:spLocks noGrp="1"/>
          </p:cNvSpPr>
          <p:nvPr/>
        </p:nvSpPr>
        <p:spPr>
          <a:xfrm>
            <a:off x="10391585" y="8015288"/>
            <a:ext cx="1276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rPr>
              <a:t>更低交互等待</a:t>
            </a:r>
          </a:p>
        </p:txBody>
      </p:sp>
      <p:sp>
        <p:nvSpPr>
          <p:cNvPr id="75" name="text-31">
            <a:extLst>
              <a:ext uri="{FF2B5EF4-FFF2-40B4-BE49-F238E27FC236}">
                <a16:creationId xmlns:a16="http://schemas.microsoft.com/office/drawing/2014/main" id="{841E4D5E-AB59-4CAD-8EF8-6C0E2F090D2E}"/>
              </a:ext>
            </a:extLst>
          </p:cNvPr>
          <p:cNvSpPr>
            <a:spLocks noGrp="1"/>
          </p:cNvSpPr>
          <p:nvPr/>
        </p:nvSpPr>
        <p:spPr>
          <a:xfrm>
            <a:off x="14816995" y="7462838"/>
            <a:ext cx="1099852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3744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3744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3744F"/>
                </a:solidFill>
                <a:latin typeface="PingFang SC"/>
                <a:ea typeface="PingFang SC"/>
                <a:cs typeface="Arial"/>
              </a:rPr>
              <a:t>Ultrafast</a:t>
            </a:r>
          </a:p>
        </p:txBody>
      </p:sp>
      <p:sp>
        <p:nvSpPr>
          <p:cNvPr id="76" name="text-32">
            <a:extLst>
              <a:ext uri="{FF2B5EF4-FFF2-40B4-BE49-F238E27FC236}">
                <a16:creationId xmlns:a16="http://schemas.microsoft.com/office/drawing/2014/main" id="{FD001D62-EB35-4441-9CF5-76EB1F0F1CB0}"/>
              </a:ext>
            </a:extLst>
          </p:cNvPr>
          <p:cNvSpPr>
            <a:spLocks noGrp="1"/>
          </p:cNvSpPr>
          <p:nvPr/>
        </p:nvSpPr>
        <p:spPr>
          <a:xfrm>
            <a:off x="14528768" y="8015288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438A70"/>
                </a:solidFill>
                <a:latin typeface="PingFang SC"/>
                <a:ea typeface="PingFang SC"/>
                <a:cs typeface="Arial"/>
              </a:rPr>
              <a:t>极致闭环完成时间</a:t>
            </a:r>
          </a:p>
        </p:txBody>
      </p:sp>
      <p:sp>
        <p:nvSpPr>
          <p:cNvPr id="77" name="text-33">
            <a:extLst>
              <a:ext uri="{FF2B5EF4-FFF2-40B4-BE49-F238E27FC236}">
                <a16:creationId xmlns:a16="http://schemas.microsoft.com/office/drawing/2014/main" id="{B6E4669F-5702-48CA-A8DF-0C2BE2F49F5F}"/>
              </a:ext>
            </a:extLst>
          </p:cNvPr>
          <p:cNvSpPr>
            <a:spLocks noGrp="1"/>
          </p:cNvSpPr>
          <p:nvPr/>
        </p:nvSpPr>
        <p:spPr>
          <a:xfrm>
            <a:off x="4848225" y="9067800"/>
            <a:ext cx="864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不同工作负载对速度的敏感程度不同，厂商因此提供分层的速度服务</a:t>
            </a:r>
          </a:p>
        </p:txBody>
      </p:sp>
      <p:sp>
        <p:nvSpPr>
          <p:cNvPr id="78" name="text-34">
            <a:extLst>
              <a:ext uri="{FF2B5EF4-FFF2-40B4-BE49-F238E27FC236}">
                <a16:creationId xmlns:a16="http://schemas.microsoft.com/office/drawing/2014/main" id="{1A99031C-40CB-4DA0-861A-3172B09D8876}"/>
              </a:ext>
            </a:extLst>
          </p:cNvPr>
          <p:cNvSpPr>
            <a:spLocks noGrp="1"/>
          </p:cNvSpPr>
          <p:nvPr/>
        </p:nvSpPr>
        <p:spPr>
          <a:xfrm>
            <a:off x="776288" y="9865043"/>
            <a:ext cx="6716363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Sources: Reading-rate meta-analysis · Agentic Coding in the Wild · Kimi · GLM · OpenAI</a:t>
            </a:r>
          </a:p>
        </p:txBody>
      </p:sp>
      <p:sp>
        <p:nvSpPr>
          <p:cNvPr id="79" name="text-35">
            <a:extLst>
              <a:ext uri="{FF2B5EF4-FFF2-40B4-BE49-F238E27FC236}">
                <a16:creationId xmlns:a16="http://schemas.microsoft.com/office/drawing/2014/main" id="{A763F1EB-D9DD-48AF-87A4-0B6934C1C207}"/>
              </a:ext>
            </a:extLst>
          </p:cNvPr>
          <p:cNvSpPr>
            <a:spLocks noGrp="1"/>
          </p:cNvSpPr>
          <p:nvPr/>
        </p:nvSpPr>
        <p:spPr>
          <a:xfrm>
            <a:off x="17006697" y="9848850"/>
            <a:ext cx="5764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7 / 43</a:t>
            </a:r>
          </a:p>
        </p:txBody>
      </p:sp>
    </p:spTree>
    <p:extLst>
      <p:ext uri="{BB962C8B-B14F-4D97-AF65-F5344CB8AC3E}">
        <p14:creationId xmlns:p14="http://schemas.microsoft.com/office/powerpoint/2010/main" val="144759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html-shape-1">
            <a:extLst>
              <a:ext uri="{FF2B5EF4-FFF2-40B4-BE49-F238E27FC236}">
                <a16:creationId xmlns:a16="http://schemas.microsoft.com/office/drawing/2014/main" id="{966295B1-13BE-4E18-A156-4058623F92C8}"/>
              </a:ext>
            </a:extLst>
          </p:cNvPr>
          <p:cNvSpPr>
            <a:spLocks noGrp="1"/>
          </p:cNvSpPr>
          <p:nvPr/>
        </p:nvSpPr>
        <p:spPr>
          <a:xfrm>
            <a:off x="771525" y="2814638"/>
            <a:ext cx="16744950" cy="12573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9DFEB"/>
            </a:solidFill>
            <a:prstDash val="solid"/>
          </a:ln>
        </p:spPr>
      </p:sp>
      <p:sp>
        <p:nvSpPr>
          <p:cNvPr id="2" name="html-shape-7">
            <a:extLst>
              <a:ext uri="{FF2B5EF4-FFF2-40B4-BE49-F238E27FC236}">
                <a16:creationId xmlns:a16="http://schemas.microsoft.com/office/drawing/2014/main" id="{1E09CC47-A1E2-4FBE-9AA6-FFC62FC54AF1}"/>
              </a:ext>
            </a:extLst>
          </p:cNvPr>
          <p:cNvSpPr>
            <a:spLocks noGrp="1"/>
          </p:cNvSpPr>
          <p:nvPr/>
        </p:nvSpPr>
        <p:spPr>
          <a:xfrm>
            <a:off x="771525" y="4314825"/>
            <a:ext cx="5391150" cy="38576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html-shape-19">
            <a:extLst>
              <a:ext uri="{FF2B5EF4-FFF2-40B4-BE49-F238E27FC236}">
                <a16:creationId xmlns:a16="http://schemas.microsoft.com/office/drawing/2014/main" id="{6E9F5372-BF5F-4B45-83C2-23E3394FB674}"/>
              </a:ext>
            </a:extLst>
          </p:cNvPr>
          <p:cNvSpPr>
            <a:spLocks noGrp="1"/>
          </p:cNvSpPr>
          <p:nvPr/>
        </p:nvSpPr>
        <p:spPr>
          <a:xfrm>
            <a:off x="6448425" y="4314825"/>
            <a:ext cx="5391150" cy="38576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html-shape-31">
            <a:extLst>
              <a:ext uri="{FF2B5EF4-FFF2-40B4-BE49-F238E27FC236}">
                <a16:creationId xmlns:a16="http://schemas.microsoft.com/office/drawing/2014/main" id="{4C26F696-CAD2-4306-BB2D-4CAA13CC3B96}"/>
              </a:ext>
            </a:extLst>
          </p:cNvPr>
          <p:cNvSpPr>
            <a:spLocks noGrp="1"/>
          </p:cNvSpPr>
          <p:nvPr/>
        </p:nvSpPr>
        <p:spPr>
          <a:xfrm>
            <a:off x="12125325" y="4314825"/>
            <a:ext cx="5391150" cy="38576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html-shape-43">
            <a:extLst>
              <a:ext uri="{FF2B5EF4-FFF2-40B4-BE49-F238E27FC236}">
                <a16:creationId xmlns:a16="http://schemas.microsoft.com/office/drawing/2014/main" id="{FE57BC16-43E6-40A6-ACCB-817CA1C25BCB}"/>
              </a:ext>
            </a:extLst>
          </p:cNvPr>
          <p:cNvSpPr>
            <a:spLocks noGrp="1"/>
          </p:cNvSpPr>
          <p:nvPr/>
        </p:nvSpPr>
        <p:spPr>
          <a:xfrm>
            <a:off x="771525" y="8401050"/>
            <a:ext cx="16744950" cy="971550"/>
          </a:xfrm>
          <a:prstGeom prst="roundRect">
            <a:avLst>
              <a:gd name="adj" fmla="val 14706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6" name="html-shape-2">
            <a:extLst>
              <a:ext uri="{FF2B5EF4-FFF2-40B4-BE49-F238E27FC236}">
                <a16:creationId xmlns:a16="http://schemas.microsoft.com/office/drawing/2014/main" id="{1195B9EE-6A3D-45A3-892B-39708E9BAAAD}"/>
              </a:ext>
            </a:extLst>
          </p:cNvPr>
          <p:cNvSpPr>
            <a:spLocks noGrp="1"/>
          </p:cNvSpPr>
          <p:nvPr/>
        </p:nvSpPr>
        <p:spPr>
          <a:xfrm>
            <a:off x="1009650" y="3014663"/>
            <a:ext cx="3130201" cy="857250"/>
          </a:xfrm>
          <a:prstGeom prst="roundRect">
            <a:avLst>
              <a:gd name="adj" fmla="val 15556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7" name="html-shape-3">
            <a:extLst>
              <a:ext uri="{FF2B5EF4-FFF2-40B4-BE49-F238E27FC236}">
                <a16:creationId xmlns:a16="http://schemas.microsoft.com/office/drawing/2014/main" id="{9B01F7A2-368C-48A5-903C-A957A4CE0FE6}"/>
              </a:ext>
            </a:extLst>
          </p:cNvPr>
          <p:cNvSpPr>
            <a:spLocks noGrp="1"/>
          </p:cNvSpPr>
          <p:nvPr/>
        </p:nvSpPr>
        <p:spPr>
          <a:xfrm>
            <a:off x="4797076" y="3014663"/>
            <a:ext cx="2880836" cy="857250"/>
          </a:xfrm>
          <a:prstGeom prst="roundRect">
            <a:avLst>
              <a:gd name="adj" fmla="val 15556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8" name="html-shape-4">
            <a:extLst>
              <a:ext uri="{FF2B5EF4-FFF2-40B4-BE49-F238E27FC236}">
                <a16:creationId xmlns:a16="http://schemas.microsoft.com/office/drawing/2014/main" id="{4781CF9F-1080-4572-9662-0F1E27E7B86F}"/>
              </a:ext>
            </a:extLst>
          </p:cNvPr>
          <p:cNvSpPr>
            <a:spLocks noGrp="1"/>
          </p:cNvSpPr>
          <p:nvPr/>
        </p:nvSpPr>
        <p:spPr>
          <a:xfrm>
            <a:off x="8335137" y="3014663"/>
            <a:ext cx="2881027" cy="857250"/>
          </a:xfrm>
          <a:prstGeom prst="roundRect">
            <a:avLst>
              <a:gd name="adj" fmla="val 15556"/>
            </a:avLst>
          </a:prstGeom>
          <a:solidFill>
            <a:srgbClr val="E9EFFF"/>
          </a:solidFill>
          <a:ln w="0">
            <a:noFill/>
            <a:prstDash val="solid"/>
          </a:ln>
        </p:spPr>
      </p:sp>
      <p:sp>
        <p:nvSpPr>
          <p:cNvPr id="9" name="html-shape-5">
            <a:extLst>
              <a:ext uri="{FF2B5EF4-FFF2-40B4-BE49-F238E27FC236}">
                <a16:creationId xmlns:a16="http://schemas.microsoft.com/office/drawing/2014/main" id="{23AA4708-93D0-490F-8533-E5D79FCCC395}"/>
              </a:ext>
            </a:extLst>
          </p:cNvPr>
          <p:cNvSpPr>
            <a:spLocks noGrp="1"/>
          </p:cNvSpPr>
          <p:nvPr/>
        </p:nvSpPr>
        <p:spPr>
          <a:xfrm>
            <a:off x="11873389" y="3014663"/>
            <a:ext cx="2880836" cy="857250"/>
          </a:xfrm>
          <a:prstGeom prst="roundRect">
            <a:avLst>
              <a:gd name="adj" fmla="val 15556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10" name="html-shape-6">
            <a:extLst>
              <a:ext uri="{FF2B5EF4-FFF2-40B4-BE49-F238E27FC236}">
                <a16:creationId xmlns:a16="http://schemas.microsoft.com/office/drawing/2014/main" id="{42E1B189-A1FF-4FB2-9784-15AFDBA77534}"/>
              </a:ext>
            </a:extLst>
          </p:cNvPr>
          <p:cNvSpPr>
            <a:spLocks noGrp="1"/>
          </p:cNvSpPr>
          <p:nvPr/>
        </p:nvSpPr>
        <p:spPr>
          <a:xfrm>
            <a:off x="14897100" y="3148013"/>
            <a:ext cx="2381250" cy="590550"/>
          </a:xfrm>
          <a:prstGeom prst="roundRect">
            <a:avLst>
              <a:gd name="adj" fmla="val 50000"/>
            </a:avLst>
          </a:prstGeom>
          <a:solidFill>
            <a:srgbClr val="313846"/>
          </a:solidFill>
          <a:ln w="0">
            <a:noFill/>
            <a:prstDash val="solid"/>
          </a:ln>
        </p:spPr>
      </p:sp>
      <p:sp>
        <p:nvSpPr>
          <p:cNvPr id="11" name="border-8">
            <a:extLst>
              <a:ext uri="{FF2B5EF4-FFF2-40B4-BE49-F238E27FC236}">
                <a16:creationId xmlns:a16="http://schemas.microsoft.com/office/drawing/2014/main" id="{33982F45-7BD7-4B67-ADB9-B79F3FEC42F7}"/>
              </a:ext>
            </a:extLst>
          </p:cNvPr>
          <p:cNvSpPr>
            <a:spLocks noGrp="1"/>
          </p:cNvSpPr>
          <p:nvPr/>
        </p:nvSpPr>
        <p:spPr>
          <a:xfrm>
            <a:off x="771525" y="4314825"/>
            <a:ext cx="5391150" cy="6667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2" name="border-9">
            <a:extLst>
              <a:ext uri="{FF2B5EF4-FFF2-40B4-BE49-F238E27FC236}">
                <a16:creationId xmlns:a16="http://schemas.microsoft.com/office/drawing/2014/main" id="{F87477C6-86B9-404F-9EA7-54BF6383A639}"/>
              </a:ext>
            </a:extLst>
          </p:cNvPr>
          <p:cNvSpPr>
            <a:spLocks noGrp="1"/>
          </p:cNvSpPr>
          <p:nvPr/>
        </p:nvSpPr>
        <p:spPr>
          <a:xfrm>
            <a:off x="6153150" y="4314825"/>
            <a:ext cx="9525" cy="3857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3" name="border-10">
            <a:extLst>
              <a:ext uri="{FF2B5EF4-FFF2-40B4-BE49-F238E27FC236}">
                <a16:creationId xmlns:a16="http://schemas.microsoft.com/office/drawing/2014/main" id="{5AFEFEBA-A1AD-4AA1-BC4A-03D63575FE67}"/>
              </a:ext>
            </a:extLst>
          </p:cNvPr>
          <p:cNvSpPr>
            <a:spLocks noGrp="1"/>
          </p:cNvSpPr>
          <p:nvPr/>
        </p:nvSpPr>
        <p:spPr>
          <a:xfrm>
            <a:off x="771525" y="8162925"/>
            <a:ext cx="53911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" name="border-11">
            <a:extLst>
              <a:ext uri="{FF2B5EF4-FFF2-40B4-BE49-F238E27FC236}">
                <a16:creationId xmlns:a16="http://schemas.microsoft.com/office/drawing/2014/main" id="{0722E30D-C361-4252-9240-84FA08D4283F}"/>
              </a:ext>
            </a:extLst>
          </p:cNvPr>
          <p:cNvSpPr>
            <a:spLocks noGrp="1"/>
          </p:cNvSpPr>
          <p:nvPr/>
        </p:nvSpPr>
        <p:spPr>
          <a:xfrm>
            <a:off x="771525" y="4314825"/>
            <a:ext cx="9525" cy="3857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5" name="html-shape-12">
            <a:extLst>
              <a:ext uri="{FF2B5EF4-FFF2-40B4-BE49-F238E27FC236}">
                <a16:creationId xmlns:a16="http://schemas.microsoft.com/office/drawing/2014/main" id="{971FE4DA-0978-4A99-84EE-6C82727B8776}"/>
              </a:ext>
            </a:extLst>
          </p:cNvPr>
          <p:cNvSpPr>
            <a:spLocks noGrp="1"/>
          </p:cNvSpPr>
          <p:nvPr/>
        </p:nvSpPr>
        <p:spPr>
          <a:xfrm>
            <a:off x="1038225" y="4600575"/>
            <a:ext cx="4857750" cy="5619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" name="border-13">
            <a:extLst>
              <a:ext uri="{FF2B5EF4-FFF2-40B4-BE49-F238E27FC236}">
                <a16:creationId xmlns:a16="http://schemas.microsoft.com/office/drawing/2014/main" id="{44841A3D-9F13-4755-876C-73E7D0644034}"/>
              </a:ext>
            </a:extLst>
          </p:cNvPr>
          <p:cNvSpPr>
            <a:spLocks noGrp="1"/>
          </p:cNvSpPr>
          <p:nvPr/>
        </p:nvSpPr>
        <p:spPr>
          <a:xfrm>
            <a:off x="1038225" y="5153025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7" name="html-shape-14">
            <a:extLst>
              <a:ext uri="{FF2B5EF4-FFF2-40B4-BE49-F238E27FC236}">
                <a16:creationId xmlns:a16="http://schemas.microsoft.com/office/drawing/2014/main" id="{BD226653-8F1D-4D65-8828-83D18272C01B}"/>
              </a:ext>
            </a:extLst>
          </p:cNvPr>
          <p:cNvSpPr>
            <a:spLocks noGrp="1"/>
          </p:cNvSpPr>
          <p:nvPr/>
        </p:nvSpPr>
        <p:spPr>
          <a:xfrm>
            <a:off x="1038225" y="5667375"/>
            <a:ext cx="2079022" cy="1190625"/>
          </a:xfrm>
          <a:prstGeom prst="roundRect">
            <a:avLst>
              <a:gd name="adj" fmla="val 11200"/>
            </a:avLst>
          </a:prstGeom>
          <a:solidFill>
            <a:srgbClr val="F4F5F8"/>
          </a:solidFill>
          <a:ln w="0">
            <a:noFill/>
            <a:prstDash val="solid"/>
          </a:ln>
        </p:spPr>
      </p:sp>
      <p:sp>
        <p:nvSpPr>
          <p:cNvPr id="18" name="html-shape-15">
            <a:extLst>
              <a:ext uri="{FF2B5EF4-FFF2-40B4-BE49-F238E27FC236}">
                <a16:creationId xmlns:a16="http://schemas.microsoft.com/office/drawing/2014/main" id="{F20DA19B-1213-4E42-9400-34C4A4505C39}"/>
              </a:ext>
            </a:extLst>
          </p:cNvPr>
          <p:cNvSpPr>
            <a:spLocks noGrp="1"/>
          </p:cNvSpPr>
          <p:nvPr/>
        </p:nvSpPr>
        <p:spPr>
          <a:xfrm>
            <a:off x="3650647" y="5667375"/>
            <a:ext cx="2245328" cy="1190625"/>
          </a:xfrm>
          <a:prstGeom prst="roundRect">
            <a:avLst>
              <a:gd name="adj" fmla="val 11200"/>
            </a:avLst>
          </a:prstGeom>
          <a:solidFill>
            <a:srgbClr val="EEE8FF"/>
          </a:solidFill>
          <a:ln w="19050">
            <a:solidFill>
              <a:srgbClr val="642AF0"/>
            </a:solidFill>
            <a:prstDash val="solid"/>
          </a:ln>
        </p:spPr>
      </p:sp>
      <p:sp>
        <p:nvSpPr>
          <p:cNvPr id="19" name="html-shape-16">
            <a:extLst>
              <a:ext uri="{FF2B5EF4-FFF2-40B4-BE49-F238E27FC236}">
                <a16:creationId xmlns:a16="http://schemas.microsoft.com/office/drawing/2014/main" id="{AE2A8806-B0CF-437F-81B7-EE448DBF4BEF}"/>
              </a:ext>
            </a:extLst>
          </p:cNvPr>
          <p:cNvSpPr>
            <a:spLocks noGrp="1"/>
          </p:cNvSpPr>
          <p:nvPr/>
        </p:nvSpPr>
        <p:spPr>
          <a:xfrm>
            <a:off x="1038225" y="6953250"/>
            <a:ext cx="4857750" cy="647700"/>
          </a:xfrm>
          <a:prstGeom prst="roundRect">
            <a:avLst>
              <a:gd name="adj" fmla="val 17647"/>
            </a:avLst>
          </a:prstGeom>
          <a:solidFill>
            <a:srgbClr val="EEE8FF"/>
          </a:solidFill>
          <a:ln w="9525">
            <a:solidFill>
              <a:srgbClr val="642AF0"/>
            </a:solidFill>
            <a:prstDash val="solid"/>
          </a:ln>
        </p:spPr>
      </p:sp>
      <p:sp>
        <p:nvSpPr>
          <p:cNvPr id="20" name="html-shape-17">
            <a:extLst>
              <a:ext uri="{FF2B5EF4-FFF2-40B4-BE49-F238E27FC236}">
                <a16:creationId xmlns:a16="http://schemas.microsoft.com/office/drawing/2014/main" id="{BC070865-6ACC-4275-8D70-033632F83895}"/>
              </a:ext>
            </a:extLst>
          </p:cNvPr>
          <p:cNvSpPr>
            <a:spLocks noGrp="1"/>
          </p:cNvSpPr>
          <p:nvPr/>
        </p:nvSpPr>
        <p:spPr>
          <a:xfrm>
            <a:off x="3990975" y="7138988"/>
            <a:ext cx="1895475" cy="2762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1" name="border-18">
            <a:extLst>
              <a:ext uri="{FF2B5EF4-FFF2-40B4-BE49-F238E27FC236}">
                <a16:creationId xmlns:a16="http://schemas.microsoft.com/office/drawing/2014/main" id="{4CE1D6EA-62DE-4D71-ABF6-51CD8D8FD5D5}"/>
              </a:ext>
            </a:extLst>
          </p:cNvPr>
          <p:cNvSpPr>
            <a:spLocks noGrp="1"/>
          </p:cNvSpPr>
          <p:nvPr/>
        </p:nvSpPr>
        <p:spPr>
          <a:xfrm>
            <a:off x="3990975" y="7138988"/>
            <a:ext cx="9525" cy="276225"/>
          </a:xfrm>
          <a:prstGeom prst="rect">
            <a:avLst/>
          </a:prstGeom>
          <a:solidFill>
            <a:srgbClr val="D4DAE5"/>
          </a:solidFill>
          <a:ln w="0">
            <a:noFill/>
            <a:prstDash val="solid"/>
          </a:ln>
        </p:spPr>
      </p:sp>
      <p:sp>
        <p:nvSpPr>
          <p:cNvPr id="22" name="border-20">
            <a:extLst>
              <a:ext uri="{FF2B5EF4-FFF2-40B4-BE49-F238E27FC236}">
                <a16:creationId xmlns:a16="http://schemas.microsoft.com/office/drawing/2014/main" id="{03769677-3F48-46EF-BA5F-6E86ABDB68F9}"/>
              </a:ext>
            </a:extLst>
          </p:cNvPr>
          <p:cNvSpPr>
            <a:spLocks noGrp="1"/>
          </p:cNvSpPr>
          <p:nvPr/>
        </p:nvSpPr>
        <p:spPr>
          <a:xfrm>
            <a:off x="6448425" y="4314825"/>
            <a:ext cx="5391150" cy="66675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3" name="border-21">
            <a:extLst>
              <a:ext uri="{FF2B5EF4-FFF2-40B4-BE49-F238E27FC236}">
                <a16:creationId xmlns:a16="http://schemas.microsoft.com/office/drawing/2014/main" id="{60019CA9-E6DF-47E0-A9CD-6C395792DAFA}"/>
              </a:ext>
            </a:extLst>
          </p:cNvPr>
          <p:cNvSpPr>
            <a:spLocks noGrp="1"/>
          </p:cNvSpPr>
          <p:nvPr/>
        </p:nvSpPr>
        <p:spPr>
          <a:xfrm>
            <a:off x="11830050" y="4314825"/>
            <a:ext cx="9525" cy="3857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4" name="border-22">
            <a:extLst>
              <a:ext uri="{FF2B5EF4-FFF2-40B4-BE49-F238E27FC236}">
                <a16:creationId xmlns:a16="http://schemas.microsoft.com/office/drawing/2014/main" id="{B2AF897C-F5CB-4877-935C-EEBF2D61D165}"/>
              </a:ext>
            </a:extLst>
          </p:cNvPr>
          <p:cNvSpPr>
            <a:spLocks noGrp="1"/>
          </p:cNvSpPr>
          <p:nvPr/>
        </p:nvSpPr>
        <p:spPr>
          <a:xfrm>
            <a:off x="6448425" y="8162925"/>
            <a:ext cx="53911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5" name="border-23">
            <a:extLst>
              <a:ext uri="{FF2B5EF4-FFF2-40B4-BE49-F238E27FC236}">
                <a16:creationId xmlns:a16="http://schemas.microsoft.com/office/drawing/2014/main" id="{87F072EF-C3CB-4BF9-A2FB-D41CEEFB43E4}"/>
              </a:ext>
            </a:extLst>
          </p:cNvPr>
          <p:cNvSpPr>
            <a:spLocks noGrp="1"/>
          </p:cNvSpPr>
          <p:nvPr/>
        </p:nvSpPr>
        <p:spPr>
          <a:xfrm>
            <a:off x="6448425" y="4314825"/>
            <a:ext cx="9525" cy="3857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6" name="html-shape-24">
            <a:extLst>
              <a:ext uri="{FF2B5EF4-FFF2-40B4-BE49-F238E27FC236}">
                <a16:creationId xmlns:a16="http://schemas.microsoft.com/office/drawing/2014/main" id="{19074041-9049-47FA-8105-923396B8B653}"/>
              </a:ext>
            </a:extLst>
          </p:cNvPr>
          <p:cNvSpPr>
            <a:spLocks noGrp="1"/>
          </p:cNvSpPr>
          <p:nvPr/>
        </p:nvSpPr>
        <p:spPr>
          <a:xfrm>
            <a:off x="6715125" y="4600575"/>
            <a:ext cx="4857750" cy="5619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7" name="border-25">
            <a:extLst>
              <a:ext uri="{FF2B5EF4-FFF2-40B4-BE49-F238E27FC236}">
                <a16:creationId xmlns:a16="http://schemas.microsoft.com/office/drawing/2014/main" id="{C278619D-9192-4AB2-A718-26DB1022431F}"/>
              </a:ext>
            </a:extLst>
          </p:cNvPr>
          <p:cNvSpPr>
            <a:spLocks noGrp="1"/>
          </p:cNvSpPr>
          <p:nvPr/>
        </p:nvSpPr>
        <p:spPr>
          <a:xfrm>
            <a:off x="6715125" y="5153025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8" name="html-shape-26">
            <a:extLst>
              <a:ext uri="{FF2B5EF4-FFF2-40B4-BE49-F238E27FC236}">
                <a16:creationId xmlns:a16="http://schemas.microsoft.com/office/drawing/2014/main" id="{EDE15629-1AE7-453B-A2F7-F6A6F76911FF}"/>
              </a:ext>
            </a:extLst>
          </p:cNvPr>
          <p:cNvSpPr>
            <a:spLocks noGrp="1"/>
          </p:cNvSpPr>
          <p:nvPr/>
        </p:nvSpPr>
        <p:spPr>
          <a:xfrm>
            <a:off x="6715125" y="5667375"/>
            <a:ext cx="2079022" cy="1190625"/>
          </a:xfrm>
          <a:prstGeom prst="roundRect">
            <a:avLst>
              <a:gd name="adj" fmla="val 11200"/>
            </a:avLst>
          </a:prstGeom>
          <a:solidFill>
            <a:srgbClr val="F4F5F8"/>
          </a:solidFill>
          <a:ln w="0">
            <a:noFill/>
            <a:prstDash val="solid"/>
          </a:ln>
        </p:spPr>
      </p:sp>
      <p:sp>
        <p:nvSpPr>
          <p:cNvPr id="29" name="html-shape-27">
            <a:extLst>
              <a:ext uri="{FF2B5EF4-FFF2-40B4-BE49-F238E27FC236}">
                <a16:creationId xmlns:a16="http://schemas.microsoft.com/office/drawing/2014/main" id="{6C6DD023-09D6-426F-B982-545495034519}"/>
              </a:ext>
            </a:extLst>
          </p:cNvPr>
          <p:cNvSpPr>
            <a:spLocks noGrp="1"/>
          </p:cNvSpPr>
          <p:nvPr/>
        </p:nvSpPr>
        <p:spPr>
          <a:xfrm>
            <a:off x="9327547" y="5667375"/>
            <a:ext cx="2245328" cy="1190625"/>
          </a:xfrm>
          <a:prstGeom prst="roundRect">
            <a:avLst>
              <a:gd name="adj" fmla="val 11200"/>
            </a:avLst>
          </a:prstGeom>
          <a:solidFill>
            <a:srgbClr val="E9EFFF"/>
          </a:solidFill>
          <a:ln w="19050">
            <a:solidFill>
              <a:srgbClr val="315FD5"/>
            </a:solidFill>
            <a:prstDash val="solid"/>
          </a:ln>
        </p:spPr>
      </p:sp>
      <p:sp>
        <p:nvSpPr>
          <p:cNvPr id="30" name="html-shape-28">
            <a:extLst>
              <a:ext uri="{FF2B5EF4-FFF2-40B4-BE49-F238E27FC236}">
                <a16:creationId xmlns:a16="http://schemas.microsoft.com/office/drawing/2014/main" id="{8B7A809C-E41F-4B3C-A7B0-4AD84BFED34D}"/>
              </a:ext>
            </a:extLst>
          </p:cNvPr>
          <p:cNvSpPr>
            <a:spLocks noGrp="1"/>
          </p:cNvSpPr>
          <p:nvPr/>
        </p:nvSpPr>
        <p:spPr>
          <a:xfrm>
            <a:off x="6715125" y="6953250"/>
            <a:ext cx="4857750" cy="647700"/>
          </a:xfrm>
          <a:prstGeom prst="roundRect">
            <a:avLst>
              <a:gd name="adj" fmla="val 17647"/>
            </a:avLst>
          </a:prstGeom>
          <a:solidFill>
            <a:srgbClr val="E9EFFF"/>
          </a:solidFill>
          <a:ln w="9525">
            <a:solidFill>
              <a:srgbClr val="315FD5"/>
            </a:solidFill>
            <a:prstDash val="solid"/>
          </a:ln>
        </p:spPr>
      </p:sp>
      <p:sp>
        <p:nvSpPr>
          <p:cNvPr id="31" name="html-shape-29">
            <a:extLst>
              <a:ext uri="{FF2B5EF4-FFF2-40B4-BE49-F238E27FC236}">
                <a16:creationId xmlns:a16="http://schemas.microsoft.com/office/drawing/2014/main" id="{9653B928-8C00-4E6B-BAC3-D04812230E24}"/>
              </a:ext>
            </a:extLst>
          </p:cNvPr>
          <p:cNvSpPr>
            <a:spLocks noGrp="1"/>
          </p:cNvSpPr>
          <p:nvPr/>
        </p:nvSpPr>
        <p:spPr>
          <a:xfrm>
            <a:off x="9667875" y="7138988"/>
            <a:ext cx="1895475" cy="2762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2" name="border-30">
            <a:extLst>
              <a:ext uri="{FF2B5EF4-FFF2-40B4-BE49-F238E27FC236}">
                <a16:creationId xmlns:a16="http://schemas.microsoft.com/office/drawing/2014/main" id="{6118D7DF-6D56-458E-8EA3-7F7A93CE918C}"/>
              </a:ext>
            </a:extLst>
          </p:cNvPr>
          <p:cNvSpPr>
            <a:spLocks noGrp="1"/>
          </p:cNvSpPr>
          <p:nvPr/>
        </p:nvSpPr>
        <p:spPr>
          <a:xfrm>
            <a:off x="9667875" y="7138988"/>
            <a:ext cx="9525" cy="276225"/>
          </a:xfrm>
          <a:prstGeom prst="rect">
            <a:avLst/>
          </a:prstGeom>
          <a:solidFill>
            <a:srgbClr val="D4DAE5"/>
          </a:solidFill>
          <a:ln w="0">
            <a:noFill/>
            <a:prstDash val="solid"/>
          </a:ln>
        </p:spPr>
      </p:sp>
      <p:sp>
        <p:nvSpPr>
          <p:cNvPr id="33" name="border-32">
            <a:extLst>
              <a:ext uri="{FF2B5EF4-FFF2-40B4-BE49-F238E27FC236}">
                <a16:creationId xmlns:a16="http://schemas.microsoft.com/office/drawing/2014/main" id="{B8664FB1-AD6C-407E-9A78-27E1911B6DA2}"/>
              </a:ext>
            </a:extLst>
          </p:cNvPr>
          <p:cNvSpPr>
            <a:spLocks noGrp="1"/>
          </p:cNvSpPr>
          <p:nvPr/>
        </p:nvSpPr>
        <p:spPr>
          <a:xfrm>
            <a:off x="12125325" y="4314825"/>
            <a:ext cx="5391150" cy="6667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4" name="border-33">
            <a:extLst>
              <a:ext uri="{FF2B5EF4-FFF2-40B4-BE49-F238E27FC236}">
                <a16:creationId xmlns:a16="http://schemas.microsoft.com/office/drawing/2014/main" id="{93A9CF42-F2C6-486B-9972-FBDAC2356FB7}"/>
              </a:ext>
            </a:extLst>
          </p:cNvPr>
          <p:cNvSpPr>
            <a:spLocks noGrp="1"/>
          </p:cNvSpPr>
          <p:nvPr/>
        </p:nvSpPr>
        <p:spPr>
          <a:xfrm>
            <a:off x="17506950" y="4314825"/>
            <a:ext cx="9525" cy="3857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5" name="border-34">
            <a:extLst>
              <a:ext uri="{FF2B5EF4-FFF2-40B4-BE49-F238E27FC236}">
                <a16:creationId xmlns:a16="http://schemas.microsoft.com/office/drawing/2014/main" id="{A92B532E-9703-4D51-9518-58C871B26530}"/>
              </a:ext>
            </a:extLst>
          </p:cNvPr>
          <p:cNvSpPr>
            <a:spLocks noGrp="1"/>
          </p:cNvSpPr>
          <p:nvPr/>
        </p:nvSpPr>
        <p:spPr>
          <a:xfrm>
            <a:off x="12125325" y="8162925"/>
            <a:ext cx="53911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6" name="border-35">
            <a:extLst>
              <a:ext uri="{FF2B5EF4-FFF2-40B4-BE49-F238E27FC236}">
                <a16:creationId xmlns:a16="http://schemas.microsoft.com/office/drawing/2014/main" id="{05EE3637-C75D-4E6C-A709-05E6A62488B9}"/>
              </a:ext>
            </a:extLst>
          </p:cNvPr>
          <p:cNvSpPr>
            <a:spLocks noGrp="1"/>
          </p:cNvSpPr>
          <p:nvPr/>
        </p:nvSpPr>
        <p:spPr>
          <a:xfrm>
            <a:off x="12125325" y="4314825"/>
            <a:ext cx="9525" cy="38576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7" name="html-shape-36">
            <a:extLst>
              <a:ext uri="{FF2B5EF4-FFF2-40B4-BE49-F238E27FC236}">
                <a16:creationId xmlns:a16="http://schemas.microsoft.com/office/drawing/2014/main" id="{F9C901A8-FA8D-4354-B2B1-6F38334CB2BF}"/>
              </a:ext>
            </a:extLst>
          </p:cNvPr>
          <p:cNvSpPr>
            <a:spLocks noGrp="1"/>
          </p:cNvSpPr>
          <p:nvPr/>
        </p:nvSpPr>
        <p:spPr>
          <a:xfrm>
            <a:off x="12392025" y="4600575"/>
            <a:ext cx="4857750" cy="5619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8" name="border-37">
            <a:extLst>
              <a:ext uri="{FF2B5EF4-FFF2-40B4-BE49-F238E27FC236}">
                <a16:creationId xmlns:a16="http://schemas.microsoft.com/office/drawing/2014/main" id="{32AB12D3-D0D0-433E-B8B8-7DE22C330A3A}"/>
              </a:ext>
            </a:extLst>
          </p:cNvPr>
          <p:cNvSpPr>
            <a:spLocks noGrp="1"/>
          </p:cNvSpPr>
          <p:nvPr/>
        </p:nvSpPr>
        <p:spPr>
          <a:xfrm>
            <a:off x="12392025" y="5153025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9" name="html-shape-38">
            <a:extLst>
              <a:ext uri="{FF2B5EF4-FFF2-40B4-BE49-F238E27FC236}">
                <a16:creationId xmlns:a16="http://schemas.microsoft.com/office/drawing/2014/main" id="{6B2B4DAB-FD67-48BE-A076-1F8C1A932183}"/>
              </a:ext>
            </a:extLst>
          </p:cNvPr>
          <p:cNvSpPr>
            <a:spLocks noGrp="1"/>
          </p:cNvSpPr>
          <p:nvPr/>
        </p:nvSpPr>
        <p:spPr>
          <a:xfrm>
            <a:off x="12392025" y="5667375"/>
            <a:ext cx="2079022" cy="1190625"/>
          </a:xfrm>
          <a:prstGeom prst="roundRect">
            <a:avLst>
              <a:gd name="adj" fmla="val 11200"/>
            </a:avLst>
          </a:prstGeom>
          <a:solidFill>
            <a:srgbClr val="F4F5F8"/>
          </a:solidFill>
          <a:ln w="0">
            <a:noFill/>
            <a:prstDash val="solid"/>
          </a:ln>
        </p:spPr>
      </p:sp>
      <p:sp>
        <p:nvSpPr>
          <p:cNvPr id="40" name="html-shape-39">
            <a:extLst>
              <a:ext uri="{FF2B5EF4-FFF2-40B4-BE49-F238E27FC236}">
                <a16:creationId xmlns:a16="http://schemas.microsoft.com/office/drawing/2014/main" id="{F28BBC8D-4536-4CD7-AA07-E00C6F86065E}"/>
              </a:ext>
            </a:extLst>
          </p:cNvPr>
          <p:cNvSpPr>
            <a:spLocks noGrp="1"/>
          </p:cNvSpPr>
          <p:nvPr/>
        </p:nvSpPr>
        <p:spPr>
          <a:xfrm>
            <a:off x="15004447" y="5667375"/>
            <a:ext cx="2245328" cy="1190625"/>
          </a:xfrm>
          <a:prstGeom prst="roundRect">
            <a:avLst>
              <a:gd name="adj" fmla="val 11200"/>
            </a:avLst>
          </a:prstGeom>
          <a:solidFill>
            <a:srgbClr val="E7F7F0"/>
          </a:solidFill>
          <a:ln w="19050">
            <a:solidFill>
              <a:srgbClr val="0A9A62"/>
            </a:solidFill>
            <a:prstDash val="solid"/>
          </a:ln>
        </p:spPr>
      </p:sp>
      <p:sp>
        <p:nvSpPr>
          <p:cNvPr id="41" name="html-shape-40">
            <a:extLst>
              <a:ext uri="{FF2B5EF4-FFF2-40B4-BE49-F238E27FC236}">
                <a16:creationId xmlns:a16="http://schemas.microsoft.com/office/drawing/2014/main" id="{05E06386-52E1-4DFB-97FD-46F4D44EFAB6}"/>
              </a:ext>
            </a:extLst>
          </p:cNvPr>
          <p:cNvSpPr>
            <a:spLocks noGrp="1"/>
          </p:cNvSpPr>
          <p:nvPr/>
        </p:nvSpPr>
        <p:spPr>
          <a:xfrm>
            <a:off x="12392025" y="6953250"/>
            <a:ext cx="4857750" cy="647700"/>
          </a:xfrm>
          <a:prstGeom prst="roundRect">
            <a:avLst>
              <a:gd name="adj" fmla="val 17647"/>
            </a:avLst>
          </a:prstGeom>
          <a:solidFill>
            <a:srgbClr val="E7F7F0"/>
          </a:solidFill>
          <a:ln w="9525">
            <a:solidFill>
              <a:srgbClr val="0A9A62"/>
            </a:solidFill>
            <a:prstDash val="solid"/>
          </a:ln>
        </p:spPr>
      </p:sp>
      <p:sp>
        <p:nvSpPr>
          <p:cNvPr id="42" name="html-shape-41">
            <a:extLst>
              <a:ext uri="{FF2B5EF4-FFF2-40B4-BE49-F238E27FC236}">
                <a16:creationId xmlns:a16="http://schemas.microsoft.com/office/drawing/2014/main" id="{CEDDAA15-EB04-4140-98BA-F80965040CE7}"/>
              </a:ext>
            </a:extLst>
          </p:cNvPr>
          <p:cNvSpPr>
            <a:spLocks noGrp="1"/>
          </p:cNvSpPr>
          <p:nvPr/>
        </p:nvSpPr>
        <p:spPr>
          <a:xfrm>
            <a:off x="15344775" y="7138988"/>
            <a:ext cx="1895475" cy="2762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3" name="border-42">
            <a:extLst>
              <a:ext uri="{FF2B5EF4-FFF2-40B4-BE49-F238E27FC236}">
                <a16:creationId xmlns:a16="http://schemas.microsoft.com/office/drawing/2014/main" id="{0C205163-816B-406E-BDC8-13FBF196208B}"/>
              </a:ext>
            </a:extLst>
          </p:cNvPr>
          <p:cNvSpPr>
            <a:spLocks noGrp="1"/>
          </p:cNvSpPr>
          <p:nvPr/>
        </p:nvSpPr>
        <p:spPr>
          <a:xfrm>
            <a:off x="15344775" y="7138988"/>
            <a:ext cx="9525" cy="276225"/>
          </a:xfrm>
          <a:prstGeom prst="rect">
            <a:avLst/>
          </a:prstGeom>
          <a:solidFill>
            <a:srgbClr val="D4DAE5"/>
          </a:solidFill>
          <a:ln w="0">
            <a:noFill/>
            <a:prstDash val="solid"/>
          </a:ln>
        </p:spPr>
      </p:sp>
      <p:sp>
        <p:nvSpPr>
          <p:cNvPr id="44" name="html-shape-44">
            <a:extLst>
              <a:ext uri="{FF2B5EF4-FFF2-40B4-BE49-F238E27FC236}">
                <a16:creationId xmlns:a16="http://schemas.microsoft.com/office/drawing/2014/main" id="{EB1BE270-B3F3-4F9A-B40C-2F9A1D46B58F}"/>
              </a:ext>
            </a:extLst>
          </p:cNvPr>
          <p:cNvSpPr>
            <a:spLocks noGrp="1"/>
          </p:cNvSpPr>
          <p:nvPr/>
        </p:nvSpPr>
        <p:spPr>
          <a:xfrm>
            <a:off x="11963400" y="8572500"/>
            <a:ext cx="2619375" cy="6286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" name="border-45">
            <a:extLst>
              <a:ext uri="{FF2B5EF4-FFF2-40B4-BE49-F238E27FC236}">
                <a16:creationId xmlns:a16="http://schemas.microsoft.com/office/drawing/2014/main" id="{05794228-D321-4169-9EBA-009AF83D4A05}"/>
              </a:ext>
            </a:extLst>
          </p:cNvPr>
          <p:cNvSpPr>
            <a:spLocks noGrp="1"/>
          </p:cNvSpPr>
          <p:nvPr/>
        </p:nvSpPr>
        <p:spPr>
          <a:xfrm>
            <a:off x="11963400" y="8572500"/>
            <a:ext cx="9525" cy="628650"/>
          </a:xfrm>
          <a:prstGeom prst="rect">
            <a:avLst/>
          </a:prstGeom>
          <a:solidFill>
            <a:srgbClr val="CFD6E3"/>
          </a:solidFill>
          <a:ln w="0">
            <a:noFill/>
            <a:prstDash val="solid"/>
          </a:ln>
        </p:spPr>
      </p:sp>
      <p:sp>
        <p:nvSpPr>
          <p:cNvPr id="46" name="html-shape-46">
            <a:extLst>
              <a:ext uri="{FF2B5EF4-FFF2-40B4-BE49-F238E27FC236}">
                <a16:creationId xmlns:a16="http://schemas.microsoft.com/office/drawing/2014/main" id="{E30E5434-0F39-4064-946B-05CD4A1D8385}"/>
              </a:ext>
            </a:extLst>
          </p:cNvPr>
          <p:cNvSpPr>
            <a:spLocks noGrp="1"/>
          </p:cNvSpPr>
          <p:nvPr/>
        </p:nvSpPr>
        <p:spPr>
          <a:xfrm>
            <a:off x="14582775" y="8572500"/>
            <a:ext cx="2619375" cy="6286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7" name="border-47">
            <a:extLst>
              <a:ext uri="{FF2B5EF4-FFF2-40B4-BE49-F238E27FC236}">
                <a16:creationId xmlns:a16="http://schemas.microsoft.com/office/drawing/2014/main" id="{DF26133E-A6B8-40C1-9D82-22DE8FFA4DCC}"/>
              </a:ext>
            </a:extLst>
          </p:cNvPr>
          <p:cNvSpPr>
            <a:spLocks noGrp="1"/>
          </p:cNvSpPr>
          <p:nvPr/>
        </p:nvSpPr>
        <p:spPr>
          <a:xfrm>
            <a:off x="14582775" y="8572500"/>
            <a:ext cx="9525" cy="628650"/>
          </a:xfrm>
          <a:prstGeom prst="rect">
            <a:avLst/>
          </a:prstGeom>
          <a:solidFill>
            <a:srgbClr val="CFD6E3"/>
          </a:solidFill>
          <a:ln w="0">
            <a:noFill/>
            <a:prstDash val="solid"/>
          </a:ln>
        </p:spPr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E9682C63-7FD9-44F3-85CE-1EC2805C6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507AB297-C6CD-406D-ADFC-E523ABF58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50" name="text-1">
            <a:extLst>
              <a:ext uri="{FF2B5EF4-FFF2-40B4-BE49-F238E27FC236}">
                <a16:creationId xmlns:a16="http://schemas.microsoft.com/office/drawing/2014/main" id="{AE092D9B-BE53-43D3-A850-9C3D62647731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51" name="text-2">
            <a:extLst>
              <a:ext uri="{FF2B5EF4-FFF2-40B4-BE49-F238E27FC236}">
                <a16:creationId xmlns:a16="http://schemas.microsoft.com/office/drawing/2014/main" id="{97AFB305-D14A-412D-AAEC-C4A024B7482D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18264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第一章 · 用户目标</a:t>
            </a:r>
          </a:p>
        </p:txBody>
      </p:sp>
      <p:sp>
        <p:nvSpPr>
          <p:cNvPr id="52" name="text-3">
            <a:extLst>
              <a:ext uri="{FF2B5EF4-FFF2-40B4-BE49-F238E27FC236}">
                <a16:creationId xmlns:a16="http://schemas.microsoft.com/office/drawing/2014/main" id="{D2ED5488-7542-48C9-803E-C759D0BDD332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0769251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340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高质量 Token 服务已形成分层计价体系</a:t>
            </a:r>
          </a:p>
        </p:txBody>
      </p:sp>
      <p:sp>
        <p:nvSpPr>
          <p:cNvPr id="53" name="text-4">
            <a:extLst>
              <a:ext uri="{FF2B5EF4-FFF2-40B4-BE49-F238E27FC236}">
                <a16:creationId xmlns:a16="http://schemas.microsoft.com/office/drawing/2014/main" id="{E0BDBB72-7945-466D-BA0E-3DDA24036DBE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8836247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API 服务围绕模型能力、上下文长度与交付速度实施差异化定价</a:t>
            </a:r>
          </a:p>
        </p:txBody>
      </p:sp>
      <p:sp>
        <p:nvSpPr>
          <p:cNvPr id="54" name="text-5">
            <a:extLst>
              <a:ext uri="{FF2B5EF4-FFF2-40B4-BE49-F238E27FC236}">
                <a16:creationId xmlns:a16="http://schemas.microsoft.com/office/drawing/2014/main" id="{00E57C0E-A280-4486-BADA-B0545F355147}"/>
              </a:ext>
            </a:extLst>
          </p:cNvPr>
          <p:cNvSpPr>
            <a:spLocks noGrp="1"/>
          </p:cNvSpPr>
          <p:nvPr/>
        </p:nvSpPr>
        <p:spPr>
          <a:xfrm>
            <a:off x="1257300" y="3119438"/>
            <a:ext cx="92754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spc="12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spc="12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spc="12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QUALITY</a:t>
            </a:r>
          </a:p>
        </p:txBody>
      </p:sp>
      <p:sp>
        <p:nvSpPr>
          <p:cNvPr id="55" name="text-6">
            <a:extLst>
              <a:ext uri="{FF2B5EF4-FFF2-40B4-BE49-F238E27FC236}">
                <a16:creationId xmlns:a16="http://schemas.microsoft.com/office/drawing/2014/main" id="{993774F5-8D79-4BDA-A082-4CCFDAD7A097}"/>
              </a:ext>
            </a:extLst>
          </p:cNvPr>
          <p:cNvSpPr>
            <a:spLocks noGrp="1"/>
          </p:cNvSpPr>
          <p:nvPr/>
        </p:nvSpPr>
        <p:spPr>
          <a:xfrm>
            <a:off x="1257300" y="3357563"/>
            <a:ext cx="2692051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高质量 Token 服务</a:t>
            </a:r>
          </a:p>
        </p:txBody>
      </p:sp>
      <p:sp>
        <p:nvSpPr>
          <p:cNvPr id="56" name="text-7">
            <a:extLst>
              <a:ext uri="{FF2B5EF4-FFF2-40B4-BE49-F238E27FC236}">
                <a16:creationId xmlns:a16="http://schemas.microsoft.com/office/drawing/2014/main" id="{6BA2B84B-3F04-4456-88A7-E0C79413420A}"/>
              </a:ext>
            </a:extLst>
          </p:cNvPr>
          <p:cNvSpPr>
            <a:spLocks noGrp="1"/>
          </p:cNvSpPr>
          <p:nvPr/>
        </p:nvSpPr>
        <p:spPr>
          <a:xfrm>
            <a:off x="4349401" y="3186113"/>
            <a:ext cx="2952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929DA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929DA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929DAF"/>
                </a:solidFill>
                <a:latin typeface="PingFang SC"/>
                <a:ea typeface="PingFang SC"/>
                <a:cs typeface="Arial"/>
              </a:rPr>
              <a:t>=</a:t>
            </a:r>
          </a:p>
        </p:txBody>
      </p:sp>
      <p:sp>
        <p:nvSpPr>
          <p:cNvPr id="57" name="text-8">
            <a:extLst>
              <a:ext uri="{FF2B5EF4-FFF2-40B4-BE49-F238E27FC236}">
                <a16:creationId xmlns:a16="http://schemas.microsoft.com/office/drawing/2014/main" id="{8956D6D5-9EE5-407E-9FE7-657E6BDB0B99}"/>
              </a:ext>
            </a:extLst>
          </p:cNvPr>
          <p:cNvSpPr>
            <a:spLocks noGrp="1"/>
          </p:cNvSpPr>
          <p:nvPr/>
        </p:nvSpPr>
        <p:spPr>
          <a:xfrm>
            <a:off x="5016151" y="3119438"/>
            <a:ext cx="79219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 · 能力</a:t>
            </a:r>
          </a:p>
        </p:txBody>
      </p:sp>
      <p:sp>
        <p:nvSpPr>
          <p:cNvPr id="58" name="text-9">
            <a:extLst>
              <a:ext uri="{FF2B5EF4-FFF2-40B4-BE49-F238E27FC236}">
                <a16:creationId xmlns:a16="http://schemas.microsoft.com/office/drawing/2014/main" id="{CA475847-D1ED-49AA-9E4E-EF24038F6E29}"/>
              </a:ext>
            </a:extLst>
          </p:cNvPr>
          <p:cNvSpPr>
            <a:spLocks noGrp="1"/>
          </p:cNvSpPr>
          <p:nvPr/>
        </p:nvSpPr>
        <p:spPr>
          <a:xfrm>
            <a:off x="5016151" y="3367088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能力更强</a:t>
            </a:r>
          </a:p>
        </p:txBody>
      </p:sp>
      <p:sp>
        <p:nvSpPr>
          <p:cNvPr id="59" name="text-10">
            <a:extLst>
              <a:ext uri="{FF2B5EF4-FFF2-40B4-BE49-F238E27FC236}">
                <a16:creationId xmlns:a16="http://schemas.microsoft.com/office/drawing/2014/main" id="{C46BE3EC-4571-4823-8448-64D6CD23A8BE}"/>
              </a:ext>
            </a:extLst>
          </p:cNvPr>
          <p:cNvSpPr>
            <a:spLocks noGrp="1"/>
          </p:cNvSpPr>
          <p:nvPr/>
        </p:nvSpPr>
        <p:spPr>
          <a:xfrm>
            <a:off x="7887462" y="3186113"/>
            <a:ext cx="2952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929DA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929DA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929DAF"/>
                </a:solidFill>
                <a:latin typeface="PingFang SC"/>
                <a:ea typeface="PingFang SC"/>
                <a:cs typeface="Arial"/>
              </a:rPr>
              <a:t>+</a:t>
            </a:r>
          </a:p>
        </p:txBody>
      </p:sp>
      <p:sp>
        <p:nvSpPr>
          <p:cNvPr id="60" name="text-11">
            <a:extLst>
              <a:ext uri="{FF2B5EF4-FFF2-40B4-BE49-F238E27FC236}">
                <a16:creationId xmlns:a16="http://schemas.microsoft.com/office/drawing/2014/main" id="{A23348FC-12E1-4501-9A22-0EDDCD2D91C3}"/>
              </a:ext>
            </a:extLst>
          </p:cNvPr>
          <p:cNvSpPr>
            <a:spLocks noGrp="1"/>
          </p:cNvSpPr>
          <p:nvPr/>
        </p:nvSpPr>
        <p:spPr>
          <a:xfrm>
            <a:off x="8554212" y="3119438"/>
            <a:ext cx="99622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02 · 上下文</a:t>
            </a:r>
          </a:p>
        </p:txBody>
      </p:sp>
      <p:sp>
        <p:nvSpPr>
          <p:cNvPr id="61" name="text-12">
            <a:extLst>
              <a:ext uri="{FF2B5EF4-FFF2-40B4-BE49-F238E27FC236}">
                <a16:creationId xmlns:a16="http://schemas.microsoft.com/office/drawing/2014/main" id="{C1841D56-95D7-46EE-BC68-6FBB85AD5455}"/>
              </a:ext>
            </a:extLst>
          </p:cNvPr>
          <p:cNvSpPr>
            <a:spLocks noGrp="1"/>
          </p:cNvSpPr>
          <p:nvPr/>
        </p:nvSpPr>
        <p:spPr>
          <a:xfrm>
            <a:off x="8554212" y="3367088"/>
            <a:ext cx="1552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上下文更长</a:t>
            </a:r>
          </a:p>
        </p:txBody>
      </p:sp>
      <p:sp>
        <p:nvSpPr>
          <p:cNvPr id="62" name="text-13">
            <a:extLst>
              <a:ext uri="{FF2B5EF4-FFF2-40B4-BE49-F238E27FC236}">
                <a16:creationId xmlns:a16="http://schemas.microsoft.com/office/drawing/2014/main" id="{39EE8F6E-B090-4932-B6C2-EEA8655733DB}"/>
              </a:ext>
            </a:extLst>
          </p:cNvPr>
          <p:cNvSpPr>
            <a:spLocks noGrp="1"/>
          </p:cNvSpPr>
          <p:nvPr/>
        </p:nvSpPr>
        <p:spPr>
          <a:xfrm>
            <a:off x="11425714" y="3186113"/>
            <a:ext cx="2952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929DA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929DA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929DAF"/>
                </a:solidFill>
                <a:latin typeface="PingFang SC"/>
                <a:ea typeface="PingFang SC"/>
                <a:cs typeface="Arial"/>
              </a:rPr>
              <a:t>+</a:t>
            </a:r>
          </a:p>
        </p:txBody>
      </p:sp>
      <p:sp>
        <p:nvSpPr>
          <p:cNvPr id="63" name="text-14">
            <a:extLst>
              <a:ext uri="{FF2B5EF4-FFF2-40B4-BE49-F238E27FC236}">
                <a16:creationId xmlns:a16="http://schemas.microsoft.com/office/drawing/2014/main" id="{1739DF6D-8F76-460B-93D6-475E853A8796}"/>
              </a:ext>
            </a:extLst>
          </p:cNvPr>
          <p:cNvSpPr>
            <a:spLocks noGrp="1"/>
          </p:cNvSpPr>
          <p:nvPr/>
        </p:nvSpPr>
        <p:spPr>
          <a:xfrm>
            <a:off x="12092464" y="3119438"/>
            <a:ext cx="82477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03 · 速度</a:t>
            </a:r>
          </a:p>
        </p:txBody>
      </p:sp>
      <p:sp>
        <p:nvSpPr>
          <p:cNvPr id="64" name="text-15">
            <a:extLst>
              <a:ext uri="{FF2B5EF4-FFF2-40B4-BE49-F238E27FC236}">
                <a16:creationId xmlns:a16="http://schemas.microsoft.com/office/drawing/2014/main" id="{882EDF9C-0461-493C-A81E-B652DAB7473F}"/>
              </a:ext>
            </a:extLst>
          </p:cNvPr>
          <p:cNvSpPr>
            <a:spLocks noGrp="1"/>
          </p:cNvSpPr>
          <p:nvPr/>
        </p:nvSpPr>
        <p:spPr>
          <a:xfrm>
            <a:off x="12092464" y="3367088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输出更快</a:t>
            </a:r>
          </a:p>
        </p:txBody>
      </p:sp>
      <p:sp>
        <p:nvSpPr>
          <p:cNvPr id="65" name="text-16">
            <a:extLst>
              <a:ext uri="{FF2B5EF4-FFF2-40B4-BE49-F238E27FC236}">
                <a16:creationId xmlns:a16="http://schemas.microsoft.com/office/drawing/2014/main" id="{F0F65007-2D36-48E2-A717-F2AE0813F3A0}"/>
              </a:ext>
            </a:extLst>
          </p:cNvPr>
          <p:cNvSpPr>
            <a:spLocks noGrp="1"/>
          </p:cNvSpPr>
          <p:nvPr/>
        </p:nvSpPr>
        <p:spPr>
          <a:xfrm>
            <a:off x="15201900" y="3286125"/>
            <a:ext cx="1828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对应明确价格溢价</a:t>
            </a:r>
          </a:p>
        </p:txBody>
      </p:sp>
      <p:sp>
        <p:nvSpPr>
          <p:cNvPr id="66" name="text-17">
            <a:extLst>
              <a:ext uri="{FF2B5EF4-FFF2-40B4-BE49-F238E27FC236}">
                <a16:creationId xmlns:a16="http://schemas.microsoft.com/office/drawing/2014/main" id="{017283E4-5E41-415F-84BE-81CFFCCC05A1}"/>
              </a:ext>
            </a:extLst>
          </p:cNvPr>
          <p:cNvSpPr>
            <a:spLocks noGrp="1"/>
          </p:cNvSpPr>
          <p:nvPr/>
        </p:nvSpPr>
        <p:spPr>
          <a:xfrm>
            <a:off x="1028700" y="4705350"/>
            <a:ext cx="125282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 · 模型能力</a:t>
            </a:r>
          </a:p>
        </p:txBody>
      </p:sp>
      <p:sp>
        <p:nvSpPr>
          <p:cNvPr id="67" name="text-18">
            <a:extLst>
              <a:ext uri="{FF2B5EF4-FFF2-40B4-BE49-F238E27FC236}">
                <a16:creationId xmlns:a16="http://schemas.microsoft.com/office/drawing/2014/main" id="{230EF051-1311-49B5-816A-D296F575A2F4}"/>
              </a:ext>
            </a:extLst>
          </p:cNvPr>
          <p:cNvSpPr>
            <a:spLocks noGrp="1"/>
          </p:cNvSpPr>
          <p:nvPr/>
        </p:nvSpPr>
        <p:spPr>
          <a:xfrm>
            <a:off x="4438650" y="4524375"/>
            <a:ext cx="1524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能力更强</a:t>
            </a:r>
          </a:p>
        </p:txBody>
      </p:sp>
      <p:sp>
        <p:nvSpPr>
          <p:cNvPr id="68" name="text-19">
            <a:extLst>
              <a:ext uri="{FF2B5EF4-FFF2-40B4-BE49-F238E27FC236}">
                <a16:creationId xmlns:a16="http://schemas.microsoft.com/office/drawing/2014/main" id="{58A0FAB6-965E-45C6-8EB6-8C57412DE933}"/>
              </a:ext>
            </a:extLst>
          </p:cNvPr>
          <p:cNvSpPr>
            <a:spLocks noGrp="1"/>
          </p:cNvSpPr>
          <p:nvPr/>
        </p:nvSpPr>
        <p:spPr>
          <a:xfrm>
            <a:off x="1028700" y="5238750"/>
            <a:ext cx="168383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GPT-5.6 模型档位</a:t>
            </a:r>
          </a:p>
        </p:txBody>
      </p:sp>
      <p:sp>
        <p:nvSpPr>
          <p:cNvPr id="69" name="text-20">
            <a:extLst>
              <a:ext uri="{FF2B5EF4-FFF2-40B4-BE49-F238E27FC236}">
                <a16:creationId xmlns:a16="http://schemas.microsoft.com/office/drawing/2014/main" id="{EDDE545B-0E6F-4542-840E-DB47DFB8E3DC}"/>
              </a:ext>
            </a:extLst>
          </p:cNvPr>
          <p:cNvSpPr>
            <a:spLocks noGrp="1"/>
          </p:cNvSpPr>
          <p:nvPr/>
        </p:nvSpPr>
        <p:spPr>
          <a:xfrm>
            <a:off x="1896713" y="5843588"/>
            <a:ext cx="419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909AA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909AA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909AAC"/>
                </a:solidFill>
                <a:latin typeface="PingFang SC"/>
                <a:ea typeface="PingFang SC"/>
                <a:cs typeface="Arial"/>
              </a:rPr>
              <a:t>基准</a:t>
            </a:r>
          </a:p>
        </p:txBody>
      </p:sp>
      <p:sp>
        <p:nvSpPr>
          <p:cNvPr id="70" name="text-21">
            <a:extLst>
              <a:ext uri="{FF2B5EF4-FFF2-40B4-BE49-F238E27FC236}">
                <a16:creationId xmlns:a16="http://schemas.microsoft.com/office/drawing/2014/main" id="{24DC26E1-0C98-48BF-AC93-4E31ED104646}"/>
              </a:ext>
            </a:extLst>
          </p:cNvPr>
          <p:cNvSpPr>
            <a:spLocks noGrp="1"/>
          </p:cNvSpPr>
          <p:nvPr/>
        </p:nvSpPr>
        <p:spPr>
          <a:xfrm>
            <a:off x="1724597" y="6072188"/>
            <a:ext cx="76333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Luna</a:t>
            </a:r>
          </a:p>
        </p:txBody>
      </p:sp>
      <p:sp>
        <p:nvSpPr>
          <p:cNvPr id="71" name="text-22">
            <a:extLst>
              <a:ext uri="{FF2B5EF4-FFF2-40B4-BE49-F238E27FC236}">
                <a16:creationId xmlns:a16="http://schemas.microsoft.com/office/drawing/2014/main" id="{127B8A36-FDE7-40B1-A012-C6BEAA67A4C1}"/>
              </a:ext>
            </a:extLst>
          </p:cNvPr>
          <p:cNvSpPr>
            <a:spLocks noGrp="1"/>
          </p:cNvSpPr>
          <p:nvPr/>
        </p:nvSpPr>
        <p:spPr>
          <a:xfrm>
            <a:off x="1528477" y="6472238"/>
            <a:ext cx="115547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$0.20 / $1.20</a:t>
            </a:r>
          </a:p>
        </p:txBody>
      </p:sp>
      <p:sp>
        <p:nvSpPr>
          <p:cNvPr id="72" name="text-23">
            <a:extLst>
              <a:ext uri="{FF2B5EF4-FFF2-40B4-BE49-F238E27FC236}">
                <a16:creationId xmlns:a16="http://schemas.microsoft.com/office/drawing/2014/main" id="{663AEDCD-C61B-4D87-BA14-D4DA54701662}"/>
              </a:ext>
            </a:extLst>
          </p:cNvPr>
          <p:cNvSpPr>
            <a:spLocks noGrp="1"/>
          </p:cNvSpPr>
          <p:nvPr/>
        </p:nvSpPr>
        <p:spPr>
          <a:xfrm>
            <a:off x="3212497" y="6034088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0" i="0" noProof="1">
                <a:solidFill>
                  <a:srgbClr val="9DA7B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0" i="0" noProof="1">
                <a:solidFill>
                  <a:srgbClr val="9DA7B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0" i="0" noProof="1">
                <a:solidFill>
                  <a:srgbClr val="9DA7B7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73" name="text-24">
            <a:extLst>
              <a:ext uri="{FF2B5EF4-FFF2-40B4-BE49-F238E27FC236}">
                <a16:creationId xmlns:a16="http://schemas.microsoft.com/office/drawing/2014/main" id="{369941F8-64D3-4ECE-943D-142E6B849B8C}"/>
              </a:ext>
            </a:extLst>
          </p:cNvPr>
          <p:cNvSpPr>
            <a:spLocks noGrp="1"/>
          </p:cNvSpPr>
          <p:nvPr/>
        </p:nvSpPr>
        <p:spPr>
          <a:xfrm>
            <a:off x="4363688" y="5805488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高质量端</a:t>
            </a:r>
          </a:p>
        </p:txBody>
      </p:sp>
      <p:sp>
        <p:nvSpPr>
          <p:cNvPr id="74" name="text-25">
            <a:extLst>
              <a:ext uri="{FF2B5EF4-FFF2-40B4-BE49-F238E27FC236}">
                <a16:creationId xmlns:a16="http://schemas.microsoft.com/office/drawing/2014/main" id="{39DC5DF8-AA5E-4B76-9699-6D3FAB575350}"/>
              </a:ext>
            </a:extLst>
          </p:cNvPr>
          <p:cNvSpPr>
            <a:spLocks noGrp="1"/>
          </p:cNvSpPr>
          <p:nvPr/>
        </p:nvSpPr>
        <p:spPr>
          <a:xfrm>
            <a:off x="4512755" y="6072188"/>
            <a:ext cx="578072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Sol</a:t>
            </a:r>
          </a:p>
        </p:txBody>
      </p:sp>
      <p:sp>
        <p:nvSpPr>
          <p:cNvPr id="75" name="text-26">
            <a:extLst>
              <a:ext uri="{FF2B5EF4-FFF2-40B4-BE49-F238E27FC236}">
                <a16:creationId xmlns:a16="http://schemas.microsoft.com/office/drawing/2014/main" id="{8E82AB1D-7F03-4064-B5A8-DDB45D63A2DE}"/>
              </a:ext>
            </a:extLst>
          </p:cNvPr>
          <p:cNvSpPr>
            <a:spLocks noGrp="1"/>
          </p:cNvSpPr>
          <p:nvPr/>
        </p:nvSpPr>
        <p:spPr>
          <a:xfrm>
            <a:off x="4155567" y="6510338"/>
            <a:ext cx="129254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$4.00 / $20.00</a:t>
            </a:r>
          </a:p>
        </p:txBody>
      </p:sp>
      <p:sp>
        <p:nvSpPr>
          <p:cNvPr id="76" name="text-27">
            <a:extLst>
              <a:ext uri="{FF2B5EF4-FFF2-40B4-BE49-F238E27FC236}">
                <a16:creationId xmlns:a16="http://schemas.microsoft.com/office/drawing/2014/main" id="{8C00F5A8-9108-4FE8-857E-DF5EA369F7FA}"/>
              </a:ext>
            </a:extLst>
          </p:cNvPr>
          <p:cNvSpPr>
            <a:spLocks noGrp="1"/>
          </p:cNvSpPr>
          <p:nvPr/>
        </p:nvSpPr>
        <p:spPr>
          <a:xfrm>
            <a:off x="1181100" y="71437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价格溢价</a:t>
            </a:r>
          </a:p>
        </p:txBody>
      </p:sp>
      <p:sp>
        <p:nvSpPr>
          <p:cNvPr id="77" name="text-28">
            <a:extLst>
              <a:ext uri="{FF2B5EF4-FFF2-40B4-BE49-F238E27FC236}">
                <a16:creationId xmlns:a16="http://schemas.microsoft.com/office/drawing/2014/main" id="{BB6C7799-3879-4A18-A3B3-B41EA2B8E0E4}"/>
              </a:ext>
            </a:extLst>
          </p:cNvPr>
          <p:cNvSpPr>
            <a:spLocks noGrp="1"/>
          </p:cNvSpPr>
          <p:nvPr/>
        </p:nvSpPr>
        <p:spPr>
          <a:xfrm>
            <a:off x="2409063" y="7081838"/>
            <a:ext cx="1325308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Input 20×</a:t>
            </a:r>
          </a:p>
        </p:txBody>
      </p:sp>
      <p:sp>
        <p:nvSpPr>
          <p:cNvPr id="78" name="text-29">
            <a:extLst>
              <a:ext uri="{FF2B5EF4-FFF2-40B4-BE49-F238E27FC236}">
                <a16:creationId xmlns:a16="http://schemas.microsoft.com/office/drawing/2014/main" id="{DD6DCB7F-CE16-4711-AF6B-C426516217C4}"/>
              </a:ext>
            </a:extLst>
          </p:cNvPr>
          <p:cNvSpPr>
            <a:spLocks noGrp="1"/>
          </p:cNvSpPr>
          <p:nvPr/>
        </p:nvSpPr>
        <p:spPr>
          <a:xfrm>
            <a:off x="4099465" y="7081838"/>
            <a:ext cx="174498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Output 16.7×</a:t>
            </a:r>
          </a:p>
        </p:txBody>
      </p:sp>
      <p:sp>
        <p:nvSpPr>
          <p:cNvPr id="79" name="text-30">
            <a:extLst>
              <a:ext uri="{FF2B5EF4-FFF2-40B4-BE49-F238E27FC236}">
                <a16:creationId xmlns:a16="http://schemas.microsoft.com/office/drawing/2014/main" id="{132902AC-09B2-45CF-9C8C-55A2CE0643AE}"/>
              </a:ext>
            </a:extLst>
          </p:cNvPr>
          <p:cNvSpPr>
            <a:spLocks noGrp="1"/>
          </p:cNvSpPr>
          <p:nvPr/>
        </p:nvSpPr>
        <p:spPr>
          <a:xfrm>
            <a:off x="2201513" y="7658100"/>
            <a:ext cx="258841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模型档位直接决定 Token 基础单价</a:t>
            </a:r>
          </a:p>
        </p:txBody>
      </p:sp>
      <p:sp>
        <p:nvSpPr>
          <p:cNvPr id="80" name="text-31">
            <a:extLst>
              <a:ext uri="{FF2B5EF4-FFF2-40B4-BE49-F238E27FC236}">
                <a16:creationId xmlns:a16="http://schemas.microsoft.com/office/drawing/2014/main" id="{54755607-54E1-413D-A201-253BE75BF99D}"/>
              </a:ext>
            </a:extLst>
          </p:cNvPr>
          <p:cNvSpPr>
            <a:spLocks noGrp="1"/>
          </p:cNvSpPr>
          <p:nvPr/>
        </p:nvSpPr>
        <p:spPr>
          <a:xfrm>
            <a:off x="6705600" y="4705350"/>
            <a:ext cx="14795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02 · 上下文长度</a:t>
            </a:r>
          </a:p>
        </p:txBody>
      </p:sp>
      <p:sp>
        <p:nvSpPr>
          <p:cNvPr id="81" name="text-32">
            <a:extLst>
              <a:ext uri="{FF2B5EF4-FFF2-40B4-BE49-F238E27FC236}">
                <a16:creationId xmlns:a16="http://schemas.microsoft.com/office/drawing/2014/main" id="{BD737756-6C75-4136-B8F7-772C6DF89134}"/>
              </a:ext>
            </a:extLst>
          </p:cNvPr>
          <p:cNvSpPr>
            <a:spLocks noGrp="1"/>
          </p:cNvSpPr>
          <p:nvPr/>
        </p:nvSpPr>
        <p:spPr>
          <a:xfrm>
            <a:off x="9753600" y="4524375"/>
            <a:ext cx="18859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上下文更长</a:t>
            </a:r>
          </a:p>
        </p:txBody>
      </p:sp>
      <p:sp>
        <p:nvSpPr>
          <p:cNvPr id="82" name="text-33">
            <a:extLst>
              <a:ext uri="{FF2B5EF4-FFF2-40B4-BE49-F238E27FC236}">
                <a16:creationId xmlns:a16="http://schemas.microsoft.com/office/drawing/2014/main" id="{DAACD091-C427-4B37-A3D8-2FBC1F91A0C3}"/>
              </a:ext>
            </a:extLst>
          </p:cNvPr>
          <p:cNvSpPr>
            <a:spLocks noGrp="1"/>
          </p:cNvSpPr>
          <p:nvPr/>
        </p:nvSpPr>
        <p:spPr>
          <a:xfrm>
            <a:off x="6705600" y="5238750"/>
            <a:ext cx="203406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GPT-5.6 Sol 输入长度</a:t>
            </a:r>
          </a:p>
        </p:txBody>
      </p:sp>
      <p:sp>
        <p:nvSpPr>
          <p:cNvPr id="83" name="text-34">
            <a:extLst>
              <a:ext uri="{FF2B5EF4-FFF2-40B4-BE49-F238E27FC236}">
                <a16:creationId xmlns:a16="http://schemas.microsoft.com/office/drawing/2014/main" id="{C5725068-B237-40BC-BC23-EA619AD0325A}"/>
              </a:ext>
            </a:extLst>
          </p:cNvPr>
          <p:cNvSpPr>
            <a:spLocks noGrp="1"/>
          </p:cNvSpPr>
          <p:nvPr/>
        </p:nvSpPr>
        <p:spPr>
          <a:xfrm>
            <a:off x="7573613" y="5843588"/>
            <a:ext cx="419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909AA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909AA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909AAC"/>
                </a:solidFill>
                <a:latin typeface="PingFang SC"/>
                <a:ea typeface="PingFang SC"/>
                <a:cs typeface="Arial"/>
              </a:rPr>
              <a:t>基准</a:t>
            </a:r>
          </a:p>
        </p:txBody>
      </p:sp>
      <p:sp>
        <p:nvSpPr>
          <p:cNvPr id="84" name="text-35">
            <a:extLst>
              <a:ext uri="{FF2B5EF4-FFF2-40B4-BE49-F238E27FC236}">
                <a16:creationId xmlns:a16="http://schemas.microsoft.com/office/drawing/2014/main" id="{5BEC049D-1FEC-42C9-B210-98AC563CF74A}"/>
              </a:ext>
            </a:extLst>
          </p:cNvPr>
          <p:cNvSpPr>
            <a:spLocks noGrp="1"/>
          </p:cNvSpPr>
          <p:nvPr/>
        </p:nvSpPr>
        <p:spPr>
          <a:xfrm>
            <a:off x="7215950" y="6072188"/>
            <a:ext cx="113452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≤ 272K</a:t>
            </a:r>
          </a:p>
        </p:txBody>
      </p:sp>
      <p:sp>
        <p:nvSpPr>
          <p:cNvPr id="85" name="text-36">
            <a:extLst>
              <a:ext uri="{FF2B5EF4-FFF2-40B4-BE49-F238E27FC236}">
                <a16:creationId xmlns:a16="http://schemas.microsoft.com/office/drawing/2014/main" id="{B711C41B-E6C8-4A81-AD1B-A44CF30D3DB6}"/>
              </a:ext>
            </a:extLst>
          </p:cNvPr>
          <p:cNvSpPr>
            <a:spLocks noGrp="1"/>
          </p:cNvSpPr>
          <p:nvPr/>
        </p:nvSpPr>
        <p:spPr>
          <a:xfrm>
            <a:off x="7316438" y="6472238"/>
            <a:ext cx="933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标准上下文</a:t>
            </a:r>
          </a:p>
        </p:txBody>
      </p:sp>
      <p:sp>
        <p:nvSpPr>
          <p:cNvPr id="86" name="text-37">
            <a:extLst>
              <a:ext uri="{FF2B5EF4-FFF2-40B4-BE49-F238E27FC236}">
                <a16:creationId xmlns:a16="http://schemas.microsoft.com/office/drawing/2014/main" id="{7BD83CEF-995B-4204-8F63-103FD6608F48}"/>
              </a:ext>
            </a:extLst>
          </p:cNvPr>
          <p:cNvSpPr>
            <a:spLocks noGrp="1"/>
          </p:cNvSpPr>
          <p:nvPr/>
        </p:nvSpPr>
        <p:spPr>
          <a:xfrm>
            <a:off x="8889397" y="6034088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0" i="0" noProof="1">
                <a:solidFill>
                  <a:srgbClr val="9DA7B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0" i="0" noProof="1">
                <a:solidFill>
                  <a:srgbClr val="9DA7B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0" i="0" noProof="1">
                <a:solidFill>
                  <a:srgbClr val="9DA7B7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87" name="text-38">
            <a:extLst>
              <a:ext uri="{FF2B5EF4-FFF2-40B4-BE49-F238E27FC236}">
                <a16:creationId xmlns:a16="http://schemas.microsoft.com/office/drawing/2014/main" id="{3505096E-2392-4A73-B9FC-676B8A7DA3D1}"/>
              </a:ext>
            </a:extLst>
          </p:cNvPr>
          <p:cNvSpPr>
            <a:spLocks noGrp="1"/>
          </p:cNvSpPr>
          <p:nvPr/>
        </p:nvSpPr>
        <p:spPr>
          <a:xfrm>
            <a:off x="10040588" y="5805488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高质量端</a:t>
            </a:r>
          </a:p>
        </p:txBody>
      </p:sp>
      <p:sp>
        <p:nvSpPr>
          <p:cNvPr id="88" name="text-39">
            <a:extLst>
              <a:ext uri="{FF2B5EF4-FFF2-40B4-BE49-F238E27FC236}">
                <a16:creationId xmlns:a16="http://schemas.microsoft.com/office/drawing/2014/main" id="{3C7AACE3-95EA-4150-8533-85E330397235}"/>
              </a:ext>
            </a:extLst>
          </p:cNvPr>
          <p:cNvSpPr>
            <a:spLocks noGrp="1"/>
          </p:cNvSpPr>
          <p:nvPr/>
        </p:nvSpPr>
        <p:spPr>
          <a:xfrm>
            <a:off x="9872948" y="6072188"/>
            <a:ext cx="121148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&gt; 272K</a:t>
            </a:r>
          </a:p>
        </p:txBody>
      </p:sp>
      <p:sp>
        <p:nvSpPr>
          <p:cNvPr id="89" name="text-40">
            <a:extLst>
              <a:ext uri="{FF2B5EF4-FFF2-40B4-BE49-F238E27FC236}">
                <a16:creationId xmlns:a16="http://schemas.microsoft.com/office/drawing/2014/main" id="{542F766F-B35A-43A7-915A-4AB207478ECC}"/>
              </a:ext>
            </a:extLst>
          </p:cNvPr>
          <p:cNvSpPr>
            <a:spLocks noGrp="1"/>
          </p:cNvSpPr>
          <p:nvPr/>
        </p:nvSpPr>
        <p:spPr>
          <a:xfrm>
            <a:off x="10097738" y="6510338"/>
            <a:ext cx="762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长上下文</a:t>
            </a:r>
          </a:p>
        </p:txBody>
      </p:sp>
      <p:sp>
        <p:nvSpPr>
          <p:cNvPr id="90" name="text-41">
            <a:extLst>
              <a:ext uri="{FF2B5EF4-FFF2-40B4-BE49-F238E27FC236}">
                <a16:creationId xmlns:a16="http://schemas.microsoft.com/office/drawing/2014/main" id="{F77E1909-FAC0-4B9E-B93F-F4A7433B5076}"/>
              </a:ext>
            </a:extLst>
          </p:cNvPr>
          <p:cNvSpPr>
            <a:spLocks noGrp="1"/>
          </p:cNvSpPr>
          <p:nvPr/>
        </p:nvSpPr>
        <p:spPr>
          <a:xfrm>
            <a:off x="6858000" y="71437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价格溢价</a:t>
            </a:r>
          </a:p>
        </p:txBody>
      </p:sp>
      <p:sp>
        <p:nvSpPr>
          <p:cNvPr id="91" name="text-42">
            <a:extLst>
              <a:ext uri="{FF2B5EF4-FFF2-40B4-BE49-F238E27FC236}">
                <a16:creationId xmlns:a16="http://schemas.microsoft.com/office/drawing/2014/main" id="{1D1664BC-9A7E-4346-89AB-57A211DCF1F3}"/>
              </a:ext>
            </a:extLst>
          </p:cNvPr>
          <p:cNvSpPr>
            <a:spLocks noGrp="1"/>
          </p:cNvSpPr>
          <p:nvPr/>
        </p:nvSpPr>
        <p:spPr>
          <a:xfrm>
            <a:off x="8168926" y="7081838"/>
            <a:ext cx="1159669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Input 2×</a:t>
            </a:r>
          </a:p>
        </p:txBody>
      </p:sp>
      <p:sp>
        <p:nvSpPr>
          <p:cNvPr id="92" name="text-43">
            <a:extLst>
              <a:ext uri="{FF2B5EF4-FFF2-40B4-BE49-F238E27FC236}">
                <a16:creationId xmlns:a16="http://schemas.microsoft.com/office/drawing/2014/main" id="{65524B17-549C-4213-92A6-03E5ED482405}"/>
              </a:ext>
            </a:extLst>
          </p:cNvPr>
          <p:cNvSpPr>
            <a:spLocks noGrp="1"/>
          </p:cNvSpPr>
          <p:nvPr/>
        </p:nvSpPr>
        <p:spPr>
          <a:xfrm>
            <a:off x="9852851" y="7081838"/>
            <a:ext cx="1592199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Output 1.5×</a:t>
            </a:r>
          </a:p>
        </p:txBody>
      </p:sp>
      <p:sp>
        <p:nvSpPr>
          <p:cNvPr id="93" name="text-44">
            <a:extLst>
              <a:ext uri="{FF2B5EF4-FFF2-40B4-BE49-F238E27FC236}">
                <a16:creationId xmlns:a16="http://schemas.microsoft.com/office/drawing/2014/main" id="{02C6AE2A-D7B1-4EAF-8B8D-3641B1A3514A}"/>
              </a:ext>
            </a:extLst>
          </p:cNvPr>
          <p:cNvSpPr>
            <a:spLocks noGrp="1"/>
          </p:cNvSpPr>
          <p:nvPr/>
        </p:nvSpPr>
        <p:spPr>
          <a:xfrm>
            <a:off x="7596188" y="7658100"/>
            <a:ext cx="3152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超过阈值后，整个请求按长上下文档位计价</a:t>
            </a:r>
          </a:p>
        </p:txBody>
      </p:sp>
      <p:sp>
        <p:nvSpPr>
          <p:cNvPr id="94" name="text-45">
            <a:extLst>
              <a:ext uri="{FF2B5EF4-FFF2-40B4-BE49-F238E27FC236}">
                <a16:creationId xmlns:a16="http://schemas.microsoft.com/office/drawing/2014/main" id="{34FB7400-FB23-4E66-AE8E-E7C124DF6043}"/>
              </a:ext>
            </a:extLst>
          </p:cNvPr>
          <p:cNvSpPr>
            <a:spLocks noGrp="1"/>
          </p:cNvSpPr>
          <p:nvPr/>
        </p:nvSpPr>
        <p:spPr>
          <a:xfrm>
            <a:off x="12382500" y="4705350"/>
            <a:ext cx="12890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03 · 输出体验</a:t>
            </a:r>
          </a:p>
        </p:txBody>
      </p:sp>
      <p:sp>
        <p:nvSpPr>
          <p:cNvPr id="95" name="text-46">
            <a:extLst>
              <a:ext uri="{FF2B5EF4-FFF2-40B4-BE49-F238E27FC236}">
                <a16:creationId xmlns:a16="http://schemas.microsoft.com/office/drawing/2014/main" id="{B9A49DA5-755B-405D-9FD4-301B73A5C448}"/>
              </a:ext>
            </a:extLst>
          </p:cNvPr>
          <p:cNvSpPr>
            <a:spLocks noGrp="1"/>
          </p:cNvSpPr>
          <p:nvPr/>
        </p:nvSpPr>
        <p:spPr>
          <a:xfrm>
            <a:off x="15792450" y="4524375"/>
            <a:ext cx="1524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输出更快</a:t>
            </a:r>
          </a:p>
        </p:txBody>
      </p:sp>
      <p:sp>
        <p:nvSpPr>
          <p:cNvPr id="96" name="text-47">
            <a:extLst>
              <a:ext uri="{FF2B5EF4-FFF2-40B4-BE49-F238E27FC236}">
                <a16:creationId xmlns:a16="http://schemas.microsoft.com/office/drawing/2014/main" id="{5AA775AA-7197-4998-9F3B-1A3476D3553C}"/>
              </a:ext>
            </a:extLst>
          </p:cNvPr>
          <p:cNvSpPr>
            <a:spLocks noGrp="1"/>
          </p:cNvSpPr>
          <p:nvPr/>
        </p:nvSpPr>
        <p:spPr>
          <a:xfrm>
            <a:off x="12382500" y="5238750"/>
            <a:ext cx="203406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GPT-5.6 Sol 服务档位</a:t>
            </a:r>
          </a:p>
        </p:txBody>
      </p:sp>
      <p:sp>
        <p:nvSpPr>
          <p:cNvPr id="97" name="text-48">
            <a:extLst>
              <a:ext uri="{FF2B5EF4-FFF2-40B4-BE49-F238E27FC236}">
                <a16:creationId xmlns:a16="http://schemas.microsoft.com/office/drawing/2014/main" id="{3C97C2E3-AE0D-4C4C-9044-790BF0035EAA}"/>
              </a:ext>
            </a:extLst>
          </p:cNvPr>
          <p:cNvSpPr>
            <a:spLocks noGrp="1"/>
          </p:cNvSpPr>
          <p:nvPr/>
        </p:nvSpPr>
        <p:spPr>
          <a:xfrm>
            <a:off x="13250513" y="5843588"/>
            <a:ext cx="419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909AA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909AA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909AAC"/>
                </a:solidFill>
                <a:latin typeface="PingFang SC"/>
                <a:ea typeface="PingFang SC"/>
                <a:cs typeface="Arial"/>
              </a:rPr>
              <a:t>基准</a:t>
            </a:r>
          </a:p>
        </p:txBody>
      </p:sp>
      <p:sp>
        <p:nvSpPr>
          <p:cNvPr id="98" name="text-49">
            <a:extLst>
              <a:ext uri="{FF2B5EF4-FFF2-40B4-BE49-F238E27FC236}">
                <a16:creationId xmlns:a16="http://schemas.microsoft.com/office/drawing/2014/main" id="{8BAB6370-9865-4C67-B98E-AF9F7D6478C1}"/>
              </a:ext>
            </a:extLst>
          </p:cNvPr>
          <p:cNvSpPr>
            <a:spLocks noGrp="1"/>
          </p:cNvSpPr>
          <p:nvPr/>
        </p:nvSpPr>
        <p:spPr>
          <a:xfrm>
            <a:off x="12784741" y="6072188"/>
            <a:ext cx="135064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Standard</a:t>
            </a:r>
          </a:p>
        </p:txBody>
      </p:sp>
      <p:sp>
        <p:nvSpPr>
          <p:cNvPr id="99" name="text-50">
            <a:extLst>
              <a:ext uri="{FF2B5EF4-FFF2-40B4-BE49-F238E27FC236}">
                <a16:creationId xmlns:a16="http://schemas.microsoft.com/office/drawing/2014/main" id="{281D576C-B6DE-4F64-BBBE-B41E09CBAF86}"/>
              </a:ext>
            </a:extLst>
          </p:cNvPr>
          <p:cNvSpPr>
            <a:spLocks noGrp="1"/>
          </p:cNvSpPr>
          <p:nvPr/>
        </p:nvSpPr>
        <p:spPr>
          <a:xfrm>
            <a:off x="13079063" y="6472238"/>
            <a:ext cx="762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标准速度</a:t>
            </a:r>
          </a:p>
        </p:txBody>
      </p:sp>
      <p:sp>
        <p:nvSpPr>
          <p:cNvPr id="100" name="text-51">
            <a:extLst>
              <a:ext uri="{FF2B5EF4-FFF2-40B4-BE49-F238E27FC236}">
                <a16:creationId xmlns:a16="http://schemas.microsoft.com/office/drawing/2014/main" id="{5CCC86F1-CDBB-4DB5-BC0F-3137870B2E7D}"/>
              </a:ext>
            </a:extLst>
          </p:cNvPr>
          <p:cNvSpPr>
            <a:spLocks noGrp="1"/>
          </p:cNvSpPr>
          <p:nvPr/>
        </p:nvSpPr>
        <p:spPr>
          <a:xfrm>
            <a:off x="14566297" y="6034088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0" i="0" noProof="1">
                <a:solidFill>
                  <a:srgbClr val="9DA7B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0" i="0" noProof="1">
                <a:solidFill>
                  <a:srgbClr val="9DA7B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0" i="0" noProof="1">
                <a:solidFill>
                  <a:srgbClr val="9DA7B7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101" name="text-52">
            <a:extLst>
              <a:ext uri="{FF2B5EF4-FFF2-40B4-BE49-F238E27FC236}">
                <a16:creationId xmlns:a16="http://schemas.microsoft.com/office/drawing/2014/main" id="{BF9F3EBF-D5EA-460A-8502-9010572C6CB5}"/>
              </a:ext>
            </a:extLst>
          </p:cNvPr>
          <p:cNvSpPr>
            <a:spLocks noGrp="1"/>
          </p:cNvSpPr>
          <p:nvPr/>
        </p:nvSpPr>
        <p:spPr>
          <a:xfrm>
            <a:off x="15717488" y="5805488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高质量端</a:t>
            </a:r>
          </a:p>
        </p:txBody>
      </p:sp>
      <p:sp>
        <p:nvSpPr>
          <p:cNvPr id="102" name="text-53">
            <a:extLst>
              <a:ext uri="{FF2B5EF4-FFF2-40B4-BE49-F238E27FC236}">
                <a16:creationId xmlns:a16="http://schemas.microsoft.com/office/drawing/2014/main" id="{9B9A5B60-2A0A-4BB4-B409-0066282A5CA3}"/>
              </a:ext>
            </a:extLst>
          </p:cNvPr>
          <p:cNvSpPr>
            <a:spLocks noGrp="1"/>
          </p:cNvSpPr>
          <p:nvPr/>
        </p:nvSpPr>
        <p:spPr>
          <a:xfrm>
            <a:off x="15777305" y="6072188"/>
            <a:ext cx="756666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Fast</a:t>
            </a:r>
          </a:p>
        </p:txBody>
      </p:sp>
      <p:sp>
        <p:nvSpPr>
          <p:cNvPr id="103" name="text-54">
            <a:extLst>
              <a:ext uri="{FF2B5EF4-FFF2-40B4-BE49-F238E27FC236}">
                <a16:creationId xmlns:a16="http://schemas.microsoft.com/office/drawing/2014/main" id="{E1D677C6-5E7F-4458-B796-EC79BBF3D506}"/>
              </a:ext>
            </a:extLst>
          </p:cNvPr>
          <p:cNvSpPr>
            <a:spLocks noGrp="1"/>
          </p:cNvSpPr>
          <p:nvPr/>
        </p:nvSpPr>
        <p:spPr>
          <a:xfrm>
            <a:off x="15540228" y="6510338"/>
            <a:ext cx="123091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最高 2.5× 速度</a:t>
            </a:r>
          </a:p>
        </p:txBody>
      </p:sp>
      <p:sp>
        <p:nvSpPr>
          <p:cNvPr id="104" name="text-55">
            <a:extLst>
              <a:ext uri="{FF2B5EF4-FFF2-40B4-BE49-F238E27FC236}">
                <a16:creationId xmlns:a16="http://schemas.microsoft.com/office/drawing/2014/main" id="{816ADC5F-3AC5-42C5-9683-80B5212E2F04}"/>
              </a:ext>
            </a:extLst>
          </p:cNvPr>
          <p:cNvSpPr>
            <a:spLocks noGrp="1"/>
          </p:cNvSpPr>
          <p:nvPr/>
        </p:nvSpPr>
        <p:spPr>
          <a:xfrm>
            <a:off x="12534900" y="71437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价格溢价</a:t>
            </a:r>
          </a:p>
        </p:txBody>
      </p:sp>
      <p:sp>
        <p:nvSpPr>
          <p:cNvPr id="105" name="text-56">
            <a:extLst>
              <a:ext uri="{FF2B5EF4-FFF2-40B4-BE49-F238E27FC236}">
                <a16:creationId xmlns:a16="http://schemas.microsoft.com/office/drawing/2014/main" id="{A8CDBE55-D9AC-46FE-9276-4BE830A6CF87}"/>
              </a:ext>
            </a:extLst>
          </p:cNvPr>
          <p:cNvSpPr>
            <a:spLocks noGrp="1"/>
          </p:cNvSpPr>
          <p:nvPr/>
        </p:nvSpPr>
        <p:spPr>
          <a:xfrm>
            <a:off x="13839063" y="7081838"/>
            <a:ext cx="1172909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Price 2×</a:t>
            </a:r>
          </a:p>
        </p:txBody>
      </p:sp>
      <p:sp>
        <p:nvSpPr>
          <p:cNvPr id="106" name="text-57">
            <a:extLst>
              <a:ext uri="{FF2B5EF4-FFF2-40B4-BE49-F238E27FC236}">
                <a16:creationId xmlns:a16="http://schemas.microsoft.com/office/drawing/2014/main" id="{80F59B88-CFB8-44B0-B15C-F86160EB2A8C}"/>
              </a:ext>
            </a:extLst>
          </p:cNvPr>
          <p:cNvSpPr>
            <a:spLocks noGrp="1"/>
          </p:cNvSpPr>
          <p:nvPr/>
        </p:nvSpPr>
        <p:spPr>
          <a:xfrm>
            <a:off x="15387352" y="7081838"/>
            <a:ext cx="187699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Speed ≤ 2.5×</a:t>
            </a:r>
          </a:p>
        </p:txBody>
      </p:sp>
      <p:sp>
        <p:nvSpPr>
          <p:cNvPr id="107" name="text-58">
            <a:extLst>
              <a:ext uri="{FF2B5EF4-FFF2-40B4-BE49-F238E27FC236}">
                <a16:creationId xmlns:a16="http://schemas.microsoft.com/office/drawing/2014/main" id="{EF5A06D4-983E-4E79-825F-46C92FEE920C}"/>
              </a:ext>
            </a:extLst>
          </p:cNvPr>
          <p:cNvSpPr>
            <a:spLocks noGrp="1"/>
          </p:cNvSpPr>
          <p:nvPr/>
        </p:nvSpPr>
        <p:spPr>
          <a:xfrm>
            <a:off x="13103162" y="7658100"/>
            <a:ext cx="349253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Ultrafast：最高 14× / 750 TPS；价格暂未开放</a:t>
            </a:r>
          </a:p>
        </p:txBody>
      </p:sp>
      <p:sp>
        <p:nvSpPr>
          <p:cNvPr id="108" name="text-59">
            <a:extLst>
              <a:ext uri="{FF2B5EF4-FFF2-40B4-BE49-F238E27FC236}">
                <a16:creationId xmlns:a16="http://schemas.microsoft.com/office/drawing/2014/main" id="{A10DAD04-BC00-4646-9ACA-73A3590509C8}"/>
              </a:ext>
            </a:extLst>
          </p:cNvPr>
          <p:cNvSpPr>
            <a:spLocks noGrp="1"/>
          </p:cNvSpPr>
          <p:nvPr/>
        </p:nvSpPr>
        <p:spPr>
          <a:xfrm>
            <a:off x="1076325" y="8672513"/>
            <a:ext cx="4800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3139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3139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313947"/>
                </a:solidFill>
                <a:latin typeface="PingFang SC"/>
                <a:ea typeface="PingFang SC"/>
                <a:cs typeface="Arial"/>
              </a:rPr>
              <a:t>质量提升已经转化为清晰的价格溢价</a:t>
            </a:r>
          </a:p>
        </p:txBody>
      </p:sp>
      <p:sp>
        <p:nvSpPr>
          <p:cNvPr id="109" name="text-60">
            <a:extLst>
              <a:ext uri="{FF2B5EF4-FFF2-40B4-BE49-F238E27FC236}">
                <a16:creationId xmlns:a16="http://schemas.microsoft.com/office/drawing/2014/main" id="{A30D4629-5076-4028-A971-2045D1A9B488}"/>
              </a:ext>
            </a:extLst>
          </p:cNvPr>
          <p:cNvSpPr>
            <a:spLocks noGrp="1"/>
          </p:cNvSpPr>
          <p:nvPr/>
        </p:nvSpPr>
        <p:spPr>
          <a:xfrm>
            <a:off x="12944475" y="854392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7B8799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7B8799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7B8799"/>
                </a:solidFill>
                <a:latin typeface="PingFang SC"/>
                <a:ea typeface="PingFang SC"/>
                <a:cs typeface="Arial"/>
              </a:rPr>
              <a:t>同一模型</a:t>
            </a:r>
          </a:p>
        </p:txBody>
      </p:sp>
      <p:sp>
        <p:nvSpPr>
          <p:cNvPr id="110" name="text-61">
            <a:extLst>
              <a:ext uri="{FF2B5EF4-FFF2-40B4-BE49-F238E27FC236}">
                <a16:creationId xmlns:a16="http://schemas.microsoft.com/office/drawing/2014/main" id="{A445272F-D3E3-4DF3-BD6B-E61245F670DA}"/>
              </a:ext>
            </a:extLst>
          </p:cNvPr>
          <p:cNvSpPr>
            <a:spLocks noGrp="1"/>
          </p:cNvSpPr>
          <p:nvPr/>
        </p:nvSpPr>
        <p:spPr>
          <a:xfrm>
            <a:off x="12627959" y="8753475"/>
            <a:ext cx="1356836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最高 4×</a:t>
            </a:r>
          </a:p>
        </p:txBody>
      </p:sp>
      <p:sp>
        <p:nvSpPr>
          <p:cNvPr id="111" name="text-62">
            <a:extLst>
              <a:ext uri="{FF2B5EF4-FFF2-40B4-BE49-F238E27FC236}">
                <a16:creationId xmlns:a16="http://schemas.microsoft.com/office/drawing/2014/main" id="{6AD46A4A-A2E4-4CA7-A515-0FB4CDF5ED80}"/>
              </a:ext>
            </a:extLst>
          </p:cNvPr>
          <p:cNvSpPr>
            <a:spLocks noGrp="1"/>
          </p:cNvSpPr>
          <p:nvPr/>
        </p:nvSpPr>
        <p:spPr>
          <a:xfrm>
            <a:off x="15240000" y="8543925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7B8799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7B8799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7B8799"/>
                </a:solidFill>
                <a:latin typeface="PingFang SC"/>
                <a:ea typeface="PingFang SC"/>
                <a:cs typeface="Arial"/>
              </a:rPr>
              <a:t>跨模型与质量档位</a:t>
            </a:r>
          </a:p>
        </p:txBody>
      </p:sp>
      <p:sp>
        <p:nvSpPr>
          <p:cNvPr id="112" name="text-63">
            <a:extLst>
              <a:ext uri="{FF2B5EF4-FFF2-40B4-BE49-F238E27FC236}">
                <a16:creationId xmlns:a16="http://schemas.microsoft.com/office/drawing/2014/main" id="{F6E6519F-B20B-4E6D-A683-DA06E3F29B5B}"/>
              </a:ext>
            </a:extLst>
          </p:cNvPr>
          <p:cNvSpPr>
            <a:spLocks noGrp="1"/>
          </p:cNvSpPr>
          <p:nvPr/>
        </p:nvSpPr>
        <p:spPr>
          <a:xfrm>
            <a:off x="15138845" y="8753475"/>
            <a:ext cx="1574006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最高 80×</a:t>
            </a:r>
          </a:p>
        </p:txBody>
      </p:sp>
      <p:sp>
        <p:nvSpPr>
          <p:cNvPr id="113" name="text-64">
            <a:extLst>
              <a:ext uri="{FF2B5EF4-FFF2-40B4-BE49-F238E27FC236}">
                <a16:creationId xmlns:a16="http://schemas.microsoft.com/office/drawing/2014/main" id="{BD7D6CF6-C2FA-4510-AC5B-C9213B36729A}"/>
              </a:ext>
            </a:extLst>
          </p:cNvPr>
          <p:cNvSpPr>
            <a:spLocks noGrp="1"/>
          </p:cNvSpPr>
          <p:nvPr/>
        </p:nvSpPr>
        <p:spPr>
          <a:xfrm>
            <a:off x="776288" y="9865043"/>
            <a:ext cx="5834063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Sources: OpenAI GPT-5.6 model/pricing docs · Fast mode · Ultrafast preview</a:t>
            </a:r>
          </a:p>
        </p:txBody>
      </p:sp>
      <p:sp>
        <p:nvSpPr>
          <p:cNvPr id="114" name="text-65">
            <a:extLst>
              <a:ext uri="{FF2B5EF4-FFF2-40B4-BE49-F238E27FC236}">
                <a16:creationId xmlns:a16="http://schemas.microsoft.com/office/drawing/2014/main" id="{946586BA-19CC-462C-8C78-7555CBE7B0EF}"/>
              </a:ext>
            </a:extLst>
          </p:cNvPr>
          <p:cNvSpPr>
            <a:spLocks noGrp="1"/>
          </p:cNvSpPr>
          <p:nvPr/>
        </p:nvSpPr>
        <p:spPr>
          <a:xfrm>
            <a:off x="16998410" y="9848850"/>
            <a:ext cx="58474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8 / 43</a:t>
            </a:r>
          </a:p>
        </p:txBody>
      </p:sp>
    </p:spTree>
    <p:extLst>
      <p:ext uri="{BB962C8B-B14F-4D97-AF65-F5344CB8AC3E}">
        <p14:creationId xmlns:p14="http://schemas.microsoft.com/office/powerpoint/2010/main" val="177209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html-shape-1">
            <a:extLst>
              <a:ext uri="{FF2B5EF4-FFF2-40B4-BE49-F238E27FC236}">
                <a16:creationId xmlns:a16="http://schemas.microsoft.com/office/drawing/2014/main" id="{5C0837FF-7C45-474D-B7A6-A380C7C3D0EA}"/>
              </a:ext>
            </a:extLst>
          </p:cNvPr>
          <p:cNvSpPr>
            <a:spLocks noGrp="1"/>
          </p:cNvSpPr>
          <p:nvPr/>
        </p:nvSpPr>
        <p:spPr>
          <a:xfrm>
            <a:off x="1714500" y="4419600"/>
            <a:ext cx="6096000" cy="23336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" name="html-shape-4">
            <a:extLst>
              <a:ext uri="{FF2B5EF4-FFF2-40B4-BE49-F238E27FC236}">
                <a16:creationId xmlns:a16="http://schemas.microsoft.com/office/drawing/2014/main" id="{7DF7492E-E9ED-4661-84C4-12DBE58EBC32}"/>
              </a:ext>
            </a:extLst>
          </p:cNvPr>
          <p:cNvSpPr>
            <a:spLocks noGrp="1"/>
          </p:cNvSpPr>
          <p:nvPr/>
        </p:nvSpPr>
        <p:spPr>
          <a:xfrm>
            <a:off x="9525000" y="4419600"/>
            <a:ext cx="7048500" cy="23336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border-2">
            <a:extLst>
              <a:ext uri="{FF2B5EF4-FFF2-40B4-BE49-F238E27FC236}">
                <a16:creationId xmlns:a16="http://schemas.microsoft.com/office/drawing/2014/main" id="{34B6DB8D-F793-4384-8DEC-E16628131999}"/>
              </a:ext>
            </a:extLst>
          </p:cNvPr>
          <p:cNvSpPr>
            <a:spLocks noGrp="1"/>
          </p:cNvSpPr>
          <p:nvPr/>
        </p:nvSpPr>
        <p:spPr>
          <a:xfrm>
            <a:off x="1714500" y="4419600"/>
            <a:ext cx="6096000" cy="76200"/>
          </a:xfrm>
          <a:prstGeom prst="rect">
            <a:avLst/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4" name="border-3">
            <a:extLst>
              <a:ext uri="{FF2B5EF4-FFF2-40B4-BE49-F238E27FC236}">
                <a16:creationId xmlns:a16="http://schemas.microsoft.com/office/drawing/2014/main" id="{C48AA6E6-9FDF-4E66-8235-747244C4EAE8}"/>
              </a:ext>
            </a:extLst>
          </p:cNvPr>
          <p:cNvSpPr>
            <a:spLocks noGrp="1"/>
          </p:cNvSpPr>
          <p:nvPr/>
        </p:nvSpPr>
        <p:spPr>
          <a:xfrm>
            <a:off x="1714500" y="6734175"/>
            <a:ext cx="6096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5" name="border-5">
            <a:extLst>
              <a:ext uri="{FF2B5EF4-FFF2-40B4-BE49-F238E27FC236}">
                <a16:creationId xmlns:a16="http://schemas.microsoft.com/office/drawing/2014/main" id="{CA934D7A-5B95-45C4-AA67-39329A0F3FCD}"/>
              </a:ext>
            </a:extLst>
          </p:cNvPr>
          <p:cNvSpPr>
            <a:spLocks noGrp="1"/>
          </p:cNvSpPr>
          <p:nvPr/>
        </p:nvSpPr>
        <p:spPr>
          <a:xfrm>
            <a:off x="9525000" y="4419600"/>
            <a:ext cx="7048500" cy="76200"/>
          </a:xfrm>
          <a:prstGeom prst="rect">
            <a:avLst/>
          </a:prstGeom>
          <a:solidFill>
            <a:srgbClr val="13B873"/>
          </a:solidFill>
          <a:ln w="0">
            <a:noFill/>
            <a:prstDash val="solid"/>
          </a:ln>
        </p:spPr>
      </p:sp>
      <p:sp>
        <p:nvSpPr>
          <p:cNvPr id="6" name="border-6">
            <a:extLst>
              <a:ext uri="{FF2B5EF4-FFF2-40B4-BE49-F238E27FC236}">
                <a16:creationId xmlns:a16="http://schemas.microsoft.com/office/drawing/2014/main" id="{374F1C2D-D074-4B86-94FD-BD07CD52001E}"/>
              </a:ext>
            </a:extLst>
          </p:cNvPr>
          <p:cNvSpPr>
            <a:spLocks noGrp="1"/>
          </p:cNvSpPr>
          <p:nvPr/>
        </p:nvSpPr>
        <p:spPr>
          <a:xfrm>
            <a:off x="9525000" y="6734175"/>
            <a:ext cx="70485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7" name="html-shape-7">
            <a:extLst>
              <a:ext uri="{FF2B5EF4-FFF2-40B4-BE49-F238E27FC236}">
                <a16:creationId xmlns:a16="http://schemas.microsoft.com/office/drawing/2014/main" id="{E4E9B877-3F1A-45DF-9316-6DA85FA61FB8}"/>
              </a:ext>
            </a:extLst>
          </p:cNvPr>
          <p:cNvSpPr>
            <a:spLocks noGrp="1"/>
          </p:cNvSpPr>
          <p:nvPr/>
        </p:nvSpPr>
        <p:spPr>
          <a:xfrm>
            <a:off x="9525000" y="5512594"/>
            <a:ext cx="1238250" cy="6858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9050">
            <a:solidFill>
              <a:srgbClr val="E7F7F0"/>
            </a:solidFill>
            <a:prstDash val="solid"/>
          </a:ln>
        </p:spPr>
      </p:sp>
      <p:sp>
        <p:nvSpPr>
          <p:cNvPr id="8" name="html-shape-8">
            <a:extLst>
              <a:ext uri="{FF2B5EF4-FFF2-40B4-BE49-F238E27FC236}">
                <a16:creationId xmlns:a16="http://schemas.microsoft.com/office/drawing/2014/main" id="{0CA48BCF-4D18-4385-AE31-B5DA818402B1}"/>
              </a:ext>
            </a:extLst>
          </p:cNvPr>
          <p:cNvSpPr>
            <a:spLocks noGrp="1"/>
          </p:cNvSpPr>
          <p:nvPr/>
        </p:nvSpPr>
        <p:spPr>
          <a:xfrm>
            <a:off x="11287125" y="5512594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9050">
            <a:solidFill>
              <a:srgbClr val="E7F7F0"/>
            </a:solidFill>
            <a:prstDash val="solid"/>
          </a:ln>
        </p:spPr>
      </p:sp>
      <p:sp>
        <p:nvSpPr>
          <p:cNvPr id="9" name="html-shape-9">
            <a:extLst>
              <a:ext uri="{FF2B5EF4-FFF2-40B4-BE49-F238E27FC236}">
                <a16:creationId xmlns:a16="http://schemas.microsoft.com/office/drawing/2014/main" id="{CF7BFF72-BB7C-487A-BB83-4330431093D6}"/>
              </a:ext>
            </a:extLst>
          </p:cNvPr>
          <p:cNvSpPr>
            <a:spLocks noGrp="1"/>
          </p:cNvSpPr>
          <p:nvPr/>
        </p:nvSpPr>
        <p:spPr>
          <a:xfrm>
            <a:off x="13239750" y="5512594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9050">
            <a:solidFill>
              <a:srgbClr val="E7F7F0"/>
            </a:solidFill>
            <a:prstDash val="solid"/>
          </a:ln>
        </p:spPr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E2D1DA4-DC16-4B26-8ACE-4E39DBD60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8BA5DE5-B69D-4B07-A8CF-3B4C58519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2" name="text-1">
            <a:extLst>
              <a:ext uri="{FF2B5EF4-FFF2-40B4-BE49-F238E27FC236}">
                <a16:creationId xmlns:a16="http://schemas.microsoft.com/office/drawing/2014/main" id="{0B49050D-BF1D-4885-B2F7-CD5CD5698F80}"/>
              </a:ext>
            </a:extLst>
          </p:cNvPr>
          <p:cNvSpPr>
            <a:spLocks noGrp="1"/>
          </p:cNvSpPr>
          <p:nvPr/>
        </p:nvSpPr>
        <p:spPr>
          <a:xfrm>
            <a:off x="1704975" y="1352550"/>
            <a:ext cx="1633728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CHAPTER 02</a:t>
            </a:r>
          </a:p>
        </p:txBody>
      </p:sp>
      <p:sp>
        <p:nvSpPr>
          <p:cNvPr id="13" name="text-2">
            <a:extLst>
              <a:ext uri="{FF2B5EF4-FFF2-40B4-BE49-F238E27FC236}">
                <a16:creationId xmlns:a16="http://schemas.microsoft.com/office/drawing/2014/main" id="{96603F9F-1D19-4903-8449-210E668AD25A}"/>
              </a:ext>
            </a:extLst>
          </p:cNvPr>
          <p:cNvSpPr>
            <a:spLocks noGrp="1"/>
          </p:cNvSpPr>
          <p:nvPr/>
        </p:nvSpPr>
        <p:spPr>
          <a:xfrm>
            <a:off x="1704975" y="1876425"/>
            <a:ext cx="407489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573"/>
          </a:bodyPr>
          <a:lstStyle>
            <a:def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PD 分离基础</a:t>
            </a:r>
          </a:p>
        </p:txBody>
      </p:sp>
      <p:sp>
        <p:nvSpPr>
          <p:cNvPr id="14" name="text-3">
            <a:extLst>
              <a:ext uri="{FF2B5EF4-FFF2-40B4-BE49-F238E27FC236}">
                <a16:creationId xmlns:a16="http://schemas.microsoft.com/office/drawing/2014/main" id="{543BE4DD-130D-42E2-BD69-CDE2C6CD90D6}"/>
              </a:ext>
            </a:extLst>
          </p:cNvPr>
          <p:cNvSpPr>
            <a:spLocks noGrp="1"/>
          </p:cNvSpPr>
          <p:nvPr/>
        </p:nvSpPr>
        <p:spPr>
          <a:xfrm>
            <a:off x="1724025" y="3133725"/>
            <a:ext cx="6024086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高质量 Token 服务，如何由推理系统交付？</a:t>
            </a:r>
          </a:p>
        </p:txBody>
      </p:sp>
      <p:sp>
        <p:nvSpPr>
          <p:cNvPr id="15" name="text-4">
            <a:extLst>
              <a:ext uri="{FF2B5EF4-FFF2-40B4-BE49-F238E27FC236}">
                <a16:creationId xmlns:a16="http://schemas.microsoft.com/office/drawing/2014/main" id="{7E6D96F5-EC7A-406F-A812-FE7CAFC2C3F4}"/>
              </a:ext>
            </a:extLst>
          </p:cNvPr>
          <p:cNvSpPr>
            <a:spLocks noGrp="1"/>
          </p:cNvSpPr>
          <p:nvPr/>
        </p:nvSpPr>
        <p:spPr>
          <a:xfrm>
            <a:off x="1704975" y="4876800"/>
            <a:ext cx="1981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用户感知到的服务</a:t>
            </a:r>
          </a:p>
        </p:txBody>
      </p:sp>
      <p:sp>
        <p:nvSpPr>
          <p:cNvPr id="16" name="text-5">
            <a:extLst>
              <a:ext uri="{FF2B5EF4-FFF2-40B4-BE49-F238E27FC236}">
                <a16:creationId xmlns:a16="http://schemas.microsoft.com/office/drawing/2014/main" id="{08667F0B-FA6D-4467-8F7F-D2C57355F27F}"/>
              </a:ext>
            </a:extLst>
          </p:cNvPr>
          <p:cNvSpPr>
            <a:spLocks noGrp="1"/>
          </p:cNvSpPr>
          <p:nvPr/>
        </p:nvSpPr>
        <p:spPr>
          <a:xfrm>
            <a:off x="1704975" y="5579269"/>
            <a:ext cx="792956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TTFT</a:t>
            </a:r>
          </a:p>
        </p:txBody>
      </p:sp>
      <p:sp>
        <p:nvSpPr>
          <p:cNvPr id="17" name="text-6">
            <a:extLst>
              <a:ext uri="{FF2B5EF4-FFF2-40B4-BE49-F238E27FC236}">
                <a16:creationId xmlns:a16="http://schemas.microsoft.com/office/drawing/2014/main" id="{852CCBF7-DDDD-4AB3-AB39-B8348DB1C830}"/>
              </a:ext>
            </a:extLst>
          </p:cNvPr>
          <p:cNvSpPr>
            <a:spLocks noGrp="1"/>
          </p:cNvSpPr>
          <p:nvPr/>
        </p:nvSpPr>
        <p:spPr>
          <a:xfrm>
            <a:off x="2602706" y="5636419"/>
            <a:ext cx="19526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rPr>
              <a:t>·</a:t>
            </a:r>
          </a:p>
        </p:txBody>
      </p:sp>
      <p:sp>
        <p:nvSpPr>
          <p:cNvPr id="18" name="text-7">
            <a:extLst>
              <a:ext uri="{FF2B5EF4-FFF2-40B4-BE49-F238E27FC236}">
                <a16:creationId xmlns:a16="http://schemas.microsoft.com/office/drawing/2014/main" id="{0D3DD5AB-5759-4E6A-A0B7-0C32D7ABBC21}"/>
              </a:ext>
            </a:extLst>
          </p:cNvPr>
          <p:cNvSpPr>
            <a:spLocks noGrp="1"/>
          </p:cNvSpPr>
          <p:nvPr/>
        </p:nvSpPr>
        <p:spPr>
          <a:xfrm>
            <a:off x="2902744" y="5579269"/>
            <a:ext cx="17238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Interactivity</a:t>
            </a:r>
          </a:p>
        </p:txBody>
      </p:sp>
      <p:sp>
        <p:nvSpPr>
          <p:cNvPr id="19" name="text-8">
            <a:extLst>
              <a:ext uri="{FF2B5EF4-FFF2-40B4-BE49-F238E27FC236}">
                <a16:creationId xmlns:a16="http://schemas.microsoft.com/office/drawing/2014/main" id="{20218F8D-E253-423D-AE0B-D8BC854FF4BB}"/>
              </a:ext>
            </a:extLst>
          </p:cNvPr>
          <p:cNvSpPr>
            <a:spLocks noGrp="1"/>
          </p:cNvSpPr>
          <p:nvPr/>
        </p:nvSpPr>
        <p:spPr>
          <a:xfrm>
            <a:off x="4731353" y="5636419"/>
            <a:ext cx="19526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rPr>
              <a:t>·</a:t>
            </a:r>
          </a:p>
        </p:txBody>
      </p:sp>
      <p:sp>
        <p:nvSpPr>
          <p:cNvPr id="20" name="text-9">
            <a:extLst>
              <a:ext uri="{FF2B5EF4-FFF2-40B4-BE49-F238E27FC236}">
                <a16:creationId xmlns:a16="http://schemas.microsoft.com/office/drawing/2014/main" id="{EFEAD5BB-264B-47FA-8F6F-351858C63DEC}"/>
              </a:ext>
            </a:extLst>
          </p:cNvPr>
          <p:cNvSpPr>
            <a:spLocks noGrp="1"/>
          </p:cNvSpPr>
          <p:nvPr/>
        </p:nvSpPr>
        <p:spPr>
          <a:xfrm>
            <a:off x="5031391" y="5579269"/>
            <a:ext cx="26325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Throughput / SLO</a:t>
            </a:r>
          </a:p>
        </p:txBody>
      </p:sp>
      <p:sp>
        <p:nvSpPr>
          <p:cNvPr id="21" name="text-10">
            <a:extLst>
              <a:ext uri="{FF2B5EF4-FFF2-40B4-BE49-F238E27FC236}">
                <a16:creationId xmlns:a16="http://schemas.microsoft.com/office/drawing/2014/main" id="{B0715F6A-811F-492B-88D0-D97ADFFB9668}"/>
              </a:ext>
            </a:extLst>
          </p:cNvPr>
          <p:cNvSpPr>
            <a:spLocks noGrp="1"/>
          </p:cNvSpPr>
          <p:nvPr/>
        </p:nvSpPr>
        <p:spPr>
          <a:xfrm>
            <a:off x="8296275" y="5072063"/>
            <a:ext cx="80010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5700" b="1" i="0" noProof="1">
                <a:solidFill>
                  <a:srgbClr val="13B87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700" b="1" i="0" noProof="1">
                <a:solidFill>
                  <a:srgbClr val="13B87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700" b="1" i="0" noProof="1">
                <a:solidFill>
                  <a:srgbClr val="13B873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2" name="text-11">
            <a:extLst>
              <a:ext uri="{FF2B5EF4-FFF2-40B4-BE49-F238E27FC236}">
                <a16:creationId xmlns:a16="http://schemas.microsoft.com/office/drawing/2014/main" id="{53FEC305-8ECE-4C72-801C-2B20C4378390}"/>
              </a:ext>
            </a:extLst>
          </p:cNvPr>
          <p:cNvSpPr>
            <a:spLocks noGrp="1"/>
          </p:cNvSpPr>
          <p:nvPr/>
        </p:nvSpPr>
        <p:spPr>
          <a:xfrm>
            <a:off x="9515475" y="487680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系统内部的一次自回归推理</a:t>
            </a:r>
          </a:p>
        </p:txBody>
      </p:sp>
      <p:sp>
        <p:nvSpPr>
          <p:cNvPr id="23" name="text-12">
            <a:extLst>
              <a:ext uri="{FF2B5EF4-FFF2-40B4-BE49-F238E27FC236}">
                <a16:creationId xmlns:a16="http://schemas.microsoft.com/office/drawing/2014/main" id="{6AFF5819-5E2D-4157-B873-AFFC8A24E97C}"/>
              </a:ext>
            </a:extLst>
          </p:cNvPr>
          <p:cNvSpPr>
            <a:spLocks noGrp="1"/>
          </p:cNvSpPr>
          <p:nvPr/>
        </p:nvSpPr>
        <p:spPr>
          <a:xfrm>
            <a:off x="9839325" y="5674519"/>
            <a:ext cx="66656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Input</a:t>
            </a:r>
          </a:p>
        </p:txBody>
      </p:sp>
      <p:sp>
        <p:nvSpPr>
          <p:cNvPr id="24" name="text-13">
            <a:extLst>
              <a:ext uri="{FF2B5EF4-FFF2-40B4-BE49-F238E27FC236}">
                <a16:creationId xmlns:a16="http://schemas.microsoft.com/office/drawing/2014/main" id="{9AF081FA-167A-44B1-9E46-4A899A3A76FC}"/>
              </a:ext>
            </a:extLst>
          </p:cNvPr>
          <p:cNvSpPr>
            <a:spLocks noGrp="1"/>
          </p:cNvSpPr>
          <p:nvPr/>
        </p:nvSpPr>
        <p:spPr>
          <a:xfrm>
            <a:off x="10834688" y="5598319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5" name="text-14">
            <a:extLst>
              <a:ext uri="{FF2B5EF4-FFF2-40B4-BE49-F238E27FC236}">
                <a16:creationId xmlns:a16="http://schemas.microsoft.com/office/drawing/2014/main" id="{3B4B61C2-5B14-4ABB-9C8B-F987CC1336F8}"/>
              </a:ext>
            </a:extLst>
          </p:cNvPr>
          <p:cNvSpPr>
            <a:spLocks noGrp="1"/>
          </p:cNvSpPr>
          <p:nvPr/>
        </p:nvSpPr>
        <p:spPr>
          <a:xfrm>
            <a:off x="11538776" y="5674519"/>
            <a:ext cx="982409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Token 1</a:t>
            </a:r>
          </a:p>
        </p:txBody>
      </p:sp>
      <p:sp>
        <p:nvSpPr>
          <p:cNvPr id="26" name="text-15">
            <a:extLst>
              <a:ext uri="{FF2B5EF4-FFF2-40B4-BE49-F238E27FC236}">
                <a16:creationId xmlns:a16="http://schemas.microsoft.com/office/drawing/2014/main" id="{784AC48E-965C-43EE-BF93-4406B8124710}"/>
              </a:ext>
            </a:extLst>
          </p:cNvPr>
          <p:cNvSpPr>
            <a:spLocks noGrp="1"/>
          </p:cNvSpPr>
          <p:nvPr/>
        </p:nvSpPr>
        <p:spPr>
          <a:xfrm>
            <a:off x="12787313" y="5598319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7" name="text-16">
            <a:extLst>
              <a:ext uri="{FF2B5EF4-FFF2-40B4-BE49-F238E27FC236}">
                <a16:creationId xmlns:a16="http://schemas.microsoft.com/office/drawing/2014/main" id="{FC8939A2-1EFF-446F-9083-9630E2DE97FB}"/>
              </a:ext>
            </a:extLst>
          </p:cNvPr>
          <p:cNvSpPr>
            <a:spLocks noGrp="1"/>
          </p:cNvSpPr>
          <p:nvPr/>
        </p:nvSpPr>
        <p:spPr>
          <a:xfrm>
            <a:off x="13467874" y="5674519"/>
            <a:ext cx="1029462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Token 2</a:t>
            </a:r>
          </a:p>
        </p:txBody>
      </p:sp>
      <p:sp>
        <p:nvSpPr>
          <p:cNvPr id="28" name="text-17">
            <a:extLst>
              <a:ext uri="{FF2B5EF4-FFF2-40B4-BE49-F238E27FC236}">
                <a16:creationId xmlns:a16="http://schemas.microsoft.com/office/drawing/2014/main" id="{49F72BA2-B758-4E41-92CC-BCB6D3987A61}"/>
              </a:ext>
            </a:extLst>
          </p:cNvPr>
          <p:cNvSpPr>
            <a:spLocks noGrp="1"/>
          </p:cNvSpPr>
          <p:nvPr/>
        </p:nvSpPr>
        <p:spPr>
          <a:xfrm>
            <a:off x="14739938" y="5598319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B7C0CF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9" name="text-18">
            <a:extLst>
              <a:ext uri="{FF2B5EF4-FFF2-40B4-BE49-F238E27FC236}">
                <a16:creationId xmlns:a16="http://schemas.microsoft.com/office/drawing/2014/main" id="{994B4AD2-DF45-4E88-B2CD-FE5CBA5716FD}"/>
              </a:ext>
            </a:extLst>
          </p:cNvPr>
          <p:cNvSpPr>
            <a:spLocks noGrp="1"/>
          </p:cNvSpPr>
          <p:nvPr/>
        </p:nvSpPr>
        <p:spPr>
          <a:xfrm>
            <a:off x="15287625" y="5493544"/>
            <a:ext cx="5334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…</a:t>
            </a:r>
          </a:p>
        </p:txBody>
      </p:sp>
      <p:sp>
        <p:nvSpPr>
          <p:cNvPr id="30" name="text-19">
            <a:extLst>
              <a:ext uri="{FF2B5EF4-FFF2-40B4-BE49-F238E27FC236}">
                <a16:creationId xmlns:a16="http://schemas.microsoft.com/office/drawing/2014/main" id="{DD351B1F-8EE3-4144-A2B1-612EC9F6E79E}"/>
              </a:ext>
            </a:extLst>
          </p:cNvPr>
          <p:cNvSpPr>
            <a:spLocks noGrp="1"/>
          </p:cNvSpPr>
          <p:nvPr/>
        </p:nvSpPr>
        <p:spPr>
          <a:xfrm>
            <a:off x="5639657" y="8627840"/>
            <a:ext cx="706564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rPr>
              <a:t>接下来，从首 Token 边界拆开一次自回归推理。</a:t>
            </a:r>
          </a:p>
        </p:txBody>
      </p:sp>
      <p:sp>
        <p:nvSpPr>
          <p:cNvPr id="31" name="text-20">
            <a:extLst>
              <a:ext uri="{FF2B5EF4-FFF2-40B4-BE49-F238E27FC236}">
                <a16:creationId xmlns:a16="http://schemas.microsoft.com/office/drawing/2014/main" id="{78FE5612-B24A-45D7-A8C8-4C5B825CDBD5}"/>
              </a:ext>
            </a:extLst>
          </p:cNvPr>
          <p:cNvSpPr>
            <a:spLocks noGrp="1"/>
          </p:cNvSpPr>
          <p:nvPr/>
        </p:nvSpPr>
        <p:spPr>
          <a:xfrm>
            <a:off x="16998410" y="9848850"/>
            <a:ext cx="58474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9 / 43</a:t>
            </a:r>
          </a:p>
        </p:txBody>
      </p:sp>
    </p:spTree>
    <p:extLst>
      <p:ext uri="{BB962C8B-B14F-4D97-AF65-F5344CB8AC3E}">
        <p14:creationId xmlns:p14="http://schemas.microsoft.com/office/powerpoint/2010/main" val="1233331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html-shape-6">
            <a:extLst>
              <a:ext uri="{FF2B5EF4-FFF2-40B4-BE49-F238E27FC236}">
                <a16:creationId xmlns:a16="http://schemas.microsoft.com/office/drawing/2014/main" id="{F18C8036-EC95-4A46-A6ED-6B0000B517CB}"/>
              </a:ext>
            </a:extLst>
          </p:cNvPr>
          <p:cNvSpPr>
            <a:spLocks noGrp="1"/>
          </p:cNvSpPr>
          <p:nvPr/>
        </p:nvSpPr>
        <p:spPr>
          <a:xfrm>
            <a:off x="2286000" y="7029450"/>
            <a:ext cx="13716000" cy="12192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" name="html-line-1">
            <a:extLst>
              <a:ext uri="{FF2B5EF4-FFF2-40B4-BE49-F238E27FC236}">
                <a16:creationId xmlns:a16="http://schemas.microsoft.com/office/drawing/2014/main" id="{F881AD83-D1E0-40B6-8584-B685DAA3BBDE}"/>
              </a:ext>
            </a:extLst>
          </p:cNvPr>
          <p:cNvSpPr>
            <a:spLocks noGrp="1"/>
          </p:cNvSpPr>
          <p:nvPr/>
        </p:nvSpPr>
        <p:spPr>
          <a:xfrm>
            <a:off x="2286000" y="3209925"/>
            <a:ext cx="6858000" cy="4763"/>
          </a:xfrm>
          <a:prstGeom prst="line">
            <a:avLst/>
          </a:prstGeom>
          <a:noFill/>
          <a:ln w="76200">
            <a:solidFill>
              <a:srgbClr val="4B139F"/>
            </a:solidFill>
            <a:prstDash val="solid"/>
          </a:ln>
        </p:spPr>
      </p:sp>
      <p:sp>
        <p:nvSpPr>
          <p:cNvPr id="3" name="html-line-2">
            <a:extLst>
              <a:ext uri="{FF2B5EF4-FFF2-40B4-BE49-F238E27FC236}">
                <a16:creationId xmlns:a16="http://schemas.microsoft.com/office/drawing/2014/main" id="{C909C5C8-63B8-4260-BDD5-83D54B0337E3}"/>
              </a:ext>
            </a:extLst>
          </p:cNvPr>
          <p:cNvSpPr>
            <a:spLocks noGrp="1"/>
          </p:cNvSpPr>
          <p:nvPr/>
        </p:nvSpPr>
        <p:spPr>
          <a:xfrm>
            <a:off x="9144000" y="3209925"/>
            <a:ext cx="6858000" cy="4763"/>
          </a:xfrm>
          <a:prstGeom prst="line">
            <a:avLst/>
          </a:prstGeom>
          <a:noFill/>
          <a:ln w="76200">
            <a:solidFill>
              <a:srgbClr val="13B873"/>
            </a:solidFill>
            <a:prstDash val="solid"/>
          </a:ln>
        </p:spPr>
      </p:sp>
      <p:sp>
        <p:nvSpPr>
          <p:cNvPr id="4" name="html-line-3">
            <a:extLst>
              <a:ext uri="{FF2B5EF4-FFF2-40B4-BE49-F238E27FC236}">
                <a16:creationId xmlns:a16="http://schemas.microsoft.com/office/drawing/2014/main" id="{E32A6A82-D4BE-4543-99EF-797B79F11AA1}"/>
              </a:ext>
            </a:extLst>
          </p:cNvPr>
          <p:cNvSpPr>
            <a:spLocks noGrp="1"/>
          </p:cNvSpPr>
          <p:nvPr/>
        </p:nvSpPr>
        <p:spPr>
          <a:xfrm>
            <a:off x="2276475" y="5019675"/>
            <a:ext cx="13725525" cy="4763"/>
          </a:xfrm>
          <a:prstGeom prst="line">
            <a:avLst/>
          </a:prstGeom>
          <a:noFill/>
          <a:ln w="76200">
            <a:solidFill>
              <a:srgbClr val="C7CED9"/>
            </a:solidFill>
            <a:prstDash val="solid"/>
          </a:ln>
        </p:spPr>
      </p:sp>
      <p:sp>
        <p:nvSpPr>
          <p:cNvPr id="5" name="html-line-4">
            <a:extLst>
              <a:ext uri="{FF2B5EF4-FFF2-40B4-BE49-F238E27FC236}">
                <a16:creationId xmlns:a16="http://schemas.microsoft.com/office/drawing/2014/main" id="{F3C7F357-1B87-47ED-A3CF-A6AA09BD9CD2}"/>
              </a:ext>
            </a:extLst>
          </p:cNvPr>
          <p:cNvSpPr>
            <a:spLocks noGrp="1"/>
          </p:cNvSpPr>
          <p:nvPr/>
        </p:nvSpPr>
        <p:spPr>
          <a:xfrm>
            <a:off x="2286000" y="9058275"/>
            <a:ext cx="13716000" cy="4763"/>
          </a:xfrm>
          <a:prstGeom prst="line">
            <a:avLst/>
          </a:prstGeom>
          <a:noFill/>
          <a:ln w="19050">
            <a:solidFill>
              <a:srgbClr val="D9DFEB"/>
            </a:solidFill>
            <a:prstDash val="solid"/>
          </a:ln>
        </p:spPr>
      </p:sp>
      <p:sp>
        <p:nvSpPr>
          <p:cNvPr id="6" name="html-shape-1">
            <a:extLst>
              <a:ext uri="{FF2B5EF4-FFF2-40B4-BE49-F238E27FC236}">
                <a16:creationId xmlns:a16="http://schemas.microsoft.com/office/drawing/2014/main" id="{B9188224-C96A-43AD-9C49-8FB23E55CFF2}"/>
              </a:ext>
            </a:extLst>
          </p:cNvPr>
          <p:cNvSpPr>
            <a:spLocks noGrp="1"/>
          </p:cNvSpPr>
          <p:nvPr/>
        </p:nvSpPr>
        <p:spPr>
          <a:xfrm>
            <a:off x="1695450" y="4391025"/>
            <a:ext cx="1181100" cy="1181100"/>
          </a:xfrm>
          <a:prstGeom prst="roundRect">
            <a:avLst>
              <a:gd name="adj" fmla="val 40323"/>
            </a:avLst>
          </a:prstGeom>
          <a:solidFill>
            <a:srgbClr val="FFFFFF"/>
          </a:solidFill>
          <a:ln w="28575">
            <a:solidFill>
              <a:srgbClr val="B9C2D2"/>
            </a:solidFill>
            <a:prstDash val="solid"/>
          </a:ln>
        </p:spPr>
      </p:sp>
      <p:sp>
        <p:nvSpPr>
          <p:cNvPr id="7" name="html-shape-2">
            <a:extLst>
              <a:ext uri="{FF2B5EF4-FFF2-40B4-BE49-F238E27FC236}">
                <a16:creationId xmlns:a16="http://schemas.microsoft.com/office/drawing/2014/main" id="{399556CB-DB3C-464D-8998-48688FB01697}"/>
              </a:ext>
            </a:extLst>
          </p:cNvPr>
          <p:cNvSpPr>
            <a:spLocks noGrp="1"/>
          </p:cNvSpPr>
          <p:nvPr/>
        </p:nvSpPr>
        <p:spPr>
          <a:xfrm>
            <a:off x="8553450" y="4391025"/>
            <a:ext cx="1181100" cy="1181100"/>
          </a:xfrm>
          <a:prstGeom prst="roundRect">
            <a:avLst>
              <a:gd name="adj" fmla="val 40323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8" name="html-shape-3">
            <a:extLst>
              <a:ext uri="{FF2B5EF4-FFF2-40B4-BE49-F238E27FC236}">
                <a16:creationId xmlns:a16="http://schemas.microsoft.com/office/drawing/2014/main" id="{E78AEF0B-3EC3-427F-839D-3EC1B4816767}"/>
              </a:ext>
            </a:extLst>
          </p:cNvPr>
          <p:cNvSpPr>
            <a:spLocks noGrp="1"/>
          </p:cNvSpPr>
          <p:nvPr/>
        </p:nvSpPr>
        <p:spPr>
          <a:xfrm>
            <a:off x="12096750" y="45148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13B873"/>
          </a:solidFill>
          <a:ln w="0">
            <a:noFill/>
            <a:prstDash val="solid"/>
          </a:ln>
        </p:spPr>
      </p:sp>
      <p:sp>
        <p:nvSpPr>
          <p:cNvPr id="9" name="html-shape-4">
            <a:extLst>
              <a:ext uri="{FF2B5EF4-FFF2-40B4-BE49-F238E27FC236}">
                <a16:creationId xmlns:a16="http://schemas.microsoft.com/office/drawing/2014/main" id="{C9731392-8E8B-4D00-999B-B929E5D7261F}"/>
              </a:ext>
            </a:extLst>
          </p:cNvPr>
          <p:cNvSpPr>
            <a:spLocks noGrp="1"/>
          </p:cNvSpPr>
          <p:nvPr/>
        </p:nvSpPr>
        <p:spPr>
          <a:xfrm>
            <a:off x="13811250" y="45148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13B873"/>
          </a:solidFill>
          <a:ln w="0">
            <a:noFill/>
            <a:prstDash val="solid"/>
          </a:ln>
        </p:spPr>
      </p:sp>
      <p:sp>
        <p:nvSpPr>
          <p:cNvPr id="10" name="html-shape-5">
            <a:extLst>
              <a:ext uri="{FF2B5EF4-FFF2-40B4-BE49-F238E27FC236}">
                <a16:creationId xmlns:a16="http://schemas.microsoft.com/office/drawing/2014/main" id="{52122936-DC1E-482E-8B42-4E167874706A}"/>
              </a:ext>
            </a:extLst>
          </p:cNvPr>
          <p:cNvSpPr>
            <a:spLocks noGrp="1"/>
          </p:cNvSpPr>
          <p:nvPr/>
        </p:nvSpPr>
        <p:spPr>
          <a:xfrm>
            <a:off x="15525750" y="45148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13B873"/>
          </a:solidFill>
          <a:ln w="0">
            <a:noFill/>
            <a:prstDash val="solid"/>
          </a:ln>
        </p:spPr>
      </p:sp>
      <p:sp>
        <p:nvSpPr>
          <p:cNvPr id="11" name="border-7">
            <a:extLst>
              <a:ext uri="{FF2B5EF4-FFF2-40B4-BE49-F238E27FC236}">
                <a16:creationId xmlns:a16="http://schemas.microsoft.com/office/drawing/2014/main" id="{96A29D2F-9B0B-4E43-9E36-A24D3707E868}"/>
              </a:ext>
            </a:extLst>
          </p:cNvPr>
          <p:cNvSpPr>
            <a:spLocks noGrp="1"/>
          </p:cNvSpPr>
          <p:nvPr/>
        </p:nvSpPr>
        <p:spPr>
          <a:xfrm>
            <a:off x="2286000" y="7029450"/>
            <a:ext cx="13716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BA6AE4E-59EF-46A8-9B74-CC9D0790C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76E551D-95B2-4910-B113-A45E48C7C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4" name="text-1">
            <a:extLst>
              <a:ext uri="{FF2B5EF4-FFF2-40B4-BE49-F238E27FC236}">
                <a16:creationId xmlns:a16="http://schemas.microsoft.com/office/drawing/2014/main" id="{BC8A0E60-2A7B-4B67-9BCA-33AEBAC2B929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5" name="text-2">
            <a:extLst>
              <a:ext uri="{FF2B5EF4-FFF2-40B4-BE49-F238E27FC236}">
                <a16:creationId xmlns:a16="http://schemas.microsoft.com/office/drawing/2014/main" id="{7E05A25D-7CA0-4C8B-BA8B-6DC50A717EF2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19236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第二章 · PD 分离基础</a:t>
            </a:r>
          </a:p>
        </p:txBody>
      </p:sp>
      <p:sp>
        <p:nvSpPr>
          <p:cNvPr id="16" name="text-3">
            <a:extLst>
              <a:ext uri="{FF2B5EF4-FFF2-40B4-BE49-F238E27FC236}">
                <a16:creationId xmlns:a16="http://schemas.microsoft.com/office/drawing/2014/main" id="{D5D31A60-B5BE-4547-9C0B-1A4184425B24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287599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345"/>
          </a:bodyPr>
          <a:lstStyle>
            <a:defPPr algn="l">
              <a:defRPr lang="zh-CN" altLang="en-US" sz="4950" b="1" i="0" spc="-135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首 Token 是 Prefill 与 Decode 的天然执行边界</a:t>
            </a:r>
          </a:p>
        </p:txBody>
      </p:sp>
      <p:sp>
        <p:nvSpPr>
          <p:cNvPr id="17" name="text-4">
            <a:extLst>
              <a:ext uri="{FF2B5EF4-FFF2-40B4-BE49-F238E27FC236}">
                <a16:creationId xmlns:a16="http://schemas.microsoft.com/office/drawing/2014/main" id="{787E23D8-E3A6-4515-B079-D2F689FB5817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13389483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执行上，一次 Prefill 之后进入多轮 Decode；体验上，用户先等待首 Token，再持续接收输出。</a:t>
            </a:r>
          </a:p>
        </p:txBody>
      </p:sp>
      <p:sp>
        <p:nvSpPr>
          <p:cNvPr id="18" name="text-5">
            <a:extLst>
              <a:ext uri="{FF2B5EF4-FFF2-40B4-BE49-F238E27FC236}">
                <a16:creationId xmlns:a16="http://schemas.microsoft.com/office/drawing/2014/main" id="{CE1D777A-F21E-4263-9E32-EDE7040FBBDA}"/>
              </a:ext>
            </a:extLst>
          </p:cNvPr>
          <p:cNvSpPr>
            <a:spLocks noGrp="1"/>
          </p:cNvSpPr>
          <p:nvPr/>
        </p:nvSpPr>
        <p:spPr>
          <a:xfrm>
            <a:off x="5277707" y="3476625"/>
            <a:ext cx="93164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7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7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7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TTFT</a:t>
            </a:r>
          </a:p>
        </p:txBody>
      </p:sp>
      <p:sp>
        <p:nvSpPr>
          <p:cNvPr id="19" name="text-6">
            <a:extLst>
              <a:ext uri="{FF2B5EF4-FFF2-40B4-BE49-F238E27FC236}">
                <a16:creationId xmlns:a16="http://schemas.microsoft.com/office/drawing/2014/main" id="{096A406E-4A39-42A0-A5FA-0857831F5624}"/>
              </a:ext>
            </a:extLst>
          </p:cNvPr>
          <p:cNvSpPr>
            <a:spLocks noGrp="1"/>
          </p:cNvSpPr>
          <p:nvPr/>
        </p:nvSpPr>
        <p:spPr>
          <a:xfrm>
            <a:off x="4351306" y="4069556"/>
            <a:ext cx="2784443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发送请求 → 收到首 Token</a:t>
            </a:r>
          </a:p>
        </p:txBody>
      </p:sp>
      <p:sp>
        <p:nvSpPr>
          <p:cNvPr id="20" name="text-7">
            <a:extLst>
              <a:ext uri="{FF2B5EF4-FFF2-40B4-BE49-F238E27FC236}">
                <a16:creationId xmlns:a16="http://schemas.microsoft.com/office/drawing/2014/main" id="{9C851EA9-1052-48B4-B3A3-33CF92A53152}"/>
              </a:ext>
            </a:extLst>
          </p:cNvPr>
          <p:cNvSpPr>
            <a:spLocks noGrp="1"/>
          </p:cNvSpPr>
          <p:nvPr/>
        </p:nvSpPr>
        <p:spPr>
          <a:xfrm>
            <a:off x="11580209" y="3476625"/>
            <a:ext cx="2042827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7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7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7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Interactivity</a:t>
            </a:r>
          </a:p>
        </p:txBody>
      </p:sp>
      <p:sp>
        <p:nvSpPr>
          <p:cNvPr id="21" name="text-8">
            <a:extLst>
              <a:ext uri="{FF2B5EF4-FFF2-40B4-BE49-F238E27FC236}">
                <a16:creationId xmlns:a16="http://schemas.microsoft.com/office/drawing/2014/main" id="{600B02E2-1480-45E8-9E22-37A58A4A173E}"/>
              </a:ext>
            </a:extLst>
          </p:cNvPr>
          <p:cNvSpPr>
            <a:spLocks noGrp="1"/>
          </p:cNvSpPr>
          <p:nvPr/>
        </p:nvSpPr>
        <p:spPr>
          <a:xfrm>
            <a:off x="11133106" y="4069556"/>
            <a:ext cx="2936938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连续 Token 之间的生成速度</a:t>
            </a:r>
          </a:p>
        </p:txBody>
      </p:sp>
      <p:sp>
        <p:nvSpPr>
          <p:cNvPr id="22" name="text-9">
            <a:extLst>
              <a:ext uri="{FF2B5EF4-FFF2-40B4-BE49-F238E27FC236}">
                <a16:creationId xmlns:a16="http://schemas.microsoft.com/office/drawing/2014/main" id="{3249C88A-094B-4343-8459-6FB9DB66F8E7}"/>
              </a:ext>
            </a:extLst>
          </p:cNvPr>
          <p:cNvSpPr>
            <a:spLocks noGrp="1"/>
          </p:cNvSpPr>
          <p:nvPr/>
        </p:nvSpPr>
        <p:spPr>
          <a:xfrm>
            <a:off x="1774603" y="4795838"/>
            <a:ext cx="107975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Request</a:t>
            </a:r>
          </a:p>
        </p:txBody>
      </p:sp>
      <p:sp>
        <p:nvSpPr>
          <p:cNvPr id="23" name="text-10">
            <a:extLst>
              <a:ext uri="{FF2B5EF4-FFF2-40B4-BE49-F238E27FC236}">
                <a16:creationId xmlns:a16="http://schemas.microsoft.com/office/drawing/2014/main" id="{C834B0C4-4EC4-4BBD-9352-310A1C3ABDC2}"/>
              </a:ext>
            </a:extLst>
          </p:cNvPr>
          <p:cNvSpPr>
            <a:spLocks noGrp="1"/>
          </p:cNvSpPr>
          <p:nvPr/>
        </p:nvSpPr>
        <p:spPr>
          <a:xfrm>
            <a:off x="1781175" y="5734050"/>
            <a:ext cx="10668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发送请求</a:t>
            </a:r>
          </a:p>
        </p:txBody>
      </p:sp>
      <p:sp>
        <p:nvSpPr>
          <p:cNvPr id="24" name="text-11">
            <a:extLst>
              <a:ext uri="{FF2B5EF4-FFF2-40B4-BE49-F238E27FC236}">
                <a16:creationId xmlns:a16="http://schemas.microsoft.com/office/drawing/2014/main" id="{EF4BA52C-34E3-4A7B-9D9B-9E374CE8BE9F}"/>
              </a:ext>
            </a:extLst>
          </p:cNvPr>
          <p:cNvSpPr>
            <a:spLocks noGrp="1"/>
          </p:cNvSpPr>
          <p:nvPr/>
        </p:nvSpPr>
        <p:spPr>
          <a:xfrm>
            <a:off x="8663845" y="4795838"/>
            <a:ext cx="101727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Token 1</a:t>
            </a:r>
          </a:p>
        </p:txBody>
      </p:sp>
      <p:sp>
        <p:nvSpPr>
          <p:cNvPr id="25" name="text-12">
            <a:extLst>
              <a:ext uri="{FF2B5EF4-FFF2-40B4-BE49-F238E27FC236}">
                <a16:creationId xmlns:a16="http://schemas.microsoft.com/office/drawing/2014/main" id="{5FED2599-87F6-4D6F-8A27-9D8735DF1EEC}"/>
              </a:ext>
            </a:extLst>
          </p:cNvPr>
          <p:cNvSpPr>
            <a:spLocks noGrp="1"/>
          </p:cNvSpPr>
          <p:nvPr/>
        </p:nvSpPr>
        <p:spPr>
          <a:xfrm>
            <a:off x="8543925" y="5734050"/>
            <a:ext cx="1376172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首个 Token</a:t>
            </a:r>
          </a:p>
        </p:txBody>
      </p:sp>
      <p:sp>
        <p:nvSpPr>
          <p:cNvPr id="26" name="text-13">
            <a:extLst>
              <a:ext uri="{FF2B5EF4-FFF2-40B4-BE49-F238E27FC236}">
                <a16:creationId xmlns:a16="http://schemas.microsoft.com/office/drawing/2014/main" id="{68BC5454-42ED-4CCF-829F-16A3A7BC7010}"/>
              </a:ext>
            </a:extLst>
          </p:cNvPr>
          <p:cNvSpPr>
            <a:spLocks noGrp="1"/>
          </p:cNvSpPr>
          <p:nvPr/>
        </p:nvSpPr>
        <p:spPr>
          <a:xfrm>
            <a:off x="12432316" y="4805363"/>
            <a:ext cx="23441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</a:t>
            </a:r>
          </a:p>
        </p:txBody>
      </p:sp>
      <p:sp>
        <p:nvSpPr>
          <p:cNvPr id="27" name="text-14">
            <a:extLst>
              <a:ext uri="{FF2B5EF4-FFF2-40B4-BE49-F238E27FC236}">
                <a16:creationId xmlns:a16="http://schemas.microsoft.com/office/drawing/2014/main" id="{0270E90C-C3CF-4FAD-890C-ED617E7277A7}"/>
              </a:ext>
            </a:extLst>
          </p:cNvPr>
          <p:cNvSpPr>
            <a:spLocks noGrp="1"/>
          </p:cNvSpPr>
          <p:nvPr/>
        </p:nvSpPr>
        <p:spPr>
          <a:xfrm>
            <a:off x="12609576" y="4907566"/>
            <a:ext cx="161163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14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14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14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2</a:t>
            </a:r>
          </a:p>
        </p:txBody>
      </p:sp>
      <p:sp>
        <p:nvSpPr>
          <p:cNvPr id="28" name="text-15">
            <a:extLst>
              <a:ext uri="{FF2B5EF4-FFF2-40B4-BE49-F238E27FC236}">
                <a16:creationId xmlns:a16="http://schemas.microsoft.com/office/drawing/2014/main" id="{CD54303E-6C6F-4547-B4D4-172A64DC4237}"/>
              </a:ext>
            </a:extLst>
          </p:cNvPr>
          <p:cNvSpPr>
            <a:spLocks noGrp="1"/>
          </p:cNvSpPr>
          <p:nvPr/>
        </p:nvSpPr>
        <p:spPr>
          <a:xfrm>
            <a:off x="12087225" y="5657850"/>
            <a:ext cx="1029462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Token 2</a:t>
            </a:r>
          </a:p>
        </p:txBody>
      </p:sp>
      <p:sp>
        <p:nvSpPr>
          <p:cNvPr id="29" name="text-16">
            <a:extLst>
              <a:ext uri="{FF2B5EF4-FFF2-40B4-BE49-F238E27FC236}">
                <a16:creationId xmlns:a16="http://schemas.microsoft.com/office/drawing/2014/main" id="{9E3AA078-BE49-4FAA-AF4F-22A1BF6C71C6}"/>
              </a:ext>
            </a:extLst>
          </p:cNvPr>
          <p:cNvSpPr>
            <a:spLocks noGrp="1"/>
          </p:cNvSpPr>
          <p:nvPr/>
        </p:nvSpPr>
        <p:spPr>
          <a:xfrm>
            <a:off x="14146816" y="4805363"/>
            <a:ext cx="23441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</a:t>
            </a:r>
          </a:p>
        </p:txBody>
      </p:sp>
      <p:sp>
        <p:nvSpPr>
          <p:cNvPr id="30" name="text-17">
            <a:extLst>
              <a:ext uri="{FF2B5EF4-FFF2-40B4-BE49-F238E27FC236}">
                <a16:creationId xmlns:a16="http://schemas.microsoft.com/office/drawing/2014/main" id="{3FFEA6E1-F3C1-434B-994B-15DD2798D1F5}"/>
              </a:ext>
            </a:extLst>
          </p:cNvPr>
          <p:cNvSpPr>
            <a:spLocks noGrp="1"/>
          </p:cNvSpPr>
          <p:nvPr/>
        </p:nvSpPr>
        <p:spPr>
          <a:xfrm>
            <a:off x="14324076" y="4907566"/>
            <a:ext cx="161163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14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14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14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3</a:t>
            </a:r>
          </a:p>
        </p:txBody>
      </p:sp>
      <p:sp>
        <p:nvSpPr>
          <p:cNvPr id="31" name="text-18">
            <a:extLst>
              <a:ext uri="{FF2B5EF4-FFF2-40B4-BE49-F238E27FC236}">
                <a16:creationId xmlns:a16="http://schemas.microsoft.com/office/drawing/2014/main" id="{7AB0F95C-4377-4C53-90EE-914EFF6429CE}"/>
              </a:ext>
            </a:extLst>
          </p:cNvPr>
          <p:cNvSpPr>
            <a:spLocks noGrp="1"/>
          </p:cNvSpPr>
          <p:nvPr/>
        </p:nvSpPr>
        <p:spPr>
          <a:xfrm>
            <a:off x="13801725" y="5657850"/>
            <a:ext cx="1029462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Token 3</a:t>
            </a:r>
          </a:p>
        </p:txBody>
      </p:sp>
      <p:sp>
        <p:nvSpPr>
          <p:cNvPr id="32" name="text-19">
            <a:extLst>
              <a:ext uri="{FF2B5EF4-FFF2-40B4-BE49-F238E27FC236}">
                <a16:creationId xmlns:a16="http://schemas.microsoft.com/office/drawing/2014/main" id="{1EC36A11-0F07-44BB-A2A5-A15C2E851930}"/>
              </a:ext>
            </a:extLst>
          </p:cNvPr>
          <p:cNvSpPr>
            <a:spLocks noGrp="1"/>
          </p:cNvSpPr>
          <p:nvPr/>
        </p:nvSpPr>
        <p:spPr>
          <a:xfrm>
            <a:off x="15841313" y="4805363"/>
            <a:ext cx="23441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</a:t>
            </a:r>
          </a:p>
        </p:txBody>
      </p:sp>
      <p:sp>
        <p:nvSpPr>
          <p:cNvPr id="33" name="text-20">
            <a:extLst>
              <a:ext uri="{FF2B5EF4-FFF2-40B4-BE49-F238E27FC236}">
                <a16:creationId xmlns:a16="http://schemas.microsoft.com/office/drawing/2014/main" id="{93C69E91-E9C7-4D55-9962-AE5AF1F072A7}"/>
              </a:ext>
            </a:extLst>
          </p:cNvPr>
          <p:cNvSpPr>
            <a:spLocks noGrp="1"/>
          </p:cNvSpPr>
          <p:nvPr/>
        </p:nvSpPr>
        <p:spPr>
          <a:xfrm>
            <a:off x="16018478" y="4907566"/>
            <a:ext cx="201359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14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14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14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m</a:t>
            </a:r>
          </a:p>
        </p:txBody>
      </p:sp>
      <p:sp>
        <p:nvSpPr>
          <p:cNvPr id="34" name="text-21">
            <a:extLst>
              <a:ext uri="{FF2B5EF4-FFF2-40B4-BE49-F238E27FC236}">
                <a16:creationId xmlns:a16="http://schemas.microsoft.com/office/drawing/2014/main" id="{1EAF6BF6-5233-4B3C-A64E-10D9979A074C}"/>
              </a:ext>
            </a:extLst>
          </p:cNvPr>
          <p:cNvSpPr>
            <a:spLocks noGrp="1"/>
          </p:cNvSpPr>
          <p:nvPr/>
        </p:nvSpPr>
        <p:spPr>
          <a:xfrm>
            <a:off x="15516225" y="5657850"/>
            <a:ext cx="10668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持续输出</a:t>
            </a:r>
          </a:p>
        </p:txBody>
      </p:sp>
      <p:sp>
        <p:nvSpPr>
          <p:cNvPr id="35" name="text-22">
            <a:extLst>
              <a:ext uri="{FF2B5EF4-FFF2-40B4-BE49-F238E27FC236}">
                <a16:creationId xmlns:a16="http://schemas.microsoft.com/office/drawing/2014/main" id="{05821C73-EED3-4E91-9A81-71B05351BF5D}"/>
              </a:ext>
            </a:extLst>
          </p:cNvPr>
          <p:cNvSpPr>
            <a:spLocks noGrp="1"/>
          </p:cNvSpPr>
          <p:nvPr/>
        </p:nvSpPr>
        <p:spPr>
          <a:xfrm>
            <a:off x="2941606" y="7277100"/>
            <a:ext cx="88087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36" name="text-23">
            <a:extLst>
              <a:ext uri="{FF2B5EF4-FFF2-40B4-BE49-F238E27FC236}">
                <a16:creationId xmlns:a16="http://schemas.microsoft.com/office/drawing/2014/main" id="{5D80FC0E-4386-4961-8C9D-5FA3F3CEBEBB}"/>
              </a:ext>
            </a:extLst>
          </p:cNvPr>
          <p:cNvSpPr>
            <a:spLocks noGrp="1"/>
          </p:cNvSpPr>
          <p:nvPr/>
        </p:nvSpPr>
        <p:spPr>
          <a:xfrm>
            <a:off x="4298728" y="7324725"/>
            <a:ext cx="42468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处理输入，主要影响首 Token 到达时间</a:t>
            </a:r>
          </a:p>
        </p:txBody>
      </p:sp>
      <p:sp>
        <p:nvSpPr>
          <p:cNvPr id="37" name="text-24">
            <a:extLst>
              <a:ext uri="{FF2B5EF4-FFF2-40B4-BE49-F238E27FC236}">
                <a16:creationId xmlns:a16="http://schemas.microsoft.com/office/drawing/2014/main" id="{E0FE353D-AA7B-4A3A-A1A4-E2C94891561F}"/>
              </a:ext>
            </a:extLst>
          </p:cNvPr>
          <p:cNvSpPr>
            <a:spLocks noGrp="1"/>
          </p:cNvSpPr>
          <p:nvPr/>
        </p:nvSpPr>
        <p:spPr>
          <a:xfrm>
            <a:off x="9667875" y="7277100"/>
            <a:ext cx="114433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38" name="text-25">
            <a:extLst>
              <a:ext uri="{FF2B5EF4-FFF2-40B4-BE49-F238E27FC236}">
                <a16:creationId xmlns:a16="http://schemas.microsoft.com/office/drawing/2014/main" id="{0A9E8EE9-994C-4929-AB2E-9C1A6013DA40}"/>
              </a:ext>
            </a:extLst>
          </p:cNvPr>
          <p:cNvSpPr>
            <a:spLocks noGrp="1"/>
          </p:cNvSpPr>
          <p:nvPr/>
        </p:nvSpPr>
        <p:spPr>
          <a:xfrm>
            <a:off x="11288459" y="7324725"/>
            <a:ext cx="42468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逐 Token 生成，主要影响持续输出速度</a:t>
            </a:r>
          </a:p>
        </p:txBody>
      </p:sp>
      <p:sp>
        <p:nvSpPr>
          <p:cNvPr id="39" name="text-26">
            <a:extLst>
              <a:ext uri="{FF2B5EF4-FFF2-40B4-BE49-F238E27FC236}">
                <a16:creationId xmlns:a16="http://schemas.microsoft.com/office/drawing/2014/main" id="{606E3BA6-A37E-4C34-A54E-E601326F4EC4}"/>
              </a:ext>
            </a:extLst>
          </p:cNvPr>
          <p:cNvSpPr>
            <a:spLocks noGrp="1"/>
          </p:cNvSpPr>
          <p:nvPr/>
        </p:nvSpPr>
        <p:spPr>
          <a:xfrm>
            <a:off x="4778597" y="9300305"/>
            <a:ext cx="4520851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rPr>
              <a:t>同一个首 Token 边界，同时划分</a:t>
            </a:r>
          </a:p>
        </p:txBody>
      </p:sp>
      <p:sp>
        <p:nvSpPr>
          <p:cNvPr id="40" name="text-27">
            <a:extLst>
              <a:ext uri="{FF2B5EF4-FFF2-40B4-BE49-F238E27FC236}">
                <a16:creationId xmlns:a16="http://schemas.microsoft.com/office/drawing/2014/main" id="{6DB746BC-6150-4FBF-AAF1-40F285BB5D2D}"/>
              </a:ext>
            </a:extLst>
          </p:cNvPr>
          <p:cNvSpPr>
            <a:spLocks noGrp="1"/>
          </p:cNvSpPr>
          <p:nvPr/>
        </p:nvSpPr>
        <p:spPr>
          <a:xfrm>
            <a:off x="9223153" y="9300305"/>
            <a:ext cx="19050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13B87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13B87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13B873"/>
                </a:solidFill>
                <a:latin typeface="PingFang SC"/>
                <a:ea typeface="PingFang SC"/>
                <a:cs typeface="Arial"/>
              </a:rPr>
              <a:t>推理执行阶段</a:t>
            </a:r>
          </a:p>
        </p:txBody>
      </p:sp>
      <p:sp>
        <p:nvSpPr>
          <p:cNvPr id="41" name="text-28">
            <a:extLst>
              <a:ext uri="{FF2B5EF4-FFF2-40B4-BE49-F238E27FC236}">
                <a16:creationId xmlns:a16="http://schemas.microsoft.com/office/drawing/2014/main" id="{0088473D-B83B-472A-B7CB-F93F90958926}"/>
              </a:ext>
            </a:extLst>
          </p:cNvPr>
          <p:cNvSpPr>
            <a:spLocks noGrp="1"/>
          </p:cNvSpPr>
          <p:nvPr/>
        </p:nvSpPr>
        <p:spPr>
          <a:xfrm>
            <a:off x="11051953" y="9300305"/>
            <a:ext cx="3810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rPr>
              <a:t>与</a:t>
            </a:r>
          </a:p>
        </p:txBody>
      </p:sp>
      <p:sp>
        <p:nvSpPr>
          <p:cNvPr id="42" name="text-29">
            <a:extLst>
              <a:ext uri="{FF2B5EF4-FFF2-40B4-BE49-F238E27FC236}">
                <a16:creationId xmlns:a16="http://schemas.microsoft.com/office/drawing/2014/main" id="{56070ECA-A12A-4356-B5FA-7BBECA548F14}"/>
              </a:ext>
            </a:extLst>
          </p:cNvPr>
          <p:cNvSpPr>
            <a:spLocks noGrp="1"/>
          </p:cNvSpPr>
          <p:nvPr/>
        </p:nvSpPr>
        <p:spPr>
          <a:xfrm>
            <a:off x="11356753" y="9300305"/>
            <a:ext cx="19050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13B87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13B87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13B873"/>
                </a:solidFill>
                <a:latin typeface="PingFang SC"/>
                <a:ea typeface="PingFang SC"/>
                <a:cs typeface="Arial"/>
              </a:rPr>
              <a:t>用户体验阶段</a:t>
            </a:r>
          </a:p>
        </p:txBody>
      </p:sp>
      <p:sp>
        <p:nvSpPr>
          <p:cNvPr id="43" name="text-30">
            <a:extLst>
              <a:ext uri="{FF2B5EF4-FFF2-40B4-BE49-F238E27FC236}">
                <a16:creationId xmlns:a16="http://schemas.microsoft.com/office/drawing/2014/main" id="{712C96B4-DBF4-472D-9D54-6D2336A7579C}"/>
              </a:ext>
            </a:extLst>
          </p:cNvPr>
          <p:cNvSpPr>
            <a:spLocks noGrp="1"/>
          </p:cNvSpPr>
          <p:nvPr/>
        </p:nvSpPr>
        <p:spPr>
          <a:xfrm>
            <a:off x="13185553" y="9300305"/>
            <a:ext cx="3810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rPr>
              <a:t>。</a:t>
            </a:r>
          </a:p>
        </p:txBody>
      </p:sp>
      <p:sp>
        <p:nvSpPr>
          <p:cNvPr id="44" name="text-31">
            <a:extLst>
              <a:ext uri="{FF2B5EF4-FFF2-40B4-BE49-F238E27FC236}">
                <a16:creationId xmlns:a16="http://schemas.microsoft.com/office/drawing/2014/main" id="{9C5A3678-0AF7-4A8E-B594-D6D9F4F131D6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10 / 43</a:t>
            </a:r>
          </a:p>
        </p:txBody>
      </p:sp>
    </p:spTree>
    <p:extLst>
      <p:ext uri="{BB962C8B-B14F-4D97-AF65-F5344CB8AC3E}">
        <p14:creationId xmlns:p14="http://schemas.microsoft.com/office/powerpoint/2010/main" val="1673674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html-shape-7">
            <a:extLst>
              <a:ext uri="{FF2B5EF4-FFF2-40B4-BE49-F238E27FC236}">
                <a16:creationId xmlns:a16="http://schemas.microsoft.com/office/drawing/2014/main" id="{4105DF73-F7F9-48A6-BBE0-DD5DF3F53649}"/>
              </a:ext>
            </a:extLst>
          </p:cNvPr>
          <p:cNvSpPr>
            <a:spLocks noGrp="1"/>
          </p:cNvSpPr>
          <p:nvPr/>
        </p:nvSpPr>
        <p:spPr>
          <a:xfrm>
            <a:off x="771525" y="5905500"/>
            <a:ext cx="16744950" cy="29622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" name="html-shape-9">
            <a:extLst>
              <a:ext uri="{FF2B5EF4-FFF2-40B4-BE49-F238E27FC236}">
                <a16:creationId xmlns:a16="http://schemas.microsoft.com/office/drawing/2014/main" id="{C2B437F3-C94E-459F-B7F2-7ACD2D9BD8A8}"/>
              </a:ext>
            </a:extLst>
          </p:cNvPr>
          <p:cNvSpPr>
            <a:spLocks noGrp="1"/>
          </p:cNvSpPr>
          <p:nvPr/>
        </p:nvSpPr>
        <p:spPr>
          <a:xfrm>
            <a:off x="771525" y="5924550"/>
            <a:ext cx="16744950" cy="8191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html-shape-11">
            <a:extLst>
              <a:ext uri="{FF2B5EF4-FFF2-40B4-BE49-F238E27FC236}">
                <a16:creationId xmlns:a16="http://schemas.microsoft.com/office/drawing/2014/main" id="{6D9870BB-1F45-4B79-AF79-D42646EE7FCD}"/>
              </a:ext>
            </a:extLst>
          </p:cNvPr>
          <p:cNvSpPr>
            <a:spLocks noGrp="1"/>
          </p:cNvSpPr>
          <p:nvPr/>
        </p:nvSpPr>
        <p:spPr>
          <a:xfrm>
            <a:off x="771525" y="6743700"/>
            <a:ext cx="16744950" cy="7143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html-shape-13">
            <a:extLst>
              <a:ext uri="{FF2B5EF4-FFF2-40B4-BE49-F238E27FC236}">
                <a16:creationId xmlns:a16="http://schemas.microsoft.com/office/drawing/2014/main" id="{247A10B9-341B-4EF2-817C-CDBD2CEBA1F7}"/>
              </a:ext>
            </a:extLst>
          </p:cNvPr>
          <p:cNvSpPr>
            <a:spLocks noGrp="1"/>
          </p:cNvSpPr>
          <p:nvPr/>
        </p:nvSpPr>
        <p:spPr>
          <a:xfrm>
            <a:off x="771525" y="7458075"/>
            <a:ext cx="16744950" cy="7143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" name="html-shape-15">
            <a:extLst>
              <a:ext uri="{FF2B5EF4-FFF2-40B4-BE49-F238E27FC236}">
                <a16:creationId xmlns:a16="http://schemas.microsoft.com/office/drawing/2014/main" id="{255316E2-8225-465A-A038-C259C2B98C76}"/>
              </a:ext>
            </a:extLst>
          </p:cNvPr>
          <p:cNvSpPr>
            <a:spLocks noGrp="1"/>
          </p:cNvSpPr>
          <p:nvPr/>
        </p:nvSpPr>
        <p:spPr>
          <a:xfrm>
            <a:off x="771525" y="8172450"/>
            <a:ext cx="16744950" cy="7143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" name="html-shape-17">
            <a:extLst>
              <a:ext uri="{FF2B5EF4-FFF2-40B4-BE49-F238E27FC236}">
                <a16:creationId xmlns:a16="http://schemas.microsoft.com/office/drawing/2014/main" id="{9A1C9734-006C-4730-815A-C80118D78B0F}"/>
              </a:ext>
            </a:extLst>
          </p:cNvPr>
          <p:cNvSpPr>
            <a:spLocks noGrp="1"/>
          </p:cNvSpPr>
          <p:nvPr/>
        </p:nvSpPr>
        <p:spPr>
          <a:xfrm>
            <a:off x="2286000" y="9048750"/>
            <a:ext cx="13716000" cy="685800"/>
          </a:xfrm>
          <a:prstGeom prst="roundRect">
            <a:avLst>
              <a:gd name="adj" fmla="val 19444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7" name="html-line-1">
            <a:extLst>
              <a:ext uri="{FF2B5EF4-FFF2-40B4-BE49-F238E27FC236}">
                <a16:creationId xmlns:a16="http://schemas.microsoft.com/office/drawing/2014/main" id="{B50D1BE6-8DAE-4798-A1EF-B42961A3AD03}"/>
              </a:ext>
            </a:extLst>
          </p:cNvPr>
          <p:cNvSpPr>
            <a:spLocks noGrp="1"/>
          </p:cNvSpPr>
          <p:nvPr/>
        </p:nvSpPr>
        <p:spPr>
          <a:xfrm>
            <a:off x="9144000" y="2914650"/>
            <a:ext cx="4763" cy="2724150"/>
          </a:xfrm>
          <a:prstGeom prst="line">
            <a:avLst/>
          </a:prstGeom>
          <a:noFill/>
          <a:ln w="28575">
            <a:solidFill>
              <a:srgbClr val="D9DFEB"/>
            </a:solidFill>
            <a:prstDash val="solid"/>
          </a:ln>
        </p:spPr>
      </p:sp>
      <p:sp>
        <p:nvSpPr>
          <p:cNvPr id="8" name="html-shape-1">
            <a:extLst>
              <a:ext uri="{FF2B5EF4-FFF2-40B4-BE49-F238E27FC236}">
                <a16:creationId xmlns:a16="http://schemas.microsoft.com/office/drawing/2014/main" id="{E12AE759-BD9B-4684-AB55-26E9581337F9}"/>
              </a:ext>
            </a:extLst>
          </p:cNvPr>
          <p:cNvSpPr>
            <a:spLocks noGrp="1"/>
          </p:cNvSpPr>
          <p:nvPr/>
        </p:nvSpPr>
        <p:spPr>
          <a:xfrm>
            <a:off x="1412081" y="4047077"/>
            <a:ext cx="1543050" cy="1085850"/>
          </a:xfrm>
          <a:prstGeom prst="roundRect">
            <a:avLst>
              <a:gd name="adj" fmla="val 14912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9" name="html-shape-2">
            <a:extLst>
              <a:ext uri="{FF2B5EF4-FFF2-40B4-BE49-F238E27FC236}">
                <a16:creationId xmlns:a16="http://schemas.microsoft.com/office/drawing/2014/main" id="{E43F987A-6994-423B-8BC3-ADA5D3ED8353}"/>
              </a:ext>
            </a:extLst>
          </p:cNvPr>
          <p:cNvSpPr>
            <a:spLocks noGrp="1"/>
          </p:cNvSpPr>
          <p:nvPr/>
        </p:nvSpPr>
        <p:spPr>
          <a:xfrm>
            <a:off x="3545681" y="4047077"/>
            <a:ext cx="2438400" cy="1085850"/>
          </a:xfrm>
          <a:prstGeom prst="roundRect">
            <a:avLst>
              <a:gd name="adj" fmla="val 14912"/>
            </a:avLst>
          </a:prstGeom>
          <a:solidFill>
            <a:srgbClr val="4B139F"/>
          </a:solidFill>
          <a:ln w="19050">
            <a:solidFill>
              <a:srgbClr val="4B139F"/>
            </a:solidFill>
            <a:prstDash val="solid"/>
          </a:ln>
        </p:spPr>
      </p:sp>
      <p:sp>
        <p:nvSpPr>
          <p:cNvPr id="10" name="html-shape-3">
            <a:extLst>
              <a:ext uri="{FF2B5EF4-FFF2-40B4-BE49-F238E27FC236}">
                <a16:creationId xmlns:a16="http://schemas.microsoft.com/office/drawing/2014/main" id="{CBD7B275-AC04-4792-B2E0-3B8EE5C52A7E}"/>
              </a:ext>
            </a:extLst>
          </p:cNvPr>
          <p:cNvSpPr>
            <a:spLocks noGrp="1"/>
          </p:cNvSpPr>
          <p:nvPr/>
        </p:nvSpPr>
        <p:spPr>
          <a:xfrm>
            <a:off x="6574631" y="4047077"/>
            <a:ext cx="1457325" cy="1085850"/>
          </a:xfrm>
          <a:prstGeom prst="roundRect">
            <a:avLst>
              <a:gd name="adj" fmla="val 14912"/>
            </a:avLst>
          </a:prstGeom>
          <a:solidFill>
            <a:srgbClr val="EEE8FF"/>
          </a:solidFill>
          <a:ln w="19050">
            <a:solidFill>
              <a:srgbClr val="EEE8FF"/>
            </a:solidFill>
            <a:prstDash val="solid"/>
          </a:ln>
        </p:spPr>
      </p:sp>
      <p:sp>
        <p:nvSpPr>
          <p:cNvPr id="11" name="html-shape-4">
            <a:extLst>
              <a:ext uri="{FF2B5EF4-FFF2-40B4-BE49-F238E27FC236}">
                <a16:creationId xmlns:a16="http://schemas.microsoft.com/office/drawing/2014/main" id="{0CE61CE6-FD80-4DC1-B2A3-EE74CF3135CB}"/>
              </a:ext>
            </a:extLst>
          </p:cNvPr>
          <p:cNvSpPr>
            <a:spLocks noGrp="1"/>
          </p:cNvSpPr>
          <p:nvPr/>
        </p:nvSpPr>
        <p:spPr>
          <a:xfrm>
            <a:off x="10356056" y="4047077"/>
            <a:ext cx="1352550" cy="1085850"/>
          </a:xfrm>
          <a:prstGeom prst="roundRect">
            <a:avLst>
              <a:gd name="adj" fmla="val 14912"/>
            </a:avLst>
          </a:prstGeom>
          <a:solidFill>
            <a:srgbClr val="13B873"/>
          </a:solidFill>
          <a:ln w="19050">
            <a:solidFill>
              <a:srgbClr val="13B873"/>
            </a:solidFill>
            <a:prstDash val="solid"/>
          </a:ln>
        </p:spPr>
      </p:sp>
      <p:sp>
        <p:nvSpPr>
          <p:cNvPr id="12" name="html-shape-5">
            <a:extLst>
              <a:ext uri="{FF2B5EF4-FFF2-40B4-BE49-F238E27FC236}">
                <a16:creationId xmlns:a16="http://schemas.microsoft.com/office/drawing/2014/main" id="{BF4D0DEA-D1D7-4D39-92EF-06F106576703}"/>
              </a:ext>
            </a:extLst>
          </p:cNvPr>
          <p:cNvSpPr>
            <a:spLocks noGrp="1"/>
          </p:cNvSpPr>
          <p:nvPr/>
        </p:nvSpPr>
        <p:spPr>
          <a:xfrm>
            <a:off x="12242006" y="4047077"/>
            <a:ext cx="1352550" cy="1085850"/>
          </a:xfrm>
          <a:prstGeom prst="roundRect">
            <a:avLst>
              <a:gd name="adj" fmla="val 14912"/>
            </a:avLst>
          </a:prstGeom>
          <a:solidFill>
            <a:srgbClr val="13B873"/>
          </a:solidFill>
          <a:ln w="19050">
            <a:solidFill>
              <a:srgbClr val="13B873"/>
            </a:solidFill>
            <a:prstDash val="solid"/>
          </a:ln>
        </p:spPr>
      </p:sp>
      <p:sp>
        <p:nvSpPr>
          <p:cNvPr id="13" name="html-shape-6">
            <a:extLst>
              <a:ext uri="{FF2B5EF4-FFF2-40B4-BE49-F238E27FC236}">
                <a16:creationId xmlns:a16="http://schemas.microsoft.com/office/drawing/2014/main" id="{182B9D3E-FFD8-4D82-AD05-2430C6A65288}"/>
              </a:ext>
            </a:extLst>
          </p:cNvPr>
          <p:cNvSpPr>
            <a:spLocks noGrp="1"/>
          </p:cNvSpPr>
          <p:nvPr/>
        </p:nvSpPr>
        <p:spPr>
          <a:xfrm>
            <a:off x="15423356" y="4047077"/>
            <a:ext cx="1352550" cy="1085850"/>
          </a:xfrm>
          <a:prstGeom prst="roundRect">
            <a:avLst>
              <a:gd name="adj" fmla="val 14912"/>
            </a:avLst>
          </a:prstGeom>
          <a:solidFill>
            <a:srgbClr val="13B873"/>
          </a:solidFill>
          <a:ln w="19050">
            <a:solidFill>
              <a:srgbClr val="13B873"/>
            </a:solidFill>
            <a:prstDash val="solid"/>
          </a:ln>
        </p:spPr>
      </p:sp>
      <p:sp>
        <p:nvSpPr>
          <p:cNvPr id="14" name="border-8">
            <a:extLst>
              <a:ext uri="{FF2B5EF4-FFF2-40B4-BE49-F238E27FC236}">
                <a16:creationId xmlns:a16="http://schemas.microsoft.com/office/drawing/2014/main" id="{B6CF679D-36A7-4740-8F90-06EEF8C58F2E}"/>
              </a:ext>
            </a:extLst>
          </p:cNvPr>
          <p:cNvSpPr>
            <a:spLocks noGrp="1"/>
          </p:cNvSpPr>
          <p:nvPr/>
        </p:nvSpPr>
        <p:spPr>
          <a:xfrm>
            <a:off x="771525" y="5905500"/>
            <a:ext cx="1674495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5" name="border-10">
            <a:extLst>
              <a:ext uri="{FF2B5EF4-FFF2-40B4-BE49-F238E27FC236}">
                <a16:creationId xmlns:a16="http://schemas.microsoft.com/office/drawing/2014/main" id="{FA30F101-0CB4-4178-B12C-C53AD9429C71}"/>
              </a:ext>
            </a:extLst>
          </p:cNvPr>
          <p:cNvSpPr>
            <a:spLocks noGrp="1"/>
          </p:cNvSpPr>
          <p:nvPr/>
        </p:nvSpPr>
        <p:spPr>
          <a:xfrm>
            <a:off x="771525" y="6724650"/>
            <a:ext cx="1674495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6" name="border-12">
            <a:extLst>
              <a:ext uri="{FF2B5EF4-FFF2-40B4-BE49-F238E27FC236}">
                <a16:creationId xmlns:a16="http://schemas.microsoft.com/office/drawing/2014/main" id="{95464F0F-A1C0-4455-ABCE-00F1AEDD091C}"/>
              </a:ext>
            </a:extLst>
          </p:cNvPr>
          <p:cNvSpPr>
            <a:spLocks noGrp="1"/>
          </p:cNvSpPr>
          <p:nvPr/>
        </p:nvSpPr>
        <p:spPr>
          <a:xfrm>
            <a:off x="771525" y="7439025"/>
            <a:ext cx="1674495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7" name="border-14">
            <a:extLst>
              <a:ext uri="{FF2B5EF4-FFF2-40B4-BE49-F238E27FC236}">
                <a16:creationId xmlns:a16="http://schemas.microsoft.com/office/drawing/2014/main" id="{8557CC6D-32F5-48F5-B1E0-0F1C0BFF5AAF}"/>
              </a:ext>
            </a:extLst>
          </p:cNvPr>
          <p:cNvSpPr>
            <a:spLocks noGrp="1"/>
          </p:cNvSpPr>
          <p:nvPr/>
        </p:nvSpPr>
        <p:spPr>
          <a:xfrm>
            <a:off x="771525" y="8153400"/>
            <a:ext cx="1674495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8" name="border-16">
            <a:extLst>
              <a:ext uri="{FF2B5EF4-FFF2-40B4-BE49-F238E27FC236}">
                <a16:creationId xmlns:a16="http://schemas.microsoft.com/office/drawing/2014/main" id="{91E3C16A-A677-4421-9463-92FF92E56545}"/>
              </a:ext>
            </a:extLst>
          </p:cNvPr>
          <p:cNvSpPr>
            <a:spLocks noGrp="1"/>
          </p:cNvSpPr>
          <p:nvPr/>
        </p:nvSpPr>
        <p:spPr>
          <a:xfrm>
            <a:off x="771525" y="8867775"/>
            <a:ext cx="1674495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97FAFEA-CC4B-48DF-BE5D-DB8D9C831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6C767EB-4066-471E-87C1-5E118AD37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21" name="text-1">
            <a:extLst>
              <a:ext uri="{FF2B5EF4-FFF2-40B4-BE49-F238E27FC236}">
                <a16:creationId xmlns:a16="http://schemas.microsoft.com/office/drawing/2014/main" id="{FDB8DC8C-A455-4017-945D-9D6BC84B99DD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22" name="text-2">
            <a:extLst>
              <a:ext uri="{FF2B5EF4-FFF2-40B4-BE49-F238E27FC236}">
                <a16:creationId xmlns:a16="http://schemas.microsoft.com/office/drawing/2014/main" id="{6E56BA38-68FF-4973-A3F0-E4FBA2A4AD11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19236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第二章 · PD 分离基础</a:t>
            </a:r>
          </a:p>
        </p:txBody>
      </p:sp>
      <p:sp>
        <p:nvSpPr>
          <p:cNvPr id="23" name="text-3">
            <a:extLst>
              <a:ext uri="{FF2B5EF4-FFF2-40B4-BE49-F238E27FC236}">
                <a16:creationId xmlns:a16="http://schemas.microsoft.com/office/drawing/2014/main" id="{D10C94B6-B208-46F0-8529-4B5DAB10DB7E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3609606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840"/>
          </a:bodyPr>
          <a:lstStyle>
            <a:defPPr algn="l">
              <a:defRPr lang="zh-CN" altLang="en-US" sz="4950" b="1" i="0" spc="-135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Prefill 与 Decode 的计算过程和硬件需求天然不同</a:t>
            </a:r>
          </a:p>
        </p:txBody>
      </p:sp>
      <p:sp>
        <p:nvSpPr>
          <p:cNvPr id="24" name="text-4">
            <a:extLst>
              <a:ext uri="{FF2B5EF4-FFF2-40B4-BE49-F238E27FC236}">
                <a16:creationId xmlns:a16="http://schemas.microsoft.com/office/drawing/2014/main" id="{78D3A1C9-6396-484C-AA87-955DF5952EF6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10448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同一模型在两个阶段呈现不同计算形态，分别受矩阵算力和显存带宽约束。</a:t>
            </a:r>
          </a:p>
        </p:txBody>
      </p:sp>
      <p:sp>
        <p:nvSpPr>
          <p:cNvPr id="25" name="text-5">
            <a:extLst>
              <a:ext uri="{FF2B5EF4-FFF2-40B4-BE49-F238E27FC236}">
                <a16:creationId xmlns:a16="http://schemas.microsoft.com/office/drawing/2014/main" id="{0BA4ECFB-BF1F-441E-B0F2-2952F856A58B}"/>
              </a:ext>
            </a:extLst>
          </p:cNvPr>
          <p:cNvSpPr>
            <a:spLocks noGrp="1"/>
          </p:cNvSpPr>
          <p:nvPr/>
        </p:nvSpPr>
        <p:spPr>
          <a:xfrm>
            <a:off x="4219289" y="2876550"/>
            <a:ext cx="1062609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26" name="text-6">
            <a:extLst>
              <a:ext uri="{FF2B5EF4-FFF2-40B4-BE49-F238E27FC236}">
                <a16:creationId xmlns:a16="http://schemas.microsoft.com/office/drawing/2014/main" id="{D0F9739A-5D2E-49D4-9526-526E83D379C5}"/>
              </a:ext>
            </a:extLst>
          </p:cNvPr>
          <p:cNvSpPr>
            <a:spLocks noGrp="1"/>
          </p:cNvSpPr>
          <p:nvPr/>
        </p:nvSpPr>
        <p:spPr>
          <a:xfrm>
            <a:off x="3070670" y="3406045"/>
            <a:ext cx="3359944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一次并行处理 N 个 Input Token</a:t>
            </a:r>
          </a:p>
        </p:txBody>
      </p:sp>
      <p:sp>
        <p:nvSpPr>
          <p:cNvPr id="27" name="text-7">
            <a:extLst>
              <a:ext uri="{FF2B5EF4-FFF2-40B4-BE49-F238E27FC236}">
                <a16:creationId xmlns:a16="http://schemas.microsoft.com/office/drawing/2014/main" id="{17C77F03-4631-4110-815D-AD99126E7139}"/>
              </a:ext>
            </a:extLst>
          </p:cNvPr>
          <p:cNvSpPr>
            <a:spLocks noGrp="1"/>
          </p:cNvSpPr>
          <p:nvPr/>
        </p:nvSpPr>
        <p:spPr>
          <a:xfrm>
            <a:off x="1746980" y="4092607"/>
            <a:ext cx="930497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N Input</a:t>
            </a:r>
          </a:p>
        </p:txBody>
      </p:sp>
      <p:sp>
        <p:nvSpPr>
          <p:cNvPr id="28" name="text-8">
            <a:extLst>
              <a:ext uri="{FF2B5EF4-FFF2-40B4-BE49-F238E27FC236}">
                <a16:creationId xmlns:a16="http://schemas.microsoft.com/office/drawing/2014/main" id="{F6E10519-65DD-423D-851A-C919D6DAB84B}"/>
              </a:ext>
            </a:extLst>
          </p:cNvPr>
          <p:cNvSpPr>
            <a:spLocks noGrp="1"/>
          </p:cNvSpPr>
          <p:nvPr/>
        </p:nvSpPr>
        <p:spPr>
          <a:xfrm>
            <a:off x="1748028" y="4394740"/>
            <a:ext cx="928402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Tokens</a:t>
            </a:r>
          </a:p>
        </p:txBody>
      </p:sp>
      <p:sp>
        <p:nvSpPr>
          <p:cNvPr id="29" name="text-9">
            <a:extLst>
              <a:ext uri="{FF2B5EF4-FFF2-40B4-BE49-F238E27FC236}">
                <a16:creationId xmlns:a16="http://schemas.microsoft.com/office/drawing/2014/main" id="{55A87207-FD83-45BA-9CBB-AC9264D91FA9}"/>
              </a:ext>
            </a:extLst>
          </p:cNvPr>
          <p:cNvSpPr>
            <a:spLocks noGrp="1"/>
          </p:cNvSpPr>
          <p:nvPr/>
        </p:nvSpPr>
        <p:spPr>
          <a:xfrm>
            <a:off x="1628966" y="4811173"/>
            <a:ext cx="1166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完整 Prompt</a:t>
            </a:r>
          </a:p>
        </p:txBody>
      </p:sp>
      <p:sp>
        <p:nvSpPr>
          <p:cNvPr id="30" name="text-10">
            <a:extLst>
              <a:ext uri="{FF2B5EF4-FFF2-40B4-BE49-F238E27FC236}">
                <a16:creationId xmlns:a16="http://schemas.microsoft.com/office/drawing/2014/main" id="{30FD1738-8391-438C-A56C-9D66B8048E8B}"/>
              </a:ext>
            </a:extLst>
          </p:cNvPr>
          <p:cNvSpPr>
            <a:spLocks noGrp="1"/>
          </p:cNvSpPr>
          <p:nvPr/>
        </p:nvSpPr>
        <p:spPr>
          <a:xfrm>
            <a:off x="3012281" y="4266152"/>
            <a:ext cx="5334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31" name="text-11">
            <a:extLst>
              <a:ext uri="{FF2B5EF4-FFF2-40B4-BE49-F238E27FC236}">
                <a16:creationId xmlns:a16="http://schemas.microsoft.com/office/drawing/2014/main" id="{272BC8E5-B7D8-4EC4-B64B-D07F9B77DC43}"/>
              </a:ext>
            </a:extLst>
          </p:cNvPr>
          <p:cNvSpPr>
            <a:spLocks noGrp="1"/>
          </p:cNvSpPr>
          <p:nvPr/>
        </p:nvSpPr>
        <p:spPr>
          <a:xfrm>
            <a:off x="3936016" y="4243673"/>
            <a:ext cx="1714786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Large MatMul</a:t>
            </a:r>
          </a:p>
        </p:txBody>
      </p:sp>
      <p:sp>
        <p:nvSpPr>
          <p:cNvPr id="32" name="text-12">
            <a:extLst>
              <a:ext uri="{FF2B5EF4-FFF2-40B4-BE49-F238E27FC236}">
                <a16:creationId xmlns:a16="http://schemas.microsoft.com/office/drawing/2014/main" id="{13D3B3E5-294D-4A93-B422-26A1E27106C9}"/>
              </a:ext>
            </a:extLst>
          </p:cNvPr>
          <p:cNvSpPr>
            <a:spLocks noGrp="1"/>
          </p:cNvSpPr>
          <p:nvPr/>
        </p:nvSpPr>
        <p:spPr>
          <a:xfrm>
            <a:off x="4071366" y="4660106"/>
            <a:ext cx="144427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Token 并行计算</a:t>
            </a:r>
          </a:p>
        </p:txBody>
      </p:sp>
      <p:sp>
        <p:nvSpPr>
          <p:cNvPr id="33" name="text-13">
            <a:extLst>
              <a:ext uri="{FF2B5EF4-FFF2-40B4-BE49-F238E27FC236}">
                <a16:creationId xmlns:a16="http://schemas.microsoft.com/office/drawing/2014/main" id="{C13C2DBD-C374-484D-8107-A511204921FF}"/>
              </a:ext>
            </a:extLst>
          </p:cNvPr>
          <p:cNvSpPr>
            <a:spLocks noGrp="1"/>
          </p:cNvSpPr>
          <p:nvPr/>
        </p:nvSpPr>
        <p:spPr>
          <a:xfrm>
            <a:off x="6041231" y="4266152"/>
            <a:ext cx="5334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34" name="text-14">
            <a:extLst>
              <a:ext uri="{FF2B5EF4-FFF2-40B4-BE49-F238E27FC236}">
                <a16:creationId xmlns:a16="http://schemas.microsoft.com/office/drawing/2014/main" id="{51278372-F6C5-415C-9C90-7859D449DAF2}"/>
              </a:ext>
            </a:extLst>
          </p:cNvPr>
          <p:cNvSpPr>
            <a:spLocks noGrp="1"/>
          </p:cNvSpPr>
          <p:nvPr/>
        </p:nvSpPr>
        <p:spPr>
          <a:xfrm>
            <a:off x="6709886" y="4243673"/>
            <a:ext cx="124387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KV Cache</a:t>
            </a:r>
          </a:p>
        </p:txBody>
      </p:sp>
      <p:sp>
        <p:nvSpPr>
          <p:cNvPr id="35" name="text-15">
            <a:extLst>
              <a:ext uri="{FF2B5EF4-FFF2-40B4-BE49-F238E27FC236}">
                <a16:creationId xmlns:a16="http://schemas.microsoft.com/office/drawing/2014/main" id="{AFAAEF7F-8F13-4BFE-9255-A1227DF2E3D5}"/>
              </a:ext>
            </a:extLst>
          </p:cNvPr>
          <p:cNvSpPr>
            <a:spLocks noGrp="1"/>
          </p:cNvSpPr>
          <p:nvPr/>
        </p:nvSpPr>
        <p:spPr>
          <a:xfrm>
            <a:off x="6912769" y="4660106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请求状态</a:t>
            </a:r>
          </a:p>
        </p:txBody>
      </p:sp>
      <p:sp>
        <p:nvSpPr>
          <p:cNvPr id="36" name="text-16">
            <a:extLst>
              <a:ext uri="{FF2B5EF4-FFF2-40B4-BE49-F238E27FC236}">
                <a16:creationId xmlns:a16="http://schemas.microsoft.com/office/drawing/2014/main" id="{C77A5F8A-EB3F-4AA1-AB9A-03B528FBAE6A}"/>
              </a:ext>
            </a:extLst>
          </p:cNvPr>
          <p:cNvSpPr>
            <a:spLocks noGrp="1"/>
          </p:cNvSpPr>
          <p:nvPr/>
        </p:nvSpPr>
        <p:spPr>
          <a:xfrm>
            <a:off x="3455194" y="5337715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rPr>
              <a:t>核心需求：</a:t>
            </a:r>
          </a:p>
        </p:txBody>
      </p:sp>
      <p:sp>
        <p:nvSpPr>
          <p:cNvPr id="37" name="text-17">
            <a:extLst>
              <a:ext uri="{FF2B5EF4-FFF2-40B4-BE49-F238E27FC236}">
                <a16:creationId xmlns:a16="http://schemas.microsoft.com/office/drawing/2014/main" id="{4750D2E9-BA7A-44E0-B48B-E536B65786D5}"/>
              </a:ext>
            </a:extLst>
          </p:cNvPr>
          <p:cNvSpPr>
            <a:spLocks noGrp="1"/>
          </p:cNvSpPr>
          <p:nvPr/>
        </p:nvSpPr>
        <p:spPr>
          <a:xfrm>
            <a:off x="4502944" y="5337715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高矩阵计算吞吐</a:t>
            </a:r>
          </a:p>
        </p:txBody>
      </p:sp>
      <p:sp>
        <p:nvSpPr>
          <p:cNvPr id="38" name="text-18">
            <a:extLst>
              <a:ext uri="{FF2B5EF4-FFF2-40B4-BE49-F238E27FC236}">
                <a16:creationId xmlns:a16="http://schemas.microsoft.com/office/drawing/2014/main" id="{91FADF9C-36EF-4870-809F-1C66C7CE5C84}"/>
              </a:ext>
            </a:extLst>
          </p:cNvPr>
          <p:cNvSpPr>
            <a:spLocks noGrp="1"/>
          </p:cNvSpPr>
          <p:nvPr/>
        </p:nvSpPr>
        <p:spPr>
          <a:xfrm>
            <a:off x="12901803" y="2876550"/>
            <a:ext cx="1385411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39" name="text-19">
            <a:extLst>
              <a:ext uri="{FF2B5EF4-FFF2-40B4-BE49-F238E27FC236}">
                <a16:creationId xmlns:a16="http://schemas.microsoft.com/office/drawing/2014/main" id="{7AC293DA-77AE-47E0-8B21-4B04B406BA4E}"/>
              </a:ext>
            </a:extLst>
          </p:cNvPr>
          <p:cNvSpPr>
            <a:spLocks noGrp="1"/>
          </p:cNvSpPr>
          <p:nvPr/>
        </p:nvSpPr>
        <p:spPr>
          <a:xfrm>
            <a:off x="11442764" y="3406045"/>
            <a:ext cx="430349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重复 M 轮，每轮生成 1 个 Output Token</a:t>
            </a:r>
          </a:p>
        </p:txBody>
      </p:sp>
      <p:sp>
        <p:nvSpPr>
          <p:cNvPr id="40" name="text-20">
            <a:extLst>
              <a:ext uri="{FF2B5EF4-FFF2-40B4-BE49-F238E27FC236}">
                <a16:creationId xmlns:a16="http://schemas.microsoft.com/office/drawing/2014/main" id="{D62BA563-527A-4B82-B546-58ED8D928043}"/>
              </a:ext>
            </a:extLst>
          </p:cNvPr>
          <p:cNvSpPr>
            <a:spLocks noGrp="1"/>
          </p:cNvSpPr>
          <p:nvPr/>
        </p:nvSpPr>
        <p:spPr>
          <a:xfrm>
            <a:off x="10569607" y="4243673"/>
            <a:ext cx="982409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Token 1</a:t>
            </a:r>
          </a:p>
        </p:txBody>
      </p:sp>
      <p:sp>
        <p:nvSpPr>
          <p:cNvPr id="41" name="text-21">
            <a:extLst>
              <a:ext uri="{FF2B5EF4-FFF2-40B4-BE49-F238E27FC236}">
                <a16:creationId xmlns:a16="http://schemas.microsoft.com/office/drawing/2014/main" id="{C7A3A3E7-0B00-4B84-97F0-EAECA2338814}"/>
              </a:ext>
            </a:extLst>
          </p:cNvPr>
          <p:cNvSpPr>
            <a:spLocks noGrp="1"/>
          </p:cNvSpPr>
          <p:nvPr/>
        </p:nvSpPr>
        <p:spPr>
          <a:xfrm>
            <a:off x="10670191" y="4660106"/>
            <a:ext cx="781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DFF7E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DFF7E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DFF7EC"/>
                </a:solidFill>
                <a:latin typeface="PingFang SC"/>
                <a:ea typeface="PingFang SC"/>
                <a:cs typeface="Arial"/>
              </a:rPr>
              <a:t>Round 1</a:t>
            </a:r>
          </a:p>
        </p:txBody>
      </p:sp>
      <p:sp>
        <p:nvSpPr>
          <p:cNvPr id="42" name="text-22">
            <a:extLst>
              <a:ext uri="{FF2B5EF4-FFF2-40B4-BE49-F238E27FC236}">
                <a16:creationId xmlns:a16="http://schemas.microsoft.com/office/drawing/2014/main" id="{11521D23-1390-4784-B270-2C427CD30DEE}"/>
              </a:ext>
            </a:extLst>
          </p:cNvPr>
          <p:cNvSpPr>
            <a:spLocks noGrp="1"/>
          </p:cNvSpPr>
          <p:nvPr/>
        </p:nvSpPr>
        <p:spPr>
          <a:xfrm>
            <a:off x="11737181" y="4266152"/>
            <a:ext cx="5334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43" name="text-23">
            <a:extLst>
              <a:ext uri="{FF2B5EF4-FFF2-40B4-BE49-F238E27FC236}">
                <a16:creationId xmlns:a16="http://schemas.microsoft.com/office/drawing/2014/main" id="{E01E62D5-9C1C-42E3-BB7A-9B0443B30F06}"/>
              </a:ext>
            </a:extLst>
          </p:cNvPr>
          <p:cNvSpPr>
            <a:spLocks noGrp="1"/>
          </p:cNvSpPr>
          <p:nvPr/>
        </p:nvSpPr>
        <p:spPr>
          <a:xfrm>
            <a:off x="12432030" y="4243673"/>
            <a:ext cx="1029462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Token 2</a:t>
            </a:r>
          </a:p>
        </p:txBody>
      </p:sp>
      <p:sp>
        <p:nvSpPr>
          <p:cNvPr id="44" name="text-24">
            <a:extLst>
              <a:ext uri="{FF2B5EF4-FFF2-40B4-BE49-F238E27FC236}">
                <a16:creationId xmlns:a16="http://schemas.microsoft.com/office/drawing/2014/main" id="{E5FB1D68-C57A-4F29-A725-A3DD28FE27A0}"/>
              </a:ext>
            </a:extLst>
          </p:cNvPr>
          <p:cNvSpPr>
            <a:spLocks noGrp="1"/>
          </p:cNvSpPr>
          <p:nvPr/>
        </p:nvSpPr>
        <p:spPr>
          <a:xfrm>
            <a:off x="12537281" y="4660106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DFF7E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DFF7E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DFF7EC"/>
                </a:solidFill>
                <a:latin typeface="PingFang SC"/>
                <a:ea typeface="PingFang SC"/>
                <a:cs typeface="Arial"/>
              </a:rPr>
              <a:t>Round 2</a:t>
            </a:r>
          </a:p>
        </p:txBody>
      </p:sp>
      <p:sp>
        <p:nvSpPr>
          <p:cNvPr id="45" name="text-25">
            <a:extLst>
              <a:ext uri="{FF2B5EF4-FFF2-40B4-BE49-F238E27FC236}">
                <a16:creationId xmlns:a16="http://schemas.microsoft.com/office/drawing/2014/main" id="{83A51D64-29B0-46C9-B1EA-C308A9D0E6B7}"/>
              </a:ext>
            </a:extLst>
          </p:cNvPr>
          <p:cNvSpPr>
            <a:spLocks noGrp="1"/>
          </p:cNvSpPr>
          <p:nvPr/>
        </p:nvSpPr>
        <p:spPr>
          <a:xfrm>
            <a:off x="13623131" y="4266152"/>
            <a:ext cx="5334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46" name="text-26">
            <a:extLst>
              <a:ext uri="{FF2B5EF4-FFF2-40B4-BE49-F238E27FC236}">
                <a16:creationId xmlns:a16="http://schemas.microsoft.com/office/drawing/2014/main" id="{BC26146C-762A-45CE-B837-A6A677FD6CBE}"/>
              </a:ext>
            </a:extLst>
          </p:cNvPr>
          <p:cNvSpPr>
            <a:spLocks noGrp="1"/>
          </p:cNvSpPr>
          <p:nvPr/>
        </p:nvSpPr>
        <p:spPr>
          <a:xfrm>
            <a:off x="14223206" y="4147090"/>
            <a:ext cx="628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43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…</a:t>
            </a:r>
          </a:p>
        </p:txBody>
      </p:sp>
      <p:sp>
        <p:nvSpPr>
          <p:cNvPr id="47" name="text-27">
            <a:extLst>
              <a:ext uri="{FF2B5EF4-FFF2-40B4-BE49-F238E27FC236}">
                <a16:creationId xmlns:a16="http://schemas.microsoft.com/office/drawing/2014/main" id="{8B97642A-17D2-482B-8A69-E3C96DD845AB}"/>
              </a:ext>
            </a:extLst>
          </p:cNvPr>
          <p:cNvSpPr>
            <a:spLocks noGrp="1"/>
          </p:cNvSpPr>
          <p:nvPr/>
        </p:nvSpPr>
        <p:spPr>
          <a:xfrm>
            <a:off x="14918531" y="4266152"/>
            <a:ext cx="5334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1" i="0" noProof="1">
                <a:solidFill>
                  <a:srgbClr val="AEB9C9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48" name="text-28">
            <a:extLst>
              <a:ext uri="{FF2B5EF4-FFF2-40B4-BE49-F238E27FC236}">
                <a16:creationId xmlns:a16="http://schemas.microsoft.com/office/drawing/2014/main" id="{978A5A3B-8BF0-4762-8511-1D7F5808920A}"/>
              </a:ext>
            </a:extLst>
          </p:cNvPr>
          <p:cNvSpPr>
            <a:spLocks noGrp="1"/>
          </p:cNvSpPr>
          <p:nvPr/>
        </p:nvSpPr>
        <p:spPr>
          <a:xfrm>
            <a:off x="15575947" y="4243673"/>
            <a:ext cx="1104424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Token M</a:t>
            </a:r>
          </a:p>
        </p:txBody>
      </p:sp>
      <p:sp>
        <p:nvSpPr>
          <p:cNvPr id="49" name="text-29">
            <a:extLst>
              <a:ext uri="{FF2B5EF4-FFF2-40B4-BE49-F238E27FC236}">
                <a16:creationId xmlns:a16="http://schemas.microsoft.com/office/drawing/2014/main" id="{81F271D3-32D4-4800-AB33-1B726B599E29}"/>
              </a:ext>
            </a:extLst>
          </p:cNvPr>
          <p:cNvSpPr>
            <a:spLocks noGrp="1"/>
          </p:cNvSpPr>
          <p:nvPr/>
        </p:nvSpPr>
        <p:spPr>
          <a:xfrm>
            <a:off x="15691676" y="4660106"/>
            <a:ext cx="87287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DFF7E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DFF7E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DFF7EC"/>
                </a:solidFill>
                <a:latin typeface="PingFang SC"/>
                <a:ea typeface="PingFang SC"/>
                <a:cs typeface="Arial"/>
              </a:rPr>
              <a:t>Round M</a:t>
            </a:r>
          </a:p>
        </p:txBody>
      </p:sp>
      <p:sp>
        <p:nvSpPr>
          <p:cNvPr id="50" name="text-30">
            <a:extLst>
              <a:ext uri="{FF2B5EF4-FFF2-40B4-BE49-F238E27FC236}">
                <a16:creationId xmlns:a16="http://schemas.microsoft.com/office/drawing/2014/main" id="{12E337E0-9603-4809-876E-FD95B921BE78}"/>
              </a:ext>
            </a:extLst>
          </p:cNvPr>
          <p:cNvSpPr>
            <a:spLocks noGrp="1"/>
          </p:cNvSpPr>
          <p:nvPr/>
        </p:nvSpPr>
        <p:spPr>
          <a:xfrm>
            <a:off x="11880056" y="5337715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rPr>
              <a:t>核心需求：</a:t>
            </a:r>
          </a:p>
        </p:txBody>
      </p:sp>
      <p:sp>
        <p:nvSpPr>
          <p:cNvPr id="51" name="text-31">
            <a:extLst>
              <a:ext uri="{FF2B5EF4-FFF2-40B4-BE49-F238E27FC236}">
                <a16:creationId xmlns:a16="http://schemas.microsoft.com/office/drawing/2014/main" id="{BD9B1873-0AD8-4061-8870-9C18C267211D}"/>
              </a:ext>
            </a:extLst>
          </p:cNvPr>
          <p:cNvSpPr>
            <a:spLocks noGrp="1"/>
          </p:cNvSpPr>
          <p:nvPr/>
        </p:nvSpPr>
        <p:spPr>
          <a:xfrm>
            <a:off x="12927806" y="533771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高显存带宽、低单步时延</a:t>
            </a:r>
          </a:p>
        </p:txBody>
      </p:sp>
      <p:sp>
        <p:nvSpPr>
          <p:cNvPr id="52" name="text-32">
            <a:extLst>
              <a:ext uri="{FF2B5EF4-FFF2-40B4-BE49-F238E27FC236}">
                <a16:creationId xmlns:a16="http://schemas.microsoft.com/office/drawing/2014/main" id="{1CBF26DD-DF65-44F6-A8A6-972408CBEAB6}"/>
              </a:ext>
            </a:extLst>
          </p:cNvPr>
          <p:cNvSpPr>
            <a:spLocks noGrp="1"/>
          </p:cNvSpPr>
          <p:nvPr/>
        </p:nvSpPr>
        <p:spPr>
          <a:xfrm>
            <a:off x="3851053" y="6087713"/>
            <a:ext cx="98469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53" name="text-33">
            <a:extLst>
              <a:ext uri="{FF2B5EF4-FFF2-40B4-BE49-F238E27FC236}">
                <a16:creationId xmlns:a16="http://schemas.microsoft.com/office/drawing/2014/main" id="{928ADE63-209D-44CC-B304-D335C174AF04}"/>
              </a:ext>
            </a:extLst>
          </p:cNvPr>
          <p:cNvSpPr>
            <a:spLocks noGrp="1"/>
          </p:cNvSpPr>
          <p:nvPr/>
        </p:nvSpPr>
        <p:spPr>
          <a:xfrm>
            <a:off x="8658225" y="6147245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对比维度</a:t>
            </a:r>
          </a:p>
        </p:txBody>
      </p:sp>
      <p:sp>
        <p:nvSpPr>
          <p:cNvPr id="54" name="text-34">
            <a:extLst>
              <a:ext uri="{FF2B5EF4-FFF2-40B4-BE49-F238E27FC236}">
                <a16:creationId xmlns:a16="http://schemas.microsoft.com/office/drawing/2014/main" id="{1710F1FF-6226-45E5-89E9-28146D9169C4}"/>
              </a:ext>
            </a:extLst>
          </p:cNvPr>
          <p:cNvSpPr>
            <a:spLocks noGrp="1"/>
          </p:cNvSpPr>
          <p:nvPr/>
        </p:nvSpPr>
        <p:spPr>
          <a:xfrm>
            <a:off x="13360622" y="6087713"/>
            <a:ext cx="128216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55" name="text-35">
            <a:extLst>
              <a:ext uri="{FF2B5EF4-FFF2-40B4-BE49-F238E27FC236}">
                <a16:creationId xmlns:a16="http://schemas.microsoft.com/office/drawing/2014/main" id="{CB3951E4-015C-4458-BEEA-23E0926E952E}"/>
              </a:ext>
            </a:extLst>
          </p:cNvPr>
          <p:cNvSpPr>
            <a:spLocks noGrp="1"/>
          </p:cNvSpPr>
          <p:nvPr/>
        </p:nvSpPr>
        <p:spPr>
          <a:xfrm>
            <a:off x="2615089" y="6914007"/>
            <a:ext cx="345671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一次并行处理 N 个 Input Token</a:t>
            </a:r>
          </a:p>
        </p:txBody>
      </p:sp>
      <p:sp>
        <p:nvSpPr>
          <p:cNvPr id="56" name="text-36">
            <a:extLst>
              <a:ext uri="{FF2B5EF4-FFF2-40B4-BE49-F238E27FC236}">
                <a16:creationId xmlns:a16="http://schemas.microsoft.com/office/drawing/2014/main" id="{1F8657A3-DCC9-431B-B5CC-98178E6FF130}"/>
              </a:ext>
            </a:extLst>
          </p:cNvPr>
          <p:cNvSpPr>
            <a:spLocks noGrp="1"/>
          </p:cNvSpPr>
          <p:nvPr/>
        </p:nvSpPr>
        <p:spPr>
          <a:xfrm>
            <a:off x="8658225" y="6914007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推进方式</a:t>
            </a:r>
          </a:p>
        </p:txBody>
      </p:sp>
      <p:sp>
        <p:nvSpPr>
          <p:cNvPr id="57" name="text-37">
            <a:extLst>
              <a:ext uri="{FF2B5EF4-FFF2-40B4-BE49-F238E27FC236}">
                <a16:creationId xmlns:a16="http://schemas.microsoft.com/office/drawing/2014/main" id="{2CBB1917-D1E7-4EB2-B8EC-48B5F1024C54}"/>
              </a:ext>
            </a:extLst>
          </p:cNvPr>
          <p:cNvSpPr>
            <a:spLocks noGrp="1"/>
          </p:cNvSpPr>
          <p:nvPr/>
        </p:nvSpPr>
        <p:spPr>
          <a:xfrm>
            <a:off x="11783282" y="6914007"/>
            <a:ext cx="443684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重复 M 轮，每轮生成 1 个 Output Token</a:t>
            </a:r>
          </a:p>
        </p:txBody>
      </p:sp>
      <p:sp>
        <p:nvSpPr>
          <p:cNvPr id="58" name="text-38">
            <a:extLst>
              <a:ext uri="{FF2B5EF4-FFF2-40B4-BE49-F238E27FC236}">
                <a16:creationId xmlns:a16="http://schemas.microsoft.com/office/drawing/2014/main" id="{E2F70273-DDB4-49E8-97DF-A9BC17053523}"/>
              </a:ext>
            </a:extLst>
          </p:cNvPr>
          <p:cNvSpPr>
            <a:spLocks noGrp="1"/>
          </p:cNvSpPr>
          <p:nvPr/>
        </p:nvSpPr>
        <p:spPr>
          <a:xfrm>
            <a:off x="2638425" y="7628382"/>
            <a:ext cx="3409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读取权重，形成大规模矩阵计算</a:t>
            </a:r>
          </a:p>
        </p:txBody>
      </p:sp>
      <p:sp>
        <p:nvSpPr>
          <p:cNvPr id="59" name="text-39">
            <a:extLst>
              <a:ext uri="{FF2B5EF4-FFF2-40B4-BE49-F238E27FC236}">
                <a16:creationId xmlns:a16="http://schemas.microsoft.com/office/drawing/2014/main" id="{76E4CCB8-D7E3-4138-94B0-EE9CA90A25A6}"/>
              </a:ext>
            </a:extLst>
          </p:cNvPr>
          <p:cNvSpPr>
            <a:spLocks noGrp="1"/>
          </p:cNvSpPr>
          <p:nvPr/>
        </p:nvSpPr>
        <p:spPr>
          <a:xfrm>
            <a:off x="8658225" y="7628382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数据访问</a:t>
            </a:r>
          </a:p>
        </p:txBody>
      </p:sp>
      <p:sp>
        <p:nvSpPr>
          <p:cNvPr id="60" name="text-40">
            <a:extLst>
              <a:ext uri="{FF2B5EF4-FFF2-40B4-BE49-F238E27FC236}">
                <a16:creationId xmlns:a16="http://schemas.microsoft.com/office/drawing/2014/main" id="{128C9EC9-149F-4298-A1C3-2A8FD31993FB}"/>
              </a:ext>
            </a:extLst>
          </p:cNvPr>
          <p:cNvSpPr>
            <a:spLocks noGrp="1"/>
          </p:cNvSpPr>
          <p:nvPr/>
        </p:nvSpPr>
        <p:spPr>
          <a:xfrm>
            <a:off x="12542044" y="7628382"/>
            <a:ext cx="291941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每轮读取权重与 KV Cache</a:t>
            </a:r>
          </a:p>
        </p:txBody>
      </p:sp>
      <p:sp>
        <p:nvSpPr>
          <p:cNvPr id="61" name="text-41">
            <a:extLst>
              <a:ext uri="{FF2B5EF4-FFF2-40B4-BE49-F238E27FC236}">
                <a16:creationId xmlns:a16="http://schemas.microsoft.com/office/drawing/2014/main" id="{E63D6BF5-1FCB-4FE3-9579-ACDF6765EEED}"/>
              </a:ext>
            </a:extLst>
          </p:cNvPr>
          <p:cNvSpPr>
            <a:spLocks noGrp="1"/>
          </p:cNvSpPr>
          <p:nvPr/>
        </p:nvSpPr>
        <p:spPr>
          <a:xfrm>
            <a:off x="3590925" y="8342757"/>
            <a:ext cx="150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矩阵计算吞吐</a:t>
            </a:r>
          </a:p>
        </p:txBody>
      </p:sp>
      <p:sp>
        <p:nvSpPr>
          <p:cNvPr id="62" name="text-42">
            <a:extLst>
              <a:ext uri="{FF2B5EF4-FFF2-40B4-BE49-F238E27FC236}">
                <a16:creationId xmlns:a16="http://schemas.microsoft.com/office/drawing/2014/main" id="{E16D9BF4-F5AD-4465-9F95-A3014ABCACC5}"/>
              </a:ext>
            </a:extLst>
          </p:cNvPr>
          <p:cNvSpPr>
            <a:spLocks noGrp="1"/>
          </p:cNvSpPr>
          <p:nvPr/>
        </p:nvSpPr>
        <p:spPr>
          <a:xfrm>
            <a:off x="8658225" y="8342757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主要瓶颈</a:t>
            </a:r>
          </a:p>
        </p:txBody>
      </p:sp>
      <p:sp>
        <p:nvSpPr>
          <p:cNvPr id="63" name="text-43">
            <a:extLst>
              <a:ext uri="{FF2B5EF4-FFF2-40B4-BE49-F238E27FC236}">
                <a16:creationId xmlns:a16="http://schemas.microsoft.com/office/drawing/2014/main" id="{5D977DD4-D0E8-4DA2-969B-A05BFD143191}"/>
              </a:ext>
            </a:extLst>
          </p:cNvPr>
          <p:cNvSpPr>
            <a:spLocks noGrp="1"/>
          </p:cNvSpPr>
          <p:nvPr/>
        </p:nvSpPr>
        <p:spPr>
          <a:xfrm>
            <a:off x="12892088" y="8342757"/>
            <a:ext cx="2219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显存带宽与单步时延</a:t>
            </a:r>
          </a:p>
        </p:txBody>
      </p:sp>
      <p:sp>
        <p:nvSpPr>
          <p:cNvPr id="64" name="text-44">
            <a:extLst>
              <a:ext uri="{FF2B5EF4-FFF2-40B4-BE49-F238E27FC236}">
                <a16:creationId xmlns:a16="http://schemas.microsoft.com/office/drawing/2014/main" id="{56F6E450-D4B6-4C76-A049-B30C8B19E890}"/>
              </a:ext>
            </a:extLst>
          </p:cNvPr>
          <p:cNvSpPr>
            <a:spLocks noGrp="1"/>
          </p:cNvSpPr>
          <p:nvPr/>
        </p:nvSpPr>
        <p:spPr>
          <a:xfrm>
            <a:off x="4598670" y="9190482"/>
            <a:ext cx="914771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rPr>
              <a:t>同一模型在两个阶段形成两类不同 Workload，适合分别调度与选择硬件。</a:t>
            </a:r>
          </a:p>
        </p:txBody>
      </p:sp>
      <p:sp>
        <p:nvSpPr>
          <p:cNvPr id="65" name="text-45">
            <a:extLst>
              <a:ext uri="{FF2B5EF4-FFF2-40B4-BE49-F238E27FC236}">
                <a16:creationId xmlns:a16="http://schemas.microsoft.com/office/drawing/2014/main" id="{8E6661CA-3606-4C96-AB00-F5836C9B8A15}"/>
              </a:ext>
            </a:extLst>
          </p:cNvPr>
          <p:cNvSpPr>
            <a:spLocks noGrp="1"/>
          </p:cNvSpPr>
          <p:nvPr/>
        </p:nvSpPr>
        <p:spPr>
          <a:xfrm>
            <a:off x="16961358" y="9848850"/>
            <a:ext cx="62179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11 / 43</a:t>
            </a:r>
          </a:p>
        </p:txBody>
      </p:sp>
    </p:spTree>
    <p:extLst>
      <p:ext uri="{BB962C8B-B14F-4D97-AF65-F5344CB8AC3E}">
        <p14:creationId xmlns:p14="http://schemas.microsoft.com/office/powerpoint/2010/main" val="18209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html-shape-7">
            <a:extLst>
              <a:ext uri="{FF2B5EF4-FFF2-40B4-BE49-F238E27FC236}">
                <a16:creationId xmlns:a16="http://schemas.microsoft.com/office/drawing/2014/main" id="{34E69497-F76F-4845-9641-14D4AA87D32A}"/>
              </a:ext>
            </a:extLst>
          </p:cNvPr>
          <p:cNvSpPr>
            <a:spLocks noGrp="1"/>
          </p:cNvSpPr>
          <p:nvPr/>
        </p:nvSpPr>
        <p:spPr>
          <a:xfrm>
            <a:off x="6762750" y="5836444"/>
            <a:ext cx="4762500" cy="1790700"/>
          </a:xfrm>
          <a:prstGeom prst="roundRect">
            <a:avLst>
              <a:gd name="adj" fmla="val 12766"/>
            </a:avLst>
          </a:prstGeom>
          <a:gradFill>
            <a:gsLst>
              <a:gs pos="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html-shape-11">
            <a:extLst>
              <a:ext uri="{FF2B5EF4-FFF2-40B4-BE49-F238E27FC236}">
                <a16:creationId xmlns:a16="http://schemas.microsoft.com/office/drawing/2014/main" id="{AE152958-F81F-4647-A81A-06D3D5A312F0}"/>
              </a:ext>
            </a:extLst>
          </p:cNvPr>
          <p:cNvSpPr>
            <a:spLocks noGrp="1"/>
          </p:cNvSpPr>
          <p:nvPr/>
        </p:nvSpPr>
        <p:spPr>
          <a:xfrm>
            <a:off x="2095500" y="8896350"/>
            <a:ext cx="14097000" cy="781050"/>
          </a:xfrm>
          <a:prstGeom prst="roundRect">
            <a:avLst>
              <a:gd name="adj" fmla="val 17073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3" name="html-shape-1">
            <a:extLst>
              <a:ext uri="{FF2B5EF4-FFF2-40B4-BE49-F238E27FC236}">
                <a16:creationId xmlns:a16="http://schemas.microsoft.com/office/drawing/2014/main" id="{B4BCB348-6279-4FAB-924F-AC908DFB2BDD}"/>
              </a:ext>
            </a:extLst>
          </p:cNvPr>
          <p:cNvSpPr>
            <a:spLocks noGrp="1"/>
          </p:cNvSpPr>
          <p:nvPr/>
        </p:nvSpPr>
        <p:spPr>
          <a:xfrm>
            <a:off x="3657600" y="3579019"/>
            <a:ext cx="17145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4" name="html-shape-2">
            <a:extLst>
              <a:ext uri="{FF2B5EF4-FFF2-40B4-BE49-F238E27FC236}">
                <a16:creationId xmlns:a16="http://schemas.microsoft.com/office/drawing/2014/main" id="{7E1ABCD0-63DA-4576-8EBA-9480C6F392A6}"/>
              </a:ext>
            </a:extLst>
          </p:cNvPr>
          <p:cNvSpPr>
            <a:spLocks noGrp="1"/>
          </p:cNvSpPr>
          <p:nvPr/>
        </p:nvSpPr>
        <p:spPr>
          <a:xfrm>
            <a:off x="5829300" y="3579019"/>
            <a:ext cx="1809750" cy="647700"/>
          </a:xfrm>
          <a:prstGeom prst="roundRect">
            <a:avLst>
              <a:gd name="adj" fmla="val 20588"/>
            </a:avLst>
          </a:prstGeom>
          <a:solidFill>
            <a:srgbClr val="4B139F"/>
          </a:solidFill>
          <a:ln w="19050">
            <a:solidFill>
              <a:srgbClr val="4B139F"/>
            </a:solidFill>
            <a:prstDash val="solid"/>
          </a:ln>
        </p:spPr>
      </p:sp>
      <p:sp>
        <p:nvSpPr>
          <p:cNvPr id="5" name="html-shape-3">
            <a:extLst>
              <a:ext uri="{FF2B5EF4-FFF2-40B4-BE49-F238E27FC236}">
                <a16:creationId xmlns:a16="http://schemas.microsoft.com/office/drawing/2014/main" id="{EAEBCB88-690E-4A25-834A-E6EBD49D13C4}"/>
              </a:ext>
            </a:extLst>
          </p:cNvPr>
          <p:cNvSpPr>
            <a:spLocks noGrp="1"/>
          </p:cNvSpPr>
          <p:nvPr/>
        </p:nvSpPr>
        <p:spPr>
          <a:xfrm>
            <a:off x="8096250" y="3579019"/>
            <a:ext cx="2095500" cy="647700"/>
          </a:xfrm>
          <a:prstGeom prst="roundRect">
            <a:avLst>
              <a:gd name="adj" fmla="val 20588"/>
            </a:avLst>
          </a:prstGeom>
          <a:gradFill>
            <a:gsLst>
              <a:gs pos="0">
                <a:srgbClr val="EEE8FF"/>
              </a:gs>
              <a:gs pos="100000">
                <a:srgbClr val="E7F7F0"/>
              </a:gs>
            </a:gsLst>
            <a:lin ang="6000000"/>
          </a:gradFill>
          <a:ln w="19050">
            <a:solidFill>
              <a:srgbClr val="BDA6EF"/>
            </a:solidFill>
            <a:prstDash val="solid"/>
          </a:ln>
        </p:spPr>
      </p:sp>
      <p:sp>
        <p:nvSpPr>
          <p:cNvPr id="6" name="html-shape-4">
            <a:extLst>
              <a:ext uri="{FF2B5EF4-FFF2-40B4-BE49-F238E27FC236}">
                <a16:creationId xmlns:a16="http://schemas.microsoft.com/office/drawing/2014/main" id="{F94C058B-441C-4197-8CC7-FE86A925C78E}"/>
              </a:ext>
            </a:extLst>
          </p:cNvPr>
          <p:cNvSpPr>
            <a:spLocks noGrp="1"/>
          </p:cNvSpPr>
          <p:nvPr/>
        </p:nvSpPr>
        <p:spPr>
          <a:xfrm>
            <a:off x="10648950" y="3579019"/>
            <a:ext cx="1809750" cy="647700"/>
          </a:xfrm>
          <a:prstGeom prst="roundRect">
            <a:avLst>
              <a:gd name="adj" fmla="val 20588"/>
            </a:avLst>
          </a:prstGeom>
          <a:solidFill>
            <a:srgbClr val="13B873"/>
          </a:solidFill>
          <a:ln w="19050">
            <a:solidFill>
              <a:srgbClr val="13B873"/>
            </a:solidFill>
            <a:prstDash val="solid"/>
          </a:ln>
        </p:spPr>
      </p:sp>
      <p:sp>
        <p:nvSpPr>
          <p:cNvPr id="7" name="html-shape-5">
            <a:extLst>
              <a:ext uri="{FF2B5EF4-FFF2-40B4-BE49-F238E27FC236}">
                <a16:creationId xmlns:a16="http://schemas.microsoft.com/office/drawing/2014/main" id="{B970AD07-C127-40A0-A9AB-3D096016B6FA}"/>
              </a:ext>
            </a:extLst>
          </p:cNvPr>
          <p:cNvSpPr>
            <a:spLocks noGrp="1"/>
          </p:cNvSpPr>
          <p:nvPr/>
        </p:nvSpPr>
        <p:spPr>
          <a:xfrm>
            <a:off x="12915900" y="3579019"/>
            <a:ext cx="17145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8" name="html-shape-6">
            <a:extLst>
              <a:ext uri="{FF2B5EF4-FFF2-40B4-BE49-F238E27FC236}">
                <a16:creationId xmlns:a16="http://schemas.microsoft.com/office/drawing/2014/main" id="{6D10FFBA-0AC2-44C5-9E05-6D8F4C5358AA}"/>
              </a:ext>
            </a:extLst>
          </p:cNvPr>
          <p:cNvSpPr>
            <a:spLocks noGrp="1"/>
          </p:cNvSpPr>
          <p:nvPr/>
        </p:nvSpPr>
        <p:spPr>
          <a:xfrm>
            <a:off x="2857500" y="6007894"/>
            <a:ext cx="2857500" cy="1447800"/>
          </a:xfrm>
          <a:prstGeom prst="roundRect">
            <a:avLst>
              <a:gd name="adj" fmla="val 14474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9" name="html-shape-8">
            <a:extLst>
              <a:ext uri="{FF2B5EF4-FFF2-40B4-BE49-F238E27FC236}">
                <a16:creationId xmlns:a16="http://schemas.microsoft.com/office/drawing/2014/main" id="{6098528D-CFF6-4D23-8613-9E7D17FBC4BB}"/>
              </a:ext>
            </a:extLst>
          </p:cNvPr>
          <p:cNvSpPr>
            <a:spLocks noGrp="1"/>
          </p:cNvSpPr>
          <p:nvPr/>
        </p:nvSpPr>
        <p:spPr>
          <a:xfrm>
            <a:off x="7067550" y="6984683"/>
            <a:ext cx="4152900" cy="33899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" name="border-9">
            <a:extLst>
              <a:ext uri="{FF2B5EF4-FFF2-40B4-BE49-F238E27FC236}">
                <a16:creationId xmlns:a16="http://schemas.microsoft.com/office/drawing/2014/main" id="{0B7AA033-D391-4853-B8D7-B83C76559CF0}"/>
              </a:ext>
            </a:extLst>
          </p:cNvPr>
          <p:cNvSpPr>
            <a:spLocks noGrp="1"/>
          </p:cNvSpPr>
          <p:nvPr/>
        </p:nvSpPr>
        <p:spPr>
          <a:xfrm>
            <a:off x="7067550" y="6984683"/>
            <a:ext cx="41529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" name="html-shape-10">
            <a:extLst>
              <a:ext uri="{FF2B5EF4-FFF2-40B4-BE49-F238E27FC236}">
                <a16:creationId xmlns:a16="http://schemas.microsoft.com/office/drawing/2014/main" id="{83DA5A3E-F1FE-430A-B8C8-29457F1C6192}"/>
              </a:ext>
            </a:extLst>
          </p:cNvPr>
          <p:cNvSpPr>
            <a:spLocks noGrp="1"/>
          </p:cNvSpPr>
          <p:nvPr/>
        </p:nvSpPr>
        <p:spPr>
          <a:xfrm>
            <a:off x="12573000" y="6007894"/>
            <a:ext cx="2857500" cy="1447800"/>
          </a:xfrm>
          <a:prstGeom prst="roundRect">
            <a:avLst>
              <a:gd name="adj" fmla="val 14474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76BE89E-D3C0-4C38-A040-FEEDE0F50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53AF42C-DB84-48E0-A164-FCCB2EF1B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4" name="text-1">
            <a:extLst>
              <a:ext uri="{FF2B5EF4-FFF2-40B4-BE49-F238E27FC236}">
                <a16:creationId xmlns:a16="http://schemas.microsoft.com/office/drawing/2014/main" id="{F0E64B5E-867B-40A2-9379-0CE602218BE1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5" name="text-2">
            <a:extLst>
              <a:ext uri="{FF2B5EF4-FFF2-40B4-BE49-F238E27FC236}">
                <a16:creationId xmlns:a16="http://schemas.microsoft.com/office/drawing/2014/main" id="{59B76B04-23C0-46B2-AA47-368B86C85631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19236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第二章 · PD 分离基础</a:t>
            </a:r>
          </a:p>
        </p:txBody>
      </p:sp>
      <p:sp>
        <p:nvSpPr>
          <p:cNvPr id="16" name="text-3">
            <a:extLst>
              <a:ext uri="{FF2B5EF4-FFF2-40B4-BE49-F238E27FC236}">
                <a16:creationId xmlns:a16="http://schemas.microsoft.com/office/drawing/2014/main" id="{74E4D1A2-435A-4757-83E3-F551974678C6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437484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373"/>
          </a:bodyPr>
          <a:lstStyle>
            <a:defPPr algn="l">
              <a:defRPr lang="zh-CN" altLang="en-US" sz="4950" b="1" i="0" spc="-135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可交付的 KV Cache，让 Prefill 与 Decode 可以分离</a:t>
            </a:r>
          </a:p>
        </p:txBody>
      </p:sp>
      <p:sp>
        <p:nvSpPr>
          <p:cNvPr id="17" name="text-4">
            <a:extLst>
              <a:ext uri="{FF2B5EF4-FFF2-40B4-BE49-F238E27FC236}">
                <a16:creationId xmlns:a16="http://schemas.microsoft.com/office/drawing/2014/main" id="{1A831894-5A77-4B44-88F9-A6DD5074F012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11761851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阶段边界本身还不够；当请求状态可以被显式交付，P/D 才能由独立 Worker 执行。</a:t>
            </a:r>
          </a:p>
        </p:txBody>
      </p:sp>
      <p:sp>
        <p:nvSpPr>
          <p:cNvPr id="18" name="text-5">
            <a:extLst>
              <a:ext uri="{FF2B5EF4-FFF2-40B4-BE49-F238E27FC236}">
                <a16:creationId xmlns:a16="http://schemas.microsoft.com/office/drawing/2014/main" id="{7B8BE175-4D04-41BF-940A-0CF66F5ABB66}"/>
              </a:ext>
            </a:extLst>
          </p:cNvPr>
          <p:cNvSpPr>
            <a:spLocks noGrp="1"/>
          </p:cNvSpPr>
          <p:nvPr/>
        </p:nvSpPr>
        <p:spPr>
          <a:xfrm>
            <a:off x="7162800" y="2933700"/>
            <a:ext cx="401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算法视角：同一请求存在连续的阶段依赖</a:t>
            </a:r>
          </a:p>
        </p:txBody>
      </p:sp>
      <p:sp>
        <p:nvSpPr>
          <p:cNvPr id="19" name="text-6">
            <a:extLst>
              <a:ext uri="{FF2B5EF4-FFF2-40B4-BE49-F238E27FC236}">
                <a16:creationId xmlns:a16="http://schemas.microsoft.com/office/drawing/2014/main" id="{B947015D-ADD7-487F-B53C-391611FF9688}"/>
              </a:ext>
            </a:extLst>
          </p:cNvPr>
          <p:cNvSpPr>
            <a:spLocks noGrp="1"/>
          </p:cNvSpPr>
          <p:nvPr/>
        </p:nvSpPr>
        <p:spPr>
          <a:xfrm>
            <a:off x="3830669" y="3748373"/>
            <a:ext cx="1425321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Input Tokens</a:t>
            </a:r>
          </a:p>
        </p:txBody>
      </p:sp>
      <p:sp>
        <p:nvSpPr>
          <p:cNvPr id="20" name="text-7">
            <a:extLst>
              <a:ext uri="{FF2B5EF4-FFF2-40B4-BE49-F238E27FC236}">
                <a16:creationId xmlns:a16="http://schemas.microsoft.com/office/drawing/2014/main" id="{496DF66A-A5F8-445D-8EA9-9B5BEB3D721D}"/>
              </a:ext>
            </a:extLst>
          </p:cNvPr>
          <p:cNvSpPr>
            <a:spLocks noGrp="1"/>
          </p:cNvSpPr>
          <p:nvPr/>
        </p:nvSpPr>
        <p:spPr>
          <a:xfrm>
            <a:off x="5410200" y="3645694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1" name="text-8">
            <a:extLst>
              <a:ext uri="{FF2B5EF4-FFF2-40B4-BE49-F238E27FC236}">
                <a16:creationId xmlns:a16="http://schemas.microsoft.com/office/drawing/2014/main" id="{00152977-2BDA-49B6-98B9-2DBDBD7C5412}"/>
              </a:ext>
            </a:extLst>
          </p:cNvPr>
          <p:cNvSpPr>
            <a:spLocks noGrp="1"/>
          </p:cNvSpPr>
          <p:nvPr/>
        </p:nvSpPr>
        <p:spPr>
          <a:xfrm>
            <a:off x="6426137" y="3748373"/>
            <a:ext cx="67332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22" name="text-9">
            <a:extLst>
              <a:ext uri="{FF2B5EF4-FFF2-40B4-BE49-F238E27FC236}">
                <a16:creationId xmlns:a16="http://schemas.microsoft.com/office/drawing/2014/main" id="{6666D455-7773-4CE2-A807-A6BDBF3427FE}"/>
              </a:ext>
            </a:extLst>
          </p:cNvPr>
          <p:cNvSpPr>
            <a:spLocks noGrp="1"/>
          </p:cNvSpPr>
          <p:nvPr/>
        </p:nvSpPr>
        <p:spPr>
          <a:xfrm>
            <a:off x="7677150" y="3645694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3" name="text-10">
            <a:extLst>
              <a:ext uri="{FF2B5EF4-FFF2-40B4-BE49-F238E27FC236}">
                <a16:creationId xmlns:a16="http://schemas.microsoft.com/office/drawing/2014/main" id="{E46A09B7-7F94-4169-B48A-B585EF408FED}"/>
              </a:ext>
            </a:extLst>
          </p:cNvPr>
          <p:cNvSpPr>
            <a:spLocks noGrp="1"/>
          </p:cNvSpPr>
          <p:nvPr/>
        </p:nvSpPr>
        <p:spPr>
          <a:xfrm>
            <a:off x="8617934" y="3631406"/>
            <a:ext cx="110918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KV Cache</a:t>
            </a:r>
          </a:p>
        </p:txBody>
      </p:sp>
      <p:sp>
        <p:nvSpPr>
          <p:cNvPr id="24" name="text-11">
            <a:extLst>
              <a:ext uri="{FF2B5EF4-FFF2-40B4-BE49-F238E27FC236}">
                <a16:creationId xmlns:a16="http://schemas.microsoft.com/office/drawing/2014/main" id="{54C2004A-77A8-492B-B418-EDB44A263DA0}"/>
              </a:ext>
            </a:extLst>
          </p:cNvPr>
          <p:cNvSpPr>
            <a:spLocks noGrp="1"/>
          </p:cNvSpPr>
          <p:nvPr/>
        </p:nvSpPr>
        <p:spPr>
          <a:xfrm>
            <a:off x="8810625" y="3930872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请求状态</a:t>
            </a:r>
          </a:p>
        </p:txBody>
      </p:sp>
      <p:sp>
        <p:nvSpPr>
          <p:cNvPr id="25" name="text-12">
            <a:extLst>
              <a:ext uri="{FF2B5EF4-FFF2-40B4-BE49-F238E27FC236}">
                <a16:creationId xmlns:a16="http://schemas.microsoft.com/office/drawing/2014/main" id="{8F8587F3-6092-4FD0-88D6-C6CA93D9E800}"/>
              </a:ext>
            </a:extLst>
          </p:cNvPr>
          <p:cNvSpPr>
            <a:spLocks noGrp="1"/>
          </p:cNvSpPr>
          <p:nvPr/>
        </p:nvSpPr>
        <p:spPr>
          <a:xfrm>
            <a:off x="10229850" y="3645694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6" name="text-13">
            <a:extLst>
              <a:ext uri="{FF2B5EF4-FFF2-40B4-BE49-F238E27FC236}">
                <a16:creationId xmlns:a16="http://schemas.microsoft.com/office/drawing/2014/main" id="{D073A352-0F5F-4D05-9D89-ADE229D2E819}"/>
              </a:ext>
            </a:extLst>
          </p:cNvPr>
          <p:cNvSpPr>
            <a:spLocks noGrp="1"/>
          </p:cNvSpPr>
          <p:nvPr/>
        </p:nvSpPr>
        <p:spPr>
          <a:xfrm>
            <a:off x="11147965" y="3748373"/>
            <a:ext cx="86868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27" name="text-14">
            <a:extLst>
              <a:ext uri="{FF2B5EF4-FFF2-40B4-BE49-F238E27FC236}">
                <a16:creationId xmlns:a16="http://schemas.microsoft.com/office/drawing/2014/main" id="{8769D96B-1749-48AF-B352-441C6AC10062}"/>
              </a:ext>
            </a:extLst>
          </p:cNvPr>
          <p:cNvSpPr>
            <a:spLocks noGrp="1"/>
          </p:cNvSpPr>
          <p:nvPr/>
        </p:nvSpPr>
        <p:spPr>
          <a:xfrm>
            <a:off x="12496800" y="3645694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8" name="text-15">
            <a:extLst>
              <a:ext uri="{FF2B5EF4-FFF2-40B4-BE49-F238E27FC236}">
                <a16:creationId xmlns:a16="http://schemas.microsoft.com/office/drawing/2014/main" id="{AC4200C2-3501-4806-B785-890D0AC912F5}"/>
              </a:ext>
            </a:extLst>
          </p:cNvPr>
          <p:cNvSpPr>
            <a:spLocks noGrp="1"/>
          </p:cNvSpPr>
          <p:nvPr/>
        </p:nvSpPr>
        <p:spPr>
          <a:xfrm>
            <a:off x="12992576" y="3748373"/>
            <a:ext cx="1618393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Output Tokens</a:t>
            </a:r>
          </a:p>
        </p:txBody>
      </p:sp>
      <p:sp>
        <p:nvSpPr>
          <p:cNvPr id="29" name="text-16">
            <a:extLst>
              <a:ext uri="{FF2B5EF4-FFF2-40B4-BE49-F238E27FC236}">
                <a16:creationId xmlns:a16="http://schemas.microsoft.com/office/drawing/2014/main" id="{96C377E3-45A1-453F-82C6-C250470D3A61}"/>
              </a:ext>
            </a:extLst>
          </p:cNvPr>
          <p:cNvSpPr>
            <a:spLocks noGrp="1"/>
          </p:cNvSpPr>
          <p:nvPr/>
        </p:nvSpPr>
        <p:spPr>
          <a:xfrm>
            <a:off x="7153275" y="4648200"/>
            <a:ext cx="49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30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30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30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↓</a:t>
            </a:r>
          </a:p>
        </p:txBody>
      </p:sp>
      <p:sp>
        <p:nvSpPr>
          <p:cNvPr id="30" name="text-17">
            <a:extLst>
              <a:ext uri="{FF2B5EF4-FFF2-40B4-BE49-F238E27FC236}">
                <a16:creationId xmlns:a16="http://schemas.microsoft.com/office/drawing/2014/main" id="{3C65B19A-4BCE-467A-A7B5-9DD0A38A0581}"/>
              </a:ext>
            </a:extLst>
          </p:cNvPr>
          <p:cNvSpPr>
            <a:spLocks noGrp="1"/>
          </p:cNvSpPr>
          <p:nvPr/>
        </p:nvSpPr>
        <p:spPr>
          <a:xfrm>
            <a:off x="7781925" y="4772025"/>
            <a:ext cx="3409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将请求状态显式化为可交付接口</a:t>
            </a:r>
          </a:p>
        </p:txBody>
      </p:sp>
      <p:sp>
        <p:nvSpPr>
          <p:cNvPr id="31" name="text-18">
            <a:extLst>
              <a:ext uri="{FF2B5EF4-FFF2-40B4-BE49-F238E27FC236}">
                <a16:creationId xmlns:a16="http://schemas.microsoft.com/office/drawing/2014/main" id="{FE5C8AA9-05CF-43C7-9D2D-7750C0A097E7}"/>
              </a:ext>
            </a:extLst>
          </p:cNvPr>
          <p:cNvSpPr>
            <a:spLocks noGrp="1"/>
          </p:cNvSpPr>
          <p:nvPr/>
        </p:nvSpPr>
        <p:spPr>
          <a:xfrm>
            <a:off x="7372160" y="5334000"/>
            <a:ext cx="3600641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系统视角：由两个独立 Worker 执行</a:t>
            </a:r>
          </a:p>
        </p:txBody>
      </p:sp>
      <p:sp>
        <p:nvSpPr>
          <p:cNvPr id="32" name="text-19">
            <a:extLst>
              <a:ext uri="{FF2B5EF4-FFF2-40B4-BE49-F238E27FC236}">
                <a16:creationId xmlns:a16="http://schemas.microsoft.com/office/drawing/2014/main" id="{AC33BED5-003C-45D2-859E-13FC55FD7137}"/>
              </a:ext>
            </a:extLst>
          </p:cNvPr>
          <p:cNvSpPr>
            <a:spLocks noGrp="1"/>
          </p:cNvSpPr>
          <p:nvPr/>
        </p:nvSpPr>
        <p:spPr>
          <a:xfrm>
            <a:off x="3856768" y="6186011"/>
            <a:ext cx="9162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 Worker</a:t>
            </a:r>
          </a:p>
        </p:txBody>
      </p:sp>
      <p:sp>
        <p:nvSpPr>
          <p:cNvPr id="33" name="text-20">
            <a:extLst>
              <a:ext uri="{FF2B5EF4-FFF2-40B4-BE49-F238E27FC236}">
                <a16:creationId xmlns:a16="http://schemas.microsoft.com/office/drawing/2014/main" id="{ABFCD314-4A25-4199-BA12-6D9E156C620C}"/>
              </a:ext>
            </a:extLst>
          </p:cNvPr>
          <p:cNvSpPr>
            <a:spLocks noGrp="1"/>
          </p:cNvSpPr>
          <p:nvPr/>
        </p:nvSpPr>
        <p:spPr>
          <a:xfrm>
            <a:off x="3809429" y="6452711"/>
            <a:ext cx="101069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7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7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7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34" name="text-21">
            <a:extLst>
              <a:ext uri="{FF2B5EF4-FFF2-40B4-BE49-F238E27FC236}">
                <a16:creationId xmlns:a16="http://schemas.microsoft.com/office/drawing/2014/main" id="{7672BE35-FD6E-464D-97A5-CDB136CE523B}"/>
              </a:ext>
            </a:extLst>
          </p:cNvPr>
          <p:cNvSpPr>
            <a:spLocks noGrp="1"/>
          </p:cNvSpPr>
          <p:nvPr/>
        </p:nvSpPr>
        <p:spPr>
          <a:xfrm>
            <a:off x="3676650" y="6989826"/>
            <a:ext cx="1276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产生请求状态</a:t>
            </a:r>
          </a:p>
        </p:txBody>
      </p:sp>
      <p:sp>
        <p:nvSpPr>
          <p:cNvPr id="35" name="text-22">
            <a:extLst>
              <a:ext uri="{FF2B5EF4-FFF2-40B4-BE49-F238E27FC236}">
                <a16:creationId xmlns:a16="http://schemas.microsoft.com/office/drawing/2014/main" id="{870513A5-B17B-4428-80D9-B0FC5DDC55E6}"/>
              </a:ext>
            </a:extLst>
          </p:cNvPr>
          <p:cNvSpPr>
            <a:spLocks noGrp="1"/>
          </p:cNvSpPr>
          <p:nvPr/>
        </p:nvSpPr>
        <p:spPr>
          <a:xfrm>
            <a:off x="6000750" y="6407944"/>
            <a:ext cx="5334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36" name="text-23">
            <a:extLst>
              <a:ext uri="{FF2B5EF4-FFF2-40B4-BE49-F238E27FC236}">
                <a16:creationId xmlns:a16="http://schemas.microsoft.com/office/drawing/2014/main" id="{5155AFB3-8EC8-4A69-8211-3B7788F94B53}"/>
              </a:ext>
            </a:extLst>
          </p:cNvPr>
          <p:cNvSpPr>
            <a:spLocks noGrp="1"/>
          </p:cNvSpPr>
          <p:nvPr/>
        </p:nvSpPr>
        <p:spPr>
          <a:xfrm>
            <a:off x="7771352" y="6055519"/>
            <a:ext cx="2802446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1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rPr>
              <a:t>KV Cache handoff</a:t>
            </a:r>
          </a:p>
        </p:txBody>
      </p:sp>
      <p:sp>
        <p:nvSpPr>
          <p:cNvPr id="37" name="text-24">
            <a:extLst>
              <a:ext uri="{FF2B5EF4-FFF2-40B4-BE49-F238E27FC236}">
                <a16:creationId xmlns:a16="http://schemas.microsoft.com/office/drawing/2014/main" id="{617D02AC-B1F2-44C1-8417-20FADFB7F84F}"/>
              </a:ext>
            </a:extLst>
          </p:cNvPr>
          <p:cNvSpPr>
            <a:spLocks noGrp="1"/>
          </p:cNvSpPr>
          <p:nvPr/>
        </p:nvSpPr>
        <p:spPr>
          <a:xfrm>
            <a:off x="7709345" y="6581775"/>
            <a:ext cx="292655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KV pages + request metadata</a:t>
            </a:r>
          </a:p>
        </p:txBody>
      </p:sp>
      <p:sp>
        <p:nvSpPr>
          <p:cNvPr id="38" name="text-25">
            <a:extLst>
              <a:ext uri="{FF2B5EF4-FFF2-40B4-BE49-F238E27FC236}">
                <a16:creationId xmlns:a16="http://schemas.microsoft.com/office/drawing/2014/main" id="{6B6384C1-84C5-484C-8990-4B9CCE802E9D}"/>
              </a:ext>
            </a:extLst>
          </p:cNvPr>
          <p:cNvSpPr>
            <a:spLocks noGrp="1"/>
          </p:cNvSpPr>
          <p:nvPr/>
        </p:nvSpPr>
        <p:spPr>
          <a:xfrm>
            <a:off x="7408259" y="7108508"/>
            <a:ext cx="3528727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request · page map · token position · readiness</a:t>
            </a:r>
          </a:p>
        </p:txBody>
      </p:sp>
      <p:sp>
        <p:nvSpPr>
          <p:cNvPr id="39" name="text-26">
            <a:extLst>
              <a:ext uri="{FF2B5EF4-FFF2-40B4-BE49-F238E27FC236}">
                <a16:creationId xmlns:a16="http://schemas.microsoft.com/office/drawing/2014/main" id="{ACB4AA84-D749-4BD2-9E59-F9C73E880282}"/>
              </a:ext>
            </a:extLst>
          </p:cNvPr>
          <p:cNvSpPr>
            <a:spLocks noGrp="1"/>
          </p:cNvSpPr>
          <p:nvPr/>
        </p:nvSpPr>
        <p:spPr>
          <a:xfrm>
            <a:off x="11811000" y="6407944"/>
            <a:ext cx="5334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0" i="0" noProof="1">
                <a:solidFill>
                  <a:srgbClr val="B4BECD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40" name="text-27">
            <a:extLst>
              <a:ext uri="{FF2B5EF4-FFF2-40B4-BE49-F238E27FC236}">
                <a16:creationId xmlns:a16="http://schemas.microsoft.com/office/drawing/2014/main" id="{003F9B97-7A59-47C8-ADA5-3F5EBF0833DA}"/>
              </a:ext>
            </a:extLst>
          </p:cNvPr>
          <p:cNvSpPr>
            <a:spLocks noGrp="1"/>
          </p:cNvSpPr>
          <p:nvPr/>
        </p:nvSpPr>
        <p:spPr>
          <a:xfrm>
            <a:off x="13565981" y="6186011"/>
            <a:ext cx="928497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 Worker</a:t>
            </a:r>
          </a:p>
        </p:txBody>
      </p:sp>
      <p:sp>
        <p:nvSpPr>
          <p:cNvPr id="41" name="text-28">
            <a:extLst>
              <a:ext uri="{FF2B5EF4-FFF2-40B4-BE49-F238E27FC236}">
                <a16:creationId xmlns:a16="http://schemas.microsoft.com/office/drawing/2014/main" id="{3267CD62-B798-47A5-8555-86725F7250C6}"/>
              </a:ext>
            </a:extLst>
          </p:cNvPr>
          <p:cNvSpPr>
            <a:spLocks noGrp="1"/>
          </p:cNvSpPr>
          <p:nvPr/>
        </p:nvSpPr>
        <p:spPr>
          <a:xfrm>
            <a:off x="13372052" y="6452711"/>
            <a:ext cx="131654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7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7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7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42" name="text-29">
            <a:extLst>
              <a:ext uri="{FF2B5EF4-FFF2-40B4-BE49-F238E27FC236}">
                <a16:creationId xmlns:a16="http://schemas.microsoft.com/office/drawing/2014/main" id="{388C52A5-BF75-4CFB-8A72-B6A469D4223D}"/>
              </a:ext>
            </a:extLst>
          </p:cNvPr>
          <p:cNvSpPr>
            <a:spLocks noGrp="1"/>
          </p:cNvSpPr>
          <p:nvPr/>
        </p:nvSpPr>
        <p:spPr>
          <a:xfrm>
            <a:off x="13092113" y="6989826"/>
            <a:ext cx="18764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恢复状态并继续生成</a:t>
            </a:r>
          </a:p>
        </p:txBody>
      </p:sp>
      <p:sp>
        <p:nvSpPr>
          <p:cNvPr id="43" name="text-30">
            <a:extLst>
              <a:ext uri="{FF2B5EF4-FFF2-40B4-BE49-F238E27FC236}">
                <a16:creationId xmlns:a16="http://schemas.microsoft.com/office/drawing/2014/main" id="{F770FB3F-FB1F-4382-94B1-E79A883633F7}"/>
              </a:ext>
            </a:extLst>
          </p:cNvPr>
          <p:cNvSpPr>
            <a:spLocks noGrp="1"/>
          </p:cNvSpPr>
          <p:nvPr/>
        </p:nvSpPr>
        <p:spPr>
          <a:xfrm>
            <a:off x="3298793" y="9113044"/>
            <a:ext cx="274510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P/D 仍然存在状态依赖；</a:t>
            </a:r>
          </a:p>
        </p:txBody>
      </p:sp>
      <p:sp>
        <p:nvSpPr>
          <p:cNvPr id="44" name="text-31">
            <a:extLst>
              <a:ext uri="{FF2B5EF4-FFF2-40B4-BE49-F238E27FC236}">
                <a16:creationId xmlns:a16="http://schemas.microsoft.com/office/drawing/2014/main" id="{ED858425-5B2C-40D3-AA94-86E3CE871ABE}"/>
              </a:ext>
            </a:extLst>
          </p:cNvPr>
          <p:cNvSpPr>
            <a:spLocks noGrp="1"/>
          </p:cNvSpPr>
          <p:nvPr/>
        </p:nvSpPr>
        <p:spPr>
          <a:xfrm>
            <a:off x="5967698" y="9113044"/>
            <a:ext cx="907856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242832"/>
                </a:solidFill>
                <a:latin typeface="PingFang SC"/>
                <a:ea typeface="PingFang SC"/>
                <a:cs typeface="Arial"/>
              </a:rPr>
              <a:t>依赖被收敛为一次明确、可传输的 KV Cache handoff，两个阶段因此可以独立执行。</a:t>
            </a:r>
          </a:p>
        </p:txBody>
      </p:sp>
      <p:sp>
        <p:nvSpPr>
          <p:cNvPr id="45" name="text-32">
            <a:extLst>
              <a:ext uri="{FF2B5EF4-FFF2-40B4-BE49-F238E27FC236}">
                <a16:creationId xmlns:a16="http://schemas.microsoft.com/office/drawing/2014/main" id="{771B9901-97FC-4C07-B849-26EF6847324E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12 / 43</a:t>
            </a:r>
          </a:p>
        </p:txBody>
      </p:sp>
    </p:spTree>
    <p:extLst>
      <p:ext uri="{BB962C8B-B14F-4D97-AF65-F5344CB8AC3E}">
        <p14:creationId xmlns:p14="http://schemas.microsoft.com/office/powerpoint/2010/main" val="1124778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tml-line-1">
            <a:extLst>
              <a:ext uri="{FF2B5EF4-FFF2-40B4-BE49-F238E27FC236}">
                <a16:creationId xmlns:a16="http://schemas.microsoft.com/office/drawing/2014/main" id="{4F25B86B-A2CF-4782-8602-6942B3378FD6}"/>
              </a:ext>
            </a:extLst>
          </p:cNvPr>
          <p:cNvSpPr>
            <a:spLocks noGrp="1"/>
          </p:cNvSpPr>
          <p:nvPr/>
        </p:nvSpPr>
        <p:spPr>
          <a:xfrm>
            <a:off x="6664262" y="5524500"/>
            <a:ext cx="4763" cy="1809750"/>
          </a:xfrm>
          <a:prstGeom prst="line">
            <a:avLst/>
          </a:prstGeom>
          <a:noFill/>
          <a:ln w="19050">
            <a:solidFill>
              <a:srgbClr val="D9DFEB"/>
            </a:solidFill>
            <a:prstDash val="solid"/>
          </a:ln>
        </p:spPr>
      </p:sp>
      <p:sp>
        <p:nvSpPr>
          <p:cNvPr id="2" name="html-line-2">
            <a:extLst>
              <a:ext uri="{FF2B5EF4-FFF2-40B4-BE49-F238E27FC236}">
                <a16:creationId xmlns:a16="http://schemas.microsoft.com/office/drawing/2014/main" id="{09303F4A-43AA-4A46-9F26-FFB249FE00ED}"/>
              </a:ext>
            </a:extLst>
          </p:cNvPr>
          <p:cNvSpPr>
            <a:spLocks noGrp="1"/>
          </p:cNvSpPr>
          <p:nvPr/>
        </p:nvSpPr>
        <p:spPr>
          <a:xfrm>
            <a:off x="11623643" y="5524500"/>
            <a:ext cx="4763" cy="1809750"/>
          </a:xfrm>
          <a:prstGeom prst="line">
            <a:avLst/>
          </a:prstGeom>
          <a:noFill/>
          <a:ln w="19050">
            <a:solidFill>
              <a:srgbClr val="D9DFEB"/>
            </a:solidFill>
            <a:prstDash val="solid"/>
          </a:ln>
        </p:spPr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5971D5-3B2E-4EBA-994D-23E064F5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9CD88B7-0BBB-45BB-ADA9-311684B02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5" name="text-1">
            <a:extLst>
              <a:ext uri="{FF2B5EF4-FFF2-40B4-BE49-F238E27FC236}">
                <a16:creationId xmlns:a16="http://schemas.microsoft.com/office/drawing/2014/main" id="{38D13B59-CC2D-48E4-867E-F642034D217A}"/>
              </a:ext>
            </a:extLst>
          </p:cNvPr>
          <p:cNvSpPr>
            <a:spLocks noGrp="1"/>
          </p:cNvSpPr>
          <p:nvPr/>
        </p:nvSpPr>
        <p:spPr>
          <a:xfrm>
            <a:off x="1704975" y="1352550"/>
            <a:ext cx="1633728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CHAPTER 03</a:t>
            </a:r>
          </a:p>
        </p:txBody>
      </p:sp>
      <p:sp>
        <p:nvSpPr>
          <p:cNvPr id="6" name="text-2">
            <a:extLst>
              <a:ext uri="{FF2B5EF4-FFF2-40B4-BE49-F238E27FC236}">
                <a16:creationId xmlns:a16="http://schemas.microsoft.com/office/drawing/2014/main" id="{CDDDB5C9-11E0-4143-87AF-6D40E66CC7E7}"/>
              </a:ext>
            </a:extLst>
          </p:cNvPr>
          <p:cNvSpPr>
            <a:spLocks noGrp="1"/>
          </p:cNvSpPr>
          <p:nvPr/>
        </p:nvSpPr>
        <p:spPr>
          <a:xfrm>
            <a:off x="1704975" y="1876425"/>
            <a:ext cx="618944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139"/>
          </a:bodyPr>
          <a:lstStyle>
            <a:def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PD 分离的系统价值</a:t>
            </a:r>
          </a:p>
        </p:txBody>
      </p:sp>
      <p:sp>
        <p:nvSpPr>
          <p:cNvPr id="7" name="text-3">
            <a:extLst>
              <a:ext uri="{FF2B5EF4-FFF2-40B4-BE49-F238E27FC236}">
                <a16:creationId xmlns:a16="http://schemas.microsoft.com/office/drawing/2014/main" id="{F7D2BEE9-C173-4DE5-9F93-CDB7CC6400E6}"/>
              </a:ext>
            </a:extLst>
          </p:cNvPr>
          <p:cNvSpPr>
            <a:spLocks noGrp="1"/>
          </p:cNvSpPr>
          <p:nvPr/>
        </p:nvSpPr>
        <p:spPr>
          <a:xfrm>
            <a:off x="1724025" y="3133725"/>
            <a:ext cx="4754023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 和 D 分开以后，系统能做什么？</a:t>
            </a:r>
          </a:p>
        </p:txBody>
      </p:sp>
      <p:sp>
        <p:nvSpPr>
          <p:cNvPr id="8" name="text-4">
            <a:extLst>
              <a:ext uri="{FF2B5EF4-FFF2-40B4-BE49-F238E27FC236}">
                <a16:creationId xmlns:a16="http://schemas.microsoft.com/office/drawing/2014/main" id="{046ADC66-C3B9-4DEC-85B8-6F9BB2C74C17}"/>
              </a:ext>
            </a:extLst>
          </p:cNvPr>
          <p:cNvSpPr>
            <a:spLocks noGrp="1"/>
          </p:cNvSpPr>
          <p:nvPr/>
        </p:nvSpPr>
        <p:spPr>
          <a:xfrm>
            <a:off x="2162175" y="5572125"/>
            <a:ext cx="316706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9" name="text-5">
            <a:extLst>
              <a:ext uri="{FF2B5EF4-FFF2-40B4-BE49-F238E27FC236}">
                <a16:creationId xmlns:a16="http://schemas.microsoft.com/office/drawing/2014/main" id="{014FCE1F-BD48-4130-A559-D8AE7A49DD2B}"/>
              </a:ext>
            </a:extLst>
          </p:cNvPr>
          <p:cNvSpPr>
            <a:spLocks noGrp="1"/>
          </p:cNvSpPr>
          <p:nvPr/>
        </p:nvSpPr>
        <p:spPr>
          <a:xfrm>
            <a:off x="2162175" y="602932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服务目标独立治理</a:t>
            </a:r>
          </a:p>
        </p:txBody>
      </p:sp>
      <p:sp>
        <p:nvSpPr>
          <p:cNvPr id="10" name="text-6">
            <a:extLst>
              <a:ext uri="{FF2B5EF4-FFF2-40B4-BE49-F238E27FC236}">
                <a16:creationId xmlns:a16="http://schemas.microsoft.com/office/drawing/2014/main" id="{4761D9D6-3899-4F02-A8A0-8408271C7D3F}"/>
              </a:ext>
            </a:extLst>
          </p:cNvPr>
          <p:cNvSpPr>
            <a:spLocks noGrp="1"/>
          </p:cNvSpPr>
          <p:nvPr/>
        </p:nvSpPr>
        <p:spPr>
          <a:xfrm>
            <a:off x="2162175" y="6615113"/>
            <a:ext cx="3233261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分别优化 TTFT 与 Interactivity</a:t>
            </a:r>
          </a:p>
        </p:txBody>
      </p:sp>
      <p:sp>
        <p:nvSpPr>
          <p:cNvPr id="11" name="text-7">
            <a:extLst>
              <a:ext uri="{FF2B5EF4-FFF2-40B4-BE49-F238E27FC236}">
                <a16:creationId xmlns:a16="http://schemas.microsoft.com/office/drawing/2014/main" id="{A52CB3D3-C236-4AF6-A618-0FDD39D6839F}"/>
              </a:ext>
            </a:extLst>
          </p:cNvPr>
          <p:cNvSpPr>
            <a:spLocks noGrp="1"/>
          </p:cNvSpPr>
          <p:nvPr/>
        </p:nvSpPr>
        <p:spPr>
          <a:xfrm>
            <a:off x="7121462" y="5572125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12" name="text-8">
            <a:extLst>
              <a:ext uri="{FF2B5EF4-FFF2-40B4-BE49-F238E27FC236}">
                <a16:creationId xmlns:a16="http://schemas.microsoft.com/office/drawing/2014/main" id="{5AC23341-7DA3-4CA1-AA0C-F2AF81C2676B}"/>
              </a:ext>
            </a:extLst>
          </p:cNvPr>
          <p:cNvSpPr>
            <a:spLocks noGrp="1"/>
          </p:cNvSpPr>
          <p:nvPr/>
        </p:nvSpPr>
        <p:spPr>
          <a:xfrm>
            <a:off x="7121462" y="6029325"/>
            <a:ext cx="201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容量独立配置</a:t>
            </a:r>
          </a:p>
        </p:txBody>
      </p:sp>
      <p:sp>
        <p:nvSpPr>
          <p:cNvPr id="13" name="text-9">
            <a:extLst>
              <a:ext uri="{FF2B5EF4-FFF2-40B4-BE49-F238E27FC236}">
                <a16:creationId xmlns:a16="http://schemas.microsoft.com/office/drawing/2014/main" id="{E6C4C266-6579-4847-A485-E70E00C390AA}"/>
              </a:ext>
            </a:extLst>
          </p:cNvPr>
          <p:cNvSpPr>
            <a:spLocks noGrp="1"/>
          </p:cNvSpPr>
          <p:nvPr/>
        </p:nvSpPr>
        <p:spPr>
          <a:xfrm>
            <a:off x="7121462" y="6615113"/>
            <a:ext cx="3505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按不同业务的输入与输出配置资源</a:t>
            </a:r>
          </a:p>
        </p:txBody>
      </p:sp>
      <p:sp>
        <p:nvSpPr>
          <p:cNvPr id="14" name="text-10">
            <a:extLst>
              <a:ext uri="{FF2B5EF4-FFF2-40B4-BE49-F238E27FC236}">
                <a16:creationId xmlns:a16="http://schemas.microsoft.com/office/drawing/2014/main" id="{CF89CFEA-88DA-4507-BF17-5389CCDBA2D9}"/>
              </a:ext>
            </a:extLst>
          </p:cNvPr>
          <p:cNvSpPr>
            <a:spLocks noGrp="1"/>
          </p:cNvSpPr>
          <p:nvPr/>
        </p:nvSpPr>
        <p:spPr>
          <a:xfrm>
            <a:off x="12080843" y="5572125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03</a:t>
            </a:r>
          </a:p>
        </p:txBody>
      </p:sp>
      <p:sp>
        <p:nvSpPr>
          <p:cNvPr id="15" name="text-11">
            <a:extLst>
              <a:ext uri="{FF2B5EF4-FFF2-40B4-BE49-F238E27FC236}">
                <a16:creationId xmlns:a16="http://schemas.microsoft.com/office/drawing/2014/main" id="{9FECE7C5-C560-4C10-B36B-74D126AB854D}"/>
              </a:ext>
            </a:extLst>
          </p:cNvPr>
          <p:cNvSpPr>
            <a:spLocks noGrp="1"/>
          </p:cNvSpPr>
          <p:nvPr/>
        </p:nvSpPr>
        <p:spPr>
          <a:xfrm>
            <a:off x="12080843" y="6029325"/>
            <a:ext cx="2990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硬件与位置独立规划</a:t>
            </a:r>
          </a:p>
        </p:txBody>
      </p:sp>
      <p:sp>
        <p:nvSpPr>
          <p:cNvPr id="16" name="text-12">
            <a:extLst>
              <a:ext uri="{FF2B5EF4-FFF2-40B4-BE49-F238E27FC236}">
                <a16:creationId xmlns:a16="http://schemas.microsoft.com/office/drawing/2014/main" id="{CC10764A-4E4D-467B-9E79-81A63AE8E8A5}"/>
              </a:ext>
            </a:extLst>
          </p:cNvPr>
          <p:cNvSpPr>
            <a:spLocks noGrp="1"/>
          </p:cNvSpPr>
          <p:nvPr/>
        </p:nvSpPr>
        <p:spPr>
          <a:xfrm>
            <a:off x="12080843" y="6615113"/>
            <a:ext cx="3505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资源池不再受固定机型和共址约束</a:t>
            </a:r>
          </a:p>
        </p:txBody>
      </p:sp>
      <p:sp>
        <p:nvSpPr>
          <p:cNvPr id="17" name="text-13">
            <a:extLst>
              <a:ext uri="{FF2B5EF4-FFF2-40B4-BE49-F238E27FC236}">
                <a16:creationId xmlns:a16="http://schemas.microsoft.com/office/drawing/2014/main" id="{AA808B3C-3017-489E-9674-BB0331D7A30F}"/>
              </a:ext>
            </a:extLst>
          </p:cNvPr>
          <p:cNvSpPr>
            <a:spLocks noGrp="1"/>
          </p:cNvSpPr>
          <p:nvPr/>
        </p:nvSpPr>
        <p:spPr>
          <a:xfrm>
            <a:off x="4365022" y="9110663"/>
            <a:ext cx="961520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PD 分离不只是拆开计算，更让 Prefill 和 Decode 可以各自按需组织资源。</a:t>
            </a:r>
          </a:p>
        </p:txBody>
      </p:sp>
      <p:sp>
        <p:nvSpPr>
          <p:cNvPr id="18" name="text-14">
            <a:extLst>
              <a:ext uri="{FF2B5EF4-FFF2-40B4-BE49-F238E27FC236}">
                <a16:creationId xmlns:a16="http://schemas.microsoft.com/office/drawing/2014/main" id="{2921BE09-ADF1-4506-9CAC-BA9613256286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13 / 43</a:t>
            </a:r>
          </a:p>
        </p:txBody>
      </p:sp>
    </p:spTree>
    <p:extLst>
      <p:ext uri="{BB962C8B-B14F-4D97-AF65-F5344CB8AC3E}">
        <p14:creationId xmlns:p14="http://schemas.microsoft.com/office/powerpoint/2010/main" val="214265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html-shape-6">
            <a:extLst>
              <a:ext uri="{FF2B5EF4-FFF2-40B4-BE49-F238E27FC236}">
                <a16:creationId xmlns:a16="http://schemas.microsoft.com/office/drawing/2014/main" id="{067B00D1-AF15-4BC0-A0C3-9312B8531010}"/>
              </a:ext>
            </a:extLst>
          </p:cNvPr>
          <p:cNvSpPr>
            <a:spLocks noGrp="1"/>
          </p:cNvSpPr>
          <p:nvPr/>
        </p:nvSpPr>
        <p:spPr>
          <a:xfrm>
            <a:off x="1066800" y="7024688"/>
            <a:ext cx="7515225" cy="1166813"/>
          </a:xfrm>
          <a:prstGeom prst="rect">
            <a:avLst/>
          </a:prstGeom>
          <a:solidFill>
            <a:srgbClr val="F4F6FA"/>
          </a:solidFill>
          <a:ln w="0">
            <a:noFill/>
            <a:prstDash val="solid"/>
          </a:ln>
        </p:spPr>
      </p:sp>
      <p:sp>
        <p:nvSpPr>
          <p:cNvPr id="2" name="html-shape-16">
            <a:extLst>
              <a:ext uri="{FF2B5EF4-FFF2-40B4-BE49-F238E27FC236}">
                <a16:creationId xmlns:a16="http://schemas.microsoft.com/office/drawing/2014/main" id="{5723E9F5-5B80-40F1-9E4F-5A678421E1E4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3" name="html-line-1">
            <a:extLst>
              <a:ext uri="{FF2B5EF4-FFF2-40B4-BE49-F238E27FC236}">
                <a16:creationId xmlns:a16="http://schemas.microsoft.com/office/drawing/2014/main" id="{EEFC0BC4-E2E4-43D3-A03D-88DA1EEE24AA}"/>
              </a:ext>
            </a:extLst>
          </p:cNvPr>
          <p:cNvSpPr>
            <a:spLocks noGrp="1"/>
          </p:cNvSpPr>
          <p:nvPr/>
        </p:nvSpPr>
        <p:spPr>
          <a:xfrm>
            <a:off x="9144000" y="3190875"/>
            <a:ext cx="4763" cy="5191125"/>
          </a:xfrm>
          <a:prstGeom prst="line">
            <a:avLst/>
          </a:prstGeom>
          <a:noFill/>
          <a:ln w="19050">
            <a:solidFill>
              <a:srgbClr val="D9DFEB"/>
            </a:solidFill>
            <a:prstDash val="solid"/>
          </a:ln>
        </p:spPr>
      </p:sp>
      <p:sp>
        <p:nvSpPr>
          <p:cNvPr id="4" name="html-shape-1">
            <a:extLst>
              <a:ext uri="{FF2B5EF4-FFF2-40B4-BE49-F238E27FC236}">
                <a16:creationId xmlns:a16="http://schemas.microsoft.com/office/drawing/2014/main" id="{15242701-9DB6-486D-9929-2AAD037FD5EA}"/>
              </a:ext>
            </a:extLst>
          </p:cNvPr>
          <p:cNvSpPr>
            <a:spLocks noGrp="1"/>
          </p:cNvSpPr>
          <p:nvPr/>
        </p:nvSpPr>
        <p:spPr>
          <a:xfrm>
            <a:off x="1066800" y="5110163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5" name="html-shape-2">
            <a:extLst>
              <a:ext uri="{FF2B5EF4-FFF2-40B4-BE49-F238E27FC236}">
                <a16:creationId xmlns:a16="http://schemas.microsoft.com/office/drawing/2014/main" id="{BB6E5181-5336-42DA-9045-8C745C9C0B79}"/>
              </a:ext>
            </a:extLst>
          </p:cNvPr>
          <p:cNvSpPr>
            <a:spLocks noGrp="1"/>
          </p:cNvSpPr>
          <p:nvPr/>
        </p:nvSpPr>
        <p:spPr>
          <a:xfrm>
            <a:off x="1847850" y="5110163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6" name="html-shape-3">
            <a:extLst>
              <a:ext uri="{FF2B5EF4-FFF2-40B4-BE49-F238E27FC236}">
                <a16:creationId xmlns:a16="http://schemas.microsoft.com/office/drawing/2014/main" id="{39903BFF-C376-43B4-A10C-5B0448E8066F}"/>
              </a:ext>
            </a:extLst>
          </p:cNvPr>
          <p:cNvSpPr>
            <a:spLocks noGrp="1"/>
          </p:cNvSpPr>
          <p:nvPr/>
        </p:nvSpPr>
        <p:spPr>
          <a:xfrm>
            <a:off x="2628900" y="5110163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7" name="html-shape-4">
            <a:extLst>
              <a:ext uri="{FF2B5EF4-FFF2-40B4-BE49-F238E27FC236}">
                <a16:creationId xmlns:a16="http://schemas.microsoft.com/office/drawing/2014/main" id="{D5264B1D-8983-482E-BB8B-2410FE2AD1DA}"/>
              </a:ext>
            </a:extLst>
          </p:cNvPr>
          <p:cNvSpPr>
            <a:spLocks noGrp="1"/>
          </p:cNvSpPr>
          <p:nvPr/>
        </p:nvSpPr>
        <p:spPr>
          <a:xfrm>
            <a:off x="3409950" y="5110163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8" name="html-shape-5">
            <a:extLst>
              <a:ext uri="{FF2B5EF4-FFF2-40B4-BE49-F238E27FC236}">
                <a16:creationId xmlns:a16="http://schemas.microsoft.com/office/drawing/2014/main" id="{0C3A7C3D-124E-4C84-AF6B-3766CCDC23D9}"/>
              </a:ext>
            </a:extLst>
          </p:cNvPr>
          <p:cNvSpPr>
            <a:spLocks noGrp="1"/>
          </p:cNvSpPr>
          <p:nvPr/>
        </p:nvSpPr>
        <p:spPr>
          <a:xfrm>
            <a:off x="5915025" y="4643438"/>
            <a:ext cx="2667000" cy="161925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38100">
            <a:solidFill>
              <a:srgbClr val="AEB7C6"/>
            </a:solidFill>
            <a:prstDash val="solid"/>
          </a:ln>
        </p:spPr>
      </p:sp>
      <p:sp>
        <p:nvSpPr>
          <p:cNvPr id="9" name="border-7">
            <a:extLst>
              <a:ext uri="{FF2B5EF4-FFF2-40B4-BE49-F238E27FC236}">
                <a16:creationId xmlns:a16="http://schemas.microsoft.com/office/drawing/2014/main" id="{8793A061-18DF-4EC8-8163-98B568D19FBB}"/>
              </a:ext>
            </a:extLst>
          </p:cNvPr>
          <p:cNvSpPr>
            <a:spLocks noGrp="1"/>
          </p:cNvSpPr>
          <p:nvPr/>
        </p:nvSpPr>
        <p:spPr>
          <a:xfrm>
            <a:off x="1066800" y="7024688"/>
            <a:ext cx="76200" cy="1166813"/>
          </a:xfrm>
          <a:prstGeom prst="rect">
            <a:avLst/>
          </a:prstGeom>
          <a:solidFill>
            <a:srgbClr val="B7C0CE"/>
          </a:solidFill>
          <a:ln w="0">
            <a:noFill/>
            <a:prstDash val="solid"/>
          </a:ln>
        </p:spPr>
      </p:sp>
      <p:sp>
        <p:nvSpPr>
          <p:cNvPr id="10" name="html-shape-8">
            <a:extLst>
              <a:ext uri="{FF2B5EF4-FFF2-40B4-BE49-F238E27FC236}">
                <a16:creationId xmlns:a16="http://schemas.microsoft.com/office/drawing/2014/main" id="{1A68E3CE-2E51-4C0E-BD3E-0287FF116E78}"/>
              </a:ext>
            </a:extLst>
          </p:cNvPr>
          <p:cNvSpPr>
            <a:spLocks noGrp="1"/>
          </p:cNvSpPr>
          <p:nvPr/>
        </p:nvSpPr>
        <p:spPr>
          <a:xfrm>
            <a:off x="11229975" y="4867275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1" name="html-shape-9">
            <a:extLst>
              <a:ext uri="{FF2B5EF4-FFF2-40B4-BE49-F238E27FC236}">
                <a16:creationId xmlns:a16="http://schemas.microsoft.com/office/drawing/2014/main" id="{207EA3B2-69F1-488F-B38A-B5B255D7A6E1}"/>
              </a:ext>
            </a:extLst>
          </p:cNvPr>
          <p:cNvSpPr>
            <a:spLocks noGrp="1"/>
          </p:cNvSpPr>
          <p:nvPr/>
        </p:nvSpPr>
        <p:spPr>
          <a:xfrm>
            <a:off x="12039600" y="4867275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2" name="html-shape-10">
            <a:extLst>
              <a:ext uri="{FF2B5EF4-FFF2-40B4-BE49-F238E27FC236}">
                <a16:creationId xmlns:a16="http://schemas.microsoft.com/office/drawing/2014/main" id="{377272A3-7C64-4D2F-A4E6-907A89ABB434}"/>
              </a:ext>
            </a:extLst>
          </p:cNvPr>
          <p:cNvSpPr>
            <a:spLocks noGrp="1"/>
          </p:cNvSpPr>
          <p:nvPr/>
        </p:nvSpPr>
        <p:spPr>
          <a:xfrm>
            <a:off x="12849225" y="4867275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3" name="html-shape-11">
            <a:extLst>
              <a:ext uri="{FF2B5EF4-FFF2-40B4-BE49-F238E27FC236}">
                <a16:creationId xmlns:a16="http://schemas.microsoft.com/office/drawing/2014/main" id="{35F0E6B7-DCB8-4489-B477-6DBEEBECF1DF}"/>
              </a:ext>
            </a:extLst>
          </p:cNvPr>
          <p:cNvSpPr>
            <a:spLocks noGrp="1"/>
          </p:cNvSpPr>
          <p:nvPr/>
        </p:nvSpPr>
        <p:spPr>
          <a:xfrm>
            <a:off x="13896975" y="4587812"/>
            <a:ext cx="3324225" cy="1244822"/>
          </a:xfrm>
          <a:prstGeom prst="roundRect">
            <a:avLst>
              <a:gd name="adj" fmla="val 16834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14" name="html-shape-12">
            <a:extLst>
              <a:ext uri="{FF2B5EF4-FFF2-40B4-BE49-F238E27FC236}">
                <a16:creationId xmlns:a16="http://schemas.microsoft.com/office/drawing/2014/main" id="{C3B27FC0-A6D9-463C-8F96-1FE15D7FE4D2}"/>
              </a:ext>
            </a:extLst>
          </p:cNvPr>
          <p:cNvSpPr>
            <a:spLocks noGrp="1"/>
          </p:cNvSpPr>
          <p:nvPr/>
        </p:nvSpPr>
        <p:spPr>
          <a:xfrm>
            <a:off x="11229975" y="6819900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5" name="html-shape-13">
            <a:extLst>
              <a:ext uri="{FF2B5EF4-FFF2-40B4-BE49-F238E27FC236}">
                <a16:creationId xmlns:a16="http://schemas.microsoft.com/office/drawing/2014/main" id="{59B63D26-F6AA-4658-8E2C-62238CC073B8}"/>
              </a:ext>
            </a:extLst>
          </p:cNvPr>
          <p:cNvSpPr>
            <a:spLocks noGrp="1"/>
          </p:cNvSpPr>
          <p:nvPr/>
        </p:nvSpPr>
        <p:spPr>
          <a:xfrm>
            <a:off x="12039600" y="6819900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6" name="html-shape-14">
            <a:extLst>
              <a:ext uri="{FF2B5EF4-FFF2-40B4-BE49-F238E27FC236}">
                <a16:creationId xmlns:a16="http://schemas.microsoft.com/office/drawing/2014/main" id="{8E541EC7-A79E-4018-B1F8-C8D38A90955B}"/>
              </a:ext>
            </a:extLst>
          </p:cNvPr>
          <p:cNvSpPr>
            <a:spLocks noGrp="1"/>
          </p:cNvSpPr>
          <p:nvPr/>
        </p:nvSpPr>
        <p:spPr>
          <a:xfrm>
            <a:off x="12849225" y="6819900"/>
            <a:ext cx="685800" cy="685800"/>
          </a:xfrm>
          <a:prstGeom prst="roundRect">
            <a:avLst>
              <a:gd name="adj" fmla="val 18056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7" name="html-shape-15">
            <a:extLst>
              <a:ext uri="{FF2B5EF4-FFF2-40B4-BE49-F238E27FC236}">
                <a16:creationId xmlns:a16="http://schemas.microsoft.com/office/drawing/2014/main" id="{08762A1D-8C38-4935-B597-C6C165AC25E0}"/>
              </a:ext>
            </a:extLst>
          </p:cNvPr>
          <p:cNvSpPr>
            <a:spLocks noGrp="1"/>
          </p:cNvSpPr>
          <p:nvPr/>
        </p:nvSpPr>
        <p:spPr>
          <a:xfrm>
            <a:off x="13896975" y="6540437"/>
            <a:ext cx="3324225" cy="1244822"/>
          </a:xfrm>
          <a:prstGeom prst="roundRect">
            <a:avLst>
              <a:gd name="adj" fmla="val 16834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C71D2C1-C3AD-46BE-A26D-3A82CA7C4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3F608D6-922F-47EB-B2B1-BA175490F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20" name="text-1">
            <a:extLst>
              <a:ext uri="{FF2B5EF4-FFF2-40B4-BE49-F238E27FC236}">
                <a16:creationId xmlns:a16="http://schemas.microsoft.com/office/drawing/2014/main" id="{C0AA7459-CA22-497D-9041-643D3CC04C9F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21" name="text-2">
            <a:extLst>
              <a:ext uri="{FF2B5EF4-FFF2-40B4-BE49-F238E27FC236}">
                <a16:creationId xmlns:a16="http://schemas.microsoft.com/office/drawing/2014/main" id="{9A193CE1-8396-4F84-9009-EE8864E7FCE7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83530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第三章 · PD 分离的系统价值</a:t>
            </a:r>
          </a:p>
        </p:txBody>
      </p:sp>
      <p:sp>
        <p:nvSpPr>
          <p:cNvPr id="22" name="text-3">
            <a:extLst>
              <a:ext uri="{FF2B5EF4-FFF2-40B4-BE49-F238E27FC236}">
                <a16:creationId xmlns:a16="http://schemas.microsoft.com/office/drawing/2014/main" id="{786E92F4-9C6E-4719-81FF-BE76D3FD0CE5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9345359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723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P/D 分离让两类服务目标独立治理</a:t>
            </a:r>
          </a:p>
        </p:txBody>
      </p:sp>
      <p:sp>
        <p:nvSpPr>
          <p:cNvPr id="23" name="text-4">
            <a:extLst>
              <a:ext uri="{FF2B5EF4-FFF2-40B4-BE49-F238E27FC236}">
                <a16:creationId xmlns:a16="http://schemas.microsoft.com/office/drawing/2014/main" id="{279D1E99-D3F4-4CE9-8502-5419C4B4C511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8356283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两个阶段不再竞争同一套队列、batching 策略和设备资源。</a:t>
            </a:r>
          </a:p>
        </p:txBody>
      </p:sp>
      <p:sp>
        <p:nvSpPr>
          <p:cNvPr id="24" name="text-5">
            <a:extLst>
              <a:ext uri="{FF2B5EF4-FFF2-40B4-BE49-F238E27FC236}">
                <a16:creationId xmlns:a16="http://schemas.microsoft.com/office/drawing/2014/main" id="{29FA29BA-C762-40FB-B0EA-CB425271C469}"/>
              </a:ext>
            </a:extLst>
          </p:cNvPr>
          <p:cNvSpPr>
            <a:spLocks noGrp="1"/>
          </p:cNvSpPr>
          <p:nvPr/>
        </p:nvSpPr>
        <p:spPr>
          <a:xfrm>
            <a:off x="1057275" y="3152775"/>
            <a:ext cx="428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69748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69748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697486"/>
                </a:solidFill>
                <a:latin typeface="PingFang SC"/>
                <a:ea typeface="PingFang SC"/>
                <a:cs typeface="Arial"/>
              </a:rPr>
              <a:t>未分离：共享调度与执行资源</a:t>
            </a:r>
          </a:p>
        </p:txBody>
      </p:sp>
      <p:sp>
        <p:nvSpPr>
          <p:cNvPr id="25" name="text-6">
            <a:extLst>
              <a:ext uri="{FF2B5EF4-FFF2-40B4-BE49-F238E27FC236}">
                <a16:creationId xmlns:a16="http://schemas.microsoft.com/office/drawing/2014/main" id="{5A87E1D3-7912-41EC-A9C1-0C6744A3235F}"/>
              </a:ext>
            </a:extLst>
          </p:cNvPr>
          <p:cNvSpPr>
            <a:spLocks noGrp="1"/>
          </p:cNvSpPr>
          <p:nvPr/>
        </p:nvSpPr>
        <p:spPr>
          <a:xfrm>
            <a:off x="1057275" y="3738563"/>
            <a:ext cx="393201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两类 workload 在同一资源上相互影响</a:t>
            </a:r>
          </a:p>
        </p:txBody>
      </p:sp>
      <p:sp>
        <p:nvSpPr>
          <p:cNvPr id="26" name="text-7">
            <a:extLst>
              <a:ext uri="{FF2B5EF4-FFF2-40B4-BE49-F238E27FC236}">
                <a16:creationId xmlns:a16="http://schemas.microsoft.com/office/drawing/2014/main" id="{59FD6C1B-EE56-412E-9DA5-D5F9A9115D15}"/>
              </a:ext>
            </a:extLst>
          </p:cNvPr>
          <p:cNvSpPr>
            <a:spLocks noGrp="1"/>
          </p:cNvSpPr>
          <p:nvPr/>
        </p:nvSpPr>
        <p:spPr>
          <a:xfrm>
            <a:off x="1315974" y="5267325"/>
            <a:ext cx="24469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27" name="text-8">
            <a:extLst>
              <a:ext uri="{FF2B5EF4-FFF2-40B4-BE49-F238E27FC236}">
                <a16:creationId xmlns:a16="http://schemas.microsoft.com/office/drawing/2014/main" id="{8E62F1A1-2AAE-47CC-9608-D3BF5552E3AD}"/>
              </a:ext>
            </a:extLst>
          </p:cNvPr>
          <p:cNvSpPr>
            <a:spLocks noGrp="1"/>
          </p:cNvSpPr>
          <p:nvPr/>
        </p:nvSpPr>
        <p:spPr>
          <a:xfrm>
            <a:off x="2088547" y="5267325"/>
            <a:ext cx="2614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28" name="text-9">
            <a:extLst>
              <a:ext uri="{FF2B5EF4-FFF2-40B4-BE49-F238E27FC236}">
                <a16:creationId xmlns:a16="http://schemas.microsoft.com/office/drawing/2014/main" id="{CC93C608-FFAD-4C53-902F-A8B19CAAADFA}"/>
              </a:ext>
            </a:extLst>
          </p:cNvPr>
          <p:cNvSpPr>
            <a:spLocks noGrp="1"/>
          </p:cNvSpPr>
          <p:nvPr/>
        </p:nvSpPr>
        <p:spPr>
          <a:xfrm>
            <a:off x="2878074" y="5267325"/>
            <a:ext cx="24469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29" name="text-10">
            <a:extLst>
              <a:ext uri="{FF2B5EF4-FFF2-40B4-BE49-F238E27FC236}">
                <a16:creationId xmlns:a16="http://schemas.microsoft.com/office/drawing/2014/main" id="{ADD8D651-48B8-4BA0-A7DA-542F214DFDCF}"/>
              </a:ext>
            </a:extLst>
          </p:cNvPr>
          <p:cNvSpPr>
            <a:spLocks noGrp="1"/>
          </p:cNvSpPr>
          <p:nvPr/>
        </p:nvSpPr>
        <p:spPr>
          <a:xfrm>
            <a:off x="3650647" y="5267325"/>
            <a:ext cx="2614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30" name="text-11">
            <a:extLst>
              <a:ext uri="{FF2B5EF4-FFF2-40B4-BE49-F238E27FC236}">
                <a16:creationId xmlns:a16="http://schemas.microsoft.com/office/drawing/2014/main" id="{52257A66-1A26-4FDD-8FF0-28F966576C7E}"/>
              </a:ext>
            </a:extLst>
          </p:cNvPr>
          <p:cNvSpPr>
            <a:spLocks noGrp="1"/>
          </p:cNvSpPr>
          <p:nvPr/>
        </p:nvSpPr>
        <p:spPr>
          <a:xfrm>
            <a:off x="5086350" y="4976813"/>
            <a:ext cx="762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5400" b="0" i="0" noProof="1">
                <a:solidFill>
                  <a:srgbClr val="B4BDC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400" b="0" i="0" noProof="1">
                <a:solidFill>
                  <a:srgbClr val="B4BDC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400" b="0" i="0" noProof="1">
                <a:solidFill>
                  <a:srgbClr val="B4BDCB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31" name="text-12">
            <a:extLst>
              <a:ext uri="{FF2B5EF4-FFF2-40B4-BE49-F238E27FC236}">
                <a16:creationId xmlns:a16="http://schemas.microsoft.com/office/drawing/2014/main" id="{EA74E15E-6365-49D6-B4BA-F35AD9F223C1}"/>
              </a:ext>
            </a:extLst>
          </p:cNvPr>
          <p:cNvSpPr>
            <a:spLocks noGrp="1"/>
          </p:cNvSpPr>
          <p:nvPr/>
        </p:nvSpPr>
        <p:spPr>
          <a:xfrm>
            <a:off x="6126194" y="5015770"/>
            <a:ext cx="230181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Shared Device</a:t>
            </a:r>
          </a:p>
        </p:txBody>
      </p:sp>
      <p:sp>
        <p:nvSpPr>
          <p:cNvPr id="32" name="text-13">
            <a:extLst>
              <a:ext uri="{FF2B5EF4-FFF2-40B4-BE49-F238E27FC236}">
                <a16:creationId xmlns:a16="http://schemas.microsoft.com/office/drawing/2014/main" id="{B5A48B3F-BF8C-4528-9F1E-E93CC8FF6ACF}"/>
              </a:ext>
            </a:extLst>
          </p:cNvPr>
          <p:cNvSpPr>
            <a:spLocks noGrp="1"/>
          </p:cNvSpPr>
          <p:nvPr/>
        </p:nvSpPr>
        <p:spPr>
          <a:xfrm>
            <a:off x="6329934" y="5566315"/>
            <a:ext cx="189414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同一 batching 策略</a:t>
            </a:r>
          </a:p>
        </p:txBody>
      </p:sp>
      <p:sp>
        <p:nvSpPr>
          <p:cNvPr id="33" name="text-14">
            <a:extLst>
              <a:ext uri="{FF2B5EF4-FFF2-40B4-BE49-F238E27FC236}">
                <a16:creationId xmlns:a16="http://schemas.microsoft.com/office/drawing/2014/main" id="{7DBA5EF7-A632-4ED3-9C68-A96E2AD16558}"/>
              </a:ext>
            </a:extLst>
          </p:cNvPr>
          <p:cNvSpPr>
            <a:spLocks noGrp="1"/>
          </p:cNvSpPr>
          <p:nvPr/>
        </p:nvSpPr>
        <p:spPr>
          <a:xfrm>
            <a:off x="1419225" y="7261670"/>
            <a:ext cx="625344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 流量与 Decode 生成相互干扰，系统需要在 TTFT、</a:t>
            </a:r>
          </a:p>
        </p:txBody>
      </p:sp>
      <p:sp>
        <p:nvSpPr>
          <p:cNvPr id="34" name="text-15">
            <a:extLst>
              <a:ext uri="{FF2B5EF4-FFF2-40B4-BE49-F238E27FC236}">
                <a16:creationId xmlns:a16="http://schemas.microsoft.com/office/drawing/2014/main" id="{5F5093EB-556E-40CF-AFA9-7E68939E6ECC}"/>
              </a:ext>
            </a:extLst>
          </p:cNvPr>
          <p:cNvSpPr>
            <a:spLocks noGrp="1"/>
          </p:cNvSpPr>
          <p:nvPr/>
        </p:nvSpPr>
        <p:spPr>
          <a:xfrm>
            <a:off x="1419225" y="7606951"/>
            <a:ext cx="3817144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Interactivity 和吞吐之间全局折中。</a:t>
            </a:r>
          </a:p>
        </p:txBody>
      </p:sp>
      <p:sp>
        <p:nvSpPr>
          <p:cNvPr id="35" name="text-16">
            <a:extLst>
              <a:ext uri="{FF2B5EF4-FFF2-40B4-BE49-F238E27FC236}">
                <a16:creationId xmlns:a16="http://schemas.microsoft.com/office/drawing/2014/main" id="{E7644CF7-0F59-4607-8314-66F13C148F57}"/>
              </a:ext>
            </a:extLst>
          </p:cNvPr>
          <p:cNvSpPr>
            <a:spLocks noGrp="1"/>
          </p:cNvSpPr>
          <p:nvPr/>
        </p:nvSpPr>
        <p:spPr>
          <a:xfrm>
            <a:off x="9696450" y="3152775"/>
            <a:ext cx="3962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分离后：两条独立调度路径</a:t>
            </a:r>
          </a:p>
        </p:txBody>
      </p:sp>
      <p:sp>
        <p:nvSpPr>
          <p:cNvPr id="36" name="text-17">
            <a:extLst>
              <a:ext uri="{FF2B5EF4-FFF2-40B4-BE49-F238E27FC236}">
                <a16:creationId xmlns:a16="http://schemas.microsoft.com/office/drawing/2014/main" id="{A88362F8-65C6-492A-A94B-1BF33535E017}"/>
              </a:ext>
            </a:extLst>
          </p:cNvPr>
          <p:cNvSpPr>
            <a:spLocks noGrp="1"/>
          </p:cNvSpPr>
          <p:nvPr/>
        </p:nvSpPr>
        <p:spPr>
          <a:xfrm>
            <a:off x="9696450" y="3738563"/>
            <a:ext cx="3505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每个阶段围绕自己的服务目标优化</a:t>
            </a:r>
          </a:p>
        </p:txBody>
      </p:sp>
      <p:sp>
        <p:nvSpPr>
          <p:cNvPr id="37" name="text-18">
            <a:extLst>
              <a:ext uri="{FF2B5EF4-FFF2-40B4-BE49-F238E27FC236}">
                <a16:creationId xmlns:a16="http://schemas.microsoft.com/office/drawing/2014/main" id="{06D8601E-434D-460F-B92A-6344B4CD1D2B}"/>
              </a:ext>
            </a:extLst>
          </p:cNvPr>
          <p:cNvSpPr>
            <a:spLocks noGrp="1"/>
          </p:cNvSpPr>
          <p:nvPr/>
        </p:nvSpPr>
        <p:spPr>
          <a:xfrm>
            <a:off x="9696450" y="4983480"/>
            <a:ext cx="93287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38" name="text-19">
            <a:extLst>
              <a:ext uri="{FF2B5EF4-FFF2-40B4-BE49-F238E27FC236}">
                <a16:creationId xmlns:a16="http://schemas.microsoft.com/office/drawing/2014/main" id="{419C6BC7-41B4-4FB7-B5D4-EA349382FDA5}"/>
              </a:ext>
            </a:extLst>
          </p:cNvPr>
          <p:cNvSpPr>
            <a:spLocks noGrp="1"/>
          </p:cNvSpPr>
          <p:nvPr/>
        </p:nvSpPr>
        <p:spPr>
          <a:xfrm>
            <a:off x="11479149" y="5024438"/>
            <a:ext cx="24469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9" name="text-20">
            <a:extLst>
              <a:ext uri="{FF2B5EF4-FFF2-40B4-BE49-F238E27FC236}">
                <a16:creationId xmlns:a16="http://schemas.microsoft.com/office/drawing/2014/main" id="{D4E7FD8D-2511-43A4-9643-2A456C300110}"/>
              </a:ext>
            </a:extLst>
          </p:cNvPr>
          <p:cNvSpPr>
            <a:spLocks noGrp="1"/>
          </p:cNvSpPr>
          <p:nvPr/>
        </p:nvSpPr>
        <p:spPr>
          <a:xfrm>
            <a:off x="12288774" y="5024438"/>
            <a:ext cx="24469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40" name="text-21">
            <a:extLst>
              <a:ext uri="{FF2B5EF4-FFF2-40B4-BE49-F238E27FC236}">
                <a16:creationId xmlns:a16="http://schemas.microsoft.com/office/drawing/2014/main" id="{2CE2A24F-31E4-4C50-BB08-ED1A9B80F7D1}"/>
              </a:ext>
            </a:extLst>
          </p:cNvPr>
          <p:cNvSpPr>
            <a:spLocks noGrp="1"/>
          </p:cNvSpPr>
          <p:nvPr/>
        </p:nvSpPr>
        <p:spPr>
          <a:xfrm>
            <a:off x="13098399" y="5024438"/>
            <a:ext cx="24469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41" name="text-22">
            <a:extLst>
              <a:ext uri="{FF2B5EF4-FFF2-40B4-BE49-F238E27FC236}">
                <a16:creationId xmlns:a16="http://schemas.microsoft.com/office/drawing/2014/main" id="{9C0BE541-96FE-4065-A13A-F2CC4F302E83}"/>
              </a:ext>
            </a:extLst>
          </p:cNvPr>
          <p:cNvSpPr>
            <a:spLocks noGrp="1"/>
          </p:cNvSpPr>
          <p:nvPr/>
        </p:nvSpPr>
        <p:spPr>
          <a:xfrm>
            <a:off x="14173200" y="4806887"/>
            <a:ext cx="2428304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Input TPS · TTFT</a:t>
            </a:r>
          </a:p>
        </p:txBody>
      </p:sp>
      <p:sp>
        <p:nvSpPr>
          <p:cNvPr id="42" name="text-23">
            <a:extLst>
              <a:ext uri="{FF2B5EF4-FFF2-40B4-BE49-F238E27FC236}">
                <a16:creationId xmlns:a16="http://schemas.microsoft.com/office/drawing/2014/main" id="{E32ACA56-8996-4733-ACE6-382DD999CDAE}"/>
              </a:ext>
            </a:extLst>
          </p:cNvPr>
          <p:cNvSpPr>
            <a:spLocks noGrp="1"/>
          </p:cNvSpPr>
          <p:nvPr/>
        </p:nvSpPr>
        <p:spPr>
          <a:xfrm>
            <a:off x="14173200" y="5292662"/>
            <a:ext cx="266252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独立 batching、限流与扩容</a:t>
            </a:r>
          </a:p>
        </p:txBody>
      </p:sp>
      <p:sp>
        <p:nvSpPr>
          <p:cNvPr id="43" name="text-24">
            <a:extLst>
              <a:ext uri="{FF2B5EF4-FFF2-40B4-BE49-F238E27FC236}">
                <a16:creationId xmlns:a16="http://schemas.microsoft.com/office/drawing/2014/main" id="{8747B682-BEEC-4421-A8C7-00AF5CA1AF46}"/>
              </a:ext>
            </a:extLst>
          </p:cNvPr>
          <p:cNvSpPr>
            <a:spLocks noGrp="1"/>
          </p:cNvSpPr>
          <p:nvPr/>
        </p:nvSpPr>
        <p:spPr>
          <a:xfrm>
            <a:off x="9696450" y="6936105"/>
            <a:ext cx="121329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44" name="text-25">
            <a:extLst>
              <a:ext uri="{FF2B5EF4-FFF2-40B4-BE49-F238E27FC236}">
                <a16:creationId xmlns:a16="http://schemas.microsoft.com/office/drawing/2014/main" id="{77654260-125C-4AE4-81C0-31938802AD70}"/>
              </a:ext>
            </a:extLst>
          </p:cNvPr>
          <p:cNvSpPr>
            <a:spLocks noGrp="1"/>
          </p:cNvSpPr>
          <p:nvPr/>
        </p:nvSpPr>
        <p:spPr>
          <a:xfrm>
            <a:off x="11470672" y="6977063"/>
            <a:ext cx="2614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5" name="text-26">
            <a:extLst>
              <a:ext uri="{FF2B5EF4-FFF2-40B4-BE49-F238E27FC236}">
                <a16:creationId xmlns:a16="http://schemas.microsoft.com/office/drawing/2014/main" id="{CD07634B-8D76-4407-916A-B2063BFC0F26}"/>
              </a:ext>
            </a:extLst>
          </p:cNvPr>
          <p:cNvSpPr>
            <a:spLocks noGrp="1"/>
          </p:cNvSpPr>
          <p:nvPr/>
        </p:nvSpPr>
        <p:spPr>
          <a:xfrm>
            <a:off x="12280297" y="6977063"/>
            <a:ext cx="2614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6" name="text-27">
            <a:extLst>
              <a:ext uri="{FF2B5EF4-FFF2-40B4-BE49-F238E27FC236}">
                <a16:creationId xmlns:a16="http://schemas.microsoft.com/office/drawing/2014/main" id="{E1FB81B5-1002-42C7-A22F-22D9A8DC5EB5}"/>
              </a:ext>
            </a:extLst>
          </p:cNvPr>
          <p:cNvSpPr>
            <a:spLocks noGrp="1"/>
          </p:cNvSpPr>
          <p:nvPr/>
        </p:nvSpPr>
        <p:spPr>
          <a:xfrm>
            <a:off x="13089922" y="6977063"/>
            <a:ext cx="2614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7" name="text-28">
            <a:extLst>
              <a:ext uri="{FF2B5EF4-FFF2-40B4-BE49-F238E27FC236}">
                <a16:creationId xmlns:a16="http://schemas.microsoft.com/office/drawing/2014/main" id="{3CDF38AD-BA75-444A-9753-0DBC36C7A02F}"/>
              </a:ext>
            </a:extLst>
          </p:cNvPr>
          <p:cNvSpPr>
            <a:spLocks noGrp="1"/>
          </p:cNvSpPr>
          <p:nvPr/>
        </p:nvSpPr>
        <p:spPr>
          <a:xfrm>
            <a:off x="14173200" y="6759512"/>
            <a:ext cx="167078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Interactivity</a:t>
            </a:r>
          </a:p>
        </p:txBody>
      </p:sp>
      <p:sp>
        <p:nvSpPr>
          <p:cNvPr id="48" name="text-29">
            <a:extLst>
              <a:ext uri="{FF2B5EF4-FFF2-40B4-BE49-F238E27FC236}">
                <a16:creationId xmlns:a16="http://schemas.microsoft.com/office/drawing/2014/main" id="{2D2A5C82-7EA6-4652-8E1C-83DEE329701E}"/>
              </a:ext>
            </a:extLst>
          </p:cNvPr>
          <p:cNvSpPr>
            <a:spLocks noGrp="1"/>
          </p:cNvSpPr>
          <p:nvPr/>
        </p:nvSpPr>
        <p:spPr>
          <a:xfrm>
            <a:off x="14173200" y="7245287"/>
            <a:ext cx="266252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独立 batching、并发与扩容</a:t>
            </a:r>
          </a:p>
        </p:txBody>
      </p:sp>
      <p:sp>
        <p:nvSpPr>
          <p:cNvPr id="49" name="text-30">
            <a:extLst>
              <a:ext uri="{FF2B5EF4-FFF2-40B4-BE49-F238E27FC236}">
                <a16:creationId xmlns:a16="http://schemas.microsoft.com/office/drawing/2014/main" id="{F2AAE7BC-0431-4A3D-834B-9C38230A9D97}"/>
              </a:ext>
            </a:extLst>
          </p:cNvPr>
          <p:cNvSpPr>
            <a:spLocks noGrp="1"/>
          </p:cNvSpPr>
          <p:nvPr/>
        </p:nvSpPr>
        <p:spPr>
          <a:xfrm>
            <a:off x="3857149" y="9067800"/>
            <a:ext cx="5487257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PD 分离把“一个全局折中”，变成两套可以</a:t>
            </a:r>
          </a:p>
        </p:txBody>
      </p:sp>
      <p:sp>
        <p:nvSpPr>
          <p:cNvPr id="50" name="text-31">
            <a:extLst>
              <a:ext uri="{FF2B5EF4-FFF2-40B4-BE49-F238E27FC236}">
                <a16:creationId xmlns:a16="http://schemas.microsoft.com/office/drawing/2014/main" id="{E3B3ECD0-5A98-4076-B21F-E4BB319FF9F9}"/>
              </a:ext>
            </a:extLst>
          </p:cNvPr>
          <p:cNvSpPr>
            <a:spLocks noGrp="1"/>
          </p:cNvSpPr>
          <p:nvPr/>
        </p:nvSpPr>
        <p:spPr>
          <a:xfrm>
            <a:off x="9268301" y="9067800"/>
            <a:ext cx="4076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分别调度、分别扩容、分别优化</a:t>
            </a:r>
          </a:p>
        </p:txBody>
      </p:sp>
      <p:sp>
        <p:nvSpPr>
          <p:cNvPr id="51" name="text-32">
            <a:extLst>
              <a:ext uri="{FF2B5EF4-FFF2-40B4-BE49-F238E27FC236}">
                <a16:creationId xmlns:a16="http://schemas.microsoft.com/office/drawing/2014/main" id="{56AE0F29-BC36-4348-839E-FBCB9B3D4C85}"/>
              </a:ext>
            </a:extLst>
          </p:cNvPr>
          <p:cNvSpPr>
            <a:spLocks noGrp="1"/>
          </p:cNvSpPr>
          <p:nvPr/>
        </p:nvSpPr>
        <p:spPr>
          <a:xfrm>
            <a:off x="13268801" y="9067800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的目标。</a:t>
            </a:r>
          </a:p>
        </p:txBody>
      </p:sp>
      <p:sp>
        <p:nvSpPr>
          <p:cNvPr id="52" name="text-33">
            <a:extLst>
              <a:ext uri="{FF2B5EF4-FFF2-40B4-BE49-F238E27FC236}">
                <a16:creationId xmlns:a16="http://schemas.microsoft.com/office/drawing/2014/main" id="{4386B7DF-D07A-4F0E-8894-DF11897C92A6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14 / 43</a:t>
            </a:r>
          </a:p>
        </p:txBody>
      </p:sp>
    </p:spTree>
    <p:extLst>
      <p:ext uri="{BB962C8B-B14F-4D97-AF65-F5344CB8AC3E}">
        <p14:creationId xmlns:p14="http://schemas.microsoft.com/office/powerpoint/2010/main" val="491742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html-shape-1">
            <a:extLst>
              <a:ext uri="{FF2B5EF4-FFF2-40B4-BE49-F238E27FC236}">
                <a16:creationId xmlns:a16="http://schemas.microsoft.com/office/drawing/2014/main" id="{4607D352-BEBC-490E-B3E9-D147F6CC8183}"/>
              </a:ext>
            </a:extLst>
          </p:cNvPr>
          <p:cNvSpPr>
            <a:spLocks noGrp="1"/>
          </p:cNvSpPr>
          <p:nvPr/>
        </p:nvSpPr>
        <p:spPr>
          <a:xfrm>
            <a:off x="1143000" y="3333750"/>
            <a:ext cx="1600200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" name="html-shape-3">
            <a:extLst>
              <a:ext uri="{FF2B5EF4-FFF2-40B4-BE49-F238E27FC236}">
                <a16:creationId xmlns:a16="http://schemas.microsoft.com/office/drawing/2014/main" id="{9E9E65B4-0F58-4DBD-99AD-6436C0D25095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16002000" cy="14668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html-shape-13">
            <a:extLst>
              <a:ext uri="{FF2B5EF4-FFF2-40B4-BE49-F238E27FC236}">
                <a16:creationId xmlns:a16="http://schemas.microsoft.com/office/drawing/2014/main" id="{C8FE2022-D47F-40DD-8611-F04DAD77B4DE}"/>
              </a:ext>
            </a:extLst>
          </p:cNvPr>
          <p:cNvSpPr>
            <a:spLocks noGrp="1"/>
          </p:cNvSpPr>
          <p:nvPr/>
        </p:nvSpPr>
        <p:spPr>
          <a:xfrm>
            <a:off x="1143000" y="5372100"/>
            <a:ext cx="16002000" cy="14668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html-shape-23">
            <a:extLst>
              <a:ext uri="{FF2B5EF4-FFF2-40B4-BE49-F238E27FC236}">
                <a16:creationId xmlns:a16="http://schemas.microsoft.com/office/drawing/2014/main" id="{7E695B28-0B14-46F4-9A73-6C31E8EB84F1}"/>
              </a:ext>
            </a:extLst>
          </p:cNvPr>
          <p:cNvSpPr>
            <a:spLocks noGrp="1"/>
          </p:cNvSpPr>
          <p:nvPr/>
        </p:nvSpPr>
        <p:spPr>
          <a:xfrm>
            <a:off x="1143000" y="6838950"/>
            <a:ext cx="16002000" cy="14668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" name="html-shape-33">
            <a:extLst>
              <a:ext uri="{FF2B5EF4-FFF2-40B4-BE49-F238E27FC236}">
                <a16:creationId xmlns:a16="http://schemas.microsoft.com/office/drawing/2014/main" id="{246C2708-873C-4BD2-9235-BBE0606A3BC1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6" name="border-2">
            <a:extLst>
              <a:ext uri="{FF2B5EF4-FFF2-40B4-BE49-F238E27FC236}">
                <a16:creationId xmlns:a16="http://schemas.microsoft.com/office/drawing/2014/main" id="{B485B2AC-811E-472B-83C6-28D1C1CDD278}"/>
              </a:ext>
            </a:extLst>
          </p:cNvPr>
          <p:cNvSpPr>
            <a:spLocks noGrp="1"/>
          </p:cNvSpPr>
          <p:nvPr/>
        </p:nvSpPr>
        <p:spPr>
          <a:xfrm>
            <a:off x="1143000" y="3886200"/>
            <a:ext cx="16002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7" name="border-4">
            <a:extLst>
              <a:ext uri="{FF2B5EF4-FFF2-40B4-BE49-F238E27FC236}">
                <a16:creationId xmlns:a16="http://schemas.microsoft.com/office/drawing/2014/main" id="{7072BCB1-42FB-49C9-998C-58B5A1624148}"/>
              </a:ext>
            </a:extLst>
          </p:cNvPr>
          <p:cNvSpPr>
            <a:spLocks noGrp="1"/>
          </p:cNvSpPr>
          <p:nvPr/>
        </p:nvSpPr>
        <p:spPr>
          <a:xfrm>
            <a:off x="1143000" y="5353050"/>
            <a:ext cx="16002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8" name="html-shape-5">
            <a:extLst>
              <a:ext uri="{FF2B5EF4-FFF2-40B4-BE49-F238E27FC236}">
                <a16:creationId xmlns:a16="http://schemas.microsoft.com/office/drawing/2014/main" id="{509AF758-782F-43CF-8D22-D2D280217548}"/>
              </a:ext>
            </a:extLst>
          </p:cNvPr>
          <p:cNvSpPr>
            <a:spLocks noGrp="1"/>
          </p:cNvSpPr>
          <p:nvPr/>
        </p:nvSpPr>
        <p:spPr>
          <a:xfrm>
            <a:off x="4857750" y="4338638"/>
            <a:ext cx="2714625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9" name="html-shape-6">
            <a:extLst>
              <a:ext uri="{FF2B5EF4-FFF2-40B4-BE49-F238E27FC236}">
                <a16:creationId xmlns:a16="http://schemas.microsoft.com/office/drawing/2014/main" id="{9F458398-E8FF-4746-8773-B8FEBE4B44FC}"/>
              </a:ext>
            </a:extLst>
          </p:cNvPr>
          <p:cNvSpPr>
            <a:spLocks noGrp="1"/>
          </p:cNvSpPr>
          <p:nvPr/>
        </p:nvSpPr>
        <p:spPr>
          <a:xfrm>
            <a:off x="4857750" y="4338638"/>
            <a:ext cx="597122" cy="171450"/>
          </a:xfrm>
          <a:prstGeom prst="roundRect">
            <a:avLst>
              <a:gd name="adj" fmla="val 50000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0" name="html-shape-7">
            <a:extLst>
              <a:ext uri="{FF2B5EF4-FFF2-40B4-BE49-F238E27FC236}">
                <a16:creationId xmlns:a16="http://schemas.microsoft.com/office/drawing/2014/main" id="{C7F85E30-F155-4771-90E5-AFD02AB56BCF}"/>
              </a:ext>
            </a:extLst>
          </p:cNvPr>
          <p:cNvSpPr>
            <a:spLocks noGrp="1"/>
          </p:cNvSpPr>
          <p:nvPr/>
        </p:nvSpPr>
        <p:spPr>
          <a:xfrm>
            <a:off x="4857750" y="4748213"/>
            <a:ext cx="2714625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11" name="html-shape-8">
            <a:extLst>
              <a:ext uri="{FF2B5EF4-FFF2-40B4-BE49-F238E27FC236}">
                <a16:creationId xmlns:a16="http://schemas.microsoft.com/office/drawing/2014/main" id="{2AC84E04-6140-4F87-9E4C-FD0D03FCF0D6}"/>
              </a:ext>
            </a:extLst>
          </p:cNvPr>
          <p:cNvSpPr>
            <a:spLocks noGrp="1"/>
          </p:cNvSpPr>
          <p:nvPr/>
        </p:nvSpPr>
        <p:spPr>
          <a:xfrm>
            <a:off x="4857750" y="4748213"/>
            <a:ext cx="1574483" cy="171450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2" name="html-shape-9">
            <a:extLst>
              <a:ext uri="{FF2B5EF4-FFF2-40B4-BE49-F238E27FC236}">
                <a16:creationId xmlns:a16="http://schemas.microsoft.com/office/drawing/2014/main" id="{0351F6D0-F029-4A31-B4FF-065312A229D4}"/>
              </a:ext>
            </a:extLst>
          </p:cNvPr>
          <p:cNvSpPr>
            <a:spLocks noGrp="1"/>
          </p:cNvSpPr>
          <p:nvPr/>
        </p:nvSpPr>
        <p:spPr>
          <a:xfrm>
            <a:off x="8620125" y="4543425"/>
            <a:ext cx="3581400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13" name="html-shape-10">
            <a:extLst>
              <a:ext uri="{FF2B5EF4-FFF2-40B4-BE49-F238E27FC236}">
                <a16:creationId xmlns:a16="http://schemas.microsoft.com/office/drawing/2014/main" id="{41F99071-1E91-43F1-8512-3703E1240A30}"/>
              </a:ext>
            </a:extLst>
          </p:cNvPr>
          <p:cNvSpPr>
            <a:spLocks noGrp="1"/>
          </p:cNvSpPr>
          <p:nvPr/>
        </p:nvSpPr>
        <p:spPr>
          <a:xfrm>
            <a:off x="8620125" y="4543425"/>
            <a:ext cx="1002697" cy="171450"/>
          </a:xfrm>
          <a:prstGeom prst="roundRect">
            <a:avLst>
              <a:gd name="adj" fmla="val 50000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4" name="html-shape-11">
            <a:extLst>
              <a:ext uri="{FF2B5EF4-FFF2-40B4-BE49-F238E27FC236}">
                <a16:creationId xmlns:a16="http://schemas.microsoft.com/office/drawing/2014/main" id="{5FD17463-BF31-4A76-BCD9-82DCEAD62B72}"/>
              </a:ext>
            </a:extLst>
          </p:cNvPr>
          <p:cNvSpPr>
            <a:spLocks noGrp="1"/>
          </p:cNvSpPr>
          <p:nvPr/>
        </p:nvSpPr>
        <p:spPr>
          <a:xfrm>
            <a:off x="13144500" y="4543425"/>
            <a:ext cx="3581400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15" name="html-shape-12">
            <a:extLst>
              <a:ext uri="{FF2B5EF4-FFF2-40B4-BE49-F238E27FC236}">
                <a16:creationId xmlns:a16="http://schemas.microsoft.com/office/drawing/2014/main" id="{9AD3B6D9-42DE-409B-B076-FA71EA370695}"/>
              </a:ext>
            </a:extLst>
          </p:cNvPr>
          <p:cNvSpPr>
            <a:spLocks noGrp="1"/>
          </p:cNvSpPr>
          <p:nvPr/>
        </p:nvSpPr>
        <p:spPr>
          <a:xfrm>
            <a:off x="13144500" y="4543425"/>
            <a:ext cx="2077212" cy="171450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6" name="border-14">
            <a:extLst>
              <a:ext uri="{FF2B5EF4-FFF2-40B4-BE49-F238E27FC236}">
                <a16:creationId xmlns:a16="http://schemas.microsoft.com/office/drawing/2014/main" id="{5277F4D1-B80C-480D-83B4-6AE88F13355F}"/>
              </a:ext>
            </a:extLst>
          </p:cNvPr>
          <p:cNvSpPr>
            <a:spLocks noGrp="1"/>
          </p:cNvSpPr>
          <p:nvPr/>
        </p:nvSpPr>
        <p:spPr>
          <a:xfrm>
            <a:off x="1143000" y="6819900"/>
            <a:ext cx="16002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7" name="html-shape-15">
            <a:extLst>
              <a:ext uri="{FF2B5EF4-FFF2-40B4-BE49-F238E27FC236}">
                <a16:creationId xmlns:a16="http://schemas.microsoft.com/office/drawing/2014/main" id="{FF2EA2B7-336A-4079-AE4C-60D9B5866686}"/>
              </a:ext>
            </a:extLst>
          </p:cNvPr>
          <p:cNvSpPr>
            <a:spLocks noGrp="1"/>
          </p:cNvSpPr>
          <p:nvPr/>
        </p:nvSpPr>
        <p:spPr>
          <a:xfrm>
            <a:off x="4857750" y="5805488"/>
            <a:ext cx="2714625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18" name="html-shape-16">
            <a:extLst>
              <a:ext uri="{FF2B5EF4-FFF2-40B4-BE49-F238E27FC236}">
                <a16:creationId xmlns:a16="http://schemas.microsoft.com/office/drawing/2014/main" id="{C8A1A668-0C57-4F1E-85F1-29197829D3ED}"/>
              </a:ext>
            </a:extLst>
          </p:cNvPr>
          <p:cNvSpPr>
            <a:spLocks noGrp="1"/>
          </p:cNvSpPr>
          <p:nvPr/>
        </p:nvSpPr>
        <p:spPr>
          <a:xfrm>
            <a:off x="4857750" y="5805488"/>
            <a:ext cx="434245" cy="171450"/>
          </a:xfrm>
          <a:prstGeom prst="roundRect">
            <a:avLst>
              <a:gd name="adj" fmla="val 50000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9" name="html-shape-17">
            <a:extLst>
              <a:ext uri="{FF2B5EF4-FFF2-40B4-BE49-F238E27FC236}">
                <a16:creationId xmlns:a16="http://schemas.microsoft.com/office/drawing/2014/main" id="{37F100B2-43D7-42F3-B1B4-C66B7062AA20}"/>
              </a:ext>
            </a:extLst>
          </p:cNvPr>
          <p:cNvSpPr>
            <a:spLocks noGrp="1"/>
          </p:cNvSpPr>
          <p:nvPr/>
        </p:nvSpPr>
        <p:spPr>
          <a:xfrm>
            <a:off x="4857750" y="6215063"/>
            <a:ext cx="2714625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20" name="html-shape-18">
            <a:extLst>
              <a:ext uri="{FF2B5EF4-FFF2-40B4-BE49-F238E27FC236}">
                <a16:creationId xmlns:a16="http://schemas.microsoft.com/office/drawing/2014/main" id="{DE575064-F186-4A4A-B3AF-AEF4A6F95067}"/>
              </a:ext>
            </a:extLst>
          </p:cNvPr>
          <p:cNvSpPr>
            <a:spLocks noGrp="1"/>
          </p:cNvSpPr>
          <p:nvPr/>
        </p:nvSpPr>
        <p:spPr>
          <a:xfrm>
            <a:off x="4857750" y="6215063"/>
            <a:ext cx="2443163" cy="171450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1" name="html-shape-19">
            <a:extLst>
              <a:ext uri="{FF2B5EF4-FFF2-40B4-BE49-F238E27FC236}">
                <a16:creationId xmlns:a16="http://schemas.microsoft.com/office/drawing/2014/main" id="{0A752CD0-2D44-4F2E-BEE0-145A9FA7980D}"/>
              </a:ext>
            </a:extLst>
          </p:cNvPr>
          <p:cNvSpPr>
            <a:spLocks noGrp="1"/>
          </p:cNvSpPr>
          <p:nvPr/>
        </p:nvSpPr>
        <p:spPr>
          <a:xfrm>
            <a:off x="8620125" y="6010275"/>
            <a:ext cx="3581400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22" name="html-shape-20">
            <a:extLst>
              <a:ext uri="{FF2B5EF4-FFF2-40B4-BE49-F238E27FC236}">
                <a16:creationId xmlns:a16="http://schemas.microsoft.com/office/drawing/2014/main" id="{084B50AD-3379-4582-85D5-64B0D5D70961}"/>
              </a:ext>
            </a:extLst>
          </p:cNvPr>
          <p:cNvSpPr>
            <a:spLocks noGrp="1"/>
          </p:cNvSpPr>
          <p:nvPr/>
        </p:nvSpPr>
        <p:spPr>
          <a:xfrm>
            <a:off x="8620125" y="6010275"/>
            <a:ext cx="1217581" cy="171450"/>
          </a:xfrm>
          <a:prstGeom prst="roundRect">
            <a:avLst>
              <a:gd name="adj" fmla="val 50000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23" name="html-shape-21">
            <a:extLst>
              <a:ext uri="{FF2B5EF4-FFF2-40B4-BE49-F238E27FC236}">
                <a16:creationId xmlns:a16="http://schemas.microsoft.com/office/drawing/2014/main" id="{2C043C03-7C65-434C-BF56-9D4D865C7289}"/>
              </a:ext>
            </a:extLst>
          </p:cNvPr>
          <p:cNvSpPr>
            <a:spLocks noGrp="1"/>
          </p:cNvSpPr>
          <p:nvPr/>
        </p:nvSpPr>
        <p:spPr>
          <a:xfrm>
            <a:off x="13144500" y="6010275"/>
            <a:ext cx="3581400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24" name="html-shape-22">
            <a:extLst>
              <a:ext uri="{FF2B5EF4-FFF2-40B4-BE49-F238E27FC236}">
                <a16:creationId xmlns:a16="http://schemas.microsoft.com/office/drawing/2014/main" id="{12FEDA64-A1AC-4FF7-9278-515E473A8601}"/>
              </a:ext>
            </a:extLst>
          </p:cNvPr>
          <p:cNvSpPr>
            <a:spLocks noGrp="1"/>
          </p:cNvSpPr>
          <p:nvPr/>
        </p:nvSpPr>
        <p:spPr>
          <a:xfrm>
            <a:off x="13144500" y="6010275"/>
            <a:ext cx="3294793" cy="171450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5" name="border-24">
            <a:extLst>
              <a:ext uri="{FF2B5EF4-FFF2-40B4-BE49-F238E27FC236}">
                <a16:creationId xmlns:a16="http://schemas.microsoft.com/office/drawing/2014/main" id="{09B29877-4274-46C1-9A10-7FE686479396}"/>
              </a:ext>
            </a:extLst>
          </p:cNvPr>
          <p:cNvSpPr>
            <a:spLocks noGrp="1"/>
          </p:cNvSpPr>
          <p:nvPr/>
        </p:nvSpPr>
        <p:spPr>
          <a:xfrm>
            <a:off x="1143000" y="8286750"/>
            <a:ext cx="16002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6" name="html-shape-25">
            <a:extLst>
              <a:ext uri="{FF2B5EF4-FFF2-40B4-BE49-F238E27FC236}">
                <a16:creationId xmlns:a16="http://schemas.microsoft.com/office/drawing/2014/main" id="{A61C2C8F-723D-4233-B457-7D9D5799F6A2}"/>
              </a:ext>
            </a:extLst>
          </p:cNvPr>
          <p:cNvSpPr>
            <a:spLocks noGrp="1"/>
          </p:cNvSpPr>
          <p:nvPr/>
        </p:nvSpPr>
        <p:spPr>
          <a:xfrm>
            <a:off x="4857750" y="7272338"/>
            <a:ext cx="2714625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27" name="html-shape-26">
            <a:extLst>
              <a:ext uri="{FF2B5EF4-FFF2-40B4-BE49-F238E27FC236}">
                <a16:creationId xmlns:a16="http://schemas.microsoft.com/office/drawing/2014/main" id="{35A7FC8E-FA87-4178-B222-420F7B1107AC}"/>
              </a:ext>
            </a:extLst>
          </p:cNvPr>
          <p:cNvSpPr>
            <a:spLocks noGrp="1"/>
          </p:cNvSpPr>
          <p:nvPr/>
        </p:nvSpPr>
        <p:spPr>
          <a:xfrm>
            <a:off x="4857750" y="7272338"/>
            <a:ext cx="2497360" cy="171450"/>
          </a:xfrm>
          <a:prstGeom prst="roundRect">
            <a:avLst>
              <a:gd name="adj" fmla="val 50000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28" name="html-shape-27">
            <a:extLst>
              <a:ext uri="{FF2B5EF4-FFF2-40B4-BE49-F238E27FC236}">
                <a16:creationId xmlns:a16="http://schemas.microsoft.com/office/drawing/2014/main" id="{8234B07F-1825-4117-A525-B2DDEE74A303}"/>
              </a:ext>
            </a:extLst>
          </p:cNvPr>
          <p:cNvSpPr>
            <a:spLocks noGrp="1"/>
          </p:cNvSpPr>
          <p:nvPr/>
        </p:nvSpPr>
        <p:spPr>
          <a:xfrm>
            <a:off x="4857750" y="7681913"/>
            <a:ext cx="2714625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29" name="html-shape-28">
            <a:extLst>
              <a:ext uri="{FF2B5EF4-FFF2-40B4-BE49-F238E27FC236}">
                <a16:creationId xmlns:a16="http://schemas.microsoft.com/office/drawing/2014/main" id="{79F7CCAD-10A0-4CA5-BAE5-EA2FBF7EE3BD}"/>
              </a:ext>
            </a:extLst>
          </p:cNvPr>
          <p:cNvSpPr>
            <a:spLocks noGrp="1"/>
          </p:cNvSpPr>
          <p:nvPr/>
        </p:nvSpPr>
        <p:spPr>
          <a:xfrm>
            <a:off x="4857750" y="7681913"/>
            <a:ext cx="814388" cy="171450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0" name="html-shape-29">
            <a:extLst>
              <a:ext uri="{FF2B5EF4-FFF2-40B4-BE49-F238E27FC236}">
                <a16:creationId xmlns:a16="http://schemas.microsoft.com/office/drawing/2014/main" id="{E4D5D028-6418-46A8-9D09-8AE261FD607B}"/>
              </a:ext>
            </a:extLst>
          </p:cNvPr>
          <p:cNvSpPr>
            <a:spLocks noGrp="1"/>
          </p:cNvSpPr>
          <p:nvPr/>
        </p:nvSpPr>
        <p:spPr>
          <a:xfrm>
            <a:off x="8620125" y="7477125"/>
            <a:ext cx="3581400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31" name="html-shape-30">
            <a:extLst>
              <a:ext uri="{FF2B5EF4-FFF2-40B4-BE49-F238E27FC236}">
                <a16:creationId xmlns:a16="http://schemas.microsoft.com/office/drawing/2014/main" id="{88D7DB55-50D6-431B-B556-7A075B37D3F9}"/>
              </a:ext>
            </a:extLst>
          </p:cNvPr>
          <p:cNvSpPr>
            <a:spLocks noGrp="1"/>
          </p:cNvSpPr>
          <p:nvPr/>
        </p:nvSpPr>
        <p:spPr>
          <a:xfrm>
            <a:off x="8620125" y="7477125"/>
            <a:ext cx="3294793" cy="171450"/>
          </a:xfrm>
          <a:prstGeom prst="roundRect">
            <a:avLst>
              <a:gd name="adj" fmla="val 50000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32" name="html-shape-31">
            <a:extLst>
              <a:ext uri="{FF2B5EF4-FFF2-40B4-BE49-F238E27FC236}">
                <a16:creationId xmlns:a16="http://schemas.microsoft.com/office/drawing/2014/main" id="{74F871FD-7099-47C2-91BE-2465E7FC71D4}"/>
              </a:ext>
            </a:extLst>
          </p:cNvPr>
          <p:cNvSpPr>
            <a:spLocks noGrp="1"/>
          </p:cNvSpPr>
          <p:nvPr/>
        </p:nvSpPr>
        <p:spPr>
          <a:xfrm>
            <a:off x="13144500" y="7477125"/>
            <a:ext cx="3581400" cy="171450"/>
          </a:xfrm>
          <a:prstGeom prst="roundRect">
            <a:avLst>
              <a:gd name="adj" fmla="val 50000"/>
            </a:avLst>
          </a:prstGeom>
          <a:solidFill>
            <a:srgbClr val="EDF0F5"/>
          </a:solidFill>
          <a:ln w="0">
            <a:noFill/>
            <a:prstDash val="solid"/>
          </a:ln>
        </p:spPr>
      </p:sp>
      <p:sp>
        <p:nvSpPr>
          <p:cNvPr id="33" name="html-shape-32">
            <a:extLst>
              <a:ext uri="{FF2B5EF4-FFF2-40B4-BE49-F238E27FC236}">
                <a16:creationId xmlns:a16="http://schemas.microsoft.com/office/drawing/2014/main" id="{B553434C-3D86-44C8-B27F-E7C40944BC48}"/>
              </a:ext>
            </a:extLst>
          </p:cNvPr>
          <p:cNvSpPr>
            <a:spLocks noGrp="1"/>
          </p:cNvSpPr>
          <p:nvPr/>
        </p:nvSpPr>
        <p:spPr>
          <a:xfrm>
            <a:off x="13144500" y="7477125"/>
            <a:ext cx="1718977" cy="171450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31399C8-E879-42AE-A54C-EBE760F49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8E19608C-FC3E-443B-AC3C-99534A1E6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36" name="text-1">
            <a:extLst>
              <a:ext uri="{FF2B5EF4-FFF2-40B4-BE49-F238E27FC236}">
                <a16:creationId xmlns:a16="http://schemas.microsoft.com/office/drawing/2014/main" id="{417B651B-227C-44EE-B893-2AF54C05A606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37" name="text-2">
            <a:extLst>
              <a:ext uri="{FF2B5EF4-FFF2-40B4-BE49-F238E27FC236}">
                <a16:creationId xmlns:a16="http://schemas.microsoft.com/office/drawing/2014/main" id="{6C5E207F-0E45-4EDD-82FF-1A0F9BDBDF03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83530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第三章 · PD 分离的系统价值</a:t>
            </a:r>
          </a:p>
        </p:txBody>
      </p:sp>
      <p:sp>
        <p:nvSpPr>
          <p:cNvPr id="38" name="text-3">
            <a:extLst>
              <a:ext uri="{FF2B5EF4-FFF2-40B4-BE49-F238E27FC236}">
                <a16:creationId xmlns:a16="http://schemas.microsoft.com/office/drawing/2014/main" id="{2C23F265-88C3-4C31-92A7-6A0E579A6715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257881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837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不同业务可以独立配置 Prefill 与 Decode 容量</a:t>
            </a:r>
          </a:p>
        </p:txBody>
      </p:sp>
      <p:sp>
        <p:nvSpPr>
          <p:cNvPr id="39" name="text-4">
            <a:extLst>
              <a:ext uri="{FF2B5EF4-FFF2-40B4-BE49-F238E27FC236}">
                <a16:creationId xmlns:a16="http://schemas.microsoft.com/office/drawing/2014/main" id="{64F91004-B4C7-4154-8E58-86A01C339660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1208636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对话、长文本生成和 Agent 的 Input / Output 结构不同，对 P/D 容量的要求也不同。</a:t>
            </a:r>
          </a:p>
        </p:txBody>
      </p:sp>
      <p:sp>
        <p:nvSpPr>
          <p:cNvPr id="40" name="text-5">
            <a:extLst>
              <a:ext uri="{FF2B5EF4-FFF2-40B4-BE49-F238E27FC236}">
                <a16:creationId xmlns:a16="http://schemas.microsoft.com/office/drawing/2014/main" id="{42DBABC2-2A51-4B4E-ADCC-0ECBC1B26237}"/>
              </a:ext>
            </a:extLst>
          </p:cNvPr>
          <p:cNvSpPr>
            <a:spLocks noGrp="1"/>
          </p:cNvSpPr>
          <p:nvPr/>
        </p:nvSpPr>
        <p:spPr>
          <a:xfrm>
            <a:off x="1133475" y="3432905"/>
            <a:ext cx="10668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业务场景</a:t>
            </a:r>
          </a:p>
        </p:txBody>
      </p:sp>
      <p:sp>
        <p:nvSpPr>
          <p:cNvPr id="41" name="text-6">
            <a:extLst>
              <a:ext uri="{FF2B5EF4-FFF2-40B4-BE49-F238E27FC236}">
                <a16:creationId xmlns:a16="http://schemas.microsoft.com/office/drawing/2014/main" id="{30411BEB-AD2E-47C1-AFC2-70B29DF54E81}"/>
              </a:ext>
            </a:extLst>
          </p:cNvPr>
          <p:cNvSpPr>
            <a:spLocks noGrp="1"/>
          </p:cNvSpPr>
          <p:nvPr/>
        </p:nvSpPr>
        <p:spPr>
          <a:xfrm>
            <a:off x="3990975" y="3432905"/>
            <a:ext cx="10668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请求结构</a:t>
            </a:r>
          </a:p>
        </p:txBody>
      </p:sp>
      <p:sp>
        <p:nvSpPr>
          <p:cNvPr id="42" name="text-7">
            <a:extLst>
              <a:ext uri="{FF2B5EF4-FFF2-40B4-BE49-F238E27FC236}">
                <a16:creationId xmlns:a16="http://schemas.microsoft.com/office/drawing/2014/main" id="{F6500FC9-158A-4625-B2F5-FB94EDA411DE}"/>
              </a:ext>
            </a:extLst>
          </p:cNvPr>
          <p:cNvSpPr>
            <a:spLocks noGrp="1"/>
          </p:cNvSpPr>
          <p:nvPr/>
        </p:nvSpPr>
        <p:spPr>
          <a:xfrm>
            <a:off x="8086725" y="3432905"/>
            <a:ext cx="1328928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Prefill 容量</a:t>
            </a:r>
          </a:p>
        </p:txBody>
      </p:sp>
      <p:sp>
        <p:nvSpPr>
          <p:cNvPr id="43" name="text-8">
            <a:extLst>
              <a:ext uri="{FF2B5EF4-FFF2-40B4-BE49-F238E27FC236}">
                <a16:creationId xmlns:a16="http://schemas.microsoft.com/office/drawing/2014/main" id="{EBF3EB22-2318-4964-BFF5-FCA5E9521777}"/>
              </a:ext>
            </a:extLst>
          </p:cNvPr>
          <p:cNvSpPr>
            <a:spLocks noGrp="1"/>
          </p:cNvSpPr>
          <p:nvPr/>
        </p:nvSpPr>
        <p:spPr>
          <a:xfrm>
            <a:off x="12611100" y="3432905"/>
            <a:ext cx="1549718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 容量</a:t>
            </a:r>
          </a:p>
        </p:txBody>
      </p:sp>
      <p:sp>
        <p:nvSpPr>
          <p:cNvPr id="44" name="text-9">
            <a:extLst>
              <a:ext uri="{FF2B5EF4-FFF2-40B4-BE49-F238E27FC236}">
                <a16:creationId xmlns:a16="http://schemas.microsoft.com/office/drawing/2014/main" id="{8629BDCE-256B-48AF-AB9E-CE88A146103F}"/>
              </a:ext>
            </a:extLst>
          </p:cNvPr>
          <p:cNvSpPr>
            <a:spLocks noGrp="1"/>
          </p:cNvSpPr>
          <p:nvPr/>
        </p:nvSpPr>
        <p:spPr>
          <a:xfrm>
            <a:off x="1133475" y="4164330"/>
            <a:ext cx="647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对话</a:t>
            </a:r>
          </a:p>
        </p:txBody>
      </p:sp>
      <p:sp>
        <p:nvSpPr>
          <p:cNvPr id="45" name="text-10">
            <a:extLst>
              <a:ext uri="{FF2B5EF4-FFF2-40B4-BE49-F238E27FC236}">
                <a16:creationId xmlns:a16="http://schemas.microsoft.com/office/drawing/2014/main" id="{AE3B096F-51F4-41FC-80B2-A3B390422925}"/>
              </a:ext>
            </a:extLst>
          </p:cNvPr>
          <p:cNvSpPr>
            <a:spLocks noGrp="1"/>
          </p:cNvSpPr>
          <p:nvPr/>
        </p:nvSpPr>
        <p:spPr>
          <a:xfrm>
            <a:off x="1133475" y="4573905"/>
            <a:ext cx="170973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短输入 · 中等输出</a:t>
            </a:r>
          </a:p>
        </p:txBody>
      </p:sp>
      <p:sp>
        <p:nvSpPr>
          <p:cNvPr id="46" name="text-11">
            <a:extLst>
              <a:ext uri="{FF2B5EF4-FFF2-40B4-BE49-F238E27FC236}">
                <a16:creationId xmlns:a16="http://schemas.microsoft.com/office/drawing/2014/main" id="{CBB5D18E-5143-4135-97BF-1F1D6BF957D3}"/>
              </a:ext>
            </a:extLst>
          </p:cNvPr>
          <p:cNvSpPr>
            <a:spLocks noGrp="1"/>
          </p:cNvSpPr>
          <p:nvPr/>
        </p:nvSpPr>
        <p:spPr>
          <a:xfrm>
            <a:off x="1133475" y="4870990"/>
            <a:ext cx="1889093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8A96A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8A96A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8A96AA"/>
                </a:solidFill>
                <a:latin typeface="PingFang SC"/>
                <a:ea typeface="PingFang SC"/>
                <a:cs typeface="Arial"/>
              </a:rPr>
              <a:t>135 / 1,115 tok · 公开会话</a:t>
            </a:r>
          </a:p>
        </p:txBody>
      </p:sp>
      <p:sp>
        <p:nvSpPr>
          <p:cNvPr id="47" name="text-12">
            <a:extLst>
              <a:ext uri="{FF2B5EF4-FFF2-40B4-BE49-F238E27FC236}">
                <a16:creationId xmlns:a16="http://schemas.microsoft.com/office/drawing/2014/main" id="{76440C32-D389-4D54-BC35-4B3A23A297F7}"/>
              </a:ext>
            </a:extLst>
          </p:cNvPr>
          <p:cNvSpPr>
            <a:spLocks noGrp="1"/>
          </p:cNvSpPr>
          <p:nvPr/>
        </p:nvSpPr>
        <p:spPr>
          <a:xfrm>
            <a:off x="3990975" y="4286250"/>
            <a:ext cx="53578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Input</a:t>
            </a:r>
          </a:p>
        </p:txBody>
      </p:sp>
      <p:sp>
        <p:nvSpPr>
          <p:cNvPr id="48" name="text-13">
            <a:extLst>
              <a:ext uri="{FF2B5EF4-FFF2-40B4-BE49-F238E27FC236}">
                <a16:creationId xmlns:a16="http://schemas.microsoft.com/office/drawing/2014/main" id="{27236A66-DE9A-4D74-9F29-E8341B18C729}"/>
              </a:ext>
            </a:extLst>
          </p:cNvPr>
          <p:cNvSpPr>
            <a:spLocks noGrp="1"/>
          </p:cNvSpPr>
          <p:nvPr/>
        </p:nvSpPr>
        <p:spPr>
          <a:xfrm>
            <a:off x="3990975" y="4695825"/>
            <a:ext cx="71285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Output</a:t>
            </a:r>
          </a:p>
        </p:txBody>
      </p:sp>
      <p:sp>
        <p:nvSpPr>
          <p:cNvPr id="49" name="text-14">
            <a:extLst>
              <a:ext uri="{FF2B5EF4-FFF2-40B4-BE49-F238E27FC236}">
                <a16:creationId xmlns:a16="http://schemas.microsoft.com/office/drawing/2014/main" id="{5D100AC4-1AD6-4860-9224-FEE2F8825448}"/>
              </a:ext>
            </a:extLst>
          </p:cNvPr>
          <p:cNvSpPr>
            <a:spLocks noGrp="1"/>
          </p:cNvSpPr>
          <p:nvPr/>
        </p:nvSpPr>
        <p:spPr>
          <a:xfrm>
            <a:off x="8086725" y="4438650"/>
            <a:ext cx="25088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50" name="text-15">
            <a:extLst>
              <a:ext uri="{FF2B5EF4-FFF2-40B4-BE49-F238E27FC236}">
                <a16:creationId xmlns:a16="http://schemas.microsoft.com/office/drawing/2014/main" id="{A7B9AE58-2DDC-407B-A032-FB5004742F0A}"/>
              </a:ext>
            </a:extLst>
          </p:cNvPr>
          <p:cNvSpPr>
            <a:spLocks noGrp="1"/>
          </p:cNvSpPr>
          <p:nvPr/>
        </p:nvSpPr>
        <p:spPr>
          <a:xfrm>
            <a:off x="12611100" y="4438650"/>
            <a:ext cx="26831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51" name="text-16">
            <a:extLst>
              <a:ext uri="{FF2B5EF4-FFF2-40B4-BE49-F238E27FC236}">
                <a16:creationId xmlns:a16="http://schemas.microsoft.com/office/drawing/2014/main" id="{0E4398CA-98B0-45BD-BE5B-817F0EB28DCD}"/>
              </a:ext>
            </a:extLst>
          </p:cNvPr>
          <p:cNvSpPr>
            <a:spLocks noGrp="1"/>
          </p:cNvSpPr>
          <p:nvPr/>
        </p:nvSpPr>
        <p:spPr>
          <a:xfrm>
            <a:off x="1133475" y="563118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长文本生成</a:t>
            </a:r>
          </a:p>
        </p:txBody>
      </p:sp>
      <p:sp>
        <p:nvSpPr>
          <p:cNvPr id="52" name="text-17">
            <a:extLst>
              <a:ext uri="{FF2B5EF4-FFF2-40B4-BE49-F238E27FC236}">
                <a16:creationId xmlns:a16="http://schemas.microsoft.com/office/drawing/2014/main" id="{3FFD011A-2E0E-4B7F-BA62-68AFEBE7BBF9}"/>
              </a:ext>
            </a:extLst>
          </p:cNvPr>
          <p:cNvSpPr>
            <a:spLocks noGrp="1"/>
          </p:cNvSpPr>
          <p:nvPr/>
        </p:nvSpPr>
        <p:spPr>
          <a:xfrm>
            <a:off x="1133475" y="6040755"/>
            <a:ext cx="170973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短指令 · 超长输出</a:t>
            </a:r>
          </a:p>
        </p:txBody>
      </p:sp>
      <p:sp>
        <p:nvSpPr>
          <p:cNvPr id="53" name="text-18">
            <a:extLst>
              <a:ext uri="{FF2B5EF4-FFF2-40B4-BE49-F238E27FC236}">
                <a16:creationId xmlns:a16="http://schemas.microsoft.com/office/drawing/2014/main" id="{0BD1539F-3053-4BF2-AEC0-B3E4423864ED}"/>
              </a:ext>
            </a:extLst>
          </p:cNvPr>
          <p:cNvSpPr>
            <a:spLocks noGrp="1"/>
          </p:cNvSpPr>
          <p:nvPr/>
        </p:nvSpPr>
        <p:spPr>
          <a:xfrm>
            <a:off x="1133475" y="6337840"/>
            <a:ext cx="2094167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8A96A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8A96A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8A96AA"/>
                </a:solidFill>
                <a:latin typeface="PingFang SC"/>
                <a:ea typeface="PingFang SC"/>
                <a:cs typeface="Arial"/>
              </a:rPr>
              <a:t>16K / 32K output tok · 基准</a:t>
            </a:r>
          </a:p>
        </p:txBody>
      </p:sp>
      <p:sp>
        <p:nvSpPr>
          <p:cNvPr id="54" name="text-19">
            <a:extLst>
              <a:ext uri="{FF2B5EF4-FFF2-40B4-BE49-F238E27FC236}">
                <a16:creationId xmlns:a16="http://schemas.microsoft.com/office/drawing/2014/main" id="{218F5941-1D1A-4DDF-897A-D4954DA158AD}"/>
              </a:ext>
            </a:extLst>
          </p:cNvPr>
          <p:cNvSpPr>
            <a:spLocks noGrp="1"/>
          </p:cNvSpPr>
          <p:nvPr/>
        </p:nvSpPr>
        <p:spPr>
          <a:xfrm>
            <a:off x="3990975" y="5753100"/>
            <a:ext cx="53578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Input</a:t>
            </a:r>
          </a:p>
        </p:txBody>
      </p:sp>
      <p:sp>
        <p:nvSpPr>
          <p:cNvPr id="55" name="text-20">
            <a:extLst>
              <a:ext uri="{FF2B5EF4-FFF2-40B4-BE49-F238E27FC236}">
                <a16:creationId xmlns:a16="http://schemas.microsoft.com/office/drawing/2014/main" id="{ED19BF6B-1DFC-4510-AB14-243949F2F897}"/>
              </a:ext>
            </a:extLst>
          </p:cNvPr>
          <p:cNvSpPr>
            <a:spLocks noGrp="1"/>
          </p:cNvSpPr>
          <p:nvPr/>
        </p:nvSpPr>
        <p:spPr>
          <a:xfrm>
            <a:off x="3990975" y="6162675"/>
            <a:ext cx="71285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Output</a:t>
            </a:r>
          </a:p>
        </p:txBody>
      </p:sp>
      <p:sp>
        <p:nvSpPr>
          <p:cNvPr id="56" name="text-21">
            <a:extLst>
              <a:ext uri="{FF2B5EF4-FFF2-40B4-BE49-F238E27FC236}">
                <a16:creationId xmlns:a16="http://schemas.microsoft.com/office/drawing/2014/main" id="{B39CDFE2-0C46-41CA-9B21-C3EAB86D3FCE}"/>
              </a:ext>
            </a:extLst>
          </p:cNvPr>
          <p:cNvSpPr>
            <a:spLocks noGrp="1"/>
          </p:cNvSpPr>
          <p:nvPr/>
        </p:nvSpPr>
        <p:spPr>
          <a:xfrm>
            <a:off x="8086725" y="5905500"/>
            <a:ext cx="25088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57" name="text-22">
            <a:extLst>
              <a:ext uri="{FF2B5EF4-FFF2-40B4-BE49-F238E27FC236}">
                <a16:creationId xmlns:a16="http://schemas.microsoft.com/office/drawing/2014/main" id="{70713038-2820-4DD5-A6AD-35A285F0FDBE}"/>
              </a:ext>
            </a:extLst>
          </p:cNvPr>
          <p:cNvSpPr>
            <a:spLocks noGrp="1"/>
          </p:cNvSpPr>
          <p:nvPr/>
        </p:nvSpPr>
        <p:spPr>
          <a:xfrm>
            <a:off x="12611100" y="5905500"/>
            <a:ext cx="26831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58" name="text-23">
            <a:extLst>
              <a:ext uri="{FF2B5EF4-FFF2-40B4-BE49-F238E27FC236}">
                <a16:creationId xmlns:a16="http://schemas.microsoft.com/office/drawing/2014/main" id="{21FACE93-94C2-42C5-98E4-DC8F76DDCFCA}"/>
              </a:ext>
            </a:extLst>
          </p:cNvPr>
          <p:cNvSpPr>
            <a:spLocks noGrp="1"/>
          </p:cNvSpPr>
          <p:nvPr/>
        </p:nvSpPr>
        <p:spPr>
          <a:xfrm>
            <a:off x="1133475" y="7098030"/>
            <a:ext cx="87372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Agent</a:t>
            </a:r>
          </a:p>
        </p:txBody>
      </p:sp>
      <p:sp>
        <p:nvSpPr>
          <p:cNvPr id="59" name="text-24">
            <a:extLst>
              <a:ext uri="{FF2B5EF4-FFF2-40B4-BE49-F238E27FC236}">
                <a16:creationId xmlns:a16="http://schemas.microsoft.com/office/drawing/2014/main" id="{2DF33D6C-E20A-48E8-A273-8130C43FCF04}"/>
              </a:ext>
            </a:extLst>
          </p:cNvPr>
          <p:cNvSpPr>
            <a:spLocks noGrp="1"/>
          </p:cNvSpPr>
          <p:nvPr/>
        </p:nvSpPr>
        <p:spPr>
          <a:xfrm>
            <a:off x="1133475" y="7507605"/>
            <a:ext cx="216398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长输入 · 短输出 × 多轮</a:t>
            </a:r>
          </a:p>
        </p:txBody>
      </p:sp>
      <p:sp>
        <p:nvSpPr>
          <p:cNvPr id="60" name="text-25">
            <a:extLst>
              <a:ext uri="{FF2B5EF4-FFF2-40B4-BE49-F238E27FC236}">
                <a16:creationId xmlns:a16="http://schemas.microsoft.com/office/drawing/2014/main" id="{3A5DA438-4BC4-4C7A-A501-31CEE798AF75}"/>
              </a:ext>
            </a:extLst>
          </p:cNvPr>
          <p:cNvSpPr>
            <a:spLocks noGrp="1"/>
          </p:cNvSpPr>
          <p:nvPr/>
        </p:nvSpPr>
        <p:spPr>
          <a:xfrm>
            <a:off x="1133475" y="7804690"/>
            <a:ext cx="228942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8A96A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8A96A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8A96AA"/>
                </a:solidFill>
                <a:latin typeface="PingFang SC"/>
                <a:ea typeface="PingFang SC"/>
                <a:cs typeface="Arial"/>
              </a:rPr>
              <a:t>68K / 247 tok · 15 calls · 生产</a:t>
            </a:r>
          </a:p>
        </p:txBody>
      </p:sp>
      <p:sp>
        <p:nvSpPr>
          <p:cNvPr id="61" name="text-26">
            <a:extLst>
              <a:ext uri="{FF2B5EF4-FFF2-40B4-BE49-F238E27FC236}">
                <a16:creationId xmlns:a16="http://schemas.microsoft.com/office/drawing/2014/main" id="{3B344664-7CFA-4F65-B4D7-495A7428CF53}"/>
              </a:ext>
            </a:extLst>
          </p:cNvPr>
          <p:cNvSpPr>
            <a:spLocks noGrp="1"/>
          </p:cNvSpPr>
          <p:nvPr/>
        </p:nvSpPr>
        <p:spPr>
          <a:xfrm>
            <a:off x="3990975" y="7219950"/>
            <a:ext cx="53578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Input</a:t>
            </a:r>
          </a:p>
        </p:txBody>
      </p:sp>
      <p:sp>
        <p:nvSpPr>
          <p:cNvPr id="62" name="text-27">
            <a:extLst>
              <a:ext uri="{FF2B5EF4-FFF2-40B4-BE49-F238E27FC236}">
                <a16:creationId xmlns:a16="http://schemas.microsoft.com/office/drawing/2014/main" id="{94D84595-C583-41F2-BACD-FF280E419BDA}"/>
              </a:ext>
            </a:extLst>
          </p:cNvPr>
          <p:cNvSpPr>
            <a:spLocks noGrp="1"/>
          </p:cNvSpPr>
          <p:nvPr/>
        </p:nvSpPr>
        <p:spPr>
          <a:xfrm>
            <a:off x="3990975" y="7629525"/>
            <a:ext cx="71285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Output</a:t>
            </a:r>
          </a:p>
        </p:txBody>
      </p:sp>
      <p:sp>
        <p:nvSpPr>
          <p:cNvPr id="63" name="text-28">
            <a:extLst>
              <a:ext uri="{FF2B5EF4-FFF2-40B4-BE49-F238E27FC236}">
                <a16:creationId xmlns:a16="http://schemas.microsoft.com/office/drawing/2014/main" id="{8EA2FDB0-2220-416C-AEBB-C83CBFF446D3}"/>
              </a:ext>
            </a:extLst>
          </p:cNvPr>
          <p:cNvSpPr>
            <a:spLocks noGrp="1"/>
          </p:cNvSpPr>
          <p:nvPr/>
        </p:nvSpPr>
        <p:spPr>
          <a:xfrm>
            <a:off x="8086725" y="7372350"/>
            <a:ext cx="25088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64" name="text-29">
            <a:extLst>
              <a:ext uri="{FF2B5EF4-FFF2-40B4-BE49-F238E27FC236}">
                <a16:creationId xmlns:a16="http://schemas.microsoft.com/office/drawing/2014/main" id="{54E42B70-947E-4621-89C0-9D81C8A29D53}"/>
              </a:ext>
            </a:extLst>
          </p:cNvPr>
          <p:cNvSpPr>
            <a:spLocks noGrp="1"/>
          </p:cNvSpPr>
          <p:nvPr/>
        </p:nvSpPr>
        <p:spPr>
          <a:xfrm>
            <a:off x="12611100" y="7372350"/>
            <a:ext cx="26831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65" name="text-30">
            <a:extLst>
              <a:ext uri="{FF2B5EF4-FFF2-40B4-BE49-F238E27FC236}">
                <a16:creationId xmlns:a16="http://schemas.microsoft.com/office/drawing/2014/main" id="{004FABC2-1394-4AA6-BF38-9CE8383D851E}"/>
              </a:ext>
            </a:extLst>
          </p:cNvPr>
          <p:cNvSpPr>
            <a:spLocks noGrp="1"/>
          </p:cNvSpPr>
          <p:nvPr/>
        </p:nvSpPr>
        <p:spPr>
          <a:xfrm>
            <a:off x="1133475" y="8515350"/>
            <a:ext cx="753589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条形表示单次调用的相对量级；三组数据分别来自公开会话、benchmark 与生产 trace。</a:t>
            </a:r>
          </a:p>
        </p:txBody>
      </p:sp>
      <p:sp>
        <p:nvSpPr>
          <p:cNvPr id="66" name="text-31">
            <a:extLst>
              <a:ext uri="{FF2B5EF4-FFF2-40B4-BE49-F238E27FC236}">
                <a16:creationId xmlns:a16="http://schemas.microsoft.com/office/drawing/2014/main" id="{29C8B43A-3190-450E-9058-FDA3EBBD5013}"/>
              </a:ext>
            </a:extLst>
          </p:cNvPr>
          <p:cNvSpPr>
            <a:spLocks noGrp="1"/>
          </p:cNvSpPr>
          <p:nvPr/>
        </p:nvSpPr>
        <p:spPr>
          <a:xfrm>
            <a:off x="12695777" y="8543925"/>
            <a:ext cx="69742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Sources:</a:t>
            </a:r>
          </a:p>
        </p:txBody>
      </p:sp>
      <p:sp>
        <p:nvSpPr>
          <p:cNvPr id="67" name="text-32">
            <a:extLst>
              <a:ext uri="{FF2B5EF4-FFF2-40B4-BE49-F238E27FC236}">
                <a16:creationId xmlns:a16="http://schemas.microsoft.com/office/drawing/2014/main" id="{BE45EC87-A4D6-436D-9BF2-5828941EC2C4}"/>
              </a:ext>
            </a:extLst>
          </p:cNvPr>
          <p:cNvSpPr>
            <a:spLocks noGrp="1"/>
          </p:cNvSpPr>
          <p:nvPr/>
        </p:nvSpPr>
        <p:spPr>
          <a:xfrm>
            <a:off x="13316998" y="8543925"/>
            <a:ext cx="77133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ShareChat</a:t>
            </a:r>
          </a:p>
        </p:txBody>
      </p:sp>
      <p:sp>
        <p:nvSpPr>
          <p:cNvPr id="68" name="text-33">
            <a:extLst>
              <a:ext uri="{FF2B5EF4-FFF2-40B4-BE49-F238E27FC236}">
                <a16:creationId xmlns:a16="http://schemas.microsoft.com/office/drawing/2014/main" id="{89F33F52-170D-4759-890A-FCC82A08A13C}"/>
              </a:ext>
            </a:extLst>
          </p:cNvPr>
          <p:cNvSpPr>
            <a:spLocks noGrp="1"/>
          </p:cNvSpPr>
          <p:nvPr/>
        </p:nvSpPr>
        <p:spPr>
          <a:xfrm>
            <a:off x="14012132" y="8543925"/>
            <a:ext cx="24288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·</a:t>
            </a:r>
          </a:p>
        </p:txBody>
      </p:sp>
      <p:sp>
        <p:nvSpPr>
          <p:cNvPr id="69" name="text-34">
            <a:extLst>
              <a:ext uri="{FF2B5EF4-FFF2-40B4-BE49-F238E27FC236}">
                <a16:creationId xmlns:a16="http://schemas.microsoft.com/office/drawing/2014/main" id="{49D9F519-F907-49A1-AF07-7CA17B591BA5}"/>
              </a:ext>
            </a:extLst>
          </p:cNvPr>
          <p:cNvSpPr>
            <a:spLocks noGrp="1"/>
          </p:cNvSpPr>
          <p:nvPr/>
        </p:nvSpPr>
        <p:spPr>
          <a:xfrm>
            <a:off x="14178820" y="8543925"/>
            <a:ext cx="108775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LongGenBench</a:t>
            </a:r>
          </a:p>
        </p:txBody>
      </p:sp>
      <p:sp>
        <p:nvSpPr>
          <p:cNvPr id="70" name="text-35">
            <a:extLst>
              <a:ext uri="{FF2B5EF4-FFF2-40B4-BE49-F238E27FC236}">
                <a16:creationId xmlns:a16="http://schemas.microsoft.com/office/drawing/2014/main" id="{1C769317-5319-4474-A661-0F209A298CCC}"/>
              </a:ext>
            </a:extLst>
          </p:cNvPr>
          <p:cNvSpPr>
            <a:spLocks noGrp="1"/>
          </p:cNvSpPr>
          <p:nvPr/>
        </p:nvSpPr>
        <p:spPr>
          <a:xfrm>
            <a:off x="15190470" y="8543925"/>
            <a:ext cx="24288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·</a:t>
            </a:r>
          </a:p>
        </p:txBody>
      </p:sp>
      <p:sp>
        <p:nvSpPr>
          <p:cNvPr id="71" name="text-36">
            <a:extLst>
              <a:ext uri="{FF2B5EF4-FFF2-40B4-BE49-F238E27FC236}">
                <a16:creationId xmlns:a16="http://schemas.microsoft.com/office/drawing/2014/main" id="{23B4F394-78A1-4574-9919-ECFBD2E8E038}"/>
              </a:ext>
            </a:extLst>
          </p:cNvPr>
          <p:cNvSpPr>
            <a:spLocks noGrp="1"/>
          </p:cNvSpPr>
          <p:nvPr/>
        </p:nvSpPr>
        <p:spPr>
          <a:xfrm>
            <a:off x="15357158" y="8543925"/>
            <a:ext cx="185451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95A2B8"/>
                </a:solidFill>
                <a:latin typeface="PingFang SC"/>
                <a:ea typeface="PingFang SC"/>
                <a:cs typeface="Arial"/>
              </a:rPr>
              <a:t>Agentic Coding in the Wild</a:t>
            </a:r>
          </a:p>
        </p:txBody>
      </p:sp>
      <p:sp>
        <p:nvSpPr>
          <p:cNvPr id="72" name="text-37">
            <a:extLst>
              <a:ext uri="{FF2B5EF4-FFF2-40B4-BE49-F238E27FC236}">
                <a16:creationId xmlns:a16="http://schemas.microsoft.com/office/drawing/2014/main" id="{DB22620E-423D-4535-9090-08CA72DD2A3B}"/>
              </a:ext>
            </a:extLst>
          </p:cNvPr>
          <p:cNvSpPr>
            <a:spLocks noGrp="1"/>
          </p:cNvSpPr>
          <p:nvPr/>
        </p:nvSpPr>
        <p:spPr>
          <a:xfrm>
            <a:off x="4387310" y="9067800"/>
            <a:ext cx="155276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Prefill Pool</a:t>
            </a:r>
          </a:p>
        </p:txBody>
      </p:sp>
      <p:sp>
        <p:nvSpPr>
          <p:cNvPr id="73" name="text-38">
            <a:extLst>
              <a:ext uri="{FF2B5EF4-FFF2-40B4-BE49-F238E27FC236}">
                <a16:creationId xmlns:a16="http://schemas.microsoft.com/office/drawing/2014/main" id="{4B7A9300-C441-4FA5-8919-CF10262E4694}"/>
              </a:ext>
            </a:extLst>
          </p:cNvPr>
          <p:cNvSpPr>
            <a:spLocks noGrp="1"/>
          </p:cNvSpPr>
          <p:nvPr/>
        </p:nvSpPr>
        <p:spPr>
          <a:xfrm>
            <a:off x="5863876" y="9067800"/>
            <a:ext cx="55226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与</a:t>
            </a:r>
          </a:p>
        </p:txBody>
      </p:sp>
      <p:sp>
        <p:nvSpPr>
          <p:cNvPr id="74" name="text-39">
            <a:extLst>
              <a:ext uri="{FF2B5EF4-FFF2-40B4-BE49-F238E27FC236}">
                <a16:creationId xmlns:a16="http://schemas.microsoft.com/office/drawing/2014/main" id="{2AE35B61-A9C4-4225-8AD1-88BF81F32701}"/>
              </a:ext>
            </a:extLst>
          </p:cNvPr>
          <p:cNvSpPr>
            <a:spLocks noGrp="1"/>
          </p:cNvSpPr>
          <p:nvPr/>
        </p:nvSpPr>
        <p:spPr>
          <a:xfrm>
            <a:off x="6339935" y="9067800"/>
            <a:ext cx="180765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 Pool</a:t>
            </a:r>
          </a:p>
        </p:txBody>
      </p:sp>
      <p:sp>
        <p:nvSpPr>
          <p:cNvPr id="75" name="text-40">
            <a:extLst>
              <a:ext uri="{FF2B5EF4-FFF2-40B4-BE49-F238E27FC236}">
                <a16:creationId xmlns:a16="http://schemas.microsoft.com/office/drawing/2014/main" id="{B39BB57C-8604-4D0B-A93C-BB815664C1A2}"/>
              </a:ext>
            </a:extLst>
          </p:cNvPr>
          <p:cNvSpPr>
            <a:spLocks noGrp="1"/>
          </p:cNvSpPr>
          <p:nvPr/>
        </p:nvSpPr>
        <p:spPr>
          <a:xfrm>
            <a:off x="8071390" y="9067800"/>
            <a:ext cx="5886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可以分别扩缩容，资源供给随业务结构变化。</a:t>
            </a:r>
          </a:p>
        </p:txBody>
      </p:sp>
      <p:sp>
        <p:nvSpPr>
          <p:cNvPr id="76" name="text-41">
            <a:extLst>
              <a:ext uri="{FF2B5EF4-FFF2-40B4-BE49-F238E27FC236}">
                <a16:creationId xmlns:a16="http://schemas.microsoft.com/office/drawing/2014/main" id="{F63231AA-5B4C-4969-8CF3-F8DD3DA81FE3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15 / 43</a:t>
            </a:r>
          </a:p>
        </p:txBody>
      </p:sp>
    </p:spTree>
    <p:extLst>
      <p:ext uri="{BB962C8B-B14F-4D97-AF65-F5344CB8AC3E}">
        <p14:creationId xmlns:p14="http://schemas.microsoft.com/office/powerpoint/2010/main" val="340403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html-shape-1">
            <a:extLst>
              <a:ext uri="{FF2B5EF4-FFF2-40B4-BE49-F238E27FC236}">
                <a16:creationId xmlns:a16="http://schemas.microsoft.com/office/drawing/2014/main" id="{F01BDB13-41C4-4404-90FE-F590079A6F0A}"/>
              </a:ext>
            </a:extLst>
          </p:cNvPr>
          <p:cNvSpPr>
            <a:spLocks noGrp="1"/>
          </p:cNvSpPr>
          <p:nvPr/>
        </p:nvSpPr>
        <p:spPr>
          <a:xfrm>
            <a:off x="1143000" y="3067050"/>
            <a:ext cx="6943725" cy="3333750"/>
          </a:xfrm>
          <a:prstGeom prst="roundRect">
            <a:avLst>
              <a:gd name="adj" fmla="val 6857"/>
            </a:avLst>
          </a:prstGeom>
          <a:gradFill>
            <a:gsLst>
              <a:gs pos="0">
                <a:srgbClr val="FFFFFF"/>
              </a:gs>
              <a:gs pos="100000">
                <a:srgbClr val="F4F0FF"/>
              </a:gs>
            </a:gsLst>
            <a:lin ang="8700000"/>
          </a:gradFill>
          <a:ln w="28575">
            <a:solidFill>
              <a:srgbClr val="642AF0"/>
            </a:solidFill>
            <a:prstDash val="solid"/>
          </a:ln>
        </p:spPr>
      </p:sp>
      <p:sp>
        <p:nvSpPr>
          <p:cNvPr id="2" name="html-shape-7">
            <a:extLst>
              <a:ext uri="{FF2B5EF4-FFF2-40B4-BE49-F238E27FC236}">
                <a16:creationId xmlns:a16="http://schemas.microsoft.com/office/drawing/2014/main" id="{F1E98906-1634-4DAB-949E-2CFF4213AEC9}"/>
              </a:ext>
            </a:extLst>
          </p:cNvPr>
          <p:cNvSpPr>
            <a:spLocks noGrp="1"/>
          </p:cNvSpPr>
          <p:nvPr/>
        </p:nvSpPr>
        <p:spPr>
          <a:xfrm>
            <a:off x="10201275" y="3067050"/>
            <a:ext cx="6943725" cy="3333750"/>
          </a:xfrm>
          <a:prstGeom prst="roundRect">
            <a:avLst>
              <a:gd name="adj" fmla="val 6857"/>
            </a:avLst>
          </a:prstGeom>
          <a:gradFill>
            <a:gsLst>
              <a:gs pos="0">
                <a:srgbClr val="FFFFFF"/>
              </a:gs>
              <a:gs pos="100000">
                <a:srgbClr val="EAF8F2"/>
              </a:gs>
            </a:gsLst>
            <a:lin ang="8700000"/>
          </a:gradFill>
          <a:ln w="28575">
            <a:solidFill>
              <a:srgbClr val="0A9A62"/>
            </a:solidFill>
            <a:prstDash val="solid"/>
          </a:ln>
        </p:spPr>
      </p:sp>
      <p:sp>
        <p:nvSpPr>
          <p:cNvPr id="3" name="html-shape-12">
            <a:extLst>
              <a:ext uri="{FF2B5EF4-FFF2-40B4-BE49-F238E27FC236}">
                <a16:creationId xmlns:a16="http://schemas.microsoft.com/office/drawing/2014/main" id="{9C0A96F3-D890-4F37-A338-1CD714DDEB3D}"/>
              </a:ext>
            </a:extLst>
          </p:cNvPr>
          <p:cNvSpPr>
            <a:spLocks noGrp="1"/>
          </p:cNvSpPr>
          <p:nvPr/>
        </p:nvSpPr>
        <p:spPr>
          <a:xfrm>
            <a:off x="1143000" y="6724650"/>
            <a:ext cx="7886700" cy="15621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4" name="html-shape-13">
            <a:extLst>
              <a:ext uri="{FF2B5EF4-FFF2-40B4-BE49-F238E27FC236}">
                <a16:creationId xmlns:a16="http://schemas.microsoft.com/office/drawing/2014/main" id="{3B4A4978-34FC-443B-84CC-54693BB7B11A}"/>
              </a:ext>
            </a:extLst>
          </p:cNvPr>
          <p:cNvSpPr>
            <a:spLocks noGrp="1"/>
          </p:cNvSpPr>
          <p:nvPr/>
        </p:nvSpPr>
        <p:spPr>
          <a:xfrm>
            <a:off x="9258300" y="6724650"/>
            <a:ext cx="7886700" cy="15621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5" name="html-shape-14">
            <a:extLst>
              <a:ext uri="{FF2B5EF4-FFF2-40B4-BE49-F238E27FC236}">
                <a16:creationId xmlns:a16="http://schemas.microsoft.com/office/drawing/2014/main" id="{54FA92DF-E644-45E3-A2E7-CE8DEEEF9F6A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6" name="html-line-1">
            <a:extLst>
              <a:ext uri="{FF2B5EF4-FFF2-40B4-BE49-F238E27FC236}">
                <a16:creationId xmlns:a16="http://schemas.microsoft.com/office/drawing/2014/main" id="{A2D96E71-D4B1-4ACC-9AEC-B009122252E5}"/>
              </a:ext>
            </a:extLst>
          </p:cNvPr>
          <p:cNvSpPr>
            <a:spLocks noGrp="1"/>
          </p:cNvSpPr>
          <p:nvPr/>
        </p:nvSpPr>
        <p:spPr>
          <a:xfrm>
            <a:off x="8334375" y="4733925"/>
            <a:ext cx="238125" cy="4763"/>
          </a:xfrm>
          <a:prstGeom prst="line">
            <a:avLst/>
          </a:prstGeom>
          <a:noFill/>
          <a:ln w="38100">
            <a:solidFill>
              <a:srgbClr val="AAB3C2"/>
            </a:solidFill>
            <a:prstDash val="solid"/>
          </a:ln>
        </p:spPr>
      </p:sp>
      <p:sp>
        <p:nvSpPr>
          <p:cNvPr id="7" name="html-line-2">
            <a:extLst>
              <a:ext uri="{FF2B5EF4-FFF2-40B4-BE49-F238E27FC236}">
                <a16:creationId xmlns:a16="http://schemas.microsoft.com/office/drawing/2014/main" id="{EFD84703-DFA9-42DC-8F41-F067BC7F75C3}"/>
              </a:ext>
            </a:extLst>
          </p:cNvPr>
          <p:cNvSpPr>
            <a:spLocks noGrp="1"/>
          </p:cNvSpPr>
          <p:nvPr/>
        </p:nvSpPr>
        <p:spPr>
          <a:xfrm>
            <a:off x="9715500" y="4733925"/>
            <a:ext cx="238125" cy="4763"/>
          </a:xfrm>
          <a:prstGeom prst="line">
            <a:avLst/>
          </a:prstGeom>
          <a:noFill/>
          <a:ln w="38100">
            <a:solidFill>
              <a:srgbClr val="AAB3C2"/>
            </a:solidFill>
            <a:prstDash val="solid"/>
          </a:ln>
        </p:spPr>
      </p:sp>
      <p:sp>
        <p:nvSpPr>
          <p:cNvPr id="8" name="html-shape-2">
            <a:extLst>
              <a:ext uri="{FF2B5EF4-FFF2-40B4-BE49-F238E27FC236}">
                <a16:creationId xmlns:a16="http://schemas.microsoft.com/office/drawing/2014/main" id="{DED1DC4D-7E7A-4337-B2C0-B65919CB8736}"/>
              </a:ext>
            </a:extLst>
          </p:cNvPr>
          <p:cNvSpPr>
            <a:spLocks noGrp="1"/>
          </p:cNvSpPr>
          <p:nvPr/>
        </p:nvSpPr>
        <p:spPr>
          <a:xfrm>
            <a:off x="1533525" y="3390900"/>
            <a:ext cx="742950" cy="742950"/>
          </a:xfrm>
          <a:prstGeom prst="roundRect">
            <a:avLst>
              <a:gd name="adj" fmla="val 25641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9" name="html-shape-3">
            <a:extLst>
              <a:ext uri="{FF2B5EF4-FFF2-40B4-BE49-F238E27FC236}">
                <a16:creationId xmlns:a16="http://schemas.microsoft.com/office/drawing/2014/main" id="{6880A6E8-402A-40EB-87DF-3354E996C6E7}"/>
              </a:ext>
            </a:extLst>
          </p:cNvPr>
          <p:cNvSpPr>
            <a:spLocks noGrp="1"/>
          </p:cNvSpPr>
          <p:nvPr/>
        </p:nvSpPr>
        <p:spPr>
          <a:xfrm>
            <a:off x="1533525" y="4419600"/>
            <a:ext cx="1971675" cy="514350"/>
          </a:xfrm>
          <a:prstGeom prst="roundRect">
            <a:avLst>
              <a:gd name="adj" fmla="val 22222"/>
            </a:avLst>
          </a:prstGeom>
          <a:solidFill>
            <a:srgbClr val="EAE2FF"/>
          </a:solidFill>
          <a:ln w="0">
            <a:noFill/>
            <a:prstDash val="solid"/>
          </a:ln>
        </p:spPr>
      </p:sp>
      <p:sp>
        <p:nvSpPr>
          <p:cNvPr id="10" name="html-shape-4">
            <a:extLst>
              <a:ext uri="{FF2B5EF4-FFF2-40B4-BE49-F238E27FC236}">
                <a16:creationId xmlns:a16="http://schemas.microsoft.com/office/drawing/2014/main" id="{AE14750A-BFEF-482E-8394-DD5A29D06041}"/>
              </a:ext>
            </a:extLst>
          </p:cNvPr>
          <p:cNvSpPr>
            <a:spLocks noGrp="1"/>
          </p:cNvSpPr>
          <p:nvPr/>
        </p:nvSpPr>
        <p:spPr>
          <a:xfrm>
            <a:off x="3629025" y="4419600"/>
            <a:ext cx="1971675" cy="514350"/>
          </a:xfrm>
          <a:prstGeom prst="roundRect">
            <a:avLst>
              <a:gd name="adj" fmla="val 22222"/>
            </a:avLst>
          </a:prstGeom>
          <a:solidFill>
            <a:srgbClr val="EAE2FF"/>
          </a:solidFill>
          <a:ln w="0">
            <a:noFill/>
            <a:prstDash val="solid"/>
          </a:ln>
        </p:spPr>
      </p:sp>
      <p:sp>
        <p:nvSpPr>
          <p:cNvPr id="11" name="html-shape-5">
            <a:extLst>
              <a:ext uri="{FF2B5EF4-FFF2-40B4-BE49-F238E27FC236}">
                <a16:creationId xmlns:a16="http://schemas.microsoft.com/office/drawing/2014/main" id="{99BF7B16-3037-4265-8125-76BC7476760F}"/>
              </a:ext>
            </a:extLst>
          </p:cNvPr>
          <p:cNvSpPr>
            <a:spLocks noGrp="1"/>
          </p:cNvSpPr>
          <p:nvPr/>
        </p:nvSpPr>
        <p:spPr>
          <a:xfrm>
            <a:off x="5724525" y="4419600"/>
            <a:ext cx="1971675" cy="514350"/>
          </a:xfrm>
          <a:prstGeom prst="roundRect">
            <a:avLst>
              <a:gd name="adj" fmla="val 22222"/>
            </a:avLst>
          </a:prstGeom>
          <a:solidFill>
            <a:srgbClr val="EAE2FF"/>
          </a:solidFill>
          <a:ln w="0">
            <a:noFill/>
            <a:prstDash val="solid"/>
          </a:ln>
        </p:spPr>
      </p:sp>
      <p:sp>
        <p:nvSpPr>
          <p:cNvPr id="12" name="html-shape-6">
            <a:extLst>
              <a:ext uri="{FF2B5EF4-FFF2-40B4-BE49-F238E27FC236}">
                <a16:creationId xmlns:a16="http://schemas.microsoft.com/office/drawing/2014/main" id="{043BE168-8F72-4BEA-9E65-84B1A30CA9E0}"/>
              </a:ext>
            </a:extLst>
          </p:cNvPr>
          <p:cNvSpPr>
            <a:spLocks noGrp="1"/>
          </p:cNvSpPr>
          <p:nvPr/>
        </p:nvSpPr>
        <p:spPr>
          <a:xfrm>
            <a:off x="8648700" y="4257675"/>
            <a:ext cx="990600" cy="9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B139F"/>
              </a:gs>
              <a:gs pos="100000">
                <a:srgbClr val="0A9A62"/>
              </a:gs>
            </a:gsLst>
            <a:lin ang="8700000"/>
          </a:gradFill>
          <a:ln w="0">
            <a:noFill/>
            <a:prstDash val="solid"/>
          </a:ln>
        </p:spPr>
      </p:sp>
      <p:sp>
        <p:nvSpPr>
          <p:cNvPr id="13" name="html-shape-8">
            <a:extLst>
              <a:ext uri="{FF2B5EF4-FFF2-40B4-BE49-F238E27FC236}">
                <a16:creationId xmlns:a16="http://schemas.microsoft.com/office/drawing/2014/main" id="{3ED3BEED-2747-4B70-BD90-DC3A66FBE82B}"/>
              </a:ext>
            </a:extLst>
          </p:cNvPr>
          <p:cNvSpPr>
            <a:spLocks noGrp="1"/>
          </p:cNvSpPr>
          <p:nvPr/>
        </p:nvSpPr>
        <p:spPr>
          <a:xfrm>
            <a:off x="10591800" y="3390900"/>
            <a:ext cx="742950" cy="742950"/>
          </a:xfrm>
          <a:prstGeom prst="roundRect">
            <a:avLst>
              <a:gd name="adj" fmla="val 25641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4" name="html-shape-9">
            <a:extLst>
              <a:ext uri="{FF2B5EF4-FFF2-40B4-BE49-F238E27FC236}">
                <a16:creationId xmlns:a16="http://schemas.microsoft.com/office/drawing/2014/main" id="{C45E6D73-D271-4CF5-9899-B177EFEF31C1}"/>
              </a:ext>
            </a:extLst>
          </p:cNvPr>
          <p:cNvSpPr>
            <a:spLocks noGrp="1"/>
          </p:cNvSpPr>
          <p:nvPr/>
        </p:nvSpPr>
        <p:spPr>
          <a:xfrm>
            <a:off x="10591800" y="4419600"/>
            <a:ext cx="1971675" cy="514350"/>
          </a:xfrm>
          <a:prstGeom prst="roundRect">
            <a:avLst>
              <a:gd name="adj" fmla="val 22222"/>
            </a:avLst>
          </a:prstGeom>
          <a:solidFill>
            <a:srgbClr val="DFF4EA"/>
          </a:solidFill>
          <a:ln w="0">
            <a:noFill/>
            <a:prstDash val="solid"/>
          </a:ln>
        </p:spPr>
      </p:sp>
      <p:sp>
        <p:nvSpPr>
          <p:cNvPr id="15" name="html-shape-10">
            <a:extLst>
              <a:ext uri="{FF2B5EF4-FFF2-40B4-BE49-F238E27FC236}">
                <a16:creationId xmlns:a16="http://schemas.microsoft.com/office/drawing/2014/main" id="{FE8AA648-585C-49C7-A6AA-74E0EC76221A}"/>
              </a:ext>
            </a:extLst>
          </p:cNvPr>
          <p:cNvSpPr>
            <a:spLocks noGrp="1"/>
          </p:cNvSpPr>
          <p:nvPr/>
        </p:nvSpPr>
        <p:spPr>
          <a:xfrm>
            <a:off x="12687300" y="4419600"/>
            <a:ext cx="1971675" cy="514350"/>
          </a:xfrm>
          <a:prstGeom prst="roundRect">
            <a:avLst>
              <a:gd name="adj" fmla="val 22222"/>
            </a:avLst>
          </a:prstGeom>
          <a:solidFill>
            <a:srgbClr val="DFF4EA"/>
          </a:solidFill>
          <a:ln w="0">
            <a:noFill/>
            <a:prstDash val="solid"/>
          </a:ln>
        </p:spPr>
      </p:sp>
      <p:sp>
        <p:nvSpPr>
          <p:cNvPr id="16" name="html-shape-11">
            <a:extLst>
              <a:ext uri="{FF2B5EF4-FFF2-40B4-BE49-F238E27FC236}">
                <a16:creationId xmlns:a16="http://schemas.microsoft.com/office/drawing/2014/main" id="{C7E353F1-AA4C-4A23-ADD0-EEFED54D8403}"/>
              </a:ext>
            </a:extLst>
          </p:cNvPr>
          <p:cNvSpPr>
            <a:spLocks noGrp="1"/>
          </p:cNvSpPr>
          <p:nvPr/>
        </p:nvSpPr>
        <p:spPr>
          <a:xfrm>
            <a:off x="14782800" y="4419600"/>
            <a:ext cx="1971675" cy="514350"/>
          </a:xfrm>
          <a:prstGeom prst="roundRect">
            <a:avLst>
              <a:gd name="adj" fmla="val 22222"/>
            </a:avLst>
          </a:prstGeom>
          <a:solidFill>
            <a:srgbClr val="DFF4EA"/>
          </a:solidFill>
          <a:ln w="0">
            <a:noFill/>
            <a:prstDash val="solid"/>
          </a:ln>
        </p:spPr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3BFC41A-891C-4067-AA61-21733F66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480D851-D493-452E-9C1D-2837D1E95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9" name="text-1">
            <a:extLst>
              <a:ext uri="{FF2B5EF4-FFF2-40B4-BE49-F238E27FC236}">
                <a16:creationId xmlns:a16="http://schemas.microsoft.com/office/drawing/2014/main" id="{85E36DC8-0936-4265-B930-D29AEFBDDD5A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20" name="text-2">
            <a:extLst>
              <a:ext uri="{FF2B5EF4-FFF2-40B4-BE49-F238E27FC236}">
                <a16:creationId xmlns:a16="http://schemas.microsoft.com/office/drawing/2014/main" id="{596A3F71-B532-41F7-A3CB-3D4FA2953549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83530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第三章 · PD 分离的系统价值</a:t>
            </a:r>
          </a:p>
        </p:txBody>
      </p:sp>
      <p:sp>
        <p:nvSpPr>
          <p:cNvPr id="21" name="text-3">
            <a:extLst>
              <a:ext uri="{FF2B5EF4-FFF2-40B4-BE49-F238E27FC236}">
                <a16:creationId xmlns:a16="http://schemas.microsoft.com/office/drawing/2014/main" id="{F5ED0F27-A251-44ED-BD3C-8C3768B67043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965968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55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PD 分离让硬件与部署方式不再绑定</a:t>
            </a:r>
          </a:p>
        </p:txBody>
      </p:sp>
      <p:sp>
        <p:nvSpPr>
          <p:cNvPr id="22" name="text-4">
            <a:extLst>
              <a:ext uri="{FF2B5EF4-FFF2-40B4-BE49-F238E27FC236}">
                <a16:creationId xmlns:a16="http://schemas.microsoft.com/office/drawing/2014/main" id="{F6907D4C-924F-473F-A648-99A6F612006A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924858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P/D 可以分别选择设备、组织资源池，并按照各自需求独立演进。</a:t>
            </a:r>
          </a:p>
        </p:txBody>
      </p:sp>
      <p:sp>
        <p:nvSpPr>
          <p:cNvPr id="23" name="text-5">
            <a:extLst>
              <a:ext uri="{FF2B5EF4-FFF2-40B4-BE49-F238E27FC236}">
                <a16:creationId xmlns:a16="http://schemas.microsoft.com/office/drawing/2014/main" id="{544122A3-431E-49B1-82AF-5773327AA357}"/>
              </a:ext>
            </a:extLst>
          </p:cNvPr>
          <p:cNvSpPr>
            <a:spLocks noGrp="1"/>
          </p:cNvSpPr>
          <p:nvPr/>
        </p:nvSpPr>
        <p:spPr>
          <a:xfrm>
            <a:off x="1776889" y="3505200"/>
            <a:ext cx="313277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24" name="text-6">
            <a:extLst>
              <a:ext uri="{FF2B5EF4-FFF2-40B4-BE49-F238E27FC236}">
                <a16:creationId xmlns:a16="http://schemas.microsoft.com/office/drawing/2014/main" id="{02EB875E-39B2-428D-BEFF-0B15613078B9}"/>
              </a:ext>
            </a:extLst>
          </p:cNvPr>
          <p:cNvSpPr>
            <a:spLocks noGrp="1"/>
          </p:cNvSpPr>
          <p:nvPr/>
        </p:nvSpPr>
        <p:spPr>
          <a:xfrm>
            <a:off x="2514600" y="3427857"/>
            <a:ext cx="133692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PREFILL POOL</a:t>
            </a:r>
          </a:p>
        </p:txBody>
      </p:sp>
      <p:sp>
        <p:nvSpPr>
          <p:cNvPr id="25" name="text-7">
            <a:extLst>
              <a:ext uri="{FF2B5EF4-FFF2-40B4-BE49-F238E27FC236}">
                <a16:creationId xmlns:a16="http://schemas.microsoft.com/office/drawing/2014/main" id="{A7BD10E5-C1C6-405B-88F2-A4B40F04520C}"/>
              </a:ext>
            </a:extLst>
          </p:cNvPr>
          <p:cNvSpPr>
            <a:spLocks noGrp="1"/>
          </p:cNvSpPr>
          <p:nvPr/>
        </p:nvSpPr>
        <p:spPr>
          <a:xfrm>
            <a:off x="2514600" y="3665982"/>
            <a:ext cx="27432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围绕输入计算选型</a:t>
            </a:r>
          </a:p>
        </p:txBody>
      </p:sp>
      <p:sp>
        <p:nvSpPr>
          <p:cNvPr id="26" name="text-8">
            <a:extLst>
              <a:ext uri="{FF2B5EF4-FFF2-40B4-BE49-F238E27FC236}">
                <a16:creationId xmlns:a16="http://schemas.microsoft.com/office/drawing/2014/main" id="{5979C739-9D0B-4FC3-AAC1-DA9ABB97DAB5}"/>
              </a:ext>
            </a:extLst>
          </p:cNvPr>
          <p:cNvSpPr>
            <a:spLocks noGrp="1"/>
          </p:cNvSpPr>
          <p:nvPr/>
        </p:nvSpPr>
        <p:spPr>
          <a:xfrm>
            <a:off x="2109788" y="4538186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计算吞吐</a:t>
            </a:r>
          </a:p>
        </p:txBody>
      </p:sp>
      <p:sp>
        <p:nvSpPr>
          <p:cNvPr id="27" name="text-9">
            <a:extLst>
              <a:ext uri="{FF2B5EF4-FFF2-40B4-BE49-F238E27FC236}">
                <a16:creationId xmlns:a16="http://schemas.microsoft.com/office/drawing/2014/main" id="{20E67A9D-BDBD-42EC-8B18-153D0C32D942}"/>
              </a:ext>
            </a:extLst>
          </p:cNvPr>
          <p:cNvSpPr>
            <a:spLocks noGrp="1"/>
          </p:cNvSpPr>
          <p:nvPr/>
        </p:nvSpPr>
        <p:spPr>
          <a:xfrm>
            <a:off x="4205288" y="4538186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供给规模</a:t>
            </a:r>
          </a:p>
        </p:txBody>
      </p:sp>
      <p:sp>
        <p:nvSpPr>
          <p:cNvPr id="28" name="text-10">
            <a:extLst>
              <a:ext uri="{FF2B5EF4-FFF2-40B4-BE49-F238E27FC236}">
                <a16:creationId xmlns:a16="http://schemas.microsoft.com/office/drawing/2014/main" id="{5F9F91A4-7153-4791-BB4C-500B1DE6BCED}"/>
              </a:ext>
            </a:extLst>
          </p:cNvPr>
          <p:cNvSpPr>
            <a:spLocks noGrp="1"/>
          </p:cNvSpPr>
          <p:nvPr/>
        </p:nvSpPr>
        <p:spPr>
          <a:xfrm>
            <a:off x="6300788" y="4538186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成本效率</a:t>
            </a:r>
          </a:p>
        </p:txBody>
      </p:sp>
      <p:sp>
        <p:nvSpPr>
          <p:cNvPr id="29" name="text-11">
            <a:extLst>
              <a:ext uri="{FF2B5EF4-FFF2-40B4-BE49-F238E27FC236}">
                <a16:creationId xmlns:a16="http://schemas.microsoft.com/office/drawing/2014/main" id="{0CD2A5E1-B890-49C1-B0F9-BC2B23E3E8CC}"/>
              </a:ext>
            </a:extLst>
          </p:cNvPr>
          <p:cNvSpPr>
            <a:spLocks noGrp="1"/>
          </p:cNvSpPr>
          <p:nvPr/>
        </p:nvSpPr>
        <p:spPr>
          <a:xfrm>
            <a:off x="1524000" y="5163503"/>
            <a:ext cx="60198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rPr>
              <a:t>按大规模输入计算需求选择设备，并围绕可用算力组织资源</a:t>
            </a:r>
          </a:p>
        </p:txBody>
      </p:sp>
      <p:sp>
        <p:nvSpPr>
          <p:cNvPr id="30" name="text-12">
            <a:extLst>
              <a:ext uri="{FF2B5EF4-FFF2-40B4-BE49-F238E27FC236}">
                <a16:creationId xmlns:a16="http://schemas.microsoft.com/office/drawing/2014/main" id="{8ACAE417-6412-4811-8C63-6241F4A7B3CF}"/>
              </a:ext>
            </a:extLst>
          </p:cNvPr>
          <p:cNvSpPr>
            <a:spLocks noGrp="1"/>
          </p:cNvSpPr>
          <p:nvPr/>
        </p:nvSpPr>
        <p:spPr>
          <a:xfrm>
            <a:off x="1524000" y="5494973"/>
            <a:ext cx="53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rPr>
              <a:t>池。</a:t>
            </a:r>
          </a:p>
        </p:txBody>
      </p:sp>
      <p:sp>
        <p:nvSpPr>
          <p:cNvPr id="31" name="text-13">
            <a:extLst>
              <a:ext uri="{FF2B5EF4-FFF2-40B4-BE49-F238E27FC236}">
                <a16:creationId xmlns:a16="http://schemas.microsoft.com/office/drawing/2014/main" id="{700DA1F6-D826-4D5F-BAB2-2DF10E64F836}"/>
              </a:ext>
            </a:extLst>
          </p:cNvPr>
          <p:cNvSpPr>
            <a:spLocks noGrp="1"/>
          </p:cNvSpPr>
          <p:nvPr/>
        </p:nvSpPr>
        <p:spPr>
          <a:xfrm>
            <a:off x="8707755" y="4515326"/>
            <a:ext cx="9295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KV Cache</a:t>
            </a:r>
          </a:p>
        </p:txBody>
      </p:sp>
      <p:sp>
        <p:nvSpPr>
          <p:cNvPr id="32" name="text-14">
            <a:extLst>
              <a:ext uri="{FF2B5EF4-FFF2-40B4-BE49-F238E27FC236}">
                <a16:creationId xmlns:a16="http://schemas.microsoft.com/office/drawing/2014/main" id="{C2721081-2451-4B51-8587-DF76FD8071F0}"/>
              </a:ext>
            </a:extLst>
          </p:cNvPr>
          <p:cNvSpPr>
            <a:spLocks noGrp="1"/>
          </p:cNvSpPr>
          <p:nvPr/>
        </p:nvSpPr>
        <p:spPr>
          <a:xfrm>
            <a:off x="8898922" y="4761929"/>
            <a:ext cx="547211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0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0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0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handoff</a:t>
            </a:r>
          </a:p>
        </p:txBody>
      </p:sp>
      <p:sp>
        <p:nvSpPr>
          <p:cNvPr id="33" name="text-15">
            <a:extLst>
              <a:ext uri="{FF2B5EF4-FFF2-40B4-BE49-F238E27FC236}">
                <a16:creationId xmlns:a16="http://schemas.microsoft.com/office/drawing/2014/main" id="{D2F7EF2A-385B-4F6F-A962-0C9AA5254BE2}"/>
              </a:ext>
            </a:extLst>
          </p:cNvPr>
          <p:cNvSpPr>
            <a:spLocks noGrp="1"/>
          </p:cNvSpPr>
          <p:nvPr/>
        </p:nvSpPr>
        <p:spPr>
          <a:xfrm>
            <a:off x="10823353" y="3505200"/>
            <a:ext cx="33699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34" name="text-16">
            <a:extLst>
              <a:ext uri="{FF2B5EF4-FFF2-40B4-BE49-F238E27FC236}">
                <a16:creationId xmlns:a16="http://schemas.microsoft.com/office/drawing/2014/main" id="{50CB7D49-4F78-412F-B4E7-54146385D845}"/>
              </a:ext>
            </a:extLst>
          </p:cNvPr>
          <p:cNvSpPr>
            <a:spLocks noGrp="1"/>
          </p:cNvSpPr>
          <p:nvPr/>
        </p:nvSpPr>
        <p:spPr>
          <a:xfrm>
            <a:off x="11572875" y="3427857"/>
            <a:ext cx="1355217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 POOL</a:t>
            </a:r>
          </a:p>
        </p:txBody>
      </p:sp>
      <p:sp>
        <p:nvSpPr>
          <p:cNvPr id="35" name="text-17">
            <a:extLst>
              <a:ext uri="{FF2B5EF4-FFF2-40B4-BE49-F238E27FC236}">
                <a16:creationId xmlns:a16="http://schemas.microsoft.com/office/drawing/2014/main" id="{DF46D091-5C24-4BCE-BA30-238324C08C90}"/>
              </a:ext>
            </a:extLst>
          </p:cNvPr>
          <p:cNvSpPr>
            <a:spLocks noGrp="1"/>
          </p:cNvSpPr>
          <p:nvPr/>
        </p:nvSpPr>
        <p:spPr>
          <a:xfrm>
            <a:off x="11572875" y="3665982"/>
            <a:ext cx="27432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围绕持续生成选型</a:t>
            </a:r>
          </a:p>
        </p:txBody>
      </p:sp>
      <p:sp>
        <p:nvSpPr>
          <p:cNvPr id="36" name="text-18">
            <a:extLst>
              <a:ext uri="{FF2B5EF4-FFF2-40B4-BE49-F238E27FC236}">
                <a16:creationId xmlns:a16="http://schemas.microsoft.com/office/drawing/2014/main" id="{31B62A0F-AFE0-4868-9CEE-1F415ED8132C}"/>
              </a:ext>
            </a:extLst>
          </p:cNvPr>
          <p:cNvSpPr>
            <a:spLocks noGrp="1"/>
          </p:cNvSpPr>
          <p:nvPr/>
        </p:nvSpPr>
        <p:spPr>
          <a:xfrm>
            <a:off x="11168063" y="4538186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显存带宽</a:t>
            </a:r>
          </a:p>
        </p:txBody>
      </p:sp>
      <p:sp>
        <p:nvSpPr>
          <p:cNvPr id="37" name="text-19">
            <a:extLst>
              <a:ext uri="{FF2B5EF4-FFF2-40B4-BE49-F238E27FC236}">
                <a16:creationId xmlns:a16="http://schemas.microsoft.com/office/drawing/2014/main" id="{F6C601AD-0F57-416A-902E-034E868C7566}"/>
              </a:ext>
            </a:extLst>
          </p:cNvPr>
          <p:cNvSpPr>
            <a:spLocks noGrp="1"/>
          </p:cNvSpPr>
          <p:nvPr/>
        </p:nvSpPr>
        <p:spPr>
          <a:xfrm>
            <a:off x="13263563" y="4538186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互联能力</a:t>
            </a:r>
          </a:p>
        </p:txBody>
      </p:sp>
      <p:sp>
        <p:nvSpPr>
          <p:cNvPr id="38" name="text-20">
            <a:extLst>
              <a:ext uri="{FF2B5EF4-FFF2-40B4-BE49-F238E27FC236}">
                <a16:creationId xmlns:a16="http://schemas.microsoft.com/office/drawing/2014/main" id="{5F5466EF-09B3-44ED-A0B1-FE7FAB0B78FE}"/>
              </a:ext>
            </a:extLst>
          </p:cNvPr>
          <p:cNvSpPr>
            <a:spLocks noGrp="1"/>
          </p:cNvSpPr>
          <p:nvPr/>
        </p:nvSpPr>
        <p:spPr>
          <a:xfrm>
            <a:off x="15359063" y="4538186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单步时延</a:t>
            </a:r>
          </a:p>
        </p:txBody>
      </p:sp>
      <p:sp>
        <p:nvSpPr>
          <p:cNvPr id="39" name="text-21">
            <a:extLst>
              <a:ext uri="{FF2B5EF4-FFF2-40B4-BE49-F238E27FC236}">
                <a16:creationId xmlns:a16="http://schemas.microsoft.com/office/drawing/2014/main" id="{FFDCEEA7-A728-428C-B18F-D639E8EEC533}"/>
              </a:ext>
            </a:extLst>
          </p:cNvPr>
          <p:cNvSpPr>
            <a:spLocks noGrp="1"/>
          </p:cNvSpPr>
          <p:nvPr/>
        </p:nvSpPr>
        <p:spPr>
          <a:xfrm>
            <a:off x="10582275" y="5163503"/>
            <a:ext cx="590873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rPr>
              <a:t>按逐 Token 生成需求选择设备，并围绕服务入口组织资源</a:t>
            </a:r>
          </a:p>
        </p:txBody>
      </p:sp>
      <p:sp>
        <p:nvSpPr>
          <p:cNvPr id="40" name="text-22">
            <a:extLst>
              <a:ext uri="{FF2B5EF4-FFF2-40B4-BE49-F238E27FC236}">
                <a16:creationId xmlns:a16="http://schemas.microsoft.com/office/drawing/2014/main" id="{1C63F704-E41D-4776-BA59-2D7E0E8CFE12}"/>
              </a:ext>
            </a:extLst>
          </p:cNvPr>
          <p:cNvSpPr>
            <a:spLocks noGrp="1"/>
          </p:cNvSpPr>
          <p:nvPr/>
        </p:nvSpPr>
        <p:spPr>
          <a:xfrm>
            <a:off x="10582275" y="5494973"/>
            <a:ext cx="53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4E5A6E"/>
                </a:solidFill>
                <a:latin typeface="PingFang SC"/>
                <a:ea typeface="PingFang SC"/>
                <a:cs typeface="Arial"/>
              </a:rPr>
              <a:t>池。</a:t>
            </a:r>
          </a:p>
        </p:txBody>
      </p:sp>
      <p:sp>
        <p:nvSpPr>
          <p:cNvPr id="41" name="text-23">
            <a:extLst>
              <a:ext uri="{FF2B5EF4-FFF2-40B4-BE49-F238E27FC236}">
                <a16:creationId xmlns:a16="http://schemas.microsoft.com/office/drawing/2014/main" id="{FD524E60-142D-416C-ABD8-C540B29C3E46}"/>
              </a:ext>
            </a:extLst>
          </p:cNvPr>
          <p:cNvSpPr>
            <a:spLocks noGrp="1"/>
          </p:cNvSpPr>
          <p:nvPr/>
        </p:nvSpPr>
        <p:spPr>
          <a:xfrm>
            <a:off x="1400175" y="6962775"/>
            <a:ext cx="316706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42" name="text-24">
            <a:extLst>
              <a:ext uri="{FF2B5EF4-FFF2-40B4-BE49-F238E27FC236}">
                <a16:creationId xmlns:a16="http://schemas.microsoft.com/office/drawing/2014/main" id="{E09A4EDE-1592-4382-9D3D-3B3964E7CC01}"/>
              </a:ext>
            </a:extLst>
          </p:cNvPr>
          <p:cNvSpPr>
            <a:spLocks noGrp="1"/>
          </p:cNvSpPr>
          <p:nvPr/>
        </p:nvSpPr>
        <p:spPr>
          <a:xfrm>
            <a:off x="2057400" y="6953250"/>
            <a:ext cx="1181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硬件独立</a:t>
            </a:r>
          </a:p>
        </p:txBody>
      </p:sp>
      <p:sp>
        <p:nvSpPr>
          <p:cNvPr id="43" name="text-25">
            <a:extLst>
              <a:ext uri="{FF2B5EF4-FFF2-40B4-BE49-F238E27FC236}">
                <a16:creationId xmlns:a16="http://schemas.microsoft.com/office/drawing/2014/main" id="{B909D739-CD3A-4C64-B2B6-93E3C5CADDE6}"/>
              </a:ext>
            </a:extLst>
          </p:cNvPr>
          <p:cNvSpPr>
            <a:spLocks noGrp="1"/>
          </p:cNvSpPr>
          <p:nvPr/>
        </p:nvSpPr>
        <p:spPr>
          <a:xfrm>
            <a:off x="2057400" y="7451789"/>
            <a:ext cx="411299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P/D 可以采用不同型号、代际或厂商的设备。</a:t>
            </a:r>
          </a:p>
        </p:txBody>
      </p:sp>
      <p:sp>
        <p:nvSpPr>
          <p:cNvPr id="44" name="text-26">
            <a:extLst>
              <a:ext uri="{FF2B5EF4-FFF2-40B4-BE49-F238E27FC236}">
                <a16:creationId xmlns:a16="http://schemas.microsoft.com/office/drawing/2014/main" id="{06AD46BF-7BEC-49C8-AAED-B4C1264EA254}"/>
              </a:ext>
            </a:extLst>
          </p:cNvPr>
          <p:cNvSpPr>
            <a:spLocks noGrp="1"/>
          </p:cNvSpPr>
          <p:nvPr/>
        </p:nvSpPr>
        <p:spPr>
          <a:xfrm>
            <a:off x="9515475" y="6962775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45" name="text-27">
            <a:extLst>
              <a:ext uri="{FF2B5EF4-FFF2-40B4-BE49-F238E27FC236}">
                <a16:creationId xmlns:a16="http://schemas.microsoft.com/office/drawing/2014/main" id="{75A48ED7-77CF-447E-9C71-DD5F954FDB8F}"/>
              </a:ext>
            </a:extLst>
          </p:cNvPr>
          <p:cNvSpPr>
            <a:spLocks noGrp="1"/>
          </p:cNvSpPr>
          <p:nvPr/>
        </p:nvSpPr>
        <p:spPr>
          <a:xfrm>
            <a:off x="10172700" y="6953250"/>
            <a:ext cx="2009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部署与演进独立</a:t>
            </a:r>
          </a:p>
        </p:txBody>
      </p:sp>
      <p:sp>
        <p:nvSpPr>
          <p:cNvPr id="46" name="text-28">
            <a:extLst>
              <a:ext uri="{FF2B5EF4-FFF2-40B4-BE49-F238E27FC236}">
                <a16:creationId xmlns:a16="http://schemas.microsoft.com/office/drawing/2014/main" id="{A2286E5B-C4CA-44CF-B1EE-DEBEB2E1C437}"/>
              </a:ext>
            </a:extLst>
          </p:cNvPr>
          <p:cNvSpPr>
            <a:spLocks noGrp="1"/>
          </p:cNvSpPr>
          <p:nvPr/>
        </p:nvSpPr>
        <p:spPr>
          <a:xfrm>
            <a:off x="10172700" y="7451789"/>
            <a:ext cx="4476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可以位于不同资源池，并分别采购、扩容和升级。</a:t>
            </a:r>
          </a:p>
        </p:txBody>
      </p:sp>
      <p:sp>
        <p:nvSpPr>
          <p:cNvPr id="47" name="text-29">
            <a:extLst>
              <a:ext uri="{FF2B5EF4-FFF2-40B4-BE49-F238E27FC236}">
                <a16:creationId xmlns:a16="http://schemas.microsoft.com/office/drawing/2014/main" id="{705E261D-A7E3-47E9-B0CC-38C7AFDE59E2}"/>
              </a:ext>
            </a:extLst>
          </p:cNvPr>
          <p:cNvSpPr>
            <a:spLocks noGrp="1"/>
          </p:cNvSpPr>
          <p:nvPr/>
        </p:nvSpPr>
        <p:spPr>
          <a:xfrm>
            <a:off x="4675632" y="9067800"/>
            <a:ext cx="899398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P/D 从固定硬件组合，变成两个可以独立选择、部署和演进的资源池。</a:t>
            </a:r>
          </a:p>
        </p:txBody>
      </p:sp>
      <p:sp>
        <p:nvSpPr>
          <p:cNvPr id="48" name="text-30">
            <a:extLst>
              <a:ext uri="{FF2B5EF4-FFF2-40B4-BE49-F238E27FC236}">
                <a16:creationId xmlns:a16="http://schemas.microsoft.com/office/drawing/2014/main" id="{051E0A0C-251B-4AB7-8783-E748169F2CBD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16 / 43</a:t>
            </a:r>
          </a:p>
        </p:txBody>
      </p:sp>
    </p:spTree>
    <p:extLst>
      <p:ext uri="{BB962C8B-B14F-4D97-AF65-F5344CB8AC3E}">
        <p14:creationId xmlns:p14="http://schemas.microsoft.com/office/powerpoint/2010/main" val="789128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html-shape-1">
            <a:extLst>
              <a:ext uri="{FF2B5EF4-FFF2-40B4-BE49-F238E27FC236}">
                <a16:creationId xmlns:a16="http://schemas.microsoft.com/office/drawing/2014/main" id="{8217CAF9-097C-4E2A-B076-CEFAFB13636C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6191250" cy="59055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2" name="html-shape-2">
            <a:extLst>
              <a:ext uri="{FF2B5EF4-FFF2-40B4-BE49-F238E27FC236}">
                <a16:creationId xmlns:a16="http://schemas.microsoft.com/office/drawing/2014/main" id="{FDAACFBA-40CF-437A-8B4C-48B15F3F89DE}"/>
              </a:ext>
            </a:extLst>
          </p:cNvPr>
          <p:cNvSpPr>
            <a:spLocks noGrp="1"/>
          </p:cNvSpPr>
          <p:nvPr/>
        </p:nvSpPr>
        <p:spPr>
          <a:xfrm>
            <a:off x="8020050" y="2857500"/>
            <a:ext cx="9124950" cy="1968437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html-shape-4">
            <a:extLst>
              <a:ext uri="{FF2B5EF4-FFF2-40B4-BE49-F238E27FC236}">
                <a16:creationId xmlns:a16="http://schemas.microsoft.com/office/drawing/2014/main" id="{DC503FFA-5437-4677-A84A-09B5E712F379}"/>
              </a:ext>
            </a:extLst>
          </p:cNvPr>
          <p:cNvSpPr>
            <a:spLocks noGrp="1"/>
          </p:cNvSpPr>
          <p:nvPr/>
        </p:nvSpPr>
        <p:spPr>
          <a:xfrm>
            <a:off x="8020050" y="4825937"/>
            <a:ext cx="9124950" cy="1968532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html-shape-6">
            <a:extLst>
              <a:ext uri="{FF2B5EF4-FFF2-40B4-BE49-F238E27FC236}">
                <a16:creationId xmlns:a16="http://schemas.microsoft.com/office/drawing/2014/main" id="{86E6A7C1-C5CA-47A8-B6DD-9B6EA1331A4F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5" name="border-3">
            <a:extLst>
              <a:ext uri="{FF2B5EF4-FFF2-40B4-BE49-F238E27FC236}">
                <a16:creationId xmlns:a16="http://schemas.microsoft.com/office/drawing/2014/main" id="{1DDC1636-495F-4C05-9826-3CF4C4B102DD}"/>
              </a:ext>
            </a:extLst>
          </p:cNvPr>
          <p:cNvSpPr>
            <a:spLocks noGrp="1"/>
          </p:cNvSpPr>
          <p:nvPr/>
        </p:nvSpPr>
        <p:spPr>
          <a:xfrm>
            <a:off x="8020050" y="4806887"/>
            <a:ext cx="912495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6" name="border-5">
            <a:extLst>
              <a:ext uri="{FF2B5EF4-FFF2-40B4-BE49-F238E27FC236}">
                <a16:creationId xmlns:a16="http://schemas.microsoft.com/office/drawing/2014/main" id="{21D203B5-7B0E-4E20-84C1-9F0A5353ECF1}"/>
              </a:ext>
            </a:extLst>
          </p:cNvPr>
          <p:cNvSpPr>
            <a:spLocks noGrp="1"/>
          </p:cNvSpPr>
          <p:nvPr/>
        </p:nvSpPr>
        <p:spPr>
          <a:xfrm>
            <a:off x="8020050" y="6775418"/>
            <a:ext cx="912495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BEC2FBD-FEB6-416D-BBE6-AF83F9BEE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CBBD33-7205-4CBA-BAC7-2EB4A3F64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19523" y="2962309"/>
            <a:ext cx="5438013" cy="56958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1239AB-9EF3-415F-B0AE-58314EDC0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0" name="text-1">
            <a:extLst>
              <a:ext uri="{FF2B5EF4-FFF2-40B4-BE49-F238E27FC236}">
                <a16:creationId xmlns:a16="http://schemas.microsoft.com/office/drawing/2014/main" id="{F7E9FFFC-7E4A-4B08-8991-D98A2AACF2AC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1" name="text-2">
            <a:extLst>
              <a:ext uri="{FF2B5EF4-FFF2-40B4-BE49-F238E27FC236}">
                <a16:creationId xmlns:a16="http://schemas.microsoft.com/office/drawing/2014/main" id="{ECB9C45F-7A3F-4692-B1E8-ACB9C3B36CEA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83530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第三章 · PD 分离的系统价值</a:t>
            </a:r>
          </a:p>
        </p:txBody>
      </p:sp>
      <p:sp>
        <p:nvSpPr>
          <p:cNvPr id="12" name="text-3">
            <a:extLst>
              <a:ext uri="{FF2B5EF4-FFF2-40B4-BE49-F238E27FC236}">
                <a16:creationId xmlns:a16="http://schemas.microsoft.com/office/drawing/2014/main" id="{61BB38AB-7889-497C-8738-A069E557CD05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1795951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337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Mooncake 已形成完整的数据基础设施体系</a:t>
            </a:r>
          </a:p>
        </p:txBody>
      </p:sp>
      <p:sp>
        <p:nvSpPr>
          <p:cNvPr id="13" name="text-4">
            <a:extLst>
              <a:ext uri="{FF2B5EF4-FFF2-40B4-BE49-F238E27FC236}">
                <a16:creationId xmlns:a16="http://schemas.microsoft.com/office/drawing/2014/main" id="{260D0B12-AF36-4B99-8225-E55F250DFB15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1013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它连接多种训练与推理工作流，并统一跨设备、内存和网络的数据移动。</a:t>
            </a:r>
          </a:p>
        </p:txBody>
      </p:sp>
      <p:sp>
        <p:nvSpPr>
          <p:cNvPr id="14" name="text-5">
            <a:extLst>
              <a:ext uri="{FF2B5EF4-FFF2-40B4-BE49-F238E27FC236}">
                <a16:creationId xmlns:a16="http://schemas.microsoft.com/office/drawing/2014/main" id="{4181DC24-9469-4C46-B55C-ECA32E2A62B8}"/>
              </a:ext>
            </a:extLst>
          </p:cNvPr>
          <p:cNvSpPr>
            <a:spLocks noGrp="1"/>
          </p:cNvSpPr>
          <p:nvPr/>
        </p:nvSpPr>
        <p:spPr>
          <a:xfrm>
            <a:off x="8010525" y="3371660"/>
            <a:ext cx="307181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15" name="text-6">
            <a:extLst>
              <a:ext uri="{FF2B5EF4-FFF2-40B4-BE49-F238E27FC236}">
                <a16:creationId xmlns:a16="http://schemas.microsoft.com/office/drawing/2014/main" id="{99A35F5E-B75B-4FD2-B19E-60FF03F01283}"/>
              </a:ext>
            </a:extLst>
          </p:cNvPr>
          <p:cNvSpPr>
            <a:spLocks noGrp="1"/>
          </p:cNvSpPr>
          <p:nvPr/>
        </p:nvSpPr>
        <p:spPr>
          <a:xfrm>
            <a:off x="8658225" y="3381185"/>
            <a:ext cx="2076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面向完整工作流</a:t>
            </a:r>
          </a:p>
        </p:txBody>
      </p:sp>
      <p:sp>
        <p:nvSpPr>
          <p:cNvPr id="16" name="text-7">
            <a:extLst>
              <a:ext uri="{FF2B5EF4-FFF2-40B4-BE49-F238E27FC236}">
                <a16:creationId xmlns:a16="http://schemas.microsoft.com/office/drawing/2014/main" id="{6E0B0A14-FC4A-4728-947B-F8A0A66A77D9}"/>
              </a:ext>
            </a:extLst>
          </p:cNvPr>
          <p:cNvSpPr>
            <a:spLocks noGrp="1"/>
          </p:cNvSpPr>
          <p:nvPr/>
        </p:nvSpPr>
        <p:spPr>
          <a:xfrm>
            <a:off x="8658225" y="3952685"/>
            <a:ext cx="659520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覆盖模型分发、RL、PD 分离、KV Cache sharing 与训练/推理系统。</a:t>
            </a:r>
          </a:p>
        </p:txBody>
      </p:sp>
      <p:sp>
        <p:nvSpPr>
          <p:cNvPr id="17" name="text-8">
            <a:extLst>
              <a:ext uri="{FF2B5EF4-FFF2-40B4-BE49-F238E27FC236}">
                <a16:creationId xmlns:a16="http://schemas.microsoft.com/office/drawing/2014/main" id="{23EFC39C-F2EF-4D5D-ACCF-DEBF13A1AC01}"/>
              </a:ext>
            </a:extLst>
          </p:cNvPr>
          <p:cNvSpPr>
            <a:spLocks noGrp="1"/>
          </p:cNvSpPr>
          <p:nvPr/>
        </p:nvSpPr>
        <p:spPr>
          <a:xfrm>
            <a:off x="8010525" y="5340096"/>
            <a:ext cx="35061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18" name="text-9">
            <a:extLst>
              <a:ext uri="{FF2B5EF4-FFF2-40B4-BE49-F238E27FC236}">
                <a16:creationId xmlns:a16="http://schemas.microsoft.com/office/drawing/2014/main" id="{65DAD9E4-DF9F-41B7-B47E-F38656E26523}"/>
              </a:ext>
            </a:extLst>
          </p:cNvPr>
          <p:cNvSpPr>
            <a:spLocks noGrp="1"/>
          </p:cNvSpPr>
          <p:nvPr/>
        </p:nvSpPr>
        <p:spPr>
          <a:xfrm>
            <a:off x="8658225" y="5349621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统一数据移动底座</a:t>
            </a:r>
          </a:p>
        </p:txBody>
      </p:sp>
      <p:sp>
        <p:nvSpPr>
          <p:cNvPr id="19" name="text-10">
            <a:extLst>
              <a:ext uri="{FF2B5EF4-FFF2-40B4-BE49-F238E27FC236}">
                <a16:creationId xmlns:a16="http://schemas.microsoft.com/office/drawing/2014/main" id="{4C2E8904-41BF-414C-BE0B-36575E3856E6}"/>
              </a:ext>
            </a:extLst>
          </p:cNvPr>
          <p:cNvSpPr>
            <a:spLocks noGrp="1"/>
          </p:cNvSpPr>
          <p:nvPr/>
        </p:nvSpPr>
        <p:spPr>
          <a:xfrm>
            <a:off x="8658225" y="5921121"/>
            <a:ext cx="58626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P2P、EP/PG Backend 与 Store 复用同一 Transfer Engine。</a:t>
            </a:r>
          </a:p>
        </p:txBody>
      </p:sp>
      <p:sp>
        <p:nvSpPr>
          <p:cNvPr id="20" name="text-11">
            <a:extLst>
              <a:ext uri="{FF2B5EF4-FFF2-40B4-BE49-F238E27FC236}">
                <a16:creationId xmlns:a16="http://schemas.microsoft.com/office/drawing/2014/main" id="{FC5CE081-1E1C-49DF-BB92-05F5A9DEA193}"/>
              </a:ext>
            </a:extLst>
          </p:cNvPr>
          <p:cNvSpPr>
            <a:spLocks noGrp="1"/>
          </p:cNvSpPr>
          <p:nvPr/>
        </p:nvSpPr>
        <p:spPr>
          <a:xfrm>
            <a:off x="8010525" y="7318153"/>
            <a:ext cx="35061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03</a:t>
            </a:r>
          </a:p>
        </p:txBody>
      </p:sp>
      <p:sp>
        <p:nvSpPr>
          <p:cNvPr id="21" name="text-12">
            <a:extLst>
              <a:ext uri="{FF2B5EF4-FFF2-40B4-BE49-F238E27FC236}">
                <a16:creationId xmlns:a16="http://schemas.microsoft.com/office/drawing/2014/main" id="{319AB8AA-EBF6-4C7B-B550-A91CCBD196C1}"/>
              </a:ext>
            </a:extLst>
          </p:cNvPr>
          <p:cNvSpPr>
            <a:spLocks noGrp="1"/>
          </p:cNvSpPr>
          <p:nvPr/>
        </p:nvSpPr>
        <p:spPr>
          <a:xfrm>
            <a:off x="8658225" y="7327678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兼容异构基础设施</a:t>
            </a:r>
          </a:p>
        </p:txBody>
      </p:sp>
      <p:sp>
        <p:nvSpPr>
          <p:cNvPr id="22" name="text-13">
            <a:extLst>
              <a:ext uri="{FF2B5EF4-FFF2-40B4-BE49-F238E27FC236}">
                <a16:creationId xmlns:a16="http://schemas.microsoft.com/office/drawing/2014/main" id="{7CC8C5C8-614F-42E1-A8DB-148F52727C5E}"/>
              </a:ext>
            </a:extLst>
          </p:cNvPr>
          <p:cNvSpPr>
            <a:spLocks noGrp="1"/>
          </p:cNvSpPr>
          <p:nvPr/>
        </p:nvSpPr>
        <p:spPr>
          <a:xfrm>
            <a:off x="8658225" y="7899178"/>
            <a:ext cx="544001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连接 GPU、NPU、CPU、内存、存储以及多种网络传输。</a:t>
            </a:r>
          </a:p>
        </p:txBody>
      </p:sp>
      <p:sp>
        <p:nvSpPr>
          <p:cNvPr id="23" name="text-14">
            <a:extLst>
              <a:ext uri="{FF2B5EF4-FFF2-40B4-BE49-F238E27FC236}">
                <a16:creationId xmlns:a16="http://schemas.microsoft.com/office/drawing/2014/main" id="{27BB2C45-94B1-4088-8014-8B1724A400B3}"/>
              </a:ext>
            </a:extLst>
          </p:cNvPr>
          <p:cNvSpPr>
            <a:spLocks noGrp="1"/>
          </p:cNvSpPr>
          <p:nvPr/>
        </p:nvSpPr>
        <p:spPr>
          <a:xfrm>
            <a:off x="3666554" y="9067800"/>
            <a:ext cx="110119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我们发起并持续维护 Mooncake，把生产系统中的数据移动能力沉淀为开源基础设施。</a:t>
            </a:r>
          </a:p>
        </p:txBody>
      </p:sp>
      <p:sp>
        <p:nvSpPr>
          <p:cNvPr id="24" name="text-15">
            <a:extLst>
              <a:ext uri="{FF2B5EF4-FFF2-40B4-BE49-F238E27FC236}">
                <a16:creationId xmlns:a16="http://schemas.microsoft.com/office/drawing/2014/main" id="{35559307-6C93-4288-B383-C9C71B874393}"/>
              </a:ext>
            </a:extLst>
          </p:cNvPr>
          <p:cNvSpPr>
            <a:spLocks noGrp="1"/>
          </p:cNvSpPr>
          <p:nvPr/>
        </p:nvSpPr>
        <p:spPr>
          <a:xfrm>
            <a:off x="762000" y="9906000"/>
            <a:ext cx="3934587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8A95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8A95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8A95A8"/>
                </a:solidFill>
                <a:latin typeface="PingFang SC"/>
                <a:ea typeface="PingFang SC"/>
                <a:cs typeface="Arial"/>
              </a:rPr>
              <a:t>Source: Mooncake Train/Inference Workflow architecture.</a:t>
            </a:r>
          </a:p>
        </p:txBody>
      </p:sp>
      <p:sp>
        <p:nvSpPr>
          <p:cNvPr id="25" name="text-16">
            <a:extLst>
              <a:ext uri="{FF2B5EF4-FFF2-40B4-BE49-F238E27FC236}">
                <a16:creationId xmlns:a16="http://schemas.microsoft.com/office/drawing/2014/main" id="{5A5DFF06-3678-47ED-996F-52D51C23B3D3}"/>
              </a:ext>
            </a:extLst>
          </p:cNvPr>
          <p:cNvSpPr>
            <a:spLocks noGrp="1"/>
          </p:cNvSpPr>
          <p:nvPr/>
        </p:nvSpPr>
        <p:spPr>
          <a:xfrm>
            <a:off x="16936784" y="9848850"/>
            <a:ext cx="646367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17 / 43</a:t>
            </a:r>
          </a:p>
        </p:txBody>
      </p:sp>
    </p:spTree>
    <p:extLst>
      <p:ext uri="{BB962C8B-B14F-4D97-AF65-F5344CB8AC3E}">
        <p14:creationId xmlns:p14="http://schemas.microsoft.com/office/powerpoint/2010/main" val="161973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html-shape-5">
            <a:extLst>
              <a:ext uri="{FF2B5EF4-FFF2-40B4-BE49-F238E27FC236}">
                <a16:creationId xmlns:a16="http://schemas.microsoft.com/office/drawing/2014/main" id="{481FA2A2-8F62-49E2-A5C0-B153D2F2F70C}"/>
              </a:ext>
            </a:extLst>
          </p:cNvPr>
          <p:cNvSpPr>
            <a:spLocks noGrp="1"/>
          </p:cNvSpPr>
          <p:nvPr/>
        </p:nvSpPr>
        <p:spPr>
          <a:xfrm>
            <a:off x="1143000" y="6905625"/>
            <a:ext cx="16002000" cy="14859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" name="html-shape-10">
            <a:extLst>
              <a:ext uri="{FF2B5EF4-FFF2-40B4-BE49-F238E27FC236}">
                <a16:creationId xmlns:a16="http://schemas.microsoft.com/office/drawing/2014/main" id="{29B444EE-49A8-4689-BEE7-363C8A3B01BE}"/>
              </a:ext>
            </a:extLst>
          </p:cNvPr>
          <p:cNvSpPr>
            <a:spLocks noGrp="1"/>
          </p:cNvSpPr>
          <p:nvPr/>
        </p:nvSpPr>
        <p:spPr>
          <a:xfrm>
            <a:off x="4000500" y="6924675"/>
            <a:ext cx="4381500" cy="14478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html-shape-12">
            <a:extLst>
              <a:ext uri="{FF2B5EF4-FFF2-40B4-BE49-F238E27FC236}">
                <a16:creationId xmlns:a16="http://schemas.microsoft.com/office/drawing/2014/main" id="{19D2D5FE-4290-4494-9806-CF48EB071F6A}"/>
              </a:ext>
            </a:extLst>
          </p:cNvPr>
          <p:cNvSpPr>
            <a:spLocks noGrp="1"/>
          </p:cNvSpPr>
          <p:nvPr/>
        </p:nvSpPr>
        <p:spPr>
          <a:xfrm>
            <a:off x="8382000" y="6924675"/>
            <a:ext cx="4381500" cy="14478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html-shape-14">
            <a:extLst>
              <a:ext uri="{FF2B5EF4-FFF2-40B4-BE49-F238E27FC236}">
                <a16:creationId xmlns:a16="http://schemas.microsoft.com/office/drawing/2014/main" id="{09DBB5DF-6592-4833-91E9-525FDD30DEB4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5" name="html-line-1">
            <a:extLst>
              <a:ext uri="{FF2B5EF4-FFF2-40B4-BE49-F238E27FC236}">
                <a16:creationId xmlns:a16="http://schemas.microsoft.com/office/drawing/2014/main" id="{6345D805-E64D-4EF0-971C-9148AAA56DC4}"/>
              </a:ext>
            </a:extLst>
          </p:cNvPr>
          <p:cNvSpPr>
            <a:spLocks noGrp="1"/>
          </p:cNvSpPr>
          <p:nvPr/>
        </p:nvSpPr>
        <p:spPr>
          <a:xfrm>
            <a:off x="1552575" y="3548063"/>
            <a:ext cx="15182850" cy="4763"/>
          </a:xfrm>
          <a:prstGeom prst="line">
            <a:avLst/>
          </a:prstGeom>
          <a:noFill/>
          <a:ln w="28575">
            <a:solidFill>
              <a:srgbClr val="CDD4DF"/>
            </a:solidFill>
            <a:prstDash val="solid"/>
          </a:ln>
        </p:spPr>
      </p:sp>
      <p:sp>
        <p:nvSpPr>
          <p:cNvPr id="6" name="html-shape-1">
            <a:extLst>
              <a:ext uri="{FF2B5EF4-FFF2-40B4-BE49-F238E27FC236}">
                <a16:creationId xmlns:a16="http://schemas.microsoft.com/office/drawing/2014/main" id="{667BABA2-6680-46EF-B1DC-875DD9DB9079}"/>
              </a:ext>
            </a:extLst>
          </p:cNvPr>
          <p:cNvSpPr>
            <a:spLocks noGrp="1"/>
          </p:cNvSpPr>
          <p:nvPr/>
        </p:nvSpPr>
        <p:spPr>
          <a:xfrm>
            <a:off x="1219200" y="3067050"/>
            <a:ext cx="781050" cy="781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7" name="html-shape-2">
            <a:extLst>
              <a:ext uri="{FF2B5EF4-FFF2-40B4-BE49-F238E27FC236}">
                <a16:creationId xmlns:a16="http://schemas.microsoft.com/office/drawing/2014/main" id="{717AC718-D302-4631-A9C5-45E7EAD9AEF7}"/>
              </a:ext>
            </a:extLst>
          </p:cNvPr>
          <p:cNvSpPr>
            <a:spLocks noGrp="1"/>
          </p:cNvSpPr>
          <p:nvPr/>
        </p:nvSpPr>
        <p:spPr>
          <a:xfrm>
            <a:off x="5334000" y="3067050"/>
            <a:ext cx="781050" cy="781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8" name="html-shape-3">
            <a:extLst>
              <a:ext uri="{FF2B5EF4-FFF2-40B4-BE49-F238E27FC236}">
                <a16:creationId xmlns:a16="http://schemas.microsoft.com/office/drawing/2014/main" id="{D3004001-B72E-4AEC-92D2-A9B6C3F81437}"/>
              </a:ext>
            </a:extLst>
          </p:cNvPr>
          <p:cNvSpPr>
            <a:spLocks noGrp="1"/>
          </p:cNvSpPr>
          <p:nvPr/>
        </p:nvSpPr>
        <p:spPr>
          <a:xfrm>
            <a:off x="9448800" y="3067050"/>
            <a:ext cx="781050" cy="781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9" name="html-shape-4">
            <a:extLst>
              <a:ext uri="{FF2B5EF4-FFF2-40B4-BE49-F238E27FC236}">
                <a16:creationId xmlns:a16="http://schemas.microsoft.com/office/drawing/2014/main" id="{B9BC87FA-3723-42B5-A0DF-04A7BFA8D120}"/>
              </a:ext>
            </a:extLst>
          </p:cNvPr>
          <p:cNvSpPr>
            <a:spLocks noGrp="1"/>
          </p:cNvSpPr>
          <p:nvPr/>
        </p:nvSpPr>
        <p:spPr>
          <a:xfrm>
            <a:off x="13563600" y="3067050"/>
            <a:ext cx="781050" cy="781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10" name="border-6">
            <a:extLst>
              <a:ext uri="{FF2B5EF4-FFF2-40B4-BE49-F238E27FC236}">
                <a16:creationId xmlns:a16="http://schemas.microsoft.com/office/drawing/2014/main" id="{0F1D2D3A-46F1-43CB-9A63-C11A0BAFD867}"/>
              </a:ext>
            </a:extLst>
          </p:cNvPr>
          <p:cNvSpPr>
            <a:spLocks noGrp="1"/>
          </p:cNvSpPr>
          <p:nvPr/>
        </p:nvSpPr>
        <p:spPr>
          <a:xfrm>
            <a:off x="1143000" y="6905625"/>
            <a:ext cx="16002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" name="border-7">
            <a:extLst>
              <a:ext uri="{FF2B5EF4-FFF2-40B4-BE49-F238E27FC236}">
                <a16:creationId xmlns:a16="http://schemas.microsoft.com/office/drawing/2014/main" id="{7D54C74C-055C-4ABF-8935-438E95103122}"/>
              </a:ext>
            </a:extLst>
          </p:cNvPr>
          <p:cNvSpPr>
            <a:spLocks noGrp="1"/>
          </p:cNvSpPr>
          <p:nvPr/>
        </p:nvSpPr>
        <p:spPr>
          <a:xfrm>
            <a:off x="1143000" y="8372475"/>
            <a:ext cx="16002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" name="html-shape-8">
            <a:extLst>
              <a:ext uri="{FF2B5EF4-FFF2-40B4-BE49-F238E27FC236}">
                <a16:creationId xmlns:a16="http://schemas.microsoft.com/office/drawing/2014/main" id="{8155BBF0-1910-4E66-9FF2-292D7CB24A7C}"/>
              </a:ext>
            </a:extLst>
          </p:cNvPr>
          <p:cNvSpPr>
            <a:spLocks noGrp="1"/>
          </p:cNvSpPr>
          <p:nvPr/>
        </p:nvSpPr>
        <p:spPr>
          <a:xfrm>
            <a:off x="1143000" y="6924675"/>
            <a:ext cx="2857500" cy="14478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" name="border-9">
            <a:extLst>
              <a:ext uri="{FF2B5EF4-FFF2-40B4-BE49-F238E27FC236}">
                <a16:creationId xmlns:a16="http://schemas.microsoft.com/office/drawing/2014/main" id="{49A18308-809E-4371-8739-0FF65CF6FEBF}"/>
              </a:ext>
            </a:extLst>
          </p:cNvPr>
          <p:cNvSpPr>
            <a:spLocks noGrp="1"/>
          </p:cNvSpPr>
          <p:nvPr/>
        </p:nvSpPr>
        <p:spPr>
          <a:xfrm>
            <a:off x="3981450" y="6924675"/>
            <a:ext cx="19050" cy="14478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" name="border-11">
            <a:extLst>
              <a:ext uri="{FF2B5EF4-FFF2-40B4-BE49-F238E27FC236}">
                <a16:creationId xmlns:a16="http://schemas.microsoft.com/office/drawing/2014/main" id="{AC4C1807-9A05-4C49-B4B6-F71E64E5B231}"/>
              </a:ext>
            </a:extLst>
          </p:cNvPr>
          <p:cNvSpPr>
            <a:spLocks noGrp="1"/>
          </p:cNvSpPr>
          <p:nvPr/>
        </p:nvSpPr>
        <p:spPr>
          <a:xfrm>
            <a:off x="8362950" y="6924675"/>
            <a:ext cx="19050" cy="14478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5" name="border-13">
            <a:extLst>
              <a:ext uri="{FF2B5EF4-FFF2-40B4-BE49-F238E27FC236}">
                <a16:creationId xmlns:a16="http://schemas.microsoft.com/office/drawing/2014/main" id="{039CCD5B-71D2-4021-8A4A-F449EC060D3B}"/>
              </a:ext>
            </a:extLst>
          </p:cNvPr>
          <p:cNvSpPr>
            <a:spLocks noGrp="1"/>
          </p:cNvSpPr>
          <p:nvPr/>
        </p:nvSpPr>
        <p:spPr>
          <a:xfrm>
            <a:off x="12744450" y="6924675"/>
            <a:ext cx="19050" cy="14478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A5EF040-2E50-4351-B3CD-377D6859C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03D0B47-D7F6-47ED-B704-54A620C5F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8" name="text-1">
            <a:extLst>
              <a:ext uri="{FF2B5EF4-FFF2-40B4-BE49-F238E27FC236}">
                <a16:creationId xmlns:a16="http://schemas.microsoft.com/office/drawing/2014/main" id="{10911AC2-EC5A-42D8-8448-892C6274E3C7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9" name="text-2">
            <a:extLst>
              <a:ext uri="{FF2B5EF4-FFF2-40B4-BE49-F238E27FC236}">
                <a16:creationId xmlns:a16="http://schemas.microsoft.com/office/drawing/2014/main" id="{73B2A251-7CF7-4AE9-A24F-B6A106F1CCB8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83530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第三章 · PD 分离的系统价值</a:t>
            </a:r>
          </a:p>
        </p:txBody>
      </p:sp>
      <p:sp>
        <p:nvSpPr>
          <p:cNvPr id="20" name="text-3">
            <a:extLst>
              <a:ext uri="{FF2B5EF4-FFF2-40B4-BE49-F238E27FC236}">
                <a16:creationId xmlns:a16="http://schemas.microsoft.com/office/drawing/2014/main" id="{63947B73-5EDD-402A-B70E-5917BEDB716A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2239149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887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Mooncake 已从 Kimi 生产系统走向主流生态</a:t>
            </a:r>
          </a:p>
        </p:txBody>
      </p:sp>
      <p:sp>
        <p:nvSpPr>
          <p:cNvPr id="21" name="text-4">
            <a:extLst>
              <a:ext uri="{FF2B5EF4-FFF2-40B4-BE49-F238E27FC236}">
                <a16:creationId xmlns:a16="http://schemas.microsoft.com/office/drawing/2014/main" id="{95A46376-0B96-4DB8-A66D-7D9D5DA5451E}"/>
              </a:ext>
            </a:extLst>
          </p:cNvPr>
          <p:cNvSpPr>
            <a:spLocks noGrp="1"/>
          </p:cNvSpPr>
          <p:nvPr/>
        </p:nvSpPr>
        <p:spPr>
          <a:xfrm>
            <a:off x="776288" y="2205800"/>
            <a:ext cx="1076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生产验证、框架采用、产业部署和学术认可，共同证明其已经超越单一项目。</a:t>
            </a:r>
          </a:p>
        </p:txBody>
      </p:sp>
      <p:sp>
        <p:nvSpPr>
          <p:cNvPr id="22" name="text-5">
            <a:extLst>
              <a:ext uri="{FF2B5EF4-FFF2-40B4-BE49-F238E27FC236}">
                <a16:creationId xmlns:a16="http://schemas.microsoft.com/office/drawing/2014/main" id="{FB181945-4AF3-4281-A2C3-B4EFCDAFDEB3}"/>
              </a:ext>
            </a:extLst>
          </p:cNvPr>
          <p:cNvSpPr>
            <a:spLocks noGrp="1"/>
          </p:cNvSpPr>
          <p:nvPr/>
        </p:nvSpPr>
        <p:spPr>
          <a:xfrm>
            <a:off x="1484757" y="3295650"/>
            <a:ext cx="307181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23" name="text-6">
            <a:extLst>
              <a:ext uri="{FF2B5EF4-FFF2-40B4-BE49-F238E27FC236}">
                <a16:creationId xmlns:a16="http://schemas.microsoft.com/office/drawing/2014/main" id="{CBD6893B-6EAD-4514-B972-40F9490A4D08}"/>
              </a:ext>
            </a:extLst>
          </p:cNvPr>
          <p:cNvSpPr>
            <a:spLocks noGrp="1"/>
          </p:cNvSpPr>
          <p:nvPr/>
        </p:nvSpPr>
        <p:spPr>
          <a:xfrm>
            <a:off x="1209675" y="4086225"/>
            <a:ext cx="104489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PRODUCTION</a:t>
            </a:r>
          </a:p>
        </p:txBody>
      </p:sp>
      <p:sp>
        <p:nvSpPr>
          <p:cNvPr id="24" name="text-7">
            <a:extLst>
              <a:ext uri="{FF2B5EF4-FFF2-40B4-BE49-F238E27FC236}">
                <a16:creationId xmlns:a16="http://schemas.microsoft.com/office/drawing/2014/main" id="{12EBE1C3-C55E-4ACA-BAA7-AF9D4BC0AD89}"/>
              </a:ext>
            </a:extLst>
          </p:cNvPr>
          <p:cNvSpPr>
            <a:spLocks noGrp="1"/>
          </p:cNvSpPr>
          <p:nvPr/>
        </p:nvSpPr>
        <p:spPr>
          <a:xfrm>
            <a:off x="1209675" y="4362450"/>
            <a:ext cx="266385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近 4,000 万 MAU</a:t>
            </a:r>
          </a:p>
        </p:txBody>
      </p:sp>
      <p:sp>
        <p:nvSpPr>
          <p:cNvPr id="25" name="text-8">
            <a:extLst>
              <a:ext uri="{FF2B5EF4-FFF2-40B4-BE49-F238E27FC236}">
                <a16:creationId xmlns:a16="http://schemas.microsoft.com/office/drawing/2014/main" id="{B77F946D-905D-4FBE-BAC8-8B12640573FA}"/>
              </a:ext>
            </a:extLst>
          </p:cNvPr>
          <p:cNvSpPr>
            <a:spLocks noGrp="1"/>
          </p:cNvSpPr>
          <p:nvPr/>
        </p:nvSpPr>
        <p:spPr>
          <a:xfrm>
            <a:off x="1209675" y="4883658"/>
            <a:ext cx="217246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Kimi 吞吐提升 75%+</a:t>
            </a:r>
          </a:p>
        </p:txBody>
      </p:sp>
      <p:sp>
        <p:nvSpPr>
          <p:cNvPr id="26" name="text-9">
            <a:extLst>
              <a:ext uri="{FF2B5EF4-FFF2-40B4-BE49-F238E27FC236}">
                <a16:creationId xmlns:a16="http://schemas.microsoft.com/office/drawing/2014/main" id="{4493154F-4D0F-477F-BB1F-CC9F38EF3ACA}"/>
              </a:ext>
            </a:extLst>
          </p:cNvPr>
          <p:cNvSpPr>
            <a:spLocks noGrp="1"/>
          </p:cNvSpPr>
          <p:nvPr/>
        </p:nvSpPr>
        <p:spPr>
          <a:xfrm>
            <a:off x="1209675" y="5303901"/>
            <a:ext cx="1447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真实业务规模验证</a:t>
            </a:r>
          </a:p>
        </p:txBody>
      </p:sp>
      <p:sp>
        <p:nvSpPr>
          <p:cNvPr id="27" name="text-10">
            <a:extLst>
              <a:ext uri="{FF2B5EF4-FFF2-40B4-BE49-F238E27FC236}">
                <a16:creationId xmlns:a16="http://schemas.microsoft.com/office/drawing/2014/main" id="{4A9AC9A6-0706-4E3A-8FD7-9330C49AA321}"/>
              </a:ext>
            </a:extLst>
          </p:cNvPr>
          <p:cNvSpPr>
            <a:spLocks noGrp="1"/>
          </p:cNvSpPr>
          <p:nvPr/>
        </p:nvSpPr>
        <p:spPr>
          <a:xfrm>
            <a:off x="5577745" y="3295650"/>
            <a:ext cx="35061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28" name="text-11">
            <a:extLst>
              <a:ext uri="{FF2B5EF4-FFF2-40B4-BE49-F238E27FC236}">
                <a16:creationId xmlns:a16="http://schemas.microsoft.com/office/drawing/2014/main" id="{DF7223CC-8655-4F88-A3DF-07EBEF4BD1B1}"/>
              </a:ext>
            </a:extLst>
          </p:cNvPr>
          <p:cNvSpPr>
            <a:spLocks noGrp="1"/>
          </p:cNvSpPr>
          <p:nvPr/>
        </p:nvSpPr>
        <p:spPr>
          <a:xfrm>
            <a:off x="5324475" y="4086225"/>
            <a:ext cx="183803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FRAMEWORK ADOPTION</a:t>
            </a:r>
          </a:p>
        </p:txBody>
      </p:sp>
      <p:sp>
        <p:nvSpPr>
          <p:cNvPr id="29" name="text-12">
            <a:extLst>
              <a:ext uri="{FF2B5EF4-FFF2-40B4-BE49-F238E27FC236}">
                <a16:creationId xmlns:a16="http://schemas.microsoft.com/office/drawing/2014/main" id="{C500FD6A-987B-4FFD-A0FF-01AAE3FF7472}"/>
              </a:ext>
            </a:extLst>
          </p:cNvPr>
          <p:cNvSpPr>
            <a:spLocks noGrp="1"/>
          </p:cNvSpPr>
          <p:nvPr/>
        </p:nvSpPr>
        <p:spPr>
          <a:xfrm>
            <a:off x="5324475" y="4362450"/>
            <a:ext cx="260061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SGLang 默认 PD</a:t>
            </a:r>
          </a:p>
        </p:txBody>
      </p:sp>
      <p:sp>
        <p:nvSpPr>
          <p:cNvPr id="30" name="text-13">
            <a:extLst>
              <a:ext uri="{FF2B5EF4-FFF2-40B4-BE49-F238E27FC236}">
                <a16:creationId xmlns:a16="http://schemas.microsoft.com/office/drawing/2014/main" id="{EE0F188B-F643-4DAB-8829-90C9AA4366F9}"/>
              </a:ext>
            </a:extLst>
          </p:cNvPr>
          <p:cNvSpPr>
            <a:spLocks noGrp="1"/>
          </p:cNvSpPr>
          <p:nvPr/>
        </p:nvSpPr>
        <p:spPr>
          <a:xfrm>
            <a:off x="5324475" y="4712208"/>
            <a:ext cx="141255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Backend</a:t>
            </a:r>
          </a:p>
        </p:txBody>
      </p:sp>
      <p:sp>
        <p:nvSpPr>
          <p:cNvPr id="31" name="text-14">
            <a:extLst>
              <a:ext uri="{FF2B5EF4-FFF2-40B4-BE49-F238E27FC236}">
                <a16:creationId xmlns:a16="http://schemas.microsoft.com/office/drawing/2014/main" id="{D54C05B6-2852-480D-B57A-40973FDFA1D5}"/>
              </a:ext>
            </a:extLst>
          </p:cNvPr>
          <p:cNvSpPr>
            <a:spLocks noGrp="1"/>
          </p:cNvSpPr>
          <p:nvPr/>
        </p:nvSpPr>
        <p:spPr>
          <a:xfrm>
            <a:off x="5324475" y="5233416"/>
            <a:ext cx="2491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vLLM · TensorRT-LLM</a:t>
            </a:r>
          </a:p>
        </p:txBody>
      </p:sp>
      <p:sp>
        <p:nvSpPr>
          <p:cNvPr id="32" name="text-15">
            <a:extLst>
              <a:ext uri="{FF2B5EF4-FFF2-40B4-BE49-F238E27FC236}">
                <a16:creationId xmlns:a16="http://schemas.microsoft.com/office/drawing/2014/main" id="{13B16F0E-BC65-424E-AA9E-AA71084E2BA9}"/>
              </a:ext>
            </a:extLst>
          </p:cNvPr>
          <p:cNvSpPr>
            <a:spLocks noGrp="1"/>
          </p:cNvSpPr>
          <p:nvPr/>
        </p:nvSpPr>
        <p:spPr>
          <a:xfrm>
            <a:off x="5324475" y="5653659"/>
            <a:ext cx="357930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进入 PyTorch 生态，并被 NVIDIA Dynamo 参</a:t>
            </a:r>
          </a:p>
        </p:txBody>
      </p:sp>
      <p:sp>
        <p:nvSpPr>
          <p:cNvPr id="33" name="text-16">
            <a:extLst>
              <a:ext uri="{FF2B5EF4-FFF2-40B4-BE49-F238E27FC236}">
                <a16:creationId xmlns:a16="http://schemas.microsoft.com/office/drawing/2014/main" id="{7D0E5776-CC4F-4F32-A540-9ED3B73AAB86}"/>
              </a:ext>
            </a:extLst>
          </p:cNvPr>
          <p:cNvSpPr>
            <a:spLocks noGrp="1"/>
          </p:cNvSpPr>
          <p:nvPr/>
        </p:nvSpPr>
        <p:spPr>
          <a:xfrm>
            <a:off x="5324475" y="5885117"/>
            <a:ext cx="2476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考</a:t>
            </a:r>
          </a:p>
        </p:txBody>
      </p:sp>
      <p:sp>
        <p:nvSpPr>
          <p:cNvPr id="34" name="text-17">
            <a:extLst>
              <a:ext uri="{FF2B5EF4-FFF2-40B4-BE49-F238E27FC236}">
                <a16:creationId xmlns:a16="http://schemas.microsoft.com/office/drawing/2014/main" id="{2AAD8BE3-26CB-459A-9D44-0C45770EE2CD}"/>
              </a:ext>
            </a:extLst>
          </p:cNvPr>
          <p:cNvSpPr>
            <a:spLocks noGrp="1"/>
          </p:cNvSpPr>
          <p:nvPr/>
        </p:nvSpPr>
        <p:spPr>
          <a:xfrm>
            <a:off x="9692545" y="3295650"/>
            <a:ext cx="35061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03</a:t>
            </a:r>
          </a:p>
        </p:txBody>
      </p:sp>
      <p:sp>
        <p:nvSpPr>
          <p:cNvPr id="35" name="text-18">
            <a:extLst>
              <a:ext uri="{FF2B5EF4-FFF2-40B4-BE49-F238E27FC236}">
                <a16:creationId xmlns:a16="http://schemas.microsoft.com/office/drawing/2014/main" id="{76B8AD6E-3515-4AC0-B822-74804486BC13}"/>
              </a:ext>
            </a:extLst>
          </p:cNvPr>
          <p:cNvSpPr>
            <a:spLocks noGrp="1"/>
          </p:cNvSpPr>
          <p:nvPr/>
        </p:nvSpPr>
        <p:spPr>
          <a:xfrm>
            <a:off x="9439275" y="4086225"/>
            <a:ext cx="187423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INDUSTRY DEPLOYMENT</a:t>
            </a:r>
          </a:p>
        </p:txBody>
      </p:sp>
      <p:sp>
        <p:nvSpPr>
          <p:cNvPr id="36" name="text-19">
            <a:extLst>
              <a:ext uri="{FF2B5EF4-FFF2-40B4-BE49-F238E27FC236}">
                <a16:creationId xmlns:a16="http://schemas.microsoft.com/office/drawing/2014/main" id="{ABFE341D-5BB3-459E-A41C-69D29B745B68}"/>
              </a:ext>
            </a:extLst>
          </p:cNvPr>
          <p:cNvSpPr>
            <a:spLocks noGrp="1"/>
          </p:cNvSpPr>
          <p:nvPr/>
        </p:nvSpPr>
        <p:spPr>
          <a:xfrm>
            <a:off x="9439275" y="4362450"/>
            <a:ext cx="185042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数万张 GPU</a:t>
            </a:r>
          </a:p>
        </p:txBody>
      </p:sp>
      <p:sp>
        <p:nvSpPr>
          <p:cNvPr id="37" name="text-20">
            <a:extLst>
              <a:ext uri="{FF2B5EF4-FFF2-40B4-BE49-F238E27FC236}">
                <a16:creationId xmlns:a16="http://schemas.microsoft.com/office/drawing/2014/main" id="{4FB6B1DB-63D1-4C4D-992B-2E311E068823}"/>
              </a:ext>
            </a:extLst>
          </p:cNvPr>
          <p:cNvSpPr>
            <a:spLocks noGrp="1"/>
          </p:cNvSpPr>
          <p:nvPr/>
        </p:nvSpPr>
        <p:spPr>
          <a:xfrm>
            <a:off x="9439275" y="4883658"/>
            <a:ext cx="19984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每天数十亿 Tokens</a:t>
            </a:r>
          </a:p>
        </p:txBody>
      </p:sp>
      <p:sp>
        <p:nvSpPr>
          <p:cNvPr id="38" name="text-21">
            <a:extLst>
              <a:ext uri="{FF2B5EF4-FFF2-40B4-BE49-F238E27FC236}">
                <a16:creationId xmlns:a16="http://schemas.microsoft.com/office/drawing/2014/main" id="{670EC660-2575-44B9-BD00-1D6D4F3FDBD0}"/>
              </a:ext>
            </a:extLst>
          </p:cNvPr>
          <p:cNvSpPr>
            <a:spLocks noGrp="1"/>
          </p:cNvSpPr>
          <p:nvPr/>
        </p:nvSpPr>
        <p:spPr>
          <a:xfrm>
            <a:off x="9439275" y="5303901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多家头部互联网公司规模化落地</a:t>
            </a:r>
          </a:p>
        </p:txBody>
      </p:sp>
      <p:sp>
        <p:nvSpPr>
          <p:cNvPr id="39" name="text-22">
            <a:extLst>
              <a:ext uri="{FF2B5EF4-FFF2-40B4-BE49-F238E27FC236}">
                <a16:creationId xmlns:a16="http://schemas.microsoft.com/office/drawing/2014/main" id="{695936E9-06A3-42F6-AA77-CEB302F3C978}"/>
              </a:ext>
            </a:extLst>
          </p:cNvPr>
          <p:cNvSpPr>
            <a:spLocks noGrp="1"/>
          </p:cNvSpPr>
          <p:nvPr/>
        </p:nvSpPr>
        <p:spPr>
          <a:xfrm>
            <a:off x="13807345" y="3295650"/>
            <a:ext cx="35061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04</a:t>
            </a:r>
          </a:p>
        </p:txBody>
      </p:sp>
      <p:sp>
        <p:nvSpPr>
          <p:cNvPr id="40" name="text-23">
            <a:extLst>
              <a:ext uri="{FF2B5EF4-FFF2-40B4-BE49-F238E27FC236}">
                <a16:creationId xmlns:a16="http://schemas.microsoft.com/office/drawing/2014/main" id="{02D228E3-6ADF-4433-BEBB-F91917366FAD}"/>
              </a:ext>
            </a:extLst>
          </p:cNvPr>
          <p:cNvSpPr>
            <a:spLocks noGrp="1"/>
          </p:cNvSpPr>
          <p:nvPr/>
        </p:nvSpPr>
        <p:spPr>
          <a:xfrm>
            <a:off x="13554075" y="4086225"/>
            <a:ext cx="2367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OPEN SOURCE &amp; RECOGNITION</a:t>
            </a:r>
          </a:p>
        </p:txBody>
      </p:sp>
      <p:sp>
        <p:nvSpPr>
          <p:cNvPr id="41" name="text-24">
            <a:extLst>
              <a:ext uri="{FF2B5EF4-FFF2-40B4-BE49-F238E27FC236}">
                <a16:creationId xmlns:a16="http://schemas.microsoft.com/office/drawing/2014/main" id="{1F5409A8-B3FB-4A6E-BE3D-FB4FBDA7CF76}"/>
              </a:ext>
            </a:extLst>
          </p:cNvPr>
          <p:cNvSpPr>
            <a:spLocks noGrp="1"/>
          </p:cNvSpPr>
          <p:nvPr/>
        </p:nvSpPr>
        <p:spPr>
          <a:xfrm>
            <a:off x="13554075" y="4362450"/>
            <a:ext cx="18933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6.4K+ Stars</a:t>
            </a:r>
          </a:p>
        </p:txBody>
      </p:sp>
      <p:sp>
        <p:nvSpPr>
          <p:cNvPr id="42" name="text-25">
            <a:extLst>
              <a:ext uri="{FF2B5EF4-FFF2-40B4-BE49-F238E27FC236}">
                <a16:creationId xmlns:a16="http://schemas.microsoft.com/office/drawing/2014/main" id="{3EA2F19E-E799-4CDF-9392-EC36DE508119}"/>
              </a:ext>
            </a:extLst>
          </p:cNvPr>
          <p:cNvSpPr>
            <a:spLocks noGrp="1"/>
          </p:cNvSpPr>
          <p:nvPr/>
        </p:nvSpPr>
        <p:spPr>
          <a:xfrm>
            <a:off x="13554075" y="4883658"/>
            <a:ext cx="226961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FAST ’25 Best Paper</a:t>
            </a:r>
          </a:p>
        </p:txBody>
      </p:sp>
      <p:sp>
        <p:nvSpPr>
          <p:cNvPr id="43" name="text-26">
            <a:extLst>
              <a:ext uri="{FF2B5EF4-FFF2-40B4-BE49-F238E27FC236}">
                <a16:creationId xmlns:a16="http://schemas.microsoft.com/office/drawing/2014/main" id="{DA2B09B7-7448-4F4B-A84F-27730E4FCF84}"/>
              </a:ext>
            </a:extLst>
          </p:cNvPr>
          <p:cNvSpPr>
            <a:spLocks noGrp="1"/>
          </p:cNvSpPr>
          <p:nvPr/>
        </p:nvSpPr>
        <p:spPr>
          <a:xfrm>
            <a:off x="13554075" y="5303901"/>
            <a:ext cx="254898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1.1K+ Forks · 全球开源基础设施</a:t>
            </a:r>
          </a:p>
        </p:txBody>
      </p:sp>
      <p:sp>
        <p:nvSpPr>
          <p:cNvPr id="44" name="text-27">
            <a:extLst>
              <a:ext uri="{FF2B5EF4-FFF2-40B4-BE49-F238E27FC236}">
                <a16:creationId xmlns:a16="http://schemas.microsoft.com/office/drawing/2014/main" id="{D4B6ABF7-32AD-43F7-88BD-F7416159797D}"/>
              </a:ext>
            </a:extLst>
          </p:cNvPr>
          <p:cNvSpPr>
            <a:spLocks noGrp="1"/>
          </p:cNvSpPr>
          <p:nvPr/>
        </p:nvSpPr>
        <p:spPr>
          <a:xfrm>
            <a:off x="1133475" y="7196138"/>
            <a:ext cx="126473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975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975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975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INDUSTRY VALUE</a:t>
            </a:r>
          </a:p>
        </p:txBody>
      </p:sp>
      <p:sp>
        <p:nvSpPr>
          <p:cNvPr id="45" name="text-28">
            <a:extLst>
              <a:ext uri="{FF2B5EF4-FFF2-40B4-BE49-F238E27FC236}">
                <a16:creationId xmlns:a16="http://schemas.microsoft.com/office/drawing/2014/main" id="{4AFD8FCB-1894-4C7E-A481-D290AF550A46}"/>
              </a:ext>
            </a:extLst>
          </p:cNvPr>
          <p:cNvSpPr>
            <a:spLocks noGrp="1"/>
          </p:cNvSpPr>
          <p:nvPr/>
        </p:nvSpPr>
        <p:spPr>
          <a:xfrm>
            <a:off x="1133475" y="7443788"/>
            <a:ext cx="12668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由项目能力</a:t>
            </a:r>
          </a:p>
        </p:txBody>
      </p:sp>
      <p:sp>
        <p:nvSpPr>
          <p:cNvPr id="46" name="text-29">
            <a:extLst>
              <a:ext uri="{FF2B5EF4-FFF2-40B4-BE49-F238E27FC236}">
                <a16:creationId xmlns:a16="http://schemas.microsoft.com/office/drawing/2014/main" id="{CE85310E-C00D-432A-A01B-E3FAD4CF7BB7}"/>
              </a:ext>
            </a:extLst>
          </p:cNvPr>
          <p:cNvSpPr>
            <a:spLocks noGrp="1"/>
          </p:cNvSpPr>
          <p:nvPr/>
        </p:nvSpPr>
        <p:spPr>
          <a:xfrm>
            <a:off x="1133475" y="7748588"/>
            <a:ext cx="1743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沉淀为公共底座</a:t>
            </a:r>
          </a:p>
        </p:txBody>
      </p:sp>
      <p:sp>
        <p:nvSpPr>
          <p:cNvPr id="47" name="text-30">
            <a:extLst>
              <a:ext uri="{FF2B5EF4-FFF2-40B4-BE49-F238E27FC236}">
                <a16:creationId xmlns:a16="http://schemas.microsoft.com/office/drawing/2014/main" id="{0C6B01A0-FA34-4050-9561-8B2C20D4287B}"/>
              </a:ext>
            </a:extLst>
          </p:cNvPr>
          <p:cNvSpPr>
            <a:spLocks noGrp="1"/>
          </p:cNvSpPr>
          <p:nvPr/>
        </p:nvSpPr>
        <p:spPr>
          <a:xfrm>
            <a:off x="4238625" y="740483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统一框架接口</a:t>
            </a:r>
          </a:p>
        </p:txBody>
      </p:sp>
      <p:sp>
        <p:nvSpPr>
          <p:cNvPr id="48" name="text-31">
            <a:extLst>
              <a:ext uri="{FF2B5EF4-FFF2-40B4-BE49-F238E27FC236}">
                <a16:creationId xmlns:a16="http://schemas.microsoft.com/office/drawing/2014/main" id="{501F560F-E350-4ED3-AE8D-36BA995E9D6E}"/>
              </a:ext>
            </a:extLst>
          </p:cNvPr>
          <p:cNvSpPr>
            <a:spLocks noGrp="1"/>
          </p:cNvSpPr>
          <p:nvPr/>
        </p:nvSpPr>
        <p:spPr>
          <a:xfrm>
            <a:off x="4238625" y="7730395"/>
            <a:ext cx="3726942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PD、KV Cache、权重与分布式执行复用同一数据底座</a:t>
            </a:r>
          </a:p>
        </p:txBody>
      </p:sp>
      <p:sp>
        <p:nvSpPr>
          <p:cNvPr id="49" name="text-32">
            <a:extLst>
              <a:ext uri="{FF2B5EF4-FFF2-40B4-BE49-F238E27FC236}">
                <a16:creationId xmlns:a16="http://schemas.microsoft.com/office/drawing/2014/main" id="{6B94A827-DA91-4DAE-97EA-55809048A4B6}"/>
              </a:ext>
            </a:extLst>
          </p:cNvPr>
          <p:cNvSpPr>
            <a:spLocks noGrp="1"/>
          </p:cNvSpPr>
          <p:nvPr/>
        </p:nvSpPr>
        <p:spPr>
          <a:xfrm>
            <a:off x="8620125" y="740483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兼容异构资源</a:t>
            </a:r>
          </a:p>
        </p:txBody>
      </p:sp>
      <p:sp>
        <p:nvSpPr>
          <p:cNvPr id="50" name="text-33">
            <a:extLst>
              <a:ext uri="{FF2B5EF4-FFF2-40B4-BE49-F238E27FC236}">
                <a16:creationId xmlns:a16="http://schemas.microsoft.com/office/drawing/2014/main" id="{BB03BADD-474D-4ADC-9679-70A566D7554A}"/>
              </a:ext>
            </a:extLst>
          </p:cNvPr>
          <p:cNvSpPr>
            <a:spLocks noGrp="1"/>
          </p:cNvSpPr>
          <p:nvPr/>
        </p:nvSpPr>
        <p:spPr>
          <a:xfrm>
            <a:off x="8620125" y="7730395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跨设备、内存和网络复用成熟的数据移动能力</a:t>
            </a:r>
          </a:p>
        </p:txBody>
      </p:sp>
      <p:sp>
        <p:nvSpPr>
          <p:cNvPr id="51" name="text-34">
            <a:extLst>
              <a:ext uri="{FF2B5EF4-FFF2-40B4-BE49-F238E27FC236}">
                <a16:creationId xmlns:a16="http://schemas.microsoft.com/office/drawing/2014/main" id="{6EC4900E-A009-4165-9B4A-AEDEF68B811D}"/>
              </a:ext>
            </a:extLst>
          </p:cNvPr>
          <p:cNvSpPr>
            <a:spLocks noGrp="1"/>
          </p:cNvSpPr>
          <p:nvPr/>
        </p:nvSpPr>
        <p:spPr>
          <a:xfrm>
            <a:off x="13001625" y="740483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降低生态接入成本</a:t>
            </a:r>
          </a:p>
        </p:txBody>
      </p:sp>
      <p:sp>
        <p:nvSpPr>
          <p:cNvPr id="52" name="text-35">
            <a:extLst>
              <a:ext uri="{FF2B5EF4-FFF2-40B4-BE49-F238E27FC236}">
                <a16:creationId xmlns:a16="http://schemas.microsoft.com/office/drawing/2014/main" id="{08EB9114-B778-4F5C-A47C-0C3B98360511}"/>
              </a:ext>
            </a:extLst>
          </p:cNvPr>
          <p:cNvSpPr>
            <a:spLocks noGrp="1"/>
          </p:cNvSpPr>
          <p:nvPr/>
        </p:nvSpPr>
        <p:spPr>
          <a:xfrm>
            <a:off x="13001625" y="7730395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避免各框架为不同基础设施重复开发专用通路</a:t>
            </a:r>
          </a:p>
        </p:txBody>
      </p:sp>
      <p:sp>
        <p:nvSpPr>
          <p:cNvPr id="53" name="text-36">
            <a:extLst>
              <a:ext uri="{FF2B5EF4-FFF2-40B4-BE49-F238E27FC236}">
                <a16:creationId xmlns:a16="http://schemas.microsoft.com/office/drawing/2014/main" id="{F41A567A-ABE5-4205-B059-1B2609EB65C7}"/>
              </a:ext>
            </a:extLst>
          </p:cNvPr>
          <p:cNvSpPr>
            <a:spLocks noGrp="1"/>
          </p:cNvSpPr>
          <p:nvPr/>
        </p:nvSpPr>
        <p:spPr>
          <a:xfrm>
            <a:off x="4127945" y="9067800"/>
            <a:ext cx="1008916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我们不仅采用 PD 分离，也持续建设这条技术路线的通用基础设施与开源生态。</a:t>
            </a:r>
          </a:p>
        </p:txBody>
      </p:sp>
      <p:sp>
        <p:nvSpPr>
          <p:cNvPr id="54" name="text-37">
            <a:extLst>
              <a:ext uri="{FF2B5EF4-FFF2-40B4-BE49-F238E27FC236}">
                <a16:creationId xmlns:a16="http://schemas.microsoft.com/office/drawing/2014/main" id="{6DDFEAE4-00F7-4396-A22F-64F7BE30883D}"/>
              </a:ext>
            </a:extLst>
          </p:cNvPr>
          <p:cNvSpPr>
            <a:spLocks noGrp="1"/>
          </p:cNvSpPr>
          <p:nvPr/>
        </p:nvSpPr>
        <p:spPr>
          <a:xfrm>
            <a:off x="762000" y="9906000"/>
            <a:ext cx="871147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8A95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8A95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8A95A8"/>
                </a:solidFill>
                <a:latin typeface="PingFang SC"/>
                <a:ea typeface="PingFang SC"/>
                <a:cs typeface="Arial"/>
              </a:rPr>
              <a:t>Sources: Kimi production report; Mooncake project; SGLang, vLLM, TensorRT-LLM, PyTorch; NVIDIA Dynamo; USENIX FAST ’25.</a:t>
            </a:r>
          </a:p>
        </p:txBody>
      </p:sp>
      <p:sp>
        <p:nvSpPr>
          <p:cNvPr id="55" name="text-38">
            <a:extLst>
              <a:ext uri="{FF2B5EF4-FFF2-40B4-BE49-F238E27FC236}">
                <a16:creationId xmlns:a16="http://schemas.microsoft.com/office/drawing/2014/main" id="{67B4A100-8F4E-4924-8765-BD58B9D1A9CC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18 / 43</a:t>
            </a:r>
          </a:p>
        </p:txBody>
      </p:sp>
    </p:spTree>
    <p:extLst>
      <p:ext uri="{BB962C8B-B14F-4D97-AF65-F5344CB8AC3E}">
        <p14:creationId xmlns:p14="http://schemas.microsoft.com/office/powerpoint/2010/main" val="1728970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tml-shape-1">
            <a:extLst>
              <a:ext uri="{FF2B5EF4-FFF2-40B4-BE49-F238E27FC236}">
                <a16:creationId xmlns:a16="http://schemas.microsoft.com/office/drawing/2014/main" id="{E64ECBC2-4E12-4325-842E-979E913BD0D3}"/>
              </a:ext>
            </a:extLst>
          </p:cNvPr>
          <p:cNvSpPr>
            <a:spLocks noGrp="1"/>
          </p:cNvSpPr>
          <p:nvPr/>
        </p:nvSpPr>
        <p:spPr>
          <a:xfrm>
            <a:off x="1714500" y="5414963"/>
            <a:ext cx="5905500" cy="198120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FFFFFF"/>
              </a:gs>
              <a:gs pos="100000">
                <a:srgbClr val="F3EFFF"/>
              </a:gs>
            </a:gsLst>
            <a:lin ang="8700000"/>
          </a:gradFill>
          <a:ln w="28575">
            <a:solidFill>
              <a:srgbClr val="642AF0"/>
            </a:solidFill>
            <a:prstDash val="solid"/>
          </a:ln>
        </p:spPr>
      </p:sp>
      <p:sp>
        <p:nvSpPr>
          <p:cNvPr id="2" name="html-shape-3">
            <a:extLst>
              <a:ext uri="{FF2B5EF4-FFF2-40B4-BE49-F238E27FC236}">
                <a16:creationId xmlns:a16="http://schemas.microsoft.com/office/drawing/2014/main" id="{DE30E8B0-7278-49E2-AFE1-3DDC84CBB3ED}"/>
              </a:ext>
            </a:extLst>
          </p:cNvPr>
          <p:cNvSpPr>
            <a:spLocks noGrp="1"/>
          </p:cNvSpPr>
          <p:nvPr/>
        </p:nvSpPr>
        <p:spPr>
          <a:xfrm>
            <a:off x="10668000" y="5414963"/>
            <a:ext cx="5905500" cy="198120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FFFFFF"/>
              </a:gs>
              <a:gs pos="100000">
                <a:srgbClr val="EAF8F2"/>
              </a:gs>
            </a:gsLst>
            <a:lin ang="8700000"/>
          </a:gradFill>
          <a:ln w="28575">
            <a:solidFill>
              <a:srgbClr val="0A9A62"/>
            </a:solidFill>
            <a:prstDash val="solid"/>
          </a:ln>
        </p:spPr>
      </p:sp>
      <p:sp>
        <p:nvSpPr>
          <p:cNvPr id="3" name="html-line-1">
            <a:extLst>
              <a:ext uri="{FF2B5EF4-FFF2-40B4-BE49-F238E27FC236}">
                <a16:creationId xmlns:a16="http://schemas.microsoft.com/office/drawing/2014/main" id="{9BD81A0D-783A-47CB-9E5F-0E25AA183A6D}"/>
              </a:ext>
            </a:extLst>
          </p:cNvPr>
          <p:cNvSpPr>
            <a:spLocks noGrp="1"/>
          </p:cNvSpPr>
          <p:nvPr/>
        </p:nvSpPr>
        <p:spPr>
          <a:xfrm>
            <a:off x="7858125" y="6405563"/>
            <a:ext cx="718947" cy="4763"/>
          </a:xfrm>
          <a:prstGeom prst="line">
            <a:avLst/>
          </a:prstGeom>
          <a:noFill/>
          <a:ln w="38100">
            <a:gradFill>
              <a:gsLst>
                <a:gs pos="0">
                  <a:srgbClr val="642AF0"/>
                </a:gs>
                <a:gs pos="100000">
                  <a:srgbClr val="0A9A62"/>
                </a:gs>
              </a:gsLst>
              <a:lin ang="5400000"/>
            </a:gradFill>
            <a:prstDash val="solid"/>
          </a:ln>
        </p:spPr>
      </p:sp>
      <p:sp>
        <p:nvSpPr>
          <p:cNvPr id="4" name="html-line-2">
            <a:extLst>
              <a:ext uri="{FF2B5EF4-FFF2-40B4-BE49-F238E27FC236}">
                <a16:creationId xmlns:a16="http://schemas.microsoft.com/office/drawing/2014/main" id="{DD799539-92AC-4C8F-A5E0-A1C5E6FA440D}"/>
              </a:ext>
            </a:extLst>
          </p:cNvPr>
          <p:cNvSpPr>
            <a:spLocks noGrp="1"/>
          </p:cNvSpPr>
          <p:nvPr/>
        </p:nvSpPr>
        <p:spPr>
          <a:xfrm>
            <a:off x="9710738" y="6405563"/>
            <a:ext cx="719138" cy="4763"/>
          </a:xfrm>
          <a:prstGeom prst="line">
            <a:avLst/>
          </a:prstGeom>
          <a:noFill/>
          <a:ln w="38100">
            <a:gradFill>
              <a:gsLst>
                <a:gs pos="0">
                  <a:srgbClr val="642AF0"/>
                </a:gs>
                <a:gs pos="100000">
                  <a:srgbClr val="0A9A62"/>
                </a:gs>
              </a:gsLst>
              <a:lin ang="5400000"/>
            </a:gradFill>
            <a:prstDash val="solid"/>
          </a:ln>
        </p:spPr>
      </p:sp>
      <p:sp>
        <p:nvSpPr>
          <p:cNvPr id="5" name="html-shape-2">
            <a:extLst>
              <a:ext uri="{FF2B5EF4-FFF2-40B4-BE49-F238E27FC236}">
                <a16:creationId xmlns:a16="http://schemas.microsoft.com/office/drawing/2014/main" id="{B63767FE-ADE0-4460-96F6-129C8396DC28}"/>
              </a:ext>
            </a:extLst>
          </p:cNvPr>
          <p:cNvSpPr>
            <a:spLocks noGrp="1"/>
          </p:cNvSpPr>
          <p:nvPr/>
        </p:nvSpPr>
        <p:spPr>
          <a:xfrm>
            <a:off x="2143125" y="5948363"/>
            <a:ext cx="914400" cy="914400"/>
          </a:xfrm>
          <a:prstGeom prst="roundRect">
            <a:avLst>
              <a:gd name="adj" fmla="val 23958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6" name="html-shape-4">
            <a:extLst>
              <a:ext uri="{FF2B5EF4-FFF2-40B4-BE49-F238E27FC236}">
                <a16:creationId xmlns:a16="http://schemas.microsoft.com/office/drawing/2014/main" id="{A4FCDC0A-9E03-4B9E-85AD-3CDD4D569E50}"/>
              </a:ext>
            </a:extLst>
          </p:cNvPr>
          <p:cNvSpPr>
            <a:spLocks noGrp="1"/>
          </p:cNvSpPr>
          <p:nvPr/>
        </p:nvSpPr>
        <p:spPr>
          <a:xfrm>
            <a:off x="11096625" y="5948363"/>
            <a:ext cx="914400" cy="914400"/>
          </a:xfrm>
          <a:prstGeom prst="roundRect">
            <a:avLst>
              <a:gd name="adj" fmla="val 23958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B39F776-0C69-4FD7-8F06-6B9A4B0CA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BE29F40-2679-49C9-8DC0-001DC6F99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9" name="text-1">
            <a:extLst>
              <a:ext uri="{FF2B5EF4-FFF2-40B4-BE49-F238E27FC236}">
                <a16:creationId xmlns:a16="http://schemas.microsoft.com/office/drawing/2014/main" id="{99059288-D52D-4ED7-B33F-BF216A0C8902}"/>
              </a:ext>
            </a:extLst>
          </p:cNvPr>
          <p:cNvSpPr>
            <a:spLocks noGrp="1"/>
          </p:cNvSpPr>
          <p:nvPr/>
        </p:nvSpPr>
        <p:spPr>
          <a:xfrm>
            <a:off x="1704975" y="1352550"/>
            <a:ext cx="1633728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CHAPTER 04</a:t>
            </a:r>
          </a:p>
        </p:txBody>
      </p:sp>
      <p:sp>
        <p:nvSpPr>
          <p:cNvPr id="10" name="text-2">
            <a:extLst>
              <a:ext uri="{FF2B5EF4-FFF2-40B4-BE49-F238E27FC236}">
                <a16:creationId xmlns:a16="http://schemas.microsoft.com/office/drawing/2014/main" id="{8EE69150-8F36-401C-B881-EF22EE2EABB4}"/>
              </a:ext>
            </a:extLst>
          </p:cNvPr>
          <p:cNvSpPr>
            <a:spLocks noGrp="1"/>
          </p:cNvSpPr>
          <p:nvPr/>
        </p:nvSpPr>
        <p:spPr>
          <a:xfrm>
            <a:off x="1704975" y="1876425"/>
            <a:ext cx="830399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915"/>
          </a:bodyPr>
          <a:lstStyle>
            <a:def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为什么进一步采用异构 PD</a:t>
            </a:r>
          </a:p>
        </p:txBody>
      </p:sp>
      <p:sp>
        <p:nvSpPr>
          <p:cNvPr id="11" name="text-3">
            <a:extLst>
              <a:ext uri="{FF2B5EF4-FFF2-40B4-BE49-F238E27FC236}">
                <a16:creationId xmlns:a16="http://schemas.microsoft.com/office/drawing/2014/main" id="{74F6FECD-705A-4892-AA05-5ED5845E4290}"/>
              </a:ext>
            </a:extLst>
          </p:cNvPr>
          <p:cNvSpPr>
            <a:spLocks noGrp="1"/>
          </p:cNvSpPr>
          <p:nvPr/>
        </p:nvSpPr>
        <p:spPr>
          <a:xfrm>
            <a:off x="1724025" y="3133725"/>
            <a:ext cx="46482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让不同硬件承担更适合的推理阶段</a:t>
            </a:r>
          </a:p>
        </p:txBody>
      </p:sp>
      <p:sp>
        <p:nvSpPr>
          <p:cNvPr id="12" name="text-4">
            <a:extLst>
              <a:ext uri="{FF2B5EF4-FFF2-40B4-BE49-F238E27FC236}">
                <a16:creationId xmlns:a16="http://schemas.microsoft.com/office/drawing/2014/main" id="{1DAB9E88-5664-4AED-9381-8D56FDC50889}"/>
              </a:ext>
            </a:extLst>
          </p:cNvPr>
          <p:cNvSpPr>
            <a:spLocks noGrp="1"/>
          </p:cNvSpPr>
          <p:nvPr/>
        </p:nvSpPr>
        <p:spPr>
          <a:xfrm>
            <a:off x="2440972" y="6081713"/>
            <a:ext cx="375761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13" name="text-5">
            <a:extLst>
              <a:ext uri="{FF2B5EF4-FFF2-40B4-BE49-F238E27FC236}">
                <a16:creationId xmlns:a16="http://schemas.microsoft.com/office/drawing/2014/main" id="{43880EC3-093A-4A10-B666-EDEA0B31EB4C}"/>
              </a:ext>
            </a:extLst>
          </p:cNvPr>
          <p:cNvSpPr>
            <a:spLocks noGrp="1"/>
          </p:cNvSpPr>
          <p:nvPr/>
        </p:nvSpPr>
        <p:spPr>
          <a:xfrm>
            <a:off x="3467100" y="5886164"/>
            <a:ext cx="78848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13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14" name="text-6">
            <a:extLst>
              <a:ext uri="{FF2B5EF4-FFF2-40B4-BE49-F238E27FC236}">
                <a16:creationId xmlns:a16="http://schemas.microsoft.com/office/drawing/2014/main" id="{B3D76450-6656-4CA9-895D-4B1E4751D699}"/>
              </a:ext>
            </a:extLst>
          </p:cNvPr>
          <p:cNvSpPr>
            <a:spLocks noGrp="1"/>
          </p:cNvSpPr>
          <p:nvPr/>
        </p:nvSpPr>
        <p:spPr>
          <a:xfrm>
            <a:off x="3467100" y="6133814"/>
            <a:ext cx="2209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规模化输入计算</a:t>
            </a:r>
          </a:p>
        </p:txBody>
      </p:sp>
      <p:sp>
        <p:nvSpPr>
          <p:cNvPr id="15" name="text-7">
            <a:extLst>
              <a:ext uri="{FF2B5EF4-FFF2-40B4-BE49-F238E27FC236}">
                <a16:creationId xmlns:a16="http://schemas.microsoft.com/office/drawing/2014/main" id="{C01C4542-BE0E-400A-B5B5-F77AA9C86268}"/>
              </a:ext>
            </a:extLst>
          </p:cNvPr>
          <p:cNvSpPr>
            <a:spLocks noGrp="1"/>
          </p:cNvSpPr>
          <p:nvPr/>
        </p:nvSpPr>
        <p:spPr>
          <a:xfrm>
            <a:off x="3467100" y="6655784"/>
            <a:ext cx="1909763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计算吞吐 · 供给规模</a:t>
            </a:r>
          </a:p>
        </p:txBody>
      </p:sp>
      <p:sp>
        <p:nvSpPr>
          <p:cNvPr id="16" name="text-8">
            <a:extLst>
              <a:ext uri="{FF2B5EF4-FFF2-40B4-BE49-F238E27FC236}">
                <a16:creationId xmlns:a16="http://schemas.microsoft.com/office/drawing/2014/main" id="{36150D30-D689-43E4-9842-2C8145A82C15}"/>
              </a:ext>
            </a:extLst>
          </p:cNvPr>
          <p:cNvSpPr>
            <a:spLocks noGrp="1"/>
          </p:cNvSpPr>
          <p:nvPr/>
        </p:nvSpPr>
        <p:spPr>
          <a:xfrm>
            <a:off x="8662797" y="6267450"/>
            <a:ext cx="101936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KV Cache</a:t>
            </a:r>
          </a:p>
        </p:txBody>
      </p:sp>
      <p:sp>
        <p:nvSpPr>
          <p:cNvPr id="17" name="text-9">
            <a:extLst>
              <a:ext uri="{FF2B5EF4-FFF2-40B4-BE49-F238E27FC236}">
                <a16:creationId xmlns:a16="http://schemas.microsoft.com/office/drawing/2014/main" id="{6F8A7F36-FE22-4C2C-ACCD-D7A7FB927F39}"/>
              </a:ext>
            </a:extLst>
          </p:cNvPr>
          <p:cNvSpPr>
            <a:spLocks noGrp="1"/>
          </p:cNvSpPr>
          <p:nvPr/>
        </p:nvSpPr>
        <p:spPr>
          <a:xfrm>
            <a:off x="11379708" y="6081713"/>
            <a:ext cx="405384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6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6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6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18" name="text-10">
            <a:extLst>
              <a:ext uri="{FF2B5EF4-FFF2-40B4-BE49-F238E27FC236}">
                <a16:creationId xmlns:a16="http://schemas.microsoft.com/office/drawing/2014/main" id="{ACEE9E4C-ACA6-4484-B550-2EA263356243}"/>
              </a:ext>
            </a:extLst>
          </p:cNvPr>
          <p:cNvSpPr>
            <a:spLocks noGrp="1"/>
          </p:cNvSpPr>
          <p:nvPr/>
        </p:nvSpPr>
        <p:spPr>
          <a:xfrm>
            <a:off x="12420600" y="5886164"/>
            <a:ext cx="806768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19" name="text-11">
            <a:extLst>
              <a:ext uri="{FF2B5EF4-FFF2-40B4-BE49-F238E27FC236}">
                <a16:creationId xmlns:a16="http://schemas.microsoft.com/office/drawing/2014/main" id="{BFDD9BB5-AD11-4821-AB7D-3FDB45F3841B}"/>
              </a:ext>
            </a:extLst>
          </p:cNvPr>
          <p:cNvSpPr>
            <a:spLocks noGrp="1"/>
          </p:cNvSpPr>
          <p:nvPr/>
        </p:nvSpPr>
        <p:spPr>
          <a:xfrm>
            <a:off x="12420600" y="6133814"/>
            <a:ext cx="3301651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保障高质量 Token 服务</a:t>
            </a:r>
          </a:p>
        </p:txBody>
      </p:sp>
      <p:sp>
        <p:nvSpPr>
          <p:cNvPr id="20" name="text-12">
            <a:extLst>
              <a:ext uri="{FF2B5EF4-FFF2-40B4-BE49-F238E27FC236}">
                <a16:creationId xmlns:a16="http://schemas.microsoft.com/office/drawing/2014/main" id="{094EB638-8E79-4B82-A831-1F07035B0C6A}"/>
              </a:ext>
            </a:extLst>
          </p:cNvPr>
          <p:cNvSpPr>
            <a:spLocks noGrp="1"/>
          </p:cNvSpPr>
          <p:nvPr/>
        </p:nvSpPr>
        <p:spPr>
          <a:xfrm>
            <a:off x="12420600" y="6655784"/>
            <a:ext cx="2818352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显存带宽 · 互联 · Interactivity</a:t>
            </a:r>
          </a:p>
        </p:txBody>
      </p:sp>
      <p:sp>
        <p:nvSpPr>
          <p:cNvPr id="21" name="text-13">
            <a:extLst>
              <a:ext uri="{FF2B5EF4-FFF2-40B4-BE49-F238E27FC236}">
                <a16:creationId xmlns:a16="http://schemas.microsoft.com/office/drawing/2014/main" id="{1CD1A01A-E794-4006-B42D-626FCA8E4918}"/>
              </a:ext>
            </a:extLst>
          </p:cNvPr>
          <p:cNvSpPr>
            <a:spLocks noGrp="1"/>
          </p:cNvSpPr>
          <p:nvPr/>
        </p:nvSpPr>
        <p:spPr>
          <a:xfrm>
            <a:off x="4842320" y="9110663"/>
            <a:ext cx="866041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异构 PD 的核心不是混用设备，而是把每类设备放到更适合的位置。</a:t>
            </a:r>
          </a:p>
        </p:txBody>
      </p:sp>
      <p:sp>
        <p:nvSpPr>
          <p:cNvPr id="22" name="text-14">
            <a:extLst>
              <a:ext uri="{FF2B5EF4-FFF2-40B4-BE49-F238E27FC236}">
                <a16:creationId xmlns:a16="http://schemas.microsoft.com/office/drawing/2014/main" id="{78867530-EA32-4423-B85C-DDED71221823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19 / 43</a:t>
            </a:r>
          </a:p>
        </p:txBody>
      </p:sp>
    </p:spTree>
    <p:extLst>
      <p:ext uri="{BB962C8B-B14F-4D97-AF65-F5344CB8AC3E}">
        <p14:creationId xmlns:p14="http://schemas.microsoft.com/office/powerpoint/2010/main" val="161050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html-shape-1">
            <a:extLst>
              <a:ext uri="{FF2B5EF4-FFF2-40B4-BE49-F238E27FC236}">
                <a16:creationId xmlns:a16="http://schemas.microsoft.com/office/drawing/2014/main" id="{E81D20BA-9C6F-46F8-9C6C-9AD59EEB4518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7219950" cy="4333875"/>
          </a:xfrm>
          <a:prstGeom prst="roundRect">
            <a:avLst>
              <a:gd name="adj" fmla="val 4835"/>
            </a:avLst>
          </a:prstGeom>
          <a:solidFill>
            <a:srgbClr val="F5F2FF"/>
          </a:solidFill>
          <a:ln w="0">
            <a:noFill/>
            <a:prstDash val="solid"/>
          </a:ln>
        </p:spPr>
      </p:sp>
      <p:sp>
        <p:nvSpPr>
          <p:cNvPr id="2" name="html-shape-14">
            <a:extLst>
              <a:ext uri="{FF2B5EF4-FFF2-40B4-BE49-F238E27FC236}">
                <a16:creationId xmlns:a16="http://schemas.microsoft.com/office/drawing/2014/main" id="{56CCB2A7-945A-4E4D-9DA2-B9EEB6B5F843}"/>
              </a:ext>
            </a:extLst>
          </p:cNvPr>
          <p:cNvSpPr>
            <a:spLocks noGrp="1"/>
          </p:cNvSpPr>
          <p:nvPr/>
        </p:nvSpPr>
        <p:spPr>
          <a:xfrm>
            <a:off x="9925050" y="3143250"/>
            <a:ext cx="7219950" cy="4333875"/>
          </a:xfrm>
          <a:prstGeom prst="roundRect">
            <a:avLst>
              <a:gd name="adj" fmla="val 4835"/>
            </a:avLst>
          </a:prstGeom>
          <a:solidFill>
            <a:srgbClr val="EDF8F3"/>
          </a:solidFill>
          <a:ln w="0">
            <a:noFill/>
            <a:prstDash val="solid"/>
          </a:ln>
        </p:spPr>
      </p:sp>
      <p:sp>
        <p:nvSpPr>
          <p:cNvPr id="3" name="html-shape-27">
            <a:extLst>
              <a:ext uri="{FF2B5EF4-FFF2-40B4-BE49-F238E27FC236}">
                <a16:creationId xmlns:a16="http://schemas.microsoft.com/office/drawing/2014/main" id="{DC313CAF-19A3-4E25-BA4E-E3B20511E522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4" name="border-2">
            <a:extLst>
              <a:ext uri="{FF2B5EF4-FFF2-40B4-BE49-F238E27FC236}">
                <a16:creationId xmlns:a16="http://schemas.microsoft.com/office/drawing/2014/main" id="{3274E522-B077-41D7-A425-14E4E74ED330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7219950" cy="762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5" name="html-shape-3">
            <a:extLst>
              <a:ext uri="{FF2B5EF4-FFF2-40B4-BE49-F238E27FC236}">
                <a16:creationId xmlns:a16="http://schemas.microsoft.com/office/drawing/2014/main" id="{15F25085-740C-4883-ABE5-E59849E8F794}"/>
              </a:ext>
            </a:extLst>
          </p:cNvPr>
          <p:cNvSpPr>
            <a:spLocks noGrp="1"/>
          </p:cNvSpPr>
          <p:nvPr/>
        </p:nvSpPr>
        <p:spPr>
          <a:xfrm>
            <a:off x="1543050" y="3562350"/>
            <a:ext cx="762000" cy="762000"/>
          </a:xfrm>
          <a:prstGeom prst="roundRect">
            <a:avLst>
              <a:gd name="adj" fmla="val 23750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6" name="html-shape-4">
            <a:extLst>
              <a:ext uri="{FF2B5EF4-FFF2-40B4-BE49-F238E27FC236}">
                <a16:creationId xmlns:a16="http://schemas.microsoft.com/office/drawing/2014/main" id="{F2648547-ED2D-4CCE-B5D1-DC81D516A6B1}"/>
              </a:ext>
            </a:extLst>
          </p:cNvPr>
          <p:cNvSpPr>
            <a:spLocks noGrp="1"/>
          </p:cNvSpPr>
          <p:nvPr/>
        </p:nvSpPr>
        <p:spPr>
          <a:xfrm>
            <a:off x="1543050" y="4610100"/>
            <a:ext cx="6419850" cy="685800"/>
          </a:xfrm>
          <a:prstGeom prst="roundRect">
            <a:avLst>
              <a:gd name="adj" fmla="val 19444"/>
            </a:avLst>
          </a:prstGeom>
          <a:solidFill>
            <a:srgbClr val="E9E1FF"/>
          </a:solidFill>
          <a:ln w="0">
            <a:noFill/>
            <a:prstDash val="solid"/>
          </a:ln>
        </p:spPr>
      </p:sp>
      <p:sp>
        <p:nvSpPr>
          <p:cNvPr id="7" name="html-shape-5">
            <a:extLst>
              <a:ext uri="{FF2B5EF4-FFF2-40B4-BE49-F238E27FC236}">
                <a16:creationId xmlns:a16="http://schemas.microsoft.com/office/drawing/2014/main" id="{C4D6ED25-E01E-4AFC-998E-BA7149D7CB40}"/>
              </a:ext>
            </a:extLst>
          </p:cNvPr>
          <p:cNvSpPr>
            <a:spLocks noGrp="1"/>
          </p:cNvSpPr>
          <p:nvPr/>
        </p:nvSpPr>
        <p:spPr>
          <a:xfrm>
            <a:off x="1543050" y="5524500"/>
            <a:ext cx="6419850" cy="50092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" name="border-6">
            <a:extLst>
              <a:ext uri="{FF2B5EF4-FFF2-40B4-BE49-F238E27FC236}">
                <a16:creationId xmlns:a16="http://schemas.microsoft.com/office/drawing/2014/main" id="{711D85F3-0680-4F95-A584-6F3D8331DD4C}"/>
              </a:ext>
            </a:extLst>
          </p:cNvPr>
          <p:cNvSpPr>
            <a:spLocks noGrp="1"/>
          </p:cNvSpPr>
          <p:nvPr/>
        </p:nvSpPr>
        <p:spPr>
          <a:xfrm>
            <a:off x="1543050" y="6015895"/>
            <a:ext cx="6419850" cy="9525"/>
          </a:xfrm>
          <a:prstGeom prst="rect">
            <a:avLst/>
          </a:prstGeom>
          <a:solidFill>
            <a:srgbClr val="D8DDEC"/>
          </a:solidFill>
          <a:ln w="0">
            <a:noFill/>
            <a:prstDash val="solid"/>
          </a:ln>
        </p:spPr>
      </p:sp>
      <p:sp>
        <p:nvSpPr>
          <p:cNvPr id="9" name="pseudo-7">
            <a:extLst>
              <a:ext uri="{FF2B5EF4-FFF2-40B4-BE49-F238E27FC236}">
                <a16:creationId xmlns:a16="http://schemas.microsoft.com/office/drawing/2014/main" id="{9CEC094F-CACC-4C71-AD36-31CB68F7AE35}"/>
              </a:ext>
            </a:extLst>
          </p:cNvPr>
          <p:cNvSpPr>
            <a:spLocks noGrp="1"/>
          </p:cNvSpPr>
          <p:nvPr/>
        </p:nvSpPr>
        <p:spPr>
          <a:xfrm>
            <a:off x="1562100" y="57245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0" name="html-shape-8">
            <a:extLst>
              <a:ext uri="{FF2B5EF4-FFF2-40B4-BE49-F238E27FC236}">
                <a16:creationId xmlns:a16="http://schemas.microsoft.com/office/drawing/2014/main" id="{E407C499-F837-4D6E-983D-DE39B8621519}"/>
              </a:ext>
            </a:extLst>
          </p:cNvPr>
          <p:cNvSpPr>
            <a:spLocks noGrp="1"/>
          </p:cNvSpPr>
          <p:nvPr/>
        </p:nvSpPr>
        <p:spPr>
          <a:xfrm>
            <a:off x="1543050" y="6025420"/>
            <a:ext cx="6419850" cy="50092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" name="border-9">
            <a:extLst>
              <a:ext uri="{FF2B5EF4-FFF2-40B4-BE49-F238E27FC236}">
                <a16:creationId xmlns:a16="http://schemas.microsoft.com/office/drawing/2014/main" id="{21F2F793-9C7D-45C0-AC48-20AE5140B2CA}"/>
              </a:ext>
            </a:extLst>
          </p:cNvPr>
          <p:cNvSpPr>
            <a:spLocks noGrp="1"/>
          </p:cNvSpPr>
          <p:nvPr/>
        </p:nvSpPr>
        <p:spPr>
          <a:xfrm>
            <a:off x="1543050" y="6516910"/>
            <a:ext cx="6419850" cy="9525"/>
          </a:xfrm>
          <a:prstGeom prst="rect">
            <a:avLst/>
          </a:prstGeom>
          <a:solidFill>
            <a:srgbClr val="D8DDEC"/>
          </a:solidFill>
          <a:ln w="0">
            <a:noFill/>
            <a:prstDash val="solid"/>
          </a:ln>
        </p:spPr>
      </p:sp>
      <p:sp>
        <p:nvSpPr>
          <p:cNvPr id="12" name="pseudo-10">
            <a:extLst>
              <a:ext uri="{FF2B5EF4-FFF2-40B4-BE49-F238E27FC236}">
                <a16:creationId xmlns:a16="http://schemas.microsoft.com/office/drawing/2014/main" id="{5929552E-4FEA-4FE4-8150-3CE2AEA089D9}"/>
              </a:ext>
            </a:extLst>
          </p:cNvPr>
          <p:cNvSpPr>
            <a:spLocks noGrp="1"/>
          </p:cNvSpPr>
          <p:nvPr/>
        </p:nvSpPr>
        <p:spPr>
          <a:xfrm>
            <a:off x="1562100" y="6225445"/>
            <a:ext cx="85725" cy="85725"/>
          </a:xfrm>
          <a:prstGeom prst="roundRect">
            <a:avLst>
              <a:gd name="adj" fmla="val 50000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3" name="html-shape-11">
            <a:extLst>
              <a:ext uri="{FF2B5EF4-FFF2-40B4-BE49-F238E27FC236}">
                <a16:creationId xmlns:a16="http://schemas.microsoft.com/office/drawing/2014/main" id="{6B0BD9DD-CBCD-4585-95EF-CDC25ADA9FF1}"/>
              </a:ext>
            </a:extLst>
          </p:cNvPr>
          <p:cNvSpPr>
            <a:spLocks noGrp="1"/>
          </p:cNvSpPr>
          <p:nvPr/>
        </p:nvSpPr>
        <p:spPr>
          <a:xfrm>
            <a:off x="1543050" y="6526435"/>
            <a:ext cx="6419850" cy="50092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border-12">
            <a:extLst>
              <a:ext uri="{FF2B5EF4-FFF2-40B4-BE49-F238E27FC236}">
                <a16:creationId xmlns:a16="http://schemas.microsoft.com/office/drawing/2014/main" id="{A283EC28-0792-4DA6-B231-CAACE5E5A78C}"/>
              </a:ext>
            </a:extLst>
          </p:cNvPr>
          <p:cNvSpPr>
            <a:spLocks noGrp="1"/>
          </p:cNvSpPr>
          <p:nvPr/>
        </p:nvSpPr>
        <p:spPr>
          <a:xfrm>
            <a:off x="1543050" y="7017830"/>
            <a:ext cx="6419850" cy="9525"/>
          </a:xfrm>
          <a:prstGeom prst="rect">
            <a:avLst/>
          </a:prstGeom>
          <a:solidFill>
            <a:srgbClr val="D8DDEC"/>
          </a:solidFill>
          <a:ln w="0">
            <a:noFill/>
            <a:prstDash val="solid"/>
          </a:ln>
        </p:spPr>
      </p:sp>
      <p:sp>
        <p:nvSpPr>
          <p:cNvPr id="15" name="pseudo-13">
            <a:extLst>
              <a:ext uri="{FF2B5EF4-FFF2-40B4-BE49-F238E27FC236}">
                <a16:creationId xmlns:a16="http://schemas.microsoft.com/office/drawing/2014/main" id="{C722DCC5-2272-4E22-9336-1EB0A0B78561}"/>
              </a:ext>
            </a:extLst>
          </p:cNvPr>
          <p:cNvSpPr>
            <a:spLocks noGrp="1"/>
          </p:cNvSpPr>
          <p:nvPr/>
        </p:nvSpPr>
        <p:spPr>
          <a:xfrm>
            <a:off x="1562100" y="6726460"/>
            <a:ext cx="85725" cy="85725"/>
          </a:xfrm>
          <a:prstGeom prst="roundRect">
            <a:avLst>
              <a:gd name="adj" fmla="val 50000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6" name="border-15">
            <a:extLst>
              <a:ext uri="{FF2B5EF4-FFF2-40B4-BE49-F238E27FC236}">
                <a16:creationId xmlns:a16="http://schemas.microsoft.com/office/drawing/2014/main" id="{9ABCD67A-CBCC-454B-985B-AD3FAB20ECD1}"/>
              </a:ext>
            </a:extLst>
          </p:cNvPr>
          <p:cNvSpPr>
            <a:spLocks noGrp="1"/>
          </p:cNvSpPr>
          <p:nvPr/>
        </p:nvSpPr>
        <p:spPr>
          <a:xfrm>
            <a:off x="9925050" y="3143250"/>
            <a:ext cx="7219950" cy="762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7" name="html-shape-16">
            <a:extLst>
              <a:ext uri="{FF2B5EF4-FFF2-40B4-BE49-F238E27FC236}">
                <a16:creationId xmlns:a16="http://schemas.microsoft.com/office/drawing/2014/main" id="{1287C4F5-0B71-4DDA-9540-E5EA56ECF044}"/>
              </a:ext>
            </a:extLst>
          </p:cNvPr>
          <p:cNvSpPr>
            <a:spLocks noGrp="1"/>
          </p:cNvSpPr>
          <p:nvPr/>
        </p:nvSpPr>
        <p:spPr>
          <a:xfrm>
            <a:off x="10325100" y="3562350"/>
            <a:ext cx="762000" cy="762000"/>
          </a:xfrm>
          <a:prstGeom prst="roundRect">
            <a:avLst>
              <a:gd name="adj" fmla="val 2375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8" name="html-shape-17">
            <a:extLst>
              <a:ext uri="{FF2B5EF4-FFF2-40B4-BE49-F238E27FC236}">
                <a16:creationId xmlns:a16="http://schemas.microsoft.com/office/drawing/2014/main" id="{B4847D7C-1CBD-45D2-A838-E559E04BEF6A}"/>
              </a:ext>
            </a:extLst>
          </p:cNvPr>
          <p:cNvSpPr>
            <a:spLocks noGrp="1"/>
          </p:cNvSpPr>
          <p:nvPr/>
        </p:nvSpPr>
        <p:spPr>
          <a:xfrm>
            <a:off x="10325100" y="4610100"/>
            <a:ext cx="6419850" cy="685800"/>
          </a:xfrm>
          <a:prstGeom prst="roundRect">
            <a:avLst>
              <a:gd name="adj" fmla="val 19444"/>
            </a:avLst>
          </a:prstGeom>
          <a:solidFill>
            <a:srgbClr val="DFF4EA"/>
          </a:solidFill>
          <a:ln w="0">
            <a:noFill/>
            <a:prstDash val="solid"/>
          </a:ln>
        </p:spPr>
      </p:sp>
      <p:sp>
        <p:nvSpPr>
          <p:cNvPr id="19" name="html-shape-18">
            <a:extLst>
              <a:ext uri="{FF2B5EF4-FFF2-40B4-BE49-F238E27FC236}">
                <a16:creationId xmlns:a16="http://schemas.microsoft.com/office/drawing/2014/main" id="{D692A63E-0E62-4AC3-8EA9-CF16C2E8D8D5}"/>
              </a:ext>
            </a:extLst>
          </p:cNvPr>
          <p:cNvSpPr>
            <a:spLocks noGrp="1"/>
          </p:cNvSpPr>
          <p:nvPr/>
        </p:nvSpPr>
        <p:spPr>
          <a:xfrm>
            <a:off x="10325100" y="5524500"/>
            <a:ext cx="6419850" cy="50092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0" name="border-19">
            <a:extLst>
              <a:ext uri="{FF2B5EF4-FFF2-40B4-BE49-F238E27FC236}">
                <a16:creationId xmlns:a16="http://schemas.microsoft.com/office/drawing/2014/main" id="{EDA997C0-A143-4750-8D5C-15826CDACA80}"/>
              </a:ext>
            </a:extLst>
          </p:cNvPr>
          <p:cNvSpPr>
            <a:spLocks noGrp="1"/>
          </p:cNvSpPr>
          <p:nvPr/>
        </p:nvSpPr>
        <p:spPr>
          <a:xfrm>
            <a:off x="10325100" y="6015895"/>
            <a:ext cx="6419850" cy="9525"/>
          </a:xfrm>
          <a:prstGeom prst="rect">
            <a:avLst/>
          </a:prstGeom>
          <a:solidFill>
            <a:srgbClr val="D8DDEC"/>
          </a:solidFill>
          <a:ln w="0">
            <a:noFill/>
            <a:prstDash val="solid"/>
          </a:ln>
        </p:spPr>
      </p:sp>
      <p:sp>
        <p:nvSpPr>
          <p:cNvPr id="21" name="pseudo-20">
            <a:extLst>
              <a:ext uri="{FF2B5EF4-FFF2-40B4-BE49-F238E27FC236}">
                <a16:creationId xmlns:a16="http://schemas.microsoft.com/office/drawing/2014/main" id="{78D2E233-501D-4C76-AD1A-7902F9097730}"/>
              </a:ext>
            </a:extLst>
          </p:cNvPr>
          <p:cNvSpPr>
            <a:spLocks noGrp="1"/>
          </p:cNvSpPr>
          <p:nvPr/>
        </p:nvSpPr>
        <p:spPr>
          <a:xfrm>
            <a:off x="10344150" y="57245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2" name="html-shape-21">
            <a:extLst>
              <a:ext uri="{FF2B5EF4-FFF2-40B4-BE49-F238E27FC236}">
                <a16:creationId xmlns:a16="http://schemas.microsoft.com/office/drawing/2014/main" id="{37583EC0-3FD6-4E01-8CA1-77A212F8C5F5}"/>
              </a:ext>
            </a:extLst>
          </p:cNvPr>
          <p:cNvSpPr>
            <a:spLocks noGrp="1"/>
          </p:cNvSpPr>
          <p:nvPr/>
        </p:nvSpPr>
        <p:spPr>
          <a:xfrm>
            <a:off x="10325100" y="6025420"/>
            <a:ext cx="6419850" cy="50092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3" name="border-22">
            <a:extLst>
              <a:ext uri="{FF2B5EF4-FFF2-40B4-BE49-F238E27FC236}">
                <a16:creationId xmlns:a16="http://schemas.microsoft.com/office/drawing/2014/main" id="{FA65248A-2CD6-4746-925D-7FB2C67D358A}"/>
              </a:ext>
            </a:extLst>
          </p:cNvPr>
          <p:cNvSpPr>
            <a:spLocks noGrp="1"/>
          </p:cNvSpPr>
          <p:nvPr/>
        </p:nvSpPr>
        <p:spPr>
          <a:xfrm>
            <a:off x="10325100" y="6516910"/>
            <a:ext cx="6419850" cy="9525"/>
          </a:xfrm>
          <a:prstGeom prst="rect">
            <a:avLst/>
          </a:prstGeom>
          <a:solidFill>
            <a:srgbClr val="D8DDEC"/>
          </a:solidFill>
          <a:ln w="0">
            <a:noFill/>
            <a:prstDash val="solid"/>
          </a:ln>
        </p:spPr>
      </p:sp>
      <p:sp>
        <p:nvSpPr>
          <p:cNvPr id="24" name="pseudo-23">
            <a:extLst>
              <a:ext uri="{FF2B5EF4-FFF2-40B4-BE49-F238E27FC236}">
                <a16:creationId xmlns:a16="http://schemas.microsoft.com/office/drawing/2014/main" id="{2F6C71AE-5A70-4E6F-96EB-872E1D780B4C}"/>
              </a:ext>
            </a:extLst>
          </p:cNvPr>
          <p:cNvSpPr>
            <a:spLocks noGrp="1"/>
          </p:cNvSpPr>
          <p:nvPr/>
        </p:nvSpPr>
        <p:spPr>
          <a:xfrm>
            <a:off x="10344150" y="6225445"/>
            <a:ext cx="85725" cy="85725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5" name="html-shape-24">
            <a:extLst>
              <a:ext uri="{FF2B5EF4-FFF2-40B4-BE49-F238E27FC236}">
                <a16:creationId xmlns:a16="http://schemas.microsoft.com/office/drawing/2014/main" id="{B95F234C-6B3E-4230-8AFF-D637E1D37F62}"/>
              </a:ext>
            </a:extLst>
          </p:cNvPr>
          <p:cNvSpPr>
            <a:spLocks noGrp="1"/>
          </p:cNvSpPr>
          <p:nvPr/>
        </p:nvSpPr>
        <p:spPr>
          <a:xfrm>
            <a:off x="10325100" y="6526435"/>
            <a:ext cx="6419850" cy="50092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6" name="border-25">
            <a:extLst>
              <a:ext uri="{FF2B5EF4-FFF2-40B4-BE49-F238E27FC236}">
                <a16:creationId xmlns:a16="http://schemas.microsoft.com/office/drawing/2014/main" id="{B4BDE62E-423B-4FD7-8598-D449B3AB90CF}"/>
              </a:ext>
            </a:extLst>
          </p:cNvPr>
          <p:cNvSpPr>
            <a:spLocks noGrp="1"/>
          </p:cNvSpPr>
          <p:nvPr/>
        </p:nvSpPr>
        <p:spPr>
          <a:xfrm>
            <a:off x="10325100" y="7017830"/>
            <a:ext cx="6419850" cy="9525"/>
          </a:xfrm>
          <a:prstGeom prst="rect">
            <a:avLst/>
          </a:prstGeom>
          <a:solidFill>
            <a:srgbClr val="D8DDEC"/>
          </a:solidFill>
          <a:ln w="0">
            <a:noFill/>
            <a:prstDash val="solid"/>
          </a:ln>
        </p:spPr>
      </p:sp>
      <p:sp>
        <p:nvSpPr>
          <p:cNvPr id="27" name="pseudo-26">
            <a:extLst>
              <a:ext uri="{FF2B5EF4-FFF2-40B4-BE49-F238E27FC236}">
                <a16:creationId xmlns:a16="http://schemas.microsoft.com/office/drawing/2014/main" id="{36089E40-F2A8-4DF7-9BBA-5AEB5B17FDD9}"/>
              </a:ext>
            </a:extLst>
          </p:cNvPr>
          <p:cNvSpPr>
            <a:spLocks noGrp="1"/>
          </p:cNvSpPr>
          <p:nvPr/>
        </p:nvSpPr>
        <p:spPr>
          <a:xfrm>
            <a:off x="10344150" y="672646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8AD0874C-0415-4EEF-9360-0F6B4B73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F5EBCDCB-43A5-4BAD-9C19-59001BB78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30" name="text-1">
            <a:extLst>
              <a:ext uri="{FF2B5EF4-FFF2-40B4-BE49-F238E27FC236}">
                <a16:creationId xmlns:a16="http://schemas.microsoft.com/office/drawing/2014/main" id="{F60067E8-5B7C-483F-B57F-28FA3DA8D0DA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31" name="text-2">
            <a:extLst>
              <a:ext uri="{FF2B5EF4-FFF2-40B4-BE49-F238E27FC236}">
                <a16:creationId xmlns:a16="http://schemas.microsoft.com/office/drawing/2014/main" id="{8F1E253C-88D6-47F5-809D-B3895C1063AC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34782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第四章 · 为什么进一步采用异构 PD</a:t>
            </a:r>
          </a:p>
        </p:txBody>
      </p:sp>
      <p:sp>
        <p:nvSpPr>
          <p:cNvPr id="32" name="text-3">
            <a:extLst>
              <a:ext uri="{FF2B5EF4-FFF2-40B4-BE49-F238E27FC236}">
                <a16:creationId xmlns:a16="http://schemas.microsoft.com/office/drawing/2014/main" id="{7BB4525B-310F-4C8C-9C5B-D1E454D21E8F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9940576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837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Prefill 与 Decode 对硬件的要求不同</a:t>
            </a:r>
          </a:p>
        </p:txBody>
      </p:sp>
      <p:sp>
        <p:nvSpPr>
          <p:cNvPr id="33" name="text-4">
            <a:extLst>
              <a:ext uri="{FF2B5EF4-FFF2-40B4-BE49-F238E27FC236}">
                <a16:creationId xmlns:a16="http://schemas.microsoft.com/office/drawing/2014/main" id="{46C432C3-9395-4A4F-8EDB-36484E118F75}"/>
              </a:ext>
            </a:extLst>
          </p:cNvPr>
          <p:cNvSpPr>
            <a:spLocks noGrp="1"/>
          </p:cNvSpPr>
          <p:nvPr/>
        </p:nvSpPr>
        <p:spPr>
          <a:xfrm>
            <a:off x="776288" y="2210086"/>
            <a:ext cx="1390726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 侧重规模化计算吞吐；Decode 更依赖显存带宽、容量与互联，以维持低单步时延和稳定输出速度。</a:t>
            </a:r>
          </a:p>
        </p:txBody>
      </p:sp>
      <p:sp>
        <p:nvSpPr>
          <p:cNvPr id="34" name="text-5">
            <a:extLst>
              <a:ext uri="{FF2B5EF4-FFF2-40B4-BE49-F238E27FC236}">
                <a16:creationId xmlns:a16="http://schemas.microsoft.com/office/drawing/2014/main" id="{71C5E7C6-379F-429C-A07E-4E5625A8D764}"/>
              </a:ext>
            </a:extLst>
          </p:cNvPr>
          <p:cNvSpPr>
            <a:spLocks noGrp="1"/>
          </p:cNvSpPr>
          <p:nvPr/>
        </p:nvSpPr>
        <p:spPr>
          <a:xfrm>
            <a:off x="1789652" y="3676650"/>
            <a:ext cx="32575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0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0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0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5" name="text-6">
            <a:extLst>
              <a:ext uri="{FF2B5EF4-FFF2-40B4-BE49-F238E27FC236}">
                <a16:creationId xmlns:a16="http://schemas.microsoft.com/office/drawing/2014/main" id="{D1C0DFD2-8C71-40B4-A1C5-009B76EE4CEA}"/>
              </a:ext>
            </a:extLst>
          </p:cNvPr>
          <p:cNvSpPr>
            <a:spLocks noGrp="1"/>
          </p:cNvSpPr>
          <p:nvPr/>
        </p:nvSpPr>
        <p:spPr>
          <a:xfrm>
            <a:off x="2581275" y="3622358"/>
            <a:ext cx="781812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0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0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0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36" name="text-7">
            <a:extLst>
              <a:ext uri="{FF2B5EF4-FFF2-40B4-BE49-F238E27FC236}">
                <a16:creationId xmlns:a16="http://schemas.microsoft.com/office/drawing/2014/main" id="{D6A4C328-78CD-43E0-8D80-6C9BEB87C19C}"/>
              </a:ext>
            </a:extLst>
          </p:cNvPr>
          <p:cNvSpPr>
            <a:spLocks noGrp="1"/>
          </p:cNvSpPr>
          <p:nvPr/>
        </p:nvSpPr>
        <p:spPr>
          <a:xfrm>
            <a:off x="2581275" y="3860483"/>
            <a:ext cx="3723513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一次处理大量 Input Token</a:t>
            </a:r>
          </a:p>
        </p:txBody>
      </p:sp>
      <p:sp>
        <p:nvSpPr>
          <p:cNvPr id="37" name="text-8">
            <a:extLst>
              <a:ext uri="{FF2B5EF4-FFF2-40B4-BE49-F238E27FC236}">
                <a16:creationId xmlns:a16="http://schemas.microsoft.com/office/drawing/2014/main" id="{E68469EC-ED19-4ED5-86F9-36B5DFE32595}"/>
              </a:ext>
            </a:extLst>
          </p:cNvPr>
          <p:cNvSpPr>
            <a:spLocks noGrp="1"/>
          </p:cNvSpPr>
          <p:nvPr/>
        </p:nvSpPr>
        <p:spPr>
          <a:xfrm>
            <a:off x="1771650" y="4833938"/>
            <a:ext cx="933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第一优先级</a:t>
            </a:r>
          </a:p>
        </p:txBody>
      </p:sp>
      <p:sp>
        <p:nvSpPr>
          <p:cNvPr id="38" name="text-9">
            <a:extLst>
              <a:ext uri="{FF2B5EF4-FFF2-40B4-BE49-F238E27FC236}">
                <a16:creationId xmlns:a16="http://schemas.microsoft.com/office/drawing/2014/main" id="{5651FFF7-7D2B-4134-9B8D-311A30054A3B}"/>
              </a:ext>
            </a:extLst>
          </p:cNvPr>
          <p:cNvSpPr>
            <a:spLocks noGrp="1"/>
          </p:cNvSpPr>
          <p:nvPr/>
        </p:nvSpPr>
        <p:spPr>
          <a:xfrm>
            <a:off x="6115050" y="4762500"/>
            <a:ext cx="1676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稠密计算吞吐</a:t>
            </a:r>
          </a:p>
        </p:txBody>
      </p:sp>
      <p:sp>
        <p:nvSpPr>
          <p:cNvPr id="39" name="text-10">
            <a:extLst>
              <a:ext uri="{FF2B5EF4-FFF2-40B4-BE49-F238E27FC236}">
                <a16:creationId xmlns:a16="http://schemas.microsoft.com/office/drawing/2014/main" id="{940D9CF9-490A-493C-96F7-E4E59AD40221}"/>
              </a:ext>
            </a:extLst>
          </p:cNvPr>
          <p:cNvSpPr>
            <a:spLocks noGrp="1"/>
          </p:cNvSpPr>
          <p:nvPr/>
        </p:nvSpPr>
        <p:spPr>
          <a:xfrm>
            <a:off x="1800225" y="5610225"/>
            <a:ext cx="1828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矩阵计算并行度高</a:t>
            </a:r>
          </a:p>
        </p:txBody>
      </p:sp>
      <p:sp>
        <p:nvSpPr>
          <p:cNvPr id="40" name="text-11">
            <a:extLst>
              <a:ext uri="{FF2B5EF4-FFF2-40B4-BE49-F238E27FC236}">
                <a16:creationId xmlns:a16="http://schemas.microsoft.com/office/drawing/2014/main" id="{EAA455DE-44A4-431D-B5DC-CB8F1951537E}"/>
              </a:ext>
            </a:extLst>
          </p:cNvPr>
          <p:cNvSpPr>
            <a:spLocks noGrp="1"/>
          </p:cNvSpPr>
          <p:nvPr/>
        </p:nvSpPr>
        <p:spPr>
          <a:xfrm>
            <a:off x="1800225" y="611114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吞吐随集群规模扩展</a:t>
            </a:r>
          </a:p>
        </p:txBody>
      </p:sp>
      <p:sp>
        <p:nvSpPr>
          <p:cNvPr id="41" name="text-12">
            <a:extLst>
              <a:ext uri="{FF2B5EF4-FFF2-40B4-BE49-F238E27FC236}">
                <a16:creationId xmlns:a16="http://schemas.microsoft.com/office/drawing/2014/main" id="{3D0CF0D4-05DF-4376-9819-E1CA809AD5D8}"/>
              </a:ext>
            </a:extLst>
          </p:cNvPr>
          <p:cNvSpPr>
            <a:spLocks noGrp="1"/>
          </p:cNvSpPr>
          <p:nvPr/>
        </p:nvSpPr>
        <p:spPr>
          <a:xfrm>
            <a:off x="1800225" y="6612160"/>
            <a:ext cx="2266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适合组织大规模算力池</a:t>
            </a:r>
          </a:p>
        </p:txBody>
      </p:sp>
      <p:sp>
        <p:nvSpPr>
          <p:cNvPr id="42" name="text-13">
            <a:extLst>
              <a:ext uri="{FF2B5EF4-FFF2-40B4-BE49-F238E27FC236}">
                <a16:creationId xmlns:a16="http://schemas.microsoft.com/office/drawing/2014/main" id="{C32E45AF-70A0-4683-98D3-243C7D9490D6}"/>
              </a:ext>
            </a:extLst>
          </p:cNvPr>
          <p:cNvSpPr>
            <a:spLocks noGrp="1"/>
          </p:cNvSpPr>
          <p:nvPr/>
        </p:nvSpPr>
        <p:spPr>
          <a:xfrm>
            <a:off x="8818340" y="4748213"/>
            <a:ext cx="70847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6300" b="0" i="0" noProof="1">
                <a:solidFill>
                  <a:srgbClr val="7E899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6300" b="0" i="0" noProof="1">
                <a:solidFill>
                  <a:srgbClr val="7E899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6300" b="0" i="0" noProof="1">
                <a:solidFill>
                  <a:srgbClr val="7E899B"/>
                </a:solidFill>
                <a:latin typeface="PingFang SC"/>
                <a:ea typeface="PingFang SC"/>
                <a:cs typeface="Arial"/>
              </a:rPr>
              <a:t>≠</a:t>
            </a:r>
          </a:p>
        </p:txBody>
      </p:sp>
      <p:sp>
        <p:nvSpPr>
          <p:cNvPr id="43" name="text-14">
            <a:extLst>
              <a:ext uri="{FF2B5EF4-FFF2-40B4-BE49-F238E27FC236}">
                <a16:creationId xmlns:a16="http://schemas.microsoft.com/office/drawing/2014/main" id="{F247CDBB-CDD1-4768-8429-22705C63A903}"/>
              </a:ext>
            </a:extLst>
          </p:cNvPr>
          <p:cNvSpPr>
            <a:spLocks noGrp="1"/>
          </p:cNvSpPr>
          <p:nvPr/>
        </p:nvSpPr>
        <p:spPr>
          <a:xfrm>
            <a:off x="10559320" y="3676650"/>
            <a:ext cx="35061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0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0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0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4" name="text-15">
            <a:extLst>
              <a:ext uri="{FF2B5EF4-FFF2-40B4-BE49-F238E27FC236}">
                <a16:creationId xmlns:a16="http://schemas.microsoft.com/office/drawing/2014/main" id="{9FD2DA8A-8B2D-4180-95CA-F0F9E8B6B38C}"/>
              </a:ext>
            </a:extLst>
          </p:cNvPr>
          <p:cNvSpPr>
            <a:spLocks noGrp="1"/>
          </p:cNvSpPr>
          <p:nvPr/>
        </p:nvSpPr>
        <p:spPr>
          <a:xfrm>
            <a:off x="11363325" y="3622358"/>
            <a:ext cx="801148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0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0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0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45" name="text-16">
            <a:extLst>
              <a:ext uri="{FF2B5EF4-FFF2-40B4-BE49-F238E27FC236}">
                <a16:creationId xmlns:a16="http://schemas.microsoft.com/office/drawing/2014/main" id="{98A81C77-AA72-4779-8BB2-74B139B65C56}"/>
              </a:ext>
            </a:extLst>
          </p:cNvPr>
          <p:cNvSpPr>
            <a:spLocks noGrp="1"/>
          </p:cNvSpPr>
          <p:nvPr/>
        </p:nvSpPr>
        <p:spPr>
          <a:xfrm>
            <a:off x="11363325" y="3860483"/>
            <a:ext cx="3382423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逐步生成 Output Token</a:t>
            </a:r>
          </a:p>
        </p:txBody>
      </p:sp>
      <p:sp>
        <p:nvSpPr>
          <p:cNvPr id="46" name="text-17">
            <a:extLst>
              <a:ext uri="{FF2B5EF4-FFF2-40B4-BE49-F238E27FC236}">
                <a16:creationId xmlns:a16="http://schemas.microsoft.com/office/drawing/2014/main" id="{CA8591BC-D3E0-470A-98DE-D629E8F38320}"/>
              </a:ext>
            </a:extLst>
          </p:cNvPr>
          <p:cNvSpPr>
            <a:spLocks noGrp="1"/>
          </p:cNvSpPr>
          <p:nvPr/>
        </p:nvSpPr>
        <p:spPr>
          <a:xfrm>
            <a:off x="10553700" y="4833938"/>
            <a:ext cx="933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第一优先级</a:t>
            </a:r>
          </a:p>
        </p:txBody>
      </p:sp>
      <p:sp>
        <p:nvSpPr>
          <p:cNvPr id="47" name="text-18">
            <a:extLst>
              <a:ext uri="{FF2B5EF4-FFF2-40B4-BE49-F238E27FC236}">
                <a16:creationId xmlns:a16="http://schemas.microsoft.com/office/drawing/2014/main" id="{3A34036C-D509-4A7A-BCD4-BD3A6C51F46E}"/>
              </a:ext>
            </a:extLst>
          </p:cNvPr>
          <p:cNvSpPr>
            <a:spLocks noGrp="1"/>
          </p:cNvSpPr>
          <p:nvPr/>
        </p:nvSpPr>
        <p:spPr>
          <a:xfrm>
            <a:off x="14630400" y="47625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显存与互联系统</a:t>
            </a:r>
          </a:p>
        </p:txBody>
      </p:sp>
      <p:sp>
        <p:nvSpPr>
          <p:cNvPr id="48" name="text-19">
            <a:extLst>
              <a:ext uri="{FF2B5EF4-FFF2-40B4-BE49-F238E27FC236}">
                <a16:creationId xmlns:a16="http://schemas.microsoft.com/office/drawing/2014/main" id="{FD8725E9-F41F-4EE7-B8FB-7F28B729E83A}"/>
              </a:ext>
            </a:extLst>
          </p:cNvPr>
          <p:cNvSpPr>
            <a:spLocks noGrp="1"/>
          </p:cNvSpPr>
          <p:nvPr/>
        </p:nvSpPr>
        <p:spPr>
          <a:xfrm>
            <a:off x="10582275" y="5610225"/>
            <a:ext cx="241201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每步反复读取权重与 KV</a:t>
            </a:r>
          </a:p>
        </p:txBody>
      </p:sp>
      <p:sp>
        <p:nvSpPr>
          <p:cNvPr id="49" name="text-20">
            <a:extLst>
              <a:ext uri="{FF2B5EF4-FFF2-40B4-BE49-F238E27FC236}">
                <a16:creationId xmlns:a16="http://schemas.microsoft.com/office/drawing/2014/main" id="{64B1B7E3-5004-4C9F-92A2-FB5C5CC99076}"/>
              </a:ext>
            </a:extLst>
          </p:cNvPr>
          <p:cNvSpPr>
            <a:spLocks noGrp="1"/>
          </p:cNvSpPr>
          <p:nvPr/>
        </p:nvSpPr>
        <p:spPr>
          <a:xfrm>
            <a:off x="10582275" y="6111145"/>
            <a:ext cx="2705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低并发时更容易受访存限制</a:t>
            </a:r>
          </a:p>
        </p:txBody>
      </p:sp>
      <p:sp>
        <p:nvSpPr>
          <p:cNvPr id="50" name="text-21">
            <a:extLst>
              <a:ext uri="{FF2B5EF4-FFF2-40B4-BE49-F238E27FC236}">
                <a16:creationId xmlns:a16="http://schemas.microsoft.com/office/drawing/2014/main" id="{1A8F2FAB-DFCF-4001-884E-1A659864C59B}"/>
              </a:ext>
            </a:extLst>
          </p:cNvPr>
          <p:cNvSpPr>
            <a:spLocks noGrp="1"/>
          </p:cNvSpPr>
          <p:nvPr/>
        </p:nvSpPr>
        <p:spPr>
          <a:xfrm>
            <a:off x="10582275" y="6612160"/>
            <a:ext cx="220351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直接决定 Interactivity</a:t>
            </a:r>
          </a:p>
        </p:txBody>
      </p:sp>
      <p:sp>
        <p:nvSpPr>
          <p:cNvPr id="51" name="text-22">
            <a:extLst>
              <a:ext uri="{FF2B5EF4-FFF2-40B4-BE49-F238E27FC236}">
                <a16:creationId xmlns:a16="http://schemas.microsoft.com/office/drawing/2014/main" id="{5E826973-2E05-47D8-8597-7368378B3FB8}"/>
              </a:ext>
            </a:extLst>
          </p:cNvPr>
          <p:cNvSpPr>
            <a:spLocks noGrp="1"/>
          </p:cNvSpPr>
          <p:nvPr/>
        </p:nvSpPr>
        <p:spPr>
          <a:xfrm>
            <a:off x="4067461" y="9067800"/>
            <a:ext cx="1021003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同一种设备同时做到“Prefill 成本最优”和“Decode 体验最优”，并非总是合理。</a:t>
            </a:r>
          </a:p>
        </p:txBody>
      </p:sp>
      <p:sp>
        <p:nvSpPr>
          <p:cNvPr id="52" name="text-23">
            <a:extLst>
              <a:ext uri="{FF2B5EF4-FFF2-40B4-BE49-F238E27FC236}">
                <a16:creationId xmlns:a16="http://schemas.microsoft.com/office/drawing/2014/main" id="{6FB42E6B-552E-40AE-B537-159C07E94B3E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20 / 43</a:t>
            </a:r>
          </a:p>
        </p:txBody>
      </p:sp>
    </p:spTree>
    <p:extLst>
      <p:ext uri="{BB962C8B-B14F-4D97-AF65-F5344CB8AC3E}">
        <p14:creationId xmlns:p14="http://schemas.microsoft.com/office/powerpoint/2010/main" val="831365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html-shape-1">
            <a:extLst>
              <a:ext uri="{FF2B5EF4-FFF2-40B4-BE49-F238E27FC236}">
                <a16:creationId xmlns:a16="http://schemas.microsoft.com/office/drawing/2014/main" id="{A7E831AD-F145-4E6E-BCB0-233FBBA259D6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16002000" cy="5029200"/>
          </a:xfrm>
          <a:prstGeom prst="roundRect">
            <a:avLst>
              <a:gd name="adj" fmla="val 3409"/>
            </a:avLst>
          </a:prstGeom>
          <a:noFill/>
          <a:ln w="19050">
            <a:solidFill>
              <a:srgbClr val="D9DFEB"/>
            </a:solidFill>
            <a:prstDash val="solid"/>
          </a:ln>
        </p:spPr>
      </p:sp>
      <p:sp>
        <p:nvSpPr>
          <p:cNvPr id="2" name="html-shape-2">
            <a:extLst>
              <a:ext uri="{FF2B5EF4-FFF2-40B4-BE49-F238E27FC236}">
                <a16:creationId xmlns:a16="http://schemas.microsoft.com/office/drawing/2014/main" id="{0B1A179B-1D9E-4B1F-AB55-92EFFFF42D05}"/>
              </a:ext>
            </a:extLst>
          </p:cNvPr>
          <p:cNvSpPr>
            <a:spLocks noGrp="1"/>
          </p:cNvSpPr>
          <p:nvPr/>
        </p:nvSpPr>
        <p:spPr>
          <a:xfrm>
            <a:off x="1162050" y="3067050"/>
            <a:ext cx="15963900" cy="647700"/>
          </a:xfrm>
          <a:prstGeom prst="rect">
            <a:avLst/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3" name="html-shape-14">
            <a:extLst>
              <a:ext uri="{FF2B5EF4-FFF2-40B4-BE49-F238E27FC236}">
                <a16:creationId xmlns:a16="http://schemas.microsoft.com/office/drawing/2014/main" id="{13103D2E-0520-42E1-9BB9-64B90DF6BE3C}"/>
              </a:ext>
            </a:extLst>
          </p:cNvPr>
          <p:cNvSpPr>
            <a:spLocks noGrp="1"/>
          </p:cNvSpPr>
          <p:nvPr/>
        </p:nvSpPr>
        <p:spPr>
          <a:xfrm>
            <a:off x="3638550" y="3714750"/>
            <a:ext cx="13487400" cy="609600"/>
          </a:xfrm>
          <a:prstGeom prst="rect">
            <a:avLst/>
          </a:prstGeom>
          <a:solidFill>
            <a:srgbClr val="FBFAFF"/>
          </a:solidFill>
          <a:ln w="0">
            <a:noFill/>
            <a:prstDash val="solid"/>
          </a:ln>
        </p:spPr>
      </p:sp>
      <p:sp>
        <p:nvSpPr>
          <p:cNvPr id="4" name="html-shape-23">
            <a:extLst>
              <a:ext uri="{FF2B5EF4-FFF2-40B4-BE49-F238E27FC236}">
                <a16:creationId xmlns:a16="http://schemas.microsoft.com/office/drawing/2014/main" id="{D9F0B411-74D7-44AD-A0FE-DF75F06AA3E0}"/>
              </a:ext>
            </a:extLst>
          </p:cNvPr>
          <p:cNvSpPr>
            <a:spLocks noGrp="1"/>
          </p:cNvSpPr>
          <p:nvPr/>
        </p:nvSpPr>
        <p:spPr>
          <a:xfrm>
            <a:off x="3638550" y="4324350"/>
            <a:ext cx="13487400" cy="609600"/>
          </a:xfrm>
          <a:prstGeom prst="rect">
            <a:avLst/>
          </a:prstGeom>
          <a:solidFill>
            <a:srgbClr val="FBFAFF"/>
          </a:solidFill>
          <a:ln w="0">
            <a:noFill/>
            <a:prstDash val="solid"/>
          </a:ln>
        </p:spPr>
      </p:sp>
      <p:sp>
        <p:nvSpPr>
          <p:cNvPr id="5" name="html-shape-32">
            <a:extLst>
              <a:ext uri="{FF2B5EF4-FFF2-40B4-BE49-F238E27FC236}">
                <a16:creationId xmlns:a16="http://schemas.microsoft.com/office/drawing/2014/main" id="{1353658A-1746-45D5-BA0C-E1D1690BFCC1}"/>
              </a:ext>
            </a:extLst>
          </p:cNvPr>
          <p:cNvSpPr>
            <a:spLocks noGrp="1"/>
          </p:cNvSpPr>
          <p:nvPr/>
        </p:nvSpPr>
        <p:spPr>
          <a:xfrm>
            <a:off x="3638550" y="4933950"/>
            <a:ext cx="13487400" cy="609600"/>
          </a:xfrm>
          <a:prstGeom prst="rect">
            <a:avLst/>
          </a:prstGeom>
          <a:solidFill>
            <a:srgbClr val="F7FCF9"/>
          </a:solidFill>
          <a:ln w="0">
            <a:noFill/>
            <a:prstDash val="solid"/>
          </a:ln>
        </p:spPr>
      </p:sp>
      <p:sp>
        <p:nvSpPr>
          <p:cNvPr id="6" name="html-shape-40">
            <a:extLst>
              <a:ext uri="{FF2B5EF4-FFF2-40B4-BE49-F238E27FC236}">
                <a16:creationId xmlns:a16="http://schemas.microsoft.com/office/drawing/2014/main" id="{46EECA55-8C2F-4ADE-8D91-8EF74D0FF101}"/>
              </a:ext>
            </a:extLst>
          </p:cNvPr>
          <p:cNvSpPr>
            <a:spLocks noGrp="1"/>
          </p:cNvSpPr>
          <p:nvPr/>
        </p:nvSpPr>
        <p:spPr>
          <a:xfrm>
            <a:off x="1162050" y="5543550"/>
            <a:ext cx="15963900" cy="1257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html-shape-44">
            <a:extLst>
              <a:ext uri="{FF2B5EF4-FFF2-40B4-BE49-F238E27FC236}">
                <a16:creationId xmlns:a16="http://schemas.microsoft.com/office/drawing/2014/main" id="{304C78B9-B8F8-4F5A-955A-236DDBA4C9A3}"/>
              </a:ext>
            </a:extLst>
          </p:cNvPr>
          <p:cNvSpPr>
            <a:spLocks noGrp="1"/>
          </p:cNvSpPr>
          <p:nvPr/>
        </p:nvSpPr>
        <p:spPr>
          <a:xfrm>
            <a:off x="3638550" y="5581650"/>
            <a:ext cx="13487400" cy="609600"/>
          </a:xfrm>
          <a:prstGeom prst="rect">
            <a:avLst/>
          </a:prstGeom>
          <a:solidFill>
            <a:srgbClr val="FBFAFF"/>
          </a:solidFill>
          <a:ln w="0">
            <a:noFill/>
            <a:prstDash val="solid"/>
          </a:ln>
        </p:spPr>
      </p:sp>
      <p:sp>
        <p:nvSpPr>
          <p:cNvPr id="8" name="html-shape-53">
            <a:extLst>
              <a:ext uri="{FF2B5EF4-FFF2-40B4-BE49-F238E27FC236}">
                <a16:creationId xmlns:a16="http://schemas.microsoft.com/office/drawing/2014/main" id="{3A5DFBDE-68C7-4600-8F71-5D7EAB1B2FFB}"/>
              </a:ext>
            </a:extLst>
          </p:cNvPr>
          <p:cNvSpPr>
            <a:spLocks noGrp="1"/>
          </p:cNvSpPr>
          <p:nvPr/>
        </p:nvSpPr>
        <p:spPr>
          <a:xfrm>
            <a:off x="3638550" y="6191250"/>
            <a:ext cx="13487400" cy="609600"/>
          </a:xfrm>
          <a:prstGeom prst="rect">
            <a:avLst/>
          </a:prstGeom>
          <a:solidFill>
            <a:srgbClr val="F7FCF9"/>
          </a:solidFill>
          <a:ln w="0">
            <a:noFill/>
            <a:prstDash val="solid"/>
          </a:ln>
        </p:spPr>
      </p:sp>
      <p:sp>
        <p:nvSpPr>
          <p:cNvPr id="9" name="html-shape-61">
            <a:extLst>
              <a:ext uri="{FF2B5EF4-FFF2-40B4-BE49-F238E27FC236}">
                <a16:creationId xmlns:a16="http://schemas.microsoft.com/office/drawing/2014/main" id="{A8E9E6F7-6C78-4E55-B8A5-E7468BB7D478}"/>
              </a:ext>
            </a:extLst>
          </p:cNvPr>
          <p:cNvSpPr>
            <a:spLocks noGrp="1"/>
          </p:cNvSpPr>
          <p:nvPr/>
        </p:nvSpPr>
        <p:spPr>
          <a:xfrm>
            <a:off x="1162050" y="6800850"/>
            <a:ext cx="15963900" cy="1257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" name="html-shape-65">
            <a:extLst>
              <a:ext uri="{FF2B5EF4-FFF2-40B4-BE49-F238E27FC236}">
                <a16:creationId xmlns:a16="http://schemas.microsoft.com/office/drawing/2014/main" id="{5114B810-0904-45AF-B171-737FAD3CF8BF}"/>
              </a:ext>
            </a:extLst>
          </p:cNvPr>
          <p:cNvSpPr>
            <a:spLocks noGrp="1"/>
          </p:cNvSpPr>
          <p:nvPr/>
        </p:nvSpPr>
        <p:spPr>
          <a:xfrm>
            <a:off x="3638550" y="6838950"/>
            <a:ext cx="13487400" cy="609600"/>
          </a:xfrm>
          <a:prstGeom prst="rect">
            <a:avLst/>
          </a:prstGeom>
          <a:solidFill>
            <a:srgbClr val="FBFAFF"/>
          </a:solidFill>
          <a:ln w="0">
            <a:noFill/>
            <a:prstDash val="solid"/>
          </a:ln>
        </p:spPr>
      </p:sp>
      <p:sp>
        <p:nvSpPr>
          <p:cNvPr id="11" name="html-shape-74">
            <a:extLst>
              <a:ext uri="{FF2B5EF4-FFF2-40B4-BE49-F238E27FC236}">
                <a16:creationId xmlns:a16="http://schemas.microsoft.com/office/drawing/2014/main" id="{6B1C880A-CE5D-486B-9B5F-CB5E95B5085D}"/>
              </a:ext>
            </a:extLst>
          </p:cNvPr>
          <p:cNvSpPr>
            <a:spLocks noGrp="1"/>
          </p:cNvSpPr>
          <p:nvPr/>
        </p:nvSpPr>
        <p:spPr>
          <a:xfrm>
            <a:off x="3638550" y="7448550"/>
            <a:ext cx="13487400" cy="609600"/>
          </a:xfrm>
          <a:prstGeom prst="rect">
            <a:avLst/>
          </a:prstGeom>
          <a:solidFill>
            <a:srgbClr val="F7FCF9"/>
          </a:solidFill>
          <a:ln w="0">
            <a:noFill/>
            <a:prstDash val="solid"/>
          </a:ln>
        </p:spPr>
      </p:sp>
      <p:sp>
        <p:nvSpPr>
          <p:cNvPr id="12" name="border-3">
            <a:extLst>
              <a:ext uri="{FF2B5EF4-FFF2-40B4-BE49-F238E27FC236}">
                <a16:creationId xmlns:a16="http://schemas.microsoft.com/office/drawing/2014/main" id="{F2132C6F-7989-4A12-B56F-2C7456D80BEE}"/>
              </a:ext>
            </a:extLst>
          </p:cNvPr>
          <p:cNvSpPr>
            <a:spLocks noGrp="1"/>
          </p:cNvSpPr>
          <p:nvPr/>
        </p:nvSpPr>
        <p:spPr>
          <a:xfrm>
            <a:off x="1162050" y="3705225"/>
            <a:ext cx="159639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3" name="html-shape-4">
            <a:extLst>
              <a:ext uri="{FF2B5EF4-FFF2-40B4-BE49-F238E27FC236}">
                <a16:creationId xmlns:a16="http://schemas.microsoft.com/office/drawing/2014/main" id="{1E432581-8EB9-47BE-BA2C-7EE299EB1D44}"/>
              </a:ext>
            </a:extLst>
          </p:cNvPr>
          <p:cNvSpPr>
            <a:spLocks noGrp="1"/>
          </p:cNvSpPr>
          <p:nvPr/>
        </p:nvSpPr>
        <p:spPr>
          <a:xfrm>
            <a:off x="1162050" y="3067050"/>
            <a:ext cx="2476500" cy="6381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border-5">
            <a:extLst>
              <a:ext uri="{FF2B5EF4-FFF2-40B4-BE49-F238E27FC236}">
                <a16:creationId xmlns:a16="http://schemas.microsoft.com/office/drawing/2014/main" id="{916530F8-7954-4112-BF2B-6E29133DA3D6}"/>
              </a:ext>
            </a:extLst>
          </p:cNvPr>
          <p:cNvSpPr>
            <a:spLocks noGrp="1"/>
          </p:cNvSpPr>
          <p:nvPr/>
        </p:nvSpPr>
        <p:spPr>
          <a:xfrm>
            <a:off x="3629025" y="3067050"/>
            <a:ext cx="9525" cy="6381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5" name="html-shape-6">
            <a:extLst>
              <a:ext uri="{FF2B5EF4-FFF2-40B4-BE49-F238E27FC236}">
                <a16:creationId xmlns:a16="http://schemas.microsoft.com/office/drawing/2014/main" id="{D074362A-4B1F-4951-B930-889C7FA7B0A1}"/>
              </a:ext>
            </a:extLst>
          </p:cNvPr>
          <p:cNvSpPr>
            <a:spLocks noGrp="1"/>
          </p:cNvSpPr>
          <p:nvPr/>
        </p:nvSpPr>
        <p:spPr>
          <a:xfrm>
            <a:off x="3638550" y="3067050"/>
            <a:ext cx="4298156" cy="6381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" name="border-7">
            <a:extLst>
              <a:ext uri="{FF2B5EF4-FFF2-40B4-BE49-F238E27FC236}">
                <a16:creationId xmlns:a16="http://schemas.microsoft.com/office/drawing/2014/main" id="{DEC56111-7FA8-45F2-AEFE-78E5D688BAEF}"/>
              </a:ext>
            </a:extLst>
          </p:cNvPr>
          <p:cNvSpPr>
            <a:spLocks noGrp="1"/>
          </p:cNvSpPr>
          <p:nvPr/>
        </p:nvSpPr>
        <p:spPr>
          <a:xfrm>
            <a:off x="7927181" y="3067050"/>
            <a:ext cx="9525" cy="6381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7" name="html-shape-8">
            <a:extLst>
              <a:ext uri="{FF2B5EF4-FFF2-40B4-BE49-F238E27FC236}">
                <a16:creationId xmlns:a16="http://schemas.microsoft.com/office/drawing/2014/main" id="{63AE6A84-DE60-48DE-BB52-697C868C51D9}"/>
              </a:ext>
            </a:extLst>
          </p:cNvPr>
          <p:cNvSpPr>
            <a:spLocks noGrp="1"/>
          </p:cNvSpPr>
          <p:nvPr/>
        </p:nvSpPr>
        <p:spPr>
          <a:xfrm>
            <a:off x="7936706" y="3067050"/>
            <a:ext cx="2815971" cy="6381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8" name="border-9">
            <a:extLst>
              <a:ext uri="{FF2B5EF4-FFF2-40B4-BE49-F238E27FC236}">
                <a16:creationId xmlns:a16="http://schemas.microsoft.com/office/drawing/2014/main" id="{C5AF2CE4-147C-4737-BB85-06CCFD5C7E72}"/>
              </a:ext>
            </a:extLst>
          </p:cNvPr>
          <p:cNvSpPr>
            <a:spLocks noGrp="1"/>
          </p:cNvSpPr>
          <p:nvPr/>
        </p:nvSpPr>
        <p:spPr>
          <a:xfrm>
            <a:off x="10743152" y="3067050"/>
            <a:ext cx="9525" cy="6381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9" name="html-shape-10">
            <a:extLst>
              <a:ext uri="{FF2B5EF4-FFF2-40B4-BE49-F238E27FC236}">
                <a16:creationId xmlns:a16="http://schemas.microsoft.com/office/drawing/2014/main" id="{84B95BF6-220C-4895-AF86-D7EE61CBAB06}"/>
              </a:ext>
            </a:extLst>
          </p:cNvPr>
          <p:cNvSpPr>
            <a:spLocks noGrp="1"/>
          </p:cNvSpPr>
          <p:nvPr/>
        </p:nvSpPr>
        <p:spPr>
          <a:xfrm>
            <a:off x="10752677" y="3067050"/>
            <a:ext cx="2964371" cy="6381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0" name="border-11">
            <a:extLst>
              <a:ext uri="{FF2B5EF4-FFF2-40B4-BE49-F238E27FC236}">
                <a16:creationId xmlns:a16="http://schemas.microsoft.com/office/drawing/2014/main" id="{B103CA76-F7FA-4EF7-9FD6-18C5BD7A4672}"/>
              </a:ext>
            </a:extLst>
          </p:cNvPr>
          <p:cNvSpPr>
            <a:spLocks noGrp="1"/>
          </p:cNvSpPr>
          <p:nvPr/>
        </p:nvSpPr>
        <p:spPr>
          <a:xfrm>
            <a:off x="13707523" y="3067050"/>
            <a:ext cx="9525" cy="6381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1" name="html-shape-12">
            <a:extLst>
              <a:ext uri="{FF2B5EF4-FFF2-40B4-BE49-F238E27FC236}">
                <a16:creationId xmlns:a16="http://schemas.microsoft.com/office/drawing/2014/main" id="{E6DEC0B1-DE66-40C7-80F2-9B83B3DE7BB8}"/>
              </a:ext>
            </a:extLst>
          </p:cNvPr>
          <p:cNvSpPr>
            <a:spLocks noGrp="1"/>
          </p:cNvSpPr>
          <p:nvPr/>
        </p:nvSpPr>
        <p:spPr>
          <a:xfrm>
            <a:off x="1162050" y="3714750"/>
            <a:ext cx="2476500" cy="1828800"/>
          </a:xfrm>
          <a:prstGeom prst="rect">
            <a:avLst/>
          </a:prstGeom>
          <a:solidFill>
            <a:srgbClr val="F3F0F9"/>
          </a:solidFill>
          <a:ln w="0">
            <a:noFill/>
            <a:prstDash val="solid"/>
          </a:ln>
        </p:spPr>
      </p:sp>
      <p:sp>
        <p:nvSpPr>
          <p:cNvPr id="22" name="border-13">
            <a:extLst>
              <a:ext uri="{FF2B5EF4-FFF2-40B4-BE49-F238E27FC236}">
                <a16:creationId xmlns:a16="http://schemas.microsoft.com/office/drawing/2014/main" id="{ABCD7289-4703-43D1-889C-C161D073A6C3}"/>
              </a:ext>
            </a:extLst>
          </p:cNvPr>
          <p:cNvSpPr>
            <a:spLocks noGrp="1"/>
          </p:cNvSpPr>
          <p:nvPr/>
        </p:nvSpPr>
        <p:spPr>
          <a:xfrm>
            <a:off x="3629025" y="3714750"/>
            <a:ext cx="9525" cy="18288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3" name="border-15">
            <a:extLst>
              <a:ext uri="{FF2B5EF4-FFF2-40B4-BE49-F238E27FC236}">
                <a16:creationId xmlns:a16="http://schemas.microsoft.com/office/drawing/2014/main" id="{BE9A066D-4D02-4501-8A8A-09070B263117}"/>
              </a:ext>
            </a:extLst>
          </p:cNvPr>
          <p:cNvSpPr>
            <a:spLocks noGrp="1"/>
          </p:cNvSpPr>
          <p:nvPr/>
        </p:nvSpPr>
        <p:spPr>
          <a:xfrm>
            <a:off x="3638550" y="4314825"/>
            <a:ext cx="134874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4" name="html-shape-16">
            <a:extLst>
              <a:ext uri="{FF2B5EF4-FFF2-40B4-BE49-F238E27FC236}">
                <a16:creationId xmlns:a16="http://schemas.microsoft.com/office/drawing/2014/main" id="{39BE5CB8-FDFC-4DC6-9B39-DA49A39AC99F}"/>
              </a:ext>
            </a:extLst>
          </p:cNvPr>
          <p:cNvSpPr>
            <a:spLocks noGrp="1"/>
          </p:cNvSpPr>
          <p:nvPr/>
        </p:nvSpPr>
        <p:spPr>
          <a:xfrm>
            <a:off x="3638550" y="3714750"/>
            <a:ext cx="4298156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5" name="border-17">
            <a:extLst>
              <a:ext uri="{FF2B5EF4-FFF2-40B4-BE49-F238E27FC236}">
                <a16:creationId xmlns:a16="http://schemas.microsoft.com/office/drawing/2014/main" id="{DEC7E76C-ACC6-4DEC-8F63-8DA3CC19184F}"/>
              </a:ext>
            </a:extLst>
          </p:cNvPr>
          <p:cNvSpPr>
            <a:spLocks noGrp="1"/>
          </p:cNvSpPr>
          <p:nvPr/>
        </p:nvSpPr>
        <p:spPr>
          <a:xfrm>
            <a:off x="7927181" y="37147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6" name="html-shape-18">
            <a:extLst>
              <a:ext uri="{FF2B5EF4-FFF2-40B4-BE49-F238E27FC236}">
                <a16:creationId xmlns:a16="http://schemas.microsoft.com/office/drawing/2014/main" id="{C223E696-7DF8-4DE3-9D67-03FDDBF5BE07}"/>
              </a:ext>
            </a:extLst>
          </p:cNvPr>
          <p:cNvSpPr>
            <a:spLocks noGrp="1"/>
          </p:cNvSpPr>
          <p:nvPr/>
        </p:nvSpPr>
        <p:spPr>
          <a:xfrm>
            <a:off x="5298472" y="3893820"/>
            <a:ext cx="438150" cy="241840"/>
          </a:xfrm>
          <a:prstGeom prst="roundRect">
            <a:avLst>
              <a:gd name="adj" fmla="val 27570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27" name="html-shape-19">
            <a:extLst>
              <a:ext uri="{FF2B5EF4-FFF2-40B4-BE49-F238E27FC236}">
                <a16:creationId xmlns:a16="http://schemas.microsoft.com/office/drawing/2014/main" id="{C311C7AF-D626-4753-A733-651F7EC2E855}"/>
              </a:ext>
            </a:extLst>
          </p:cNvPr>
          <p:cNvSpPr>
            <a:spLocks noGrp="1"/>
          </p:cNvSpPr>
          <p:nvPr/>
        </p:nvSpPr>
        <p:spPr>
          <a:xfrm>
            <a:off x="7936706" y="3714750"/>
            <a:ext cx="2815971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8" name="border-20">
            <a:extLst>
              <a:ext uri="{FF2B5EF4-FFF2-40B4-BE49-F238E27FC236}">
                <a16:creationId xmlns:a16="http://schemas.microsoft.com/office/drawing/2014/main" id="{9C8B9DA1-FD44-4356-B708-3BE873D15FB0}"/>
              </a:ext>
            </a:extLst>
          </p:cNvPr>
          <p:cNvSpPr>
            <a:spLocks noGrp="1"/>
          </p:cNvSpPr>
          <p:nvPr/>
        </p:nvSpPr>
        <p:spPr>
          <a:xfrm>
            <a:off x="10743152" y="37147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29" name="html-shape-21">
            <a:extLst>
              <a:ext uri="{FF2B5EF4-FFF2-40B4-BE49-F238E27FC236}">
                <a16:creationId xmlns:a16="http://schemas.microsoft.com/office/drawing/2014/main" id="{AC4D65C9-A76D-45FD-81A9-567A22475A13}"/>
              </a:ext>
            </a:extLst>
          </p:cNvPr>
          <p:cNvSpPr>
            <a:spLocks noGrp="1"/>
          </p:cNvSpPr>
          <p:nvPr/>
        </p:nvSpPr>
        <p:spPr>
          <a:xfrm>
            <a:off x="10752677" y="3714750"/>
            <a:ext cx="2964371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0" name="border-22">
            <a:extLst>
              <a:ext uri="{FF2B5EF4-FFF2-40B4-BE49-F238E27FC236}">
                <a16:creationId xmlns:a16="http://schemas.microsoft.com/office/drawing/2014/main" id="{898EA977-14CC-41D7-BF37-FD6D48452C58}"/>
              </a:ext>
            </a:extLst>
          </p:cNvPr>
          <p:cNvSpPr>
            <a:spLocks noGrp="1"/>
          </p:cNvSpPr>
          <p:nvPr/>
        </p:nvSpPr>
        <p:spPr>
          <a:xfrm>
            <a:off x="13707523" y="37147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1" name="border-24">
            <a:extLst>
              <a:ext uri="{FF2B5EF4-FFF2-40B4-BE49-F238E27FC236}">
                <a16:creationId xmlns:a16="http://schemas.microsoft.com/office/drawing/2014/main" id="{97C9C8FB-B1CE-4D28-811A-56C884314D06}"/>
              </a:ext>
            </a:extLst>
          </p:cNvPr>
          <p:cNvSpPr>
            <a:spLocks noGrp="1"/>
          </p:cNvSpPr>
          <p:nvPr/>
        </p:nvSpPr>
        <p:spPr>
          <a:xfrm>
            <a:off x="3638550" y="4924425"/>
            <a:ext cx="134874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2" name="html-shape-25">
            <a:extLst>
              <a:ext uri="{FF2B5EF4-FFF2-40B4-BE49-F238E27FC236}">
                <a16:creationId xmlns:a16="http://schemas.microsoft.com/office/drawing/2014/main" id="{D18E7BCA-8449-47A7-9B58-07BD20A45D6E}"/>
              </a:ext>
            </a:extLst>
          </p:cNvPr>
          <p:cNvSpPr>
            <a:spLocks noGrp="1"/>
          </p:cNvSpPr>
          <p:nvPr/>
        </p:nvSpPr>
        <p:spPr>
          <a:xfrm>
            <a:off x="3638550" y="4324350"/>
            <a:ext cx="4298156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3" name="border-26">
            <a:extLst>
              <a:ext uri="{FF2B5EF4-FFF2-40B4-BE49-F238E27FC236}">
                <a16:creationId xmlns:a16="http://schemas.microsoft.com/office/drawing/2014/main" id="{C6854F37-079F-492D-9772-DEFC24E23458}"/>
              </a:ext>
            </a:extLst>
          </p:cNvPr>
          <p:cNvSpPr>
            <a:spLocks noGrp="1"/>
          </p:cNvSpPr>
          <p:nvPr/>
        </p:nvSpPr>
        <p:spPr>
          <a:xfrm>
            <a:off x="7927181" y="43243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4" name="html-shape-27">
            <a:extLst>
              <a:ext uri="{FF2B5EF4-FFF2-40B4-BE49-F238E27FC236}">
                <a16:creationId xmlns:a16="http://schemas.microsoft.com/office/drawing/2014/main" id="{F191825C-EFF8-4A57-9D30-D4BCF0DC3354}"/>
              </a:ext>
            </a:extLst>
          </p:cNvPr>
          <p:cNvSpPr>
            <a:spLocks noGrp="1"/>
          </p:cNvSpPr>
          <p:nvPr/>
        </p:nvSpPr>
        <p:spPr>
          <a:xfrm>
            <a:off x="5253323" y="4503420"/>
            <a:ext cx="438150" cy="241840"/>
          </a:xfrm>
          <a:prstGeom prst="roundRect">
            <a:avLst>
              <a:gd name="adj" fmla="val 27570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35" name="html-shape-28">
            <a:extLst>
              <a:ext uri="{FF2B5EF4-FFF2-40B4-BE49-F238E27FC236}">
                <a16:creationId xmlns:a16="http://schemas.microsoft.com/office/drawing/2014/main" id="{C0227FB0-EBCB-4C2B-AC4D-FCFE1862F75F}"/>
              </a:ext>
            </a:extLst>
          </p:cNvPr>
          <p:cNvSpPr>
            <a:spLocks noGrp="1"/>
          </p:cNvSpPr>
          <p:nvPr/>
        </p:nvSpPr>
        <p:spPr>
          <a:xfrm>
            <a:off x="7936706" y="4324350"/>
            <a:ext cx="2815971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6" name="border-29">
            <a:extLst>
              <a:ext uri="{FF2B5EF4-FFF2-40B4-BE49-F238E27FC236}">
                <a16:creationId xmlns:a16="http://schemas.microsoft.com/office/drawing/2014/main" id="{1B6ED5E9-EF04-407F-AEC1-2A25F9829892}"/>
              </a:ext>
            </a:extLst>
          </p:cNvPr>
          <p:cNvSpPr>
            <a:spLocks noGrp="1"/>
          </p:cNvSpPr>
          <p:nvPr/>
        </p:nvSpPr>
        <p:spPr>
          <a:xfrm>
            <a:off x="10743152" y="43243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7" name="html-shape-30">
            <a:extLst>
              <a:ext uri="{FF2B5EF4-FFF2-40B4-BE49-F238E27FC236}">
                <a16:creationId xmlns:a16="http://schemas.microsoft.com/office/drawing/2014/main" id="{81B40770-CA16-486A-AFC4-0A2A2A656749}"/>
              </a:ext>
            </a:extLst>
          </p:cNvPr>
          <p:cNvSpPr>
            <a:spLocks noGrp="1"/>
          </p:cNvSpPr>
          <p:nvPr/>
        </p:nvSpPr>
        <p:spPr>
          <a:xfrm>
            <a:off x="10752677" y="4324350"/>
            <a:ext cx="2964371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8" name="border-31">
            <a:extLst>
              <a:ext uri="{FF2B5EF4-FFF2-40B4-BE49-F238E27FC236}">
                <a16:creationId xmlns:a16="http://schemas.microsoft.com/office/drawing/2014/main" id="{72189CDD-09BF-44F8-AEC1-F94AE8FA046A}"/>
              </a:ext>
            </a:extLst>
          </p:cNvPr>
          <p:cNvSpPr>
            <a:spLocks noGrp="1"/>
          </p:cNvSpPr>
          <p:nvPr/>
        </p:nvSpPr>
        <p:spPr>
          <a:xfrm>
            <a:off x="13707523" y="43243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9" name="html-shape-33">
            <a:extLst>
              <a:ext uri="{FF2B5EF4-FFF2-40B4-BE49-F238E27FC236}">
                <a16:creationId xmlns:a16="http://schemas.microsoft.com/office/drawing/2014/main" id="{3184BB1D-B821-4DAF-A08F-550360A5A6DE}"/>
              </a:ext>
            </a:extLst>
          </p:cNvPr>
          <p:cNvSpPr>
            <a:spLocks noGrp="1"/>
          </p:cNvSpPr>
          <p:nvPr/>
        </p:nvSpPr>
        <p:spPr>
          <a:xfrm>
            <a:off x="3638550" y="4933950"/>
            <a:ext cx="4298156" cy="609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0" name="border-34">
            <a:extLst>
              <a:ext uri="{FF2B5EF4-FFF2-40B4-BE49-F238E27FC236}">
                <a16:creationId xmlns:a16="http://schemas.microsoft.com/office/drawing/2014/main" id="{B64D06C8-2A06-40A9-A4FB-C292F0F42A3C}"/>
              </a:ext>
            </a:extLst>
          </p:cNvPr>
          <p:cNvSpPr>
            <a:spLocks noGrp="1"/>
          </p:cNvSpPr>
          <p:nvPr/>
        </p:nvSpPr>
        <p:spPr>
          <a:xfrm>
            <a:off x="7927181" y="4933950"/>
            <a:ext cx="9525" cy="6096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41" name="html-shape-35">
            <a:extLst>
              <a:ext uri="{FF2B5EF4-FFF2-40B4-BE49-F238E27FC236}">
                <a16:creationId xmlns:a16="http://schemas.microsoft.com/office/drawing/2014/main" id="{1A06E0E1-2B59-4668-839C-65194CB187C0}"/>
              </a:ext>
            </a:extLst>
          </p:cNvPr>
          <p:cNvSpPr>
            <a:spLocks noGrp="1"/>
          </p:cNvSpPr>
          <p:nvPr/>
        </p:nvSpPr>
        <p:spPr>
          <a:xfrm>
            <a:off x="5303615" y="5117783"/>
            <a:ext cx="612172" cy="241840"/>
          </a:xfrm>
          <a:prstGeom prst="roundRect">
            <a:avLst>
              <a:gd name="adj" fmla="val 27570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42" name="html-shape-36">
            <a:extLst>
              <a:ext uri="{FF2B5EF4-FFF2-40B4-BE49-F238E27FC236}">
                <a16:creationId xmlns:a16="http://schemas.microsoft.com/office/drawing/2014/main" id="{9FFCA066-82B5-4202-9046-6BD6A52800B5}"/>
              </a:ext>
            </a:extLst>
          </p:cNvPr>
          <p:cNvSpPr>
            <a:spLocks noGrp="1"/>
          </p:cNvSpPr>
          <p:nvPr/>
        </p:nvSpPr>
        <p:spPr>
          <a:xfrm>
            <a:off x="7936706" y="4933950"/>
            <a:ext cx="2815971" cy="609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3" name="border-37">
            <a:extLst>
              <a:ext uri="{FF2B5EF4-FFF2-40B4-BE49-F238E27FC236}">
                <a16:creationId xmlns:a16="http://schemas.microsoft.com/office/drawing/2014/main" id="{FB872A5C-4C97-40D2-976A-4F57F691586A}"/>
              </a:ext>
            </a:extLst>
          </p:cNvPr>
          <p:cNvSpPr>
            <a:spLocks noGrp="1"/>
          </p:cNvSpPr>
          <p:nvPr/>
        </p:nvSpPr>
        <p:spPr>
          <a:xfrm>
            <a:off x="10743152" y="4933950"/>
            <a:ext cx="9525" cy="6096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44" name="html-shape-38">
            <a:extLst>
              <a:ext uri="{FF2B5EF4-FFF2-40B4-BE49-F238E27FC236}">
                <a16:creationId xmlns:a16="http://schemas.microsoft.com/office/drawing/2014/main" id="{542F0B77-ECDD-44A2-9E93-8BC3406694BC}"/>
              </a:ext>
            </a:extLst>
          </p:cNvPr>
          <p:cNvSpPr>
            <a:spLocks noGrp="1"/>
          </p:cNvSpPr>
          <p:nvPr/>
        </p:nvSpPr>
        <p:spPr>
          <a:xfrm>
            <a:off x="10752677" y="4933950"/>
            <a:ext cx="2964371" cy="609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" name="border-39">
            <a:extLst>
              <a:ext uri="{FF2B5EF4-FFF2-40B4-BE49-F238E27FC236}">
                <a16:creationId xmlns:a16="http://schemas.microsoft.com/office/drawing/2014/main" id="{583DADCC-7855-456B-8E5A-9BF2F56AA874}"/>
              </a:ext>
            </a:extLst>
          </p:cNvPr>
          <p:cNvSpPr>
            <a:spLocks noGrp="1"/>
          </p:cNvSpPr>
          <p:nvPr/>
        </p:nvSpPr>
        <p:spPr>
          <a:xfrm>
            <a:off x="13707523" y="4933950"/>
            <a:ext cx="9525" cy="6096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46" name="border-41">
            <a:extLst>
              <a:ext uri="{FF2B5EF4-FFF2-40B4-BE49-F238E27FC236}">
                <a16:creationId xmlns:a16="http://schemas.microsoft.com/office/drawing/2014/main" id="{872EC767-5554-418B-B90A-683F265FEA9F}"/>
              </a:ext>
            </a:extLst>
          </p:cNvPr>
          <p:cNvSpPr>
            <a:spLocks noGrp="1"/>
          </p:cNvSpPr>
          <p:nvPr/>
        </p:nvSpPr>
        <p:spPr>
          <a:xfrm>
            <a:off x="1162050" y="5543550"/>
            <a:ext cx="15963900" cy="38100"/>
          </a:xfrm>
          <a:prstGeom prst="rect">
            <a:avLst/>
          </a:prstGeom>
          <a:solidFill>
            <a:srgbClr val="CBD3DF"/>
          </a:solidFill>
          <a:ln w="0">
            <a:noFill/>
            <a:prstDash val="solid"/>
          </a:ln>
        </p:spPr>
      </p:sp>
      <p:sp>
        <p:nvSpPr>
          <p:cNvPr id="47" name="html-shape-42">
            <a:extLst>
              <a:ext uri="{FF2B5EF4-FFF2-40B4-BE49-F238E27FC236}">
                <a16:creationId xmlns:a16="http://schemas.microsoft.com/office/drawing/2014/main" id="{1A350E9F-70A9-47D4-9DA2-1952BF363732}"/>
              </a:ext>
            </a:extLst>
          </p:cNvPr>
          <p:cNvSpPr>
            <a:spLocks noGrp="1"/>
          </p:cNvSpPr>
          <p:nvPr/>
        </p:nvSpPr>
        <p:spPr>
          <a:xfrm>
            <a:off x="1162050" y="5581650"/>
            <a:ext cx="2476500" cy="1219200"/>
          </a:xfrm>
          <a:prstGeom prst="rect">
            <a:avLst/>
          </a:prstGeom>
          <a:solidFill>
            <a:srgbClr val="F3F0F9"/>
          </a:solidFill>
          <a:ln w="0">
            <a:noFill/>
            <a:prstDash val="solid"/>
          </a:ln>
        </p:spPr>
      </p:sp>
      <p:sp>
        <p:nvSpPr>
          <p:cNvPr id="48" name="border-43">
            <a:extLst>
              <a:ext uri="{FF2B5EF4-FFF2-40B4-BE49-F238E27FC236}">
                <a16:creationId xmlns:a16="http://schemas.microsoft.com/office/drawing/2014/main" id="{D7F99AAE-0439-4D4F-ACAF-D67931052C4A}"/>
              </a:ext>
            </a:extLst>
          </p:cNvPr>
          <p:cNvSpPr>
            <a:spLocks noGrp="1"/>
          </p:cNvSpPr>
          <p:nvPr/>
        </p:nvSpPr>
        <p:spPr>
          <a:xfrm>
            <a:off x="3629025" y="5581650"/>
            <a:ext cx="9525" cy="12192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49" name="border-45">
            <a:extLst>
              <a:ext uri="{FF2B5EF4-FFF2-40B4-BE49-F238E27FC236}">
                <a16:creationId xmlns:a16="http://schemas.microsoft.com/office/drawing/2014/main" id="{B37C381F-4E1C-4789-A8C4-9BFEDB6461BF}"/>
              </a:ext>
            </a:extLst>
          </p:cNvPr>
          <p:cNvSpPr>
            <a:spLocks noGrp="1"/>
          </p:cNvSpPr>
          <p:nvPr/>
        </p:nvSpPr>
        <p:spPr>
          <a:xfrm>
            <a:off x="3638550" y="6181725"/>
            <a:ext cx="134874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50" name="html-shape-46">
            <a:extLst>
              <a:ext uri="{FF2B5EF4-FFF2-40B4-BE49-F238E27FC236}">
                <a16:creationId xmlns:a16="http://schemas.microsoft.com/office/drawing/2014/main" id="{446C9817-4162-48F6-B35B-95EF0B295432}"/>
              </a:ext>
            </a:extLst>
          </p:cNvPr>
          <p:cNvSpPr>
            <a:spLocks noGrp="1"/>
          </p:cNvSpPr>
          <p:nvPr/>
        </p:nvSpPr>
        <p:spPr>
          <a:xfrm>
            <a:off x="3638550" y="5581650"/>
            <a:ext cx="4298156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1" name="border-47">
            <a:extLst>
              <a:ext uri="{FF2B5EF4-FFF2-40B4-BE49-F238E27FC236}">
                <a16:creationId xmlns:a16="http://schemas.microsoft.com/office/drawing/2014/main" id="{9095AD29-DDAD-4241-A94F-D8E41C28A892}"/>
              </a:ext>
            </a:extLst>
          </p:cNvPr>
          <p:cNvSpPr>
            <a:spLocks noGrp="1"/>
          </p:cNvSpPr>
          <p:nvPr/>
        </p:nvSpPr>
        <p:spPr>
          <a:xfrm>
            <a:off x="7927181" y="55816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52" name="html-shape-48">
            <a:extLst>
              <a:ext uri="{FF2B5EF4-FFF2-40B4-BE49-F238E27FC236}">
                <a16:creationId xmlns:a16="http://schemas.microsoft.com/office/drawing/2014/main" id="{97380074-A601-4279-BD06-1450966E6387}"/>
              </a:ext>
            </a:extLst>
          </p:cNvPr>
          <p:cNvSpPr>
            <a:spLocks noGrp="1"/>
          </p:cNvSpPr>
          <p:nvPr/>
        </p:nvSpPr>
        <p:spPr>
          <a:xfrm>
            <a:off x="5166170" y="5760720"/>
            <a:ext cx="438150" cy="241840"/>
          </a:xfrm>
          <a:prstGeom prst="roundRect">
            <a:avLst>
              <a:gd name="adj" fmla="val 27570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53" name="html-shape-49">
            <a:extLst>
              <a:ext uri="{FF2B5EF4-FFF2-40B4-BE49-F238E27FC236}">
                <a16:creationId xmlns:a16="http://schemas.microsoft.com/office/drawing/2014/main" id="{5A378D00-36CF-44F2-A7EB-270FF3A38551}"/>
              </a:ext>
            </a:extLst>
          </p:cNvPr>
          <p:cNvSpPr>
            <a:spLocks noGrp="1"/>
          </p:cNvSpPr>
          <p:nvPr/>
        </p:nvSpPr>
        <p:spPr>
          <a:xfrm>
            <a:off x="7936706" y="5581650"/>
            <a:ext cx="2815971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4" name="border-50">
            <a:extLst>
              <a:ext uri="{FF2B5EF4-FFF2-40B4-BE49-F238E27FC236}">
                <a16:creationId xmlns:a16="http://schemas.microsoft.com/office/drawing/2014/main" id="{9EAB2FA8-930E-46D6-BE27-23E0583B7454}"/>
              </a:ext>
            </a:extLst>
          </p:cNvPr>
          <p:cNvSpPr>
            <a:spLocks noGrp="1"/>
          </p:cNvSpPr>
          <p:nvPr/>
        </p:nvSpPr>
        <p:spPr>
          <a:xfrm>
            <a:off x="10743152" y="55816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55" name="html-shape-51">
            <a:extLst>
              <a:ext uri="{FF2B5EF4-FFF2-40B4-BE49-F238E27FC236}">
                <a16:creationId xmlns:a16="http://schemas.microsoft.com/office/drawing/2014/main" id="{39DDCEA0-3102-4818-A1B0-19BDCA8EF41F}"/>
              </a:ext>
            </a:extLst>
          </p:cNvPr>
          <p:cNvSpPr>
            <a:spLocks noGrp="1"/>
          </p:cNvSpPr>
          <p:nvPr/>
        </p:nvSpPr>
        <p:spPr>
          <a:xfrm>
            <a:off x="10752677" y="5581650"/>
            <a:ext cx="2964371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6" name="border-52">
            <a:extLst>
              <a:ext uri="{FF2B5EF4-FFF2-40B4-BE49-F238E27FC236}">
                <a16:creationId xmlns:a16="http://schemas.microsoft.com/office/drawing/2014/main" id="{1A6B0564-9BC7-4BAB-952A-7C62CEE3C96F}"/>
              </a:ext>
            </a:extLst>
          </p:cNvPr>
          <p:cNvSpPr>
            <a:spLocks noGrp="1"/>
          </p:cNvSpPr>
          <p:nvPr/>
        </p:nvSpPr>
        <p:spPr>
          <a:xfrm>
            <a:off x="13707523" y="55816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57" name="html-shape-54">
            <a:extLst>
              <a:ext uri="{FF2B5EF4-FFF2-40B4-BE49-F238E27FC236}">
                <a16:creationId xmlns:a16="http://schemas.microsoft.com/office/drawing/2014/main" id="{B012B8E8-3986-4200-8D34-2033D0DB7316}"/>
              </a:ext>
            </a:extLst>
          </p:cNvPr>
          <p:cNvSpPr>
            <a:spLocks noGrp="1"/>
          </p:cNvSpPr>
          <p:nvPr/>
        </p:nvSpPr>
        <p:spPr>
          <a:xfrm>
            <a:off x="3638550" y="6191250"/>
            <a:ext cx="4298156" cy="609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" name="border-55">
            <a:extLst>
              <a:ext uri="{FF2B5EF4-FFF2-40B4-BE49-F238E27FC236}">
                <a16:creationId xmlns:a16="http://schemas.microsoft.com/office/drawing/2014/main" id="{101373CE-1B0F-4442-982B-D13C0CEC9E34}"/>
              </a:ext>
            </a:extLst>
          </p:cNvPr>
          <p:cNvSpPr>
            <a:spLocks noGrp="1"/>
          </p:cNvSpPr>
          <p:nvPr/>
        </p:nvSpPr>
        <p:spPr>
          <a:xfrm>
            <a:off x="7927181" y="6191250"/>
            <a:ext cx="9525" cy="6096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59" name="html-shape-56">
            <a:extLst>
              <a:ext uri="{FF2B5EF4-FFF2-40B4-BE49-F238E27FC236}">
                <a16:creationId xmlns:a16="http://schemas.microsoft.com/office/drawing/2014/main" id="{8AAEA251-F8C6-447E-8187-DE5CCE3CD56E}"/>
              </a:ext>
            </a:extLst>
          </p:cNvPr>
          <p:cNvSpPr>
            <a:spLocks noGrp="1"/>
          </p:cNvSpPr>
          <p:nvPr/>
        </p:nvSpPr>
        <p:spPr>
          <a:xfrm>
            <a:off x="5293995" y="6375083"/>
            <a:ext cx="612172" cy="241840"/>
          </a:xfrm>
          <a:prstGeom prst="roundRect">
            <a:avLst>
              <a:gd name="adj" fmla="val 27570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60" name="html-shape-57">
            <a:extLst>
              <a:ext uri="{FF2B5EF4-FFF2-40B4-BE49-F238E27FC236}">
                <a16:creationId xmlns:a16="http://schemas.microsoft.com/office/drawing/2014/main" id="{3535D10A-4AE0-4370-9436-8767DFD73409}"/>
              </a:ext>
            </a:extLst>
          </p:cNvPr>
          <p:cNvSpPr>
            <a:spLocks noGrp="1"/>
          </p:cNvSpPr>
          <p:nvPr/>
        </p:nvSpPr>
        <p:spPr>
          <a:xfrm>
            <a:off x="7936706" y="6191250"/>
            <a:ext cx="2815971" cy="609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1" name="border-58">
            <a:extLst>
              <a:ext uri="{FF2B5EF4-FFF2-40B4-BE49-F238E27FC236}">
                <a16:creationId xmlns:a16="http://schemas.microsoft.com/office/drawing/2014/main" id="{2F2F6357-327B-4C3F-A629-E61E1D10CD60}"/>
              </a:ext>
            </a:extLst>
          </p:cNvPr>
          <p:cNvSpPr>
            <a:spLocks noGrp="1"/>
          </p:cNvSpPr>
          <p:nvPr/>
        </p:nvSpPr>
        <p:spPr>
          <a:xfrm>
            <a:off x="10743152" y="6191250"/>
            <a:ext cx="9525" cy="6096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62" name="html-shape-59">
            <a:extLst>
              <a:ext uri="{FF2B5EF4-FFF2-40B4-BE49-F238E27FC236}">
                <a16:creationId xmlns:a16="http://schemas.microsoft.com/office/drawing/2014/main" id="{D6AC0B58-A558-48AD-A35A-D98BFE6AF61E}"/>
              </a:ext>
            </a:extLst>
          </p:cNvPr>
          <p:cNvSpPr>
            <a:spLocks noGrp="1"/>
          </p:cNvSpPr>
          <p:nvPr/>
        </p:nvSpPr>
        <p:spPr>
          <a:xfrm>
            <a:off x="10752677" y="6191250"/>
            <a:ext cx="2964371" cy="609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3" name="border-60">
            <a:extLst>
              <a:ext uri="{FF2B5EF4-FFF2-40B4-BE49-F238E27FC236}">
                <a16:creationId xmlns:a16="http://schemas.microsoft.com/office/drawing/2014/main" id="{6887EEBC-6793-4CCB-B7EA-5E313205E979}"/>
              </a:ext>
            </a:extLst>
          </p:cNvPr>
          <p:cNvSpPr>
            <a:spLocks noGrp="1"/>
          </p:cNvSpPr>
          <p:nvPr/>
        </p:nvSpPr>
        <p:spPr>
          <a:xfrm>
            <a:off x="13707523" y="6191250"/>
            <a:ext cx="9525" cy="6096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64" name="border-62">
            <a:extLst>
              <a:ext uri="{FF2B5EF4-FFF2-40B4-BE49-F238E27FC236}">
                <a16:creationId xmlns:a16="http://schemas.microsoft.com/office/drawing/2014/main" id="{2C72AEA8-44CD-420A-81D6-734A3182681A}"/>
              </a:ext>
            </a:extLst>
          </p:cNvPr>
          <p:cNvSpPr>
            <a:spLocks noGrp="1"/>
          </p:cNvSpPr>
          <p:nvPr/>
        </p:nvSpPr>
        <p:spPr>
          <a:xfrm>
            <a:off x="1162050" y="6800850"/>
            <a:ext cx="15963900" cy="38100"/>
          </a:xfrm>
          <a:prstGeom prst="rect">
            <a:avLst/>
          </a:prstGeom>
          <a:solidFill>
            <a:srgbClr val="CBD3DF"/>
          </a:solidFill>
          <a:ln w="0">
            <a:noFill/>
            <a:prstDash val="solid"/>
          </a:ln>
        </p:spPr>
      </p:sp>
      <p:sp>
        <p:nvSpPr>
          <p:cNvPr id="65" name="html-shape-63">
            <a:extLst>
              <a:ext uri="{FF2B5EF4-FFF2-40B4-BE49-F238E27FC236}">
                <a16:creationId xmlns:a16="http://schemas.microsoft.com/office/drawing/2014/main" id="{C084E747-9A47-4168-8CE2-2BBDD18DE53B}"/>
              </a:ext>
            </a:extLst>
          </p:cNvPr>
          <p:cNvSpPr>
            <a:spLocks noGrp="1"/>
          </p:cNvSpPr>
          <p:nvPr/>
        </p:nvSpPr>
        <p:spPr>
          <a:xfrm>
            <a:off x="1162050" y="6838950"/>
            <a:ext cx="2476500" cy="1219200"/>
          </a:xfrm>
          <a:prstGeom prst="rect">
            <a:avLst/>
          </a:prstGeom>
          <a:solidFill>
            <a:srgbClr val="F3F0F9"/>
          </a:solidFill>
          <a:ln w="0">
            <a:noFill/>
            <a:prstDash val="solid"/>
          </a:ln>
        </p:spPr>
      </p:sp>
      <p:sp>
        <p:nvSpPr>
          <p:cNvPr id="66" name="border-64">
            <a:extLst>
              <a:ext uri="{FF2B5EF4-FFF2-40B4-BE49-F238E27FC236}">
                <a16:creationId xmlns:a16="http://schemas.microsoft.com/office/drawing/2014/main" id="{656169D2-BFD3-4C40-B088-FC25BEE03EEA}"/>
              </a:ext>
            </a:extLst>
          </p:cNvPr>
          <p:cNvSpPr>
            <a:spLocks noGrp="1"/>
          </p:cNvSpPr>
          <p:nvPr/>
        </p:nvSpPr>
        <p:spPr>
          <a:xfrm>
            <a:off x="3629025" y="6838950"/>
            <a:ext cx="9525" cy="12192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67" name="border-66">
            <a:extLst>
              <a:ext uri="{FF2B5EF4-FFF2-40B4-BE49-F238E27FC236}">
                <a16:creationId xmlns:a16="http://schemas.microsoft.com/office/drawing/2014/main" id="{0935678F-F0EF-43EB-9FF4-2C558D4B038B}"/>
              </a:ext>
            </a:extLst>
          </p:cNvPr>
          <p:cNvSpPr>
            <a:spLocks noGrp="1"/>
          </p:cNvSpPr>
          <p:nvPr/>
        </p:nvSpPr>
        <p:spPr>
          <a:xfrm>
            <a:off x="3638550" y="7439025"/>
            <a:ext cx="134874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68" name="html-shape-67">
            <a:extLst>
              <a:ext uri="{FF2B5EF4-FFF2-40B4-BE49-F238E27FC236}">
                <a16:creationId xmlns:a16="http://schemas.microsoft.com/office/drawing/2014/main" id="{71E98B17-E454-4267-ACB2-AE4F24508A74}"/>
              </a:ext>
            </a:extLst>
          </p:cNvPr>
          <p:cNvSpPr>
            <a:spLocks noGrp="1"/>
          </p:cNvSpPr>
          <p:nvPr/>
        </p:nvSpPr>
        <p:spPr>
          <a:xfrm>
            <a:off x="3638550" y="6838950"/>
            <a:ext cx="4298156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9" name="border-68">
            <a:extLst>
              <a:ext uri="{FF2B5EF4-FFF2-40B4-BE49-F238E27FC236}">
                <a16:creationId xmlns:a16="http://schemas.microsoft.com/office/drawing/2014/main" id="{92516442-B3D5-4AF6-9169-DF696E19B5EF}"/>
              </a:ext>
            </a:extLst>
          </p:cNvPr>
          <p:cNvSpPr>
            <a:spLocks noGrp="1"/>
          </p:cNvSpPr>
          <p:nvPr/>
        </p:nvSpPr>
        <p:spPr>
          <a:xfrm>
            <a:off x="7927181" y="68389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70" name="html-shape-69">
            <a:extLst>
              <a:ext uri="{FF2B5EF4-FFF2-40B4-BE49-F238E27FC236}">
                <a16:creationId xmlns:a16="http://schemas.microsoft.com/office/drawing/2014/main" id="{965F4DB2-D3F8-440F-8892-2D5B0B6431EE}"/>
              </a:ext>
            </a:extLst>
          </p:cNvPr>
          <p:cNvSpPr>
            <a:spLocks noGrp="1"/>
          </p:cNvSpPr>
          <p:nvPr/>
        </p:nvSpPr>
        <p:spPr>
          <a:xfrm>
            <a:off x="5473446" y="7018020"/>
            <a:ext cx="438150" cy="241840"/>
          </a:xfrm>
          <a:prstGeom prst="roundRect">
            <a:avLst>
              <a:gd name="adj" fmla="val 27570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71" name="html-shape-70">
            <a:extLst>
              <a:ext uri="{FF2B5EF4-FFF2-40B4-BE49-F238E27FC236}">
                <a16:creationId xmlns:a16="http://schemas.microsoft.com/office/drawing/2014/main" id="{B112DD47-9385-46CF-946E-80212F8D5118}"/>
              </a:ext>
            </a:extLst>
          </p:cNvPr>
          <p:cNvSpPr>
            <a:spLocks noGrp="1"/>
          </p:cNvSpPr>
          <p:nvPr/>
        </p:nvSpPr>
        <p:spPr>
          <a:xfrm>
            <a:off x="7936706" y="6838950"/>
            <a:ext cx="2815971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2" name="border-71">
            <a:extLst>
              <a:ext uri="{FF2B5EF4-FFF2-40B4-BE49-F238E27FC236}">
                <a16:creationId xmlns:a16="http://schemas.microsoft.com/office/drawing/2014/main" id="{EB42DAE5-2BC8-4EF8-A7AA-B8BE0D5C1F25}"/>
              </a:ext>
            </a:extLst>
          </p:cNvPr>
          <p:cNvSpPr>
            <a:spLocks noGrp="1"/>
          </p:cNvSpPr>
          <p:nvPr/>
        </p:nvSpPr>
        <p:spPr>
          <a:xfrm>
            <a:off x="10743152" y="68389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73" name="html-shape-72">
            <a:extLst>
              <a:ext uri="{FF2B5EF4-FFF2-40B4-BE49-F238E27FC236}">
                <a16:creationId xmlns:a16="http://schemas.microsoft.com/office/drawing/2014/main" id="{1D1E6E3B-4C1D-45F0-AA44-84EE78D35E0F}"/>
              </a:ext>
            </a:extLst>
          </p:cNvPr>
          <p:cNvSpPr>
            <a:spLocks noGrp="1"/>
          </p:cNvSpPr>
          <p:nvPr/>
        </p:nvSpPr>
        <p:spPr>
          <a:xfrm>
            <a:off x="10752677" y="6838950"/>
            <a:ext cx="2964371" cy="6000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4" name="border-73">
            <a:extLst>
              <a:ext uri="{FF2B5EF4-FFF2-40B4-BE49-F238E27FC236}">
                <a16:creationId xmlns:a16="http://schemas.microsoft.com/office/drawing/2014/main" id="{43F86B88-9743-40FE-84B0-212A40F89065}"/>
              </a:ext>
            </a:extLst>
          </p:cNvPr>
          <p:cNvSpPr>
            <a:spLocks noGrp="1"/>
          </p:cNvSpPr>
          <p:nvPr/>
        </p:nvSpPr>
        <p:spPr>
          <a:xfrm>
            <a:off x="13707523" y="6838950"/>
            <a:ext cx="9525" cy="6000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75" name="html-shape-75">
            <a:extLst>
              <a:ext uri="{FF2B5EF4-FFF2-40B4-BE49-F238E27FC236}">
                <a16:creationId xmlns:a16="http://schemas.microsoft.com/office/drawing/2014/main" id="{8534B05B-7C10-47A2-B259-ACA8016ECED6}"/>
              </a:ext>
            </a:extLst>
          </p:cNvPr>
          <p:cNvSpPr>
            <a:spLocks noGrp="1"/>
          </p:cNvSpPr>
          <p:nvPr/>
        </p:nvSpPr>
        <p:spPr>
          <a:xfrm>
            <a:off x="3638550" y="7448550"/>
            <a:ext cx="4298156" cy="609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6" name="border-76">
            <a:extLst>
              <a:ext uri="{FF2B5EF4-FFF2-40B4-BE49-F238E27FC236}">
                <a16:creationId xmlns:a16="http://schemas.microsoft.com/office/drawing/2014/main" id="{97F3DA9B-D816-489C-892F-30F7BBAA0318}"/>
              </a:ext>
            </a:extLst>
          </p:cNvPr>
          <p:cNvSpPr>
            <a:spLocks noGrp="1"/>
          </p:cNvSpPr>
          <p:nvPr/>
        </p:nvSpPr>
        <p:spPr>
          <a:xfrm>
            <a:off x="7927181" y="7448550"/>
            <a:ext cx="9525" cy="6096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77" name="html-shape-77">
            <a:extLst>
              <a:ext uri="{FF2B5EF4-FFF2-40B4-BE49-F238E27FC236}">
                <a16:creationId xmlns:a16="http://schemas.microsoft.com/office/drawing/2014/main" id="{2E1B2B17-6609-4627-8B4A-3DD3AF961070}"/>
              </a:ext>
            </a:extLst>
          </p:cNvPr>
          <p:cNvSpPr>
            <a:spLocks noGrp="1"/>
          </p:cNvSpPr>
          <p:nvPr/>
        </p:nvSpPr>
        <p:spPr>
          <a:xfrm>
            <a:off x="5345716" y="7632383"/>
            <a:ext cx="612172" cy="241840"/>
          </a:xfrm>
          <a:prstGeom prst="roundRect">
            <a:avLst>
              <a:gd name="adj" fmla="val 27570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78" name="html-shape-78">
            <a:extLst>
              <a:ext uri="{FF2B5EF4-FFF2-40B4-BE49-F238E27FC236}">
                <a16:creationId xmlns:a16="http://schemas.microsoft.com/office/drawing/2014/main" id="{1CBD7D11-5317-401D-9A55-6C88C13F1FC5}"/>
              </a:ext>
            </a:extLst>
          </p:cNvPr>
          <p:cNvSpPr>
            <a:spLocks noGrp="1"/>
          </p:cNvSpPr>
          <p:nvPr/>
        </p:nvSpPr>
        <p:spPr>
          <a:xfrm>
            <a:off x="7936706" y="7448550"/>
            <a:ext cx="2815971" cy="609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9" name="border-79">
            <a:extLst>
              <a:ext uri="{FF2B5EF4-FFF2-40B4-BE49-F238E27FC236}">
                <a16:creationId xmlns:a16="http://schemas.microsoft.com/office/drawing/2014/main" id="{7A670D1F-D4BE-41DF-A1BC-B2F54BD9DE99}"/>
              </a:ext>
            </a:extLst>
          </p:cNvPr>
          <p:cNvSpPr>
            <a:spLocks noGrp="1"/>
          </p:cNvSpPr>
          <p:nvPr/>
        </p:nvSpPr>
        <p:spPr>
          <a:xfrm>
            <a:off x="10743152" y="7448550"/>
            <a:ext cx="9525" cy="6096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80" name="html-shape-80">
            <a:extLst>
              <a:ext uri="{FF2B5EF4-FFF2-40B4-BE49-F238E27FC236}">
                <a16:creationId xmlns:a16="http://schemas.microsoft.com/office/drawing/2014/main" id="{7A441BAF-1953-4809-8A1A-F842596C088E}"/>
              </a:ext>
            </a:extLst>
          </p:cNvPr>
          <p:cNvSpPr>
            <a:spLocks noGrp="1"/>
          </p:cNvSpPr>
          <p:nvPr/>
        </p:nvSpPr>
        <p:spPr>
          <a:xfrm>
            <a:off x="10752677" y="7448550"/>
            <a:ext cx="2964371" cy="6096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1" name="border-81">
            <a:extLst>
              <a:ext uri="{FF2B5EF4-FFF2-40B4-BE49-F238E27FC236}">
                <a16:creationId xmlns:a16="http://schemas.microsoft.com/office/drawing/2014/main" id="{155C08E7-2439-4ABD-AECE-75C3CDDAA7B5}"/>
              </a:ext>
            </a:extLst>
          </p:cNvPr>
          <p:cNvSpPr>
            <a:spLocks noGrp="1"/>
          </p:cNvSpPr>
          <p:nvPr/>
        </p:nvSpPr>
        <p:spPr>
          <a:xfrm>
            <a:off x="13707523" y="7448550"/>
            <a:ext cx="9525" cy="6096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82" name="html-shape-82">
            <a:extLst>
              <a:ext uri="{FF2B5EF4-FFF2-40B4-BE49-F238E27FC236}">
                <a16:creationId xmlns:a16="http://schemas.microsoft.com/office/drawing/2014/main" id="{3AACBEE1-F7A4-4AF0-A4E1-214974054896}"/>
              </a:ext>
            </a:extLst>
          </p:cNvPr>
          <p:cNvSpPr>
            <a:spLocks noGrp="1"/>
          </p:cNvSpPr>
          <p:nvPr/>
        </p:nvSpPr>
        <p:spPr>
          <a:xfrm>
            <a:off x="1143000" y="8362950"/>
            <a:ext cx="5181600" cy="723900"/>
          </a:xfrm>
          <a:prstGeom prst="rect">
            <a:avLst/>
          </a:prstGeom>
          <a:solidFill>
            <a:srgbClr val="E9EFFF"/>
          </a:solidFill>
          <a:ln w="0">
            <a:noFill/>
            <a:prstDash val="solid"/>
          </a:ln>
        </p:spPr>
      </p:sp>
      <p:sp>
        <p:nvSpPr>
          <p:cNvPr id="83" name="border-83">
            <a:extLst>
              <a:ext uri="{FF2B5EF4-FFF2-40B4-BE49-F238E27FC236}">
                <a16:creationId xmlns:a16="http://schemas.microsoft.com/office/drawing/2014/main" id="{08A4F1B7-DE64-48D2-92CE-B1E225C6F76A}"/>
              </a:ext>
            </a:extLst>
          </p:cNvPr>
          <p:cNvSpPr>
            <a:spLocks noGrp="1"/>
          </p:cNvSpPr>
          <p:nvPr/>
        </p:nvSpPr>
        <p:spPr>
          <a:xfrm>
            <a:off x="1143000" y="8362950"/>
            <a:ext cx="5181600" cy="38100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84" name="html-shape-84">
            <a:extLst>
              <a:ext uri="{FF2B5EF4-FFF2-40B4-BE49-F238E27FC236}">
                <a16:creationId xmlns:a16="http://schemas.microsoft.com/office/drawing/2014/main" id="{E3CD0E39-07F5-479B-AB97-0A1F9DFFEE6D}"/>
              </a:ext>
            </a:extLst>
          </p:cNvPr>
          <p:cNvSpPr>
            <a:spLocks noGrp="1"/>
          </p:cNvSpPr>
          <p:nvPr/>
        </p:nvSpPr>
        <p:spPr>
          <a:xfrm>
            <a:off x="6553200" y="8362950"/>
            <a:ext cx="5181600" cy="723900"/>
          </a:xfrm>
          <a:prstGeom prst="rect">
            <a:avLst/>
          </a:prstGeom>
          <a:solidFill>
            <a:srgbClr val="E9EFFF"/>
          </a:solidFill>
          <a:ln w="0">
            <a:noFill/>
            <a:prstDash val="solid"/>
          </a:ln>
        </p:spPr>
      </p:sp>
      <p:sp>
        <p:nvSpPr>
          <p:cNvPr id="85" name="border-85">
            <a:extLst>
              <a:ext uri="{FF2B5EF4-FFF2-40B4-BE49-F238E27FC236}">
                <a16:creationId xmlns:a16="http://schemas.microsoft.com/office/drawing/2014/main" id="{1CF3877D-81CE-4A89-AE1A-09B152F65128}"/>
              </a:ext>
            </a:extLst>
          </p:cNvPr>
          <p:cNvSpPr>
            <a:spLocks noGrp="1"/>
          </p:cNvSpPr>
          <p:nvPr/>
        </p:nvSpPr>
        <p:spPr>
          <a:xfrm>
            <a:off x="6553200" y="8362950"/>
            <a:ext cx="5181600" cy="38100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86" name="html-shape-86">
            <a:extLst>
              <a:ext uri="{FF2B5EF4-FFF2-40B4-BE49-F238E27FC236}">
                <a16:creationId xmlns:a16="http://schemas.microsoft.com/office/drawing/2014/main" id="{704D33D4-D446-450E-80E1-CE5955D02EFC}"/>
              </a:ext>
            </a:extLst>
          </p:cNvPr>
          <p:cNvSpPr>
            <a:spLocks noGrp="1"/>
          </p:cNvSpPr>
          <p:nvPr/>
        </p:nvSpPr>
        <p:spPr>
          <a:xfrm>
            <a:off x="11963400" y="8362950"/>
            <a:ext cx="5181600" cy="723900"/>
          </a:xfrm>
          <a:prstGeom prst="rect">
            <a:avLst/>
          </a:prstGeom>
          <a:solidFill>
            <a:srgbClr val="E9EFFF"/>
          </a:solidFill>
          <a:ln w="0">
            <a:noFill/>
            <a:prstDash val="solid"/>
          </a:ln>
        </p:spPr>
      </p:sp>
      <p:sp>
        <p:nvSpPr>
          <p:cNvPr id="87" name="border-87">
            <a:extLst>
              <a:ext uri="{FF2B5EF4-FFF2-40B4-BE49-F238E27FC236}">
                <a16:creationId xmlns:a16="http://schemas.microsoft.com/office/drawing/2014/main" id="{1879AFC7-8187-4078-A1D2-C2C40C3FF9E6}"/>
              </a:ext>
            </a:extLst>
          </p:cNvPr>
          <p:cNvSpPr>
            <a:spLocks noGrp="1"/>
          </p:cNvSpPr>
          <p:nvPr/>
        </p:nvSpPr>
        <p:spPr>
          <a:xfrm>
            <a:off x="11963400" y="8362950"/>
            <a:ext cx="5181600" cy="38100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BE32F4D3-43FA-496B-80DE-6D532E469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5528D850-3766-4C07-823E-071F06972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90" name="text-1">
            <a:extLst>
              <a:ext uri="{FF2B5EF4-FFF2-40B4-BE49-F238E27FC236}">
                <a16:creationId xmlns:a16="http://schemas.microsoft.com/office/drawing/2014/main" id="{308F2F24-EDF4-477E-9568-9B823CA02D70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91" name="text-2">
            <a:extLst>
              <a:ext uri="{FF2B5EF4-FFF2-40B4-BE49-F238E27FC236}">
                <a16:creationId xmlns:a16="http://schemas.microsoft.com/office/drawing/2014/main" id="{1354DB41-E770-48E9-8A3E-7DBAB7CF938E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34782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第四章 · 为什么进一步采用异构 PD</a:t>
            </a:r>
          </a:p>
        </p:txBody>
      </p:sp>
      <p:sp>
        <p:nvSpPr>
          <p:cNvPr id="92" name="text-3">
            <a:extLst>
              <a:ext uri="{FF2B5EF4-FFF2-40B4-BE49-F238E27FC236}">
                <a16:creationId xmlns:a16="http://schemas.microsoft.com/office/drawing/2014/main" id="{3CD9D4EA-BAF6-423A-85AC-0155CA30CD25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9264301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978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面向 Decode 的关键硬件指标存在差距</a:t>
            </a:r>
          </a:p>
        </p:txBody>
      </p:sp>
      <p:sp>
        <p:nvSpPr>
          <p:cNvPr id="93" name="text-4">
            <a:extLst>
              <a:ext uri="{FF2B5EF4-FFF2-40B4-BE49-F238E27FC236}">
                <a16:creationId xmlns:a16="http://schemas.microsoft.com/office/drawing/2014/main" id="{83996282-5891-4527-95BE-F6242AACDA9A}"/>
              </a:ext>
            </a:extLst>
          </p:cNvPr>
          <p:cNvSpPr>
            <a:spLocks noGrp="1"/>
          </p:cNvSpPr>
          <p:nvPr/>
        </p:nvSpPr>
        <p:spPr>
          <a:xfrm>
            <a:off x="776288" y="2210086"/>
            <a:ext cx="749741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2023—2026 年代表性产品的显存容量与显存带宽对照。</a:t>
            </a:r>
          </a:p>
        </p:txBody>
      </p:sp>
      <p:sp>
        <p:nvSpPr>
          <p:cNvPr id="94" name="text-5">
            <a:extLst>
              <a:ext uri="{FF2B5EF4-FFF2-40B4-BE49-F238E27FC236}">
                <a16:creationId xmlns:a16="http://schemas.microsoft.com/office/drawing/2014/main" id="{5935BDA9-3589-4779-8991-3CD488127AD0}"/>
              </a:ext>
            </a:extLst>
          </p:cNvPr>
          <p:cNvSpPr>
            <a:spLocks noGrp="1"/>
          </p:cNvSpPr>
          <p:nvPr/>
        </p:nvSpPr>
        <p:spPr>
          <a:xfrm>
            <a:off x="1985963" y="3248025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rPr>
              <a:t>同代窗口</a:t>
            </a:r>
          </a:p>
        </p:txBody>
      </p:sp>
      <p:sp>
        <p:nvSpPr>
          <p:cNvPr id="95" name="text-6">
            <a:extLst>
              <a:ext uri="{FF2B5EF4-FFF2-40B4-BE49-F238E27FC236}">
                <a16:creationId xmlns:a16="http://schemas.microsoft.com/office/drawing/2014/main" id="{2DE5110E-A73D-4B45-9F9E-C447FF087046}"/>
              </a:ext>
            </a:extLst>
          </p:cNvPr>
          <p:cNvSpPr>
            <a:spLocks noGrp="1"/>
          </p:cNvSpPr>
          <p:nvPr/>
        </p:nvSpPr>
        <p:spPr>
          <a:xfrm>
            <a:off x="5573363" y="3248025"/>
            <a:ext cx="476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rPr>
              <a:t>产品</a:t>
            </a:r>
          </a:p>
        </p:txBody>
      </p:sp>
      <p:sp>
        <p:nvSpPr>
          <p:cNvPr id="96" name="text-7">
            <a:extLst>
              <a:ext uri="{FF2B5EF4-FFF2-40B4-BE49-F238E27FC236}">
                <a16:creationId xmlns:a16="http://schemas.microsoft.com/office/drawing/2014/main" id="{8AD3CC0E-C2AD-44A3-8DED-E9E75A062DB2}"/>
              </a:ext>
            </a:extLst>
          </p:cNvPr>
          <p:cNvSpPr>
            <a:spLocks noGrp="1"/>
          </p:cNvSpPr>
          <p:nvPr/>
        </p:nvSpPr>
        <p:spPr>
          <a:xfrm>
            <a:off x="8930259" y="3248025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rPr>
              <a:t>具体时间</a:t>
            </a:r>
          </a:p>
        </p:txBody>
      </p:sp>
      <p:sp>
        <p:nvSpPr>
          <p:cNvPr id="97" name="text-8">
            <a:extLst>
              <a:ext uri="{FF2B5EF4-FFF2-40B4-BE49-F238E27FC236}">
                <a16:creationId xmlns:a16="http://schemas.microsoft.com/office/drawing/2014/main" id="{E7373323-4847-4952-AFD2-F5069BCD867C}"/>
              </a:ext>
            </a:extLst>
          </p:cNvPr>
          <p:cNvSpPr>
            <a:spLocks noGrp="1"/>
          </p:cNvSpPr>
          <p:nvPr/>
        </p:nvSpPr>
        <p:spPr>
          <a:xfrm>
            <a:off x="11820525" y="3248025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rPr>
              <a:t>显存容量</a:t>
            </a:r>
          </a:p>
        </p:txBody>
      </p:sp>
      <p:sp>
        <p:nvSpPr>
          <p:cNvPr id="98" name="text-9">
            <a:extLst>
              <a:ext uri="{FF2B5EF4-FFF2-40B4-BE49-F238E27FC236}">
                <a16:creationId xmlns:a16="http://schemas.microsoft.com/office/drawing/2014/main" id="{B631CFC3-A56F-449E-B236-E34F5F280945}"/>
              </a:ext>
            </a:extLst>
          </p:cNvPr>
          <p:cNvSpPr>
            <a:spLocks noGrp="1"/>
          </p:cNvSpPr>
          <p:nvPr/>
        </p:nvSpPr>
        <p:spPr>
          <a:xfrm>
            <a:off x="15011876" y="3248025"/>
            <a:ext cx="876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556176"/>
                </a:solidFill>
                <a:latin typeface="PingFang SC"/>
                <a:ea typeface="PingFang SC"/>
                <a:cs typeface="Arial"/>
              </a:rPr>
              <a:t>显存带宽</a:t>
            </a:r>
          </a:p>
        </p:txBody>
      </p:sp>
      <p:sp>
        <p:nvSpPr>
          <p:cNvPr id="99" name="text-10">
            <a:extLst>
              <a:ext uri="{FF2B5EF4-FFF2-40B4-BE49-F238E27FC236}">
                <a16:creationId xmlns:a16="http://schemas.microsoft.com/office/drawing/2014/main" id="{F3DDEF23-13DA-4862-8FBA-E0502D16C905}"/>
              </a:ext>
            </a:extLst>
          </p:cNvPr>
          <p:cNvSpPr>
            <a:spLocks noGrp="1"/>
          </p:cNvSpPr>
          <p:nvPr/>
        </p:nvSpPr>
        <p:spPr>
          <a:xfrm>
            <a:off x="1997297" y="4400550"/>
            <a:ext cx="85353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2023</a:t>
            </a:r>
          </a:p>
        </p:txBody>
      </p:sp>
      <p:sp>
        <p:nvSpPr>
          <p:cNvPr id="100" name="text-11">
            <a:extLst>
              <a:ext uri="{FF2B5EF4-FFF2-40B4-BE49-F238E27FC236}">
                <a16:creationId xmlns:a16="http://schemas.microsoft.com/office/drawing/2014/main" id="{21FDBADE-CD01-4051-9892-0279E374872B}"/>
              </a:ext>
            </a:extLst>
          </p:cNvPr>
          <p:cNvSpPr>
            <a:spLocks noGrp="1"/>
          </p:cNvSpPr>
          <p:nvPr/>
        </p:nvSpPr>
        <p:spPr>
          <a:xfrm>
            <a:off x="3895725" y="3871055"/>
            <a:ext cx="136464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Ascend 910B</a:t>
            </a:r>
          </a:p>
        </p:txBody>
      </p:sp>
      <p:sp>
        <p:nvSpPr>
          <p:cNvPr id="101" name="text-12">
            <a:extLst>
              <a:ext uri="{FF2B5EF4-FFF2-40B4-BE49-F238E27FC236}">
                <a16:creationId xmlns:a16="http://schemas.microsoft.com/office/drawing/2014/main" id="{C93A3854-CE4E-4137-8386-00ECF0C5B0CE}"/>
              </a:ext>
            </a:extLst>
          </p:cNvPr>
          <p:cNvSpPr>
            <a:spLocks noGrp="1"/>
          </p:cNvSpPr>
          <p:nvPr/>
        </p:nvSpPr>
        <p:spPr>
          <a:xfrm>
            <a:off x="5374672" y="391287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国产</a:t>
            </a:r>
          </a:p>
        </p:txBody>
      </p:sp>
      <p:sp>
        <p:nvSpPr>
          <p:cNvPr id="102" name="text-13">
            <a:extLst>
              <a:ext uri="{FF2B5EF4-FFF2-40B4-BE49-F238E27FC236}">
                <a16:creationId xmlns:a16="http://schemas.microsoft.com/office/drawing/2014/main" id="{23BB6612-BDAB-4583-8279-E1F4425E5F62}"/>
              </a:ext>
            </a:extLst>
          </p:cNvPr>
          <p:cNvSpPr>
            <a:spLocks noGrp="1"/>
          </p:cNvSpPr>
          <p:nvPr/>
        </p:nvSpPr>
        <p:spPr>
          <a:xfrm>
            <a:off x="8964930" y="3876199"/>
            <a:ext cx="80695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H2 推出</a:t>
            </a:r>
          </a:p>
        </p:txBody>
      </p:sp>
      <p:sp>
        <p:nvSpPr>
          <p:cNvPr id="103" name="text-14">
            <a:extLst>
              <a:ext uri="{FF2B5EF4-FFF2-40B4-BE49-F238E27FC236}">
                <a16:creationId xmlns:a16="http://schemas.microsoft.com/office/drawing/2014/main" id="{3264F95E-8FC9-42AD-8432-AA3D5A2BD639}"/>
              </a:ext>
            </a:extLst>
          </p:cNvPr>
          <p:cNvSpPr>
            <a:spLocks noGrp="1"/>
          </p:cNvSpPr>
          <p:nvPr/>
        </p:nvSpPr>
        <p:spPr>
          <a:xfrm>
            <a:off x="11924729" y="3876199"/>
            <a:ext cx="66798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64 GB</a:t>
            </a:r>
          </a:p>
        </p:txBody>
      </p:sp>
      <p:sp>
        <p:nvSpPr>
          <p:cNvPr id="104" name="text-15">
            <a:extLst>
              <a:ext uri="{FF2B5EF4-FFF2-40B4-BE49-F238E27FC236}">
                <a16:creationId xmlns:a16="http://schemas.microsoft.com/office/drawing/2014/main" id="{AE967F30-DF67-4B6F-A1CC-B9BF2741FF06}"/>
              </a:ext>
            </a:extLst>
          </p:cNvPr>
          <p:cNvSpPr>
            <a:spLocks noGrp="1"/>
          </p:cNvSpPr>
          <p:nvPr/>
        </p:nvSpPr>
        <p:spPr>
          <a:xfrm>
            <a:off x="14998160" y="3871055"/>
            <a:ext cx="90354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1.6 TB/s</a:t>
            </a:r>
          </a:p>
        </p:txBody>
      </p:sp>
      <p:sp>
        <p:nvSpPr>
          <p:cNvPr id="105" name="text-16">
            <a:extLst>
              <a:ext uri="{FF2B5EF4-FFF2-40B4-BE49-F238E27FC236}">
                <a16:creationId xmlns:a16="http://schemas.microsoft.com/office/drawing/2014/main" id="{EC9C482A-2E3B-4134-86BD-9438229DCCF5}"/>
              </a:ext>
            </a:extLst>
          </p:cNvPr>
          <p:cNvSpPr>
            <a:spLocks noGrp="1"/>
          </p:cNvSpPr>
          <p:nvPr/>
        </p:nvSpPr>
        <p:spPr>
          <a:xfrm>
            <a:off x="3895725" y="4480655"/>
            <a:ext cx="131949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MetaX C500</a:t>
            </a:r>
          </a:p>
        </p:txBody>
      </p:sp>
      <p:sp>
        <p:nvSpPr>
          <p:cNvPr id="106" name="text-17">
            <a:extLst>
              <a:ext uri="{FF2B5EF4-FFF2-40B4-BE49-F238E27FC236}">
                <a16:creationId xmlns:a16="http://schemas.microsoft.com/office/drawing/2014/main" id="{EC745B56-C0CE-4E06-9917-826B5E3FA028}"/>
              </a:ext>
            </a:extLst>
          </p:cNvPr>
          <p:cNvSpPr>
            <a:spLocks noGrp="1"/>
          </p:cNvSpPr>
          <p:nvPr/>
        </p:nvSpPr>
        <p:spPr>
          <a:xfrm>
            <a:off x="5329523" y="452247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国产</a:t>
            </a:r>
          </a:p>
        </p:txBody>
      </p:sp>
      <p:sp>
        <p:nvSpPr>
          <p:cNvPr id="107" name="text-18">
            <a:extLst>
              <a:ext uri="{FF2B5EF4-FFF2-40B4-BE49-F238E27FC236}">
                <a16:creationId xmlns:a16="http://schemas.microsoft.com/office/drawing/2014/main" id="{D2706658-8D06-48B7-B273-0D324151F8F5}"/>
              </a:ext>
            </a:extLst>
          </p:cNvPr>
          <p:cNvSpPr>
            <a:spLocks noGrp="1"/>
          </p:cNvSpPr>
          <p:nvPr/>
        </p:nvSpPr>
        <p:spPr>
          <a:xfrm>
            <a:off x="8764905" y="4485799"/>
            <a:ext cx="120700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H2 公开亮相</a:t>
            </a:r>
          </a:p>
        </p:txBody>
      </p:sp>
      <p:sp>
        <p:nvSpPr>
          <p:cNvPr id="108" name="text-19">
            <a:extLst>
              <a:ext uri="{FF2B5EF4-FFF2-40B4-BE49-F238E27FC236}">
                <a16:creationId xmlns:a16="http://schemas.microsoft.com/office/drawing/2014/main" id="{168C694E-03BC-4A90-8F96-C313EBFA96DD}"/>
              </a:ext>
            </a:extLst>
          </p:cNvPr>
          <p:cNvSpPr>
            <a:spLocks noGrp="1"/>
          </p:cNvSpPr>
          <p:nvPr/>
        </p:nvSpPr>
        <p:spPr>
          <a:xfrm>
            <a:off x="11924729" y="4485799"/>
            <a:ext cx="66798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64 GB</a:t>
            </a:r>
          </a:p>
        </p:txBody>
      </p:sp>
      <p:sp>
        <p:nvSpPr>
          <p:cNvPr id="109" name="text-20">
            <a:extLst>
              <a:ext uri="{FF2B5EF4-FFF2-40B4-BE49-F238E27FC236}">
                <a16:creationId xmlns:a16="http://schemas.microsoft.com/office/drawing/2014/main" id="{3FE52B88-B802-4C2E-9723-EB7D85377A45}"/>
              </a:ext>
            </a:extLst>
          </p:cNvPr>
          <p:cNvSpPr>
            <a:spLocks noGrp="1"/>
          </p:cNvSpPr>
          <p:nvPr/>
        </p:nvSpPr>
        <p:spPr>
          <a:xfrm>
            <a:off x="14741557" y="4480655"/>
            <a:ext cx="141665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约 1.84 TB/s*</a:t>
            </a:r>
          </a:p>
        </p:txBody>
      </p:sp>
      <p:sp>
        <p:nvSpPr>
          <p:cNvPr id="110" name="text-21">
            <a:extLst>
              <a:ext uri="{FF2B5EF4-FFF2-40B4-BE49-F238E27FC236}">
                <a16:creationId xmlns:a16="http://schemas.microsoft.com/office/drawing/2014/main" id="{66487759-8527-4DD8-B0CB-EFAC7290889B}"/>
              </a:ext>
            </a:extLst>
          </p:cNvPr>
          <p:cNvSpPr>
            <a:spLocks noGrp="1"/>
          </p:cNvSpPr>
          <p:nvPr/>
        </p:nvSpPr>
        <p:spPr>
          <a:xfrm>
            <a:off x="3895725" y="5095018"/>
            <a:ext cx="13697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NVIDIA H200</a:t>
            </a:r>
          </a:p>
        </p:txBody>
      </p:sp>
      <p:sp>
        <p:nvSpPr>
          <p:cNvPr id="111" name="text-22">
            <a:extLst>
              <a:ext uri="{FF2B5EF4-FFF2-40B4-BE49-F238E27FC236}">
                <a16:creationId xmlns:a16="http://schemas.microsoft.com/office/drawing/2014/main" id="{AF82BF31-1098-4F04-BEB3-741C37665BBB}"/>
              </a:ext>
            </a:extLst>
          </p:cNvPr>
          <p:cNvSpPr>
            <a:spLocks noGrp="1"/>
          </p:cNvSpPr>
          <p:nvPr/>
        </p:nvSpPr>
        <p:spPr>
          <a:xfrm>
            <a:off x="5379815" y="5136833"/>
            <a:ext cx="51692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NVIDIA</a:t>
            </a:r>
          </a:p>
        </p:txBody>
      </p:sp>
      <p:sp>
        <p:nvSpPr>
          <p:cNvPr id="112" name="text-23">
            <a:extLst>
              <a:ext uri="{FF2B5EF4-FFF2-40B4-BE49-F238E27FC236}">
                <a16:creationId xmlns:a16="http://schemas.microsoft.com/office/drawing/2014/main" id="{F9095573-2ED4-4416-B365-2F92BC97E37F}"/>
              </a:ext>
            </a:extLst>
          </p:cNvPr>
          <p:cNvSpPr>
            <a:spLocks noGrp="1"/>
          </p:cNvSpPr>
          <p:nvPr/>
        </p:nvSpPr>
        <p:spPr>
          <a:xfrm>
            <a:off x="8964930" y="5100161"/>
            <a:ext cx="80695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H2 发布</a:t>
            </a:r>
          </a:p>
        </p:txBody>
      </p:sp>
      <p:sp>
        <p:nvSpPr>
          <p:cNvPr id="113" name="text-24">
            <a:extLst>
              <a:ext uri="{FF2B5EF4-FFF2-40B4-BE49-F238E27FC236}">
                <a16:creationId xmlns:a16="http://schemas.microsoft.com/office/drawing/2014/main" id="{533C1FCA-22F5-484D-9E61-479516CECA10}"/>
              </a:ext>
            </a:extLst>
          </p:cNvPr>
          <p:cNvSpPr>
            <a:spLocks noGrp="1"/>
          </p:cNvSpPr>
          <p:nvPr/>
        </p:nvSpPr>
        <p:spPr>
          <a:xfrm>
            <a:off x="11904440" y="5100161"/>
            <a:ext cx="70847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141 GB</a:t>
            </a:r>
          </a:p>
        </p:txBody>
      </p:sp>
      <p:sp>
        <p:nvSpPr>
          <p:cNvPr id="114" name="text-25">
            <a:extLst>
              <a:ext uri="{FF2B5EF4-FFF2-40B4-BE49-F238E27FC236}">
                <a16:creationId xmlns:a16="http://schemas.microsoft.com/office/drawing/2014/main" id="{622880C7-1535-432A-BDE9-E44DE2EBE4CA}"/>
              </a:ext>
            </a:extLst>
          </p:cNvPr>
          <p:cNvSpPr>
            <a:spLocks noGrp="1"/>
          </p:cNvSpPr>
          <p:nvPr/>
        </p:nvSpPr>
        <p:spPr>
          <a:xfrm>
            <a:off x="14978253" y="5095018"/>
            <a:ext cx="94345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4.8 TB/s</a:t>
            </a:r>
          </a:p>
        </p:txBody>
      </p:sp>
      <p:sp>
        <p:nvSpPr>
          <p:cNvPr id="115" name="text-26">
            <a:extLst>
              <a:ext uri="{FF2B5EF4-FFF2-40B4-BE49-F238E27FC236}">
                <a16:creationId xmlns:a16="http://schemas.microsoft.com/office/drawing/2014/main" id="{39C5FCE7-853C-4982-84E0-AD2019660FAA}"/>
              </a:ext>
            </a:extLst>
          </p:cNvPr>
          <p:cNvSpPr>
            <a:spLocks noGrp="1"/>
          </p:cNvSpPr>
          <p:nvPr/>
        </p:nvSpPr>
        <p:spPr>
          <a:xfrm>
            <a:off x="1475327" y="5962650"/>
            <a:ext cx="189757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2024–2025</a:t>
            </a:r>
          </a:p>
        </p:txBody>
      </p:sp>
      <p:sp>
        <p:nvSpPr>
          <p:cNvPr id="116" name="text-27">
            <a:extLst>
              <a:ext uri="{FF2B5EF4-FFF2-40B4-BE49-F238E27FC236}">
                <a16:creationId xmlns:a16="http://schemas.microsoft.com/office/drawing/2014/main" id="{1D4039BF-CD9A-44F5-A553-05E9E766A01A}"/>
              </a:ext>
            </a:extLst>
          </p:cNvPr>
          <p:cNvSpPr>
            <a:spLocks noGrp="1"/>
          </p:cNvSpPr>
          <p:nvPr/>
        </p:nvSpPr>
        <p:spPr>
          <a:xfrm>
            <a:off x="3895725" y="5737955"/>
            <a:ext cx="123234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MTT S5000</a:t>
            </a:r>
          </a:p>
        </p:txBody>
      </p:sp>
      <p:sp>
        <p:nvSpPr>
          <p:cNvPr id="117" name="text-28">
            <a:extLst>
              <a:ext uri="{FF2B5EF4-FFF2-40B4-BE49-F238E27FC236}">
                <a16:creationId xmlns:a16="http://schemas.microsoft.com/office/drawing/2014/main" id="{AA686575-8DA1-41BA-80B2-8B13E5E03A5C}"/>
              </a:ext>
            </a:extLst>
          </p:cNvPr>
          <p:cNvSpPr>
            <a:spLocks noGrp="1"/>
          </p:cNvSpPr>
          <p:nvPr/>
        </p:nvSpPr>
        <p:spPr>
          <a:xfrm>
            <a:off x="5242370" y="577977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国产</a:t>
            </a:r>
          </a:p>
        </p:txBody>
      </p:sp>
      <p:sp>
        <p:nvSpPr>
          <p:cNvPr id="118" name="text-29">
            <a:extLst>
              <a:ext uri="{FF2B5EF4-FFF2-40B4-BE49-F238E27FC236}">
                <a16:creationId xmlns:a16="http://schemas.microsoft.com/office/drawing/2014/main" id="{76D951CB-C8AA-43F4-8C4D-5F8E8003F3CA}"/>
              </a:ext>
            </a:extLst>
          </p:cNvPr>
          <p:cNvSpPr>
            <a:spLocks noGrp="1"/>
          </p:cNvSpPr>
          <p:nvPr/>
        </p:nvSpPr>
        <p:spPr>
          <a:xfrm>
            <a:off x="8691753" y="5743099"/>
            <a:ext cx="135359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2024 H2 推出</a:t>
            </a:r>
          </a:p>
        </p:txBody>
      </p:sp>
      <p:sp>
        <p:nvSpPr>
          <p:cNvPr id="119" name="text-30">
            <a:extLst>
              <a:ext uri="{FF2B5EF4-FFF2-40B4-BE49-F238E27FC236}">
                <a16:creationId xmlns:a16="http://schemas.microsoft.com/office/drawing/2014/main" id="{32D1C25A-3E8A-45E4-AD7D-8DE9071F82A1}"/>
              </a:ext>
            </a:extLst>
          </p:cNvPr>
          <p:cNvSpPr>
            <a:spLocks noGrp="1"/>
          </p:cNvSpPr>
          <p:nvPr/>
        </p:nvSpPr>
        <p:spPr>
          <a:xfrm>
            <a:off x="11924729" y="5743099"/>
            <a:ext cx="66798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80 GB</a:t>
            </a:r>
          </a:p>
        </p:txBody>
      </p:sp>
      <p:sp>
        <p:nvSpPr>
          <p:cNvPr id="120" name="text-31">
            <a:extLst>
              <a:ext uri="{FF2B5EF4-FFF2-40B4-BE49-F238E27FC236}">
                <a16:creationId xmlns:a16="http://schemas.microsoft.com/office/drawing/2014/main" id="{D5847C95-0D24-40BA-9A25-10789D355D98}"/>
              </a:ext>
            </a:extLst>
          </p:cNvPr>
          <p:cNvSpPr>
            <a:spLocks noGrp="1"/>
          </p:cNvSpPr>
          <p:nvPr/>
        </p:nvSpPr>
        <p:spPr>
          <a:xfrm>
            <a:off x="14998160" y="5737955"/>
            <a:ext cx="90354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1.6 TB/s</a:t>
            </a:r>
          </a:p>
        </p:txBody>
      </p:sp>
      <p:sp>
        <p:nvSpPr>
          <p:cNvPr id="121" name="text-32">
            <a:extLst>
              <a:ext uri="{FF2B5EF4-FFF2-40B4-BE49-F238E27FC236}">
                <a16:creationId xmlns:a16="http://schemas.microsoft.com/office/drawing/2014/main" id="{5EC642CB-99F1-40C7-BCB5-C77AE0C2A90E}"/>
              </a:ext>
            </a:extLst>
          </p:cNvPr>
          <p:cNvSpPr>
            <a:spLocks noGrp="1"/>
          </p:cNvSpPr>
          <p:nvPr/>
        </p:nvSpPr>
        <p:spPr>
          <a:xfrm>
            <a:off x="3895725" y="6352318"/>
            <a:ext cx="136017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NVIDIA B300</a:t>
            </a:r>
          </a:p>
        </p:txBody>
      </p:sp>
      <p:sp>
        <p:nvSpPr>
          <p:cNvPr id="122" name="text-33">
            <a:extLst>
              <a:ext uri="{FF2B5EF4-FFF2-40B4-BE49-F238E27FC236}">
                <a16:creationId xmlns:a16="http://schemas.microsoft.com/office/drawing/2014/main" id="{0C137F17-356C-48E6-A815-127E68120E10}"/>
              </a:ext>
            </a:extLst>
          </p:cNvPr>
          <p:cNvSpPr>
            <a:spLocks noGrp="1"/>
          </p:cNvSpPr>
          <p:nvPr/>
        </p:nvSpPr>
        <p:spPr>
          <a:xfrm>
            <a:off x="5370195" y="6394133"/>
            <a:ext cx="51692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NVIDIA</a:t>
            </a:r>
          </a:p>
        </p:txBody>
      </p:sp>
      <p:sp>
        <p:nvSpPr>
          <p:cNvPr id="123" name="text-34">
            <a:extLst>
              <a:ext uri="{FF2B5EF4-FFF2-40B4-BE49-F238E27FC236}">
                <a16:creationId xmlns:a16="http://schemas.microsoft.com/office/drawing/2014/main" id="{640D3615-A311-4E7D-B1CE-9EA0FC13D811}"/>
              </a:ext>
            </a:extLst>
          </p:cNvPr>
          <p:cNvSpPr>
            <a:spLocks noGrp="1"/>
          </p:cNvSpPr>
          <p:nvPr/>
        </p:nvSpPr>
        <p:spPr>
          <a:xfrm>
            <a:off x="8711470" y="6357461"/>
            <a:ext cx="131387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2025 H1 发布</a:t>
            </a:r>
          </a:p>
        </p:txBody>
      </p:sp>
      <p:sp>
        <p:nvSpPr>
          <p:cNvPr id="124" name="text-35">
            <a:extLst>
              <a:ext uri="{FF2B5EF4-FFF2-40B4-BE49-F238E27FC236}">
                <a16:creationId xmlns:a16="http://schemas.microsoft.com/office/drawing/2014/main" id="{E3B512B1-E486-4704-A0EE-2E24A90C545E}"/>
              </a:ext>
            </a:extLst>
          </p:cNvPr>
          <p:cNvSpPr>
            <a:spLocks noGrp="1"/>
          </p:cNvSpPr>
          <p:nvPr/>
        </p:nvSpPr>
        <p:spPr>
          <a:xfrm>
            <a:off x="11864721" y="6357461"/>
            <a:ext cx="78790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288 GB</a:t>
            </a:r>
          </a:p>
        </p:txBody>
      </p:sp>
      <p:sp>
        <p:nvSpPr>
          <p:cNvPr id="125" name="text-36">
            <a:extLst>
              <a:ext uri="{FF2B5EF4-FFF2-40B4-BE49-F238E27FC236}">
                <a16:creationId xmlns:a16="http://schemas.microsoft.com/office/drawing/2014/main" id="{AFEFB9FF-01E6-493C-A6FD-06C6F986FC46}"/>
              </a:ext>
            </a:extLst>
          </p:cNvPr>
          <p:cNvSpPr>
            <a:spLocks noGrp="1"/>
          </p:cNvSpPr>
          <p:nvPr/>
        </p:nvSpPr>
        <p:spPr>
          <a:xfrm>
            <a:off x="14825472" y="6352318"/>
            <a:ext cx="124901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最高 8 TB/s</a:t>
            </a:r>
          </a:p>
        </p:txBody>
      </p:sp>
      <p:sp>
        <p:nvSpPr>
          <p:cNvPr id="126" name="text-37">
            <a:extLst>
              <a:ext uri="{FF2B5EF4-FFF2-40B4-BE49-F238E27FC236}">
                <a16:creationId xmlns:a16="http://schemas.microsoft.com/office/drawing/2014/main" id="{6DA1656A-D97E-4259-BC03-1D918DECCCB9}"/>
              </a:ext>
            </a:extLst>
          </p:cNvPr>
          <p:cNvSpPr>
            <a:spLocks noGrp="1"/>
          </p:cNvSpPr>
          <p:nvPr/>
        </p:nvSpPr>
        <p:spPr>
          <a:xfrm>
            <a:off x="1997297" y="7219950"/>
            <a:ext cx="85353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2026</a:t>
            </a:r>
          </a:p>
        </p:txBody>
      </p:sp>
      <p:sp>
        <p:nvSpPr>
          <p:cNvPr id="127" name="text-38">
            <a:extLst>
              <a:ext uri="{FF2B5EF4-FFF2-40B4-BE49-F238E27FC236}">
                <a16:creationId xmlns:a16="http://schemas.microsoft.com/office/drawing/2014/main" id="{0EE1BAC6-8923-481A-82C9-9D88E10CCBE3}"/>
              </a:ext>
            </a:extLst>
          </p:cNvPr>
          <p:cNvSpPr>
            <a:spLocks noGrp="1"/>
          </p:cNvSpPr>
          <p:nvPr/>
        </p:nvSpPr>
        <p:spPr>
          <a:xfrm>
            <a:off x="3895725" y="6995255"/>
            <a:ext cx="153962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Ascend 950DT</a:t>
            </a:r>
          </a:p>
        </p:txBody>
      </p:sp>
      <p:sp>
        <p:nvSpPr>
          <p:cNvPr id="128" name="text-39">
            <a:extLst>
              <a:ext uri="{FF2B5EF4-FFF2-40B4-BE49-F238E27FC236}">
                <a16:creationId xmlns:a16="http://schemas.microsoft.com/office/drawing/2014/main" id="{F88696D7-BCED-41DC-BCD1-4B61D37250EF}"/>
              </a:ext>
            </a:extLst>
          </p:cNvPr>
          <p:cNvSpPr>
            <a:spLocks noGrp="1"/>
          </p:cNvSpPr>
          <p:nvPr/>
        </p:nvSpPr>
        <p:spPr>
          <a:xfrm>
            <a:off x="5549646" y="703707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国产</a:t>
            </a:r>
          </a:p>
        </p:txBody>
      </p:sp>
      <p:sp>
        <p:nvSpPr>
          <p:cNvPr id="129" name="text-40">
            <a:extLst>
              <a:ext uri="{FF2B5EF4-FFF2-40B4-BE49-F238E27FC236}">
                <a16:creationId xmlns:a16="http://schemas.microsoft.com/office/drawing/2014/main" id="{324A06BC-E803-4259-B8FF-2EF7F71AB28A}"/>
              </a:ext>
            </a:extLst>
          </p:cNvPr>
          <p:cNvSpPr>
            <a:spLocks noGrp="1"/>
          </p:cNvSpPr>
          <p:nvPr/>
        </p:nvSpPr>
        <p:spPr>
          <a:xfrm>
            <a:off x="8964930" y="7000399"/>
            <a:ext cx="80695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H2 计划</a:t>
            </a:r>
          </a:p>
        </p:txBody>
      </p:sp>
      <p:sp>
        <p:nvSpPr>
          <p:cNvPr id="130" name="text-41">
            <a:extLst>
              <a:ext uri="{FF2B5EF4-FFF2-40B4-BE49-F238E27FC236}">
                <a16:creationId xmlns:a16="http://schemas.microsoft.com/office/drawing/2014/main" id="{730AAF4E-6F00-4567-9CEA-3D642F3CBAA4}"/>
              </a:ext>
            </a:extLst>
          </p:cNvPr>
          <p:cNvSpPr>
            <a:spLocks noGrp="1"/>
          </p:cNvSpPr>
          <p:nvPr/>
        </p:nvSpPr>
        <p:spPr>
          <a:xfrm>
            <a:off x="11651171" y="7000399"/>
            <a:ext cx="1214914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最高 144 GB</a:t>
            </a:r>
          </a:p>
        </p:txBody>
      </p:sp>
      <p:sp>
        <p:nvSpPr>
          <p:cNvPr id="131" name="text-42">
            <a:extLst>
              <a:ext uri="{FF2B5EF4-FFF2-40B4-BE49-F238E27FC236}">
                <a16:creationId xmlns:a16="http://schemas.microsoft.com/office/drawing/2014/main" id="{2F4488EC-70A9-422D-A1F6-F04EF8DFA085}"/>
              </a:ext>
            </a:extLst>
          </p:cNvPr>
          <p:cNvSpPr>
            <a:spLocks noGrp="1"/>
          </p:cNvSpPr>
          <p:nvPr/>
        </p:nvSpPr>
        <p:spPr>
          <a:xfrm>
            <a:off x="14978253" y="6995255"/>
            <a:ext cx="94345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4.0 TB/s</a:t>
            </a:r>
          </a:p>
        </p:txBody>
      </p:sp>
      <p:sp>
        <p:nvSpPr>
          <p:cNvPr id="132" name="text-43">
            <a:extLst>
              <a:ext uri="{FF2B5EF4-FFF2-40B4-BE49-F238E27FC236}">
                <a16:creationId xmlns:a16="http://schemas.microsoft.com/office/drawing/2014/main" id="{54C8C01D-2901-4BAF-BFBE-AB6A7D0A9F31}"/>
              </a:ext>
            </a:extLst>
          </p:cNvPr>
          <p:cNvSpPr>
            <a:spLocks noGrp="1"/>
          </p:cNvSpPr>
          <p:nvPr/>
        </p:nvSpPr>
        <p:spPr>
          <a:xfrm>
            <a:off x="3895725" y="7609618"/>
            <a:ext cx="141189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NVIDIA Rubin</a:t>
            </a:r>
          </a:p>
        </p:txBody>
      </p:sp>
      <p:sp>
        <p:nvSpPr>
          <p:cNvPr id="133" name="text-44">
            <a:extLst>
              <a:ext uri="{FF2B5EF4-FFF2-40B4-BE49-F238E27FC236}">
                <a16:creationId xmlns:a16="http://schemas.microsoft.com/office/drawing/2014/main" id="{51F5625A-2984-4F01-BD2F-223F14EF8E05}"/>
              </a:ext>
            </a:extLst>
          </p:cNvPr>
          <p:cNvSpPr>
            <a:spLocks noGrp="1"/>
          </p:cNvSpPr>
          <p:nvPr/>
        </p:nvSpPr>
        <p:spPr>
          <a:xfrm>
            <a:off x="5421916" y="7651433"/>
            <a:ext cx="51692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NVIDIA</a:t>
            </a:r>
          </a:p>
        </p:txBody>
      </p:sp>
      <p:sp>
        <p:nvSpPr>
          <p:cNvPr id="134" name="text-45">
            <a:extLst>
              <a:ext uri="{FF2B5EF4-FFF2-40B4-BE49-F238E27FC236}">
                <a16:creationId xmlns:a16="http://schemas.microsoft.com/office/drawing/2014/main" id="{1294F687-3869-4553-B7A3-BF1AF0B1F59F}"/>
              </a:ext>
            </a:extLst>
          </p:cNvPr>
          <p:cNvSpPr>
            <a:spLocks noGrp="1"/>
          </p:cNvSpPr>
          <p:nvPr/>
        </p:nvSpPr>
        <p:spPr>
          <a:xfrm>
            <a:off x="8964930" y="7614761"/>
            <a:ext cx="80695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H2 供货</a:t>
            </a:r>
          </a:p>
        </p:txBody>
      </p:sp>
      <p:sp>
        <p:nvSpPr>
          <p:cNvPr id="135" name="text-46">
            <a:extLst>
              <a:ext uri="{FF2B5EF4-FFF2-40B4-BE49-F238E27FC236}">
                <a16:creationId xmlns:a16="http://schemas.microsoft.com/office/drawing/2014/main" id="{271BDFBE-A37F-4F77-B05C-DE063ADA46CA}"/>
              </a:ext>
            </a:extLst>
          </p:cNvPr>
          <p:cNvSpPr>
            <a:spLocks noGrp="1"/>
          </p:cNvSpPr>
          <p:nvPr/>
        </p:nvSpPr>
        <p:spPr>
          <a:xfrm>
            <a:off x="11631359" y="7614761"/>
            <a:ext cx="1254633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65267"/>
                </a:solidFill>
                <a:latin typeface="PingFang SC"/>
                <a:ea typeface="PingFang SC"/>
                <a:cs typeface="Arial"/>
              </a:rPr>
              <a:t>最高 288 GB</a:t>
            </a:r>
          </a:p>
        </p:txBody>
      </p:sp>
      <p:sp>
        <p:nvSpPr>
          <p:cNvPr id="136" name="text-47">
            <a:extLst>
              <a:ext uri="{FF2B5EF4-FFF2-40B4-BE49-F238E27FC236}">
                <a16:creationId xmlns:a16="http://schemas.microsoft.com/office/drawing/2014/main" id="{96684632-5E29-4DD4-8FE8-939F38DEAE41}"/>
              </a:ext>
            </a:extLst>
          </p:cNvPr>
          <p:cNvSpPr>
            <a:spLocks noGrp="1"/>
          </p:cNvSpPr>
          <p:nvPr/>
        </p:nvSpPr>
        <p:spPr>
          <a:xfrm>
            <a:off x="14654498" y="7609618"/>
            <a:ext cx="159096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最高 22 TB/s**</a:t>
            </a:r>
          </a:p>
        </p:txBody>
      </p:sp>
      <p:sp>
        <p:nvSpPr>
          <p:cNvPr id="137" name="text-48">
            <a:extLst>
              <a:ext uri="{FF2B5EF4-FFF2-40B4-BE49-F238E27FC236}">
                <a16:creationId xmlns:a16="http://schemas.microsoft.com/office/drawing/2014/main" id="{94ED3BE9-3FA3-4542-87D4-B2623DF82550}"/>
              </a:ext>
            </a:extLst>
          </p:cNvPr>
          <p:cNvSpPr>
            <a:spLocks noGrp="1"/>
          </p:cNvSpPr>
          <p:nvPr/>
        </p:nvSpPr>
        <p:spPr>
          <a:xfrm>
            <a:off x="1721453" y="8534400"/>
            <a:ext cx="136921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2.6–3.0×</a:t>
            </a:r>
          </a:p>
        </p:txBody>
      </p:sp>
      <p:sp>
        <p:nvSpPr>
          <p:cNvPr id="138" name="text-49">
            <a:extLst>
              <a:ext uri="{FF2B5EF4-FFF2-40B4-BE49-F238E27FC236}">
                <a16:creationId xmlns:a16="http://schemas.microsoft.com/office/drawing/2014/main" id="{E1EFFB1C-D2EA-4B71-B73B-DB87909C986C}"/>
              </a:ext>
            </a:extLst>
          </p:cNvPr>
          <p:cNvSpPr>
            <a:spLocks noGrp="1"/>
          </p:cNvSpPr>
          <p:nvPr/>
        </p:nvSpPr>
        <p:spPr>
          <a:xfrm>
            <a:off x="3243072" y="8620125"/>
            <a:ext cx="256003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2023 · H200 对 910B / C500</a:t>
            </a:r>
          </a:p>
        </p:txBody>
      </p:sp>
      <p:sp>
        <p:nvSpPr>
          <p:cNvPr id="139" name="text-50">
            <a:extLst>
              <a:ext uri="{FF2B5EF4-FFF2-40B4-BE49-F238E27FC236}">
                <a16:creationId xmlns:a16="http://schemas.microsoft.com/office/drawing/2014/main" id="{17C8DD4E-FFAC-4B8D-BA29-7733F4B32D6C}"/>
              </a:ext>
            </a:extLst>
          </p:cNvPr>
          <p:cNvSpPr>
            <a:spLocks noGrp="1"/>
          </p:cNvSpPr>
          <p:nvPr/>
        </p:nvSpPr>
        <p:spPr>
          <a:xfrm>
            <a:off x="7740968" y="8534400"/>
            <a:ext cx="69037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5.0×</a:t>
            </a:r>
          </a:p>
        </p:txBody>
      </p:sp>
      <p:sp>
        <p:nvSpPr>
          <p:cNvPr id="140" name="text-51">
            <a:extLst>
              <a:ext uri="{FF2B5EF4-FFF2-40B4-BE49-F238E27FC236}">
                <a16:creationId xmlns:a16="http://schemas.microsoft.com/office/drawing/2014/main" id="{F3DC60B5-7EB7-48EE-852F-81601386AC4D}"/>
              </a:ext>
            </a:extLst>
          </p:cNvPr>
          <p:cNvSpPr>
            <a:spLocks noGrp="1"/>
          </p:cNvSpPr>
          <p:nvPr/>
        </p:nvSpPr>
        <p:spPr>
          <a:xfrm>
            <a:off x="8583835" y="8620125"/>
            <a:ext cx="20201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2025 · B300 对 S5000</a:t>
            </a:r>
          </a:p>
        </p:txBody>
      </p:sp>
      <p:sp>
        <p:nvSpPr>
          <p:cNvPr id="141" name="text-52">
            <a:extLst>
              <a:ext uri="{FF2B5EF4-FFF2-40B4-BE49-F238E27FC236}">
                <a16:creationId xmlns:a16="http://schemas.microsoft.com/office/drawing/2014/main" id="{FC68A31C-1ABC-44C7-876E-EA20D2035388}"/>
              </a:ext>
            </a:extLst>
          </p:cNvPr>
          <p:cNvSpPr>
            <a:spLocks noGrp="1"/>
          </p:cNvSpPr>
          <p:nvPr/>
        </p:nvSpPr>
        <p:spPr>
          <a:xfrm>
            <a:off x="13128403" y="8534400"/>
            <a:ext cx="69037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5.5×</a:t>
            </a:r>
          </a:p>
        </p:txBody>
      </p:sp>
      <p:sp>
        <p:nvSpPr>
          <p:cNvPr id="142" name="text-53">
            <a:extLst>
              <a:ext uri="{FF2B5EF4-FFF2-40B4-BE49-F238E27FC236}">
                <a16:creationId xmlns:a16="http://schemas.microsoft.com/office/drawing/2014/main" id="{DE7BEA94-61F8-4635-B0C5-B73476EF32E2}"/>
              </a:ext>
            </a:extLst>
          </p:cNvPr>
          <p:cNvSpPr>
            <a:spLocks noGrp="1"/>
          </p:cNvSpPr>
          <p:nvPr/>
        </p:nvSpPr>
        <p:spPr>
          <a:xfrm>
            <a:off x="13971270" y="8620125"/>
            <a:ext cx="20658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2026 · Rubin 对 950DT</a:t>
            </a:r>
          </a:p>
        </p:txBody>
      </p:sp>
      <p:sp>
        <p:nvSpPr>
          <p:cNvPr id="143" name="text-54">
            <a:extLst>
              <a:ext uri="{FF2B5EF4-FFF2-40B4-BE49-F238E27FC236}">
                <a16:creationId xmlns:a16="http://schemas.microsoft.com/office/drawing/2014/main" id="{DE596A83-FD15-40D5-A6FC-FFBE241B5ECE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9760744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Sources: iFLYTEK · MetaX tuning guide · MTT · Huawei · NVIDIA. *C500 为 Microbenchmark 参考值；**Rubin 规格为 preliminary。</a:t>
            </a:r>
          </a:p>
        </p:txBody>
      </p:sp>
      <p:sp>
        <p:nvSpPr>
          <p:cNvPr id="144" name="text-55">
            <a:extLst>
              <a:ext uri="{FF2B5EF4-FFF2-40B4-BE49-F238E27FC236}">
                <a16:creationId xmlns:a16="http://schemas.microsoft.com/office/drawing/2014/main" id="{6A1E873C-F226-4E81-9BC7-662EAD494A38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21 / 43</a:t>
            </a:r>
          </a:p>
        </p:txBody>
      </p:sp>
    </p:spTree>
    <p:extLst>
      <p:ext uri="{BB962C8B-B14F-4D97-AF65-F5344CB8AC3E}">
        <p14:creationId xmlns:p14="http://schemas.microsoft.com/office/powerpoint/2010/main" val="1587291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html-shape-1">
            <a:extLst>
              <a:ext uri="{FF2B5EF4-FFF2-40B4-BE49-F238E27FC236}">
                <a16:creationId xmlns:a16="http://schemas.microsoft.com/office/drawing/2014/main" id="{A86B7766-FF0D-4223-A8C6-04596A9A658E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16002000" cy="5524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" name="html-shape-3">
            <a:extLst>
              <a:ext uri="{FF2B5EF4-FFF2-40B4-BE49-F238E27FC236}">
                <a16:creationId xmlns:a16="http://schemas.microsoft.com/office/drawing/2014/main" id="{956B0929-10F9-4CFB-99D9-7FD95146D3A5}"/>
              </a:ext>
            </a:extLst>
          </p:cNvPr>
          <p:cNvSpPr>
            <a:spLocks noGrp="1"/>
          </p:cNvSpPr>
          <p:nvPr/>
        </p:nvSpPr>
        <p:spPr>
          <a:xfrm>
            <a:off x="1143000" y="3810000"/>
            <a:ext cx="16002000" cy="133350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3" name="html-shape-8">
            <a:extLst>
              <a:ext uri="{FF2B5EF4-FFF2-40B4-BE49-F238E27FC236}">
                <a16:creationId xmlns:a16="http://schemas.microsoft.com/office/drawing/2014/main" id="{2DCD3A27-62E5-4D79-8EF8-7C5BA7E7830D}"/>
              </a:ext>
            </a:extLst>
          </p:cNvPr>
          <p:cNvSpPr>
            <a:spLocks noGrp="1"/>
          </p:cNvSpPr>
          <p:nvPr/>
        </p:nvSpPr>
        <p:spPr>
          <a:xfrm>
            <a:off x="1143000" y="5257800"/>
            <a:ext cx="16002000" cy="133350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4" name="html-shape-13">
            <a:extLst>
              <a:ext uri="{FF2B5EF4-FFF2-40B4-BE49-F238E27FC236}">
                <a16:creationId xmlns:a16="http://schemas.microsoft.com/office/drawing/2014/main" id="{2B159D69-C0AE-4F06-8400-00455FDA0C86}"/>
              </a:ext>
            </a:extLst>
          </p:cNvPr>
          <p:cNvSpPr>
            <a:spLocks noGrp="1"/>
          </p:cNvSpPr>
          <p:nvPr/>
        </p:nvSpPr>
        <p:spPr>
          <a:xfrm>
            <a:off x="1143000" y="6705600"/>
            <a:ext cx="16002000" cy="133350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BFAFF"/>
              </a:gs>
              <a:gs pos="100000">
                <a:srgbClr val="F1FAF6"/>
              </a:gs>
            </a:gsLst>
            <a:lin ang="5400000"/>
          </a:gradFill>
          <a:ln w="28575">
            <a:solidFill>
              <a:srgbClr val="0A9A62"/>
            </a:solidFill>
            <a:prstDash val="solid"/>
          </a:ln>
        </p:spPr>
      </p:sp>
      <p:sp>
        <p:nvSpPr>
          <p:cNvPr id="5" name="html-shape-18">
            <a:extLst>
              <a:ext uri="{FF2B5EF4-FFF2-40B4-BE49-F238E27FC236}">
                <a16:creationId xmlns:a16="http://schemas.microsoft.com/office/drawing/2014/main" id="{0544710F-0EBA-4E35-934E-D35ABABF30D1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6" name="border-2">
            <a:extLst>
              <a:ext uri="{FF2B5EF4-FFF2-40B4-BE49-F238E27FC236}">
                <a16:creationId xmlns:a16="http://schemas.microsoft.com/office/drawing/2014/main" id="{B9A9D1C8-46F4-4135-9B65-6CD26C4B39D5}"/>
              </a:ext>
            </a:extLst>
          </p:cNvPr>
          <p:cNvSpPr>
            <a:spLocks noGrp="1"/>
          </p:cNvSpPr>
          <p:nvPr/>
        </p:nvSpPr>
        <p:spPr>
          <a:xfrm>
            <a:off x="1143000" y="3676650"/>
            <a:ext cx="16002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7" name="html-shape-4">
            <a:extLst>
              <a:ext uri="{FF2B5EF4-FFF2-40B4-BE49-F238E27FC236}">
                <a16:creationId xmlns:a16="http://schemas.microsoft.com/office/drawing/2014/main" id="{A445CD5F-BB66-4F2B-B52C-2D975D8AA6B9}"/>
              </a:ext>
            </a:extLst>
          </p:cNvPr>
          <p:cNvSpPr>
            <a:spLocks noGrp="1"/>
          </p:cNvSpPr>
          <p:nvPr/>
        </p:nvSpPr>
        <p:spPr>
          <a:xfrm>
            <a:off x="4286250" y="4105275"/>
            <a:ext cx="3143250" cy="742950"/>
          </a:xfrm>
          <a:prstGeom prst="roundRect">
            <a:avLst>
              <a:gd name="adj" fmla="val 17949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8" name="html-shape-5">
            <a:extLst>
              <a:ext uri="{FF2B5EF4-FFF2-40B4-BE49-F238E27FC236}">
                <a16:creationId xmlns:a16="http://schemas.microsoft.com/office/drawing/2014/main" id="{1AE189B6-EA6E-4852-A470-877A00F4DE9B}"/>
              </a:ext>
            </a:extLst>
          </p:cNvPr>
          <p:cNvSpPr>
            <a:spLocks noGrp="1"/>
          </p:cNvSpPr>
          <p:nvPr/>
        </p:nvSpPr>
        <p:spPr>
          <a:xfrm>
            <a:off x="4476750" y="4248150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9" name="html-shape-6">
            <a:extLst>
              <a:ext uri="{FF2B5EF4-FFF2-40B4-BE49-F238E27FC236}">
                <a16:creationId xmlns:a16="http://schemas.microsoft.com/office/drawing/2014/main" id="{8111A9C3-2DF0-4100-AB27-F5ADE78A6BE3}"/>
              </a:ext>
            </a:extLst>
          </p:cNvPr>
          <p:cNvSpPr>
            <a:spLocks noGrp="1"/>
          </p:cNvSpPr>
          <p:nvPr/>
        </p:nvSpPr>
        <p:spPr>
          <a:xfrm>
            <a:off x="7581900" y="4105275"/>
            <a:ext cx="3143250" cy="742950"/>
          </a:xfrm>
          <a:prstGeom prst="roundRect">
            <a:avLst>
              <a:gd name="adj" fmla="val 17949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10" name="html-shape-7">
            <a:extLst>
              <a:ext uri="{FF2B5EF4-FFF2-40B4-BE49-F238E27FC236}">
                <a16:creationId xmlns:a16="http://schemas.microsoft.com/office/drawing/2014/main" id="{0AC5A691-2544-476E-AB20-7E363E148F9E}"/>
              </a:ext>
            </a:extLst>
          </p:cNvPr>
          <p:cNvSpPr>
            <a:spLocks noGrp="1"/>
          </p:cNvSpPr>
          <p:nvPr/>
        </p:nvSpPr>
        <p:spPr>
          <a:xfrm>
            <a:off x="7772400" y="4248150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1" name="html-shape-9">
            <a:extLst>
              <a:ext uri="{FF2B5EF4-FFF2-40B4-BE49-F238E27FC236}">
                <a16:creationId xmlns:a16="http://schemas.microsoft.com/office/drawing/2014/main" id="{A6DC738E-C1FE-4FBF-BF66-57404085A64D}"/>
              </a:ext>
            </a:extLst>
          </p:cNvPr>
          <p:cNvSpPr>
            <a:spLocks noGrp="1"/>
          </p:cNvSpPr>
          <p:nvPr/>
        </p:nvSpPr>
        <p:spPr>
          <a:xfrm>
            <a:off x="4286250" y="5553075"/>
            <a:ext cx="3143250" cy="742950"/>
          </a:xfrm>
          <a:prstGeom prst="roundRect">
            <a:avLst>
              <a:gd name="adj" fmla="val 17949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12" name="html-shape-10">
            <a:extLst>
              <a:ext uri="{FF2B5EF4-FFF2-40B4-BE49-F238E27FC236}">
                <a16:creationId xmlns:a16="http://schemas.microsoft.com/office/drawing/2014/main" id="{E8907D1E-666D-4A19-B36A-EC3DB0A36507}"/>
              </a:ext>
            </a:extLst>
          </p:cNvPr>
          <p:cNvSpPr>
            <a:spLocks noGrp="1"/>
          </p:cNvSpPr>
          <p:nvPr/>
        </p:nvSpPr>
        <p:spPr>
          <a:xfrm>
            <a:off x="4476750" y="5695950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3" name="html-shape-11">
            <a:extLst>
              <a:ext uri="{FF2B5EF4-FFF2-40B4-BE49-F238E27FC236}">
                <a16:creationId xmlns:a16="http://schemas.microsoft.com/office/drawing/2014/main" id="{A2B23031-5CE4-4DB0-84E6-4AA42F1BC10A}"/>
              </a:ext>
            </a:extLst>
          </p:cNvPr>
          <p:cNvSpPr>
            <a:spLocks noGrp="1"/>
          </p:cNvSpPr>
          <p:nvPr/>
        </p:nvSpPr>
        <p:spPr>
          <a:xfrm>
            <a:off x="7581900" y="5553075"/>
            <a:ext cx="3143250" cy="742950"/>
          </a:xfrm>
          <a:prstGeom prst="roundRect">
            <a:avLst>
              <a:gd name="adj" fmla="val 17949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14" name="html-shape-12">
            <a:extLst>
              <a:ext uri="{FF2B5EF4-FFF2-40B4-BE49-F238E27FC236}">
                <a16:creationId xmlns:a16="http://schemas.microsoft.com/office/drawing/2014/main" id="{F16FFF68-9FA0-4C10-9999-79E9669AD154}"/>
              </a:ext>
            </a:extLst>
          </p:cNvPr>
          <p:cNvSpPr>
            <a:spLocks noGrp="1"/>
          </p:cNvSpPr>
          <p:nvPr/>
        </p:nvSpPr>
        <p:spPr>
          <a:xfrm>
            <a:off x="7772400" y="5695950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5" name="html-shape-14">
            <a:extLst>
              <a:ext uri="{FF2B5EF4-FFF2-40B4-BE49-F238E27FC236}">
                <a16:creationId xmlns:a16="http://schemas.microsoft.com/office/drawing/2014/main" id="{CF3809B3-92D4-4F95-A7FC-B2BB0F7C9757}"/>
              </a:ext>
            </a:extLst>
          </p:cNvPr>
          <p:cNvSpPr>
            <a:spLocks noGrp="1"/>
          </p:cNvSpPr>
          <p:nvPr/>
        </p:nvSpPr>
        <p:spPr>
          <a:xfrm>
            <a:off x="4295775" y="7000875"/>
            <a:ext cx="3143250" cy="742950"/>
          </a:xfrm>
          <a:prstGeom prst="roundRect">
            <a:avLst>
              <a:gd name="adj" fmla="val 17949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16" name="html-shape-15">
            <a:extLst>
              <a:ext uri="{FF2B5EF4-FFF2-40B4-BE49-F238E27FC236}">
                <a16:creationId xmlns:a16="http://schemas.microsoft.com/office/drawing/2014/main" id="{BDE34E29-9DED-4FF6-998B-C1BBF6A680A0}"/>
              </a:ext>
            </a:extLst>
          </p:cNvPr>
          <p:cNvSpPr>
            <a:spLocks noGrp="1"/>
          </p:cNvSpPr>
          <p:nvPr/>
        </p:nvSpPr>
        <p:spPr>
          <a:xfrm>
            <a:off x="4486275" y="7143750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7" name="html-shape-16">
            <a:extLst>
              <a:ext uri="{FF2B5EF4-FFF2-40B4-BE49-F238E27FC236}">
                <a16:creationId xmlns:a16="http://schemas.microsoft.com/office/drawing/2014/main" id="{AD8B8A71-8273-4184-A1BE-1500BF51F122}"/>
              </a:ext>
            </a:extLst>
          </p:cNvPr>
          <p:cNvSpPr>
            <a:spLocks noGrp="1"/>
          </p:cNvSpPr>
          <p:nvPr/>
        </p:nvSpPr>
        <p:spPr>
          <a:xfrm>
            <a:off x="7591425" y="7000875"/>
            <a:ext cx="3143250" cy="742950"/>
          </a:xfrm>
          <a:prstGeom prst="roundRect">
            <a:avLst>
              <a:gd name="adj" fmla="val 17949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18" name="html-shape-17">
            <a:extLst>
              <a:ext uri="{FF2B5EF4-FFF2-40B4-BE49-F238E27FC236}">
                <a16:creationId xmlns:a16="http://schemas.microsoft.com/office/drawing/2014/main" id="{A7047A8E-CDD4-4E4E-ADBE-AD855B5D016A}"/>
              </a:ext>
            </a:extLst>
          </p:cNvPr>
          <p:cNvSpPr>
            <a:spLocks noGrp="1"/>
          </p:cNvSpPr>
          <p:nvPr/>
        </p:nvSpPr>
        <p:spPr>
          <a:xfrm>
            <a:off x="7781925" y="7143750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55F0017-604A-4C8C-B46F-89AA9D504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DE49FD2-54D5-4327-A94D-733A6842A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21" name="text-1">
            <a:extLst>
              <a:ext uri="{FF2B5EF4-FFF2-40B4-BE49-F238E27FC236}">
                <a16:creationId xmlns:a16="http://schemas.microsoft.com/office/drawing/2014/main" id="{D1F9CFD9-99EC-4A35-ABB9-112A5F23CE27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22" name="text-2">
            <a:extLst>
              <a:ext uri="{FF2B5EF4-FFF2-40B4-BE49-F238E27FC236}">
                <a16:creationId xmlns:a16="http://schemas.microsoft.com/office/drawing/2014/main" id="{54610030-7E62-4B2F-BC38-FDA1EE656D08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34782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第四章 · 为什么进一步采用异构 PD</a:t>
            </a:r>
          </a:p>
        </p:txBody>
      </p:sp>
      <p:sp>
        <p:nvSpPr>
          <p:cNvPr id="23" name="text-3">
            <a:extLst>
              <a:ext uri="{FF2B5EF4-FFF2-40B4-BE49-F238E27FC236}">
                <a16:creationId xmlns:a16="http://schemas.microsoft.com/office/drawing/2014/main" id="{96CE3A73-BE37-4C01-ADB5-B5FB5132B076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9621107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23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异构 PD 将高带宽设备集中用于 Decode</a:t>
            </a:r>
          </a:p>
        </p:txBody>
      </p:sp>
      <p:sp>
        <p:nvSpPr>
          <p:cNvPr id="24" name="text-4">
            <a:extLst>
              <a:ext uri="{FF2B5EF4-FFF2-40B4-BE49-F238E27FC236}">
                <a16:creationId xmlns:a16="http://schemas.microsoft.com/office/drawing/2014/main" id="{2DE233C1-67A1-4106-A83F-50230FEBDE9F}"/>
              </a:ext>
            </a:extLst>
          </p:cNvPr>
          <p:cNvSpPr>
            <a:spLocks noGrp="1"/>
          </p:cNvSpPr>
          <p:nvPr/>
        </p:nvSpPr>
        <p:spPr>
          <a:xfrm>
            <a:off x="776288" y="2210086"/>
            <a:ext cx="9820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资源组合的关键不是设备品牌，而是稀缺的高带宽能力被配置在哪个阶段。</a:t>
            </a:r>
          </a:p>
        </p:txBody>
      </p:sp>
      <p:sp>
        <p:nvSpPr>
          <p:cNvPr id="25" name="text-5">
            <a:extLst>
              <a:ext uri="{FF2B5EF4-FFF2-40B4-BE49-F238E27FC236}">
                <a16:creationId xmlns:a16="http://schemas.microsoft.com/office/drawing/2014/main" id="{48BC620F-9146-40C2-B116-06399418FFE5}"/>
              </a:ext>
            </a:extLst>
          </p:cNvPr>
          <p:cNvSpPr>
            <a:spLocks noGrp="1"/>
          </p:cNvSpPr>
          <p:nvPr/>
        </p:nvSpPr>
        <p:spPr>
          <a:xfrm>
            <a:off x="1343025" y="3267075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方案</a:t>
            </a:r>
          </a:p>
        </p:txBody>
      </p:sp>
      <p:sp>
        <p:nvSpPr>
          <p:cNvPr id="26" name="text-6">
            <a:extLst>
              <a:ext uri="{FF2B5EF4-FFF2-40B4-BE49-F238E27FC236}">
                <a16:creationId xmlns:a16="http://schemas.microsoft.com/office/drawing/2014/main" id="{2E7BD989-1CD7-445A-B431-6ABA68AB0460}"/>
              </a:ext>
            </a:extLst>
          </p:cNvPr>
          <p:cNvSpPr>
            <a:spLocks noGrp="1"/>
          </p:cNvSpPr>
          <p:nvPr/>
        </p:nvSpPr>
        <p:spPr>
          <a:xfrm>
            <a:off x="4257675" y="3267075"/>
            <a:ext cx="115909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 Pool</a:t>
            </a:r>
          </a:p>
        </p:txBody>
      </p:sp>
      <p:sp>
        <p:nvSpPr>
          <p:cNvPr id="27" name="text-7">
            <a:extLst>
              <a:ext uri="{FF2B5EF4-FFF2-40B4-BE49-F238E27FC236}">
                <a16:creationId xmlns:a16="http://schemas.microsoft.com/office/drawing/2014/main" id="{AF8C2FE2-6ADA-4406-9B67-4B4321C390C6}"/>
              </a:ext>
            </a:extLst>
          </p:cNvPr>
          <p:cNvSpPr>
            <a:spLocks noGrp="1"/>
          </p:cNvSpPr>
          <p:nvPr/>
        </p:nvSpPr>
        <p:spPr>
          <a:xfrm>
            <a:off x="7553325" y="3267075"/>
            <a:ext cx="134597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Decode Pool</a:t>
            </a:r>
          </a:p>
        </p:txBody>
      </p:sp>
      <p:sp>
        <p:nvSpPr>
          <p:cNvPr id="28" name="text-8">
            <a:extLst>
              <a:ext uri="{FF2B5EF4-FFF2-40B4-BE49-F238E27FC236}">
                <a16:creationId xmlns:a16="http://schemas.microsoft.com/office/drawing/2014/main" id="{02F9D494-22FF-4E20-B350-1F40FBE3C2C4}"/>
              </a:ext>
            </a:extLst>
          </p:cNvPr>
          <p:cNvSpPr>
            <a:spLocks noGrp="1"/>
          </p:cNvSpPr>
          <p:nvPr/>
        </p:nvSpPr>
        <p:spPr>
          <a:xfrm>
            <a:off x="10848975" y="3267075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系统结果</a:t>
            </a:r>
          </a:p>
        </p:txBody>
      </p:sp>
      <p:sp>
        <p:nvSpPr>
          <p:cNvPr id="29" name="text-9">
            <a:extLst>
              <a:ext uri="{FF2B5EF4-FFF2-40B4-BE49-F238E27FC236}">
                <a16:creationId xmlns:a16="http://schemas.microsoft.com/office/drawing/2014/main" id="{341F545F-56E4-46FA-A12C-BAC63394229A}"/>
              </a:ext>
            </a:extLst>
          </p:cNvPr>
          <p:cNvSpPr>
            <a:spLocks noGrp="1"/>
          </p:cNvSpPr>
          <p:nvPr/>
        </p:nvSpPr>
        <p:spPr>
          <a:xfrm>
            <a:off x="1362075" y="4148138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高算力设备同构</a:t>
            </a:r>
          </a:p>
        </p:txBody>
      </p:sp>
      <p:sp>
        <p:nvSpPr>
          <p:cNvPr id="30" name="text-10">
            <a:extLst>
              <a:ext uri="{FF2B5EF4-FFF2-40B4-BE49-F238E27FC236}">
                <a16:creationId xmlns:a16="http://schemas.microsoft.com/office/drawing/2014/main" id="{5BFBA4CF-016F-408E-8A4A-4AC009254B7B}"/>
              </a:ext>
            </a:extLst>
          </p:cNvPr>
          <p:cNvSpPr>
            <a:spLocks noGrp="1"/>
          </p:cNvSpPr>
          <p:nvPr/>
        </p:nvSpPr>
        <p:spPr>
          <a:xfrm>
            <a:off x="1362075" y="4605338"/>
            <a:ext cx="204263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High-compute Homogeneous</a:t>
            </a:r>
          </a:p>
        </p:txBody>
      </p:sp>
      <p:sp>
        <p:nvSpPr>
          <p:cNvPr id="31" name="text-11">
            <a:extLst>
              <a:ext uri="{FF2B5EF4-FFF2-40B4-BE49-F238E27FC236}">
                <a16:creationId xmlns:a16="http://schemas.microsoft.com/office/drawing/2014/main" id="{020A0AB1-1CA6-4D08-A2BF-202E99610A74}"/>
              </a:ext>
            </a:extLst>
          </p:cNvPr>
          <p:cNvSpPr>
            <a:spLocks noGrp="1"/>
          </p:cNvSpPr>
          <p:nvPr/>
        </p:nvSpPr>
        <p:spPr>
          <a:xfrm>
            <a:off x="4620863" y="4319588"/>
            <a:ext cx="226028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2" name="text-12">
            <a:extLst>
              <a:ext uri="{FF2B5EF4-FFF2-40B4-BE49-F238E27FC236}">
                <a16:creationId xmlns:a16="http://schemas.microsoft.com/office/drawing/2014/main" id="{F75647BE-23B1-438D-AD78-8DF227B9DFA0}"/>
              </a:ext>
            </a:extLst>
          </p:cNvPr>
          <p:cNvSpPr>
            <a:spLocks noGrp="1"/>
          </p:cNvSpPr>
          <p:nvPr/>
        </p:nvSpPr>
        <p:spPr>
          <a:xfrm>
            <a:off x="5114925" y="4324350"/>
            <a:ext cx="1171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高算力设备</a:t>
            </a:r>
          </a:p>
        </p:txBody>
      </p:sp>
      <p:sp>
        <p:nvSpPr>
          <p:cNvPr id="33" name="text-13">
            <a:extLst>
              <a:ext uri="{FF2B5EF4-FFF2-40B4-BE49-F238E27FC236}">
                <a16:creationId xmlns:a16="http://schemas.microsoft.com/office/drawing/2014/main" id="{F062806B-8D1F-41DD-B9C3-83CC3E3DB52C}"/>
              </a:ext>
            </a:extLst>
          </p:cNvPr>
          <p:cNvSpPr>
            <a:spLocks noGrp="1"/>
          </p:cNvSpPr>
          <p:nvPr/>
        </p:nvSpPr>
        <p:spPr>
          <a:xfrm>
            <a:off x="7909179" y="4319588"/>
            <a:ext cx="240792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34" name="text-14">
            <a:extLst>
              <a:ext uri="{FF2B5EF4-FFF2-40B4-BE49-F238E27FC236}">
                <a16:creationId xmlns:a16="http://schemas.microsoft.com/office/drawing/2014/main" id="{87ACD792-EA12-48B4-982D-E2B41A67368F}"/>
              </a:ext>
            </a:extLst>
          </p:cNvPr>
          <p:cNvSpPr>
            <a:spLocks noGrp="1"/>
          </p:cNvSpPr>
          <p:nvPr/>
        </p:nvSpPr>
        <p:spPr>
          <a:xfrm>
            <a:off x="8410575" y="4324350"/>
            <a:ext cx="1171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高算力设备</a:t>
            </a:r>
          </a:p>
        </p:txBody>
      </p:sp>
      <p:sp>
        <p:nvSpPr>
          <p:cNvPr id="35" name="text-15">
            <a:extLst>
              <a:ext uri="{FF2B5EF4-FFF2-40B4-BE49-F238E27FC236}">
                <a16:creationId xmlns:a16="http://schemas.microsoft.com/office/drawing/2014/main" id="{24A7043C-82E9-44FD-BED0-38EEB08CA490}"/>
              </a:ext>
            </a:extLst>
          </p:cNvPr>
          <p:cNvSpPr>
            <a:spLocks noGrp="1"/>
          </p:cNvSpPr>
          <p:nvPr/>
        </p:nvSpPr>
        <p:spPr>
          <a:xfrm>
            <a:off x="10868025" y="4326160"/>
            <a:ext cx="522655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算力供给充分；Decode Interactivity 可能成为服务短板</a:t>
            </a:r>
          </a:p>
        </p:txBody>
      </p:sp>
      <p:sp>
        <p:nvSpPr>
          <p:cNvPr id="36" name="text-16">
            <a:extLst>
              <a:ext uri="{FF2B5EF4-FFF2-40B4-BE49-F238E27FC236}">
                <a16:creationId xmlns:a16="http://schemas.microsoft.com/office/drawing/2014/main" id="{4C1A22C4-3AD8-4DA2-8A27-0780887D6CB5}"/>
              </a:ext>
            </a:extLst>
          </p:cNvPr>
          <p:cNvSpPr>
            <a:spLocks noGrp="1"/>
          </p:cNvSpPr>
          <p:nvPr/>
        </p:nvSpPr>
        <p:spPr>
          <a:xfrm>
            <a:off x="1362075" y="5595938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高带宽设备同构</a:t>
            </a:r>
          </a:p>
        </p:txBody>
      </p:sp>
      <p:sp>
        <p:nvSpPr>
          <p:cNvPr id="37" name="text-17">
            <a:extLst>
              <a:ext uri="{FF2B5EF4-FFF2-40B4-BE49-F238E27FC236}">
                <a16:creationId xmlns:a16="http://schemas.microsoft.com/office/drawing/2014/main" id="{D981A3B7-25B8-4E2D-9CC9-0FD1315AEF1F}"/>
              </a:ext>
            </a:extLst>
          </p:cNvPr>
          <p:cNvSpPr>
            <a:spLocks noGrp="1"/>
          </p:cNvSpPr>
          <p:nvPr/>
        </p:nvSpPr>
        <p:spPr>
          <a:xfrm>
            <a:off x="1362075" y="6053138"/>
            <a:ext cx="2150459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High-bandwidth Homogeneous</a:t>
            </a:r>
          </a:p>
        </p:txBody>
      </p:sp>
      <p:sp>
        <p:nvSpPr>
          <p:cNvPr id="38" name="text-18">
            <a:extLst>
              <a:ext uri="{FF2B5EF4-FFF2-40B4-BE49-F238E27FC236}">
                <a16:creationId xmlns:a16="http://schemas.microsoft.com/office/drawing/2014/main" id="{DC66E56B-8A30-4191-8965-10C8AC4886A0}"/>
              </a:ext>
            </a:extLst>
          </p:cNvPr>
          <p:cNvSpPr>
            <a:spLocks noGrp="1"/>
          </p:cNvSpPr>
          <p:nvPr/>
        </p:nvSpPr>
        <p:spPr>
          <a:xfrm>
            <a:off x="4620863" y="5767388"/>
            <a:ext cx="226028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9" name="text-19">
            <a:extLst>
              <a:ext uri="{FF2B5EF4-FFF2-40B4-BE49-F238E27FC236}">
                <a16:creationId xmlns:a16="http://schemas.microsoft.com/office/drawing/2014/main" id="{9D258D2D-4C0C-4C7E-A313-CA2FEE7C43CD}"/>
              </a:ext>
            </a:extLst>
          </p:cNvPr>
          <p:cNvSpPr>
            <a:spLocks noGrp="1"/>
          </p:cNvSpPr>
          <p:nvPr/>
        </p:nvSpPr>
        <p:spPr>
          <a:xfrm>
            <a:off x="5114925" y="5772150"/>
            <a:ext cx="1171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高带宽设备</a:t>
            </a:r>
          </a:p>
        </p:txBody>
      </p:sp>
      <p:sp>
        <p:nvSpPr>
          <p:cNvPr id="40" name="text-20">
            <a:extLst>
              <a:ext uri="{FF2B5EF4-FFF2-40B4-BE49-F238E27FC236}">
                <a16:creationId xmlns:a16="http://schemas.microsoft.com/office/drawing/2014/main" id="{FA095124-6283-4F3B-8647-07EFF2F89413}"/>
              </a:ext>
            </a:extLst>
          </p:cNvPr>
          <p:cNvSpPr>
            <a:spLocks noGrp="1"/>
          </p:cNvSpPr>
          <p:nvPr/>
        </p:nvSpPr>
        <p:spPr>
          <a:xfrm>
            <a:off x="7909179" y="5767388"/>
            <a:ext cx="240792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1" name="text-21">
            <a:extLst>
              <a:ext uri="{FF2B5EF4-FFF2-40B4-BE49-F238E27FC236}">
                <a16:creationId xmlns:a16="http://schemas.microsoft.com/office/drawing/2014/main" id="{F1D1C78A-7F73-4BF4-A06A-F9F471D9C754}"/>
              </a:ext>
            </a:extLst>
          </p:cNvPr>
          <p:cNvSpPr>
            <a:spLocks noGrp="1"/>
          </p:cNvSpPr>
          <p:nvPr/>
        </p:nvSpPr>
        <p:spPr>
          <a:xfrm>
            <a:off x="8410575" y="5772150"/>
            <a:ext cx="1171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高带宽设备</a:t>
            </a:r>
          </a:p>
        </p:txBody>
      </p:sp>
      <p:sp>
        <p:nvSpPr>
          <p:cNvPr id="42" name="text-22">
            <a:extLst>
              <a:ext uri="{FF2B5EF4-FFF2-40B4-BE49-F238E27FC236}">
                <a16:creationId xmlns:a16="http://schemas.microsoft.com/office/drawing/2014/main" id="{CD8CF8F5-DA34-40EB-8972-8833F2C758AF}"/>
              </a:ext>
            </a:extLst>
          </p:cNvPr>
          <p:cNvSpPr>
            <a:spLocks noGrp="1"/>
          </p:cNvSpPr>
          <p:nvPr/>
        </p:nvSpPr>
        <p:spPr>
          <a:xfrm>
            <a:off x="10868025" y="5773960"/>
            <a:ext cx="486270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Decode 体验较好；Prefill 同样占用稀缺高配置设备</a:t>
            </a:r>
          </a:p>
        </p:txBody>
      </p:sp>
      <p:sp>
        <p:nvSpPr>
          <p:cNvPr id="43" name="text-23">
            <a:extLst>
              <a:ext uri="{FF2B5EF4-FFF2-40B4-BE49-F238E27FC236}">
                <a16:creationId xmlns:a16="http://schemas.microsoft.com/office/drawing/2014/main" id="{BCD96FA9-BBFC-4625-AFB5-F24860B9B83A}"/>
              </a:ext>
            </a:extLst>
          </p:cNvPr>
          <p:cNvSpPr>
            <a:spLocks noGrp="1"/>
          </p:cNvSpPr>
          <p:nvPr/>
        </p:nvSpPr>
        <p:spPr>
          <a:xfrm>
            <a:off x="1371600" y="7043738"/>
            <a:ext cx="1065181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异构 PD</a:t>
            </a:r>
          </a:p>
        </p:txBody>
      </p:sp>
      <p:sp>
        <p:nvSpPr>
          <p:cNvPr id="44" name="text-24">
            <a:extLst>
              <a:ext uri="{FF2B5EF4-FFF2-40B4-BE49-F238E27FC236}">
                <a16:creationId xmlns:a16="http://schemas.microsoft.com/office/drawing/2014/main" id="{3175E99D-089C-4082-9213-3F53FCC2869F}"/>
              </a:ext>
            </a:extLst>
          </p:cNvPr>
          <p:cNvSpPr>
            <a:spLocks noGrp="1"/>
          </p:cNvSpPr>
          <p:nvPr/>
        </p:nvSpPr>
        <p:spPr>
          <a:xfrm>
            <a:off x="1371600" y="7500938"/>
            <a:ext cx="1323213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Heterogeneous PD</a:t>
            </a:r>
          </a:p>
        </p:txBody>
      </p:sp>
      <p:sp>
        <p:nvSpPr>
          <p:cNvPr id="45" name="text-25">
            <a:extLst>
              <a:ext uri="{FF2B5EF4-FFF2-40B4-BE49-F238E27FC236}">
                <a16:creationId xmlns:a16="http://schemas.microsoft.com/office/drawing/2014/main" id="{DFFA09A3-78A6-4F72-B320-878D5039DA4D}"/>
              </a:ext>
            </a:extLst>
          </p:cNvPr>
          <p:cNvSpPr>
            <a:spLocks noGrp="1"/>
          </p:cNvSpPr>
          <p:nvPr/>
        </p:nvSpPr>
        <p:spPr>
          <a:xfrm>
            <a:off x="4630388" y="7215188"/>
            <a:ext cx="226028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46" name="text-26">
            <a:extLst>
              <a:ext uri="{FF2B5EF4-FFF2-40B4-BE49-F238E27FC236}">
                <a16:creationId xmlns:a16="http://schemas.microsoft.com/office/drawing/2014/main" id="{E680D8B0-83AC-4346-8228-8A036FFCC5E9}"/>
              </a:ext>
            </a:extLst>
          </p:cNvPr>
          <p:cNvSpPr>
            <a:spLocks noGrp="1"/>
          </p:cNvSpPr>
          <p:nvPr/>
        </p:nvSpPr>
        <p:spPr>
          <a:xfrm>
            <a:off x="5124450" y="7219950"/>
            <a:ext cx="1171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高算力设备</a:t>
            </a:r>
          </a:p>
        </p:txBody>
      </p:sp>
      <p:sp>
        <p:nvSpPr>
          <p:cNvPr id="47" name="text-27">
            <a:extLst>
              <a:ext uri="{FF2B5EF4-FFF2-40B4-BE49-F238E27FC236}">
                <a16:creationId xmlns:a16="http://schemas.microsoft.com/office/drawing/2014/main" id="{1C8A7C69-D18C-4ADC-8ABF-D3AC3C5F15F9}"/>
              </a:ext>
            </a:extLst>
          </p:cNvPr>
          <p:cNvSpPr>
            <a:spLocks noGrp="1"/>
          </p:cNvSpPr>
          <p:nvPr/>
        </p:nvSpPr>
        <p:spPr>
          <a:xfrm>
            <a:off x="7918704" y="7215188"/>
            <a:ext cx="240792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8" name="text-28">
            <a:extLst>
              <a:ext uri="{FF2B5EF4-FFF2-40B4-BE49-F238E27FC236}">
                <a16:creationId xmlns:a16="http://schemas.microsoft.com/office/drawing/2014/main" id="{D2F254A8-E619-4F12-814B-336BA4969D79}"/>
              </a:ext>
            </a:extLst>
          </p:cNvPr>
          <p:cNvSpPr>
            <a:spLocks noGrp="1"/>
          </p:cNvSpPr>
          <p:nvPr/>
        </p:nvSpPr>
        <p:spPr>
          <a:xfrm>
            <a:off x="8420100" y="7219950"/>
            <a:ext cx="1171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高带宽设备</a:t>
            </a:r>
          </a:p>
        </p:txBody>
      </p:sp>
      <p:sp>
        <p:nvSpPr>
          <p:cNvPr id="49" name="text-29">
            <a:extLst>
              <a:ext uri="{FF2B5EF4-FFF2-40B4-BE49-F238E27FC236}">
                <a16:creationId xmlns:a16="http://schemas.microsoft.com/office/drawing/2014/main" id="{7E9B1D57-B868-4DFD-AC04-A6C4CD79EF67}"/>
              </a:ext>
            </a:extLst>
          </p:cNvPr>
          <p:cNvSpPr>
            <a:spLocks noGrp="1"/>
          </p:cNvSpPr>
          <p:nvPr/>
        </p:nvSpPr>
        <p:spPr>
          <a:xfrm>
            <a:off x="10877550" y="7196138"/>
            <a:ext cx="3409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两类设备分别承担更匹配的阶段</a:t>
            </a:r>
          </a:p>
        </p:txBody>
      </p:sp>
      <p:sp>
        <p:nvSpPr>
          <p:cNvPr id="50" name="text-30">
            <a:extLst>
              <a:ext uri="{FF2B5EF4-FFF2-40B4-BE49-F238E27FC236}">
                <a16:creationId xmlns:a16="http://schemas.microsoft.com/office/drawing/2014/main" id="{9A9C6803-32BB-45F5-80A2-3B1665657BA2}"/>
              </a:ext>
            </a:extLst>
          </p:cNvPr>
          <p:cNvSpPr>
            <a:spLocks noGrp="1"/>
          </p:cNvSpPr>
          <p:nvPr/>
        </p:nvSpPr>
        <p:spPr>
          <a:xfrm>
            <a:off x="4973384" y="8243888"/>
            <a:ext cx="1476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资源配置原则：</a:t>
            </a:r>
          </a:p>
        </p:txBody>
      </p:sp>
      <p:sp>
        <p:nvSpPr>
          <p:cNvPr id="51" name="text-31">
            <a:extLst>
              <a:ext uri="{FF2B5EF4-FFF2-40B4-BE49-F238E27FC236}">
                <a16:creationId xmlns:a16="http://schemas.microsoft.com/office/drawing/2014/main" id="{A03D5531-A85D-43B7-90DB-A3F8627A8854}"/>
              </a:ext>
            </a:extLst>
          </p:cNvPr>
          <p:cNvSpPr>
            <a:spLocks noGrp="1"/>
          </p:cNvSpPr>
          <p:nvPr/>
        </p:nvSpPr>
        <p:spPr>
          <a:xfrm>
            <a:off x="6373559" y="8243888"/>
            <a:ext cx="699820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规模化算力进入 Prefill Pool，高价值显存与互联能力集中进入 Decode Pool。</a:t>
            </a:r>
          </a:p>
        </p:txBody>
      </p:sp>
      <p:sp>
        <p:nvSpPr>
          <p:cNvPr id="52" name="text-32">
            <a:extLst>
              <a:ext uri="{FF2B5EF4-FFF2-40B4-BE49-F238E27FC236}">
                <a16:creationId xmlns:a16="http://schemas.microsoft.com/office/drawing/2014/main" id="{BFCE40F2-B9EF-48E0-BF37-5F93FCAD9825}"/>
              </a:ext>
            </a:extLst>
          </p:cNvPr>
          <p:cNvSpPr>
            <a:spLocks noGrp="1"/>
          </p:cNvSpPr>
          <p:nvPr/>
        </p:nvSpPr>
        <p:spPr>
          <a:xfrm>
            <a:off x="4379119" y="9067800"/>
            <a:ext cx="958691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异构方案不是降低 Decode 标准，而是用更少的高带宽设备守住输出体验。</a:t>
            </a:r>
          </a:p>
        </p:txBody>
      </p:sp>
      <p:sp>
        <p:nvSpPr>
          <p:cNvPr id="53" name="text-33">
            <a:extLst>
              <a:ext uri="{FF2B5EF4-FFF2-40B4-BE49-F238E27FC236}">
                <a16:creationId xmlns:a16="http://schemas.microsoft.com/office/drawing/2014/main" id="{AD3B52EC-BA63-4261-8787-BB2A42DE2078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22 / 43</a:t>
            </a:r>
          </a:p>
        </p:txBody>
      </p:sp>
    </p:spTree>
    <p:extLst>
      <p:ext uri="{BB962C8B-B14F-4D97-AF65-F5344CB8AC3E}">
        <p14:creationId xmlns:p14="http://schemas.microsoft.com/office/powerpoint/2010/main" val="1569324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html-shape-1">
            <a:extLst>
              <a:ext uri="{FF2B5EF4-FFF2-40B4-BE49-F238E27FC236}">
                <a16:creationId xmlns:a16="http://schemas.microsoft.com/office/drawing/2014/main" id="{1697C74C-BF7A-49E9-9AAE-3EFCA1F7C31A}"/>
              </a:ext>
            </a:extLst>
          </p:cNvPr>
          <p:cNvSpPr>
            <a:spLocks noGrp="1"/>
          </p:cNvSpPr>
          <p:nvPr/>
        </p:nvSpPr>
        <p:spPr>
          <a:xfrm>
            <a:off x="1143000" y="3309938"/>
            <a:ext cx="6343650" cy="3333750"/>
          </a:xfrm>
          <a:prstGeom prst="roundRect">
            <a:avLst>
              <a:gd name="adj" fmla="val 6857"/>
            </a:avLst>
          </a:prstGeom>
          <a:gradFill>
            <a:gsLst>
              <a:gs pos="0">
                <a:srgbClr val="FFFFFF"/>
              </a:gs>
              <a:gs pos="100000">
                <a:srgbClr val="F3EFFF"/>
              </a:gs>
            </a:gsLst>
            <a:lin ang="8700000"/>
          </a:gradFill>
          <a:ln w="28575">
            <a:solidFill>
              <a:srgbClr val="642AF0"/>
            </a:solidFill>
            <a:prstDash val="solid"/>
          </a:ln>
        </p:spPr>
      </p:sp>
      <p:sp>
        <p:nvSpPr>
          <p:cNvPr id="2" name="html-shape-8">
            <a:extLst>
              <a:ext uri="{FF2B5EF4-FFF2-40B4-BE49-F238E27FC236}">
                <a16:creationId xmlns:a16="http://schemas.microsoft.com/office/drawing/2014/main" id="{4A43CFFB-BF6C-467A-95EB-D3451C899AC3}"/>
              </a:ext>
            </a:extLst>
          </p:cNvPr>
          <p:cNvSpPr>
            <a:spLocks noGrp="1"/>
          </p:cNvSpPr>
          <p:nvPr/>
        </p:nvSpPr>
        <p:spPr>
          <a:xfrm>
            <a:off x="10801350" y="3309938"/>
            <a:ext cx="6343650" cy="3333750"/>
          </a:xfrm>
          <a:prstGeom prst="roundRect">
            <a:avLst>
              <a:gd name="adj" fmla="val 6857"/>
            </a:avLst>
          </a:prstGeom>
          <a:gradFill>
            <a:gsLst>
              <a:gs pos="0">
                <a:srgbClr val="FFFFFF"/>
              </a:gs>
              <a:gs pos="100000">
                <a:srgbClr val="EAF8F2"/>
              </a:gs>
            </a:gsLst>
            <a:lin ang="8700000"/>
          </a:gradFill>
          <a:ln w="28575">
            <a:solidFill>
              <a:srgbClr val="0A9A62"/>
            </a:solidFill>
            <a:prstDash val="solid"/>
          </a:ln>
        </p:spPr>
      </p:sp>
      <p:sp>
        <p:nvSpPr>
          <p:cNvPr id="3" name="html-shape-12">
            <a:extLst>
              <a:ext uri="{FF2B5EF4-FFF2-40B4-BE49-F238E27FC236}">
                <a16:creationId xmlns:a16="http://schemas.microsoft.com/office/drawing/2014/main" id="{2EE81661-F753-4468-90C9-77F716D8FE09}"/>
              </a:ext>
            </a:extLst>
          </p:cNvPr>
          <p:cNvSpPr>
            <a:spLocks noGrp="1"/>
          </p:cNvSpPr>
          <p:nvPr/>
        </p:nvSpPr>
        <p:spPr>
          <a:xfrm>
            <a:off x="1143000" y="7143750"/>
            <a:ext cx="5181600" cy="1352550"/>
          </a:xfrm>
          <a:prstGeom prst="rect">
            <a:avLst/>
          </a:prstGeom>
          <a:solidFill>
            <a:srgbClr val="F8F7FB"/>
          </a:solidFill>
          <a:ln w="0">
            <a:noFill/>
            <a:prstDash val="solid"/>
          </a:ln>
        </p:spPr>
      </p:sp>
      <p:sp>
        <p:nvSpPr>
          <p:cNvPr id="4" name="html-shape-14">
            <a:extLst>
              <a:ext uri="{FF2B5EF4-FFF2-40B4-BE49-F238E27FC236}">
                <a16:creationId xmlns:a16="http://schemas.microsoft.com/office/drawing/2014/main" id="{C2DC91FD-55E5-4D5A-B498-D77AED9ACFF9}"/>
              </a:ext>
            </a:extLst>
          </p:cNvPr>
          <p:cNvSpPr>
            <a:spLocks noGrp="1"/>
          </p:cNvSpPr>
          <p:nvPr/>
        </p:nvSpPr>
        <p:spPr>
          <a:xfrm>
            <a:off x="6553200" y="7143750"/>
            <a:ext cx="5181600" cy="1352550"/>
          </a:xfrm>
          <a:prstGeom prst="rect">
            <a:avLst/>
          </a:prstGeom>
          <a:solidFill>
            <a:srgbClr val="F8F7FB"/>
          </a:solidFill>
          <a:ln w="0">
            <a:noFill/>
            <a:prstDash val="solid"/>
          </a:ln>
        </p:spPr>
      </p:sp>
      <p:sp>
        <p:nvSpPr>
          <p:cNvPr id="5" name="html-shape-16">
            <a:extLst>
              <a:ext uri="{FF2B5EF4-FFF2-40B4-BE49-F238E27FC236}">
                <a16:creationId xmlns:a16="http://schemas.microsoft.com/office/drawing/2014/main" id="{4C54CE32-AE1F-46C6-9852-02F8B55FD5C0}"/>
              </a:ext>
            </a:extLst>
          </p:cNvPr>
          <p:cNvSpPr>
            <a:spLocks noGrp="1"/>
          </p:cNvSpPr>
          <p:nvPr/>
        </p:nvSpPr>
        <p:spPr>
          <a:xfrm>
            <a:off x="11963400" y="7143750"/>
            <a:ext cx="5181600" cy="1352550"/>
          </a:xfrm>
          <a:prstGeom prst="rect">
            <a:avLst/>
          </a:prstGeom>
          <a:solidFill>
            <a:srgbClr val="F8F7FB"/>
          </a:solidFill>
          <a:ln w="0">
            <a:noFill/>
            <a:prstDash val="solid"/>
          </a:ln>
        </p:spPr>
      </p:sp>
      <p:sp>
        <p:nvSpPr>
          <p:cNvPr id="6" name="html-shape-18">
            <a:extLst>
              <a:ext uri="{FF2B5EF4-FFF2-40B4-BE49-F238E27FC236}">
                <a16:creationId xmlns:a16="http://schemas.microsoft.com/office/drawing/2014/main" id="{BA5D79BB-2A31-42B5-8DDE-705078343B0D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7" name="html-line-1">
            <a:extLst>
              <a:ext uri="{FF2B5EF4-FFF2-40B4-BE49-F238E27FC236}">
                <a16:creationId xmlns:a16="http://schemas.microsoft.com/office/drawing/2014/main" id="{23BD8870-5387-45A8-8BE8-8C8F2E224E85}"/>
              </a:ext>
            </a:extLst>
          </p:cNvPr>
          <p:cNvSpPr>
            <a:spLocks noGrp="1"/>
          </p:cNvSpPr>
          <p:nvPr/>
        </p:nvSpPr>
        <p:spPr>
          <a:xfrm>
            <a:off x="7715250" y="4976813"/>
            <a:ext cx="781050" cy="4763"/>
          </a:xfrm>
          <a:prstGeom prst="line">
            <a:avLst/>
          </a:prstGeom>
          <a:noFill/>
          <a:ln w="38100">
            <a:gradFill>
              <a:gsLst>
                <a:gs pos="0">
                  <a:srgbClr val="642AF0"/>
                </a:gs>
                <a:gs pos="100000">
                  <a:srgbClr val="0A9A62"/>
                </a:gs>
              </a:gsLst>
              <a:lin ang="5400000"/>
            </a:gradFill>
            <a:prstDash val="solid"/>
          </a:ln>
        </p:spPr>
      </p:sp>
      <p:sp>
        <p:nvSpPr>
          <p:cNvPr id="8" name="html-shape-2">
            <a:extLst>
              <a:ext uri="{FF2B5EF4-FFF2-40B4-BE49-F238E27FC236}">
                <a16:creationId xmlns:a16="http://schemas.microsoft.com/office/drawing/2014/main" id="{655966BF-D13B-439D-AF63-E3B01D3E5A48}"/>
              </a:ext>
            </a:extLst>
          </p:cNvPr>
          <p:cNvSpPr>
            <a:spLocks noGrp="1"/>
          </p:cNvSpPr>
          <p:nvPr/>
        </p:nvSpPr>
        <p:spPr>
          <a:xfrm>
            <a:off x="1533525" y="4062413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9" name="html-shape-3">
            <a:extLst>
              <a:ext uri="{FF2B5EF4-FFF2-40B4-BE49-F238E27FC236}">
                <a16:creationId xmlns:a16="http://schemas.microsoft.com/office/drawing/2014/main" id="{DF9D39C9-7D8E-4BAC-92C8-9B5DED54074C}"/>
              </a:ext>
            </a:extLst>
          </p:cNvPr>
          <p:cNvSpPr>
            <a:spLocks noGrp="1"/>
          </p:cNvSpPr>
          <p:nvPr/>
        </p:nvSpPr>
        <p:spPr>
          <a:xfrm>
            <a:off x="1533525" y="4995863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0" name="html-shape-4">
            <a:extLst>
              <a:ext uri="{FF2B5EF4-FFF2-40B4-BE49-F238E27FC236}">
                <a16:creationId xmlns:a16="http://schemas.microsoft.com/office/drawing/2014/main" id="{A65D1B24-D239-422E-9A6E-D2F2D426873A}"/>
              </a:ext>
            </a:extLst>
          </p:cNvPr>
          <p:cNvSpPr>
            <a:spLocks noGrp="1"/>
          </p:cNvSpPr>
          <p:nvPr/>
        </p:nvSpPr>
        <p:spPr>
          <a:xfrm>
            <a:off x="2162175" y="4995863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1" name="html-shape-5">
            <a:extLst>
              <a:ext uri="{FF2B5EF4-FFF2-40B4-BE49-F238E27FC236}">
                <a16:creationId xmlns:a16="http://schemas.microsoft.com/office/drawing/2014/main" id="{9D3B68A7-9ABF-429E-8612-912159018F99}"/>
              </a:ext>
            </a:extLst>
          </p:cNvPr>
          <p:cNvSpPr>
            <a:spLocks noGrp="1"/>
          </p:cNvSpPr>
          <p:nvPr/>
        </p:nvSpPr>
        <p:spPr>
          <a:xfrm>
            <a:off x="2790825" y="4995863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2" name="html-shape-6">
            <a:extLst>
              <a:ext uri="{FF2B5EF4-FFF2-40B4-BE49-F238E27FC236}">
                <a16:creationId xmlns:a16="http://schemas.microsoft.com/office/drawing/2014/main" id="{3E4BBFA1-18A6-4FC9-A310-A97752622557}"/>
              </a:ext>
            </a:extLst>
          </p:cNvPr>
          <p:cNvSpPr>
            <a:spLocks noGrp="1"/>
          </p:cNvSpPr>
          <p:nvPr/>
        </p:nvSpPr>
        <p:spPr>
          <a:xfrm>
            <a:off x="3419475" y="4995863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4B139F"/>
          </a:solidFill>
          <a:ln w="0">
            <a:noFill/>
            <a:prstDash val="solid"/>
          </a:ln>
        </p:spPr>
      </p:sp>
      <p:sp>
        <p:nvSpPr>
          <p:cNvPr id="13" name="html-shape-7">
            <a:extLst>
              <a:ext uri="{FF2B5EF4-FFF2-40B4-BE49-F238E27FC236}">
                <a16:creationId xmlns:a16="http://schemas.microsoft.com/office/drawing/2014/main" id="{9C8E99CD-F77F-445A-B12D-C643700A68C4}"/>
              </a:ext>
            </a:extLst>
          </p:cNvPr>
          <p:cNvSpPr>
            <a:spLocks noGrp="1"/>
          </p:cNvSpPr>
          <p:nvPr/>
        </p:nvSpPr>
        <p:spPr>
          <a:xfrm>
            <a:off x="8610600" y="4443413"/>
            <a:ext cx="1066800" cy="1066800"/>
          </a:xfrm>
          <a:prstGeom prst="roundRect">
            <a:avLst>
              <a:gd name="adj" fmla="val 44643"/>
            </a:avLst>
          </a:prstGeom>
          <a:gradFill>
            <a:gsLst>
              <a:gs pos="0">
                <a:srgbClr val="4B139F"/>
              </a:gs>
              <a:gs pos="100000">
                <a:srgbClr val="0A9A62"/>
              </a:gs>
            </a:gsLst>
            <a:lin ang="8700000"/>
          </a:gradFill>
          <a:ln w="0">
            <a:noFill/>
            <a:prstDash val="solid"/>
          </a:ln>
        </p:spPr>
      </p:sp>
      <p:sp>
        <p:nvSpPr>
          <p:cNvPr id="14" name="html-shape-9">
            <a:extLst>
              <a:ext uri="{FF2B5EF4-FFF2-40B4-BE49-F238E27FC236}">
                <a16:creationId xmlns:a16="http://schemas.microsoft.com/office/drawing/2014/main" id="{6CF648D0-BE9E-47F8-B8D2-94B981EFB271}"/>
              </a:ext>
            </a:extLst>
          </p:cNvPr>
          <p:cNvSpPr>
            <a:spLocks noGrp="1"/>
          </p:cNvSpPr>
          <p:nvPr/>
        </p:nvSpPr>
        <p:spPr>
          <a:xfrm>
            <a:off x="11191875" y="4062413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5" name="html-shape-10">
            <a:extLst>
              <a:ext uri="{FF2B5EF4-FFF2-40B4-BE49-F238E27FC236}">
                <a16:creationId xmlns:a16="http://schemas.microsoft.com/office/drawing/2014/main" id="{F0C947A0-323E-459F-8A6A-F998056C2CA1}"/>
              </a:ext>
            </a:extLst>
          </p:cNvPr>
          <p:cNvSpPr>
            <a:spLocks noGrp="1"/>
          </p:cNvSpPr>
          <p:nvPr/>
        </p:nvSpPr>
        <p:spPr>
          <a:xfrm>
            <a:off x="11191875" y="4995863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6" name="html-shape-11">
            <a:extLst>
              <a:ext uri="{FF2B5EF4-FFF2-40B4-BE49-F238E27FC236}">
                <a16:creationId xmlns:a16="http://schemas.microsoft.com/office/drawing/2014/main" id="{6AA6FCFB-7811-422F-9AFA-7191856E4F20}"/>
              </a:ext>
            </a:extLst>
          </p:cNvPr>
          <p:cNvSpPr>
            <a:spLocks noGrp="1"/>
          </p:cNvSpPr>
          <p:nvPr/>
        </p:nvSpPr>
        <p:spPr>
          <a:xfrm>
            <a:off x="11820525" y="4995863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7" name="border-13">
            <a:extLst>
              <a:ext uri="{FF2B5EF4-FFF2-40B4-BE49-F238E27FC236}">
                <a16:creationId xmlns:a16="http://schemas.microsoft.com/office/drawing/2014/main" id="{7907080E-8E7B-4A81-9020-6E7594EAAA6C}"/>
              </a:ext>
            </a:extLst>
          </p:cNvPr>
          <p:cNvSpPr>
            <a:spLocks noGrp="1"/>
          </p:cNvSpPr>
          <p:nvPr/>
        </p:nvSpPr>
        <p:spPr>
          <a:xfrm>
            <a:off x="1143000" y="7143750"/>
            <a:ext cx="5181600" cy="381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8" name="border-15">
            <a:extLst>
              <a:ext uri="{FF2B5EF4-FFF2-40B4-BE49-F238E27FC236}">
                <a16:creationId xmlns:a16="http://schemas.microsoft.com/office/drawing/2014/main" id="{78E74FD6-6177-4642-A2B9-B2773594C9CE}"/>
              </a:ext>
            </a:extLst>
          </p:cNvPr>
          <p:cNvSpPr>
            <a:spLocks noGrp="1"/>
          </p:cNvSpPr>
          <p:nvPr/>
        </p:nvSpPr>
        <p:spPr>
          <a:xfrm>
            <a:off x="6553200" y="7143750"/>
            <a:ext cx="5181600" cy="381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9" name="border-17">
            <a:extLst>
              <a:ext uri="{FF2B5EF4-FFF2-40B4-BE49-F238E27FC236}">
                <a16:creationId xmlns:a16="http://schemas.microsoft.com/office/drawing/2014/main" id="{EFC8FF7E-3746-4D6D-9A8F-D41E848E2EF9}"/>
              </a:ext>
            </a:extLst>
          </p:cNvPr>
          <p:cNvSpPr>
            <a:spLocks noGrp="1"/>
          </p:cNvSpPr>
          <p:nvPr/>
        </p:nvSpPr>
        <p:spPr>
          <a:xfrm>
            <a:off x="11963400" y="7143750"/>
            <a:ext cx="5181600" cy="381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6B0AE75-587E-4252-8357-9ACF7FAB3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EBAD802-D648-49AC-AA79-25471F6E0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22" name="text-1">
            <a:extLst>
              <a:ext uri="{FF2B5EF4-FFF2-40B4-BE49-F238E27FC236}">
                <a16:creationId xmlns:a16="http://schemas.microsoft.com/office/drawing/2014/main" id="{72C1BDD7-9396-4157-BE4F-BA1E83FEB1BD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23" name="text-2">
            <a:extLst>
              <a:ext uri="{FF2B5EF4-FFF2-40B4-BE49-F238E27FC236}">
                <a16:creationId xmlns:a16="http://schemas.microsoft.com/office/drawing/2014/main" id="{01ECA366-AC02-48F2-9027-2F9393A6F881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34782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第四章 · 为什么进一步采用异构 PD</a:t>
            </a:r>
          </a:p>
        </p:txBody>
      </p:sp>
      <p:sp>
        <p:nvSpPr>
          <p:cNvPr id="24" name="text-3">
            <a:extLst>
              <a:ext uri="{FF2B5EF4-FFF2-40B4-BE49-F238E27FC236}">
                <a16:creationId xmlns:a16="http://schemas.microsoft.com/office/drawing/2014/main" id="{4F7881A6-E88A-4A94-8D5C-9F9E828CEDBD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130598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63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异构 PD 的难点，是让两类硬件协同成一个服务</a:t>
            </a:r>
          </a:p>
        </p:txBody>
      </p:sp>
      <p:sp>
        <p:nvSpPr>
          <p:cNvPr id="25" name="text-4">
            <a:extLst>
              <a:ext uri="{FF2B5EF4-FFF2-40B4-BE49-F238E27FC236}">
                <a16:creationId xmlns:a16="http://schemas.microsoft.com/office/drawing/2014/main" id="{3C1A97D7-2768-4624-BE07-50F79194A06C}"/>
              </a:ext>
            </a:extLst>
          </p:cNvPr>
          <p:cNvSpPr>
            <a:spLocks noGrp="1"/>
          </p:cNvSpPr>
          <p:nvPr/>
        </p:nvSpPr>
        <p:spPr>
          <a:xfrm>
            <a:off x="776288" y="2210086"/>
            <a:ext cx="101670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两类设备需要正确衔接 Prefill 和 Decode，保证端到端服务的性能与稳定性。</a:t>
            </a:r>
          </a:p>
        </p:txBody>
      </p:sp>
      <p:sp>
        <p:nvSpPr>
          <p:cNvPr id="26" name="text-5">
            <a:extLst>
              <a:ext uri="{FF2B5EF4-FFF2-40B4-BE49-F238E27FC236}">
                <a16:creationId xmlns:a16="http://schemas.microsoft.com/office/drawing/2014/main" id="{CB1EEF32-BAA4-4E22-998E-A382345E7203}"/>
              </a:ext>
            </a:extLst>
          </p:cNvPr>
          <p:cNvSpPr>
            <a:spLocks noGrp="1"/>
          </p:cNvSpPr>
          <p:nvPr/>
        </p:nvSpPr>
        <p:spPr>
          <a:xfrm>
            <a:off x="1524000" y="3662363"/>
            <a:ext cx="274348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HIGH-COMPUTE PREFILL POOL</a:t>
            </a:r>
          </a:p>
        </p:txBody>
      </p:sp>
      <p:sp>
        <p:nvSpPr>
          <p:cNvPr id="27" name="text-6">
            <a:extLst>
              <a:ext uri="{FF2B5EF4-FFF2-40B4-BE49-F238E27FC236}">
                <a16:creationId xmlns:a16="http://schemas.microsoft.com/office/drawing/2014/main" id="{81C133F3-82BE-41D6-A01B-EA8A6053B05B}"/>
              </a:ext>
            </a:extLst>
          </p:cNvPr>
          <p:cNvSpPr>
            <a:spLocks noGrp="1"/>
          </p:cNvSpPr>
          <p:nvPr/>
        </p:nvSpPr>
        <p:spPr>
          <a:xfrm>
            <a:off x="1735360" y="4157663"/>
            <a:ext cx="282226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28" name="text-7">
            <a:extLst>
              <a:ext uri="{FF2B5EF4-FFF2-40B4-BE49-F238E27FC236}">
                <a16:creationId xmlns:a16="http://schemas.microsoft.com/office/drawing/2014/main" id="{59E190F1-0DF8-4C3A-A18C-B7A9BE36BB4F}"/>
              </a:ext>
            </a:extLst>
          </p:cNvPr>
          <p:cNvSpPr>
            <a:spLocks noGrp="1"/>
          </p:cNvSpPr>
          <p:nvPr/>
        </p:nvSpPr>
        <p:spPr>
          <a:xfrm>
            <a:off x="2362200" y="4178618"/>
            <a:ext cx="258079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高算力 Prefill 算力池</a:t>
            </a:r>
          </a:p>
        </p:txBody>
      </p:sp>
      <p:sp>
        <p:nvSpPr>
          <p:cNvPr id="29" name="text-8">
            <a:extLst>
              <a:ext uri="{FF2B5EF4-FFF2-40B4-BE49-F238E27FC236}">
                <a16:creationId xmlns:a16="http://schemas.microsoft.com/office/drawing/2014/main" id="{E0BE487F-3350-46F5-A580-2BDAC6F65A98}"/>
              </a:ext>
            </a:extLst>
          </p:cNvPr>
          <p:cNvSpPr>
            <a:spLocks noGrp="1"/>
          </p:cNvSpPr>
          <p:nvPr/>
        </p:nvSpPr>
        <p:spPr>
          <a:xfrm>
            <a:off x="1709261" y="5100638"/>
            <a:ext cx="21983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0" name="text-9">
            <a:extLst>
              <a:ext uri="{FF2B5EF4-FFF2-40B4-BE49-F238E27FC236}">
                <a16:creationId xmlns:a16="http://schemas.microsoft.com/office/drawing/2014/main" id="{BAF6048E-A9DB-45D9-98D1-330D2577484C}"/>
              </a:ext>
            </a:extLst>
          </p:cNvPr>
          <p:cNvSpPr>
            <a:spLocks noGrp="1"/>
          </p:cNvSpPr>
          <p:nvPr/>
        </p:nvSpPr>
        <p:spPr>
          <a:xfrm>
            <a:off x="2337911" y="5100638"/>
            <a:ext cx="21983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1" name="text-10">
            <a:extLst>
              <a:ext uri="{FF2B5EF4-FFF2-40B4-BE49-F238E27FC236}">
                <a16:creationId xmlns:a16="http://schemas.microsoft.com/office/drawing/2014/main" id="{97731AAB-6A53-4B01-AF3E-346FCC99CCF7}"/>
              </a:ext>
            </a:extLst>
          </p:cNvPr>
          <p:cNvSpPr>
            <a:spLocks noGrp="1"/>
          </p:cNvSpPr>
          <p:nvPr/>
        </p:nvSpPr>
        <p:spPr>
          <a:xfrm>
            <a:off x="2966561" y="5100638"/>
            <a:ext cx="21983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2" name="text-11">
            <a:extLst>
              <a:ext uri="{FF2B5EF4-FFF2-40B4-BE49-F238E27FC236}">
                <a16:creationId xmlns:a16="http://schemas.microsoft.com/office/drawing/2014/main" id="{00129761-C98B-4E70-9806-B96B52028542}"/>
              </a:ext>
            </a:extLst>
          </p:cNvPr>
          <p:cNvSpPr>
            <a:spLocks noGrp="1"/>
          </p:cNvSpPr>
          <p:nvPr/>
        </p:nvSpPr>
        <p:spPr>
          <a:xfrm>
            <a:off x="3595211" y="5100638"/>
            <a:ext cx="21983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3" name="text-12">
            <a:extLst>
              <a:ext uri="{FF2B5EF4-FFF2-40B4-BE49-F238E27FC236}">
                <a16:creationId xmlns:a16="http://schemas.microsoft.com/office/drawing/2014/main" id="{D1767F94-5F6C-4E78-BAE3-2A936A75C869}"/>
              </a:ext>
            </a:extLst>
          </p:cNvPr>
          <p:cNvSpPr>
            <a:spLocks noGrp="1"/>
          </p:cNvSpPr>
          <p:nvPr/>
        </p:nvSpPr>
        <p:spPr>
          <a:xfrm>
            <a:off x="1524000" y="5755481"/>
            <a:ext cx="223866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处理规模化 Input Token</a:t>
            </a:r>
          </a:p>
        </p:txBody>
      </p:sp>
      <p:sp>
        <p:nvSpPr>
          <p:cNvPr id="34" name="text-13">
            <a:extLst>
              <a:ext uri="{FF2B5EF4-FFF2-40B4-BE49-F238E27FC236}">
                <a16:creationId xmlns:a16="http://schemas.microsoft.com/office/drawing/2014/main" id="{26E3FED6-F22B-4D4B-82AE-FAE6D8C08318}"/>
              </a:ext>
            </a:extLst>
          </p:cNvPr>
          <p:cNvSpPr>
            <a:spLocks noGrp="1"/>
          </p:cNvSpPr>
          <p:nvPr/>
        </p:nvSpPr>
        <p:spPr>
          <a:xfrm>
            <a:off x="1524000" y="6055519"/>
            <a:ext cx="226456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形成可交付的 KV Cache</a:t>
            </a:r>
          </a:p>
        </p:txBody>
      </p:sp>
      <p:sp>
        <p:nvSpPr>
          <p:cNvPr id="35" name="text-14">
            <a:extLst>
              <a:ext uri="{FF2B5EF4-FFF2-40B4-BE49-F238E27FC236}">
                <a16:creationId xmlns:a16="http://schemas.microsoft.com/office/drawing/2014/main" id="{5E0CE613-8C43-4A64-A97F-D39A53E80FC7}"/>
              </a:ext>
            </a:extLst>
          </p:cNvPr>
          <p:cNvSpPr>
            <a:spLocks noGrp="1"/>
          </p:cNvSpPr>
          <p:nvPr/>
        </p:nvSpPr>
        <p:spPr>
          <a:xfrm>
            <a:off x="8730234" y="4743450"/>
            <a:ext cx="88468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KV Cache</a:t>
            </a:r>
          </a:p>
        </p:txBody>
      </p:sp>
      <p:sp>
        <p:nvSpPr>
          <p:cNvPr id="36" name="text-15">
            <a:extLst>
              <a:ext uri="{FF2B5EF4-FFF2-40B4-BE49-F238E27FC236}">
                <a16:creationId xmlns:a16="http://schemas.microsoft.com/office/drawing/2014/main" id="{36D69572-1F58-4A17-B45C-2566DFA48152}"/>
              </a:ext>
            </a:extLst>
          </p:cNvPr>
          <p:cNvSpPr>
            <a:spLocks noGrp="1"/>
          </p:cNvSpPr>
          <p:nvPr/>
        </p:nvSpPr>
        <p:spPr>
          <a:xfrm>
            <a:off x="8915686" y="5038725"/>
            <a:ext cx="51358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975" b="0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975" b="0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975" b="0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handoff</a:t>
            </a:r>
          </a:p>
        </p:txBody>
      </p:sp>
      <p:sp>
        <p:nvSpPr>
          <p:cNvPr id="37" name="text-16">
            <a:extLst>
              <a:ext uri="{FF2B5EF4-FFF2-40B4-BE49-F238E27FC236}">
                <a16:creationId xmlns:a16="http://schemas.microsoft.com/office/drawing/2014/main" id="{FB822031-BB53-4DEA-ADE1-B0E467B0C1D2}"/>
              </a:ext>
            </a:extLst>
          </p:cNvPr>
          <p:cNvSpPr>
            <a:spLocks noGrp="1"/>
          </p:cNvSpPr>
          <p:nvPr/>
        </p:nvSpPr>
        <p:spPr>
          <a:xfrm>
            <a:off x="9991725" y="4724400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38" name="text-17">
            <a:extLst>
              <a:ext uri="{FF2B5EF4-FFF2-40B4-BE49-F238E27FC236}">
                <a16:creationId xmlns:a16="http://schemas.microsoft.com/office/drawing/2014/main" id="{5AC1E4E9-A969-4C8E-B5B6-EE9D31CB278E}"/>
              </a:ext>
            </a:extLst>
          </p:cNvPr>
          <p:cNvSpPr>
            <a:spLocks noGrp="1"/>
          </p:cNvSpPr>
          <p:nvPr/>
        </p:nvSpPr>
        <p:spPr>
          <a:xfrm>
            <a:off x="11182350" y="3662363"/>
            <a:ext cx="294694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HIGH-BANDWIDTH DECODE POOL</a:t>
            </a:r>
          </a:p>
        </p:txBody>
      </p:sp>
      <p:sp>
        <p:nvSpPr>
          <p:cNvPr id="39" name="text-18">
            <a:extLst>
              <a:ext uri="{FF2B5EF4-FFF2-40B4-BE49-F238E27FC236}">
                <a16:creationId xmlns:a16="http://schemas.microsoft.com/office/drawing/2014/main" id="{406BD8E3-6AAC-4D47-99BD-1FA0C5A2815E}"/>
              </a:ext>
            </a:extLst>
          </p:cNvPr>
          <p:cNvSpPr>
            <a:spLocks noGrp="1"/>
          </p:cNvSpPr>
          <p:nvPr/>
        </p:nvSpPr>
        <p:spPr>
          <a:xfrm>
            <a:off x="11383423" y="4157663"/>
            <a:ext cx="30260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0" name="text-19">
            <a:extLst>
              <a:ext uri="{FF2B5EF4-FFF2-40B4-BE49-F238E27FC236}">
                <a16:creationId xmlns:a16="http://schemas.microsoft.com/office/drawing/2014/main" id="{4A75C118-6092-4A6D-9259-A35AD664FAC3}"/>
              </a:ext>
            </a:extLst>
          </p:cNvPr>
          <p:cNvSpPr>
            <a:spLocks noGrp="1"/>
          </p:cNvSpPr>
          <p:nvPr/>
        </p:nvSpPr>
        <p:spPr>
          <a:xfrm>
            <a:off x="12020550" y="4178618"/>
            <a:ext cx="281882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高带宽 Decode 算力池</a:t>
            </a:r>
          </a:p>
        </p:txBody>
      </p:sp>
      <p:sp>
        <p:nvSpPr>
          <p:cNvPr id="41" name="text-20">
            <a:extLst>
              <a:ext uri="{FF2B5EF4-FFF2-40B4-BE49-F238E27FC236}">
                <a16:creationId xmlns:a16="http://schemas.microsoft.com/office/drawing/2014/main" id="{98CA8992-8F16-4457-8A92-E6CDD1576060}"/>
              </a:ext>
            </a:extLst>
          </p:cNvPr>
          <p:cNvSpPr>
            <a:spLocks noGrp="1"/>
          </p:cNvSpPr>
          <p:nvPr/>
        </p:nvSpPr>
        <p:spPr>
          <a:xfrm>
            <a:off x="11360658" y="5100638"/>
            <a:ext cx="23393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2" name="text-21">
            <a:extLst>
              <a:ext uri="{FF2B5EF4-FFF2-40B4-BE49-F238E27FC236}">
                <a16:creationId xmlns:a16="http://schemas.microsoft.com/office/drawing/2014/main" id="{9ADA12FA-9A14-43F1-AEFB-075C58B38893}"/>
              </a:ext>
            </a:extLst>
          </p:cNvPr>
          <p:cNvSpPr>
            <a:spLocks noGrp="1"/>
          </p:cNvSpPr>
          <p:nvPr/>
        </p:nvSpPr>
        <p:spPr>
          <a:xfrm>
            <a:off x="11989308" y="5100638"/>
            <a:ext cx="23393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3" name="text-22">
            <a:extLst>
              <a:ext uri="{FF2B5EF4-FFF2-40B4-BE49-F238E27FC236}">
                <a16:creationId xmlns:a16="http://schemas.microsoft.com/office/drawing/2014/main" id="{1EDAFD8F-AD3D-4BB0-998E-EDABA3559452}"/>
              </a:ext>
            </a:extLst>
          </p:cNvPr>
          <p:cNvSpPr>
            <a:spLocks noGrp="1"/>
          </p:cNvSpPr>
          <p:nvPr/>
        </p:nvSpPr>
        <p:spPr>
          <a:xfrm>
            <a:off x="11182350" y="5755481"/>
            <a:ext cx="217932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支撑高质量 Token 服务</a:t>
            </a:r>
          </a:p>
        </p:txBody>
      </p:sp>
      <p:sp>
        <p:nvSpPr>
          <p:cNvPr id="44" name="text-23">
            <a:extLst>
              <a:ext uri="{FF2B5EF4-FFF2-40B4-BE49-F238E27FC236}">
                <a16:creationId xmlns:a16="http://schemas.microsoft.com/office/drawing/2014/main" id="{5A05B521-DC74-46E5-911A-92C21CC1E27B}"/>
              </a:ext>
            </a:extLst>
          </p:cNvPr>
          <p:cNvSpPr>
            <a:spLocks noGrp="1"/>
          </p:cNvSpPr>
          <p:nvPr/>
        </p:nvSpPr>
        <p:spPr>
          <a:xfrm>
            <a:off x="11182350" y="6055519"/>
            <a:ext cx="288521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4F5C70"/>
                </a:solidFill>
                <a:latin typeface="PingFang SC"/>
                <a:ea typeface="PingFang SC"/>
                <a:cs typeface="Arial"/>
              </a:rPr>
              <a:t>保障 Interactivity 与长尾稳定性</a:t>
            </a:r>
          </a:p>
        </p:txBody>
      </p:sp>
      <p:sp>
        <p:nvSpPr>
          <p:cNvPr id="45" name="text-24">
            <a:extLst>
              <a:ext uri="{FF2B5EF4-FFF2-40B4-BE49-F238E27FC236}">
                <a16:creationId xmlns:a16="http://schemas.microsoft.com/office/drawing/2014/main" id="{E8186E02-DE9B-40EF-A8C4-D9E7D67E9D6C}"/>
              </a:ext>
            </a:extLst>
          </p:cNvPr>
          <p:cNvSpPr>
            <a:spLocks noGrp="1"/>
          </p:cNvSpPr>
          <p:nvPr/>
        </p:nvSpPr>
        <p:spPr>
          <a:xfrm>
            <a:off x="1304925" y="7410450"/>
            <a:ext cx="26860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46" name="text-25">
            <a:extLst>
              <a:ext uri="{FF2B5EF4-FFF2-40B4-BE49-F238E27FC236}">
                <a16:creationId xmlns:a16="http://schemas.microsoft.com/office/drawing/2014/main" id="{995A98C4-C443-4AF2-8DEA-5BF517FA627B}"/>
              </a:ext>
            </a:extLst>
          </p:cNvPr>
          <p:cNvSpPr>
            <a:spLocks noGrp="1"/>
          </p:cNvSpPr>
          <p:nvPr/>
        </p:nvSpPr>
        <p:spPr>
          <a:xfrm>
            <a:off x="1781175" y="7372350"/>
            <a:ext cx="1276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跨硬件正确性</a:t>
            </a:r>
          </a:p>
        </p:txBody>
      </p:sp>
      <p:sp>
        <p:nvSpPr>
          <p:cNvPr id="47" name="text-26">
            <a:extLst>
              <a:ext uri="{FF2B5EF4-FFF2-40B4-BE49-F238E27FC236}">
                <a16:creationId xmlns:a16="http://schemas.microsoft.com/office/drawing/2014/main" id="{8D0683CE-1A92-40E3-B061-C52D073CEED5}"/>
              </a:ext>
            </a:extLst>
          </p:cNvPr>
          <p:cNvSpPr>
            <a:spLocks noGrp="1"/>
          </p:cNvSpPr>
          <p:nvPr/>
        </p:nvSpPr>
        <p:spPr>
          <a:xfrm>
            <a:off x="1781175" y="7715250"/>
            <a:ext cx="425548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同一模型在两类 Runtime 上保持语义一致；KV Cache 完成交</a:t>
            </a:r>
          </a:p>
        </p:txBody>
      </p:sp>
      <p:sp>
        <p:nvSpPr>
          <p:cNvPr id="48" name="text-27">
            <a:extLst>
              <a:ext uri="{FF2B5EF4-FFF2-40B4-BE49-F238E27FC236}">
                <a16:creationId xmlns:a16="http://schemas.microsoft.com/office/drawing/2014/main" id="{9CC98B04-BFD6-4933-9609-2729A6462D13}"/>
              </a:ext>
            </a:extLst>
          </p:cNvPr>
          <p:cNvSpPr>
            <a:spLocks noGrp="1"/>
          </p:cNvSpPr>
          <p:nvPr/>
        </p:nvSpPr>
        <p:spPr>
          <a:xfrm>
            <a:off x="1781175" y="7919466"/>
            <a:ext cx="2240471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付后仍能被 Decode 正确使用。</a:t>
            </a:r>
          </a:p>
        </p:txBody>
      </p:sp>
      <p:sp>
        <p:nvSpPr>
          <p:cNvPr id="49" name="text-28">
            <a:extLst>
              <a:ext uri="{FF2B5EF4-FFF2-40B4-BE49-F238E27FC236}">
                <a16:creationId xmlns:a16="http://schemas.microsoft.com/office/drawing/2014/main" id="{D45A1E4D-EA4B-4457-96FF-ADF5660F61ED}"/>
              </a:ext>
            </a:extLst>
          </p:cNvPr>
          <p:cNvSpPr>
            <a:spLocks noGrp="1"/>
          </p:cNvSpPr>
          <p:nvPr/>
        </p:nvSpPr>
        <p:spPr>
          <a:xfrm>
            <a:off x="6715125" y="74104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526B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526B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526B75"/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50" name="text-29">
            <a:extLst>
              <a:ext uri="{FF2B5EF4-FFF2-40B4-BE49-F238E27FC236}">
                <a16:creationId xmlns:a16="http://schemas.microsoft.com/office/drawing/2014/main" id="{A7673447-E466-4710-AF1A-C03F80A6C4A0}"/>
              </a:ext>
            </a:extLst>
          </p:cNvPr>
          <p:cNvSpPr>
            <a:spLocks noGrp="1"/>
          </p:cNvSpPr>
          <p:nvPr/>
        </p:nvSpPr>
        <p:spPr>
          <a:xfrm>
            <a:off x="7191375" y="7372350"/>
            <a:ext cx="10763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端到端性能</a:t>
            </a:r>
          </a:p>
        </p:txBody>
      </p:sp>
      <p:sp>
        <p:nvSpPr>
          <p:cNvPr id="51" name="text-30">
            <a:extLst>
              <a:ext uri="{FF2B5EF4-FFF2-40B4-BE49-F238E27FC236}">
                <a16:creationId xmlns:a16="http://schemas.microsoft.com/office/drawing/2014/main" id="{0B30F4DD-9C38-4A85-B2CE-952FC05846B5}"/>
              </a:ext>
            </a:extLst>
          </p:cNvPr>
          <p:cNvSpPr>
            <a:spLocks noGrp="1"/>
          </p:cNvSpPr>
          <p:nvPr/>
        </p:nvSpPr>
        <p:spPr>
          <a:xfrm>
            <a:off x="7191375" y="7715250"/>
            <a:ext cx="431854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 计算、KV 交付与 Decode 生成形成流水，交付开销不主</a:t>
            </a:r>
          </a:p>
        </p:txBody>
      </p:sp>
      <p:sp>
        <p:nvSpPr>
          <p:cNvPr id="52" name="text-31">
            <a:extLst>
              <a:ext uri="{FF2B5EF4-FFF2-40B4-BE49-F238E27FC236}">
                <a16:creationId xmlns:a16="http://schemas.microsoft.com/office/drawing/2014/main" id="{43493702-F8BF-4008-B871-B6B83733DEB6}"/>
              </a:ext>
            </a:extLst>
          </p:cNvPr>
          <p:cNvSpPr>
            <a:spLocks noGrp="1"/>
          </p:cNvSpPr>
          <p:nvPr/>
        </p:nvSpPr>
        <p:spPr>
          <a:xfrm>
            <a:off x="7191375" y="7919466"/>
            <a:ext cx="170859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导吞吐与 Interactivity。</a:t>
            </a:r>
          </a:p>
        </p:txBody>
      </p:sp>
      <p:sp>
        <p:nvSpPr>
          <p:cNvPr id="53" name="text-32">
            <a:extLst>
              <a:ext uri="{FF2B5EF4-FFF2-40B4-BE49-F238E27FC236}">
                <a16:creationId xmlns:a16="http://schemas.microsoft.com/office/drawing/2014/main" id="{7B0840F7-828B-4608-A695-97A71AFA60D5}"/>
              </a:ext>
            </a:extLst>
          </p:cNvPr>
          <p:cNvSpPr>
            <a:spLocks noGrp="1"/>
          </p:cNvSpPr>
          <p:nvPr/>
        </p:nvSpPr>
        <p:spPr>
          <a:xfrm>
            <a:off x="12125325" y="74104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03</a:t>
            </a:r>
          </a:p>
        </p:txBody>
      </p:sp>
      <p:sp>
        <p:nvSpPr>
          <p:cNvPr id="54" name="text-33">
            <a:extLst>
              <a:ext uri="{FF2B5EF4-FFF2-40B4-BE49-F238E27FC236}">
                <a16:creationId xmlns:a16="http://schemas.microsoft.com/office/drawing/2014/main" id="{01E3D9B9-4C82-4E75-B09A-AA89638E74F7}"/>
              </a:ext>
            </a:extLst>
          </p:cNvPr>
          <p:cNvSpPr>
            <a:spLocks noGrp="1"/>
          </p:cNvSpPr>
          <p:nvPr/>
        </p:nvSpPr>
        <p:spPr>
          <a:xfrm>
            <a:off x="12601575" y="7372350"/>
            <a:ext cx="10763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生产可用性</a:t>
            </a:r>
          </a:p>
        </p:txBody>
      </p:sp>
      <p:sp>
        <p:nvSpPr>
          <p:cNvPr id="55" name="text-34">
            <a:extLst>
              <a:ext uri="{FF2B5EF4-FFF2-40B4-BE49-F238E27FC236}">
                <a16:creationId xmlns:a16="http://schemas.microsoft.com/office/drawing/2014/main" id="{09846462-D385-4B9E-A037-81093C6A1060}"/>
              </a:ext>
            </a:extLst>
          </p:cNvPr>
          <p:cNvSpPr>
            <a:spLocks noGrp="1"/>
          </p:cNvSpPr>
          <p:nvPr/>
        </p:nvSpPr>
        <p:spPr>
          <a:xfrm>
            <a:off x="12601575" y="7715250"/>
            <a:ext cx="434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两个独立资源池仍作为一个服务，统一支持路由、扩缩容、故障</a:t>
            </a:r>
          </a:p>
        </p:txBody>
      </p:sp>
      <p:sp>
        <p:nvSpPr>
          <p:cNvPr id="56" name="text-35">
            <a:extLst>
              <a:ext uri="{FF2B5EF4-FFF2-40B4-BE49-F238E27FC236}">
                <a16:creationId xmlns:a16="http://schemas.microsoft.com/office/drawing/2014/main" id="{079FF96F-3B10-446A-B18F-24B7CB983A3D}"/>
              </a:ext>
            </a:extLst>
          </p:cNvPr>
          <p:cNvSpPr>
            <a:spLocks noGrp="1"/>
          </p:cNvSpPr>
          <p:nvPr/>
        </p:nvSpPr>
        <p:spPr>
          <a:xfrm>
            <a:off x="12601575" y="7919466"/>
            <a:ext cx="1447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处理与全链路观测。</a:t>
            </a:r>
          </a:p>
        </p:txBody>
      </p:sp>
      <p:sp>
        <p:nvSpPr>
          <p:cNvPr id="57" name="text-36">
            <a:extLst>
              <a:ext uri="{FF2B5EF4-FFF2-40B4-BE49-F238E27FC236}">
                <a16:creationId xmlns:a16="http://schemas.microsoft.com/office/drawing/2014/main" id="{B87CE66B-AAB5-4262-B5C5-A5A874B23EB8}"/>
              </a:ext>
            </a:extLst>
          </p:cNvPr>
          <p:cNvSpPr>
            <a:spLocks noGrp="1"/>
          </p:cNvSpPr>
          <p:nvPr/>
        </p:nvSpPr>
        <p:spPr>
          <a:xfrm>
            <a:off x="4050697" y="9067800"/>
            <a:ext cx="1024385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只有同时满足正确、快速、稳定，异构设备才真正组成一个高质量 Token 服务。</a:t>
            </a:r>
          </a:p>
        </p:txBody>
      </p:sp>
      <p:sp>
        <p:nvSpPr>
          <p:cNvPr id="58" name="text-37">
            <a:extLst>
              <a:ext uri="{FF2B5EF4-FFF2-40B4-BE49-F238E27FC236}">
                <a16:creationId xmlns:a16="http://schemas.microsoft.com/office/drawing/2014/main" id="{5C50874F-67E2-43B6-8B38-EEF3E3C9C7B7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23 / 43</a:t>
            </a:r>
          </a:p>
        </p:txBody>
      </p:sp>
    </p:spTree>
    <p:extLst>
      <p:ext uri="{BB962C8B-B14F-4D97-AF65-F5344CB8AC3E}">
        <p14:creationId xmlns:p14="http://schemas.microsoft.com/office/powerpoint/2010/main" val="1936788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tml-shape-1">
            <a:extLst>
              <a:ext uri="{FF2B5EF4-FFF2-40B4-BE49-F238E27FC236}">
                <a16:creationId xmlns:a16="http://schemas.microsoft.com/office/drawing/2014/main" id="{A4AA741F-B097-4EA6-B199-5520DC112601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3714750" cy="5381625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4B139F"/>
              </a:gs>
              <a:gs pos="100000">
                <a:srgbClr val="642AF0"/>
              </a:gs>
            </a:gsLst>
            <a:lin ang="9300000"/>
          </a:gradFill>
          <a:ln w="0">
            <a:noFill/>
            <a:prstDash val="solid"/>
          </a:ln>
        </p:spPr>
      </p:sp>
      <p:sp>
        <p:nvSpPr>
          <p:cNvPr id="2" name="html-shape-2">
            <a:extLst>
              <a:ext uri="{FF2B5EF4-FFF2-40B4-BE49-F238E27FC236}">
                <a16:creationId xmlns:a16="http://schemas.microsoft.com/office/drawing/2014/main" id="{435F2688-7A63-412C-A878-896A129D8902}"/>
              </a:ext>
            </a:extLst>
          </p:cNvPr>
          <p:cNvSpPr>
            <a:spLocks noGrp="1"/>
          </p:cNvSpPr>
          <p:nvPr/>
        </p:nvSpPr>
        <p:spPr>
          <a:xfrm>
            <a:off x="5381625" y="3143250"/>
            <a:ext cx="11763375" cy="2557463"/>
          </a:xfrm>
          <a:prstGeom prst="roundRect">
            <a:avLst>
              <a:gd name="adj" fmla="val 8939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3" name="html-shape-4">
            <a:extLst>
              <a:ext uri="{FF2B5EF4-FFF2-40B4-BE49-F238E27FC236}">
                <a16:creationId xmlns:a16="http://schemas.microsoft.com/office/drawing/2014/main" id="{FA417AE0-C41B-4E61-AB8A-012E973734F7}"/>
              </a:ext>
            </a:extLst>
          </p:cNvPr>
          <p:cNvSpPr>
            <a:spLocks noGrp="1"/>
          </p:cNvSpPr>
          <p:nvPr/>
        </p:nvSpPr>
        <p:spPr>
          <a:xfrm>
            <a:off x="5819775" y="4145185"/>
            <a:ext cx="4872038" cy="1028700"/>
          </a:xfrm>
          <a:prstGeom prst="roundRect">
            <a:avLst>
              <a:gd name="adj" fmla="val 16667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4" name="html-shape-5">
            <a:extLst>
              <a:ext uri="{FF2B5EF4-FFF2-40B4-BE49-F238E27FC236}">
                <a16:creationId xmlns:a16="http://schemas.microsoft.com/office/drawing/2014/main" id="{0C35EDEB-B3AC-47CF-8602-4A08FB117422}"/>
              </a:ext>
            </a:extLst>
          </p:cNvPr>
          <p:cNvSpPr>
            <a:spLocks noGrp="1"/>
          </p:cNvSpPr>
          <p:nvPr/>
        </p:nvSpPr>
        <p:spPr>
          <a:xfrm>
            <a:off x="11834813" y="4145185"/>
            <a:ext cx="4872038" cy="1028700"/>
          </a:xfrm>
          <a:prstGeom prst="roundRect">
            <a:avLst>
              <a:gd name="adj" fmla="val 16667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5" name="html-shape-6">
            <a:extLst>
              <a:ext uri="{FF2B5EF4-FFF2-40B4-BE49-F238E27FC236}">
                <a16:creationId xmlns:a16="http://schemas.microsoft.com/office/drawing/2014/main" id="{96C34730-014C-4FC4-B073-916FF87761B4}"/>
              </a:ext>
            </a:extLst>
          </p:cNvPr>
          <p:cNvSpPr>
            <a:spLocks noGrp="1"/>
          </p:cNvSpPr>
          <p:nvPr/>
        </p:nvSpPr>
        <p:spPr>
          <a:xfrm>
            <a:off x="5381625" y="5967413"/>
            <a:ext cx="11763375" cy="2557463"/>
          </a:xfrm>
          <a:prstGeom prst="roundRect">
            <a:avLst>
              <a:gd name="adj" fmla="val 8939"/>
            </a:avLst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6" name="html-shape-8">
            <a:extLst>
              <a:ext uri="{FF2B5EF4-FFF2-40B4-BE49-F238E27FC236}">
                <a16:creationId xmlns:a16="http://schemas.microsoft.com/office/drawing/2014/main" id="{92B7FD01-3BEE-461B-82FA-E16686CBDCC5}"/>
              </a:ext>
            </a:extLst>
          </p:cNvPr>
          <p:cNvSpPr>
            <a:spLocks noGrp="1"/>
          </p:cNvSpPr>
          <p:nvPr/>
        </p:nvSpPr>
        <p:spPr>
          <a:xfrm>
            <a:off x="5819775" y="6969347"/>
            <a:ext cx="4872038" cy="1028700"/>
          </a:xfrm>
          <a:prstGeom prst="roundRect">
            <a:avLst>
              <a:gd name="adj" fmla="val 16667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7" name="html-shape-9">
            <a:extLst>
              <a:ext uri="{FF2B5EF4-FFF2-40B4-BE49-F238E27FC236}">
                <a16:creationId xmlns:a16="http://schemas.microsoft.com/office/drawing/2014/main" id="{397B2D3A-C36F-4CED-A742-1E9CC011E65C}"/>
              </a:ext>
            </a:extLst>
          </p:cNvPr>
          <p:cNvSpPr>
            <a:spLocks noGrp="1"/>
          </p:cNvSpPr>
          <p:nvPr/>
        </p:nvSpPr>
        <p:spPr>
          <a:xfrm>
            <a:off x="11834813" y="6969347"/>
            <a:ext cx="4872038" cy="1028700"/>
          </a:xfrm>
          <a:prstGeom prst="roundRect">
            <a:avLst>
              <a:gd name="adj" fmla="val 16667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8" name="html-shape-10">
            <a:extLst>
              <a:ext uri="{FF2B5EF4-FFF2-40B4-BE49-F238E27FC236}">
                <a16:creationId xmlns:a16="http://schemas.microsoft.com/office/drawing/2014/main" id="{72D36FEF-7CD4-40B4-999E-BE01BF74FC67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9" name="html-shape-3">
            <a:extLst>
              <a:ext uri="{FF2B5EF4-FFF2-40B4-BE49-F238E27FC236}">
                <a16:creationId xmlns:a16="http://schemas.microsoft.com/office/drawing/2014/main" id="{3140AC61-24DB-4CF1-9363-30D6E811A48D}"/>
              </a:ext>
            </a:extLst>
          </p:cNvPr>
          <p:cNvSpPr>
            <a:spLocks noGrp="1"/>
          </p:cNvSpPr>
          <p:nvPr/>
        </p:nvSpPr>
        <p:spPr>
          <a:xfrm>
            <a:off x="16030575" y="3438525"/>
            <a:ext cx="771525" cy="295275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10" name="html-shape-7">
            <a:extLst>
              <a:ext uri="{FF2B5EF4-FFF2-40B4-BE49-F238E27FC236}">
                <a16:creationId xmlns:a16="http://schemas.microsoft.com/office/drawing/2014/main" id="{C7D3DDBD-213D-4DF1-AC49-EC1FE79E7599}"/>
              </a:ext>
            </a:extLst>
          </p:cNvPr>
          <p:cNvSpPr>
            <a:spLocks noGrp="1"/>
          </p:cNvSpPr>
          <p:nvPr/>
        </p:nvSpPr>
        <p:spPr>
          <a:xfrm>
            <a:off x="16030575" y="6262688"/>
            <a:ext cx="771525" cy="295275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08BAF21-6B37-4DE2-955E-85C0256AE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64DBFD3-4687-46C8-A7B7-ADCBA65BE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3" name="text-1">
            <a:extLst>
              <a:ext uri="{FF2B5EF4-FFF2-40B4-BE49-F238E27FC236}">
                <a16:creationId xmlns:a16="http://schemas.microsoft.com/office/drawing/2014/main" id="{F69FA88F-DE67-4035-9F46-6666EC893CA5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4" name="text-2">
            <a:extLst>
              <a:ext uri="{FF2B5EF4-FFF2-40B4-BE49-F238E27FC236}">
                <a16:creationId xmlns:a16="http://schemas.microsoft.com/office/drawing/2014/main" id="{92430032-E459-4D78-95FD-19BDDD5B3A67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333536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第四章 · 我们在异构 PD 上的贡献</a:t>
            </a:r>
          </a:p>
        </p:txBody>
      </p:sp>
      <p:sp>
        <p:nvSpPr>
          <p:cNvPr id="15" name="text-3">
            <a:extLst>
              <a:ext uri="{FF2B5EF4-FFF2-40B4-BE49-F238E27FC236}">
                <a16:creationId xmlns:a16="http://schemas.microsoft.com/office/drawing/2014/main" id="{1BCDBE31-66BE-4656-86C4-EABE9F51B5E2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0463403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99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我们已将异构 PD 投入千卡级商业生产</a:t>
            </a:r>
          </a:p>
        </p:txBody>
      </p:sp>
      <p:sp>
        <p:nvSpPr>
          <p:cNvPr id="16" name="text-4">
            <a:extLst>
              <a:ext uri="{FF2B5EF4-FFF2-40B4-BE49-F238E27FC236}">
                <a16:creationId xmlns:a16="http://schemas.microsoft.com/office/drawing/2014/main" id="{ACE857C4-F997-4D83-BACA-7B1D899244BD}"/>
              </a:ext>
            </a:extLst>
          </p:cNvPr>
          <p:cNvSpPr>
            <a:spLocks noGrp="1"/>
          </p:cNvSpPr>
          <p:nvPr/>
        </p:nvSpPr>
        <p:spPr>
          <a:xfrm>
            <a:off x="776288" y="2210086"/>
            <a:ext cx="849572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服务对象：一线大模型厂商 ｜ 交付目标：高质量 Token 服务</a:t>
            </a:r>
          </a:p>
        </p:txBody>
      </p:sp>
      <p:sp>
        <p:nvSpPr>
          <p:cNvPr id="17" name="text-5">
            <a:extLst>
              <a:ext uri="{FF2B5EF4-FFF2-40B4-BE49-F238E27FC236}">
                <a16:creationId xmlns:a16="http://schemas.microsoft.com/office/drawing/2014/main" id="{38F31D1C-F83A-4CE1-A537-B33DEF530047}"/>
              </a:ext>
            </a:extLst>
          </p:cNvPr>
          <p:cNvSpPr>
            <a:spLocks noGrp="1"/>
          </p:cNvSpPr>
          <p:nvPr/>
        </p:nvSpPr>
        <p:spPr>
          <a:xfrm>
            <a:off x="1647825" y="4797362"/>
            <a:ext cx="2080927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spc="9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spc="9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spc="9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INDUSTRIAL SCALE</a:t>
            </a:r>
          </a:p>
        </p:txBody>
      </p:sp>
      <p:sp>
        <p:nvSpPr>
          <p:cNvPr id="18" name="text-6">
            <a:extLst>
              <a:ext uri="{FF2B5EF4-FFF2-40B4-BE49-F238E27FC236}">
                <a16:creationId xmlns:a16="http://schemas.microsoft.com/office/drawing/2014/main" id="{BFDFF9B7-96E6-4784-B0CE-9B9B663B3811}"/>
              </a:ext>
            </a:extLst>
          </p:cNvPr>
          <p:cNvSpPr>
            <a:spLocks noGrp="1"/>
          </p:cNvSpPr>
          <p:nvPr/>
        </p:nvSpPr>
        <p:spPr>
          <a:xfrm>
            <a:off x="1647825" y="5311712"/>
            <a:ext cx="224790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57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7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70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千卡级</a:t>
            </a:r>
          </a:p>
        </p:txBody>
      </p:sp>
      <p:sp>
        <p:nvSpPr>
          <p:cNvPr id="19" name="text-7">
            <a:extLst>
              <a:ext uri="{FF2B5EF4-FFF2-40B4-BE49-F238E27FC236}">
                <a16:creationId xmlns:a16="http://schemas.microsoft.com/office/drawing/2014/main" id="{7BF8AF94-6E26-43ED-B6B0-900523822C0F}"/>
              </a:ext>
            </a:extLst>
          </p:cNvPr>
          <p:cNvSpPr>
            <a:spLocks noGrp="1"/>
          </p:cNvSpPr>
          <p:nvPr/>
        </p:nvSpPr>
        <p:spPr>
          <a:xfrm>
            <a:off x="1647825" y="6508528"/>
            <a:ext cx="15621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商业生产规模</a:t>
            </a:r>
          </a:p>
        </p:txBody>
      </p:sp>
      <p:sp>
        <p:nvSpPr>
          <p:cNvPr id="20" name="text-8">
            <a:extLst>
              <a:ext uri="{FF2B5EF4-FFF2-40B4-BE49-F238E27FC236}">
                <a16:creationId xmlns:a16="http://schemas.microsoft.com/office/drawing/2014/main" id="{BB352817-65C6-4DFC-A38A-67C57A6FAE1A}"/>
              </a:ext>
            </a:extLst>
          </p:cNvPr>
          <p:cNvSpPr>
            <a:spLocks noGrp="1"/>
          </p:cNvSpPr>
          <p:nvPr/>
        </p:nvSpPr>
        <p:spPr>
          <a:xfrm>
            <a:off x="5810250" y="3476625"/>
            <a:ext cx="4993672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工业实践一 · 高算力设备 A — 高带宽设备 A</a:t>
            </a:r>
          </a:p>
        </p:txBody>
      </p:sp>
      <p:sp>
        <p:nvSpPr>
          <p:cNvPr id="21" name="text-9">
            <a:extLst>
              <a:ext uri="{FF2B5EF4-FFF2-40B4-BE49-F238E27FC236}">
                <a16:creationId xmlns:a16="http://schemas.microsoft.com/office/drawing/2014/main" id="{E0CDCFD1-EAD2-40E2-B526-433121692BBA}"/>
              </a:ext>
            </a:extLst>
          </p:cNvPr>
          <p:cNvSpPr>
            <a:spLocks noGrp="1"/>
          </p:cNvSpPr>
          <p:nvPr/>
        </p:nvSpPr>
        <p:spPr>
          <a:xfrm>
            <a:off x="16163925" y="3467100"/>
            <a:ext cx="561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已上线</a:t>
            </a:r>
          </a:p>
        </p:txBody>
      </p:sp>
      <p:sp>
        <p:nvSpPr>
          <p:cNvPr id="22" name="text-10">
            <a:extLst>
              <a:ext uri="{FF2B5EF4-FFF2-40B4-BE49-F238E27FC236}">
                <a16:creationId xmlns:a16="http://schemas.microsoft.com/office/drawing/2014/main" id="{D41838CB-F2B1-4892-AA8D-AB2E8A996805}"/>
              </a:ext>
            </a:extLst>
          </p:cNvPr>
          <p:cNvSpPr>
            <a:spLocks noGrp="1"/>
          </p:cNvSpPr>
          <p:nvPr/>
        </p:nvSpPr>
        <p:spPr>
          <a:xfrm>
            <a:off x="6096000" y="4283297"/>
            <a:ext cx="1736979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高算力设备 A</a:t>
            </a:r>
          </a:p>
        </p:txBody>
      </p:sp>
      <p:sp>
        <p:nvSpPr>
          <p:cNvPr id="23" name="text-11">
            <a:extLst>
              <a:ext uri="{FF2B5EF4-FFF2-40B4-BE49-F238E27FC236}">
                <a16:creationId xmlns:a16="http://schemas.microsoft.com/office/drawing/2014/main" id="{B0B53908-A536-44D1-A741-344010C55C8A}"/>
              </a:ext>
            </a:extLst>
          </p:cNvPr>
          <p:cNvSpPr>
            <a:spLocks noGrp="1"/>
          </p:cNvSpPr>
          <p:nvPr/>
        </p:nvSpPr>
        <p:spPr>
          <a:xfrm>
            <a:off x="6096000" y="4788122"/>
            <a:ext cx="55406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24" name="text-12">
            <a:extLst>
              <a:ext uri="{FF2B5EF4-FFF2-40B4-BE49-F238E27FC236}">
                <a16:creationId xmlns:a16="http://schemas.microsoft.com/office/drawing/2014/main" id="{3D640548-25C2-44BC-8EDC-C2ABC332D48B}"/>
              </a:ext>
            </a:extLst>
          </p:cNvPr>
          <p:cNvSpPr>
            <a:spLocks noGrp="1"/>
          </p:cNvSpPr>
          <p:nvPr/>
        </p:nvSpPr>
        <p:spPr>
          <a:xfrm>
            <a:off x="11006138" y="4311872"/>
            <a:ext cx="5715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90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90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90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5" name="text-13">
            <a:extLst>
              <a:ext uri="{FF2B5EF4-FFF2-40B4-BE49-F238E27FC236}">
                <a16:creationId xmlns:a16="http://schemas.microsoft.com/office/drawing/2014/main" id="{52CD9BF7-49C2-4605-993A-150482CED717}"/>
              </a:ext>
            </a:extLst>
          </p:cNvPr>
          <p:cNvSpPr>
            <a:spLocks noGrp="1"/>
          </p:cNvSpPr>
          <p:nvPr/>
        </p:nvSpPr>
        <p:spPr>
          <a:xfrm>
            <a:off x="12111038" y="4283297"/>
            <a:ext cx="1736979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高带宽设备 A</a:t>
            </a:r>
          </a:p>
        </p:txBody>
      </p:sp>
      <p:sp>
        <p:nvSpPr>
          <p:cNvPr id="26" name="text-14">
            <a:extLst>
              <a:ext uri="{FF2B5EF4-FFF2-40B4-BE49-F238E27FC236}">
                <a16:creationId xmlns:a16="http://schemas.microsoft.com/office/drawing/2014/main" id="{C34D811C-B245-4991-BB59-0861B1CAB74C}"/>
              </a:ext>
            </a:extLst>
          </p:cNvPr>
          <p:cNvSpPr>
            <a:spLocks noGrp="1"/>
          </p:cNvSpPr>
          <p:nvPr/>
        </p:nvSpPr>
        <p:spPr>
          <a:xfrm>
            <a:off x="12111038" y="4788122"/>
            <a:ext cx="71599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27" name="text-15">
            <a:extLst>
              <a:ext uri="{FF2B5EF4-FFF2-40B4-BE49-F238E27FC236}">
                <a16:creationId xmlns:a16="http://schemas.microsoft.com/office/drawing/2014/main" id="{4E0207C9-7326-4887-AA00-C9F0CAE0843E}"/>
              </a:ext>
            </a:extLst>
          </p:cNvPr>
          <p:cNvSpPr>
            <a:spLocks noGrp="1"/>
          </p:cNvSpPr>
          <p:nvPr/>
        </p:nvSpPr>
        <p:spPr>
          <a:xfrm>
            <a:off x="5810250" y="6300788"/>
            <a:ext cx="4996339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工业实践二 · 高算力设备 B — 高带宽设备 A</a:t>
            </a:r>
          </a:p>
        </p:txBody>
      </p:sp>
      <p:sp>
        <p:nvSpPr>
          <p:cNvPr id="28" name="text-16">
            <a:extLst>
              <a:ext uri="{FF2B5EF4-FFF2-40B4-BE49-F238E27FC236}">
                <a16:creationId xmlns:a16="http://schemas.microsoft.com/office/drawing/2014/main" id="{16883CD4-DDFC-46E3-884D-3375268A398A}"/>
              </a:ext>
            </a:extLst>
          </p:cNvPr>
          <p:cNvSpPr>
            <a:spLocks noGrp="1"/>
          </p:cNvSpPr>
          <p:nvPr/>
        </p:nvSpPr>
        <p:spPr>
          <a:xfrm>
            <a:off x="16163925" y="6291263"/>
            <a:ext cx="561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已上线</a:t>
            </a:r>
          </a:p>
        </p:txBody>
      </p:sp>
      <p:sp>
        <p:nvSpPr>
          <p:cNvPr id="29" name="text-17">
            <a:extLst>
              <a:ext uri="{FF2B5EF4-FFF2-40B4-BE49-F238E27FC236}">
                <a16:creationId xmlns:a16="http://schemas.microsoft.com/office/drawing/2014/main" id="{3B7C6A41-11DA-495F-901D-FC870D6A751C}"/>
              </a:ext>
            </a:extLst>
          </p:cNvPr>
          <p:cNvSpPr>
            <a:spLocks noGrp="1"/>
          </p:cNvSpPr>
          <p:nvPr/>
        </p:nvSpPr>
        <p:spPr>
          <a:xfrm>
            <a:off x="6096000" y="7107460"/>
            <a:ext cx="1739932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高算力设备 B</a:t>
            </a:r>
          </a:p>
        </p:txBody>
      </p:sp>
      <p:sp>
        <p:nvSpPr>
          <p:cNvPr id="30" name="text-18">
            <a:extLst>
              <a:ext uri="{FF2B5EF4-FFF2-40B4-BE49-F238E27FC236}">
                <a16:creationId xmlns:a16="http://schemas.microsoft.com/office/drawing/2014/main" id="{EA6CB011-EBCF-4386-8012-5C6686F0A66A}"/>
              </a:ext>
            </a:extLst>
          </p:cNvPr>
          <p:cNvSpPr>
            <a:spLocks noGrp="1"/>
          </p:cNvSpPr>
          <p:nvPr/>
        </p:nvSpPr>
        <p:spPr>
          <a:xfrm>
            <a:off x="6096000" y="7612285"/>
            <a:ext cx="55406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31" name="text-19">
            <a:extLst>
              <a:ext uri="{FF2B5EF4-FFF2-40B4-BE49-F238E27FC236}">
                <a16:creationId xmlns:a16="http://schemas.microsoft.com/office/drawing/2014/main" id="{E273E21F-44DE-41B2-A20B-357B84B8144E}"/>
              </a:ext>
            </a:extLst>
          </p:cNvPr>
          <p:cNvSpPr>
            <a:spLocks noGrp="1"/>
          </p:cNvSpPr>
          <p:nvPr/>
        </p:nvSpPr>
        <p:spPr>
          <a:xfrm>
            <a:off x="11006138" y="7136035"/>
            <a:ext cx="5715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90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90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900" b="0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32" name="text-20">
            <a:extLst>
              <a:ext uri="{FF2B5EF4-FFF2-40B4-BE49-F238E27FC236}">
                <a16:creationId xmlns:a16="http://schemas.microsoft.com/office/drawing/2014/main" id="{DF83A743-9726-4418-961B-00CB4A310A17}"/>
              </a:ext>
            </a:extLst>
          </p:cNvPr>
          <p:cNvSpPr>
            <a:spLocks noGrp="1"/>
          </p:cNvSpPr>
          <p:nvPr/>
        </p:nvSpPr>
        <p:spPr>
          <a:xfrm>
            <a:off x="12111038" y="7107460"/>
            <a:ext cx="1736979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高带宽设备 A</a:t>
            </a:r>
          </a:p>
        </p:txBody>
      </p:sp>
      <p:sp>
        <p:nvSpPr>
          <p:cNvPr id="33" name="text-21">
            <a:extLst>
              <a:ext uri="{FF2B5EF4-FFF2-40B4-BE49-F238E27FC236}">
                <a16:creationId xmlns:a16="http://schemas.microsoft.com/office/drawing/2014/main" id="{7E0A5655-C2DB-4601-AE60-5F800998E783}"/>
              </a:ext>
            </a:extLst>
          </p:cNvPr>
          <p:cNvSpPr>
            <a:spLocks noGrp="1"/>
          </p:cNvSpPr>
          <p:nvPr/>
        </p:nvSpPr>
        <p:spPr>
          <a:xfrm>
            <a:off x="12111038" y="7612285"/>
            <a:ext cx="71599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34" name="text-22">
            <a:extLst>
              <a:ext uri="{FF2B5EF4-FFF2-40B4-BE49-F238E27FC236}">
                <a16:creationId xmlns:a16="http://schemas.microsoft.com/office/drawing/2014/main" id="{B13FA3D7-D46A-4412-BF17-B8836DFB8EAE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3666268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北京趋境科技有限责任公司工业部署材料。</a:t>
            </a:r>
          </a:p>
        </p:txBody>
      </p:sp>
      <p:sp>
        <p:nvSpPr>
          <p:cNvPr id="35" name="text-23">
            <a:extLst>
              <a:ext uri="{FF2B5EF4-FFF2-40B4-BE49-F238E27FC236}">
                <a16:creationId xmlns:a16="http://schemas.microsoft.com/office/drawing/2014/main" id="{16C53DC4-EB69-441E-853B-CA864CE27631}"/>
              </a:ext>
            </a:extLst>
          </p:cNvPr>
          <p:cNvSpPr>
            <a:spLocks noGrp="1"/>
          </p:cNvSpPr>
          <p:nvPr/>
        </p:nvSpPr>
        <p:spPr>
          <a:xfrm>
            <a:off x="3846957" y="9067800"/>
            <a:ext cx="1065133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线上运行验证：高算力设备可承担规模化 Prefill，高带宽设备可集中保障 Decode。</a:t>
            </a:r>
          </a:p>
        </p:txBody>
      </p:sp>
      <p:sp>
        <p:nvSpPr>
          <p:cNvPr id="36" name="text-24">
            <a:extLst>
              <a:ext uri="{FF2B5EF4-FFF2-40B4-BE49-F238E27FC236}">
                <a16:creationId xmlns:a16="http://schemas.microsoft.com/office/drawing/2014/main" id="{A670C5BA-E4DE-44EE-BF29-E9ABB32A867D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24 / 43</a:t>
            </a:r>
          </a:p>
        </p:txBody>
      </p:sp>
    </p:spTree>
    <p:extLst>
      <p:ext uri="{BB962C8B-B14F-4D97-AF65-F5344CB8AC3E}">
        <p14:creationId xmlns:p14="http://schemas.microsoft.com/office/powerpoint/2010/main" val="378124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html-shape-1">
            <a:extLst>
              <a:ext uri="{FF2B5EF4-FFF2-40B4-BE49-F238E27FC236}">
                <a16:creationId xmlns:a16="http://schemas.microsoft.com/office/drawing/2014/main" id="{107E5F2C-0E24-4AAE-8168-5CD9FEB521D0}"/>
              </a:ext>
            </a:extLst>
          </p:cNvPr>
          <p:cNvSpPr>
            <a:spLocks noGrp="1"/>
          </p:cNvSpPr>
          <p:nvPr/>
        </p:nvSpPr>
        <p:spPr>
          <a:xfrm>
            <a:off x="1714500" y="5095875"/>
            <a:ext cx="14859000" cy="2857500"/>
          </a:xfrm>
          <a:prstGeom prst="roundRect">
            <a:avLst>
              <a:gd name="adj" fmla="val 9333"/>
            </a:avLst>
          </a:prstGeom>
          <a:gradFill>
            <a:gsLst>
              <a:gs pos="0">
                <a:srgbClr val="FAFBFE"/>
              </a:gs>
              <a:gs pos="100000">
                <a:srgbClr val="F2F4F8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html-line-1">
            <a:extLst>
              <a:ext uri="{FF2B5EF4-FFF2-40B4-BE49-F238E27FC236}">
                <a16:creationId xmlns:a16="http://schemas.microsoft.com/office/drawing/2014/main" id="{96CD4EED-4904-4451-B376-8808B6D8DF43}"/>
              </a:ext>
            </a:extLst>
          </p:cNvPr>
          <p:cNvSpPr>
            <a:spLocks noGrp="1"/>
          </p:cNvSpPr>
          <p:nvPr/>
        </p:nvSpPr>
        <p:spPr>
          <a:xfrm>
            <a:off x="7467600" y="6796088"/>
            <a:ext cx="4019550" cy="4763"/>
          </a:xfrm>
          <a:prstGeom prst="line">
            <a:avLst/>
          </a:prstGeom>
          <a:noFill/>
          <a:ln w="57150">
            <a:gradFill>
              <a:gsLst>
                <a:gs pos="0">
                  <a:srgbClr val="642AF0"/>
                </a:gs>
                <a:gs pos="100000">
                  <a:srgbClr val="0A9A62"/>
                </a:gs>
              </a:gsLst>
              <a:lin ang="5400000"/>
            </a:gradFill>
            <a:prstDash val="solid"/>
          </a:ln>
        </p:spPr>
      </p:sp>
      <p:sp>
        <p:nvSpPr>
          <p:cNvPr id="3" name="html-line-2">
            <a:extLst>
              <a:ext uri="{FF2B5EF4-FFF2-40B4-BE49-F238E27FC236}">
                <a16:creationId xmlns:a16="http://schemas.microsoft.com/office/drawing/2014/main" id="{AA0C9E00-33EB-4DD9-A2FE-B0845F31C867}"/>
              </a:ext>
            </a:extLst>
          </p:cNvPr>
          <p:cNvSpPr>
            <a:spLocks noGrp="1"/>
          </p:cNvSpPr>
          <p:nvPr/>
        </p:nvSpPr>
        <p:spPr>
          <a:xfrm>
            <a:off x="2057400" y="7748588"/>
            <a:ext cx="14173200" cy="4763"/>
          </a:xfrm>
          <a:prstGeom prst="line">
            <a:avLst/>
          </a:prstGeom>
          <a:noFill/>
          <a:ln w="28575">
            <a:gradFill>
              <a:gsLst>
                <a:gs pos="0">
                  <a:srgbClr val="CDBFFF"/>
                </a:gs>
                <a:gs pos="100000">
                  <a:srgbClr val="B6E3CF"/>
                </a:gs>
              </a:gsLst>
              <a:lin ang="5400000"/>
            </a:gradFill>
            <a:prstDash val="solid"/>
          </a:ln>
        </p:spPr>
      </p:sp>
      <p:sp>
        <p:nvSpPr>
          <p:cNvPr id="4" name="html-shape-2">
            <a:extLst>
              <a:ext uri="{FF2B5EF4-FFF2-40B4-BE49-F238E27FC236}">
                <a16:creationId xmlns:a16="http://schemas.microsoft.com/office/drawing/2014/main" id="{1CD5D600-6558-4823-AE36-9A3AD6F006A0}"/>
              </a:ext>
            </a:extLst>
          </p:cNvPr>
          <p:cNvSpPr>
            <a:spLocks noGrp="1"/>
          </p:cNvSpPr>
          <p:nvPr/>
        </p:nvSpPr>
        <p:spPr>
          <a:xfrm>
            <a:off x="6000750" y="5638800"/>
            <a:ext cx="1009650" cy="361950"/>
          </a:xfrm>
          <a:prstGeom prst="roundRect">
            <a:avLst>
              <a:gd name="adj" fmla="val 23684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5" name="html-shape-3">
            <a:extLst>
              <a:ext uri="{FF2B5EF4-FFF2-40B4-BE49-F238E27FC236}">
                <a16:creationId xmlns:a16="http://schemas.microsoft.com/office/drawing/2014/main" id="{FAC26A0E-C595-4480-8B47-12C1CBC6CCED}"/>
              </a:ext>
            </a:extLst>
          </p:cNvPr>
          <p:cNvSpPr>
            <a:spLocks noGrp="1"/>
          </p:cNvSpPr>
          <p:nvPr/>
        </p:nvSpPr>
        <p:spPr>
          <a:xfrm>
            <a:off x="2057400" y="6334125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CABAFF"/>
            </a:solidFill>
            <a:prstDash val="solid"/>
          </a:ln>
        </p:spPr>
      </p:sp>
      <p:sp>
        <p:nvSpPr>
          <p:cNvPr id="6" name="html-shape-4">
            <a:extLst>
              <a:ext uri="{FF2B5EF4-FFF2-40B4-BE49-F238E27FC236}">
                <a16:creationId xmlns:a16="http://schemas.microsoft.com/office/drawing/2014/main" id="{73C279ED-2B87-40B1-8A91-CB9CBFBDF290}"/>
              </a:ext>
            </a:extLst>
          </p:cNvPr>
          <p:cNvSpPr>
            <a:spLocks noGrp="1"/>
          </p:cNvSpPr>
          <p:nvPr/>
        </p:nvSpPr>
        <p:spPr>
          <a:xfrm>
            <a:off x="2209800" y="65055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7" name="pseudo-5">
            <a:extLst>
              <a:ext uri="{FF2B5EF4-FFF2-40B4-BE49-F238E27FC236}">
                <a16:creationId xmlns:a16="http://schemas.microsoft.com/office/drawing/2014/main" id="{404DD5AE-50B4-4705-9CB1-3FDCFC268E94}"/>
              </a:ext>
            </a:extLst>
          </p:cNvPr>
          <p:cNvSpPr>
            <a:spLocks noGrp="1"/>
          </p:cNvSpPr>
          <p:nvPr/>
        </p:nvSpPr>
        <p:spPr>
          <a:xfrm>
            <a:off x="3048000" y="65627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8" name="html-shape-6">
            <a:extLst>
              <a:ext uri="{FF2B5EF4-FFF2-40B4-BE49-F238E27FC236}">
                <a16:creationId xmlns:a16="http://schemas.microsoft.com/office/drawing/2014/main" id="{3CCB4C30-A51B-466D-83A9-A1C68D3F0B2C}"/>
              </a:ext>
            </a:extLst>
          </p:cNvPr>
          <p:cNvSpPr>
            <a:spLocks noGrp="1"/>
          </p:cNvSpPr>
          <p:nvPr/>
        </p:nvSpPr>
        <p:spPr>
          <a:xfrm>
            <a:off x="2209800" y="67341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9" name="pseudo-7">
            <a:extLst>
              <a:ext uri="{FF2B5EF4-FFF2-40B4-BE49-F238E27FC236}">
                <a16:creationId xmlns:a16="http://schemas.microsoft.com/office/drawing/2014/main" id="{BF72C930-47FD-4485-96F9-18F2385CE0FC}"/>
              </a:ext>
            </a:extLst>
          </p:cNvPr>
          <p:cNvSpPr>
            <a:spLocks noGrp="1"/>
          </p:cNvSpPr>
          <p:nvPr/>
        </p:nvSpPr>
        <p:spPr>
          <a:xfrm>
            <a:off x="3048000" y="67913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10" name="html-shape-8">
            <a:extLst>
              <a:ext uri="{FF2B5EF4-FFF2-40B4-BE49-F238E27FC236}">
                <a16:creationId xmlns:a16="http://schemas.microsoft.com/office/drawing/2014/main" id="{B292C273-8A90-4D42-94A3-4B7094A3A74B}"/>
              </a:ext>
            </a:extLst>
          </p:cNvPr>
          <p:cNvSpPr>
            <a:spLocks noGrp="1"/>
          </p:cNvSpPr>
          <p:nvPr/>
        </p:nvSpPr>
        <p:spPr>
          <a:xfrm>
            <a:off x="2209800" y="69627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1" name="pseudo-9">
            <a:extLst>
              <a:ext uri="{FF2B5EF4-FFF2-40B4-BE49-F238E27FC236}">
                <a16:creationId xmlns:a16="http://schemas.microsoft.com/office/drawing/2014/main" id="{198294B8-04D7-41F7-BFA9-AAACF585000B}"/>
              </a:ext>
            </a:extLst>
          </p:cNvPr>
          <p:cNvSpPr>
            <a:spLocks noGrp="1"/>
          </p:cNvSpPr>
          <p:nvPr/>
        </p:nvSpPr>
        <p:spPr>
          <a:xfrm>
            <a:off x="3048000" y="7019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12" name="html-shape-10">
            <a:extLst>
              <a:ext uri="{FF2B5EF4-FFF2-40B4-BE49-F238E27FC236}">
                <a16:creationId xmlns:a16="http://schemas.microsoft.com/office/drawing/2014/main" id="{BB1DBA65-5008-4B69-8B81-C4168D212732}"/>
              </a:ext>
            </a:extLst>
          </p:cNvPr>
          <p:cNvSpPr>
            <a:spLocks noGrp="1"/>
          </p:cNvSpPr>
          <p:nvPr/>
        </p:nvSpPr>
        <p:spPr>
          <a:xfrm>
            <a:off x="2209800" y="71913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3" name="pseudo-11">
            <a:extLst>
              <a:ext uri="{FF2B5EF4-FFF2-40B4-BE49-F238E27FC236}">
                <a16:creationId xmlns:a16="http://schemas.microsoft.com/office/drawing/2014/main" id="{0A266812-2893-433D-B518-84E3F3318136}"/>
              </a:ext>
            </a:extLst>
          </p:cNvPr>
          <p:cNvSpPr>
            <a:spLocks noGrp="1"/>
          </p:cNvSpPr>
          <p:nvPr/>
        </p:nvSpPr>
        <p:spPr>
          <a:xfrm>
            <a:off x="3048000" y="72485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14" name="html-shape-12">
            <a:extLst>
              <a:ext uri="{FF2B5EF4-FFF2-40B4-BE49-F238E27FC236}">
                <a16:creationId xmlns:a16="http://schemas.microsoft.com/office/drawing/2014/main" id="{0CFC62BA-74DA-46CA-B9B1-5BEA7F3F061D}"/>
              </a:ext>
            </a:extLst>
          </p:cNvPr>
          <p:cNvSpPr>
            <a:spLocks noGrp="1"/>
          </p:cNvSpPr>
          <p:nvPr/>
        </p:nvSpPr>
        <p:spPr>
          <a:xfrm>
            <a:off x="3543300" y="6334125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CABAFF"/>
            </a:solidFill>
            <a:prstDash val="solid"/>
          </a:ln>
        </p:spPr>
      </p:sp>
      <p:sp>
        <p:nvSpPr>
          <p:cNvPr id="15" name="html-shape-13">
            <a:extLst>
              <a:ext uri="{FF2B5EF4-FFF2-40B4-BE49-F238E27FC236}">
                <a16:creationId xmlns:a16="http://schemas.microsoft.com/office/drawing/2014/main" id="{C1B07FCE-212D-4547-9817-853B6646E6E7}"/>
              </a:ext>
            </a:extLst>
          </p:cNvPr>
          <p:cNvSpPr>
            <a:spLocks noGrp="1"/>
          </p:cNvSpPr>
          <p:nvPr/>
        </p:nvSpPr>
        <p:spPr>
          <a:xfrm>
            <a:off x="3695700" y="65055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6" name="pseudo-14">
            <a:extLst>
              <a:ext uri="{FF2B5EF4-FFF2-40B4-BE49-F238E27FC236}">
                <a16:creationId xmlns:a16="http://schemas.microsoft.com/office/drawing/2014/main" id="{FC399E9A-DC6D-494F-89C4-4CA095813DEE}"/>
              </a:ext>
            </a:extLst>
          </p:cNvPr>
          <p:cNvSpPr>
            <a:spLocks noGrp="1"/>
          </p:cNvSpPr>
          <p:nvPr/>
        </p:nvSpPr>
        <p:spPr>
          <a:xfrm>
            <a:off x="4533900" y="65627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17" name="html-shape-15">
            <a:extLst>
              <a:ext uri="{FF2B5EF4-FFF2-40B4-BE49-F238E27FC236}">
                <a16:creationId xmlns:a16="http://schemas.microsoft.com/office/drawing/2014/main" id="{FCAEC629-316C-447D-AA82-B07AB607B697}"/>
              </a:ext>
            </a:extLst>
          </p:cNvPr>
          <p:cNvSpPr>
            <a:spLocks noGrp="1"/>
          </p:cNvSpPr>
          <p:nvPr/>
        </p:nvSpPr>
        <p:spPr>
          <a:xfrm>
            <a:off x="3695700" y="67341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8" name="pseudo-16">
            <a:extLst>
              <a:ext uri="{FF2B5EF4-FFF2-40B4-BE49-F238E27FC236}">
                <a16:creationId xmlns:a16="http://schemas.microsoft.com/office/drawing/2014/main" id="{F0160293-B376-4FBB-AF8E-D118EA1C5FB7}"/>
              </a:ext>
            </a:extLst>
          </p:cNvPr>
          <p:cNvSpPr>
            <a:spLocks noGrp="1"/>
          </p:cNvSpPr>
          <p:nvPr/>
        </p:nvSpPr>
        <p:spPr>
          <a:xfrm>
            <a:off x="4533900" y="67913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19" name="html-shape-17">
            <a:extLst>
              <a:ext uri="{FF2B5EF4-FFF2-40B4-BE49-F238E27FC236}">
                <a16:creationId xmlns:a16="http://schemas.microsoft.com/office/drawing/2014/main" id="{49E47684-A93F-4F45-AF72-AD50F6A0DFB6}"/>
              </a:ext>
            </a:extLst>
          </p:cNvPr>
          <p:cNvSpPr>
            <a:spLocks noGrp="1"/>
          </p:cNvSpPr>
          <p:nvPr/>
        </p:nvSpPr>
        <p:spPr>
          <a:xfrm>
            <a:off x="3695700" y="69627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0" name="pseudo-18">
            <a:extLst>
              <a:ext uri="{FF2B5EF4-FFF2-40B4-BE49-F238E27FC236}">
                <a16:creationId xmlns:a16="http://schemas.microsoft.com/office/drawing/2014/main" id="{F517D89E-6F10-41A8-80D5-44D2C8179235}"/>
              </a:ext>
            </a:extLst>
          </p:cNvPr>
          <p:cNvSpPr>
            <a:spLocks noGrp="1"/>
          </p:cNvSpPr>
          <p:nvPr/>
        </p:nvSpPr>
        <p:spPr>
          <a:xfrm>
            <a:off x="4533900" y="7019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21" name="html-shape-19">
            <a:extLst>
              <a:ext uri="{FF2B5EF4-FFF2-40B4-BE49-F238E27FC236}">
                <a16:creationId xmlns:a16="http://schemas.microsoft.com/office/drawing/2014/main" id="{BB40CECF-96F5-46F1-9FA9-9BCD5A9D62A2}"/>
              </a:ext>
            </a:extLst>
          </p:cNvPr>
          <p:cNvSpPr>
            <a:spLocks noGrp="1"/>
          </p:cNvSpPr>
          <p:nvPr/>
        </p:nvSpPr>
        <p:spPr>
          <a:xfrm>
            <a:off x="3695700" y="71913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2" name="pseudo-20">
            <a:extLst>
              <a:ext uri="{FF2B5EF4-FFF2-40B4-BE49-F238E27FC236}">
                <a16:creationId xmlns:a16="http://schemas.microsoft.com/office/drawing/2014/main" id="{0BA3CF9E-2992-45AC-B5B7-88513FA6AB72}"/>
              </a:ext>
            </a:extLst>
          </p:cNvPr>
          <p:cNvSpPr>
            <a:spLocks noGrp="1"/>
          </p:cNvSpPr>
          <p:nvPr/>
        </p:nvSpPr>
        <p:spPr>
          <a:xfrm>
            <a:off x="4533900" y="72485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23" name="html-shape-21">
            <a:extLst>
              <a:ext uri="{FF2B5EF4-FFF2-40B4-BE49-F238E27FC236}">
                <a16:creationId xmlns:a16="http://schemas.microsoft.com/office/drawing/2014/main" id="{6C8D7700-3A85-43D8-B6C1-DD5392D52669}"/>
              </a:ext>
            </a:extLst>
          </p:cNvPr>
          <p:cNvSpPr>
            <a:spLocks noGrp="1"/>
          </p:cNvSpPr>
          <p:nvPr/>
        </p:nvSpPr>
        <p:spPr>
          <a:xfrm>
            <a:off x="5029200" y="6334125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CABAFF"/>
            </a:solidFill>
            <a:prstDash val="solid"/>
          </a:ln>
        </p:spPr>
      </p:sp>
      <p:sp>
        <p:nvSpPr>
          <p:cNvPr id="24" name="html-shape-22">
            <a:extLst>
              <a:ext uri="{FF2B5EF4-FFF2-40B4-BE49-F238E27FC236}">
                <a16:creationId xmlns:a16="http://schemas.microsoft.com/office/drawing/2014/main" id="{8A67315F-C27D-4007-929B-F6A9628F817A}"/>
              </a:ext>
            </a:extLst>
          </p:cNvPr>
          <p:cNvSpPr>
            <a:spLocks noGrp="1"/>
          </p:cNvSpPr>
          <p:nvPr/>
        </p:nvSpPr>
        <p:spPr>
          <a:xfrm>
            <a:off x="5181600" y="65055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5" name="pseudo-23">
            <a:extLst>
              <a:ext uri="{FF2B5EF4-FFF2-40B4-BE49-F238E27FC236}">
                <a16:creationId xmlns:a16="http://schemas.microsoft.com/office/drawing/2014/main" id="{0636DF0E-59D5-483C-8180-F2B7E92D297D}"/>
              </a:ext>
            </a:extLst>
          </p:cNvPr>
          <p:cNvSpPr>
            <a:spLocks noGrp="1"/>
          </p:cNvSpPr>
          <p:nvPr/>
        </p:nvSpPr>
        <p:spPr>
          <a:xfrm>
            <a:off x="6019800" y="65627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26" name="html-shape-24">
            <a:extLst>
              <a:ext uri="{FF2B5EF4-FFF2-40B4-BE49-F238E27FC236}">
                <a16:creationId xmlns:a16="http://schemas.microsoft.com/office/drawing/2014/main" id="{DFBCDECD-16B8-4DA4-B85E-7A34DCA2D3C1}"/>
              </a:ext>
            </a:extLst>
          </p:cNvPr>
          <p:cNvSpPr>
            <a:spLocks noGrp="1"/>
          </p:cNvSpPr>
          <p:nvPr/>
        </p:nvSpPr>
        <p:spPr>
          <a:xfrm>
            <a:off x="5181600" y="67341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7" name="pseudo-25">
            <a:extLst>
              <a:ext uri="{FF2B5EF4-FFF2-40B4-BE49-F238E27FC236}">
                <a16:creationId xmlns:a16="http://schemas.microsoft.com/office/drawing/2014/main" id="{1A0A3D64-4FF4-4D0A-92DB-16318E5E1048}"/>
              </a:ext>
            </a:extLst>
          </p:cNvPr>
          <p:cNvSpPr>
            <a:spLocks noGrp="1"/>
          </p:cNvSpPr>
          <p:nvPr/>
        </p:nvSpPr>
        <p:spPr>
          <a:xfrm>
            <a:off x="6019800" y="67913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28" name="html-shape-26">
            <a:extLst>
              <a:ext uri="{FF2B5EF4-FFF2-40B4-BE49-F238E27FC236}">
                <a16:creationId xmlns:a16="http://schemas.microsoft.com/office/drawing/2014/main" id="{894025D8-D85E-4476-8085-DA8858E1E809}"/>
              </a:ext>
            </a:extLst>
          </p:cNvPr>
          <p:cNvSpPr>
            <a:spLocks noGrp="1"/>
          </p:cNvSpPr>
          <p:nvPr/>
        </p:nvSpPr>
        <p:spPr>
          <a:xfrm>
            <a:off x="5181600" y="69627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9" name="pseudo-27">
            <a:extLst>
              <a:ext uri="{FF2B5EF4-FFF2-40B4-BE49-F238E27FC236}">
                <a16:creationId xmlns:a16="http://schemas.microsoft.com/office/drawing/2014/main" id="{F2D27BB4-5D3E-48B7-B7E5-8CFB490A3E52}"/>
              </a:ext>
            </a:extLst>
          </p:cNvPr>
          <p:cNvSpPr>
            <a:spLocks noGrp="1"/>
          </p:cNvSpPr>
          <p:nvPr/>
        </p:nvSpPr>
        <p:spPr>
          <a:xfrm>
            <a:off x="6019800" y="7019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30" name="html-shape-28">
            <a:extLst>
              <a:ext uri="{FF2B5EF4-FFF2-40B4-BE49-F238E27FC236}">
                <a16:creationId xmlns:a16="http://schemas.microsoft.com/office/drawing/2014/main" id="{6C43B26D-2F82-4B78-A86B-F1E12BB25F7B}"/>
              </a:ext>
            </a:extLst>
          </p:cNvPr>
          <p:cNvSpPr>
            <a:spLocks noGrp="1"/>
          </p:cNvSpPr>
          <p:nvPr/>
        </p:nvSpPr>
        <p:spPr>
          <a:xfrm>
            <a:off x="5181600" y="71913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1" name="pseudo-29">
            <a:extLst>
              <a:ext uri="{FF2B5EF4-FFF2-40B4-BE49-F238E27FC236}">
                <a16:creationId xmlns:a16="http://schemas.microsoft.com/office/drawing/2014/main" id="{06020C11-DBFA-4CA3-B2FF-A1EE42AC9516}"/>
              </a:ext>
            </a:extLst>
          </p:cNvPr>
          <p:cNvSpPr>
            <a:spLocks noGrp="1"/>
          </p:cNvSpPr>
          <p:nvPr/>
        </p:nvSpPr>
        <p:spPr>
          <a:xfrm>
            <a:off x="6019800" y="72485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32" name="pseudo-arrow-30">
            <a:extLst>
              <a:ext uri="{FF2B5EF4-FFF2-40B4-BE49-F238E27FC236}">
                <a16:creationId xmlns:a16="http://schemas.microsoft.com/office/drawing/2014/main" id="{8DFDFFB4-8BE0-479A-B422-AE40BE59F692}"/>
              </a:ext>
            </a:extLst>
          </p:cNvPr>
          <p:cNvSpPr>
            <a:spLocks noGrp="1"/>
          </p:cNvSpPr>
          <p:nvPr/>
        </p:nvSpPr>
        <p:spPr>
          <a:xfrm rot="5400000">
            <a:off x="11344275" y="6691313"/>
            <a:ext cx="171450" cy="209550"/>
          </a:xfrm>
          <a:prstGeom prst="triangle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3" name="html-shape-31">
            <a:extLst>
              <a:ext uri="{FF2B5EF4-FFF2-40B4-BE49-F238E27FC236}">
                <a16:creationId xmlns:a16="http://schemas.microsoft.com/office/drawing/2014/main" id="{BBC39256-FF41-4F65-B384-D76E151D7BEE}"/>
              </a:ext>
            </a:extLst>
          </p:cNvPr>
          <p:cNvSpPr>
            <a:spLocks noGrp="1"/>
          </p:cNvSpPr>
          <p:nvPr/>
        </p:nvSpPr>
        <p:spPr>
          <a:xfrm>
            <a:off x="8191024" y="6672263"/>
            <a:ext cx="285750" cy="238125"/>
          </a:xfrm>
          <a:prstGeom prst="roundRect">
            <a:avLst>
              <a:gd name="adj" fmla="val 28000"/>
            </a:avLst>
          </a:prstGeom>
          <a:solidFill>
            <a:srgbClr val="642A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4" name="html-shape-32">
            <a:extLst>
              <a:ext uri="{FF2B5EF4-FFF2-40B4-BE49-F238E27FC236}">
                <a16:creationId xmlns:a16="http://schemas.microsoft.com/office/drawing/2014/main" id="{2B156505-0AB3-4B18-BF50-FDC7C80B7BE6}"/>
              </a:ext>
            </a:extLst>
          </p:cNvPr>
          <p:cNvSpPr>
            <a:spLocks noGrp="1"/>
          </p:cNvSpPr>
          <p:nvPr/>
        </p:nvSpPr>
        <p:spPr>
          <a:xfrm>
            <a:off x="9396889" y="6672263"/>
            <a:ext cx="285750" cy="238125"/>
          </a:xfrm>
          <a:prstGeom prst="roundRect">
            <a:avLst>
              <a:gd name="adj" fmla="val 28000"/>
            </a:avLst>
          </a:prstGeom>
          <a:solidFill>
            <a:srgbClr val="5B72B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5" name="html-shape-33">
            <a:extLst>
              <a:ext uri="{FF2B5EF4-FFF2-40B4-BE49-F238E27FC236}">
                <a16:creationId xmlns:a16="http://schemas.microsoft.com/office/drawing/2014/main" id="{6FBD2E6D-5F8D-4F45-BD86-8C6A7D3C7D88}"/>
              </a:ext>
            </a:extLst>
          </p:cNvPr>
          <p:cNvSpPr>
            <a:spLocks noGrp="1"/>
          </p:cNvSpPr>
          <p:nvPr/>
        </p:nvSpPr>
        <p:spPr>
          <a:xfrm>
            <a:off x="10522458" y="6672263"/>
            <a:ext cx="285750" cy="238125"/>
          </a:xfrm>
          <a:prstGeom prst="roundRect">
            <a:avLst>
              <a:gd name="adj" fmla="val 28000"/>
            </a:avLst>
          </a:prstGeom>
          <a:solidFill>
            <a:srgbClr val="0A9A6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6" name="html-shape-34">
            <a:extLst>
              <a:ext uri="{FF2B5EF4-FFF2-40B4-BE49-F238E27FC236}">
                <a16:creationId xmlns:a16="http://schemas.microsoft.com/office/drawing/2014/main" id="{5F30C3E4-9271-48CA-A943-45A606743ABB}"/>
              </a:ext>
            </a:extLst>
          </p:cNvPr>
          <p:cNvSpPr>
            <a:spLocks noGrp="1"/>
          </p:cNvSpPr>
          <p:nvPr/>
        </p:nvSpPr>
        <p:spPr>
          <a:xfrm>
            <a:off x="15220950" y="5638800"/>
            <a:ext cx="1009650" cy="361950"/>
          </a:xfrm>
          <a:prstGeom prst="roundRect">
            <a:avLst>
              <a:gd name="adj" fmla="val 23684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37" name="html-shape-35">
            <a:extLst>
              <a:ext uri="{FF2B5EF4-FFF2-40B4-BE49-F238E27FC236}">
                <a16:creationId xmlns:a16="http://schemas.microsoft.com/office/drawing/2014/main" id="{640F5DBA-E920-4451-9748-8ECFA752BA42}"/>
              </a:ext>
            </a:extLst>
          </p:cNvPr>
          <p:cNvSpPr>
            <a:spLocks noGrp="1"/>
          </p:cNvSpPr>
          <p:nvPr/>
        </p:nvSpPr>
        <p:spPr>
          <a:xfrm>
            <a:off x="11972925" y="6334125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A9DFCA"/>
            </a:solidFill>
            <a:prstDash val="solid"/>
          </a:ln>
        </p:spPr>
      </p:sp>
      <p:sp>
        <p:nvSpPr>
          <p:cNvPr id="38" name="html-shape-36">
            <a:extLst>
              <a:ext uri="{FF2B5EF4-FFF2-40B4-BE49-F238E27FC236}">
                <a16:creationId xmlns:a16="http://schemas.microsoft.com/office/drawing/2014/main" id="{6FAEC771-B7EE-4B8B-AAFB-B5B4472E3B28}"/>
              </a:ext>
            </a:extLst>
          </p:cNvPr>
          <p:cNvSpPr>
            <a:spLocks noGrp="1"/>
          </p:cNvSpPr>
          <p:nvPr/>
        </p:nvSpPr>
        <p:spPr>
          <a:xfrm>
            <a:off x="12125325" y="65055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9" name="pseudo-37">
            <a:extLst>
              <a:ext uri="{FF2B5EF4-FFF2-40B4-BE49-F238E27FC236}">
                <a16:creationId xmlns:a16="http://schemas.microsoft.com/office/drawing/2014/main" id="{A30C0B68-D47B-4CD1-9777-7F41FB92757D}"/>
              </a:ext>
            </a:extLst>
          </p:cNvPr>
          <p:cNvSpPr>
            <a:spLocks noGrp="1"/>
          </p:cNvSpPr>
          <p:nvPr/>
        </p:nvSpPr>
        <p:spPr>
          <a:xfrm>
            <a:off x="12963525" y="65627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40" name="html-shape-38">
            <a:extLst>
              <a:ext uri="{FF2B5EF4-FFF2-40B4-BE49-F238E27FC236}">
                <a16:creationId xmlns:a16="http://schemas.microsoft.com/office/drawing/2014/main" id="{CADE32D8-FDEC-48CE-9ECA-C13C314A4419}"/>
              </a:ext>
            </a:extLst>
          </p:cNvPr>
          <p:cNvSpPr>
            <a:spLocks noGrp="1"/>
          </p:cNvSpPr>
          <p:nvPr/>
        </p:nvSpPr>
        <p:spPr>
          <a:xfrm>
            <a:off x="12125325" y="67341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1" name="pseudo-39">
            <a:extLst>
              <a:ext uri="{FF2B5EF4-FFF2-40B4-BE49-F238E27FC236}">
                <a16:creationId xmlns:a16="http://schemas.microsoft.com/office/drawing/2014/main" id="{03B64520-ED81-4463-854B-D065AE5F76F8}"/>
              </a:ext>
            </a:extLst>
          </p:cNvPr>
          <p:cNvSpPr>
            <a:spLocks noGrp="1"/>
          </p:cNvSpPr>
          <p:nvPr/>
        </p:nvSpPr>
        <p:spPr>
          <a:xfrm>
            <a:off x="12963525" y="67913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42" name="html-shape-40">
            <a:extLst>
              <a:ext uri="{FF2B5EF4-FFF2-40B4-BE49-F238E27FC236}">
                <a16:creationId xmlns:a16="http://schemas.microsoft.com/office/drawing/2014/main" id="{42045016-CBB7-43C1-97C4-13CF1B468B7D}"/>
              </a:ext>
            </a:extLst>
          </p:cNvPr>
          <p:cNvSpPr>
            <a:spLocks noGrp="1"/>
          </p:cNvSpPr>
          <p:nvPr/>
        </p:nvSpPr>
        <p:spPr>
          <a:xfrm>
            <a:off x="12125325" y="69627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3" name="pseudo-41">
            <a:extLst>
              <a:ext uri="{FF2B5EF4-FFF2-40B4-BE49-F238E27FC236}">
                <a16:creationId xmlns:a16="http://schemas.microsoft.com/office/drawing/2014/main" id="{CCDA94B4-C1A7-4D48-A89D-3755137ADAD2}"/>
              </a:ext>
            </a:extLst>
          </p:cNvPr>
          <p:cNvSpPr>
            <a:spLocks noGrp="1"/>
          </p:cNvSpPr>
          <p:nvPr/>
        </p:nvSpPr>
        <p:spPr>
          <a:xfrm>
            <a:off x="12963525" y="7019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44" name="html-shape-42">
            <a:extLst>
              <a:ext uri="{FF2B5EF4-FFF2-40B4-BE49-F238E27FC236}">
                <a16:creationId xmlns:a16="http://schemas.microsoft.com/office/drawing/2014/main" id="{1FDBE278-2AD8-4DDB-A442-DA816CB40A13}"/>
              </a:ext>
            </a:extLst>
          </p:cNvPr>
          <p:cNvSpPr>
            <a:spLocks noGrp="1"/>
          </p:cNvSpPr>
          <p:nvPr/>
        </p:nvSpPr>
        <p:spPr>
          <a:xfrm>
            <a:off x="12125325" y="71913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5" name="pseudo-43">
            <a:extLst>
              <a:ext uri="{FF2B5EF4-FFF2-40B4-BE49-F238E27FC236}">
                <a16:creationId xmlns:a16="http://schemas.microsoft.com/office/drawing/2014/main" id="{BB5C9A2A-6EF5-470D-8303-3BD6844D10DA}"/>
              </a:ext>
            </a:extLst>
          </p:cNvPr>
          <p:cNvSpPr>
            <a:spLocks noGrp="1"/>
          </p:cNvSpPr>
          <p:nvPr/>
        </p:nvSpPr>
        <p:spPr>
          <a:xfrm>
            <a:off x="12963525" y="72485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46" name="html-shape-44">
            <a:extLst>
              <a:ext uri="{FF2B5EF4-FFF2-40B4-BE49-F238E27FC236}">
                <a16:creationId xmlns:a16="http://schemas.microsoft.com/office/drawing/2014/main" id="{3D80F142-6238-4622-A95A-385DE6EF055E}"/>
              </a:ext>
            </a:extLst>
          </p:cNvPr>
          <p:cNvSpPr>
            <a:spLocks noGrp="1"/>
          </p:cNvSpPr>
          <p:nvPr/>
        </p:nvSpPr>
        <p:spPr>
          <a:xfrm>
            <a:off x="13458825" y="6334125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A9DFCA"/>
            </a:solidFill>
            <a:prstDash val="solid"/>
          </a:ln>
        </p:spPr>
      </p:sp>
      <p:sp>
        <p:nvSpPr>
          <p:cNvPr id="47" name="html-shape-45">
            <a:extLst>
              <a:ext uri="{FF2B5EF4-FFF2-40B4-BE49-F238E27FC236}">
                <a16:creationId xmlns:a16="http://schemas.microsoft.com/office/drawing/2014/main" id="{C1F0BCB5-F053-4B42-9CD6-C4646A264429}"/>
              </a:ext>
            </a:extLst>
          </p:cNvPr>
          <p:cNvSpPr>
            <a:spLocks noGrp="1"/>
          </p:cNvSpPr>
          <p:nvPr/>
        </p:nvSpPr>
        <p:spPr>
          <a:xfrm>
            <a:off x="13611225" y="65055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8" name="pseudo-46">
            <a:extLst>
              <a:ext uri="{FF2B5EF4-FFF2-40B4-BE49-F238E27FC236}">
                <a16:creationId xmlns:a16="http://schemas.microsoft.com/office/drawing/2014/main" id="{1CB478F4-6E99-4E89-86D9-0CFEB18AD2DF}"/>
              </a:ext>
            </a:extLst>
          </p:cNvPr>
          <p:cNvSpPr>
            <a:spLocks noGrp="1"/>
          </p:cNvSpPr>
          <p:nvPr/>
        </p:nvSpPr>
        <p:spPr>
          <a:xfrm>
            <a:off x="14449425" y="65627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49" name="html-shape-47">
            <a:extLst>
              <a:ext uri="{FF2B5EF4-FFF2-40B4-BE49-F238E27FC236}">
                <a16:creationId xmlns:a16="http://schemas.microsoft.com/office/drawing/2014/main" id="{C484B0AB-BCD3-472E-A1D9-DA762840A27E}"/>
              </a:ext>
            </a:extLst>
          </p:cNvPr>
          <p:cNvSpPr>
            <a:spLocks noGrp="1"/>
          </p:cNvSpPr>
          <p:nvPr/>
        </p:nvSpPr>
        <p:spPr>
          <a:xfrm>
            <a:off x="13611225" y="67341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0" name="pseudo-48">
            <a:extLst>
              <a:ext uri="{FF2B5EF4-FFF2-40B4-BE49-F238E27FC236}">
                <a16:creationId xmlns:a16="http://schemas.microsoft.com/office/drawing/2014/main" id="{DE29A352-0999-4ABA-A413-FA1FE40DA153}"/>
              </a:ext>
            </a:extLst>
          </p:cNvPr>
          <p:cNvSpPr>
            <a:spLocks noGrp="1"/>
          </p:cNvSpPr>
          <p:nvPr/>
        </p:nvSpPr>
        <p:spPr>
          <a:xfrm>
            <a:off x="14449425" y="67913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51" name="html-shape-49">
            <a:extLst>
              <a:ext uri="{FF2B5EF4-FFF2-40B4-BE49-F238E27FC236}">
                <a16:creationId xmlns:a16="http://schemas.microsoft.com/office/drawing/2014/main" id="{70BD288E-4F5D-493A-A8C0-82B96547CF24}"/>
              </a:ext>
            </a:extLst>
          </p:cNvPr>
          <p:cNvSpPr>
            <a:spLocks noGrp="1"/>
          </p:cNvSpPr>
          <p:nvPr/>
        </p:nvSpPr>
        <p:spPr>
          <a:xfrm>
            <a:off x="13611225" y="69627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2" name="pseudo-50">
            <a:extLst>
              <a:ext uri="{FF2B5EF4-FFF2-40B4-BE49-F238E27FC236}">
                <a16:creationId xmlns:a16="http://schemas.microsoft.com/office/drawing/2014/main" id="{A910F6AA-39B5-43C5-A9C6-209654512499}"/>
              </a:ext>
            </a:extLst>
          </p:cNvPr>
          <p:cNvSpPr>
            <a:spLocks noGrp="1"/>
          </p:cNvSpPr>
          <p:nvPr/>
        </p:nvSpPr>
        <p:spPr>
          <a:xfrm>
            <a:off x="14449425" y="7019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53" name="html-shape-51">
            <a:extLst>
              <a:ext uri="{FF2B5EF4-FFF2-40B4-BE49-F238E27FC236}">
                <a16:creationId xmlns:a16="http://schemas.microsoft.com/office/drawing/2014/main" id="{B3BBDDE0-F197-4785-9866-5102AA69092E}"/>
              </a:ext>
            </a:extLst>
          </p:cNvPr>
          <p:cNvSpPr>
            <a:spLocks noGrp="1"/>
          </p:cNvSpPr>
          <p:nvPr/>
        </p:nvSpPr>
        <p:spPr>
          <a:xfrm>
            <a:off x="13611225" y="71913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4" name="pseudo-52">
            <a:extLst>
              <a:ext uri="{FF2B5EF4-FFF2-40B4-BE49-F238E27FC236}">
                <a16:creationId xmlns:a16="http://schemas.microsoft.com/office/drawing/2014/main" id="{4C3227CA-56A1-4568-92A3-40EFCD2300E8}"/>
              </a:ext>
            </a:extLst>
          </p:cNvPr>
          <p:cNvSpPr>
            <a:spLocks noGrp="1"/>
          </p:cNvSpPr>
          <p:nvPr/>
        </p:nvSpPr>
        <p:spPr>
          <a:xfrm>
            <a:off x="14449425" y="72485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55" name="html-shape-53">
            <a:extLst>
              <a:ext uri="{FF2B5EF4-FFF2-40B4-BE49-F238E27FC236}">
                <a16:creationId xmlns:a16="http://schemas.microsoft.com/office/drawing/2014/main" id="{92E6B686-526F-49DD-8DD6-63AC02270AC1}"/>
              </a:ext>
            </a:extLst>
          </p:cNvPr>
          <p:cNvSpPr>
            <a:spLocks noGrp="1"/>
          </p:cNvSpPr>
          <p:nvPr/>
        </p:nvSpPr>
        <p:spPr>
          <a:xfrm>
            <a:off x="14944725" y="6334125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A9DFCA"/>
            </a:solidFill>
            <a:prstDash val="solid"/>
          </a:ln>
        </p:spPr>
      </p:sp>
      <p:sp>
        <p:nvSpPr>
          <p:cNvPr id="56" name="html-shape-54">
            <a:extLst>
              <a:ext uri="{FF2B5EF4-FFF2-40B4-BE49-F238E27FC236}">
                <a16:creationId xmlns:a16="http://schemas.microsoft.com/office/drawing/2014/main" id="{5CC16685-DE48-4797-8194-63778D958E1F}"/>
              </a:ext>
            </a:extLst>
          </p:cNvPr>
          <p:cNvSpPr>
            <a:spLocks noGrp="1"/>
          </p:cNvSpPr>
          <p:nvPr/>
        </p:nvSpPr>
        <p:spPr>
          <a:xfrm>
            <a:off x="15097125" y="65055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7" name="pseudo-55">
            <a:extLst>
              <a:ext uri="{FF2B5EF4-FFF2-40B4-BE49-F238E27FC236}">
                <a16:creationId xmlns:a16="http://schemas.microsoft.com/office/drawing/2014/main" id="{AD1087B9-9DFD-4AED-A85B-EDCC95100F1D}"/>
              </a:ext>
            </a:extLst>
          </p:cNvPr>
          <p:cNvSpPr>
            <a:spLocks noGrp="1"/>
          </p:cNvSpPr>
          <p:nvPr/>
        </p:nvSpPr>
        <p:spPr>
          <a:xfrm>
            <a:off x="15935325" y="65627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58" name="html-shape-56">
            <a:extLst>
              <a:ext uri="{FF2B5EF4-FFF2-40B4-BE49-F238E27FC236}">
                <a16:creationId xmlns:a16="http://schemas.microsoft.com/office/drawing/2014/main" id="{273A0E51-1887-4131-91D2-E21A9BA784B4}"/>
              </a:ext>
            </a:extLst>
          </p:cNvPr>
          <p:cNvSpPr>
            <a:spLocks noGrp="1"/>
          </p:cNvSpPr>
          <p:nvPr/>
        </p:nvSpPr>
        <p:spPr>
          <a:xfrm>
            <a:off x="15097125" y="67341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9" name="pseudo-57">
            <a:extLst>
              <a:ext uri="{FF2B5EF4-FFF2-40B4-BE49-F238E27FC236}">
                <a16:creationId xmlns:a16="http://schemas.microsoft.com/office/drawing/2014/main" id="{D8F1F0AB-E033-42EB-B738-5CD7A7FC84A6}"/>
              </a:ext>
            </a:extLst>
          </p:cNvPr>
          <p:cNvSpPr>
            <a:spLocks noGrp="1"/>
          </p:cNvSpPr>
          <p:nvPr/>
        </p:nvSpPr>
        <p:spPr>
          <a:xfrm>
            <a:off x="15935325" y="67913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60" name="html-shape-58">
            <a:extLst>
              <a:ext uri="{FF2B5EF4-FFF2-40B4-BE49-F238E27FC236}">
                <a16:creationId xmlns:a16="http://schemas.microsoft.com/office/drawing/2014/main" id="{EAED2E1B-F848-4368-A790-C23927B351FB}"/>
              </a:ext>
            </a:extLst>
          </p:cNvPr>
          <p:cNvSpPr>
            <a:spLocks noGrp="1"/>
          </p:cNvSpPr>
          <p:nvPr/>
        </p:nvSpPr>
        <p:spPr>
          <a:xfrm>
            <a:off x="15097125" y="69627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1" name="pseudo-59">
            <a:extLst>
              <a:ext uri="{FF2B5EF4-FFF2-40B4-BE49-F238E27FC236}">
                <a16:creationId xmlns:a16="http://schemas.microsoft.com/office/drawing/2014/main" id="{201F387D-359E-4EB3-9C28-889A3B5704CA}"/>
              </a:ext>
            </a:extLst>
          </p:cNvPr>
          <p:cNvSpPr>
            <a:spLocks noGrp="1"/>
          </p:cNvSpPr>
          <p:nvPr/>
        </p:nvSpPr>
        <p:spPr>
          <a:xfrm>
            <a:off x="15935325" y="7019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62" name="html-shape-60">
            <a:extLst>
              <a:ext uri="{FF2B5EF4-FFF2-40B4-BE49-F238E27FC236}">
                <a16:creationId xmlns:a16="http://schemas.microsoft.com/office/drawing/2014/main" id="{C3EEA3B5-A764-4137-A776-D7F3162FA2AE}"/>
              </a:ext>
            </a:extLst>
          </p:cNvPr>
          <p:cNvSpPr>
            <a:spLocks noGrp="1"/>
          </p:cNvSpPr>
          <p:nvPr/>
        </p:nvSpPr>
        <p:spPr>
          <a:xfrm>
            <a:off x="15097125" y="7191375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3" name="pseudo-61">
            <a:extLst>
              <a:ext uri="{FF2B5EF4-FFF2-40B4-BE49-F238E27FC236}">
                <a16:creationId xmlns:a16="http://schemas.microsoft.com/office/drawing/2014/main" id="{133F7C40-7786-4E93-B954-4032C87CA370}"/>
              </a:ext>
            </a:extLst>
          </p:cNvPr>
          <p:cNvSpPr>
            <a:spLocks noGrp="1"/>
          </p:cNvSpPr>
          <p:nvPr/>
        </p:nvSpPr>
        <p:spPr>
          <a:xfrm>
            <a:off x="15935325" y="72485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EC8F0606-B8A5-4D60-8A0A-F0A06A871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97E64C11-20D9-4816-928C-E358CCDD1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66" name="text-1">
            <a:extLst>
              <a:ext uri="{FF2B5EF4-FFF2-40B4-BE49-F238E27FC236}">
                <a16:creationId xmlns:a16="http://schemas.microsoft.com/office/drawing/2014/main" id="{23E3D6B7-2D92-4923-A234-0D55911E68C7}"/>
              </a:ext>
            </a:extLst>
          </p:cNvPr>
          <p:cNvSpPr>
            <a:spLocks noGrp="1"/>
          </p:cNvSpPr>
          <p:nvPr/>
        </p:nvSpPr>
        <p:spPr>
          <a:xfrm>
            <a:off x="1704975" y="1352550"/>
            <a:ext cx="1633728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CHAPTER 05</a:t>
            </a:r>
          </a:p>
        </p:txBody>
      </p:sp>
      <p:sp>
        <p:nvSpPr>
          <p:cNvPr id="67" name="text-2">
            <a:extLst>
              <a:ext uri="{FF2B5EF4-FFF2-40B4-BE49-F238E27FC236}">
                <a16:creationId xmlns:a16="http://schemas.microsoft.com/office/drawing/2014/main" id="{FD032C4B-B2FD-4805-B1FF-C85A0853FE5E}"/>
              </a:ext>
            </a:extLst>
          </p:cNvPr>
          <p:cNvSpPr>
            <a:spLocks noGrp="1"/>
          </p:cNvSpPr>
          <p:nvPr/>
        </p:nvSpPr>
        <p:spPr>
          <a:xfrm>
            <a:off x="1704975" y="1876425"/>
            <a:ext cx="6411563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915"/>
          </a:bodyPr>
          <a:lstStyle>
            <a:def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跨机房异构 PD 实验</a:t>
            </a:r>
          </a:p>
        </p:txBody>
      </p:sp>
      <p:sp>
        <p:nvSpPr>
          <p:cNvPr id="68" name="text-3">
            <a:extLst>
              <a:ext uri="{FF2B5EF4-FFF2-40B4-BE49-F238E27FC236}">
                <a16:creationId xmlns:a16="http://schemas.microsoft.com/office/drawing/2014/main" id="{26D28C26-59B9-4286-A3AF-786E6D0137FA}"/>
              </a:ext>
            </a:extLst>
          </p:cNvPr>
          <p:cNvSpPr>
            <a:spLocks noGrp="1"/>
          </p:cNvSpPr>
          <p:nvPr/>
        </p:nvSpPr>
        <p:spPr>
          <a:xfrm>
            <a:off x="1724025" y="3133725"/>
            <a:ext cx="4652486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异构 PD 让分散资源池跨机房协同</a:t>
            </a:r>
          </a:p>
        </p:txBody>
      </p:sp>
      <p:sp>
        <p:nvSpPr>
          <p:cNvPr id="69" name="text-4">
            <a:extLst>
              <a:ext uri="{FF2B5EF4-FFF2-40B4-BE49-F238E27FC236}">
                <a16:creationId xmlns:a16="http://schemas.microsoft.com/office/drawing/2014/main" id="{538A45B5-5BBB-4332-98BD-65C020F504DE}"/>
              </a:ext>
            </a:extLst>
          </p:cNvPr>
          <p:cNvSpPr>
            <a:spLocks noGrp="1"/>
          </p:cNvSpPr>
          <p:nvPr/>
        </p:nvSpPr>
        <p:spPr>
          <a:xfrm>
            <a:off x="2047875" y="5529263"/>
            <a:ext cx="1171289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10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10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10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DATA HALL A</a:t>
            </a:r>
          </a:p>
        </p:txBody>
      </p:sp>
      <p:sp>
        <p:nvSpPr>
          <p:cNvPr id="70" name="text-5">
            <a:extLst>
              <a:ext uri="{FF2B5EF4-FFF2-40B4-BE49-F238E27FC236}">
                <a16:creationId xmlns:a16="http://schemas.microsoft.com/office/drawing/2014/main" id="{7079B67B-E0FF-45EA-8B30-B6CCC3DDFA07}"/>
              </a:ext>
            </a:extLst>
          </p:cNvPr>
          <p:cNvSpPr>
            <a:spLocks noGrp="1"/>
          </p:cNvSpPr>
          <p:nvPr/>
        </p:nvSpPr>
        <p:spPr>
          <a:xfrm>
            <a:off x="2047875" y="5745480"/>
            <a:ext cx="1922717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Prefill 资源池</a:t>
            </a:r>
          </a:p>
        </p:txBody>
      </p:sp>
      <p:sp>
        <p:nvSpPr>
          <p:cNvPr id="71" name="text-6">
            <a:extLst>
              <a:ext uri="{FF2B5EF4-FFF2-40B4-BE49-F238E27FC236}">
                <a16:creationId xmlns:a16="http://schemas.microsoft.com/office/drawing/2014/main" id="{0EB16744-C32D-44BB-A685-69F9E829A000}"/>
              </a:ext>
            </a:extLst>
          </p:cNvPr>
          <p:cNvSpPr>
            <a:spLocks noGrp="1"/>
          </p:cNvSpPr>
          <p:nvPr/>
        </p:nvSpPr>
        <p:spPr>
          <a:xfrm>
            <a:off x="6115050" y="5715000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可独立规划</a:t>
            </a:r>
          </a:p>
        </p:txBody>
      </p:sp>
      <p:sp>
        <p:nvSpPr>
          <p:cNvPr id="72" name="text-7">
            <a:extLst>
              <a:ext uri="{FF2B5EF4-FFF2-40B4-BE49-F238E27FC236}">
                <a16:creationId xmlns:a16="http://schemas.microsoft.com/office/drawing/2014/main" id="{0C330331-CAE7-4908-B6BD-0E9F1C39324D}"/>
              </a:ext>
            </a:extLst>
          </p:cNvPr>
          <p:cNvSpPr>
            <a:spLocks noGrp="1"/>
          </p:cNvSpPr>
          <p:nvPr/>
        </p:nvSpPr>
        <p:spPr>
          <a:xfrm>
            <a:off x="2586800" y="7391400"/>
            <a:ext cx="25555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P0</a:t>
            </a:r>
          </a:p>
        </p:txBody>
      </p:sp>
      <p:sp>
        <p:nvSpPr>
          <p:cNvPr id="73" name="text-8">
            <a:extLst>
              <a:ext uri="{FF2B5EF4-FFF2-40B4-BE49-F238E27FC236}">
                <a16:creationId xmlns:a16="http://schemas.microsoft.com/office/drawing/2014/main" id="{AB10E0EC-8546-48FB-8841-C01034E998C4}"/>
              </a:ext>
            </a:extLst>
          </p:cNvPr>
          <p:cNvSpPr>
            <a:spLocks noGrp="1"/>
          </p:cNvSpPr>
          <p:nvPr/>
        </p:nvSpPr>
        <p:spPr>
          <a:xfrm>
            <a:off x="4086225" y="7391400"/>
            <a:ext cx="22841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P1</a:t>
            </a:r>
          </a:p>
        </p:txBody>
      </p:sp>
      <p:sp>
        <p:nvSpPr>
          <p:cNvPr id="74" name="text-9">
            <a:extLst>
              <a:ext uri="{FF2B5EF4-FFF2-40B4-BE49-F238E27FC236}">
                <a16:creationId xmlns:a16="http://schemas.microsoft.com/office/drawing/2014/main" id="{3C42ADA6-8B66-4954-857B-E2455D28CDFF}"/>
              </a:ext>
            </a:extLst>
          </p:cNvPr>
          <p:cNvSpPr>
            <a:spLocks noGrp="1"/>
          </p:cNvSpPr>
          <p:nvPr/>
        </p:nvSpPr>
        <p:spPr>
          <a:xfrm>
            <a:off x="5558600" y="7391400"/>
            <a:ext cx="25555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P2</a:t>
            </a:r>
          </a:p>
        </p:txBody>
      </p:sp>
      <p:sp>
        <p:nvSpPr>
          <p:cNvPr id="75" name="text-10">
            <a:extLst>
              <a:ext uri="{FF2B5EF4-FFF2-40B4-BE49-F238E27FC236}">
                <a16:creationId xmlns:a16="http://schemas.microsoft.com/office/drawing/2014/main" id="{9BB09160-DDD8-4DDD-AF58-C43EF5C8C92E}"/>
              </a:ext>
            </a:extLst>
          </p:cNvPr>
          <p:cNvSpPr>
            <a:spLocks noGrp="1"/>
          </p:cNvSpPr>
          <p:nvPr/>
        </p:nvSpPr>
        <p:spPr>
          <a:xfrm>
            <a:off x="8674132" y="6272213"/>
            <a:ext cx="166344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45526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45526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455268"/>
                </a:solidFill>
                <a:latin typeface="PingFang SC"/>
                <a:ea typeface="PingFang SC"/>
                <a:cs typeface="Arial"/>
              </a:rPr>
              <a:t>KV Cache stream</a:t>
            </a:r>
          </a:p>
        </p:txBody>
      </p:sp>
      <p:sp>
        <p:nvSpPr>
          <p:cNvPr id="76" name="text-11">
            <a:extLst>
              <a:ext uri="{FF2B5EF4-FFF2-40B4-BE49-F238E27FC236}">
                <a16:creationId xmlns:a16="http://schemas.microsoft.com/office/drawing/2014/main" id="{CFC87F83-D6CD-41C1-B8BD-D2C2299C5E23}"/>
              </a:ext>
            </a:extLst>
          </p:cNvPr>
          <p:cNvSpPr>
            <a:spLocks noGrp="1"/>
          </p:cNvSpPr>
          <p:nvPr/>
        </p:nvSpPr>
        <p:spPr>
          <a:xfrm>
            <a:off x="8953500" y="7034213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跨资源池协同</a:t>
            </a:r>
          </a:p>
        </p:txBody>
      </p:sp>
      <p:sp>
        <p:nvSpPr>
          <p:cNvPr id="77" name="text-12">
            <a:extLst>
              <a:ext uri="{FF2B5EF4-FFF2-40B4-BE49-F238E27FC236}">
                <a16:creationId xmlns:a16="http://schemas.microsoft.com/office/drawing/2014/main" id="{DB661E3A-CB31-4BDC-8688-C23F98BC407C}"/>
              </a:ext>
            </a:extLst>
          </p:cNvPr>
          <p:cNvSpPr>
            <a:spLocks noGrp="1"/>
          </p:cNvSpPr>
          <p:nvPr/>
        </p:nvSpPr>
        <p:spPr>
          <a:xfrm>
            <a:off x="11934825" y="5529263"/>
            <a:ext cx="1172813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10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10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10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DATA HALL B</a:t>
            </a:r>
          </a:p>
        </p:txBody>
      </p:sp>
      <p:sp>
        <p:nvSpPr>
          <p:cNvPr id="78" name="text-13">
            <a:extLst>
              <a:ext uri="{FF2B5EF4-FFF2-40B4-BE49-F238E27FC236}">
                <a16:creationId xmlns:a16="http://schemas.microsoft.com/office/drawing/2014/main" id="{5C7C4DDC-E952-4EC9-A468-C2476361A3C2}"/>
              </a:ext>
            </a:extLst>
          </p:cNvPr>
          <p:cNvSpPr>
            <a:spLocks noGrp="1"/>
          </p:cNvSpPr>
          <p:nvPr/>
        </p:nvSpPr>
        <p:spPr>
          <a:xfrm>
            <a:off x="11934825" y="5745480"/>
            <a:ext cx="219465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Decode 资源池</a:t>
            </a:r>
          </a:p>
        </p:txBody>
      </p:sp>
      <p:sp>
        <p:nvSpPr>
          <p:cNvPr id="79" name="text-14">
            <a:extLst>
              <a:ext uri="{FF2B5EF4-FFF2-40B4-BE49-F238E27FC236}">
                <a16:creationId xmlns:a16="http://schemas.microsoft.com/office/drawing/2014/main" id="{D8C6E0A9-D127-49E1-8474-3F5C21F61F20}"/>
              </a:ext>
            </a:extLst>
          </p:cNvPr>
          <p:cNvSpPr>
            <a:spLocks noGrp="1"/>
          </p:cNvSpPr>
          <p:nvPr/>
        </p:nvSpPr>
        <p:spPr>
          <a:xfrm>
            <a:off x="15335250" y="5715000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可独立规划</a:t>
            </a:r>
          </a:p>
        </p:txBody>
      </p:sp>
      <p:sp>
        <p:nvSpPr>
          <p:cNvPr id="80" name="text-15">
            <a:extLst>
              <a:ext uri="{FF2B5EF4-FFF2-40B4-BE49-F238E27FC236}">
                <a16:creationId xmlns:a16="http://schemas.microsoft.com/office/drawing/2014/main" id="{4962EAE3-8CBE-486E-A0F9-65E839589635}"/>
              </a:ext>
            </a:extLst>
          </p:cNvPr>
          <p:cNvSpPr>
            <a:spLocks noGrp="1"/>
          </p:cNvSpPr>
          <p:nvPr/>
        </p:nvSpPr>
        <p:spPr>
          <a:xfrm>
            <a:off x="12497657" y="7391400"/>
            <a:ext cx="26489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D0</a:t>
            </a:r>
          </a:p>
        </p:txBody>
      </p:sp>
      <p:sp>
        <p:nvSpPr>
          <p:cNvPr id="81" name="text-16">
            <a:extLst>
              <a:ext uri="{FF2B5EF4-FFF2-40B4-BE49-F238E27FC236}">
                <a16:creationId xmlns:a16="http://schemas.microsoft.com/office/drawing/2014/main" id="{2F1A38C9-6C49-4DA8-8291-12652ACCA37D}"/>
              </a:ext>
            </a:extLst>
          </p:cNvPr>
          <p:cNvSpPr>
            <a:spLocks noGrp="1"/>
          </p:cNvSpPr>
          <p:nvPr/>
        </p:nvSpPr>
        <p:spPr>
          <a:xfrm>
            <a:off x="13997178" y="7391400"/>
            <a:ext cx="237649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D1</a:t>
            </a:r>
          </a:p>
        </p:txBody>
      </p:sp>
      <p:sp>
        <p:nvSpPr>
          <p:cNvPr id="82" name="text-17">
            <a:extLst>
              <a:ext uri="{FF2B5EF4-FFF2-40B4-BE49-F238E27FC236}">
                <a16:creationId xmlns:a16="http://schemas.microsoft.com/office/drawing/2014/main" id="{CA6129CB-44A6-465B-95FD-EB940C6AE092}"/>
              </a:ext>
            </a:extLst>
          </p:cNvPr>
          <p:cNvSpPr>
            <a:spLocks noGrp="1"/>
          </p:cNvSpPr>
          <p:nvPr/>
        </p:nvSpPr>
        <p:spPr>
          <a:xfrm>
            <a:off x="15469457" y="7391400"/>
            <a:ext cx="26489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D2</a:t>
            </a:r>
          </a:p>
        </p:txBody>
      </p:sp>
      <p:sp>
        <p:nvSpPr>
          <p:cNvPr id="83" name="text-18">
            <a:extLst>
              <a:ext uri="{FF2B5EF4-FFF2-40B4-BE49-F238E27FC236}">
                <a16:creationId xmlns:a16="http://schemas.microsoft.com/office/drawing/2014/main" id="{D8FFAADC-F2C8-466E-8932-08B0F81CC43B}"/>
              </a:ext>
            </a:extLst>
          </p:cNvPr>
          <p:cNvSpPr>
            <a:spLocks noGrp="1"/>
          </p:cNvSpPr>
          <p:nvPr/>
        </p:nvSpPr>
        <p:spPr>
          <a:xfrm>
            <a:off x="3716084" y="9110663"/>
            <a:ext cx="1091279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同园区与跨园区实验验证：Prefill 与 Decode 不共址，仍能提供高质量 Token 服务。</a:t>
            </a:r>
          </a:p>
        </p:txBody>
      </p:sp>
      <p:sp>
        <p:nvSpPr>
          <p:cNvPr id="84" name="text-19">
            <a:extLst>
              <a:ext uri="{FF2B5EF4-FFF2-40B4-BE49-F238E27FC236}">
                <a16:creationId xmlns:a16="http://schemas.microsoft.com/office/drawing/2014/main" id="{08586C64-567B-4C42-92C9-60FEB7E08ABE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25 / 43</a:t>
            </a:r>
          </a:p>
        </p:txBody>
      </p:sp>
    </p:spTree>
    <p:extLst>
      <p:ext uri="{BB962C8B-B14F-4D97-AF65-F5344CB8AC3E}">
        <p14:creationId xmlns:p14="http://schemas.microsoft.com/office/powerpoint/2010/main" val="1863541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html-shape-1">
            <a:extLst>
              <a:ext uri="{FF2B5EF4-FFF2-40B4-BE49-F238E27FC236}">
                <a16:creationId xmlns:a16="http://schemas.microsoft.com/office/drawing/2014/main" id="{A8B1E7D8-D317-45D0-A46B-D42FC22C5F63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5662613" cy="3143250"/>
          </a:xfrm>
          <a:prstGeom prst="rect">
            <a:avLst/>
          </a:prstGeom>
          <a:solidFill>
            <a:srgbClr val="F8F5FF"/>
          </a:solidFill>
          <a:ln w="28575">
            <a:solidFill>
              <a:srgbClr val="C9B8FF"/>
            </a:solidFill>
            <a:prstDash val="solid"/>
          </a:ln>
        </p:spPr>
      </p:sp>
      <p:sp>
        <p:nvSpPr>
          <p:cNvPr id="2" name="html-shape-11">
            <a:extLst>
              <a:ext uri="{FF2B5EF4-FFF2-40B4-BE49-F238E27FC236}">
                <a16:creationId xmlns:a16="http://schemas.microsoft.com/office/drawing/2014/main" id="{D9AEB0CE-D478-4C4B-9353-F69CF6F50947}"/>
              </a:ext>
            </a:extLst>
          </p:cNvPr>
          <p:cNvSpPr>
            <a:spLocks noGrp="1"/>
          </p:cNvSpPr>
          <p:nvPr/>
        </p:nvSpPr>
        <p:spPr>
          <a:xfrm>
            <a:off x="11196638" y="3143250"/>
            <a:ext cx="5662613" cy="3143250"/>
          </a:xfrm>
          <a:prstGeom prst="rect">
            <a:avLst/>
          </a:prstGeom>
          <a:solidFill>
            <a:srgbClr val="F1FAF6"/>
          </a:solidFill>
          <a:ln w="28575">
            <a:solidFill>
              <a:srgbClr val="A7DDC6"/>
            </a:solidFill>
            <a:prstDash val="solid"/>
          </a:ln>
        </p:spPr>
      </p:sp>
      <p:sp>
        <p:nvSpPr>
          <p:cNvPr id="3" name="html-shape-16">
            <a:extLst>
              <a:ext uri="{FF2B5EF4-FFF2-40B4-BE49-F238E27FC236}">
                <a16:creationId xmlns:a16="http://schemas.microsoft.com/office/drawing/2014/main" id="{52B654E1-FD3C-4B06-A393-923B66D28AC2}"/>
              </a:ext>
            </a:extLst>
          </p:cNvPr>
          <p:cNvSpPr>
            <a:spLocks noGrp="1"/>
          </p:cNvSpPr>
          <p:nvPr/>
        </p:nvSpPr>
        <p:spPr>
          <a:xfrm>
            <a:off x="1428750" y="6838950"/>
            <a:ext cx="4889468" cy="1657350"/>
          </a:xfrm>
          <a:prstGeom prst="rect">
            <a:avLst/>
          </a:prstGeom>
          <a:solidFill>
            <a:srgbClr val="F7F6FB"/>
          </a:solidFill>
          <a:ln w="0">
            <a:noFill/>
            <a:prstDash val="solid"/>
          </a:ln>
        </p:spPr>
      </p:sp>
      <p:sp>
        <p:nvSpPr>
          <p:cNvPr id="4" name="html-shape-18">
            <a:extLst>
              <a:ext uri="{FF2B5EF4-FFF2-40B4-BE49-F238E27FC236}">
                <a16:creationId xmlns:a16="http://schemas.microsoft.com/office/drawing/2014/main" id="{C14BA660-E2B7-48FD-BDCC-1B392390F921}"/>
              </a:ext>
            </a:extLst>
          </p:cNvPr>
          <p:cNvSpPr>
            <a:spLocks noGrp="1"/>
          </p:cNvSpPr>
          <p:nvPr/>
        </p:nvSpPr>
        <p:spPr>
          <a:xfrm>
            <a:off x="6699218" y="6838950"/>
            <a:ext cx="4889468" cy="1657350"/>
          </a:xfrm>
          <a:prstGeom prst="rect">
            <a:avLst/>
          </a:prstGeom>
          <a:solidFill>
            <a:srgbClr val="F2F6FB"/>
          </a:solidFill>
          <a:ln w="0">
            <a:noFill/>
            <a:prstDash val="solid"/>
          </a:ln>
        </p:spPr>
      </p:sp>
      <p:sp>
        <p:nvSpPr>
          <p:cNvPr id="5" name="html-shape-20">
            <a:extLst>
              <a:ext uri="{FF2B5EF4-FFF2-40B4-BE49-F238E27FC236}">
                <a16:creationId xmlns:a16="http://schemas.microsoft.com/office/drawing/2014/main" id="{CD810A0F-18FA-4CA5-A6DA-67F8D74F0F34}"/>
              </a:ext>
            </a:extLst>
          </p:cNvPr>
          <p:cNvSpPr>
            <a:spLocks noGrp="1"/>
          </p:cNvSpPr>
          <p:nvPr/>
        </p:nvSpPr>
        <p:spPr>
          <a:xfrm>
            <a:off x="11969687" y="6838950"/>
            <a:ext cx="4889468" cy="1657350"/>
          </a:xfrm>
          <a:prstGeom prst="rect">
            <a:avLst/>
          </a:prstGeom>
          <a:solidFill>
            <a:srgbClr val="F2F8F5"/>
          </a:solidFill>
          <a:ln w="0">
            <a:noFill/>
            <a:prstDash val="solid"/>
          </a:ln>
        </p:spPr>
      </p:sp>
      <p:sp>
        <p:nvSpPr>
          <p:cNvPr id="6" name="html-shape-22">
            <a:extLst>
              <a:ext uri="{FF2B5EF4-FFF2-40B4-BE49-F238E27FC236}">
                <a16:creationId xmlns:a16="http://schemas.microsoft.com/office/drawing/2014/main" id="{90F81B5F-C2C8-4F88-B712-B8C77C04DB9C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7" name="html-line-1">
            <a:extLst>
              <a:ext uri="{FF2B5EF4-FFF2-40B4-BE49-F238E27FC236}">
                <a16:creationId xmlns:a16="http://schemas.microsoft.com/office/drawing/2014/main" id="{85D84E13-10F7-40E0-B2B4-934BA7FEE34D}"/>
              </a:ext>
            </a:extLst>
          </p:cNvPr>
          <p:cNvSpPr>
            <a:spLocks noGrp="1"/>
          </p:cNvSpPr>
          <p:nvPr/>
        </p:nvSpPr>
        <p:spPr>
          <a:xfrm>
            <a:off x="7453313" y="4939951"/>
            <a:ext cx="3381375" cy="4763"/>
          </a:xfrm>
          <a:prstGeom prst="line">
            <a:avLst/>
          </a:prstGeom>
          <a:noFill/>
          <a:ln w="76200">
            <a:gradFill>
              <a:gsLst>
                <a:gs pos="0">
                  <a:srgbClr val="642AF0"/>
                </a:gs>
                <a:gs pos="100000">
                  <a:srgbClr val="0A9A62"/>
                </a:gs>
              </a:gsLst>
              <a:lin ang="5400000"/>
            </a:gradFill>
            <a:prstDash val="solid"/>
          </a:ln>
        </p:spPr>
      </p:sp>
      <p:sp>
        <p:nvSpPr>
          <p:cNvPr id="8" name="html-shape-2">
            <a:extLst>
              <a:ext uri="{FF2B5EF4-FFF2-40B4-BE49-F238E27FC236}">
                <a16:creationId xmlns:a16="http://schemas.microsoft.com/office/drawing/2014/main" id="{323F6376-93FD-43EF-B547-5BC6FA5381D9}"/>
              </a:ext>
            </a:extLst>
          </p:cNvPr>
          <p:cNvSpPr>
            <a:spLocks noGrp="1"/>
          </p:cNvSpPr>
          <p:nvPr/>
        </p:nvSpPr>
        <p:spPr>
          <a:xfrm>
            <a:off x="1857375" y="4824222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9" name="html-shape-3">
            <a:extLst>
              <a:ext uri="{FF2B5EF4-FFF2-40B4-BE49-F238E27FC236}">
                <a16:creationId xmlns:a16="http://schemas.microsoft.com/office/drawing/2014/main" id="{B9AF270C-918A-45F1-9786-5F36FD63DEDA}"/>
              </a:ext>
            </a:extLst>
          </p:cNvPr>
          <p:cNvSpPr>
            <a:spLocks noGrp="1"/>
          </p:cNvSpPr>
          <p:nvPr/>
        </p:nvSpPr>
        <p:spPr>
          <a:xfrm>
            <a:off x="2667000" y="4824222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0" name="html-shape-4">
            <a:extLst>
              <a:ext uri="{FF2B5EF4-FFF2-40B4-BE49-F238E27FC236}">
                <a16:creationId xmlns:a16="http://schemas.microsoft.com/office/drawing/2014/main" id="{EE34D46C-3166-4B36-98AF-DEC346C649E9}"/>
              </a:ext>
            </a:extLst>
          </p:cNvPr>
          <p:cNvSpPr>
            <a:spLocks noGrp="1"/>
          </p:cNvSpPr>
          <p:nvPr/>
        </p:nvSpPr>
        <p:spPr>
          <a:xfrm>
            <a:off x="3476625" y="4824222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1" name="html-shape-5">
            <a:extLst>
              <a:ext uri="{FF2B5EF4-FFF2-40B4-BE49-F238E27FC236}">
                <a16:creationId xmlns:a16="http://schemas.microsoft.com/office/drawing/2014/main" id="{51362E92-121F-4162-9B6F-AD92C3A32CCE}"/>
              </a:ext>
            </a:extLst>
          </p:cNvPr>
          <p:cNvSpPr>
            <a:spLocks noGrp="1"/>
          </p:cNvSpPr>
          <p:nvPr/>
        </p:nvSpPr>
        <p:spPr>
          <a:xfrm>
            <a:off x="4286250" y="4824222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2" name="pseudo-arrow-6">
            <a:extLst>
              <a:ext uri="{FF2B5EF4-FFF2-40B4-BE49-F238E27FC236}">
                <a16:creationId xmlns:a16="http://schemas.microsoft.com/office/drawing/2014/main" id="{0C55C083-7540-477F-8818-0CE1FC283F7C}"/>
              </a:ext>
            </a:extLst>
          </p:cNvPr>
          <p:cNvSpPr>
            <a:spLocks noGrp="1"/>
          </p:cNvSpPr>
          <p:nvPr/>
        </p:nvSpPr>
        <p:spPr>
          <a:xfrm rot="5400000">
            <a:off x="10672763" y="4825651"/>
            <a:ext cx="180975" cy="228600"/>
          </a:xfrm>
          <a:prstGeom prst="triangle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3" name="html-shape-7">
            <a:extLst>
              <a:ext uri="{FF2B5EF4-FFF2-40B4-BE49-F238E27FC236}">
                <a16:creationId xmlns:a16="http://schemas.microsoft.com/office/drawing/2014/main" id="{0C8DE759-B92F-4DF6-93DB-76369F380631}"/>
              </a:ext>
            </a:extLst>
          </p:cNvPr>
          <p:cNvSpPr>
            <a:spLocks noGrp="1"/>
          </p:cNvSpPr>
          <p:nvPr/>
        </p:nvSpPr>
        <p:spPr>
          <a:xfrm>
            <a:off x="7863173" y="4838891"/>
            <a:ext cx="202025" cy="202025"/>
          </a:xfrm>
          <a:prstGeom prst="roundRect">
            <a:avLst>
              <a:gd name="adj" fmla="val 14144"/>
            </a:avLst>
          </a:prstGeom>
          <a:solidFill>
            <a:srgbClr val="315FD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4" name="html-shape-8">
            <a:extLst>
              <a:ext uri="{FF2B5EF4-FFF2-40B4-BE49-F238E27FC236}">
                <a16:creationId xmlns:a16="http://schemas.microsoft.com/office/drawing/2014/main" id="{D385A7D5-9BFB-492B-B902-4B93A84B83BB}"/>
              </a:ext>
            </a:extLst>
          </p:cNvPr>
          <p:cNvSpPr>
            <a:spLocks noGrp="1"/>
          </p:cNvSpPr>
          <p:nvPr/>
        </p:nvSpPr>
        <p:spPr>
          <a:xfrm>
            <a:off x="8573262" y="4838891"/>
            <a:ext cx="202025" cy="202025"/>
          </a:xfrm>
          <a:prstGeom prst="roundRect">
            <a:avLst>
              <a:gd name="adj" fmla="val 14144"/>
            </a:avLst>
          </a:prstGeom>
          <a:solidFill>
            <a:srgbClr val="315FD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5" name="html-shape-9">
            <a:extLst>
              <a:ext uri="{FF2B5EF4-FFF2-40B4-BE49-F238E27FC236}">
                <a16:creationId xmlns:a16="http://schemas.microsoft.com/office/drawing/2014/main" id="{4135569F-4967-49A5-9F4C-66B0DD3DB304}"/>
              </a:ext>
            </a:extLst>
          </p:cNvPr>
          <p:cNvSpPr>
            <a:spLocks noGrp="1"/>
          </p:cNvSpPr>
          <p:nvPr/>
        </p:nvSpPr>
        <p:spPr>
          <a:xfrm>
            <a:off x="9283446" y="4838891"/>
            <a:ext cx="202025" cy="202025"/>
          </a:xfrm>
          <a:prstGeom prst="roundRect">
            <a:avLst>
              <a:gd name="adj" fmla="val 14144"/>
            </a:avLst>
          </a:prstGeom>
          <a:solidFill>
            <a:srgbClr val="315FD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6" name="html-shape-10">
            <a:extLst>
              <a:ext uri="{FF2B5EF4-FFF2-40B4-BE49-F238E27FC236}">
                <a16:creationId xmlns:a16="http://schemas.microsoft.com/office/drawing/2014/main" id="{B11FE29B-46D2-470D-91E6-A7109217298B}"/>
              </a:ext>
            </a:extLst>
          </p:cNvPr>
          <p:cNvSpPr>
            <a:spLocks noGrp="1"/>
          </p:cNvSpPr>
          <p:nvPr/>
        </p:nvSpPr>
        <p:spPr>
          <a:xfrm>
            <a:off x="9993535" y="4838891"/>
            <a:ext cx="202025" cy="202025"/>
          </a:xfrm>
          <a:prstGeom prst="roundRect">
            <a:avLst>
              <a:gd name="adj" fmla="val 14144"/>
            </a:avLst>
          </a:prstGeom>
          <a:solidFill>
            <a:srgbClr val="315FD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7" name="html-shape-12">
            <a:extLst>
              <a:ext uri="{FF2B5EF4-FFF2-40B4-BE49-F238E27FC236}">
                <a16:creationId xmlns:a16="http://schemas.microsoft.com/office/drawing/2014/main" id="{6CE07229-87AC-456B-B7D1-B53AA07F7B70}"/>
              </a:ext>
            </a:extLst>
          </p:cNvPr>
          <p:cNvSpPr>
            <a:spLocks noGrp="1"/>
          </p:cNvSpPr>
          <p:nvPr/>
        </p:nvSpPr>
        <p:spPr>
          <a:xfrm>
            <a:off x="11625263" y="4824222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8" name="html-shape-13">
            <a:extLst>
              <a:ext uri="{FF2B5EF4-FFF2-40B4-BE49-F238E27FC236}">
                <a16:creationId xmlns:a16="http://schemas.microsoft.com/office/drawing/2014/main" id="{095E42F6-8E75-4958-A49F-3C013099F725}"/>
              </a:ext>
            </a:extLst>
          </p:cNvPr>
          <p:cNvSpPr>
            <a:spLocks noGrp="1"/>
          </p:cNvSpPr>
          <p:nvPr/>
        </p:nvSpPr>
        <p:spPr>
          <a:xfrm>
            <a:off x="12434888" y="4824222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9" name="html-shape-14">
            <a:extLst>
              <a:ext uri="{FF2B5EF4-FFF2-40B4-BE49-F238E27FC236}">
                <a16:creationId xmlns:a16="http://schemas.microsoft.com/office/drawing/2014/main" id="{15602DA5-65B6-48F7-9342-6A6737566577}"/>
              </a:ext>
            </a:extLst>
          </p:cNvPr>
          <p:cNvSpPr>
            <a:spLocks noGrp="1"/>
          </p:cNvSpPr>
          <p:nvPr/>
        </p:nvSpPr>
        <p:spPr>
          <a:xfrm>
            <a:off x="13244513" y="4824222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0" name="html-shape-15">
            <a:extLst>
              <a:ext uri="{FF2B5EF4-FFF2-40B4-BE49-F238E27FC236}">
                <a16:creationId xmlns:a16="http://schemas.microsoft.com/office/drawing/2014/main" id="{D94B0955-432D-4CF2-AE98-58B30B98B333}"/>
              </a:ext>
            </a:extLst>
          </p:cNvPr>
          <p:cNvSpPr>
            <a:spLocks noGrp="1"/>
          </p:cNvSpPr>
          <p:nvPr/>
        </p:nvSpPr>
        <p:spPr>
          <a:xfrm>
            <a:off x="14054138" y="4824222"/>
            <a:ext cx="685800" cy="552450"/>
          </a:xfrm>
          <a:prstGeom prst="roundRect">
            <a:avLst>
              <a:gd name="adj" fmla="val 13793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1" name="border-17">
            <a:extLst>
              <a:ext uri="{FF2B5EF4-FFF2-40B4-BE49-F238E27FC236}">
                <a16:creationId xmlns:a16="http://schemas.microsoft.com/office/drawing/2014/main" id="{6AE50990-C76D-408D-A730-DA5BF42F42F7}"/>
              </a:ext>
            </a:extLst>
          </p:cNvPr>
          <p:cNvSpPr>
            <a:spLocks noGrp="1"/>
          </p:cNvSpPr>
          <p:nvPr/>
        </p:nvSpPr>
        <p:spPr>
          <a:xfrm>
            <a:off x="1428750" y="6838950"/>
            <a:ext cx="4889468" cy="5715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22" name="border-19">
            <a:extLst>
              <a:ext uri="{FF2B5EF4-FFF2-40B4-BE49-F238E27FC236}">
                <a16:creationId xmlns:a16="http://schemas.microsoft.com/office/drawing/2014/main" id="{B49F0004-2613-45A3-B912-564480B43019}"/>
              </a:ext>
            </a:extLst>
          </p:cNvPr>
          <p:cNvSpPr>
            <a:spLocks noGrp="1"/>
          </p:cNvSpPr>
          <p:nvPr/>
        </p:nvSpPr>
        <p:spPr>
          <a:xfrm>
            <a:off x="6699218" y="6838950"/>
            <a:ext cx="4889468" cy="57150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3" name="border-21">
            <a:extLst>
              <a:ext uri="{FF2B5EF4-FFF2-40B4-BE49-F238E27FC236}">
                <a16:creationId xmlns:a16="http://schemas.microsoft.com/office/drawing/2014/main" id="{9B38D9D9-E3E7-40CD-8980-46285B458DCC}"/>
              </a:ext>
            </a:extLst>
          </p:cNvPr>
          <p:cNvSpPr>
            <a:spLocks noGrp="1"/>
          </p:cNvSpPr>
          <p:nvPr/>
        </p:nvSpPr>
        <p:spPr>
          <a:xfrm>
            <a:off x="11969687" y="6838950"/>
            <a:ext cx="4889468" cy="5715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0B8619E-7185-4A39-BE70-C882E6C6E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334832B-EA59-4C4E-AC4D-7921C98B9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26" name="text-1">
            <a:extLst>
              <a:ext uri="{FF2B5EF4-FFF2-40B4-BE49-F238E27FC236}">
                <a16:creationId xmlns:a16="http://schemas.microsoft.com/office/drawing/2014/main" id="{972D2E8C-0EB4-4075-9B78-FEDE1D2B8F60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27" name="text-2">
            <a:extLst>
              <a:ext uri="{FF2B5EF4-FFF2-40B4-BE49-F238E27FC236}">
                <a16:creationId xmlns:a16="http://schemas.microsoft.com/office/drawing/2014/main" id="{C5B85ADF-65F0-4A82-AF0C-ACE578541AD8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28" name="text-3">
            <a:extLst>
              <a:ext uri="{FF2B5EF4-FFF2-40B4-BE49-F238E27FC236}">
                <a16:creationId xmlns:a16="http://schemas.microsoft.com/office/drawing/2014/main" id="{047FA8A5-3A04-4E03-895E-F01D3A1CA45A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0603897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63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PD 分离让已有异构资源池无需混布就能协同</a:t>
            </a:r>
          </a:p>
        </p:txBody>
      </p:sp>
      <p:sp>
        <p:nvSpPr>
          <p:cNvPr id="29" name="text-4">
            <a:extLst>
              <a:ext uri="{FF2B5EF4-FFF2-40B4-BE49-F238E27FC236}">
                <a16:creationId xmlns:a16="http://schemas.microsoft.com/office/drawing/2014/main" id="{820E94BB-362A-4E68-A242-77E08D87D8DC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216704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 和 Decode 保留原有机柜、网络域与运维体系，通过 KV Cache handoff 组成一套服务。</a:t>
            </a:r>
          </a:p>
        </p:txBody>
      </p:sp>
      <p:sp>
        <p:nvSpPr>
          <p:cNvPr id="30" name="text-5">
            <a:extLst>
              <a:ext uri="{FF2B5EF4-FFF2-40B4-BE49-F238E27FC236}">
                <a16:creationId xmlns:a16="http://schemas.microsoft.com/office/drawing/2014/main" id="{39EF2113-56D4-4AA8-91AC-797F046596BD}"/>
              </a:ext>
            </a:extLst>
          </p:cNvPr>
          <p:cNvSpPr>
            <a:spLocks noGrp="1"/>
          </p:cNvSpPr>
          <p:nvPr/>
        </p:nvSpPr>
        <p:spPr>
          <a:xfrm>
            <a:off x="1847850" y="3524250"/>
            <a:ext cx="192376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EXISTING PREFILL POOL</a:t>
            </a:r>
          </a:p>
        </p:txBody>
      </p:sp>
      <p:sp>
        <p:nvSpPr>
          <p:cNvPr id="31" name="text-6">
            <a:extLst>
              <a:ext uri="{FF2B5EF4-FFF2-40B4-BE49-F238E27FC236}">
                <a16:creationId xmlns:a16="http://schemas.microsoft.com/office/drawing/2014/main" id="{BE429C79-BE4C-4665-ACB4-29A57580D41E}"/>
              </a:ext>
            </a:extLst>
          </p:cNvPr>
          <p:cNvSpPr>
            <a:spLocks noGrp="1"/>
          </p:cNvSpPr>
          <p:nvPr/>
        </p:nvSpPr>
        <p:spPr>
          <a:xfrm>
            <a:off x="1847850" y="3790950"/>
            <a:ext cx="225866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已有 Prefill 资源</a:t>
            </a:r>
          </a:p>
        </p:txBody>
      </p:sp>
      <p:sp>
        <p:nvSpPr>
          <p:cNvPr id="32" name="text-7">
            <a:extLst>
              <a:ext uri="{FF2B5EF4-FFF2-40B4-BE49-F238E27FC236}">
                <a16:creationId xmlns:a16="http://schemas.microsoft.com/office/drawing/2014/main" id="{54A340D3-3D15-4F6C-AF1E-75C6F9A13661}"/>
              </a:ext>
            </a:extLst>
          </p:cNvPr>
          <p:cNvSpPr>
            <a:spLocks noGrp="1"/>
          </p:cNvSpPr>
          <p:nvPr/>
        </p:nvSpPr>
        <p:spPr>
          <a:xfrm>
            <a:off x="1847850" y="4288060"/>
            <a:ext cx="25050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F6C8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F6C8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F6C81"/>
                </a:solidFill>
                <a:latin typeface="PingFang SC"/>
                <a:ea typeface="PingFang SC"/>
                <a:cs typeface="Arial"/>
              </a:rPr>
              <a:t>高算力设备 · 原有机柜与网络域</a:t>
            </a:r>
          </a:p>
        </p:txBody>
      </p:sp>
      <p:sp>
        <p:nvSpPr>
          <p:cNvPr id="33" name="text-8">
            <a:extLst>
              <a:ext uri="{FF2B5EF4-FFF2-40B4-BE49-F238E27FC236}">
                <a16:creationId xmlns:a16="http://schemas.microsoft.com/office/drawing/2014/main" id="{FA34680E-44E0-41FC-8D40-A7658B1B3AB0}"/>
              </a:ext>
            </a:extLst>
          </p:cNvPr>
          <p:cNvSpPr>
            <a:spLocks noGrp="1"/>
          </p:cNvSpPr>
          <p:nvPr/>
        </p:nvSpPr>
        <p:spPr>
          <a:xfrm>
            <a:off x="2121980" y="4957572"/>
            <a:ext cx="21355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4" name="text-9">
            <a:extLst>
              <a:ext uri="{FF2B5EF4-FFF2-40B4-BE49-F238E27FC236}">
                <a16:creationId xmlns:a16="http://schemas.microsoft.com/office/drawing/2014/main" id="{A9532104-707E-4DFE-B040-0FFD78D904C7}"/>
              </a:ext>
            </a:extLst>
          </p:cNvPr>
          <p:cNvSpPr>
            <a:spLocks noGrp="1"/>
          </p:cNvSpPr>
          <p:nvPr/>
        </p:nvSpPr>
        <p:spPr>
          <a:xfrm>
            <a:off x="2931604" y="4957572"/>
            <a:ext cx="21355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5" name="text-10">
            <a:extLst>
              <a:ext uri="{FF2B5EF4-FFF2-40B4-BE49-F238E27FC236}">
                <a16:creationId xmlns:a16="http://schemas.microsoft.com/office/drawing/2014/main" id="{17B907CD-058A-4C09-AF98-D020A23A018F}"/>
              </a:ext>
            </a:extLst>
          </p:cNvPr>
          <p:cNvSpPr>
            <a:spLocks noGrp="1"/>
          </p:cNvSpPr>
          <p:nvPr/>
        </p:nvSpPr>
        <p:spPr>
          <a:xfrm>
            <a:off x="3741229" y="4957572"/>
            <a:ext cx="21355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6" name="text-11">
            <a:extLst>
              <a:ext uri="{FF2B5EF4-FFF2-40B4-BE49-F238E27FC236}">
                <a16:creationId xmlns:a16="http://schemas.microsoft.com/office/drawing/2014/main" id="{AFB80A07-AFBF-43F5-AC7F-D41C8FB5239C}"/>
              </a:ext>
            </a:extLst>
          </p:cNvPr>
          <p:cNvSpPr>
            <a:spLocks noGrp="1"/>
          </p:cNvSpPr>
          <p:nvPr/>
        </p:nvSpPr>
        <p:spPr>
          <a:xfrm>
            <a:off x="4550855" y="4957572"/>
            <a:ext cx="21355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P</a:t>
            </a:r>
          </a:p>
        </p:txBody>
      </p:sp>
      <p:sp>
        <p:nvSpPr>
          <p:cNvPr id="37" name="text-12">
            <a:extLst>
              <a:ext uri="{FF2B5EF4-FFF2-40B4-BE49-F238E27FC236}">
                <a16:creationId xmlns:a16="http://schemas.microsoft.com/office/drawing/2014/main" id="{7E2CC258-7646-4D38-ABBB-154B86CC0300}"/>
              </a:ext>
            </a:extLst>
          </p:cNvPr>
          <p:cNvSpPr>
            <a:spLocks noGrp="1"/>
          </p:cNvSpPr>
          <p:nvPr/>
        </p:nvSpPr>
        <p:spPr>
          <a:xfrm>
            <a:off x="1847850" y="5605272"/>
            <a:ext cx="2293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55627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55627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556277"/>
                </a:solidFill>
                <a:latin typeface="PingFang SC"/>
                <a:ea typeface="PingFang SC"/>
                <a:cs typeface="Arial"/>
              </a:rPr>
              <a:t>计算 Input · 生成 KV Cache</a:t>
            </a:r>
          </a:p>
        </p:txBody>
      </p:sp>
      <p:sp>
        <p:nvSpPr>
          <p:cNvPr id="38" name="text-13">
            <a:extLst>
              <a:ext uri="{FF2B5EF4-FFF2-40B4-BE49-F238E27FC236}">
                <a16:creationId xmlns:a16="http://schemas.microsoft.com/office/drawing/2014/main" id="{2C115CD2-E1A8-48D7-BE68-D2A26B697665}"/>
              </a:ext>
            </a:extLst>
          </p:cNvPr>
          <p:cNvSpPr>
            <a:spLocks noGrp="1"/>
          </p:cNvSpPr>
          <p:nvPr/>
        </p:nvSpPr>
        <p:spPr>
          <a:xfrm>
            <a:off x="8325136" y="4033266"/>
            <a:ext cx="16946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9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9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9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PD DISAGGREGATION</a:t>
            </a:r>
          </a:p>
        </p:txBody>
      </p:sp>
      <p:sp>
        <p:nvSpPr>
          <p:cNvPr id="39" name="text-14">
            <a:extLst>
              <a:ext uri="{FF2B5EF4-FFF2-40B4-BE49-F238E27FC236}">
                <a16:creationId xmlns:a16="http://schemas.microsoft.com/office/drawing/2014/main" id="{80B50E9D-A64E-4D90-9C9D-BEB44134164C}"/>
              </a:ext>
            </a:extLst>
          </p:cNvPr>
          <p:cNvSpPr>
            <a:spLocks noGrp="1"/>
          </p:cNvSpPr>
          <p:nvPr/>
        </p:nvSpPr>
        <p:spPr>
          <a:xfrm>
            <a:off x="8040719" y="4319016"/>
            <a:ext cx="2263521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2E3B5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2E3B5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2E3B51"/>
                </a:solidFill>
                <a:latin typeface="PingFang SC"/>
                <a:ea typeface="PingFang SC"/>
                <a:cs typeface="Arial"/>
              </a:rPr>
              <a:t>KV Cache Handoff</a:t>
            </a:r>
          </a:p>
        </p:txBody>
      </p:sp>
      <p:sp>
        <p:nvSpPr>
          <p:cNvPr id="40" name="text-15">
            <a:extLst>
              <a:ext uri="{FF2B5EF4-FFF2-40B4-BE49-F238E27FC236}">
                <a16:creationId xmlns:a16="http://schemas.microsoft.com/office/drawing/2014/main" id="{FC90577D-46D3-4EED-AA32-0956594E159C}"/>
              </a:ext>
            </a:extLst>
          </p:cNvPr>
          <p:cNvSpPr>
            <a:spLocks noGrp="1"/>
          </p:cNvSpPr>
          <p:nvPr/>
        </p:nvSpPr>
        <p:spPr>
          <a:xfrm>
            <a:off x="8068437" y="5168551"/>
            <a:ext cx="220818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63708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63708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637086"/>
                </a:solidFill>
                <a:latin typeface="PingFang SC"/>
                <a:ea typeface="PingFang SC"/>
                <a:cs typeface="Arial"/>
              </a:rPr>
              <a:t>设备保持原位 · 服务跨池组成</a:t>
            </a:r>
          </a:p>
        </p:txBody>
      </p:sp>
      <p:sp>
        <p:nvSpPr>
          <p:cNvPr id="41" name="text-16">
            <a:extLst>
              <a:ext uri="{FF2B5EF4-FFF2-40B4-BE49-F238E27FC236}">
                <a16:creationId xmlns:a16="http://schemas.microsoft.com/office/drawing/2014/main" id="{3F715F9C-F57E-4F16-A74A-4CE16DB6AD68}"/>
              </a:ext>
            </a:extLst>
          </p:cNvPr>
          <p:cNvSpPr>
            <a:spLocks noGrp="1"/>
          </p:cNvSpPr>
          <p:nvPr/>
        </p:nvSpPr>
        <p:spPr>
          <a:xfrm>
            <a:off x="11615738" y="3524250"/>
            <a:ext cx="194090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EXISTING DECODE POOL</a:t>
            </a:r>
          </a:p>
        </p:txBody>
      </p:sp>
      <p:sp>
        <p:nvSpPr>
          <p:cNvPr id="42" name="text-17">
            <a:extLst>
              <a:ext uri="{FF2B5EF4-FFF2-40B4-BE49-F238E27FC236}">
                <a16:creationId xmlns:a16="http://schemas.microsoft.com/office/drawing/2014/main" id="{E9D36424-EDEA-4518-A14B-C235CBFA983E}"/>
              </a:ext>
            </a:extLst>
          </p:cNvPr>
          <p:cNvSpPr>
            <a:spLocks noGrp="1"/>
          </p:cNvSpPr>
          <p:nvPr/>
        </p:nvSpPr>
        <p:spPr>
          <a:xfrm>
            <a:off x="11615738" y="3790950"/>
            <a:ext cx="252202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已有 Decode 资源</a:t>
            </a:r>
          </a:p>
        </p:txBody>
      </p:sp>
      <p:sp>
        <p:nvSpPr>
          <p:cNvPr id="43" name="text-18">
            <a:extLst>
              <a:ext uri="{FF2B5EF4-FFF2-40B4-BE49-F238E27FC236}">
                <a16:creationId xmlns:a16="http://schemas.microsoft.com/office/drawing/2014/main" id="{E995F5E3-8C77-463E-9823-574385F746F2}"/>
              </a:ext>
            </a:extLst>
          </p:cNvPr>
          <p:cNvSpPr>
            <a:spLocks noGrp="1"/>
          </p:cNvSpPr>
          <p:nvPr/>
        </p:nvSpPr>
        <p:spPr>
          <a:xfrm>
            <a:off x="11615738" y="4288060"/>
            <a:ext cx="25050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F6C8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F6C8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F6C81"/>
                </a:solidFill>
                <a:latin typeface="PingFang SC"/>
                <a:ea typeface="PingFang SC"/>
                <a:cs typeface="Arial"/>
              </a:rPr>
              <a:t>高带宽设备 · 原有机柜与网络域</a:t>
            </a:r>
          </a:p>
        </p:txBody>
      </p:sp>
      <p:sp>
        <p:nvSpPr>
          <p:cNvPr id="44" name="text-19">
            <a:extLst>
              <a:ext uri="{FF2B5EF4-FFF2-40B4-BE49-F238E27FC236}">
                <a16:creationId xmlns:a16="http://schemas.microsoft.com/office/drawing/2014/main" id="{4AAD2BDB-79A8-49DE-B24C-A67F88853E3F}"/>
              </a:ext>
            </a:extLst>
          </p:cNvPr>
          <p:cNvSpPr>
            <a:spLocks noGrp="1"/>
          </p:cNvSpPr>
          <p:nvPr/>
        </p:nvSpPr>
        <p:spPr>
          <a:xfrm>
            <a:off x="11883200" y="4957572"/>
            <a:ext cx="22707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5" name="text-20">
            <a:extLst>
              <a:ext uri="{FF2B5EF4-FFF2-40B4-BE49-F238E27FC236}">
                <a16:creationId xmlns:a16="http://schemas.microsoft.com/office/drawing/2014/main" id="{6DC6C6ED-0179-470E-AABC-8DBC0DE564B1}"/>
              </a:ext>
            </a:extLst>
          </p:cNvPr>
          <p:cNvSpPr>
            <a:spLocks noGrp="1"/>
          </p:cNvSpPr>
          <p:nvPr/>
        </p:nvSpPr>
        <p:spPr>
          <a:xfrm>
            <a:off x="12692825" y="4957572"/>
            <a:ext cx="22707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6" name="text-21">
            <a:extLst>
              <a:ext uri="{FF2B5EF4-FFF2-40B4-BE49-F238E27FC236}">
                <a16:creationId xmlns:a16="http://schemas.microsoft.com/office/drawing/2014/main" id="{43189CB0-8AD0-4BCE-94C8-22057A62A001}"/>
              </a:ext>
            </a:extLst>
          </p:cNvPr>
          <p:cNvSpPr>
            <a:spLocks noGrp="1"/>
          </p:cNvSpPr>
          <p:nvPr/>
        </p:nvSpPr>
        <p:spPr>
          <a:xfrm>
            <a:off x="13502450" y="4957572"/>
            <a:ext cx="22707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7" name="text-22">
            <a:extLst>
              <a:ext uri="{FF2B5EF4-FFF2-40B4-BE49-F238E27FC236}">
                <a16:creationId xmlns:a16="http://schemas.microsoft.com/office/drawing/2014/main" id="{1F9AC358-A168-4624-B803-6A2B838272DB}"/>
              </a:ext>
            </a:extLst>
          </p:cNvPr>
          <p:cNvSpPr>
            <a:spLocks noGrp="1"/>
          </p:cNvSpPr>
          <p:nvPr/>
        </p:nvSpPr>
        <p:spPr>
          <a:xfrm>
            <a:off x="14312075" y="4957572"/>
            <a:ext cx="22707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D</a:t>
            </a:r>
          </a:p>
        </p:txBody>
      </p:sp>
      <p:sp>
        <p:nvSpPr>
          <p:cNvPr id="48" name="text-23">
            <a:extLst>
              <a:ext uri="{FF2B5EF4-FFF2-40B4-BE49-F238E27FC236}">
                <a16:creationId xmlns:a16="http://schemas.microsoft.com/office/drawing/2014/main" id="{4B52C789-3B30-4E74-8BD6-FF1D8AF7B2B9}"/>
              </a:ext>
            </a:extLst>
          </p:cNvPr>
          <p:cNvSpPr>
            <a:spLocks noGrp="1"/>
          </p:cNvSpPr>
          <p:nvPr/>
        </p:nvSpPr>
        <p:spPr>
          <a:xfrm>
            <a:off x="11615738" y="5605272"/>
            <a:ext cx="2170367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55627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55627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556277"/>
                </a:solidFill>
                <a:latin typeface="PingFang SC"/>
                <a:ea typeface="PingFang SC"/>
                <a:cs typeface="Arial"/>
              </a:rPr>
              <a:t>接收 KV Cache · 持续生成</a:t>
            </a:r>
          </a:p>
        </p:txBody>
      </p:sp>
      <p:sp>
        <p:nvSpPr>
          <p:cNvPr id="49" name="text-24">
            <a:extLst>
              <a:ext uri="{FF2B5EF4-FFF2-40B4-BE49-F238E27FC236}">
                <a16:creationId xmlns:a16="http://schemas.microsoft.com/office/drawing/2014/main" id="{DA63CBC9-2D17-4FE9-B2B1-485479CC3CC9}"/>
              </a:ext>
            </a:extLst>
          </p:cNvPr>
          <p:cNvSpPr>
            <a:spLocks noGrp="1"/>
          </p:cNvSpPr>
          <p:nvPr/>
        </p:nvSpPr>
        <p:spPr>
          <a:xfrm>
            <a:off x="1704975" y="7162800"/>
            <a:ext cx="1351217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9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9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9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 · DEPLOYMENT</a:t>
            </a:r>
          </a:p>
        </p:txBody>
      </p:sp>
      <p:sp>
        <p:nvSpPr>
          <p:cNvPr id="50" name="text-25">
            <a:extLst>
              <a:ext uri="{FF2B5EF4-FFF2-40B4-BE49-F238E27FC236}">
                <a16:creationId xmlns:a16="http://schemas.microsoft.com/office/drawing/2014/main" id="{1A2C68A1-7D81-407D-AA28-29B28F04B061}"/>
              </a:ext>
            </a:extLst>
          </p:cNvPr>
          <p:cNvSpPr>
            <a:spLocks noGrp="1"/>
          </p:cNvSpPr>
          <p:nvPr/>
        </p:nvSpPr>
        <p:spPr>
          <a:xfrm>
            <a:off x="1704975" y="7410450"/>
            <a:ext cx="1905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rPr>
              <a:t>不同设备不必混布</a:t>
            </a:r>
          </a:p>
        </p:txBody>
      </p:sp>
      <p:sp>
        <p:nvSpPr>
          <p:cNvPr id="51" name="text-26">
            <a:extLst>
              <a:ext uri="{FF2B5EF4-FFF2-40B4-BE49-F238E27FC236}">
                <a16:creationId xmlns:a16="http://schemas.microsoft.com/office/drawing/2014/main" id="{ACF1CA2F-08A3-483C-8758-4739895BE06B}"/>
              </a:ext>
            </a:extLst>
          </p:cNvPr>
          <p:cNvSpPr>
            <a:spLocks noGrp="1"/>
          </p:cNvSpPr>
          <p:nvPr/>
        </p:nvSpPr>
        <p:spPr>
          <a:xfrm>
            <a:off x="1704975" y="7799070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6471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6471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647187"/>
                </a:solidFill>
                <a:latin typeface="PingFang SC"/>
                <a:ea typeface="PingFang SC"/>
                <a:cs typeface="Arial"/>
              </a:rPr>
              <a:t>分别保留原有机柜、网络域与运维体系</a:t>
            </a:r>
          </a:p>
        </p:txBody>
      </p:sp>
      <p:sp>
        <p:nvSpPr>
          <p:cNvPr id="52" name="text-27">
            <a:extLst>
              <a:ext uri="{FF2B5EF4-FFF2-40B4-BE49-F238E27FC236}">
                <a16:creationId xmlns:a16="http://schemas.microsoft.com/office/drawing/2014/main" id="{3F61C22F-9D0E-4AFC-90DE-3A4340E536BE}"/>
              </a:ext>
            </a:extLst>
          </p:cNvPr>
          <p:cNvSpPr>
            <a:spLocks noGrp="1"/>
          </p:cNvSpPr>
          <p:nvPr/>
        </p:nvSpPr>
        <p:spPr>
          <a:xfrm>
            <a:off x="6975443" y="7162800"/>
            <a:ext cx="111709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975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975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975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02 · CAPACITY</a:t>
            </a:r>
          </a:p>
        </p:txBody>
      </p:sp>
      <p:sp>
        <p:nvSpPr>
          <p:cNvPr id="53" name="text-28">
            <a:extLst>
              <a:ext uri="{FF2B5EF4-FFF2-40B4-BE49-F238E27FC236}">
                <a16:creationId xmlns:a16="http://schemas.microsoft.com/office/drawing/2014/main" id="{2771332C-B307-49FE-A718-F3E5461B658B}"/>
              </a:ext>
            </a:extLst>
          </p:cNvPr>
          <p:cNvSpPr>
            <a:spLocks noGrp="1"/>
          </p:cNvSpPr>
          <p:nvPr/>
        </p:nvSpPr>
        <p:spPr>
          <a:xfrm>
            <a:off x="6975443" y="7410450"/>
            <a:ext cx="190109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rPr>
              <a:t>P:D 比例独立调整</a:t>
            </a:r>
          </a:p>
        </p:txBody>
      </p:sp>
      <p:sp>
        <p:nvSpPr>
          <p:cNvPr id="54" name="text-29">
            <a:extLst>
              <a:ext uri="{FF2B5EF4-FFF2-40B4-BE49-F238E27FC236}">
                <a16:creationId xmlns:a16="http://schemas.microsoft.com/office/drawing/2014/main" id="{9688F5F7-A198-4B37-B261-3038A94BD7B3}"/>
              </a:ext>
            </a:extLst>
          </p:cNvPr>
          <p:cNvSpPr>
            <a:spLocks noGrp="1"/>
          </p:cNvSpPr>
          <p:nvPr/>
        </p:nvSpPr>
        <p:spPr>
          <a:xfrm>
            <a:off x="6975443" y="7799070"/>
            <a:ext cx="280406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6471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6471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647187"/>
                </a:solidFill>
                <a:latin typeface="PingFang SC"/>
                <a:ea typeface="PingFang SC"/>
                <a:cs typeface="Arial"/>
              </a:rPr>
              <a:t>按 Input / Output workload 分别扩缩</a:t>
            </a:r>
          </a:p>
        </p:txBody>
      </p:sp>
      <p:sp>
        <p:nvSpPr>
          <p:cNvPr id="55" name="text-30">
            <a:extLst>
              <a:ext uri="{FF2B5EF4-FFF2-40B4-BE49-F238E27FC236}">
                <a16:creationId xmlns:a16="http://schemas.microsoft.com/office/drawing/2014/main" id="{34BDF00F-C422-4688-A855-1A1106538C44}"/>
              </a:ext>
            </a:extLst>
          </p:cNvPr>
          <p:cNvSpPr>
            <a:spLocks noGrp="1"/>
          </p:cNvSpPr>
          <p:nvPr/>
        </p:nvSpPr>
        <p:spPr>
          <a:xfrm>
            <a:off x="12245912" y="7162800"/>
            <a:ext cx="101355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975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975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975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03 · SERVICE</a:t>
            </a:r>
          </a:p>
        </p:txBody>
      </p:sp>
      <p:sp>
        <p:nvSpPr>
          <p:cNvPr id="56" name="text-31">
            <a:extLst>
              <a:ext uri="{FF2B5EF4-FFF2-40B4-BE49-F238E27FC236}">
                <a16:creationId xmlns:a16="http://schemas.microsoft.com/office/drawing/2014/main" id="{8148BC7A-1B10-4AB2-8B58-41C2F8690365}"/>
              </a:ext>
            </a:extLst>
          </p:cNvPr>
          <p:cNvSpPr>
            <a:spLocks noGrp="1"/>
          </p:cNvSpPr>
          <p:nvPr/>
        </p:nvSpPr>
        <p:spPr>
          <a:xfrm>
            <a:off x="12245912" y="7410450"/>
            <a:ext cx="2362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rPr>
              <a:t>分散算力组成一套服务</a:t>
            </a:r>
          </a:p>
        </p:txBody>
      </p:sp>
      <p:sp>
        <p:nvSpPr>
          <p:cNvPr id="57" name="text-32">
            <a:extLst>
              <a:ext uri="{FF2B5EF4-FFF2-40B4-BE49-F238E27FC236}">
                <a16:creationId xmlns:a16="http://schemas.microsoft.com/office/drawing/2014/main" id="{D88642F7-E3A4-47F1-A622-D61F16C47802}"/>
              </a:ext>
            </a:extLst>
          </p:cNvPr>
          <p:cNvSpPr>
            <a:spLocks noGrp="1"/>
          </p:cNvSpPr>
          <p:nvPr/>
        </p:nvSpPr>
        <p:spPr>
          <a:xfrm>
            <a:off x="12245912" y="779907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6471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6471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647187"/>
                </a:solidFill>
                <a:latin typeface="PingFang SC"/>
                <a:ea typeface="PingFang SC"/>
                <a:cs typeface="Arial"/>
              </a:rPr>
              <a:t>不同位置的资源池共同对外提供能力</a:t>
            </a:r>
          </a:p>
        </p:txBody>
      </p:sp>
      <p:sp>
        <p:nvSpPr>
          <p:cNvPr id="58" name="text-33">
            <a:extLst>
              <a:ext uri="{FF2B5EF4-FFF2-40B4-BE49-F238E27FC236}">
                <a16:creationId xmlns:a16="http://schemas.microsoft.com/office/drawing/2014/main" id="{7D370258-EB40-4D2A-9E9C-3FFAEBC09CFB}"/>
              </a:ext>
            </a:extLst>
          </p:cNvPr>
          <p:cNvSpPr>
            <a:spLocks noGrp="1"/>
          </p:cNvSpPr>
          <p:nvPr/>
        </p:nvSpPr>
        <p:spPr>
          <a:xfrm>
            <a:off x="4616958" y="9074087"/>
            <a:ext cx="9111139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PD 分离让分散的异构资源池保持独立，同时组成一套可按需调整的服务。</a:t>
            </a:r>
          </a:p>
        </p:txBody>
      </p:sp>
      <p:sp>
        <p:nvSpPr>
          <p:cNvPr id="59" name="text-34">
            <a:extLst>
              <a:ext uri="{FF2B5EF4-FFF2-40B4-BE49-F238E27FC236}">
                <a16:creationId xmlns:a16="http://schemas.microsoft.com/office/drawing/2014/main" id="{A317C71F-C193-4ADF-9555-71865596B0C7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9905238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Qin et al., “Prefill-as-a-Service: KVCache of Next-Generation Models Could Go Cross-Datacenter,” arXiv:2604.15039, 2026.</a:t>
            </a:r>
          </a:p>
        </p:txBody>
      </p:sp>
      <p:sp>
        <p:nvSpPr>
          <p:cNvPr id="60" name="text-35">
            <a:extLst>
              <a:ext uri="{FF2B5EF4-FFF2-40B4-BE49-F238E27FC236}">
                <a16:creationId xmlns:a16="http://schemas.microsoft.com/office/drawing/2014/main" id="{68A4E6C2-7D82-4E07-878C-3C1887037C40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26 / 43</a:t>
            </a:r>
          </a:p>
        </p:txBody>
      </p:sp>
    </p:spTree>
    <p:extLst>
      <p:ext uri="{BB962C8B-B14F-4D97-AF65-F5344CB8AC3E}">
        <p14:creationId xmlns:p14="http://schemas.microsoft.com/office/powerpoint/2010/main" val="899473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tml-shape-1">
            <a:extLst>
              <a:ext uri="{FF2B5EF4-FFF2-40B4-BE49-F238E27FC236}">
                <a16:creationId xmlns:a16="http://schemas.microsoft.com/office/drawing/2014/main" id="{E41E3BE6-1654-4996-9583-6AEB63109519}"/>
              </a:ext>
            </a:extLst>
          </p:cNvPr>
          <p:cNvSpPr>
            <a:spLocks noGrp="1"/>
          </p:cNvSpPr>
          <p:nvPr/>
        </p:nvSpPr>
        <p:spPr>
          <a:xfrm>
            <a:off x="1000125" y="3028950"/>
            <a:ext cx="16287750" cy="3676650"/>
          </a:xfrm>
          <a:prstGeom prst="rect">
            <a:avLst/>
          </a:prstGeom>
          <a:solidFill>
            <a:srgbClr val="F7F8FB"/>
          </a:solidFill>
          <a:ln w="0">
            <a:noFill/>
            <a:prstDash val="solid"/>
          </a:ln>
        </p:spPr>
      </p:sp>
      <p:sp>
        <p:nvSpPr>
          <p:cNvPr id="2" name="html-shape-9">
            <a:extLst>
              <a:ext uri="{FF2B5EF4-FFF2-40B4-BE49-F238E27FC236}">
                <a16:creationId xmlns:a16="http://schemas.microsoft.com/office/drawing/2014/main" id="{326A1EAF-46A3-4886-B4DC-F6798593F9B9}"/>
              </a:ext>
            </a:extLst>
          </p:cNvPr>
          <p:cNvSpPr>
            <a:spLocks noGrp="1"/>
          </p:cNvSpPr>
          <p:nvPr/>
        </p:nvSpPr>
        <p:spPr>
          <a:xfrm>
            <a:off x="1333500" y="4467225"/>
            <a:ext cx="15621000" cy="8572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html-shape-15">
            <a:extLst>
              <a:ext uri="{FF2B5EF4-FFF2-40B4-BE49-F238E27FC236}">
                <a16:creationId xmlns:a16="http://schemas.microsoft.com/office/drawing/2014/main" id="{EDB4C380-B98F-41A4-9B1F-426B2C53A58D}"/>
              </a:ext>
            </a:extLst>
          </p:cNvPr>
          <p:cNvSpPr>
            <a:spLocks noGrp="1"/>
          </p:cNvSpPr>
          <p:nvPr/>
        </p:nvSpPr>
        <p:spPr>
          <a:xfrm>
            <a:off x="1333500" y="5324475"/>
            <a:ext cx="15621000" cy="8572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html-shape-22">
            <a:extLst>
              <a:ext uri="{FF2B5EF4-FFF2-40B4-BE49-F238E27FC236}">
                <a16:creationId xmlns:a16="http://schemas.microsoft.com/office/drawing/2014/main" id="{1E90C915-12A3-4ED0-A03B-59E4D423B456}"/>
              </a:ext>
            </a:extLst>
          </p:cNvPr>
          <p:cNvSpPr>
            <a:spLocks noGrp="1"/>
          </p:cNvSpPr>
          <p:nvPr/>
        </p:nvSpPr>
        <p:spPr>
          <a:xfrm>
            <a:off x="1000125" y="6934200"/>
            <a:ext cx="7881938" cy="1695450"/>
          </a:xfrm>
          <a:prstGeom prst="rect">
            <a:avLst/>
          </a:prstGeom>
          <a:solidFill>
            <a:srgbClr val="FAF9FE"/>
          </a:solidFill>
          <a:ln w="0">
            <a:noFill/>
            <a:prstDash val="solid"/>
          </a:ln>
        </p:spPr>
      </p:sp>
      <p:sp>
        <p:nvSpPr>
          <p:cNvPr id="5" name="html-shape-24">
            <a:extLst>
              <a:ext uri="{FF2B5EF4-FFF2-40B4-BE49-F238E27FC236}">
                <a16:creationId xmlns:a16="http://schemas.microsoft.com/office/drawing/2014/main" id="{9D62D93B-6359-4B26-9580-1B85FB7D8547}"/>
              </a:ext>
            </a:extLst>
          </p:cNvPr>
          <p:cNvSpPr>
            <a:spLocks noGrp="1"/>
          </p:cNvSpPr>
          <p:nvPr/>
        </p:nvSpPr>
        <p:spPr>
          <a:xfrm>
            <a:off x="9405938" y="6934200"/>
            <a:ext cx="7881938" cy="1695450"/>
          </a:xfrm>
          <a:prstGeom prst="rect">
            <a:avLst/>
          </a:prstGeom>
          <a:solidFill>
            <a:srgbClr val="F5FBF8"/>
          </a:solidFill>
          <a:ln w="0">
            <a:noFill/>
            <a:prstDash val="solid"/>
          </a:ln>
        </p:spPr>
      </p:sp>
      <p:sp>
        <p:nvSpPr>
          <p:cNvPr id="6" name="html-shape-26">
            <a:extLst>
              <a:ext uri="{FF2B5EF4-FFF2-40B4-BE49-F238E27FC236}">
                <a16:creationId xmlns:a16="http://schemas.microsoft.com/office/drawing/2014/main" id="{EE05E2CE-CBAA-44EA-86A3-67067B4052EB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7" name="html-line-1">
            <a:extLst>
              <a:ext uri="{FF2B5EF4-FFF2-40B4-BE49-F238E27FC236}">
                <a16:creationId xmlns:a16="http://schemas.microsoft.com/office/drawing/2014/main" id="{44364C33-A05F-4A8B-A823-5753053B23B7}"/>
              </a:ext>
            </a:extLst>
          </p:cNvPr>
          <p:cNvSpPr>
            <a:spLocks noGrp="1"/>
          </p:cNvSpPr>
          <p:nvPr/>
        </p:nvSpPr>
        <p:spPr>
          <a:xfrm>
            <a:off x="12568428" y="3671888"/>
            <a:ext cx="4763" cy="2286000"/>
          </a:xfrm>
          <a:prstGeom prst="line">
            <a:avLst/>
          </a:prstGeom>
          <a:noFill/>
          <a:ln w="19050">
            <a:solidFill>
              <a:srgbClr val="171923"/>
            </a:solidFill>
            <a:prstDash val="solid"/>
          </a:ln>
        </p:spPr>
      </p:sp>
      <p:sp>
        <p:nvSpPr>
          <p:cNvPr id="8" name="border-2">
            <a:extLst>
              <a:ext uri="{FF2B5EF4-FFF2-40B4-BE49-F238E27FC236}">
                <a16:creationId xmlns:a16="http://schemas.microsoft.com/office/drawing/2014/main" id="{F68C77AF-29A7-4307-955F-90D550A190D4}"/>
              </a:ext>
            </a:extLst>
          </p:cNvPr>
          <p:cNvSpPr>
            <a:spLocks noGrp="1"/>
          </p:cNvSpPr>
          <p:nvPr/>
        </p:nvSpPr>
        <p:spPr>
          <a:xfrm>
            <a:off x="1000125" y="3028950"/>
            <a:ext cx="16287750" cy="6667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9" name="html-shape-3">
            <a:extLst>
              <a:ext uri="{FF2B5EF4-FFF2-40B4-BE49-F238E27FC236}">
                <a16:creationId xmlns:a16="http://schemas.microsoft.com/office/drawing/2014/main" id="{0B4DA66D-9CA4-42E5-80D6-BF4D15D332AB}"/>
              </a:ext>
            </a:extLst>
          </p:cNvPr>
          <p:cNvSpPr>
            <a:spLocks noGrp="1"/>
          </p:cNvSpPr>
          <p:nvPr/>
        </p:nvSpPr>
        <p:spPr>
          <a:xfrm>
            <a:off x="3714750" y="3352800"/>
            <a:ext cx="13239750" cy="19050"/>
          </a:xfrm>
          <a:prstGeom prst="rect">
            <a:avLst/>
          </a:prstGeom>
          <a:solidFill>
            <a:srgbClr val="CFD6E2"/>
          </a:solidFill>
          <a:ln w="0">
            <a:noFill/>
            <a:prstDash val="solid"/>
          </a:ln>
        </p:spPr>
      </p:sp>
      <p:sp>
        <p:nvSpPr>
          <p:cNvPr id="10" name="pseudo-arrow-4">
            <a:extLst>
              <a:ext uri="{FF2B5EF4-FFF2-40B4-BE49-F238E27FC236}">
                <a16:creationId xmlns:a16="http://schemas.microsoft.com/office/drawing/2014/main" id="{8DA6FB14-73D2-41B4-B48D-6DE62564C837}"/>
              </a:ext>
            </a:extLst>
          </p:cNvPr>
          <p:cNvSpPr>
            <a:spLocks noGrp="1"/>
          </p:cNvSpPr>
          <p:nvPr/>
        </p:nvSpPr>
        <p:spPr>
          <a:xfrm rot="5400000">
            <a:off x="16878300" y="3305175"/>
            <a:ext cx="95250" cy="114300"/>
          </a:xfrm>
          <a:prstGeom prst="triangle">
            <a:avLst/>
          </a:prstGeom>
          <a:solidFill>
            <a:srgbClr val="AEB8C8"/>
          </a:solidFill>
          <a:ln w="0">
            <a:noFill/>
            <a:prstDash val="solid"/>
          </a:ln>
        </p:spPr>
      </p:sp>
      <p:sp>
        <p:nvSpPr>
          <p:cNvPr id="11" name="html-shape-5">
            <a:extLst>
              <a:ext uri="{FF2B5EF4-FFF2-40B4-BE49-F238E27FC236}">
                <a16:creationId xmlns:a16="http://schemas.microsoft.com/office/drawing/2014/main" id="{109C5D19-3B87-4557-8EFE-F03843FB068F}"/>
              </a:ext>
            </a:extLst>
          </p:cNvPr>
          <p:cNvSpPr>
            <a:spLocks noGrp="1"/>
          </p:cNvSpPr>
          <p:nvPr/>
        </p:nvSpPr>
        <p:spPr>
          <a:xfrm>
            <a:off x="3714750" y="3838575"/>
            <a:ext cx="1853470" cy="400050"/>
          </a:xfrm>
          <a:prstGeom prst="roundRect">
            <a:avLst>
              <a:gd name="adj" fmla="val 14286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2" name="html-shape-6">
            <a:extLst>
              <a:ext uri="{FF2B5EF4-FFF2-40B4-BE49-F238E27FC236}">
                <a16:creationId xmlns:a16="http://schemas.microsoft.com/office/drawing/2014/main" id="{F7BD372F-6369-4121-846E-02AA8C1F86CA}"/>
              </a:ext>
            </a:extLst>
          </p:cNvPr>
          <p:cNvSpPr>
            <a:spLocks noGrp="1"/>
          </p:cNvSpPr>
          <p:nvPr/>
        </p:nvSpPr>
        <p:spPr>
          <a:xfrm>
            <a:off x="5674233" y="3838575"/>
            <a:ext cx="1853470" cy="400050"/>
          </a:xfrm>
          <a:prstGeom prst="roundRect">
            <a:avLst>
              <a:gd name="adj" fmla="val 14286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3" name="html-shape-7">
            <a:extLst>
              <a:ext uri="{FF2B5EF4-FFF2-40B4-BE49-F238E27FC236}">
                <a16:creationId xmlns:a16="http://schemas.microsoft.com/office/drawing/2014/main" id="{C681E8B5-3E74-4CBA-A4D5-9AE93650782C}"/>
              </a:ext>
            </a:extLst>
          </p:cNvPr>
          <p:cNvSpPr>
            <a:spLocks noGrp="1"/>
          </p:cNvSpPr>
          <p:nvPr/>
        </p:nvSpPr>
        <p:spPr>
          <a:xfrm>
            <a:off x="7633716" y="3838575"/>
            <a:ext cx="1853470" cy="400050"/>
          </a:xfrm>
          <a:prstGeom prst="roundRect">
            <a:avLst>
              <a:gd name="adj" fmla="val 14286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4" name="html-shape-8">
            <a:extLst>
              <a:ext uri="{FF2B5EF4-FFF2-40B4-BE49-F238E27FC236}">
                <a16:creationId xmlns:a16="http://schemas.microsoft.com/office/drawing/2014/main" id="{796DA5BF-1D96-466F-B9E8-D03C63A02CAB}"/>
              </a:ext>
            </a:extLst>
          </p:cNvPr>
          <p:cNvSpPr>
            <a:spLocks noGrp="1"/>
          </p:cNvSpPr>
          <p:nvPr/>
        </p:nvSpPr>
        <p:spPr>
          <a:xfrm>
            <a:off x="9593199" y="3838575"/>
            <a:ext cx="1853470" cy="400050"/>
          </a:xfrm>
          <a:prstGeom prst="roundRect">
            <a:avLst>
              <a:gd name="adj" fmla="val 14286"/>
            </a:avLst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5" name="border-10">
            <a:extLst>
              <a:ext uri="{FF2B5EF4-FFF2-40B4-BE49-F238E27FC236}">
                <a16:creationId xmlns:a16="http://schemas.microsoft.com/office/drawing/2014/main" id="{8FCB0B55-F442-4B0B-B87D-F949AC836F74}"/>
              </a:ext>
            </a:extLst>
          </p:cNvPr>
          <p:cNvSpPr>
            <a:spLocks noGrp="1"/>
          </p:cNvSpPr>
          <p:nvPr/>
        </p:nvSpPr>
        <p:spPr>
          <a:xfrm>
            <a:off x="1333500" y="4467225"/>
            <a:ext cx="15621000" cy="9525"/>
          </a:xfrm>
          <a:prstGeom prst="rect">
            <a:avLst/>
          </a:prstGeom>
          <a:solidFill>
            <a:srgbClr val="DDE2EB"/>
          </a:solidFill>
          <a:ln w="0">
            <a:noFill/>
            <a:prstDash val="solid"/>
          </a:ln>
        </p:spPr>
      </p:sp>
      <p:sp>
        <p:nvSpPr>
          <p:cNvPr id="16" name="html-shape-11">
            <a:extLst>
              <a:ext uri="{FF2B5EF4-FFF2-40B4-BE49-F238E27FC236}">
                <a16:creationId xmlns:a16="http://schemas.microsoft.com/office/drawing/2014/main" id="{407028A1-501A-4FE1-B947-4121F619402E}"/>
              </a:ext>
            </a:extLst>
          </p:cNvPr>
          <p:cNvSpPr>
            <a:spLocks noGrp="1"/>
          </p:cNvSpPr>
          <p:nvPr/>
        </p:nvSpPr>
        <p:spPr>
          <a:xfrm>
            <a:off x="4773835" y="4700588"/>
            <a:ext cx="1721072" cy="400050"/>
          </a:xfrm>
          <a:prstGeom prst="roundRect">
            <a:avLst>
              <a:gd name="adj" fmla="val 14286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7" name="html-shape-12">
            <a:extLst>
              <a:ext uri="{FF2B5EF4-FFF2-40B4-BE49-F238E27FC236}">
                <a16:creationId xmlns:a16="http://schemas.microsoft.com/office/drawing/2014/main" id="{340D5B4A-A9BC-4407-9E8E-0AFAEAD1666F}"/>
              </a:ext>
            </a:extLst>
          </p:cNvPr>
          <p:cNvSpPr>
            <a:spLocks noGrp="1"/>
          </p:cNvSpPr>
          <p:nvPr/>
        </p:nvSpPr>
        <p:spPr>
          <a:xfrm>
            <a:off x="6759797" y="4700588"/>
            <a:ext cx="1721072" cy="400050"/>
          </a:xfrm>
          <a:prstGeom prst="roundRect">
            <a:avLst>
              <a:gd name="adj" fmla="val 14286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8" name="html-shape-13">
            <a:extLst>
              <a:ext uri="{FF2B5EF4-FFF2-40B4-BE49-F238E27FC236}">
                <a16:creationId xmlns:a16="http://schemas.microsoft.com/office/drawing/2014/main" id="{B60D0209-2AEA-41DD-BF27-6E599D838BD0}"/>
              </a:ext>
            </a:extLst>
          </p:cNvPr>
          <p:cNvSpPr>
            <a:spLocks noGrp="1"/>
          </p:cNvSpPr>
          <p:nvPr/>
        </p:nvSpPr>
        <p:spPr>
          <a:xfrm>
            <a:off x="8745760" y="4700588"/>
            <a:ext cx="1721072" cy="400050"/>
          </a:xfrm>
          <a:prstGeom prst="roundRect">
            <a:avLst>
              <a:gd name="adj" fmla="val 14286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9" name="html-shape-14">
            <a:extLst>
              <a:ext uri="{FF2B5EF4-FFF2-40B4-BE49-F238E27FC236}">
                <a16:creationId xmlns:a16="http://schemas.microsoft.com/office/drawing/2014/main" id="{4B8250FE-A1BF-4F8B-83BE-FE25D430574E}"/>
              </a:ext>
            </a:extLst>
          </p:cNvPr>
          <p:cNvSpPr>
            <a:spLocks noGrp="1"/>
          </p:cNvSpPr>
          <p:nvPr/>
        </p:nvSpPr>
        <p:spPr>
          <a:xfrm>
            <a:off x="10731722" y="4700588"/>
            <a:ext cx="1721072" cy="400050"/>
          </a:xfrm>
          <a:prstGeom prst="roundRect">
            <a:avLst>
              <a:gd name="adj" fmla="val 14286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0" name="border-16">
            <a:extLst>
              <a:ext uri="{FF2B5EF4-FFF2-40B4-BE49-F238E27FC236}">
                <a16:creationId xmlns:a16="http://schemas.microsoft.com/office/drawing/2014/main" id="{DEDF40EE-A5B5-4325-AD8D-2852368526B8}"/>
              </a:ext>
            </a:extLst>
          </p:cNvPr>
          <p:cNvSpPr>
            <a:spLocks noGrp="1"/>
          </p:cNvSpPr>
          <p:nvPr/>
        </p:nvSpPr>
        <p:spPr>
          <a:xfrm>
            <a:off x="1333500" y="5324475"/>
            <a:ext cx="15621000" cy="9525"/>
          </a:xfrm>
          <a:prstGeom prst="rect">
            <a:avLst/>
          </a:prstGeom>
          <a:solidFill>
            <a:srgbClr val="DDE2EB"/>
          </a:solidFill>
          <a:ln w="0">
            <a:noFill/>
            <a:prstDash val="solid"/>
          </a:ln>
        </p:spPr>
      </p:sp>
      <p:sp>
        <p:nvSpPr>
          <p:cNvPr id="21" name="html-shape-17">
            <a:extLst>
              <a:ext uri="{FF2B5EF4-FFF2-40B4-BE49-F238E27FC236}">
                <a16:creationId xmlns:a16="http://schemas.microsoft.com/office/drawing/2014/main" id="{E337B2D2-5E90-4FBE-B1F6-886FA504D0DE}"/>
              </a:ext>
            </a:extLst>
          </p:cNvPr>
          <p:cNvSpPr>
            <a:spLocks noGrp="1"/>
          </p:cNvSpPr>
          <p:nvPr/>
        </p:nvSpPr>
        <p:spPr>
          <a:xfrm>
            <a:off x="3714750" y="5557838"/>
            <a:ext cx="8738140" cy="400050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C3CAD7"/>
            </a:solidFill>
            <a:prstDash val="dash"/>
          </a:ln>
        </p:spPr>
      </p:sp>
      <p:sp>
        <p:nvSpPr>
          <p:cNvPr id="22" name="html-shape-18">
            <a:extLst>
              <a:ext uri="{FF2B5EF4-FFF2-40B4-BE49-F238E27FC236}">
                <a16:creationId xmlns:a16="http://schemas.microsoft.com/office/drawing/2014/main" id="{561DCA4D-3ADB-41EF-824A-F245CBC2F933}"/>
              </a:ext>
            </a:extLst>
          </p:cNvPr>
          <p:cNvSpPr>
            <a:spLocks noGrp="1"/>
          </p:cNvSpPr>
          <p:nvPr/>
        </p:nvSpPr>
        <p:spPr>
          <a:xfrm>
            <a:off x="13909358" y="5557838"/>
            <a:ext cx="701612" cy="400050"/>
          </a:xfrm>
          <a:prstGeom prst="roundRect">
            <a:avLst>
              <a:gd name="adj" fmla="val 14286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3" name="html-shape-19">
            <a:extLst>
              <a:ext uri="{FF2B5EF4-FFF2-40B4-BE49-F238E27FC236}">
                <a16:creationId xmlns:a16="http://schemas.microsoft.com/office/drawing/2014/main" id="{C09DC3F2-04A7-41F4-89B2-E3425F65FFC1}"/>
              </a:ext>
            </a:extLst>
          </p:cNvPr>
          <p:cNvSpPr>
            <a:spLocks noGrp="1"/>
          </p:cNvSpPr>
          <p:nvPr/>
        </p:nvSpPr>
        <p:spPr>
          <a:xfrm>
            <a:off x="14677168" y="5557838"/>
            <a:ext cx="701612" cy="400050"/>
          </a:xfrm>
          <a:prstGeom prst="roundRect">
            <a:avLst>
              <a:gd name="adj" fmla="val 14286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4" name="html-shape-20">
            <a:extLst>
              <a:ext uri="{FF2B5EF4-FFF2-40B4-BE49-F238E27FC236}">
                <a16:creationId xmlns:a16="http://schemas.microsoft.com/office/drawing/2014/main" id="{8B68672D-6C29-407C-B3F1-71BB25224A6D}"/>
              </a:ext>
            </a:extLst>
          </p:cNvPr>
          <p:cNvSpPr>
            <a:spLocks noGrp="1"/>
          </p:cNvSpPr>
          <p:nvPr/>
        </p:nvSpPr>
        <p:spPr>
          <a:xfrm>
            <a:off x="15445073" y="5557838"/>
            <a:ext cx="701612" cy="400050"/>
          </a:xfrm>
          <a:prstGeom prst="roundRect">
            <a:avLst>
              <a:gd name="adj" fmla="val 14286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5" name="html-shape-21">
            <a:extLst>
              <a:ext uri="{FF2B5EF4-FFF2-40B4-BE49-F238E27FC236}">
                <a16:creationId xmlns:a16="http://schemas.microsoft.com/office/drawing/2014/main" id="{781D5225-6741-4091-A021-2212437D7909}"/>
              </a:ext>
            </a:extLst>
          </p:cNvPr>
          <p:cNvSpPr>
            <a:spLocks noGrp="1"/>
          </p:cNvSpPr>
          <p:nvPr/>
        </p:nvSpPr>
        <p:spPr>
          <a:xfrm>
            <a:off x="16213074" y="5557838"/>
            <a:ext cx="701612" cy="400050"/>
          </a:xfrm>
          <a:prstGeom prst="roundRect">
            <a:avLst>
              <a:gd name="adj" fmla="val 14286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6" name="border-23">
            <a:extLst>
              <a:ext uri="{FF2B5EF4-FFF2-40B4-BE49-F238E27FC236}">
                <a16:creationId xmlns:a16="http://schemas.microsoft.com/office/drawing/2014/main" id="{52ED146B-13A2-4CA4-AE32-928DF69451D8}"/>
              </a:ext>
            </a:extLst>
          </p:cNvPr>
          <p:cNvSpPr>
            <a:spLocks noGrp="1"/>
          </p:cNvSpPr>
          <p:nvPr/>
        </p:nvSpPr>
        <p:spPr>
          <a:xfrm>
            <a:off x="1000125" y="6934200"/>
            <a:ext cx="7881938" cy="5715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27" name="border-25">
            <a:extLst>
              <a:ext uri="{FF2B5EF4-FFF2-40B4-BE49-F238E27FC236}">
                <a16:creationId xmlns:a16="http://schemas.microsoft.com/office/drawing/2014/main" id="{EF178656-2371-4012-AE8D-94D7C765806A}"/>
              </a:ext>
            </a:extLst>
          </p:cNvPr>
          <p:cNvSpPr>
            <a:spLocks noGrp="1"/>
          </p:cNvSpPr>
          <p:nvPr/>
        </p:nvSpPr>
        <p:spPr>
          <a:xfrm>
            <a:off x="9405938" y="6934200"/>
            <a:ext cx="7881938" cy="5715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01AC7CB-0457-45AA-A31B-6B9A57AC4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1384729-7D64-4591-AB43-DE213A06C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30" name="text-1">
            <a:extLst>
              <a:ext uri="{FF2B5EF4-FFF2-40B4-BE49-F238E27FC236}">
                <a16:creationId xmlns:a16="http://schemas.microsoft.com/office/drawing/2014/main" id="{6FEDE542-5018-486F-B626-9CFBD28A783C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31" name="text-2">
            <a:extLst>
              <a:ext uri="{FF2B5EF4-FFF2-40B4-BE49-F238E27FC236}">
                <a16:creationId xmlns:a16="http://schemas.microsoft.com/office/drawing/2014/main" id="{663D7B1B-1F6B-4C6D-913E-AC075F99E695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32" name="text-3">
            <a:extLst>
              <a:ext uri="{FF2B5EF4-FFF2-40B4-BE49-F238E27FC236}">
                <a16:creationId xmlns:a16="http://schemas.microsoft.com/office/drawing/2014/main" id="{60214202-ED76-476B-9908-504EB2E2A420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6197739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580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带宽决定 KV 排出速度，最后一批 KV 的到达决定 Decode 何时启动</a:t>
            </a:r>
          </a:p>
        </p:txBody>
      </p:sp>
      <p:sp>
        <p:nvSpPr>
          <p:cNvPr id="33" name="text-4">
            <a:extLst>
              <a:ext uri="{FF2B5EF4-FFF2-40B4-BE49-F238E27FC236}">
                <a16:creationId xmlns:a16="http://schemas.microsoft.com/office/drawing/2014/main" id="{DBFC3A8C-B225-4CC0-B9C9-F7E314F76906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134551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KV 传输与 Chunked Prefill 重叠；Decode 启动后，P→D 网络退出逐 Token 生成路径。</a:t>
            </a:r>
          </a:p>
        </p:txBody>
      </p:sp>
      <p:sp>
        <p:nvSpPr>
          <p:cNvPr id="34" name="text-5">
            <a:extLst>
              <a:ext uri="{FF2B5EF4-FFF2-40B4-BE49-F238E27FC236}">
                <a16:creationId xmlns:a16="http://schemas.microsoft.com/office/drawing/2014/main" id="{5EB11C0B-F882-4419-B8FE-4DAB59CD517D}"/>
              </a:ext>
            </a:extLst>
          </p:cNvPr>
          <p:cNvSpPr>
            <a:spLocks noGrp="1"/>
          </p:cNvSpPr>
          <p:nvPr/>
        </p:nvSpPr>
        <p:spPr>
          <a:xfrm>
            <a:off x="16599884" y="3162300"/>
            <a:ext cx="42129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975" b="1" i="0" spc="90" noProof="1">
                <a:solidFill>
                  <a:srgbClr val="8994A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975" b="1" i="0" spc="90" noProof="1">
                <a:solidFill>
                  <a:srgbClr val="8994A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975" b="1" i="0" spc="90" noProof="1">
                <a:solidFill>
                  <a:srgbClr val="8994A6"/>
                </a:solidFill>
                <a:latin typeface="PingFang SC"/>
                <a:ea typeface="PingFang SC"/>
                <a:cs typeface="Arial"/>
              </a:rPr>
              <a:t>TIME</a:t>
            </a:r>
          </a:p>
        </p:txBody>
      </p:sp>
      <p:sp>
        <p:nvSpPr>
          <p:cNvPr id="35" name="text-6">
            <a:extLst>
              <a:ext uri="{FF2B5EF4-FFF2-40B4-BE49-F238E27FC236}">
                <a16:creationId xmlns:a16="http://schemas.microsoft.com/office/drawing/2014/main" id="{DB5704AC-8BD2-48D8-AD18-B532AD75B74C}"/>
              </a:ext>
            </a:extLst>
          </p:cNvPr>
          <p:cNvSpPr>
            <a:spLocks noGrp="1"/>
          </p:cNvSpPr>
          <p:nvPr/>
        </p:nvSpPr>
        <p:spPr>
          <a:xfrm>
            <a:off x="1323975" y="3781425"/>
            <a:ext cx="147342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PREFILL COMPUTE</a:t>
            </a:r>
          </a:p>
        </p:txBody>
      </p:sp>
      <p:sp>
        <p:nvSpPr>
          <p:cNvPr id="36" name="text-7">
            <a:extLst>
              <a:ext uri="{FF2B5EF4-FFF2-40B4-BE49-F238E27FC236}">
                <a16:creationId xmlns:a16="http://schemas.microsoft.com/office/drawing/2014/main" id="{0DE6D648-BE70-4A36-B725-E635E2D3FC39}"/>
              </a:ext>
            </a:extLst>
          </p:cNvPr>
          <p:cNvSpPr>
            <a:spLocks noGrp="1"/>
          </p:cNvSpPr>
          <p:nvPr/>
        </p:nvSpPr>
        <p:spPr>
          <a:xfrm>
            <a:off x="1323975" y="4010025"/>
            <a:ext cx="173478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rPr>
              <a:t>分块计算并产生 KV</a:t>
            </a:r>
          </a:p>
        </p:txBody>
      </p:sp>
      <p:sp>
        <p:nvSpPr>
          <p:cNvPr id="37" name="text-8">
            <a:extLst>
              <a:ext uri="{FF2B5EF4-FFF2-40B4-BE49-F238E27FC236}">
                <a16:creationId xmlns:a16="http://schemas.microsoft.com/office/drawing/2014/main" id="{10CCF6FD-0197-4946-9B46-1C30317EAC83}"/>
              </a:ext>
            </a:extLst>
          </p:cNvPr>
          <p:cNvSpPr>
            <a:spLocks noGrp="1"/>
          </p:cNvSpPr>
          <p:nvPr/>
        </p:nvSpPr>
        <p:spPr>
          <a:xfrm>
            <a:off x="4326922" y="3919538"/>
            <a:ext cx="68637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Chunk 1</a:t>
            </a:r>
          </a:p>
        </p:txBody>
      </p:sp>
      <p:sp>
        <p:nvSpPr>
          <p:cNvPr id="38" name="text-9">
            <a:extLst>
              <a:ext uri="{FF2B5EF4-FFF2-40B4-BE49-F238E27FC236}">
                <a16:creationId xmlns:a16="http://schemas.microsoft.com/office/drawing/2014/main" id="{6020CDEF-AB2E-454D-84E3-ADA5BBC851DB}"/>
              </a:ext>
            </a:extLst>
          </p:cNvPr>
          <p:cNvSpPr>
            <a:spLocks noGrp="1"/>
          </p:cNvSpPr>
          <p:nvPr/>
        </p:nvSpPr>
        <p:spPr>
          <a:xfrm>
            <a:off x="6270879" y="3919538"/>
            <a:ext cx="71723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Chunk 2</a:t>
            </a:r>
          </a:p>
        </p:txBody>
      </p:sp>
      <p:sp>
        <p:nvSpPr>
          <p:cNvPr id="39" name="text-10">
            <a:extLst>
              <a:ext uri="{FF2B5EF4-FFF2-40B4-BE49-F238E27FC236}">
                <a16:creationId xmlns:a16="http://schemas.microsoft.com/office/drawing/2014/main" id="{2182A39A-8307-47A1-B13A-35B779AA982E}"/>
              </a:ext>
            </a:extLst>
          </p:cNvPr>
          <p:cNvSpPr>
            <a:spLocks noGrp="1"/>
          </p:cNvSpPr>
          <p:nvPr/>
        </p:nvSpPr>
        <p:spPr>
          <a:xfrm>
            <a:off x="8230362" y="3919538"/>
            <a:ext cx="71723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Chunk 3</a:t>
            </a:r>
          </a:p>
        </p:txBody>
      </p:sp>
      <p:sp>
        <p:nvSpPr>
          <p:cNvPr id="40" name="text-11">
            <a:extLst>
              <a:ext uri="{FF2B5EF4-FFF2-40B4-BE49-F238E27FC236}">
                <a16:creationId xmlns:a16="http://schemas.microsoft.com/office/drawing/2014/main" id="{C68D1864-3523-4C23-B9CA-713E121DC879}"/>
              </a:ext>
            </a:extLst>
          </p:cNvPr>
          <p:cNvSpPr>
            <a:spLocks noGrp="1"/>
          </p:cNvSpPr>
          <p:nvPr/>
        </p:nvSpPr>
        <p:spPr>
          <a:xfrm>
            <a:off x="10189845" y="3919538"/>
            <a:ext cx="71723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Chunk 4</a:t>
            </a:r>
          </a:p>
        </p:txBody>
      </p:sp>
      <p:sp>
        <p:nvSpPr>
          <p:cNvPr id="41" name="text-12">
            <a:extLst>
              <a:ext uri="{FF2B5EF4-FFF2-40B4-BE49-F238E27FC236}">
                <a16:creationId xmlns:a16="http://schemas.microsoft.com/office/drawing/2014/main" id="{B1925CA3-881C-4F9F-A2E2-DFFB495C1FC1}"/>
              </a:ext>
            </a:extLst>
          </p:cNvPr>
          <p:cNvSpPr>
            <a:spLocks noGrp="1"/>
          </p:cNvSpPr>
          <p:nvPr/>
        </p:nvSpPr>
        <p:spPr>
          <a:xfrm>
            <a:off x="11556397" y="3448050"/>
            <a:ext cx="186909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Prefill compute completed</a:t>
            </a:r>
          </a:p>
        </p:txBody>
      </p:sp>
      <p:sp>
        <p:nvSpPr>
          <p:cNvPr id="42" name="text-13">
            <a:extLst>
              <a:ext uri="{FF2B5EF4-FFF2-40B4-BE49-F238E27FC236}">
                <a16:creationId xmlns:a16="http://schemas.microsoft.com/office/drawing/2014/main" id="{646E57BC-9C38-468D-8372-972F7046674E}"/>
              </a:ext>
            </a:extLst>
          </p:cNvPr>
          <p:cNvSpPr>
            <a:spLocks noGrp="1"/>
          </p:cNvSpPr>
          <p:nvPr/>
        </p:nvSpPr>
        <p:spPr>
          <a:xfrm>
            <a:off x="1323975" y="4643438"/>
            <a:ext cx="122605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P→D NETWORK</a:t>
            </a:r>
          </a:p>
        </p:txBody>
      </p:sp>
      <p:sp>
        <p:nvSpPr>
          <p:cNvPr id="43" name="text-14">
            <a:extLst>
              <a:ext uri="{FF2B5EF4-FFF2-40B4-BE49-F238E27FC236}">
                <a16:creationId xmlns:a16="http://schemas.microsoft.com/office/drawing/2014/main" id="{B0D76F0B-2D2D-4E56-8BEC-54D0FD6301E2}"/>
              </a:ext>
            </a:extLst>
          </p:cNvPr>
          <p:cNvSpPr>
            <a:spLocks noGrp="1"/>
          </p:cNvSpPr>
          <p:nvPr/>
        </p:nvSpPr>
        <p:spPr>
          <a:xfrm>
            <a:off x="1323975" y="4872038"/>
            <a:ext cx="192528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rPr>
              <a:t>异步排出已产生的 KV</a:t>
            </a:r>
          </a:p>
        </p:txBody>
      </p:sp>
      <p:sp>
        <p:nvSpPr>
          <p:cNvPr id="44" name="text-15">
            <a:extLst>
              <a:ext uri="{FF2B5EF4-FFF2-40B4-BE49-F238E27FC236}">
                <a16:creationId xmlns:a16="http://schemas.microsoft.com/office/drawing/2014/main" id="{88234D53-121B-42AA-A83B-CD7F1D9FE853}"/>
              </a:ext>
            </a:extLst>
          </p:cNvPr>
          <p:cNvSpPr>
            <a:spLocks noGrp="1"/>
          </p:cNvSpPr>
          <p:nvPr/>
        </p:nvSpPr>
        <p:spPr>
          <a:xfrm>
            <a:off x="5453348" y="4781550"/>
            <a:ext cx="41890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KV 1</a:t>
            </a:r>
          </a:p>
        </p:txBody>
      </p:sp>
      <p:sp>
        <p:nvSpPr>
          <p:cNvPr id="45" name="text-16">
            <a:extLst>
              <a:ext uri="{FF2B5EF4-FFF2-40B4-BE49-F238E27FC236}">
                <a16:creationId xmlns:a16="http://schemas.microsoft.com/office/drawing/2014/main" id="{788D1583-4B37-4699-AD54-4C2C82A79F9A}"/>
              </a:ext>
            </a:extLst>
          </p:cNvPr>
          <p:cNvSpPr>
            <a:spLocks noGrp="1"/>
          </p:cNvSpPr>
          <p:nvPr/>
        </p:nvSpPr>
        <p:spPr>
          <a:xfrm>
            <a:off x="7423976" y="4781550"/>
            <a:ext cx="4495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KV 2</a:t>
            </a:r>
          </a:p>
        </p:txBody>
      </p:sp>
      <p:sp>
        <p:nvSpPr>
          <p:cNvPr id="46" name="text-17">
            <a:extLst>
              <a:ext uri="{FF2B5EF4-FFF2-40B4-BE49-F238E27FC236}">
                <a16:creationId xmlns:a16="http://schemas.microsoft.com/office/drawing/2014/main" id="{5D92FB1B-BE19-4503-9629-CC9B7DA6AA36}"/>
              </a:ext>
            </a:extLst>
          </p:cNvPr>
          <p:cNvSpPr>
            <a:spLocks noGrp="1"/>
          </p:cNvSpPr>
          <p:nvPr/>
        </p:nvSpPr>
        <p:spPr>
          <a:xfrm>
            <a:off x="9409938" y="4781550"/>
            <a:ext cx="4495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KV 3</a:t>
            </a:r>
          </a:p>
        </p:txBody>
      </p:sp>
      <p:sp>
        <p:nvSpPr>
          <p:cNvPr id="47" name="text-18">
            <a:extLst>
              <a:ext uri="{FF2B5EF4-FFF2-40B4-BE49-F238E27FC236}">
                <a16:creationId xmlns:a16="http://schemas.microsoft.com/office/drawing/2014/main" id="{7C4F2911-1CED-4E97-A2BF-E04B8948B0B0}"/>
              </a:ext>
            </a:extLst>
          </p:cNvPr>
          <p:cNvSpPr>
            <a:spLocks noGrp="1"/>
          </p:cNvSpPr>
          <p:nvPr/>
        </p:nvSpPr>
        <p:spPr>
          <a:xfrm>
            <a:off x="11395901" y="4781550"/>
            <a:ext cx="4495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KV 4</a:t>
            </a:r>
          </a:p>
        </p:txBody>
      </p:sp>
      <p:sp>
        <p:nvSpPr>
          <p:cNvPr id="48" name="text-19">
            <a:extLst>
              <a:ext uri="{FF2B5EF4-FFF2-40B4-BE49-F238E27FC236}">
                <a16:creationId xmlns:a16="http://schemas.microsoft.com/office/drawing/2014/main" id="{97E5FF92-895A-4F1A-BD49-5B4CFBB5C2DB}"/>
              </a:ext>
            </a:extLst>
          </p:cNvPr>
          <p:cNvSpPr>
            <a:spLocks noGrp="1"/>
          </p:cNvSpPr>
          <p:nvPr/>
        </p:nvSpPr>
        <p:spPr>
          <a:xfrm>
            <a:off x="12774359" y="4757738"/>
            <a:ext cx="2257711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4762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4762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476287"/>
                </a:solidFill>
                <a:latin typeface="PingFang SC"/>
                <a:ea typeface="PingFang SC"/>
                <a:cs typeface="Arial"/>
              </a:rPr>
              <a:t>Compute 与 Transfer 异步重叠</a:t>
            </a:r>
          </a:p>
        </p:txBody>
      </p:sp>
      <p:sp>
        <p:nvSpPr>
          <p:cNvPr id="49" name="text-20">
            <a:extLst>
              <a:ext uri="{FF2B5EF4-FFF2-40B4-BE49-F238E27FC236}">
                <a16:creationId xmlns:a16="http://schemas.microsoft.com/office/drawing/2014/main" id="{9E80D5D5-103A-46E4-84E5-0CBAF68D10C3}"/>
              </a:ext>
            </a:extLst>
          </p:cNvPr>
          <p:cNvSpPr>
            <a:spLocks noGrp="1"/>
          </p:cNvSpPr>
          <p:nvPr/>
        </p:nvSpPr>
        <p:spPr>
          <a:xfrm>
            <a:off x="1323975" y="5381625"/>
            <a:ext cx="69751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50" name="text-21">
            <a:extLst>
              <a:ext uri="{FF2B5EF4-FFF2-40B4-BE49-F238E27FC236}">
                <a16:creationId xmlns:a16="http://schemas.microsoft.com/office/drawing/2014/main" id="{3B796F86-FFA6-4DAB-B818-1EA8284DA3CE}"/>
              </a:ext>
            </a:extLst>
          </p:cNvPr>
          <p:cNvSpPr>
            <a:spLocks noGrp="1"/>
          </p:cNvSpPr>
          <p:nvPr/>
        </p:nvSpPr>
        <p:spPr>
          <a:xfrm>
            <a:off x="1323975" y="5610225"/>
            <a:ext cx="203615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rPr>
              <a:t>KV 到齐后逐 Token 生</a:t>
            </a:r>
          </a:p>
        </p:txBody>
      </p:sp>
      <p:sp>
        <p:nvSpPr>
          <p:cNvPr id="51" name="text-22">
            <a:extLst>
              <a:ext uri="{FF2B5EF4-FFF2-40B4-BE49-F238E27FC236}">
                <a16:creationId xmlns:a16="http://schemas.microsoft.com/office/drawing/2014/main" id="{D932CDE6-8B82-468E-8D65-3B1BB05703E1}"/>
              </a:ext>
            </a:extLst>
          </p:cNvPr>
          <p:cNvSpPr>
            <a:spLocks noGrp="1"/>
          </p:cNvSpPr>
          <p:nvPr/>
        </p:nvSpPr>
        <p:spPr>
          <a:xfrm>
            <a:off x="1323975" y="58483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D394D"/>
                </a:solidFill>
                <a:latin typeface="PingFang SC"/>
                <a:ea typeface="PingFang SC"/>
                <a:cs typeface="Arial"/>
              </a:rPr>
              <a:t>成</a:t>
            </a:r>
          </a:p>
        </p:txBody>
      </p:sp>
      <p:sp>
        <p:nvSpPr>
          <p:cNvPr id="52" name="text-23">
            <a:extLst>
              <a:ext uri="{FF2B5EF4-FFF2-40B4-BE49-F238E27FC236}">
                <a16:creationId xmlns:a16="http://schemas.microsoft.com/office/drawing/2014/main" id="{5FCA78B9-8439-448A-9802-B333D8B8140B}"/>
              </a:ext>
            </a:extLst>
          </p:cNvPr>
          <p:cNvSpPr>
            <a:spLocks noGrp="1"/>
          </p:cNvSpPr>
          <p:nvPr/>
        </p:nvSpPr>
        <p:spPr>
          <a:xfrm>
            <a:off x="6961156" y="5653088"/>
            <a:ext cx="2302383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7F8A9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7F8A9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7F8A9C"/>
                </a:solidFill>
                <a:latin typeface="PingFang SC"/>
                <a:ea typeface="PingFang SC"/>
                <a:cs typeface="Arial"/>
              </a:rPr>
              <a:t>等待该 Request 的必要 KV 到齐</a:t>
            </a:r>
          </a:p>
        </p:txBody>
      </p:sp>
      <p:sp>
        <p:nvSpPr>
          <p:cNvPr id="53" name="text-24">
            <a:extLst>
              <a:ext uri="{FF2B5EF4-FFF2-40B4-BE49-F238E27FC236}">
                <a16:creationId xmlns:a16="http://schemas.microsoft.com/office/drawing/2014/main" id="{AAE137AA-79B7-4ABA-9002-C71CC2517562}"/>
              </a:ext>
            </a:extLst>
          </p:cNvPr>
          <p:cNvSpPr>
            <a:spLocks noGrp="1"/>
          </p:cNvSpPr>
          <p:nvPr/>
        </p:nvSpPr>
        <p:spPr>
          <a:xfrm>
            <a:off x="12209336" y="6072188"/>
            <a:ext cx="75619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LAST KV</a:t>
            </a:r>
          </a:p>
        </p:txBody>
      </p:sp>
      <p:sp>
        <p:nvSpPr>
          <p:cNvPr id="54" name="text-25">
            <a:extLst>
              <a:ext uri="{FF2B5EF4-FFF2-40B4-BE49-F238E27FC236}">
                <a16:creationId xmlns:a16="http://schemas.microsoft.com/office/drawing/2014/main" id="{D2F69D3B-539E-4838-AC5A-628878D69130}"/>
              </a:ext>
            </a:extLst>
          </p:cNvPr>
          <p:cNvSpPr>
            <a:spLocks noGrp="1"/>
          </p:cNvSpPr>
          <p:nvPr/>
        </p:nvSpPr>
        <p:spPr>
          <a:xfrm>
            <a:off x="11924824" y="6254972"/>
            <a:ext cx="1325308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DECODE START</a:t>
            </a:r>
          </a:p>
        </p:txBody>
      </p:sp>
      <p:sp>
        <p:nvSpPr>
          <p:cNvPr id="55" name="text-26">
            <a:extLst>
              <a:ext uri="{FF2B5EF4-FFF2-40B4-BE49-F238E27FC236}">
                <a16:creationId xmlns:a16="http://schemas.microsoft.com/office/drawing/2014/main" id="{749B6B10-67BA-4712-90AB-D2822951FE37}"/>
              </a:ext>
            </a:extLst>
          </p:cNvPr>
          <p:cNvSpPr>
            <a:spLocks noGrp="1"/>
          </p:cNvSpPr>
          <p:nvPr/>
        </p:nvSpPr>
        <p:spPr>
          <a:xfrm>
            <a:off x="14167580" y="5638800"/>
            <a:ext cx="24231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T1</a:t>
            </a:r>
          </a:p>
        </p:txBody>
      </p:sp>
      <p:sp>
        <p:nvSpPr>
          <p:cNvPr id="56" name="text-27">
            <a:extLst>
              <a:ext uri="{FF2B5EF4-FFF2-40B4-BE49-F238E27FC236}">
                <a16:creationId xmlns:a16="http://schemas.microsoft.com/office/drawing/2014/main" id="{747BC95B-AD47-44F6-A2E8-951DC6D86C42}"/>
              </a:ext>
            </a:extLst>
          </p:cNvPr>
          <p:cNvSpPr>
            <a:spLocks noGrp="1"/>
          </p:cNvSpPr>
          <p:nvPr/>
        </p:nvSpPr>
        <p:spPr>
          <a:xfrm>
            <a:off x="14920055" y="5638800"/>
            <a:ext cx="272987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T2</a:t>
            </a:r>
          </a:p>
        </p:txBody>
      </p:sp>
      <p:sp>
        <p:nvSpPr>
          <p:cNvPr id="57" name="text-28">
            <a:extLst>
              <a:ext uri="{FF2B5EF4-FFF2-40B4-BE49-F238E27FC236}">
                <a16:creationId xmlns:a16="http://schemas.microsoft.com/office/drawing/2014/main" id="{5EB18638-61A8-46B7-98DE-4C877E886F9B}"/>
              </a:ext>
            </a:extLst>
          </p:cNvPr>
          <p:cNvSpPr>
            <a:spLocks noGrp="1"/>
          </p:cNvSpPr>
          <p:nvPr/>
        </p:nvSpPr>
        <p:spPr>
          <a:xfrm>
            <a:off x="15687961" y="5638800"/>
            <a:ext cx="272987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T3</a:t>
            </a:r>
          </a:p>
        </p:txBody>
      </p:sp>
      <p:sp>
        <p:nvSpPr>
          <p:cNvPr id="58" name="text-29">
            <a:extLst>
              <a:ext uri="{FF2B5EF4-FFF2-40B4-BE49-F238E27FC236}">
                <a16:creationId xmlns:a16="http://schemas.microsoft.com/office/drawing/2014/main" id="{C524484A-77B6-4EFE-B460-32ACB4F76127}"/>
              </a:ext>
            </a:extLst>
          </p:cNvPr>
          <p:cNvSpPr>
            <a:spLocks noGrp="1"/>
          </p:cNvSpPr>
          <p:nvPr/>
        </p:nvSpPr>
        <p:spPr>
          <a:xfrm>
            <a:off x="16455962" y="5638800"/>
            <a:ext cx="272987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T4</a:t>
            </a:r>
          </a:p>
        </p:txBody>
      </p:sp>
      <p:sp>
        <p:nvSpPr>
          <p:cNvPr id="59" name="text-30">
            <a:extLst>
              <a:ext uri="{FF2B5EF4-FFF2-40B4-BE49-F238E27FC236}">
                <a16:creationId xmlns:a16="http://schemas.microsoft.com/office/drawing/2014/main" id="{E393E246-8386-41EA-8589-1137089FC1F8}"/>
              </a:ext>
            </a:extLst>
          </p:cNvPr>
          <p:cNvSpPr>
            <a:spLocks noGrp="1"/>
          </p:cNvSpPr>
          <p:nvPr/>
        </p:nvSpPr>
        <p:spPr>
          <a:xfrm>
            <a:off x="1257300" y="7191375"/>
            <a:ext cx="180870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9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9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9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对 PREFILL 服务吞吐的影响</a:t>
            </a:r>
          </a:p>
        </p:txBody>
      </p:sp>
      <p:sp>
        <p:nvSpPr>
          <p:cNvPr id="60" name="text-31">
            <a:extLst>
              <a:ext uri="{FF2B5EF4-FFF2-40B4-BE49-F238E27FC236}">
                <a16:creationId xmlns:a16="http://schemas.microsoft.com/office/drawing/2014/main" id="{C4BA3F59-783F-4281-B697-B494456E5D39}"/>
              </a:ext>
            </a:extLst>
          </p:cNvPr>
          <p:cNvSpPr>
            <a:spLocks noGrp="1"/>
          </p:cNvSpPr>
          <p:nvPr/>
        </p:nvSpPr>
        <p:spPr>
          <a:xfrm>
            <a:off x="1257300" y="7429500"/>
            <a:ext cx="427539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2733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2733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273347"/>
                </a:solidFill>
                <a:latin typeface="PingFang SC"/>
                <a:ea typeface="PingFang SC"/>
                <a:cs typeface="Arial"/>
              </a:rPr>
              <a:t>网络排出慢于 KV 产生，队列和反压才会出现</a:t>
            </a:r>
          </a:p>
        </p:txBody>
      </p:sp>
      <p:sp>
        <p:nvSpPr>
          <p:cNvPr id="61" name="text-32">
            <a:extLst>
              <a:ext uri="{FF2B5EF4-FFF2-40B4-BE49-F238E27FC236}">
                <a16:creationId xmlns:a16="http://schemas.microsoft.com/office/drawing/2014/main" id="{99B787C8-5722-48A1-AD3F-129F4F0F8BCE}"/>
              </a:ext>
            </a:extLst>
          </p:cNvPr>
          <p:cNvSpPr>
            <a:spLocks noGrp="1"/>
          </p:cNvSpPr>
          <p:nvPr/>
        </p:nvSpPr>
        <p:spPr>
          <a:xfrm>
            <a:off x="1257300" y="7834313"/>
            <a:ext cx="112757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rPr>
              <a:t>KV Production</a:t>
            </a:r>
          </a:p>
        </p:txBody>
      </p:sp>
      <p:sp>
        <p:nvSpPr>
          <p:cNvPr id="62" name="text-33">
            <a:extLst>
              <a:ext uri="{FF2B5EF4-FFF2-40B4-BE49-F238E27FC236}">
                <a16:creationId xmlns:a16="http://schemas.microsoft.com/office/drawing/2014/main" id="{91B68AE9-A780-450F-87FE-04241E6CEE1C}"/>
              </a:ext>
            </a:extLst>
          </p:cNvPr>
          <p:cNvSpPr>
            <a:spLocks noGrp="1"/>
          </p:cNvSpPr>
          <p:nvPr/>
        </p:nvSpPr>
        <p:spPr>
          <a:xfrm>
            <a:off x="2422970" y="7796213"/>
            <a:ext cx="20297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rPr>
              <a:t>&gt;</a:t>
            </a:r>
          </a:p>
        </p:txBody>
      </p:sp>
      <p:sp>
        <p:nvSpPr>
          <p:cNvPr id="63" name="text-34">
            <a:extLst>
              <a:ext uri="{FF2B5EF4-FFF2-40B4-BE49-F238E27FC236}">
                <a16:creationId xmlns:a16="http://schemas.microsoft.com/office/drawing/2014/main" id="{553392EE-4B03-4B23-92C0-0602E94ECBDC}"/>
              </a:ext>
            </a:extLst>
          </p:cNvPr>
          <p:cNvSpPr>
            <a:spLocks noGrp="1"/>
          </p:cNvSpPr>
          <p:nvPr/>
        </p:nvSpPr>
        <p:spPr>
          <a:xfrm>
            <a:off x="2664047" y="7834313"/>
            <a:ext cx="1115663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rPr>
              <a:t>Network Drain</a:t>
            </a:r>
          </a:p>
        </p:txBody>
      </p:sp>
      <p:sp>
        <p:nvSpPr>
          <p:cNvPr id="64" name="text-35">
            <a:extLst>
              <a:ext uri="{FF2B5EF4-FFF2-40B4-BE49-F238E27FC236}">
                <a16:creationId xmlns:a16="http://schemas.microsoft.com/office/drawing/2014/main" id="{0E0517C4-9610-42E7-86E7-92CD75E1AB40}"/>
              </a:ext>
            </a:extLst>
          </p:cNvPr>
          <p:cNvSpPr>
            <a:spLocks noGrp="1"/>
          </p:cNvSpPr>
          <p:nvPr/>
        </p:nvSpPr>
        <p:spPr>
          <a:xfrm>
            <a:off x="3817715" y="7796213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65" name="text-36">
            <a:extLst>
              <a:ext uri="{FF2B5EF4-FFF2-40B4-BE49-F238E27FC236}">
                <a16:creationId xmlns:a16="http://schemas.microsoft.com/office/drawing/2014/main" id="{EAB831C9-1E9D-455B-86D0-3D3811C13C77}"/>
              </a:ext>
            </a:extLst>
          </p:cNvPr>
          <p:cNvSpPr>
            <a:spLocks noGrp="1"/>
          </p:cNvSpPr>
          <p:nvPr/>
        </p:nvSpPr>
        <p:spPr>
          <a:xfrm>
            <a:off x="4141565" y="7820025"/>
            <a:ext cx="226914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Queue ↑ · Input TPS 被封顶</a:t>
            </a:r>
          </a:p>
        </p:txBody>
      </p:sp>
      <p:sp>
        <p:nvSpPr>
          <p:cNvPr id="66" name="text-37">
            <a:extLst>
              <a:ext uri="{FF2B5EF4-FFF2-40B4-BE49-F238E27FC236}">
                <a16:creationId xmlns:a16="http://schemas.microsoft.com/office/drawing/2014/main" id="{7C6E4F6A-FB79-441C-86EE-215BAF59EC6A}"/>
              </a:ext>
            </a:extLst>
          </p:cNvPr>
          <p:cNvSpPr>
            <a:spLocks noGrp="1"/>
          </p:cNvSpPr>
          <p:nvPr/>
        </p:nvSpPr>
        <p:spPr>
          <a:xfrm>
            <a:off x="1257300" y="8158163"/>
            <a:ext cx="545620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9768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9768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9768B"/>
                </a:solidFill>
                <a:latin typeface="PingFang SC"/>
                <a:ea typeface="PingFang SC"/>
                <a:cs typeface="Arial"/>
              </a:rPr>
              <a:t>网络不降低 Prefill 算子的计算速度；它限制完成 KV 交付后的端到端服务吞吐。</a:t>
            </a:r>
          </a:p>
        </p:txBody>
      </p:sp>
      <p:sp>
        <p:nvSpPr>
          <p:cNvPr id="67" name="text-38">
            <a:extLst>
              <a:ext uri="{FF2B5EF4-FFF2-40B4-BE49-F238E27FC236}">
                <a16:creationId xmlns:a16="http://schemas.microsoft.com/office/drawing/2014/main" id="{49FC13C5-CDD5-4340-AAA3-42E4979C14B3}"/>
              </a:ext>
            </a:extLst>
          </p:cNvPr>
          <p:cNvSpPr>
            <a:spLocks noGrp="1"/>
          </p:cNvSpPr>
          <p:nvPr/>
        </p:nvSpPr>
        <p:spPr>
          <a:xfrm>
            <a:off x="9663113" y="7191375"/>
            <a:ext cx="1825657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975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975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975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对 DECODE 用户体验的影响</a:t>
            </a:r>
          </a:p>
        </p:txBody>
      </p:sp>
      <p:sp>
        <p:nvSpPr>
          <p:cNvPr id="68" name="text-39">
            <a:extLst>
              <a:ext uri="{FF2B5EF4-FFF2-40B4-BE49-F238E27FC236}">
                <a16:creationId xmlns:a16="http://schemas.microsoft.com/office/drawing/2014/main" id="{1F34E96F-4985-4CFE-83C3-A34AEC098B99}"/>
              </a:ext>
            </a:extLst>
          </p:cNvPr>
          <p:cNvSpPr>
            <a:spLocks noGrp="1"/>
          </p:cNvSpPr>
          <p:nvPr/>
        </p:nvSpPr>
        <p:spPr>
          <a:xfrm>
            <a:off x="9663113" y="7429500"/>
            <a:ext cx="454428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2733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2733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273347"/>
                </a:solidFill>
                <a:latin typeface="PingFang SC"/>
                <a:ea typeface="PingFang SC"/>
                <a:cs typeface="Arial"/>
              </a:rPr>
              <a:t>最后一批 KV 的交付长尾决定 Decode 何时启动</a:t>
            </a:r>
          </a:p>
        </p:txBody>
      </p:sp>
      <p:sp>
        <p:nvSpPr>
          <p:cNvPr id="69" name="text-40">
            <a:extLst>
              <a:ext uri="{FF2B5EF4-FFF2-40B4-BE49-F238E27FC236}">
                <a16:creationId xmlns:a16="http://schemas.microsoft.com/office/drawing/2014/main" id="{B7F0C606-1052-48B8-82FF-75CB9C09BC11}"/>
              </a:ext>
            </a:extLst>
          </p:cNvPr>
          <p:cNvSpPr>
            <a:spLocks noGrp="1"/>
          </p:cNvSpPr>
          <p:nvPr/>
        </p:nvSpPr>
        <p:spPr>
          <a:xfrm>
            <a:off x="9663113" y="7834313"/>
            <a:ext cx="153133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rPr>
              <a:t>Last KV Completion</a:t>
            </a:r>
          </a:p>
        </p:txBody>
      </p:sp>
      <p:sp>
        <p:nvSpPr>
          <p:cNvPr id="70" name="text-41">
            <a:extLst>
              <a:ext uri="{FF2B5EF4-FFF2-40B4-BE49-F238E27FC236}">
                <a16:creationId xmlns:a16="http://schemas.microsoft.com/office/drawing/2014/main" id="{4C56D3CA-38F5-4E07-955C-61553612CE36}"/>
              </a:ext>
            </a:extLst>
          </p:cNvPr>
          <p:cNvSpPr>
            <a:spLocks noGrp="1"/>
          </p:cNvSpPr>
          <p:nvPr/>
        </p:nvSpPr>
        <p:spPr>
          <a:xfrm>
            <a:off x="11232547" y="7796213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71" name="text-42">
            <a:extLst>
              <a:ext uri="{FF2B5EF4-FFF2-40B4-BE49-F238E27FC236}">
                <a16:creationId xmlns:a16="http://schemas.microsoft.com/office/drawing/2014/main" id="{B60C4C83-EDFA-41B6-9729-D0D3A037B7E2}"/>
              </a:ext>
            </a:extLst>
          </p:cNvPr>
          <p:cNvSpPr>
            <a:spLocks noGrp="1"/>
          </p:cNvSpPr>
          <p:nvPr/>
        </p:nvSpPr>
        <p:spPr>
          <a:xfrm>
            <a:off x="11556397" y="7834313"/>
            <a:ext cx="103193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344157"/>
                </a:solidFill>
                <a:latin typeface="PingFang SC"/>
                <a:ea typeface="PingFang SC"/>
                <a:cs typeface="Arial"/>
              </a:rPr>
              <a:t>Decode Start</a:t>
            </a:r>
          </a:p>
        </p:txBody>
      </p:sp>
      <p:sp>
        <p:nvSpPr>
          <p:cNvPr id="72" name="text-43">
            <a:extLst>
              <a:ext uri="{FF2B5EF4-FFF2-40B4-BE49-F238E27FC236}">
                <a16:creationId xmlns:a16="http://schemas.microsoft.com/office/drawing/2014/main" id="{B4721D77-820E-4D50-A82E-4AEBA64CE393}"/>
              </a:ext>
            </a:extLst>
          </p:cNvPr>
          <p:cNvSpPr>
            <a:spLocks noGrp="1"/>
          </p:cNvSpPr>
          <p:nvPr/>
        </p:nvSpPr>
        <p:spPr>
          <a:xfrm>
            <a:off x="12626435" y="7796213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8B96A8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73" name="text-44">
            <a:extLst>
              <a:ext uri="{FF2B5EF4-FFF2-40B4-BE49-F238E27FC236}">
                <a16:creationId xmlns:a16="http://schemas.microsoft.com/office/drawing/2014/main" id="{5B09D43B-9882-4A04-9125-C1F9AAA2EBF3}"/>
              </a:ext>
            </a:extLst>
          </p:cNvPr>
          <p:cNvSpPr>
            <a:spLocks noGrp="1"/>
          </p:cNvSpPr>
          <p:nvPr/>
        </p:nvSpPr>
        <p:spPr>
          <a:xfrm>
            <a:off x="12950285" y="7820025"/>
            <a:ext cx="469297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TTFT</a:t>
            </a:r>
          </a:p>
        </p:txBody>
      </p:sp>
      <p:sp>
        <p:nvSpPr>
          <p:cNvPr id="74" name="text-45">
            <a:extLst>
              <a:ext uri="{FF2B5EF4-FFF2-40B4-BE49-F238E27FC236}">
                <a16:creationId xmlns:a16="http://schemas.microsoft.com/office/drawing/2014/main" id="{9984EC17-28FC-4231-A260-C03A6890B898}"/>
              </a:ext>
            </a:extLst>
          </p:cNvPr>
          <p:cNvSpPr>
            <a:spLocks noGrp="1"/>
          </p:cNvSpPr>
          <p:nvPr/>
        </p:nvSpPr>
        <p:spPr>
          <a:xfrm>
            <a:off x="9663113" y="8158163"/>
            <a:ext cx="6318218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9768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9768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9768B"/>
                </a:solidFill>
                <a:latin typeface="PingFang SC"/>
                <a:ea typeface="PingFang SC"/>
                <a:cs typeface="Arial"/>
              </a:rPr>
              <a:t>Decode 启动后，P→D 网络退出逐 Token 关键路径；TPOT / Interactivity 仍由 D 侧决定。</a:t>
            </a:r>
          </a:p>
        </p:txBody>
      </p:sp>
      <p:sp>
        <p:nvSpPr>
          <p:cNvPr id="75" name="text-46">
            <a:extLst>
              <a:ext uri="{FF2B5EF4-FFF2-40B4-BE49-F238E27FC236}">
                <a16:creationId xmlns:a16="http://schemas.microsoft.com/office/drawing/2014/main" id="{E932D829-189F-48E2-87DD-04B540E2D99E}"/>
              </a:ext>
            </a:extLst>
          </p:cNvPr>
          <p:cNvSpPr>
            <a:spLocks noGrp="1"/>
          </p:cNvSpPr>
          <p:nvPr/>
        </p:nvSpPr>
        <p:spPr>
          <a:xfrm>
            <a:off x="3517392" y="9074087"/>
            <a:ext cx="11310366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带宽影响 Input TPS，KV 交付长尾影响 TTFT；Decode 输出速度主要由 Decode 侧决定。</a:t>
            </a:r>
          </a:p>
        </p:txBody>
      </p:sp>
      <p:sp>
        <p:nvSpPr>
          <p:cNvPr id="76" name="text-47">
            <a:extLst>
              <a:ext uri="{FF2B5EF4-FFF2-40B4-BE49-F238E27FC236}">
                <a16:creationId xmlns:a16="http://schemas.microsoft.com/office/drawing/2014/main" id="{90168F09-10D9-444A-ACB1-05596347B430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605771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SGLang PD execution model; Prefill-as-a-Service communication model.</a:t>
            </a:r>
          </a:p>
        </p:txBody>
      </p:sp>
      <p:sp>
        <p:nvSpPr>
          <p:cNvPr id="77" name="text-48">
            <a:extLst>
              <a:ext uri="{FF2B5EF4-FFF2-40B4-BE49-F238E27FC236}">
                <a16:creationId xmlns:a16="http://schemas.microsoft.com/office/drawing/2014/main" id="{EA2AB240-5CD4-4937-B3B5-141B2E331C4D}"/>
              </a:ext>
            </a:extLst>
          </p:cNvPr>
          <p:cNvSpPr>
            <a:spLocks noGrp="1"/>
          </p:cNvSpPr>
          <p:nvPr/>
        </p:nvSpPr>
        <p:spPr>
          <a:xfrm>
            <a:off x="16903922" y="9848850"/>
            <a:ext cx="67922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27 / 43</a:t>
            </a:r>
          </a:p>
        </p:txBody>
      </p:sp>
    </p:spTree>
    <p:extLst>
      <p:ext uri="{BB962C8B-B14F-4D97-AF65-F5344CB8AC3E}">
        <p14:creationId xmlns:p14="http://schemas.microsoft.com/office/powerpoint/2010/main" val="97608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html-shape-1">
            <a:extLst>
              <a:ext uri="{FF2B5EF4-FFF2-40B4-BE49-F238E27FC236}">
                <a16:creationId xmlns:a16="http://schemas.microsoft.com/office/drawing/2014/main" id="{2C39CAA3-4DC7-468F-8178-3C7D0B6D7F35}"/>
              </a:ext>
            </a:extLst>
          </p:cNvPr>
          <p:cNvSpPr>
            <a:spLocks noGrp="1"/>
          </p:cNvSpPr>
          <p:nvPr/>
        </p:nvSpPr>
        <p:spPr>
          <a:xfrm>
            <a:off x="1428750" y="4191000"/>
            <a:ext cx="3048000" cy="2857500"/>
          </a:xfrm>
          <a:prstGeom prst="roundRect">
            <a:avLst>
              <a:gd name="adj" fmla="val 8000"/>
            </a:avLst>
          </a:prstGeom>
          <a:solidFill>
            <a:srgbClr val="EEE8FF"/>
          </a:solidFill>
          <a:ln w="28575">
            <a:solidFill>
              <a:srgbClr val="C8B7FF"/>
            </a:solidFill>
            <a:prstDash val="solid"/>
          </a:ln>
        </p:spPr>
      </p:sp>
      <p:sp>
        <p:nvSpPr>
          <p:cNvPr id="2" name="html-shape-2">
            <a:extLst>
              <a:ext uri="{FF2B5EF4-FFF2-40B4-BE49-F238E27FC236}">
                <a16:creationId xmlns:a16="http://schemas.microsoft.com/office/drawing/2014/main" id="{9E14E847-690F-412D-A83E-0C56C71E7CAB}"/>
              </a:ext>
            </a:extLst>
          </p:cNvPr>
          <p:cNvSpPr>
            <a:spLocks noGrp="1"/>
          </p:cNvSpPr>
          <p:nvPr/>
        </p:nvSpPr>
        <p:spPr>
          <a:xfrm>
            <a:off x="5086350" y="3524250"/>
            <a:ext cx="8115300" cy="4191000"/>
          </a:xfrm>
          <a:prstGeom prst="rect">
            <a:avLst/>
          </a:prstGeom>
          <a:solidFill>
            <a:srgbClr val="F3F7FF"/>
          </a:solidFill>
          <a:ln w="0">
            <a:noFill/>
            <a:prstDash val="solid"/>
          </a:ln>
        </p:spPr>
      </p:sp>
      <p:sp>
        <p:nvSpPr>
          <p:cNvPr id="3" name="html-shape-11">
            <a:extLst>
              <a:ext uri="{FF2B5EF4-FFF2-40B4-BE49-F238E27FC236}">
                <a16:creationId xmlns:a16="http://schemas.microsoft.com/office/drawing/2014/main" id="{496FE00E-13DE-44CE-8D76-3242159AF465}"/>
              </a:ext>
            </a:extLst>
          </p:cNvPr>
          <p:cNvSpPr>
            <a:spLocks noGrp="1"/>
          </p:cNvSpPr>
          <p:nvPr/>
        </p:nvSpPr>
        <p:spPr>
          <a:xfrm>
            <a:off x="9144000" y="5518690"/>
            <a:ext cx="3695700" cy="1869091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html-shape-13">
            <a:extLst>
              <a:ext uri="{FF2B5EF4-FFF2-40B4-BE49-F238E27FC236}">
                <a16:creationId xmlns:a16="http://schemas.microsoft.com/office/drawing/2014/main" id="{46315E80-71B6-4145-961F-3B0AA902E918}"/>
              </a:ext>
            </a:extLst>
          </p:cNvPr>
          <p:cNvSpPr>
            <a:spLocks noGrp="1"/>
          </p:cNvSpPr>
          <p:nvPr/>
        </p:nvSpPr>
        <p:spPr>
          <a:xfrm>
            <a:off x="13811250" y="4191000"/>
            <a:ext cx="3048000" cy="2857500"/>
          </a:xfrm>
          <a:prstGeom prst="roundRect">
            <a:avLst>
              <a:gd name="adj" fmla="val 8000"/>
            </a:avLst>
          </a:prstGeom>
          <a:solidFill>
            <a:srgbClr val="E7F7F0"/>
          </a:solidFill>
          <a:ln w="28575">
            <a:solidFill>
              <a:srgbClr val="A8DDC8"/>
            </a:solidFill>
            <a:prstDash val="solid"/>
          </a:ln>
        </p:spPr>
      </p:sp>
      <p:sp>
        <p:nvSpPr>
          <p:cNvPr id="5" name="html-shape-14">
            <a:extLst>
              <a:ext uri="{FF2B5EF4-FFF2-40B4-BE49-F238E27FC236}">
                <a16:creationId xmlns:a16="http://schemas.microsoft.com/office/drawing/2014/main" id="{23C6A015-7E9A-4AA0-A3B3-F8CCAE91DA69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6" name="border-3">
            <a:extLst>
              <a:ext uri="{FF2B5EF4-FFF2-40B4-BE49-F238E27FC236}">
                <a16:creationId xmlns:a16="http://schemas.microsoft.com/office/drawing/2014/main" id="{107CDE7A-B9E5-4614-96D2-1712997B71F7}"/>
              </a:ext>
            </a:extLst>
          </p:cNvPr>
          <p:cNvSpPr>
            <a:spLocks noGrp="1"/>
          </p:cNvSpPr>
          <p:nvPr/>
        </p:nvSpPr>
        <p:spPr>
          <a:xfrm>
            <a:off x="5086350" y="3524250"/>
            <a:ext cx="8115300" cy="66675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7" name="border-4">
            <a:extLst>
              <a:ext uri="{FF2B5EF4-FFF2-40B4-BE49-F238E27FC236}">
                <a16:creationId xmlns:a16="http://schemas.microsoft.com/office/drawing/2014/main" id="{156CF1C4-8467-4437-8C10-087BE44E9CA3}"/>
              </a:ext>
            </a:extLst>
          </p:cNvPr>
          <p:cNvSpPr>
            <a:spLocks noGrp="1"/>
          </p:cNvSpPr>
          <p:nvPr/>
        </p:nvSpPr>
        <p:spPr>
          <a:xfrm>
            <a:off x="5086350" y="7696200"/>
            <a:ext cx="8115300" cy="19050"/>
          </a:xfrm>
          <a:prstGeom prst="rect">
            <a:avLst/>
          </a:prstGeom>
          <a:solidFill>
            <a:srgbClr val="B9CAEC"/>
          </a:solidFill>
          <a:ln w="0">
            <a:noFill/>
            <a:prstDash val="solid"/>
          </a:ln>
        </p:spPr>
      </p:sp>
      <p:sp>
        <p:nvSpPr>
          <p:cNvPr id="8" name="html-shape-5">
            <a:extLst>
              <a:ext uri="{FF2B5EF4-FFF2-40B4-BE49-F238E27FC236}">
                <a16:creationId xmlns:a16="http://schemas.microsoft.com/office/drawing/2014/main" id="{B6FEA464-2351-4216-ADF1-27CB9314FC33}"/>
              </a:ext>
            </a:extLst>
          </p:cNvPr>
          <p:cNvSpPr>
            <a:spLocks noGrp="1"/>
          </p:cNvSpPr>
          <p:nvPr/>
        </p:nvSpPr>
        <p:spPr>
          <a:xfrm>
            <a:off x="5638800" y="4851940"/>
            <a:ext cx="7010400" cy="381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642AF0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9" name="pseudo-arrow-6">
            <a:extLst>
              <a:ext uri="{FF2B5EF4-FFF2-40B4-BE49-F238E27FC236}">
                <a16:creationId xmlns:a16="http://schemas.microsoft.com/office/drawing/2014/main" id="{8165AFBD-4234-49F2-B54E-DB37C054557B}"/>
              </a:ext>
            </a:extLst>
          </p:cNvPr>
          <p:cNvSpPr>
            <a:spLocks noGrp="1"/>
          </p:cNvSpPr>
          <p:nvPr/>
        </p:nvSpPr>
        <p:spPr>
          <a:xfrm rot="5400000">
            <a:off x="12611100" y="4890040"/>
            <a:ext cx="209550" cy="304800"/>
          </a:xfrm>
          <a:prstGeom prst="triangle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0" name="html-shape-7">
            <a:extLst>
              <a:ext uri="{FF2B5EF4-FFF2-40B4-BE49-F238E27FC236}">
                <a16:creationId xmlns:a16="http://schemas.microsoft.com/office/drawing/2014/main" id="{BB487C76-F956-4415-AC77-B2D4875CB8C1}"/>
              </a:ext>
            </a:extLst>
          </p:cNvPr>
          <p:cNvSpPr>
            <a:spLocks noGrp="1"/>
          </p:cNvSpPr>
          <p:nvPr/>
        </p:nvSpPr>
        <p:spPr>
          <a:xfrm>
            <a:off x="6582728" y="4914519"/>
            <a:ext cx="255937" cy="255937"/>
          </a:xfrm>
          <a:prstGeom prst="roundRect">
            <a:avLst>
              <a:gd name="adj" fmla="val 14886"/>
            </a:avLst>
          </a:prstGeom>
          <a:solidFill>
            <a:srgbClr val="315FD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1" name="html-shape-8">
            <a:extLst>
              <a:ext uri="{FF2B5EF4-FFF2-40B4-BE49-F238E27FC236}">
                <a16:creationId xmlns:a16="http://schemas.microsoft.com/office/drawing/2014/main" id="{D37BA937-5EC1-46F1-BECD-773AE1000722}"/>
              </a:ext>
            </a:extLst>
          </p:cNvPr>
          <p:cNvSpPr>
            <a:spLocks noGrp="1"/>
          </p:cNvSpPr>
          <p:nvPr/>
        </p:nvSpPr>
        <p:spPr>
          <a:xfrm>
            <a:off x="8125016" y="4914519"/>
            <a:ext cx="255937" cy="255937"/>
          </a:xfrm>
          <a:prstGeom prst="roundRect">
            <a:avLst>
              <a:gd name="adj" fmla="val 14886"/>
            </a:avLst>
          </a:prstGeom>
          <a:solidFill>
            <a:srgbClr val="315FD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2" name="html-shape-9">
            <a:extLst>
              <a:ext uri="{FF2B5EF4-FFF2-40B4-BE49-F238E27FC236}">
                <a16:creationId xmlns:a16="http://schemas.microsoft.com/office/drawing/2014/main" id="{FD0D6814-6018-4D8A-892E-6363B9011D94}"/>
              </a:ext>
            </a:extLst>
          </p:cNvPr>
          <p:cNvSpPr>
            <a:spLocks noGrp="1"/>
          </p:cNvSpPr>
          <p:nvPr/>
        </p:nvSpPr>
        <p:spPr>
          <a:xfrm>
            <a:off x="9667304" y="4914519"/>
            <a:ext cx="255937" cy="255937"/>
          </a:xfrm>
          <a:prstGeom prst="roundRect">
            <a:avLst>
              <a:gd name="adj" fmla="val 14886"/>
            </a:avLst>
          </a:prstGeom>
          <a:solidFill>
            <a:srgbClr val="315FD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3" name="html-shape-10">
            <a:extLst>
              <a:ext uri="{FF2B5EF4-FFF2-40B4-BE49-F238E27FC236}">
                <a16:creationId xmlns:a16="http://schemas.microsoft.com/office/drawing/2014/main" id="{3C24E033-7E77-4CDD-96C2-358E5367AD9D}"/>
              </a:ext>
            </a:extLst>
          </p:cNvPr>
          <p:cNvSpPr>
            <a:spLocks noGrp="1"/>
          </p:cNvSpPr>
          <p:nvPr/>
        </p:nvSpPr>
        <p:spPr>
          <a:xfrm>
            <a:off x="11209591" y="4914519"/>
            <a:ext cx="255937" cy="255937"/>
          </a:xfrm>
          <a:prstGeom prst="roundRect">
            <a:avLst>
              <a:gd name="adj" fmla="val 14886"/>
            </a:avLst>
          </a:prstGeom>
          <a:solidFill>
            <a:srgbClr val="315FD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4" name="border-12">
            <a:extLst>
              <a:ext uri="{FF2B5EF4-FFF2-40B4-BE49-F238E27FC236}">
                <a16:creationId xmlns:a16="http://schemas.microsoft.com/office/drawing/2014/main" id="{C2407585-58B0-4721-8B0A-B5886AA18882}"/>
              </a:ext>
            </a:extLst>
          </p:cNvPr>
          <p:cNvSpPr>
            <a:spLocks noGrp="1"/>
          </p:cNvSpPr>
          <p:nvPr/>
        </p:nvSpPr>
        <p:spPr>
          <a:xfrm>
            <a:off x="9144000" y="5518690"/>
            <a:ext cx="19050" cy="1869091"/>
          </a:xfrm>
          <a:prstGeom prst="rect">
            <a:avLst/>
          </a:prstGeom>
          <a:solidFill>
            <a:srgbClr val="CBD7EE"/>
          </a:solidFill>
          <a:ln w="0">
            <a:noFill/>
            <a:prstDash val="solid"/>
          </a:ln>
        </p:spPr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D4C8D2E-4403-4C81-83B1-FF1ABE35A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5113F79-5A48-40E8-8339-42E9EC0F5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7" name="text-1">
            <a:extLst>
              <a:ext uri="{FF2B5EF4-FFF2-40B4-BE49-F238E27FC236}">
                <a16:creationId xmlns:a16="http://schemas.microsoft.com/office/drawing/2014/main" id="{8B62045C-6F0D-4443-94C3-7E42F7151BD6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8" name="text-2">
            <a:extLst>
              <a:ext uri="{FF2B5EF4-FFF2-40B4-BE49-F238E27FC236}">
                <a16:creationId xmlns:a16="http://schemas.microsoft.com/office/drawing/2014/main" id="{E0F25803-E227-4C6B-BAD9-943F22EA89CA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19" name="text-3">
            <a:extLst>
              <a:ext uri="{FF2B5EF4-FFF2-40B4-BE49-F238E27FC236}">
                <a16:creationId xmlns:a16="http://schemas.microsoft.com/office/drawing/2014/main" id="{718D0DA8-ABDF-4AD1-AAFB-D6F9CE5409DB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541763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70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跨机房 PD 的网络需求</a:t>
            </a:r>
          </a:p>
        </p:txBody>
      </p:sp>
      <p:sp>
        <p:nvSpPr>
          <p:cNvPr id="20" name="text-4">
            <a:extLst>
              <a:ext uri="{FF2B5EF4-FFF2-40B4-BE49-F238E27FC236}">
                <a16:creationId xmlns:a16="http://schemas.microsoft.com/office/drawing/2014/main" id="{2BEDE3A3-58B6-42D1-8C55-93759718A792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0620947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资源池可以独立建设；跨机房网络需要保障 KV Block 的持续交付能力和完成长尾。</a:t>
            </a:r>
          </a:p>
        </p:txBody>
      </p:sp>
      <p:sp>
        <p:nvSpPr>
          <p:cNvPr id="21" name="text-5">
            <a:extLst>
              <a:ext uri="{FF2B5EF4-FFF2-40B4-BE49-F238E27FC236}">
                <a16:creationId xmlns:a16="http://schemas.microsoft.com/office/drawing/2014/main" id="{2E634EE2-4CFE-4DEF-8323-11D2026CEE8E}"/>
              </a:ext>
            </a:extLst>
          </p:cNvPr>
          <p:cNvSpPr>
            <a:spLocks noGrp="1"/>
          </p:cNvSpPr>
          <p:nvPr/>
        </p:nvSpPr>
        <p:spPr>
          <a:xfrm>
            <a:off x="2346865" y="4639723"/>
            <a:ext cx="126892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113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113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113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 POOL</a:t>
            </a:r>
          </a:p>
        </p:txBody>
      </p:sp>
      <p:sp>
        <p:nvSpPr>
          <p:cNvPr id="22" name="text-6">
            <a:extLst>
              <a:ext uri="{FF2B5EF4-FFF2-40B4-BE49-F238E27FC236}">
                <a16:creationId xmlns:a16="http://schemas.microsoft.com/office/drawing/2014/main" id="{037FF401-141C-4579-8E33-797D0F7B48BD}"/>
              </a:ext>
            </a:extLst>
          </p:cNvPr>
          <p:cNvSpPr>
            <a:spLocks noGrp="1"/>
          </p:cNvSpPr>
          <p:nvPr/>
        </p:nvSpPr>
        <p:spPr>
          <a:xfrm>
            <a:off x="2200085" y="4963573"/>
            <a:ext cx="1562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持续产生</a:t>
            </a:r>
          </a:p>
        </p:txBody>
      </p:sp>
      <p:sp>
        <p:nvSpPr>
          <p:cNvPr id="23" name="text-7">
            <a:extLst>
              <a:ext uri="{FF2B5EF4-FFF2-40B4-BE49-F238E27FC236}">
                <a16:creationId xmlns:a16="http://schemas.microsoft.com/office/drawing/2014/main" id="{EE1E0217-2FB1-44EE-ABD4-E931890AD993}"/>
              </a:ext>
            </a:extLst>
          </p:cNvPr>
          <p:cNvSpPr>
            <a:spLocks noGrp="1"/>
          </p:cNvSpPr>
          <p:nvPr/>
        </p:nvSpPr>
        <p:spPr>
          <a:xfrm>
            <a:off x="2132552" y="5390674"/>
            <a:ext cx="169735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KV Block</a:t>
            </a:r>
          </a:p>
        </p:txBody>
      </p:sp>
      <p:sp>
        <p:nvSpPr>
          <p:cNvPr id="24" name="text-8">
            <a:extLst>
              <a:ext uri="{FF2B5EF4-FFF2-40B4-BE49-F238E27FC236}">
                <a16:creationId xmlns:a16="http://schemas.microsoft.com/office/drawing/2014/main" id="{B73EF53D-0225-438E-A087-18026F82158B}"/>
              </a:ext>
            </a:extLst>
          </p:cNvPr>
          <p:cNvSpPr>
            <a:spLocks noGrp="1"/>
          </p:cNvSpPr>
          <p:nvPr/>
        </p:nvSpPr>
        <p:spPr>
          <a:xfrm>
            <a:off x="2161604" y="6067616"/>
            <a:ext cx="163953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rPr>
              <a:t>汇总多个 P Worker</a:t>
            </a:r>
          </a:p>
        </p:txBody>
      </p:sp>
      <p:sp>
        <p:nvSpPr>
          <p:cNvPr id="25" name="text-9">
            <a:extLst>
              <a:ext uri="{FF2B5EF4-FFF2-40B4-BE49-F238E27FC236}">
                <a16:creationId xmlns:a16="http://schemas.microsoft.com/office/drawing/2014/main" id="{83202F3C-D374-4FB7-A6E7-604B1514DC2D}"/>
              </a:ext>
            </a:extLst>
          </p:cNvPr>
          <p:cNvSpPr>
            <a:spLocks noGrp="1"/>
          </p:cNvSpPr>
          <p:nvPr/>
        </p:nvSpPr>
        <p:spPr>
          <a:xfrm>
            <a:off x="2491264" y="6330029"/>
            <a:ext cx="9802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rPr>
              <a:t>的 KV 输出</a:t>
            </a:r>
          </a:p>
        </p:txBody>
      </p:sp>
      <p:sp>
        <p:nvSpPr>
          <p:cNvPr id="26" name="text-10">
            <a:extLst>
              <a:ext uri="{FF2B5EF4-FFF2-40B4-BE49-F238E27FC236}">
                <a16:creationId xmlns:a16="http://schemas.microsoft.com/office/drawing/2014/main" id="{0FC08216-72B7-47BD-B804-DA6CDE9E5DEC}"/>
              </a:ext>
            </a:extLst>
          </p:cNvPr>
          <p:cNvSpPr>
            <a:spLocks noGrp="1"/>
          </p:cNvSpPr>
          <p:nvPr/>
        </p:nvSpPr>
        <p:spPr>
          <a:xfrm>
            <a:off x="8223218" y="3914775"/>
            <a:ext cx="189861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113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113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113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CROSS-SITE NETWORK</a:t>
            </a:r>
          </a:p>
        </p:txBody>
      </p:sp>
      <p:sp>
        <p:nvSpPr>
          <p:cNvPr id="27" name="text-11">
            <a:extLst>
              <a:ext uri="{FF2B5EF4-FFF2-40B4-BE49-F238E27FC236}">
                <a16:creationId xmlns:a16="http://schemas.microsoft.com/office/drawing/2014/main" id="{864D10B1-576A-49CC-B3EF-D9B964EB1A2B}"/>
              </a:ext>
            </a:extLst>
          </p:cNvPr>
          <p:cNvSpPr>
            <a:spLocks noGrp="1"/>
          </p:cNvSpPr>
          <p:nvPr/>
        </p:nvSpPr>
        <p:spPr>
          <a:xfrm>
            <a:off x="7730014" y="4171950"/>
            <a:ext cx="288502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2634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2634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26344B"/>
                </a:solidFill>
                <a:latin typeface="PingFang SC"/>
                <a:ea typeface="PingFang SC"/>
                <a:cs typeface="Arial"/>
              </a:rPr>
              <a:t>KV Cache handoff</a:t>
            </a:r>
          </a:p>
        </p:txBody>
      </p:sp>
      <p:sp>
        <p:nvSpPr>
          <p:cNvPr id="28" name="text-12">
            <a:extLst>
              <a:ext uri="{FF2B5EF4-FFF2-40B4-BE49-F238E27FC236}">
                <a16:creationId xmlns:a16="http://schemas.microsoft.com/office/drawing/2014/main" id="{6169FCFD-6905-4356-AD98-53FC4BCEFA2A}"/>
              </a:ext>
            </a:extLst>
          </p:cNvPr>
          <p:cNvSpPr>
            <a:spLocks noGrp="1"/>
          </p:cNvSpPr>
          <p:nvPr/>
        </p:nvSpPr>
        <p:spPr>
          <a:xfrm>
            <a:off x="5705475" y="5613940"/>
            <a:ext cx="1299877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01 · CAPACITY</a:t>
            </a:r>
          </a:p>
        </p:txBody>
      </p:sp>
      <p:sp>
        <p:nvSpPr>
          <p:cNvPr id="29" name="text-13">
            <a:extLst>
              <a:ext uri="{FF2B5EF4-FFF2-40B4-BE49-F238E27FC236}">
                <a16:creationId xmlns:a16="http://schemas.microsoft.com/office/drawing/2014/main" id="{F7BC56DA-282A-4FCC-9F84-1EAC9CB10484}"/>
              </a:ext>
            </a:extLst>
          </p:cNvPr>
          <p:cNvSpPr>
            <a:spLocks noGrp="1"/>
          </p:cNvSpPr>
          <p:nvPr/>
        </p:nvSpPr>
        <p:spPr>
          <a:xfrm>
            <a:off x="5705475" y="5928265"/>
            <a:ext cx="2498788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534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534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5344D"/>
                </a:solidFill>
                <a:latin typeface="PingFang SC"/>
                <a:ea typeface="PingFang SC"/>
                <a:cs typeface="Arial"/>
              </a:rPr>
              <a:t>持续 Goodput 足够</a:t>
            </a:r>
          </a:p>
        </p:txBody>
      </p:sp>
      <p:sp>
        <p:nvSpPr>
          <p:cNvPr id="30" name="text-14">
            <a:extLst>
              <a:ext uri="{FF2B5EF4-FFF2-40B4-BE49-F238E27FC236}">
                <a16:creationId xmlns:a16="http://schemas.microsoft.com/office/drawing/2014/main" id="{5322530C-7D91-4222-BAE1-9A95CF17B95F}"/>
              </a:ext>
            </a:extLst>
          </p:cNvPr>
          <p:cNvSpPr>
            <a:spLocks noGrp="1"/>
          </p:cNvSpPr>
          <p:nvPr/>
        </p:nvSpPr>
        <p:spPr>
          <a:xfrm>
            <a:off x="5705475" y="6436805"/>
            <a:ext cx="3213163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rPr>
              <a:t>承接全部 Prefill Pool 的聚合 KV 产</a:t>
            </a:r>
          </a:p>
        </p:txBody>
      </p:sp>
      <p:sp>
        <p:nvSpPr>
          <p:cNvPr id="31" name="text-15">
            <a:extLst>
              <a:ext uri="{FF2B5EF4-FFF2-40B4-BE49-F238E27FC236}">
                <a16:creationId xmlns:a16="http://schemas.microsoft.com/office/drawing/2014/main" id="{72345857-5C5E-48E3-BDAA-89F21EF12020}"/>
              </a:ext>
            </a:extLst>
          </p:cNvPr>
          <p:cNvSpPr>
            <a:spLocks noGrp="1"/>
          </p:cNvSpPr>
          <p:nvPr/>
        </p:nvSpPr>
        <p:spPr>
          <a:xfrm>
            <a:off x="5705475" y="6720745"/>
            <a:ext cx="2876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rPr>
              <a:t>生速率，避免传输队列持续积压</a:t>
            </a:r>
          </a:p>
        </p:txBody>
      </p:sp>
      <p:sp>
        <p:nvSpPr>
          <p:cNvPr id="32" name="text-16">
            <a:extLst>
              <a:ext uri="{FF2B5EF4-FFF2-40B4-BE49-F238E27FC236}">
                <a16:creationId xmlns:a16="http://schemas.microsoft.com/office/drawing/2014/main" id="{571466D8-65A5-4960-8D15-A224B9A06309}"/>
              </a:ext>
            </a:extLst>
          </p:cNvPr>
          <p:cNvSpPr>
            <a:spLocks noGrp="1"/>
          </p:cNvSpPr>
          <p:nvPr/>
        </p:nvSpPr>
        <p:spPr>
          <a:xfrm>
            <a:off x="9420225" y="5613940"/>
            <a:ext cx="1597533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02 · COMPLETION</a:t>
            </a:r>
          </a:p>
        </p:txBody>
      </p:sp>
      <p:sp>
        <p:nvSpPr>
          <p:cNvPr id="33" name="text-17">
            <a:extLst>
              <a:ext uri="{FF2B5EF4-FFF2-40B4-BE49-F238E27FC236}">
                <a16:creationId xmlns:a16="http://schemas.microsoft.com/office/drawing/2014/main" id="{DC8DC489-3386-4E12-A5D9-5BA0DBA4F625}"/>
              </a:ext>
            </a:extLst>
          </p:cNvPr>
          <p:cNvSpPr>
            <a:spLocks noGrp="1"/>
          </p:cNvSpPr>
          <p:nvPr/>
        </p:nvSpPr>
        <p:spPr>
          <a:xfrm>
            <a:off x="9420225" y="5928265"/>
            <a:ext cx="1733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534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534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5344D"/>
                </a:solidFill>
                <a:latin typeface="PingFang SC"/>
                <a:ea typeface="PingFang SC"/>
                <a:cs typeface="Arial"/>
              </a:rPr>
              <a:t>完成长尾受控</a:t>
            </a:r>
          </a:p>
        </p:txBody>
      </p:sp>
      <p:sp>
        <p:nvSpPr>
          <p:cNvPr id="34" name="text-18">
            <a:extLst>
              <a:ext uri="{FF2B5EF4-FFF2-40B4-BE49-F238E27FC236}">
                <a16:creationId xmlns:a16="http://schemas.microsoft.com/office/drawing/2014/main" id="{AC2B9EB4-D52C-4E51-BFE0-52D4A8932CB3}"/>
              </a:ext>
            </a:extLst>
          </p:cNvPr>
          <p:cNvSpPr>
            <a:spLocks noGrp="1"/>
          </p:cNvSpPr>
          <p:nvPr/>
        </p:nvSpPr>
        <p:spPr>
          <a:xfrm>
            <a:off x="9420225" y="6436805"/>
            <a:ext cx="307571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rPr>
              <a:t>限制单请求最后一批必要 KV 的完</a:t>
            </a:r>
          </a:p>
        </p:txBody>
      </p:sp>
      <p:sp>
        <p:nvSpPr>
          <p:cNvPr id="35" name="text-19">
            <a:extLst>
              <a:ext uri="{FF2B5EF4-FFF2-40B4-BE49-F238E27FC236}">
                <a16:creationId xmlns:a16="http://schemas.microsoft.com/office/drawing/2014/main" id="{B9684CB7-67F0-444E-B17B-CA9520F6BEDB}"/>
              </a:ext>
            </a:extLst>
          </p:cNvPr>
          <p:cNvSpPr>
            <a:spLocks noGrp="1"/>
          </p:cNvSpPr>
          <p:nvPr/>
        </p:nvSpPr>
        <p:spPr>
          <a:xfrm>
            <a:off x="9420225" y="6720745"/>
            <a:ext cx="311686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rPr>
              <a:t>成时间，避免 Decode 启动被长尾</a:t>
            </a:r>
          </a:p>
        </p:txBody>
      </p:sp>
      <p:sp>
        <p:nvSpPr>
          <p:cNvPr id="36" name="text-20">
            <a:extLst>
              <a:ext uri="{FF2B5EF4-FFF2-40B4-BE49-F238E27FC236}">
                <a16:creationId xmlns:a16="http://schemas.microsoft.com/office/drawing/2014/main" id="{7162D23D-246B-470F-B6E6-770CCC26C2EA}"/>
              </a:ext>
            </a:extLst>
          </p:cNvPr>
          <p:cNvSpPr>
            <a:spLocks noGrp="1"/>
          </p:cNvSpPr>
          <p:nvPr/>
        </p:nvSpPr>
        <p:spPr>
          <a:xfrm>
            <a:off x="9420225" y="7004685"/>
            <a:ext cx="476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0708A"/>
                </a:solidFill>
                <a:latin typeface="PingFang SC"/>
                <a:ea typeface="PingFang SC"/>
                <a:cs typeface="Arial"/>
              </a:rPr>
              <a:t>拖慢</a:t>
            </a:r>
          </a:p>
        </p:txBody>
      </p:sp>
      <p:sp>
        <p:nvSpPr>
          <p:cNvPr id="37" name="text-21">
            <a:extLst>
              <a:ext uri="{FF2B5EF4-FFF2-40B4-BE49-F238E27FC236}">
                <a16:creationId xmlns:a16="http://schemas.microsoft.com/office/drawing/2014/main" id="{A701187E-B793-48CC-B4D9-EFAC9824A9AE}"/>
              </a:ext>
            </a:extLst>
          </p:cNvPr>
          <p:cNvSpPr>
            <a:spLocks noGrp="1"/>
          </p:cNvSpPr>
          <p:nvPr/>
        </p:nvSpPr>
        <p:spPr>
          <a:xfrm>
            <a:off x="14721173" y="4639723"/>
            <a:ext cx="1285113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113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113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113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DECODE POOL</a:t>
            </a:r>
          </a:p>
        </p:txBody>
      </p:sp>
      <p:sp>
        <p:nvSpPr>
          <p:cNvPr id="38" name="text-22">
            <a:extLst>
              <a:ext uri="{FF2B5EF4-FFF2-40B4-BE49-F238E27FC236}">
                <a16:creationId xmlns:a16="http://schemas.microsoft.com/office/drawing/2014/main" id="{87EC8795-835A-4FDA-A644-D0C600900A9B}"/>
              </a:ext>
            </a:extLst>
          </p:cNvPr>
          <p:cNvSpPr>
            <a:spLocks noGrp="1"/>
          </p:cNvSpPr>
          <p:nvPr/>
        </p:nvSpPr>
        <p:spPr>
          <a:xfrm>
            <a:off x="14018228" y="4963573"/>
            <a:ext cx="269109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必要 KV 到齐后</a:t>
            </a:r>
          </a:p>
        </p:txBody>
      </p:sp>
      <p:sp>
        <p:nvSpPr>
          <p:cNvPr id="39" name="text-23">
            <a:extLst>
              <a:ext uri="{FF2B5EF4-FFF2-40B4-BE49-F238E27FC236}">
                <a16:creationId xmlns:a16="http://schemas.microsoft.com/office/drawing/2014/main" id="{A356CFE1-7C5F-4359-8B40-D3C78888C775}"/>
              </a:ext>
            </a:extLst>
          </p:cNvPr>
          <p:cNvSpPr>
            <a:spLocks noGrp="1"/>
          </p:cNvSpPr>
          <p:nvPr/>
        </p:nvSpPr>
        <p:spPr>
          <a:xfrm>
            <a:off x="14582775" y="5390674"/>
            <a:ext cx="1562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启动生成</a:t>
            </a:r>
          </a:p>
        </p:txBody>
      </p:sp>
      <p:sp>
        <p:nvSpPr>
          <p:cNvPr id="40" name="text-24">
            <a:extLst>
              <a:ext uri="{FF2B5EF4-FFF2-40B4-BE49-F238E27FC236}">
                <a16:creationId xmlns:a16="http://schemas.microsoft.com/office/drawing/2014/main" id="{2A43C2E7-5EA1-47AC-9690-6F5B5CCF6E71}"/>
              </a:ext>
            </a:extLst>
          </p:cNvPr>
          <p:cNvSpPr>
            <a:spLocks noGrp="1"/>
          </p:cNvSpPr>
          <p:nvPr/>
        </p:nvSpPr>
        <p:spPr>
          <a:xfrm>
            <a:off x="14555248" y="6067616"/>
            <a:ext cx="161715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rPr>
              <a:t>后续逐 Token 输出</a:t>
            </a:r>
          </a:p>
        </p:txBody>
      </p:sp>
      <p:sp>
        <p:nvSpPr>
          <p:cNvPr id="41" name="text-25">
            <a:extLst>
              <a:ext uri="{FF2B5EF4-FFF2-40B4-BE49-F238E27FC236}">
                <a16:creationId xmlns:a16="http://schemas.microsoft.com/office/drawing/2014/main" id="{C0D9B1D1-34BC-4814-8D6F-1C1A8C5AA504}"/>
              </a:ext>
            </a:extLst>
          </p:cNvPr>
          <p:cNvSpPr>
            <a:spLocks noGrp="1"/>
          </p:cNvSpPr>
          <p:nvPr/>
        </p:nvSpPr>
        <p:spPr>
          <a:xfrm>
            <a:off x="14929961" y="6330029"/>
            <a:ext cx="86753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5D6A80"/>
                </a:solidFill>
                <a:latin typeface="PingFang SC"/>
                <a:ea typeface="PingFang SC"/>
                <a:cs typeface="Arial"/>
              </a:rPr>
              <a:t>留在 D 侧</a:t>
            </a:r>
          </a:p>
        </p:txBody>
      </p:sp>
      <p:sp>
        <p:nvSpPr>
          <p:cNvPr id="42" name="text-26">
            <a:extLst>
              <a:ext uri="{FF2B5EF4-FFF2-40B4-BE49-F238E27FC236}">
                <a16:creationId xmlns:a16="http://schemas.microsoft.com/office/drawing/2014/main" id="{EDF11C7E-8F39-42BF-9C3D-1C25FA242404}"/>
              </a:ext>
            </a:extLst>
          </p:cNvPr>
          <p:cNvSpPr>
            <a:spLocks noGrp="1"/>
          </p:cNvSpPr>
          <p:nvPr/>
        </p:nvSpPr>
        <p:spPr>
          <a:xfrm>
            <a:off x="3743897" y="9074087"/>
            <a:ext cx="1085735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跨机房网络不必复刻同机房互联；需要满足的是 KV Block 的持续交付能力与完成长尾。</a:t>
            </a:r>
          </a:p>
        </p:txBody>
      </p:sp>
      <p:sp>
        <p:nvSpPr>
          <p:cNvPr id="43" name="text-27">
            <a:extLst>
              <a:ext uri="{FF2B5EF4-FFF2-40B4-BE49-F238E27FC236}">
                <a16:creationId xmlns:a16="http://schemas.microsoft.com/office/drawing/2014/main" id="{597043B1-204F-45F3-9E5A-F5C0C7BA75D0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6317266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Prefill-as-a-Service deployment model; cross-building network architecture.</a:t>
            </a:r>
          </a:p>
        </p:txBody>
      </p:sp>
      <p:sp>
        <p:nvSpPr>
          <p:cNvPr id="44" name="text-28">
            <a:extLst>
              <a:ext uri="{FF2B5EF4-FFF2-40B4-BE49-F238E27FC236}">
                <a16:creationId xmlns:a16="http://schemas.microsoft.com/office/drawing/2014/main" id="{160EA889-0CC7-4B01-8FAF-F7B5AC058960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28 / 43</a:t>
            </a:r>
          </a:p>
        </p:txBody>
      </p:sp>
    </p:spTree>
    <p:extLst>
      <p:ext uri="{BB962C8B-B14F-4D97-AF65-F5344CB8AC3E}">
        <p14:creationId xmlns:p14="http://schemas.microsoft.com/office/powerpoint/2010/main" val="1887953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html-shape-1">
            <a:extLst>
              <a:ext uri="{FF2B5EF4-FFF2-40B4-BE49-F238E27FC236}">
                <a16:creationId xmlns:a16="http://schemas.microsoft.com/office/drawing/2014/main" id="{3A76C84E-E216-4AAD-AE31-465964F85640}"/>
              </a:ext>
            </a:extLst>
          </p:cNvPr>
          <p:cNvSpPr>
            <a:spLocks noGrp="1"/>
          </p:cNvSpPr>
          <p:nvPr/>
        </p:nvSpPr>
        <p:spPr>
          <a:xfrm>
            <a:off x="1000125" y="2800350"/>
            <a:ext cx="16287750" cy="1257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" name="html-shape-4">
            <a:extLst>
              <a:ext uri="{FF2B5EF4-FFF2-40B4-BE49-F238E27FC236}">
                <a16:creationId xmlns:a16="http://schemas.microsoft.com/office/drawing/2014/main" id="{A54FCD4E-0757-4B10-AFF0-18A69BBB106A}"/>
              </a:ext>
            </a:extLst>
          </p:cNvPr>
          <p:cNvSpPr>
            <a:spLocks noGrp="1"/>
          </p:cNvSpPr>
          <p:nvPr/>
        </p:nvSpPr>
        <p:spPr>
          <a:xfrm>
            <a:off x="1000125" y="2819400"/>
            <a:ext cx="3948398" cy="12192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html-shape-6">
            <a:extLst>
              <a:ext uri="{FF2B5EF4-FFF2-40B4-BE49-F238E27FC236}">
                <a16:creationId xmlns:a16="http://schemas.microsoft.com/office/drawing/2014/main" id="{0CD24644-3CB3-4B70-98FB-F20710685DF1}"/>
              </a:ext>
            </a:extLst>
          </p:cNvPr>
          <p:cNvSpPr>
            <a:spLocks noGrp="1"/>
          </p:cNvSpPr>
          <p:nvPr/>
        </p:nvSpPr>
        <p:spPr>
          <a:xfrm>
            <a:off x="4948523" y="2819400"/>
            <a:ext cx="6169628" cy="12192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html-shape-8">
            <a:extLst>
              <a:ext uri="{FF2B5EF4-FFF2-40B4-BE49-F238E27FC236}">
                <a16:creationId xmlns:a16="http://schemas.microsoft.com/office/drawing/2014/main" id="{B757E27B-5385-4E0E-8945-C299E707D6B6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4238625" cy="39814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4F0FF"/>
              </a:gs>
            </a:gsLst>
            <a:lin ang="8700000"/>
          </a:gradFill>
          <a:ln w="0">
            <a:noFill/>
            <a:prstDash val="solid"/>
          </a:ln>
        </p:spPr>
      </p:sp>
      <p:sp>
        <p:nvSpPr>
          <p:cNvPr id="5" name="html-shape-21">
            <a:extLst>
              <a:ext uri="{FF2B5EF4-FFF2-40B4-BE49-F238E27FC236}">
                <a16:creationId xmlns:a16="http://schemas.microsoft.com/office/drawing/2014/main" id="{86BC0D75-EA7A-4C79-A75D-76530321962B}"/>
              </a:ext>
            </a:extLst>
          </p:cNvPr>
          <p:cNvSpPr>
            <a:spLocks noGrp="1"/>
          </p:cNvSpPr>
          <p:nvPr/>
        </p:nvSpPr>
        <p:spPr>
          <a:xfrm>
            <a:off x="5791200" y="4210050"/>
            <a:ext cx="4324350" cy="2047875"/>
          </a:xfrm>
          <a:prstGeom prst="rect">
            <a:avLst/>
          </a:prstGeom>
          <a:solidFill>
            <a:srgbClr val="F0F9F5"/>
          </a:solidFill>
          <a:ln w="0">
            <a:noFill/>
            <a:prstDash val="solid"/>
          </a:ln>
        </p:spPr>
      </p:sp>
      <p:sp>
        <p:nvSpPr>
          <p:cNvPr id="6" name="html-shape-26">
            <a:extLst>
              <a:ext uri="{FF2B5EF4-FFF2-40B4-BE49-F238E27FC236}">
                <a16:creationId xmlns:a16="http://schemas.microsoft.com/office/drawing/2014/main" id="{0FA6F89E-4000-4A5F-BF0C-83DD8DF23E4F}"/>
              </a:ext>
            </a:extLst>
          </p:cNvPr>
          <p:cNvSpPr>
            <a:spLocks noGrp="1"/>
          </p:cNvSpPr>
          <p:nvPr/>
        </p:nvSpPr>
        <p:spPr>
          <a:xfrm>
            <a:off x="10553700" y="4210050"/>
            <a:ext cx="6734175" cy="2047875"/>
          </a:xfrm>
          <a:prstGeom prst="rect">
            <a:avLst/>
          </a:prstGeom>
          <a:solidFill>
            <a:srgbClr val="F0F9F5"/>
          </a:solidFill>
          <a:ln w="0">
            <a:noFill/>
            <a:prstDash val="solid"/>
          </a:ln>
        </p:spPr>
      </p:sp>
      <p:sp>
        <p:nvSpPr>
          <p:cNvPr id="7" name="html-shape-31">
            <a:extLst>
              <a:ext uri="{FF2B5EF4-FFF2-40B4-BE49-F238E27FC236}">
                <a16:creationId xmlns:a16="http://schemas.microsoft.com/office/drawing/2014/main" id="{7318F599-C6F9-40E0-9C31-603266EC4899}"/>
              </a:ext>
            </a:extLst>
          </p:cNvPr>
          <p:cNvSpPr>
            <a:spLocks noGrp="1"/>
          </p:cNvSpPr>
          <p:nvPr/>
        </p:nvSpPr>
        <p:spPr>
          <a:xfrm>
            <a:off x="5791200" y="6391275"/>
            <a:ext cx="4324350" cy="2047875"/>
          </a:xfrm>
          <a:prstGeom prst="rect">
            <a:avLst/>
          </a:prstGeom>
          <a:solidFill>
            <a:srgbClr val="F8F6FD"/>
          </a:solidFill>
          <a:ln w="0">
            <a:noFill/>
            <a:prstDash val="solid"/>
          </a:ln>
        </p:spPr>
      </p:sp>
      <p:sp>
        <p:nvSpPr>
          <p:cNvPr id="8" name="html-shape-36">
            <a:extLst>
              <a:ext uri="{FF2B5EF4-FFF2-40B4-BE49-F238E27FC236}">
                <a16:creationId xmlns:a16="http://schemas.microsoft.com/office/drawing/2014/main" id="{74B5B1EE-89CC-4706-B66C-F0147A91050B}"/>
              </a:ext>
            </a:extLst>
          </p:cNvPr>
          <p:cNvSpPr>
            <a:spLocks noGrp="1"/>
          </p:cNvSpPr>
          <p:nvPr/>
        </p:nvSpPr>
        <p:spPr>
          <a:xfrm>
            <a:off x="10553700" y="6391275"/>
            <a:ext cx="6734175" cy="2047875"/>
          </a:xfrm>
          <a:prstGeom prst="rect">
            <a:avLst/>
          </a:prstGeom>
          <a:solidFill>
            <a:srgbClr val="F8F6FD"/>
          </a:solidFill>
          <a:ln w="0">
            <a:noFill/>
            <a:prstDash val="solid"/>
          </a:ln>
        </p:spPr>
      </p:sp>
      <p:sp>
        <p:nvSpPr>
          <p:cNvPr id="9" name="html-shape-41">
            <a:extLst>
              <a:ext uri="{FF2B5EF4-FFF2-40B4-BE49-F238E27FC236}">
                <a16:creationId xmlns:a16="http://schemas.microsoft.com/office/drawing/2014/main" id="{116A54DC-228D-4916-8114-9182A4897D2A}"/>
              </a:ext>
            </a:extLst>
          </p:cNvPr>
          <p:cNvSpPr>
            <a:spLocks noGrp="1"/>
          </p:cNvSpPr>
          <p:nvPr/>
        </p:nvSpPr>
        <p:spPr>
          <a:xfrm>
            <a:off x="1600200" y="8658225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10" name="border-2">
            <a:extLst>
              <a:ext uri="{FF2B5EF4-FFF2-40B4-BE49-F238E27FC236}">
                <a16:creationId xmlns:a16="http://schemas.microsoft.com/office/drawing/2014/main" id="{69AB0724-881B-4B4B-8660-16C2EBCCBA54}"/>
              </a:ext>
            </a:extLst>
          </p:cNvPr>
          <p:cNvSpPr>
            <a:spLocks noGrp="1"/>
          </p:cNvSpPr>
          <p:nvPr/>
        </p:nvSpPr>
        <p:spPr>
          <a:xfrm>
            <a:off x="1000125" y="2800350"/>
            <a:ext cx="1628775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" name="border-3">
            <a:extLst>
              <a:ext uri="{FF2B5EF4-FFF2-40B4-BE49-F238E27FC236}">
                <a16:creationId xmlns:a16="http://schemas.microsoft.com/office/drawing/2014/main" id="{85AC48F6-6C4F-44DA-ABE6-2FF0F940F7BB}"/>
              </a:ext>
            </a:extLst>
          </p:cNvPr>
          <p:cNvSpPr>
            <a:spLocks noGrp="1"/>
          </p:cNvSpPr>
          <p:nvPr/>
        </p:nvSpPr>
        <p:spPr>
          <a:xfrm>
            <a:off x="1000125" y="4038600"/>
            <a:ext cx="1628775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" name="border-5">
            <a:extLst>
              <a:ext uri="{FF2B5EF4-FFF2-40B4-BE49-F238E27FC236}">
                <a16:creationId xmlns:a16="http://schemas.microsoft.com/office/drawing/2014/main" id="{1C940B31-27AF-4688-8A35-E586D2E03FC5}"/>
              </a:ext>
            </a:extLst>
          </p:cNvPr>
          <p:cNvSpPr>
            <a:spLocks noGrp="1"/>
          </p:cNvSpPr>
          <p:nvPr/>
        </p:nvSpPr>
        <p:spPr>
          <a:xfrm>
            <a:off x="4929473" y="2819400"/>
            <a:ext cx="19050" cy="12192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3" name="border-7">
            <a:extLst>
              <a:ext uri="{FF2B5EF4-FFF2-40B4-BE49-F238E27FC236}">
                <a16:creationId xmlns:a16="http://schemas.microsoft.com/office/drawing/2014/main" id="{EAEECD54-D2CB-4C09-B764-80F79DBE4220}"/>
              </a:ext>
            </a:extLst>
          </p:cNvPr>
          <p:cNvSpPr>
            <a:spLocks noGrp="1"/>
          </p:cNvSpPr>
          <p:nvPr/>
        </p:nvSpPr>
        <p:spPr>
          <a:xfrm>
            <a:off x="11099197" y="2819400"/>
            <a:ext cx="19050" cy="12192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" name="border-9">
            <a:extLst>
              <a:ext uri="{FF2B5EF4-FFF2-40B4-BE49-F238E27FC236}">
                <a16:creationId xmlns:a16="http://schemas.microsoft.com/office/drawing/2014/main" id="{3534C84D-F8BD-4DC3-A832-DDC367CB8BE5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4238625" cy="762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5" name="border-10">
            <a:extLst>
              <a:ext uri="{FF2B5EF4-FFF2-40B4-BE49-F238E27FC236}">
                <a16:creationId xmlns:a16="http://schemas.microsoft.com/office/drawing/2014/main" id="{0B105918-060D-44A1-B351-134D9FB8262D}"/>
              </a:ext>
            </a:extLst>
          </p:cNvPr>
          <p:cNvSpPr>
            <a:spLocks noGrp="1"/>
          </p:cNvSpPr>
          <p:nvPr/>
        </p:nvSpPr>
        <p:spPr>
          <a:xfrm>
            <a:off x="5210175" y="4333875"/>
            <a:ext cx="28575" cy="3981450"/>
          </a:xfrm>
          <a:prstGeom prst="rect">
            <a:avLst/>
          </a:prstGeom>
          <a:solidFill>
            <a:srgbClr val="C7B6FF"/>
          </a:solidFill>
          <a:ln w="0">
            <a:noFill/>
            <a:prstDash val="solid"/>
          </a:ln>
        </p:spPr>
      </p:sp>
      <p:sp>
        <p:nvSpPr>
          <p:cNvPr id="16" name="border-11">
            <a:extLst>
              <a:ext uri="{FF2B5EF4-FFF2-40B4-BE49-F238E27FC236}">
                <a16:creationId xmlns:a16="http://schemas.microsoft.com/office/drawing/2014/main" id="{6A8FDB0A-974D-4AAB-9188-D2992C4F758D}"/>
              </a:ext>
            </a:extLst>
          </p:cNvPr>
          <p:cNvSpPr>
            <a:spLocks noGrp="1"/>
          </p:cNvSpPr>
          <p:nvPr/>
        </p:nvSpPr>
        <p:spPr>
          <a:xfrm>
            <a:off x="1000125" y="8286750"/>
            <a:ext cx="4238625" cy="28575"/>
          </a:xfrm>
          <a:prstGeom prst="rect">
            <a:avLst/>
          </a:prstGeom>
          <a:solidFill>
            <a:srgbClr val="C7B6FF"/>
          </a:solidFill>
          <a:ln w="0">
            <a:noFill/>
            <a:prstDash val="solid"/>
          </a:ln>
        </p:spPr>
      </p:sp>
      <p:sp>
        <p:nvSpPr>
          <p:cNvPr id="17" name="border-12">
            <a:extLst>
              <a:ext uri="{FF2B5EF4-FFF2-40B4-BE49-F238E27FC236}">
                <a16:creationId xmlns:a16="http://schemas.microsoft.com/office/drawing/2014/main" id="{F5F4F743-C61D-47DA-82BA-E9700B2C7B2B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28575" cy="3981450"/>
          </a:xfrm>
          <a:prstGeom prst="rect">
            <a:avLst/>
          </a:prstGeom>
          <a:solidFill>
            <a:srgbClr val="C7B6FF"/>
          </a:solidFill>
          <a:ln w="0">
            <a:noFill/>
            <a:prstDash val="solid"/>
          </a:ln>
        </p:spPr>
      </p:sp>
      <p:sp>
        <p:nvSpPr>
          <p:cNvPr id="18" name="html-shape-13">
            <a:extLst>
              <a:ext uri="{FF2B5EF4-FFF2-40B4-BE49-F238E27FC236}">
                <a16:creationId xmlns:a16="http://schemas.microsoft.com/office/drawing/2014/main" id="{AF6D32EC-4838-4B1E-94C0-CC365CDB6BBF}"/>
              </a:ext>
            </a:extLst>
          </p:cNvPr>
          <p:cNvSpPr>
            <a:spLocks noGrp="1"/>
          </p:cNvSpPr>
          <p:nvPr/>
        </p:nvSpPr>
        <p:spPr>
          <a:xfrm>
            <a:off x="1200150" y="6981635"/>
            <a:ext cx="3838575" cy="67437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9" name="border-14">
            <a:extLst>
              <a:ext uri="{FF2B5EF4-FFF2-40B4-BE49-F238E27FC236}">
                <a16:creationId xmlns:a16="http://schemas.microsoft.com/office/drawing/2014/main" id="{BD1A5721-6FDB-4F7B-B6FD-BB43B4E21EA8}"/>
              </a:ext>
            </a:extLst>
          </p:cNvPr>
          <p:cNvSpPr>
            <a:spLocks noGrp="1"/>
          </p:cNvSpPr>
          <p:nvPr/>
        </p:nvSpPr>
        <p:spPr>
          <a:xfrm>
            <a:off x="1200150" y="6981635"/>
            <a:ext cx="3838575" cy="9525"/>
          </a:xfrm>
          <a:prstGeom prst="rect">
            <a:avLst/>
          </a:prstGeom>
          <a:solidFill>
            <a:srgbClr val="D8D0EF"/>
          </a:solidFill>
          <a:ln w="0">
            <a:noFill/>
            <a:prstDash val="solid"/>
          </a:ln>
        </p:spPr>
      </p:sp>
      <p:sp>
        <p:nvSpPr>
          <p:cNvPr id="20" name="border-15">
            <a:extLst>
              <a:ext uri="{FF2B5EF4-FFF2-40B4-BE49-F238E27FC236}">
                <a16:creationId xmlns:a16="http://schemas.microsoft.com/office/drawing/2014/main" id="{84A21FF1-8D75-4411-9687-7B46DF8F6EFE}"/>
              </a:ext>
            </a:extLst>
          </p:cNvPr>
          <p:cNvSpPr>
            <a:spLocks noGrp="1"/>
          </p:cNvSpPr>
          <p:nvPr/>
        </p:nvSpPr>
        <p:spPr>
          <a:xfrm>
            <a:off x="1200150" y="7646480"/>
            <a:ext cx="3838575" cy="9525"/>
          </a:xfrm>
          <a:prstGeom prst="rect">
            <a:avLst/>
          </a:prstGeom>
          <a:solidFill>
            <a:srgbClr val="D8D0EF"/>
          </a:solidFill>
          <a:ln w="0">
            <a:noFill/>
            <a:prstDash val="solid"/>
          </a:ln>
        </p:spPr>
      </p:sp>
      <p:sp>
        <p:nvSpPr>
          <p:cNvPr id="21" name="html-shape-16">
            <a:extLst>
              <a:ext uri="{FF2B5EF4-FFF2-40B4-BE49-F238E27FC236}">
                <a16:creationId xmlns:a16="http://schemas.microsoft.com/office/drawing/2014/main" id="{AD658614-ED94-40CD-B20A-46CA2135BAC8}"/>
              </a:ext>
            </a:extLst>
          </p:cNvPr>
          <p:cNvSpPr>
            <a:spLocks noGrp="1"/>
          </p:cNvSpPr>
          <p:nvPr/>
        </p:nvSpPr>
        <p:spPr>
          <a:xfrm>
            <a:off x="5238750" y="6305550"/>
            <a:ext cx="276225" cy="4762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22" name="html-shape-17">
            <a:extLst>
              <a:ext uri="{FF2B5EF4-FFF2-40B4-BE49-F238E27FC236}">
                <a16:creationId xmlns:a16="http://schemas.microsoft.com/office/drawing/2014/main" id="{66886353-88E7-4F11-8CA1-1CD465B9C3FF}"/>
              </a:ext>
            </a:extLst>
          </p:cNvPr>
          <p:cNvSpPr>
            <a:spLocks noGrp="1"/>
          </p:cNvSpPr>
          <p:nvPr/>
        </p:nvSpPr>
        <p:spPr>
          <a:xfrm>
            <a:off x="5495925" y="5229225"/>
            <a:ext cx="38100" cy="2190750"/>
          </a:xfrm>
          <a:prstGeom prst="rect">
            <a:avLst/>
          </a:prstGeom>
          <a:solidFill>
            <a:srgbClr val="AEB9CA"/>
          </a:solidFill>
          <a:ln w="0">
            <a:noFill/>
            <a:prstDash val="solid"/>
          </a:ln>
        </p:spPr>
      </p:sp>
      <p:sp>
        <p:nvSpPr>
          <p:cNvPr id="23" name="html-shape-18">
            <a:extLst>
              <a:ext uri="{FF2B5EF4-FFF2-40B4-BE49-F238E27FC236}">
                <a16:creationId xmlns:a16="http://schemas.microsoft.com/office/drawing/2014/main" id="{EEA792F8-6378-4FF0-BAEB-A5D3631A5306}"/>
              </a:ext>
            </a:extLst>
          </p:cNvPr>
          <p:cNvSpPr>
            <a:spLocks noGrp="1"/>
          </p:cNvSpPr>
          <p:nvPr/>
        </p:nvSpPr>
        <p:spPr>
          <a:xfrm>
            <a:off x="5514975" y="5210175"/>
            <a:ext cx="276225" cy="4762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4" name="html-shape-19">
            <a:extLst>
              <a:ext uri="{FF2B5EF4-FFF2-40B4-BE49-F238E27FC236}">
                <a16:creationId xmlns:a16="http://schemas.microsoft.com/office/drawing/2014/main" id="{8661B37C-60B8-4659-9FB5-F75CD30695B0}"/>
              </a:ext>
            </a:extLst>
          </p:cNvPr>
          <p:cNvSpPr>
            <a:spLocks noGrp="1"/>
          </p:cNvSpPr>
          <p:nvPr/>
        </p:nvSpPr>
        <p:spPr>
          <a:xfrm>
            <a:off x="5514975" y="7391400"/>
            <a:ext cx="276225" cy="4762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25" name="html-shape-20">
            <a:extLst>
              <a:ext uri="{FF2B5EF4-FFF2-40B4-BE49-F238E27FC236}">
                <a16:creationId xmlns:a16="http://schemas.microsoft.com/office/drawing/2014/main" id="{29F0A530-F45B-4B40-9AB5-21D00A1CCADB}"/>
              </a:ext>
            </a:extLst>
          </p:cNvPr>
          <p:cNvSpPr>
            <a:spLocks noGrp="1"/>
          </p:cNvSpPr>
          <p:nvPr/>
        </p:nvSpPr>
        <p:spPr>
          <a:xfrm>
            <a:off x="5391150" y="62007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26" name="border-22">
            <a:extLst>
              <a:ext uri="{FF2B5EF4-FFF2-40B4-BE49-F238E27FC236}">
                <a16:creationId xmlns:a16="http://schemas.microsoft.com/office/drawing/2014/main" id="{E2D68F51-D1D5-44B5-841E-92F064A9929C}"/>
              </a:ext>
            </a:extLst>
          </p:cNvPr>
          <p:cNvSpPr>
            <a:spLocks noGrp="1"/>
          </p:cNvSpPr>
          <p:nvPr/>
        </p:nvSpPr>
        <p:spPr>
          <a:xfrm>
            <a:off x="5791200" y="4210050"/>
            <a:ext cx="4324350" cy="4762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7" name="border-23">
            <a:extLst>
              <a:ext uri="{FF2B5EF4-FFF2-40B4-BE49-F238E27FC236}">
                <a16:creationId xmlns:a16="http://schemas.microsoft.com/office/drawing/2014/main" id="{4CBBEF6F-31CA-4D31-8B9E-5F3E1A5FFE66}"/>
              </a:ext>
            </a:extLst>
          </p:cNvPr>
          <p:cNvSpPr>
            <a:spLocks noGrp="1"/>
          </p:cNvSpPr>
          <p:nvPr/>
        </p:nvSpPr>
        <p:spPr>
          <a:xfrm>
            <a:off x="10096500" y="4210050"/>
            <a:ext cx="19050" cy="2047875"/>
          </a:xfrm>
          <a:prstGeom prst="rect">
            <a:avLst/>
          </a:prstGeom>
          <a:solidFill>
            <a:srgbClr val="B8E3D2"/>
          </a:solidFill>
          <a:ln w="0">
            <a:noFill/>
            <a:prstDash val="solid"/>
          </a:ln>
        </p:spPr>
      </p:sp>
      <p:sp>
        <p:nvSpPr>
          <p:cNvPr id="28" name="border-24">
            <a:extLst>
              <a:ext uri="{FF2B5EF4-FFF2-40B4-BE49-F238E27FC236}">
                <a16:creationId xmlns:a16="http://schemas.microsoft.com/office/drawing/2014/main" id="{9F9A8457-41D2-4514-B39F-3CFF1DAE39D0}"/>
              </a:ext>
            </a:extLst>
          </p:cNvPr>
          <p:cNvSpPr>
            <a:spLocks noGrp="1"/>
          </p:cNvSpPr>
          <p:nvPr/>
        </p:nvSpPr>
        <p:spPr>
          <a:xfrm>
            <a:off x="5791200" y="6238875"/>
            <a:ext cx="4324350" cy="19050"/>
          </a:xfrm>
          <a:prstGeom prst="rect">
            <a:avLst/>
          </a:prstGeom>
          <a:solidFill>
            <a:srgbClr val="B8E3D2"/>
          </a:solidFill>
          <a:ln w="0">
            <a:noFill/>
            <a:prstDash val="solid"/>
          </a:ln>
        </p:spPr>
      </p:sp>
      <p:sp>
        <p:nvSpPr>
          <p:cNvPr id="29" name="border-25">
            <a:extLst>
              <a:ext uri="{FF2B5EF4-FFF2-40B4-BE49-F238E27FC236}">
                <a16:creationId xmlns:a16="http://schemas.microsoft.com/office/drawing/2014/main" id="{6D0AC43A-D675-4049-86C4-5032114B9BAF}"/>
              </a:ext>
            </a:extLst>
          </p:cNvPr>
          <p:cNvSpPr>
            <a:spLocks noGrp="1"/>
          </p:cNvSpPr>
          <p:nvPr/>
        </p:nvSpPr>
        <p:spPr>
          <a:xfrm>
            <a:off x="5791200" y="4210050"/>
            <a:ext cx="19050" cy="2047875"/>
          </a:xfrm>
          <a:prstGeom prst="rect">
            <a:avLst/>
          </a:prstGeom>
          <a:solidFill>
            <a:srgbClr val="B8E3D2"/>
          </a:solidFill>
          <a:ln w="0">
            <a:noFill/>
            <a:prstDash val="solid"/>
          </a:ln>
        </p:spPr>
      </p:sp>
      <p:sp>
        <p:nvSpPr>
          <p:cNvPr id="30" name="border-27">
            <a:extLst>
              <a:ext uri="{FF2B5EF4-FFF2-40B4-BE49-F238E27FC236}">
                <a16:creationId xmlns:a16="http://schemas.microsoft.com/office/drawing/2014/main" id="{2B425554-8951-4CEA-892C-453F016DBD1B}"/>
              </a:ext>
            </a:extLst>
          </p:cNvPr>
          <p:cNvSpPr>
            <a:spLocks noGrp="1"/>
          </p:cNvSpPr>
          <p:nvPr/>
        </p:nvSpPr>
        <p:spPr>
          <a:xfrm>
            <a:off x="10553700" y="4210050"/>
            <a:ext cx="6734175" cy="4762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1" name="border-28">
            <a:extLst>
              <a:ext uri="{FF2B5EF4-FFF2-40B4-BE49-F238E27FC236}">
                <a16:creationId xmlns:a16="http://schemas.microsoft.com/office/drawing/2014/main" id="{D3097D2C-CCF0-4F24-A45B-66F704A07E0C}"/>
              </a:ext>
            </a:extLst>
          </p:cNvPr>
          <p:cNvSpPr>
            <a:spLocks noGrp="1"/>
          </p:cNvSpPr>
          <p:nvPr/>
        </p:nvSpPr>
        <p:spPr>
          <a:xfrm>
            <a:off x="17268825" y="4210050"/>
            <a:ext cx="19050" cy="2047875"/>
          </a:xfrm>
          <a:prstGeom prst="rect">
            <a:avLst/>
          </a:prstGeom>
          <a:solidFill>
            <a:srgbClr val="B8E3D2"/>
          </a:solidFill>
          <a:ln w="0">
            <a:noFill/>
            <a:prstDash val="solid"/>
          </a:ln>
        </p:spPr>
      </p:sp>
      <p:sp>
        <p:nvSpPr>
          <p:cNvPr id="32" name="border-29">
            <a:extLst>
              <a:ext uri="{FF2B5EF4-FFF2-40B4-BE49-F238E27FC236}">
                <a16:creationId xmlns:a16="http://schemas.microsoft.com/office/drawing/2014/main" id="{80DF1873-A31C-43B0-BEB3-7CD5EEB7BC6C}"/>
              </a:ext>
            </a:extLst>
          </p:cNvPr>
          <p:cNvSpPr>
            <a:spLocks noGrp="1"/>
          </p:cNvSpPr>
          <p:nvPr/>
        </p:nvSpPr>
        <p:spPr>
          <a:xfrm>
            <a:off x="10553700" y="6238875"/>
            <a:ext cx="6734175" cy="19050"/>
          </a:xfrm>
          <a:prstGeom prst="rect">
            <a:avLst/>
          </a:prstGeom>
          <a:solidFill>
            <a:srgbClr val="B8E3D2"/>
          </a:solidFill>
          <a:ln w="0">
            <a:noFill/>
            <a:prstDash val="solid"/>
          </a:ln>
        </p:spPr>
      </p:sp>
      <p:sp>
        <p:nvSpPr>
          <p:cNvPr id="33" name="border-30">
            <a:extLst>
              <a:ext uri="{FF2B5EF4-FFF2-40B4-BE49-F238E27FC236}">
                <a16:creationId xmlns:a16="http://schemas.microsoft.com/office/drawing/2014/main" id="{47424426-54BE-4630-88F2-44554C5C7B64}"/>
              </a:ext>
            </a:extLst>
          </p:cNvPr>
          <p:cNvSpPr>
            <a:spLocks noGrp="1"/>
          </p:cNvSpPr>
          <p:nvPr/>
        </p:nvSpPr>
        <p:spPr>
          <a:xfrm>
            <a:off x="10553700" y="4210050"/>
            <a:ext cx="19050" cy="2047875"/>
          </a:xfrm>
          <a:prstGeom prst="rect">
            <a:avLst/>
          </a:prstGeom>
          <a:solidFill>
            <a:srgbClr val="B8E3D2"/>
          </a:solidFill>
          <a:ln w="0">
            <a:noFill/>
            <a:prstDash val="solid"/>
          </a:ln>
        </p:spPr>
      </p:sp>
      <p:sp>
        <p:nvSpPr>
          <p:cNvPr id="34" name="border-32">
            <a:extLst>
              <a:ext uri="{FF2B5EF4-FFF2-40B4-BE49-F238E27FC236}">
                <a16:creationId xmlns:a16="http://schemas.microsoft.com/office/drawing/2014/main" id="{D45072B6-BB5E-481C-881B-8A042E6C3FB1}"/>
              </a:ext>
            </a:extLst>
          </p:cNvPr>
          <p:cNvSpPr>
            <a:spLocks noGrp="1"/>
          </p:cNvSpPr>
          <p:nvPr/>
        </p:nvSpPr>
        <p:spPr>
          <a:xfrm>
            <a:off x="5791200" y="6391275"/>
            <a:ext cx="4324350" cy="4762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35" name="border-33">
            <a:extLst>
              <a:ext uri="{FF2B5EF4-FFF2-40B4-BE49-F238E27FC236}">
                <a16:creationId xmlns:a16="http://schemas.microsoft.com/office/drawing/2014/main" id="{DD068A7E-B96C-49E8-BF8C-F34E9A551189}"/>
              </a:ext>
            </a:extLst>
          </p:cNvPr>
          <p:cNvSpPr>
            <a:spLocks noGrp="1"/>
          </p:cNvSpPr>
          <p:nvPr/>
        </p:nvSpPr>
        <p:spPr>
          <a:xfrm>
            <a:off x="10096500" y="6391275"/>
            <a:ext cx="19050" cy="2047875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sp>
        <p:nvSpPr>
          <p:cNvPr id="36" name="border-34">
            <a:extLst>
              <a:ext uri="{FF2B5EF4-FFF2-40B4-BE49-F238E27FC236}">
                <a16:creationId xmlns:a16="http://schemas.microsoft.com/office/drawing/2014/main" id="{C0728786-F707-424C-8072-0AF8298E9B65}"/>
              </a:ext>
            </a:extLst>
          </p:cNvPr>
          <p:cNvSpPr>
            <a:spLocks noGrp="1"/>
          </p:cNvSpPr>
          <p:nvPr/>
        </p:nvSpPr>
        <p:spPr>
          <a:xfrm>
            <a:off x="5791200" y="8420100"/>
            <a:ext cx="4324350" cy="19050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sp>
        <p:nvSpPr>
          <p:cNvPr id="37" name="border-35">
            <a:extLst>
              <a:ext uri="{FF2B5EF4-FFF2-40B4-BE49-F238E27FC236}">
                <a16:creationId xmlns:a16="http://schemas.microsoft.com/office/drawing/2014/main" id="{4404DCDE-7A85-4D77-AAAA-9CB09D4180A0}"/>
              </a:ext>
            </a:extLst>
          </p:cNvPr>
          <p:cNvSpPr>
            <a:spLocks noGrp="1"/>
          </p:cNvSpPr>
          <p:nvPr/>
        </p:nvSpPr>
        <p:spPr>
          <a:xfrm>
            <a:off x="5791200" y="6391275"/>
            <a:ext cx="19050" cy="2047875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sp>
        <p:nvSpPr>
          <p:cNvPr id="38" name="border-37">
            <a:extLst>
              <a:ext uri="{FF2B5EF4-FFF2-40B4-BE49-F238E27FC236}">
                <a16:creationId xmlns:a16="http://schemas.microsoft.com/office/drawing/2014/main" id="{66688B8D-FAC6-4B3F-87A6-A76434D789E0}"/>
              </a:ext>
            </a:extLst>
          </p:cNvPr>
          <p:cNvSpPr>
            <a:spLocks noGrp="1"/>
          </p:cNvSpPr>
          <p:nvPr/>
        </p:nvSpPr>
        <p:spPr>
          <a:xfrm>
            <a:off x="10553700" y="6391275"/>
            <a:ext cx="6734175" cy="4762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39" name="border-38">
            <a:extLst>
              <a:ext uri="{FF2B5EF4-FFF2-40B4-BE49-F238E27FC236}">
                <a16:creationId xmlns:a16="http://schemas.microsoft.com/office/drawing/2014/main" id="{E9B94413-43CE-4A96-A351-7734981D6FFE}"/>
              </a:ext>
            </a:extLst>
          </p:cNvPr>
          <p:cNvSpPr>
            <a:spLocks noGrp="1"/>
          </p:cNvSpPr>
          <p:nvPr/>
        </p:nvSpPr>
        <p:spPr>
          <a:xfrm>
            <a:off x="17268825" y="6391275"/>
            <a:ext cx="19050" cy="2047875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sp>
        <p:nvSpPr>
          <p:cNvPr id="40" name="border-39">
            <a:extLst>
              <a:ext uri="{FF2B5EF4-FFF2-40B4-BE49-F238E27FC236}">
                <a16:creationId xmlns:a16="http://schemas.microsoft.com/office/drawing/2014/main" id="{6500433A-3653-4E9F-A1C3-D3A7D8B1D3BA}"/>
              </a:ext>
            </a:extLst>
          </p:cNvPr>
          <p:cNvSpPr>
            <a:spLocks noGrp="1"/>
          </p:cNvSpPr>
          <p:nvPr/>
        </p:nvSpPr>
        <p:spPr>
          <a:xfrm>
            <a:off x="10553700" y="8420100"/>
            <a:ext cx="6734175" cy="19050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sp>
        <p:nvSpPr>
          <p:cNvPr id="41" name="border-40">
            <a:extLst>
              <a:ext uri="{FF2B5EF4-FFF2-40B4-BE49-F238E27FC236}">
                <a16:creationId xmlns:a16="http://schemas.microsoft.com/office/drawing/2014/main" id="{D2E01F45-BE79-46BB-9048-8A5C38D015BD}"/>
              </a:ext>
            </a:extLst>
          </p:cNvPr>
          <p:cNvSpPr>
            <a:spLocks noGrp="1"/>
          </p:cNvSpPr>
          <p:nvPr/>
        </p:nvSpPr>
        <p:spPr>
          <a:xfrm>
            <a:off x="10553700" y="6391275"/>
            <a:ext cx="19050" cy="2047875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5D4E649D-57FD-4954-889D-BAC58C3DB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8DEF7A4C-BB71-4F3A-98EA-332FC2EE9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44" name="text-1">
            <a:extLst>
              <a:ext uri="{FF2B5EF4-FFF2-40B4-BE49-F238E27FC236}">
                <a16:creationId xmlns:a16="http://schemas.microsoft.com/office/drawing/2014/main" id="{11C6AB53-C070-45A9-83EB-BCBE4BCF0057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45" name="text-2">
            <a:extLst>
              <a:ext uri="{FF2B5EF4-FFF2-40B4-BE49-F238E27FC236}">
                <a16:creationId xmlns:a16="http://schemas.microsoft.com/office/drawing/2014/main" id="{25B993E3-7BBF-4002-84DD-398584CCC2D8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46" name="text-3">
            <a:extLst>
              <a:ext uri="{FF2B5EF4-FFF2-40B4-BE49-F238E27FC236}">
                <a16:creationId xmlns:a16="http://schemas.microsoft.com/office/drawing/2014/main" id="{1966FE52-27A2-4213-8B11-4E06A60A1CCA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6476714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63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同构与异构 3P1D 实验对照</a:t>
            </a:r>
          </a:p>
        </p:txBody>
      </p:sp>
      <p:sp>
        <p:nvSpPr>
          <p:cNvPr id="47" name="text-4">
            <a:extLst>
              <a:ext uri="{FF2B5EF4-FFF2-40B4-BE49-F238E27FC236}">
                <a16:creationId xmlns:a16="http://schemas.microsoft.com/office/drawing/2014/main" id="{53077CC5-C899-423F-B6B1-CB0C84668063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196549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两组使用相同模型与 Prefill 规模；同构方案采用 RDMA，异构方案采用 Mooncake TE TCP。</a:t>
            </a:r>
          </a:p>
        </p:txBody>
      </p:sp>
      <p:sp>
        <p:nvSpPr>
          <p:cNvPr id="48" name="text-5">
            <a:extLst>
              <a:ext uri="{FF2B5EF4-FFF2-40B4-BE49-F238E27FC236}">
                <a16:creationId xmlns:a16="http://schemas.microsoft.com/office/drawing/2014/main" id="{5D606045-BF90-45D8-9607-820B0719AC1C}"/>
              </a:ext>
            </a:extLst>
          </p:cNvPr>
          <p:cNvSpPr>
            <a:spLocks noGrp="1"/>
          </p:cNvSpPr>
          <p:nvPr/>
        </p:nvSpPr>
        <p:spPr>
          <a:xfrm>
            <a:off x="990600" y="2977039"/>
            <a:ext cx="1262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6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6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68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MODEL · 模型</a:t>
            </a:r>
          </a:p>
        </p:txBody>
      </p:sp>
      <p:sp>
        <p:nvSpPr>
          <p:cNvPr id="49" name="text-6">
            <a:extLst>
              <a:ext uri="{FF2B5EF4-FFF2-40B4-BE49-F238E27FC236}">
                <a16:creationId xmlns:a16="http://schemas.microsoft.com/office/drawing/2014/main" id="{6E84C2F6-E352-475C-B6D3-6D5B63CB4183}"/>
              </a:ext>
            </a:extLst>
          </p:cNvPr>
          <p:cNvSpPr>
            <a:spLocks noGrp="1"/>
          </p:cNvSpPr>
          <p:nvPr/>
        </p:nvSpPr>
        <p:spPr>
          <a:xfrm>
            <a:off x="990600" y="3243739"/>
            <a:ext cx="1188244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rPr>
              <a:t>Kimi K2.6</a:t>
            </a:r>
          </a:p>
        </p:txBody>
      </p:sp>
      <p:sp>
        <p:nvSpPr>
          <p:cNvPr id="50" name="text-7">
            <a:extLst>
              <a:ext uri="{FF2B5EF4-FFF2-40B4-BE49-F238E27FC236}">
                <a16:creationId xmlns:a16="http://schemas.microsoft.com/office/drawing/2014/main" id="{06C475EC-2844-4325-9AD4-FD92BCBDBDF0}"/>
              </a:ext>
            </a:extLst>
          </p:cNvPr>
          <p:cNvSpPr>
            <a:spLocks noGrp="1"/>
          </p:cNvSpPr>
          <p:nvPr/>
        </p:nvSpPr>
        <p:spPr>
          <a:xfrm>
            <a:off x="990600" y="3584258"/>
            <a:ext cx="251802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MLA KV · 70,272 B/token</a:t>
            </a:r>
          </a:p>
        </p:txBody>
      </p:sp>
      <p:sp>
        <p:nvSpPr>
          <p:cNvPr id="51" name="text-8">
            <a:extLst>
              <a:ext uri="{FF2B5EF4-FFF2-40B4-BE49-F238E27FC236}">
                <a16:creationId xmlns:a16="http://schemas.microsoft.com/office/drawing/2014/main" id="{A343457E-EEA9-4542-9F2F-CEA068B90498}"/>
              </a:ext>
            </a:extLst>
          </p:cNvPr>
          <p:cNvSpPr>
            <a:spLocks noGrp="1"/>
          </p:cNvSpPr>
          <p:nvPr/>
        </p:nvSpPr>
        <p:spPr>
          <a:xfrm>
            <a:off x="5243798" y="2977039"/>
            <a:ext cx="227380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6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6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68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INPUT LENGTH · 输入长度</a:t>
            </a:r>
          </a:p>
        </p:txBody>
      </p:sp>
      <p:sp>
        <p:nvSpPr>
          <p:cNvPr id="52" name="text-9">
            <a:extLst>
              <a:ext uri="{FF2B5EF4-FFF2-40B4-BE49-F238E27FC236}">
                <a16:creationId xmlns:a16="http://schemas.microsoft.com/office/drawing/2014/main" id="{DB9B450B-19EE-422C-B5CE-CF5B1B4D205D}"/>
              </a:ext>
            </a:extLst>
          </p:cNvPr>
          <p:cNvSpPr>
            <a:spLocks noGrp="1"/>
          </p:cNvSpPr>
          <p:nvPr/>
        </p:nvSpPr>
        <p:spPr>
          <a:xfrm>
            <a:off x="5243798" y="3243739"/>
            <a:ext cx="353120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rPr>
              <a:t>Input Sequence Length（ISL）</a:t>
            </a:r>
          </a:p>
        </p:txBody>
      </p:sp>
      <p:sp>
        <p:nvSpPr>
          <p:cNvPr id="53" name="text-10">
            <a:extLst>
              <a:ext uri="{FF2B5EF4-FFF2-40B4-BE49-F238E27FC236}">
                <a16:creationId xmlns:a16="http://schemas.microsoft.com/office/drawing/2014/main" id="{B06F5404-F4C1-422F-9504-959E757CDC56}"/>
              </a:ext>
            </a:extLst>
          </p:cNvPr>
          <p:cNvSpPr>
            <a:spLocks noGrp="1"/>
          </p:cNvSpPr>
          <p:nvPr/>
        </p:nvSpPr>
        <p:spPr>
          <a:xfrm>
            <a:off x="5243798" y="3584258"/>
            <a:ext cx="265118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2K / 8K / 32K input tokens</a:t>
            </a:r>
          </a:p>
        </p:txBody>
      </p:sp>
      <p:sp>
        <p:nvSpPr>
          <p:cNvPr id="54" name="text-11">
            <a:extLst>
              <a:ext uri="{FF2B5EF4-FFF2-40B4-BE49-F238E27FC236}">
                <a16:creationId xmlns:a16="http://schemas.microsoft.com/office/drawing/2014/main" id="{371DACF6-39E8-4DA9-899B-3AEE16CC8A9F}"/>
              </a:ext>
            </a:extLst>
          </p:cNvPr>
          <p:cNvSpPr>
            <a:spLocks noGrp="1"/>
          </p:cNvSpPr>
          <p:nvPr/>
        </p:nvSpPr>
        <p:spPr>
          <a:xfrm>
            <a:off x="11413522" y="2977039"/>
            <a:ext cx="251612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6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6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68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CONCURRENCY · 并发请求数</a:t>
            </a:r>
          </a:p>
        </p:txBody>
      </p:sp>
      <p:sp>
        <p:nvSpPr>
          <p:cNvPr id="55" name="text-12">
            <a:extLst>
              <a:ext uri="{FF2B5EF4-FFF2-40B4-BE49-F238E27FC236}">
                <a16:creationId xmlns:a16="http://schemas.microsoft.com/office/drawing/2014/main" id="{63E4F6CD-D465-42B2-AA8E-B600104C57DD}"/>
              </a:ext>
            </a:extLst>
          </p:cNvPr>
          <p:cNvSpPr>
            <a:spLocks noGrp="1"/>
          </p:cNvSpPr>
          <p:nvPr/>
        </p:nvSpPr>
        <p:spPr>
          <a:xfrm>
            <a:off x="11413522" y="3243739"/>
            <a:ext cx="216484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rPr>
              <a:t>Concurrency（C）</a:t>
            </a:r>
          </a:p>
        </p:txBody>
      </p:sp>
      <p:sp>
        <p:nvSpPr>
          <p:cNvPr id="56" name="text-13">
            <a:extLst>
              <a:ext uri="{FF2B5EF4-FFF2-40B4-BE49-F238E27FC236}">
                <a16:creationId xmlns:a16="http://schemas.microsoft.com/office/drawing/2014/main" id="{B87A8865-DDE8-4DA7-BFC6-431D28A7B551}"/>
              </a:ext>
            </a:extLst>
          </p:cNvPr>
          <p:cNvSpPr>
            <a:spLocks noGrp="1"/>
          </p:cNvSpPr>
          <p:nvPr/>
        </p:nvSpPr>
        <p:spPr>
          <a:xfrm>
            <a:off x="11413522" y="3584258"/>
            <a:ext cx="31718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C1–C64 对照；异构扩展至 C1024</a:t>
            </a:r>
          </a:p>
        </p:txBody>
      </p:sp>
      <p:sp>
        <p:nvSpPr>
          <p:cNvPr id="57" name="text-14">
            <a:extLst>
              <a:ext uri="{FF2B5EF4-FFF2-40B4-BE49-F238E27FC236}">
                <a16:creationId xmlns:a16="http://schemas.microsoft.com/office/drawing/2014/main" id="{819F0D13-F8A0-49D7-9AEF-6DF0549ABF06}"/>
              </a:ext>
            </a:extLst>
          </p:cNvPr>
          <p:cNvSpPr>
            <a:spLocks noGrp="1"/>
          </p:cNvSpPr>
          <p:nvPr/>
        </p:nvSpPr>
        <p:spPr>
          <a:xfrm>
            <a:off x="2231517" y="4762500"/>
            <a:ext cx="1832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SAME PREFILL SCALE</a:t>
            </a:r>
          </a:p>
        </p:txBody>
      </p:sp>
      <p:sp>
        <p:nvSpPr>
          <p:cNvPr id="58" name="text-15">
            <a:extLst>
              <a:ext uri="{FF2B5EF4-FFF2-40B4-BE49-F238E27FC236}">
                <a16:creationId xmlns:a16="http://schemas.microsoft.com/office/drawing/2014/main" id="{7C3134D0-D9E4-4A2D-92B0-A8E4A2B63A7E}"/>
              </a:ext>
            </a:extLst>
          </p:cNvPr>
          <p:cNvSpPr>
            <a:spLocks noGrp="1"/>
          </p:cNvSpPr>
          <p:nvPr/>
        </p:nvSpPr>
        <p:spPr>
          <a:xfrm>
            <a:off x="1842611" y="5057775"/>
            <a:ext cx="261061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700" b="1" i="0" noProof="1">
                <a:solidFill>
                  <a:srgbClr val="22293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700" b="1" i="0" noProof="1">
                <a:solidFill>
                  <a:srgbClr val="22293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700" b="1" i="0" noProof="1">
                <a:solidFill>
                  <a:srgbClr val="222936"/>
                </a:solidFill>
                <a:latin typeface="PingFang SC"/>
                <a:ea typeface="PingFang SC"/>
                <a:cs typeface="Arial"/>
              </a:rPr>
              <a:t>相同 Prefill 规模</a:t>
            </a:r>
          </a:p>
        </p:txBody>
      </p:sp>
      <p:sp>
        <p:nvSpPr>
          <p:cNvPr id="59" name="text-16">
            <a:extLst>
              <a:ext uri="{FF2B5EF4-FFF2-40B4-BE49-F238E27FC236}">
                <a16:creationId xmlns:a16="http://schemas.microsoft.com/office/drawing/2014/main" id="{4C5AAE41-C03E-47A7-8FA0-8D56BA6E72E7}"/>
              </a:ext>
            </a:extLst>
          </p:cNvPr>
          <p:cNvSpPr>
            <a:spLocks noGrp="1"/>
          </p:cNvSpPr>
          <p:nvPr/>
        </p:nvSpPr>
        <p:spPr>
          <a:xfrm>
            <a:off x="2191988" y="5558695"/>
            <a:ext cx="191214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7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7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7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3P · 6 节点</a:t>
            </a:r>
          </a:p>
        </p:txBody>
      </p:sp>
      <p:sp>
        <p:nvSpPr>
          <p:cNvPr id="60" name="text-17">
            <a:extLst>
              <a:ext uri="{FF2B5EF4-FFF2-40B4-BE49-F238E27FC236}">
                <a16:creationId xmlns:a16="http://schemas.microsoft.com/office/drawing/2014/main" id="{D3377095-F9FC-4ACE-9D21-96A5FBA247A2}"/>
              </a:ext>
            </a:extLst>
          </p:cNvPr>
          <p:cNvSpPr>
            <a:spLocks noGrp="1"/>
          </p:cNvSpPr>
          <p:nvPr/>
        </p:nvSpPr>
        <p:spPr>
          <a:xfrm>
            <a:off x="1772888" y="6086285"/>
            <a:ext cx="275015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D697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D697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D697D"/>
                </a:solidFill>
                <a:latin typeface="PingFang SC"/>
                <a:ea typeface="PingFang SC"/>
                <a:cs typeface="Arial"/>
              </a:rPr>
              <a:t>高算力设备 C · 24 张物理卡</a:t>
            </a:r>
          </a:p>
        </p:txBody>
      </p:sp>
      <p:sp>
        <p:nvSpPr>
          <p:cNvPr id="61" name="text-18">
            <a:extLst>
              <a:ext uri="{FF2B5EF4-FFF2-40B4-BE49-F238E27FC236}">
                <a16:creationId xmlns:a16="http://schemas.microsoft.com/office/drawing/2014/main" id="{651AB234-CAEF-4A94-9173-286A6F2CE4F7}"/>
              </a:ext>
            </a:extLst>
          </p:cNvPr>
          <p:cNvSpPr>
            <a:spLocks noGrp="1"/>
          </p:cNvSpPr>
          <p:nvPr/>
        </p:nvSpPr>
        <p:spPr>
          <a:xfrm>
            <a:off x="2287619" y="6372035"/>
            <a:ext cx="172059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D697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D697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D697D"/>
                </a:solidFill>
                <a:latin typeface="PingFang SC"/>
                <a:ea typeface="PingFang SC"/>
                <a:cs typeface="Arial"/>
              </a:rPr>
              <a:t>48 个逻辑 device</a:t>
            </a:r>
          </a:p>
        </p:txBody>
      </p:sp>
      <p:sp>
        <p:nvSpPr>
          <p:cNvPr id="62" name="text-19">
            <a:extLst>
              <a:ext uri="{FF2B5EF4-FFF2-40B4-BE49-F238E27FC236}">
                <a16:creationId xmlns:a16="http://schemas.microsoft.com/office/drawing/2014/main" id="{3D4E4060-0581-4CF6-B9A3-A4578120A32F}"/>
              </a:ext>
            </a:extLst>
          </p:cNvPr>
          <p:cNvSpPr>
            <a:spLocks noGrp="1"/>
          </p:cNvSpPr>
          <p:nvPr/>
        </p:nvSpPr>
        <p:spPr>
          <a:xfrm>
            <a:off x="2299811" y="7153085"/>
            <a:ext cx="1696307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每个 P · 2 节点</a:t>
            </a:r>
          </a:p>
        </p:txBody>
      </p:sp>
      <p:sp>
        <p:nvSpPr>
          <p:cNvPr id="63" name="text-20">
            <a:extLst>
              <a:ext uri="{FF2B5EF4-FFF2-40B4-BE49-F238E27FC236}">
                <a16:creationId xmlns:a16="http://schemas.microsoft.com/office/drawing/2014/main" id="{029E6043-E66A-44D7-BC07-68FF2D7FF4D3}"/>
              </a:ext>
            </a:extLst>
          </p:cNvPr>
          <p:cNvSpPr>
            <a:spLocks noGrp="1"/>
          </p:cNvSpPr>
          <p:nvPr/>
        </p:nvSpPr>
        <p:spPr>
          <a:xfrm>
            <a:off x="2216372" y="7846505"/>
            <a:ext cx="186337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每个 P：PP2 / TP8</a:t>
            </a:r>
          </a:p>
        </p:txBody>
      </p:sp>
      <p:sp>
        <p:nvSpPr>
          <p:cNvPr id="64" name="text-21">
            <a:extLst>
              <a:ext uri="{FF2B5EF4-FFF2-40B4-BE49-F238E27FC236}">
                <a16:creationId xmlns:a16="http://schemas.microsoft.com/office/drawing/2014/main" id="{5189FED0-40D5-48F9-BF69-42B6F187F64D}"/>
              </a:ext>
            </a:extLst>
          </p:cNvPr>
          <p:cNvSpPr>
            <a:spLocks noGrp="1"/>
          </p:cNvSpPr>
          <p:nvPr/>
        </p:nvSpPr>
        <p:spPr>
          <a:xfrm>
            <a:off x="6827901" y="4566095"/>
            <a:ext cx="230800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异构 · 跨园区 / 跨机房</a:t>
            </a:r>
          </a:p>
        </p:txBody>
      </p:sp>
      <p:sp>
        <p:nvSpPr>
          <p:cNvPr id="65" name="text-22">
            <a:extLst>
              <a:ext uri="{FF2B5EF4-FFF2-40B4-BE49-F238E27FC236}">
                <a16:creationId xmlns:a16="http://schemas.microsoft.com/office/drawing/2014/main" id="{B8E741B0-E1D8-41A0-BDAA-7B2CF2C9C198}"/>
              </a:ext>
            </a:extLst>
          </p:cNvPr>
          <p:cNvSpPr>
            <a:spLocks noGrp="1"/>
          </p:cNvSpPr>
          <p:nvPr/>
        </p:nvSpPr>
        <p:spPr>
          <a:xfrm>
            <a:off x="6761988" y="4863084"/>
            <a:ext cx="2439734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Mooncake TE TCP</a:t>
            </a:r>
          </a:p>
        </p:txBody>
      </p:sp>
      <p:sp>
        <p:nvSpPr>
          <p:cNvPr id="66" name="text-23">
            <a:extLst>
              <a:ext uri="{FF2B5EF4-FFF2-40B4-BE49-F238E27FC236}">
                <a16:creationId xmlns:a16="http://schemas.microsoft.com/office/drawing/2014/main" id="{771B3AD7-B9A4-4B64-AAC1-B65C058C6684}"/>
              </a:ext>
            </a:extLst>
          </p:cNvPr>
          <p:cNvSpPr>
            <a:spLocks noGrp="1"/>
          </p:cNvSpPr>
          <p:nvPr/>
        </p:nvSpPr>
        <p:spPr>
          <a:xfrm>
            <a:off x="7153085" y="5315236"/>
            <a:ext cx="165754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rPr>
              <a:t>100GbE 汇聚入口</a:t>
            </a:r>
          </a:p>
        </p:txBody>
      </p:sp>
      <p:sp>
        <p:nvSpPr>
          <p:cNvPr id="67" name="text-24">
            <a:extLst>
              <a:ext uri="{FF2B5EF4-FFF2-40B4-BE49-F238E27FC236}">
                <a16:creationId xmlns:a16="http://schemas.microsoft.com/office/drawing/2014/main" id="{405E2094-C14B-410D-B7D5-69C4C6C7CC88}"/>
              </a:ext>
            </a:extLst>
          </p:cNvPr>
          <p:cNvSpPr>
            <a:spLocks noGrp="1"/>
          </p:cNvSpPr>
          <p:nvPr/>
        </p:nvSpPr>
        <p:spPr>
          <a:xfrm>
            <a:off x="6693884" y="5605082"/>
            <a:ext cx="2576227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rPr>
              <a:t>TCP Goodput · 90.95Gb/s</a:t>
            </a:r>
          </a:p>
        </p:txBody>
      </p:sp>
      <p:sp>
        <p:nvSpPr>
          <p:cNvPr id="68" name="text-25">
            <a:extLst>
              <a:ext uri="{FF2B5EF4-FFF2-40B4-BE49-F238E27FC236}">
                <a16:creationId xmlns:a16="http://schemas.microsoft.com/office/drawing/2014/main" id="{7372BB54-ED82-40BA-B6B6-948F5022520B}"/>
              </a:ext>
            </a:extLst>
          </p:cNvPr>
          <p:cNvSpPr>
            <a:spLocks noGrp="1"/>
          </p:cNvSpPr>
          <p:nvPr/>
        </p:nvSpPr>
        <p:spPr>
          <a:xfrm>
            <a:off x="10144125" y="4976813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69" name="text-26">
            <a:extLst>
              <a:ext uri="{FF2B5EF4-FFF2-40B4-BE49-F238E27FC236}">
                <a16:creationId xmlns:a16="http://schemas.microsoft.com/office/drawing/2014/main" id="{4C546BEF-46F4-48E0-968A-6FF8A0F1D26E}"/>
              </a:ext>
            </a:extLst>
          </p:cNvPr>
          <p:cNvSpPr>
            <a:spLocks noGrp="1"/>
          </p:cNvSpPr>
          <p:nvPr/>
        </p:nvSpPr>
        <p:spPr>
          <a:xfrm>
            <a:off x="10829925" y="4710970"/>
            <a:ext cx="405317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spc="38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高算力设备 C + 高带宽设备 B 异构 3P1D</a:t>
            </a:r>
          </a:p>
        </p:txBody>
      </p:sp>
      <p:sp>
        <p:nvSpPr>
          <p:cNvPr id="70" name="text-27">
            <a:extLst>
              <a:ext uri="{FF2B5EF4-FFF2-40B4-BE49-F238E27FC236}">
                <a16:creationId xmlns:a16="http://schemas.microsoft.com/office/drawing/2014/main" id="{ECAA2EEB-1442-4838-944D-692013C00213}"/>
              </a:ext>
            </a:extLst>
          </p:cNvPr>
          <p:cNvSpPr>
            <a:spLocks noGrp="1"/>
          </p:cNvSpPr>
          <p:nvPr/>
        </p:nvSpPr>
        <p:spPr>
          <a:xfrm>
            <a:off x="10829925" y="5008055"/>
            <a:ext cx="345728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Decode · 8 × 高带宽设备 B</a:t>
            </a:r>
          </a:p>
        </p:txBody>
      </p:sp>
      <p:sp>
        <p:nvSpPr>
          <p:cNvPr id="71" name="text-28">
            <a:extLst>
              <a:ext uri="{FF2B5EF4-FFF2-40B4-BE49-F238E27FC236}">
                <a16:creationId xmlns:a16="http://schemas.microsoft.com/office/drawing/2014/main" id="{500B9123-67CA-44FB-8934-57D11134EAF0}"/>
              </a:ext>
            </a:extLst>
          </p:cNvPr>
          <p:cNvSpPr>
            <a:spLocks noGrp="1"/>
          </p:cNvSpPr>
          <p:nvPr/>
        </p:nvSpPr>
        <p:spPr>
          <a:xfrm>
            <a:off x="10829925" y="5460111"/>
            <a:ext cx="198548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rPr>
              <a:t>TP8 · Attention DP8</a:t>
            </a:r>
          </a:p>
        </p:txBody>
      </p:sp>
      <p:sp>
        <p:nvSpPr>
          <p:cNvPr id="72" name="text-29">
            <a:extLst>
              <a:ext uri="{FF2B5EF4-FFF2-40B4-BE49-F238E27FC236}">
                <a16:creationId xmlns:a16="http://schemas.microsoft.com/office/drawing/2014/main" id="{F2B4390C-AB3B-46EB-9477-DD22B0DBEB07}"/>
              </a:ext>
            </a:extLst>
          </p:cNvPr>
          <p:cNvSpPr>
            <a:spLocks noGrp="1"/>
          </p:cNvSpPr>
          <p:nvPr/>
        </p:nvSpPr>
        <p:spPr>
          <a:xfrm>
            <a:off x="6773132" y="6892195"/>
            <a:ext cx="241744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spc="3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spc="3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spc="38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同构 · 同楼 RDMA 网络</a:t>
            </a:r>
          </a:p>
        </p:txBody>
      </p:sp>
      <p:sp>
        <p:nvSpPr>
          <p:cNvPr id="73" name="text-30">
            <a:extLst>
              <a:ext uri="{FF2B5EF4-FFF2-40B4-BE49-F238E27FC236}">
                <a16:creationId xmlns:a16="http://schemas.microsoft.com/office/drawing/2014/main" id="{1CDA8A4C-A95D-4415-ABCE-FD8A8BCA83E5}"/>
              </a:ext>
            </a:extLst>
          </p:cNvPr>
          <p:cNvSpPr>
            <a:spLocks noGrp="1"/>
          </p:cNvSpPr>
          <p:nvPr/>
        </p:nvSpPr>
        <p:spPr>
          <a:xfrm>
            <a:off x="7543800" y="7189280"/>
            <a:ext cx="87611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2D385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2D385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2D3850"/>
                </a:solidFill>
                <a:latin typeface="PingFang SC"/>
                <a:ea typeface="PingFang SC"/>
                <a:cs typeface="Arial"/>
              </a:rPr>
              <a:t>RDMA</a:t>
            </a:r>
          </a:p>
        </p:txBody>
      </p:sp>
      <p:sp>
        <p:nvSpPr>
          <p:cNvPr id="74" name="text-31">
            <a:extLst>
              <a:ext uri="{FF2B5EF4-FFF2-40B4-BE49-F238E27FC236}">
                <a16:creationId xmlns:a16="http://schemas.microsoft.com/office/drawing/2014/main" id="{93442B76-D761-411A-9693-999BBFC2AD74}"/>
              </a:ext>
            </a:extLst>
          </p:cNvPr>
          <p:cNvSpPr>
            <a:spLocks noGrp="1"/>
          </p:cNvSpPr>
          <p:nvPr/>
        </p:nvSpPr>
        <p:spPr>
          <a:xfrm>
            <a:off x="7243191" y="7641336"/>
            <a:ext cx="1477423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rPr>
              <a:t>DEVICE_RDMA</a:t>
            </a:r>
          </a:p>
        </p:txBody>
      </p:sp>
      <p:sp>
        <p:nvSpPr>
          <p:cNvPr id="75" name="text-32">
            <a:extLst>
              <a:ext uri="{FF2B5EF4-FFF2-40B4-BE49-F238E27FC236}">
                <a16:creationId xmlns:a16="http://schemas.microsoft.com/office/drawing/2014/main" id="{BCFEB281-862E-4B28-98BA-B0DBD71E56A6}"/>
              </a:ext>
            </a:extLst>
          </p:cNvPr>
          <p:cNvSpPr>
            <a:spLocks noGrp="1"/>
          </p:cNvSpPr>
          <p:nvPr/>
        </p:nvSpPr>
        <p:spPr>
          <a:xfrm>
            <a:off x="10144125" y="7158038"/>
            <a:ext cx="438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8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8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8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76" name="text-33">
            <a:extLst>
              <a:ext uri="{FF2B5EF4-FFF2-40B4-BE49-F238E27FC236}">
                <a16:creationId xmlns:a16="http://schemas.microsoft.com/office/drawing/2014/main" id="{968E9FFB-9920-4B4E-ACB3-05CD94BAD555}"/>
              </a:ext>
            </a:extLst>
          </p:cNvPr>
          <p:cNvSpPr>
            <a:spLocks noGrp="1"/>
          </p:cNvSpPr>
          <p:nvPr/>
        </p:nvSpPr>
        <p:spPr>
          <a:xfrm>
            <a:off x="10829925" y="6892195"/>
            <a:ext cx="269138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spc="3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spc="38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spc="38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纯高算力设备 C 同构 3P1D</a:t>
            </a:r>
          </a:p>
        </p:txBody>
      </p:sp>
      <p:sp>
        <p:nvSpPr>
          <p:cNvPr id="77" name="text-34">
            <a:extLst>
              <a:ext uri="{FF2B5EF4-FFF2-40B4-BE49-F238E27FC236}">
                <a16:creationId xmlns:a16="http://schemas.microsoft.com/office/drawing/2014/main" id="{ADFCAF41-E544-4A09-A177-84F1D926770F}"/>
              </a:ext>
            </a:extLst>
          </p:cNvPr>
          <p:cNvSpPr>
            <a:spLocks noGrp="1"/>
          </p:cNvSpPr>
          <p:nvPr/>
        </p:nvSpPr>
        <p:spPr>
          <a:xfrm>
            <a:off x="10829925" y="7189280"/>
            <a:ext cx="3468434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2D385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2D385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2D3850"/>
                </a:solidFill>
                <a:latin typeface="PingFang SC"/>
                <a:ea typeface="PingFang SC"/>
                <a:cs typeface="Arial"/>
              </a:rPr>
              <a:t>Decode · 8 × 高算力设备 C</a:t>
            </a:r>
          </a:p>
        </p:txBody>
      </p:sp>
      <p:sp>
        <p:nvSpPr>
          <p:cNvPr id="78" name="text-35">
            <a:extLst>
              <a:ext uri="{FF2B5EF4-FFF2-40B4-BE49-F238E27FC236}">
                <a16:creationId xmlns:a16="http://schemas.microsoft.com/office/drawing/2014/main" id="{96C72351-8701-4EAF-A9E5-575DBBEF2B40}"/>
              </a:ext>
            </a:extLst>
          </p:cNvPr>
          <p:cNvSpPr>
            <a:spLocks noGrp="1"/>
          </p:cNvSpPr>
          <p:nvPr/>
        </p:nvSpPr>
        <p:spPr>
          <a:xfrm>
            <a:off x="10829925" y="7641336"/>
            <a:ext cx="2742438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A677A"/>
                </a:solidFill>
                <a:latin typeface="PingFang SC"/>
                <a:ea typeface="PingFang SC"/>
                <a:cs typeface="Arial"/>
              </a:rPr>
              <a:t>PP2 / TP8 · Attn DP8 · EP8</a:t>
            </a:r>
          </a:p>
        </p:txBody>
      </p:sp>
      <p:sp>
        <p:nvSpPr>
          <p:cNvPr id="79" name="text-36">
            <a:extLst>
              <a:ext uri="{FF2B5EF4-FFF2-40B4-BE49-F238E27FC236}">
                <a16:creationId xmlns:a16="http://schemas.microsoft.com/office/drawing/2014/main" id="{FC4C1D0B-AFD8-488F-A16C-135DD84F9B78}"/>
              </a:ext>
            </a:extLst>
          </p:cNvPr>
          <p:cNvSpPr>
            <a:spLocks noGrp="1"/>
          </p:cNvSpPr>
          <p:nvPr/>
        </p:nvSpPr>
        <p:spPr>
          <a:xfrm>
            <a:off x="5088541" y="8878157"/>
            <a:ext cx="8167973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以同构部署为参照，验证跨园区异构的 Prefill 吞吐与 Decode 输出优势。</a:t>
            </a:r>
          </a:p>
        </p:txBody>
      </p:sp>
      <p:sp>
        <p:nvSpPr>
          <p:cNvPr id="80" name="text-37">
            <a:extLst>
              <a:ext uri="{FF2B5EF4-FFF2-40B4-BE49-F238E27FC236}">
                <a16:creationId xmlns:a16="http://schemas.microsoft.com/office/drawing/2014/main" id="{941E4E70-C79B-4CDD-926D-30415B9BCB4F}"/>
              </a:ext>
            </a:extLst>
          </p:cNvPr>
          <p:cNvSpPr>
            <a:spLocks noGrp="1"/>
          </p:cNvSpPr>
          <p:nvPr/>
        </p:nvSpPr>
        <p:spPr>
          <a:xfrm>
            <a:off x="771525" y="9826180"/>
            <a:ext cx="787898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Kimi K2.6 3P1D 部署与性能记录；四源聚合 iperf3 为链路容量参考，不是模型运行中的 KV goodput。</a:t>
            </a:r>
          </a:p>
        </p:txBody>
      </p:sp>
      <p:sp>
        <p:nvSpPr>
          <p:cNvPr id="81" name="text-38">
            <a:extLst>
              <a:ext uri="{FF2B5EF4-FFF2-40B4-BE49-F238E27FC236}">
                <a16:creationId xmlns:a16="http://schemas.microsoft.com/office/drawing/2014/main" id="{C4D89E48-E390-4508-B917-2C0B3E7E795E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29 / 43</a:t>
            </a:r>
          </a:p>
        </p:txBody>
      </p:sp>
    </p:spTree>
    <p:extLst>
      <p:ext uri="{BB962C8B-B14F-4D97-AF65-F5344CB8AC3E}">
        <p14:creationId xmlns:p14="http://schemas.microsoft.com/office/powerpoint/2010/main" val="1329239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html-shape-51">
            <a:extLst>
              <a:ext uri="{FF2B5EF4-FFF2-40B4-BE49-F238E27FC236}">
                <a16:creationId xmlns:a16="http://schemas.microsoft.com/office/drawing/2014/main" id="{A895F05E-1C1D-4987-A7AC-D0169E0D250A}"/>
              </a:ext>
            </a:extLst>
          </p:cNvPr>
          <p:cNvSpPr>
            <a:spLocks noGrp="1"/>
          </p:cNvSpPr>
          <p:nvPr/>
        </p:nvSpPr>
        <p:spPr>
          <a:xfrm>
            <a:off x="771525" y="3257550"/>
            <a:ext cx="5391150" cy="5314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html-shape-55">
            <a:extLst>
              <a:ext uri="{FF2B5EF4-FFF2-40B4-BE49-F238E27FC236}">
                <a16:creationId xmlns:a16="http://schemas.microsoft.com/office/drawing/2014/main" id="{4ECEA3C6-F784-43E6-97FA-301307F3493E}"/>
              </a:ext>
            </a:extLst>
          </p:cNvPr>
          <p:cNvSpPr>
            <a:spLocks noGrp="1"/>
          </p:cNvSpPr>
          <p:nvPr/>
        </p:nvSpPr>
        <p:spPr>
          <a:xfrm>
            <a:off x="6448425" y="3257550"/>
            <a:ext cx="5391150" cy="5314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html-shape-59">
            <a:extLst>
              <a:ext uri="{FF2B5EF4-FFF2-40B4-BE49-F238E27FC236}">
                <a16:creationId xmlns:a16="http://schemas.microsoft.com/office/drawing/2014/main" id="{A013DB7B-A417-4139-8B9E-25C7942796CB}"/>
              </a:ext>
            </a:extLst>
          </p:cNvPr>
          <p:cNvSpPr>
            <a:spLocks noGrp="1"/>
          </p:cNvSpPr>
          <p:nvPr/>
        </p:nvSpPr>
        <p:spPr>
          <a:xfrm>
            <a:off x="12125325" y="3257550"/>
            <a:ext cx="5391150" cy="5314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html-shape-63">
            <a:extLst>
              <a:ext uri="{FF2B5EF4-FFF2-40B4-BE49-F238E27FC236}">
                <a16:creationId xmlns:a16="http://schemas.microsoft.com/office/drawing/2014/main" id="{FA991B98-BE3A-47B1-88BF-75F305BED576}"/>
              </a:ext>
            </a:extLst>
          </p:cNvPr>
          <p:cNvSpPr>
            <a:spLocks noGrp="1"/>
          </p:cNvSpPr>
          <p:nvPr/>
        </p:nvSpPr>
        <p:spPr>
          <a:xfrm>
            <a:off x="1600200" y="8648700"/>
            <a:ext cx="15087600" cy="723900"/>
          </a:xfrm>
          <a:prstGeom prst="roundRect">
            <a:avLst>
              <a:gd name="adj" fmla="val 1973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5" name="svg-line-1">
            <a:extLst>
              <a:ext uri="{FF2B5EF4-FFF2-40B4-BE49-F238E27FC236}">
                <a16:creationId xmlns:a16="http://schemas.microsoft.com/office/drawing/2014/main" id="{B7B5EB94-7350-4C0F-9FFD-518A131055FE}"/>
              </a:ext>
            </a:extLst>
          </p:cNvPr>
          <p:cNvSpPr>
            <a:spLocks noGrp="1"/>
          </p:cNvSpPr>
          <p:nvPr/>
        </p:nvSpPr>
        <p:spPr>
          <a:xfrm>
            <a:off x="1705928" y="6817519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6" name="svg-line-2">
            <a:extLst>
              <a:ext uri="{FF2B5EF4-FFF2-40B4-BE49-F238E27FC236}">
                <a16:creationId xmlns:a16="http://schemas.microsoft.com/office/drawing/2014/main" id="{24C23C9E-7D51-45E5-A210-6661A0DD4490}"/>
              </a:ext>
            </a:extLst>
          </p:cNvPr>
          <p:cNvSpPr>
            <a:spLocks noGrp="1"/>
          </p:cNvSpPr>
          <p:nvPr/>
        </p:nvSpPr>
        <p:spPr>
          <a:xfrm>
            <a:off x="1705928" y="6186583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7" name="svg-line-3">
            <a:extLst>
              <a:ext uri="{FF2B5EF4-FFF2-40B4-BE49-F238E27FC236}">
                <a16:creationId xmlns:a16="http://schemas.microsoft.com/office/drawing/2014/main" id="{15D4EF85-3EC8-4A07-8C4C-30DA9B1A6EF6}"/>
              </a:ext>
            </a:extLst>
          </p:cNvPr>
          <p:cNvSpPr>
            <a:spLocks noGrp="1"/>
          </p:cNvSpPr>
          <p:nvPr/>
        </p:nvSpPr>
        <p:spPr>
          <a:xfrm>
            <a:off x="1705928" y="5555647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8" name="svg-line-4">
            <a:extLst>
              <a:ext uri="{FF2B5EF4-FFF2-40B4-BE49-F238E27FC236}">
                <a16:creationId xmlns:a16="http://schemas.microsoft.com/office/drawing/2014/main" id="{95C2A717-007C-482E-975D-CC279FDDCFED}"/>
              </a:ext>
            </a:extLst>
          </p:cNvPr>
          <p:cNvSpPr>
            <a:spLocks noGrp="1"/>
          </p:cNvSpPr>
          <p:nvPr/>
        </p:nvSpPr>
        <p:spPr>
          <a:xfrm>
            <a:off x="1705928" y="4924711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9" name="svg-line-5">
            <a:extLst>
              <a:ext uri="{FF2B5EF4-FFF2-40B4-BE49-F238E27FC236}">
                <a16:creationId xmlns:a16="http://schemas.microsoft.com/office/drawing/2014/main" id="{C8370FD4-CFFE-4489-8F67-BC1FB5A5521E}"/>
              </a:ext>
            </a:extLst>
          </p:cNvPr>
          <p:cNvSpPr>
            <a:spLocks noGrp="1"/>
          </p:cNvSpPr>
          <p:nvPr/>
        </p:nvSpPr>
        <p:spPr>
          <a:xfrm>
            <a:off x="1705928" y="4293870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10" name="svg-line-6">
            <a:extLst>
              <a:ext uri="{FF2B5EF4-FFF2-40B4-BE49-F238E27FC236}">
                <a16:creationId xmlns:a16="http://schemas.microsoft.com/office/drawing/2014/main" id="{81ABDEB7-3D79-46E4-BFEA-0AE30C0EA69D}"/>
              </a:ext>
            </a:extLst>
          </p:cNvPr>
          <p:cNvSpPr>
            <a:spLocks noGrp="1"/>
          </p:cNvSpPr>
          <p:nvPr/>
        </p:nvSpPr>
        <p:spPr>
          <a:xfrm>
            <a:off x="1705928" y="4293870"/>
            <a:ext cx="4763" cy="2523744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11" name="svg-line-7">
            <a:extLst>
              <a:ext uri="{FF2B5EF4-FFF2-40B4-BE49-F238E27FC236}">
                <a16:creationId xmlns:a16="http://schemas.microsoft.com/office/drawing/2014/main" id="{9A76A1DD-BDA0-4304-87D9-05CF2DB0845C}"/>
              </a:ext>
            </a:extLst>
          </p:cNvPr>
          <p:cNvSpPr>
            <a:spLocks noGrp="1"/>
          </p:cNvSpPr>
          <p:nvPr/>
        </p:nvSpPr>
        <p:spPr>
          <a:xfrm>
            <a:off x="1705928" y="6817519"/>
            <a:ext cx="3812858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12" name="svg-line-8">
            <a:extLst>
              <a:ext uri="{FF2B5EF4-FFF2-40B4-BE49-F238E27FC236}">
                <a16:creationId xmlns:a16="http://schemas.microsoft.com/office/drawing/2014/main" id="{C68029A0-B505-421D-A09D-B586CA7C25B5}"/>
              </a:ext>
            </a:extLst>
          </p:cNvPr>
          <p:cNvSpPr>
            <a:spLocks noGrp="1"/>
          </p:cNvSpPr>
          <p:nvPr/>
        </p:nvSpPr>
        <p:spPr>
          <a:xfrm>
            <a:off x="3612356" y="4293870"/>
            <a:ext cx="4763" cy="2523744"/>
          </a:xfrm>
          <a:prstGeom prst="line">
            <a:avLst/>
          </a:prstGeom>
          <a:noFill/>
          <a:ln w="19050">
            <a:solidFill>
              <a:srgbClr val="642AF0"/>
            </a:solidFill>
            <a:prstDash val="dash"/>
          </a:ln>
        </p:spPr>
      </p:sp>
      <p:sp>
        <p:nvSpPr>
          <p:cNvPr id="13" name="svg-segment-9">
            <a:extLst>
              <a:ext uri="{FF2B5EF4-FFF2-40B4-BE49-F238E27FC236}">
                <a16:creationId xmlns:a16="http://schemas.microsoft.com/office/drawing/2014/main" id="{BA0FE6F0-C3D4-48C4-983E-BC46B3186ACB}"/>
              </a:ext>
            </a:extLst>
          </p:cNvPr>
          <p:cNvSpPr>
            <a:spLocks noGrp="1"/>
          </p:cNvSpPr>
          <p:nvPr/>
        </p:nvSpPr>
        <p:spPr>
          <a:xfrm>
            <a:off x="2471261" y="6776657"/>
            <a:ext cx="117062" cy="18193"/>
          </a:xfrm>
          <a:custGeom>
            <a:avLst/>
            <a:gdLst/>
            <a:ahLst/>
            <a:cxnLst/>
            <a:rect l="0" t="0" r="0" b="0"/>
            <a:pathLst>
              <a:path w="117108" h="18156">
                <a:moveTo>
                  <a:pt x="117108" y="18156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4" name="svg-segment-10">
            <a:extLst>
              <a:ext uri="{FF2B5EF4-FFF2-40B4-BE49-F238E27FC236}">
                <a16:creationId xmlns:a16="http://schemas.microsoft.com/office/drawing/2014/main" id="{3B625A04-19FE-4437-994B-17D4B079DD19}"/>
              </a:ext>
            </a:extLst>
          </p:cNvPr>
          <p:cNvSpPr>
            <a:spLocks noGrp="1"/>
          </p:cNvSpPr>
          <p:nvPr/>
        </p:nvSpPr>
        <p:spPr>
          <a:xfrm>
            <a:off x="2450306" y="6739509"/>
            <a:ext cx="20860" cy="37243"/>
          </a:xfrm>
          <a:custGeom>
            <a:avLst/>
            <a:gdLst/>
            <a:ahLst/>
            <a:cxnLst/>
            <a:rect l="0" t="0" r="0" b="0"/>
            <a:pathLst>
              <a:path w="20880" h="37220">
                <a:moveTo>
                  <a:pt x="20880" y="37220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5" name="svg-segment-11">
            <a:extLst>
              <a:ext uri="{FF2B5EF4-FFF2-40B4-BE49-F238E27FC236}">
                <a16:creationId xmlns:a16="http://schemas.microsoft.com/office/drawing/2014/main" id="{F93A6BDE-6EA3-41B5-8DEB-A12FBF1D1581}"/>
              </a:ext>
            </a:extLst>
          </p:cNvPr>
          <p:cNvSpPr>
            <a:spLocks noGrp="1"/>
          </p:cNvSpPr>
          <p:nvPr/>
        </p:nvSpPr>
        <p:spPr>
          <a:xfrm>
            <a:off x="2450306" y="6656832"/>
            <a:ext cx="68961" cy="82582"/>
          </a:xfrm>
          <a:custGeom>
            <a:avLst/>
            <a:gdLst/>
            <a:ahLst/>
            <a:cxnLst/>
            <a:rect l="0" t="0" r="0" b="0"/>
            <a:pathLst>
              <a:path w="68994" h="82611">
                <a:moveTo>
                  <a:pt x="0" y="82611"/>
                </a:moveTo>
                <a:lnTo>
                  <a:pt x="68994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6" name="svg-segment-12">
            <a:extLst>
              <a:ext uri="{FF2B5EF4-FFF2-40B4-BE49-F238E27FC236}">
                <a16:creationId xmlns:a16="http://schemas.microsoft.com/office/drawing/2014/main" id="{6331EAAA-8669-4002-842F-A78F3EDA4980}"/>
              </a:ext>
            </a:extLst>
          </p:cNvPr>
          <p:cNvSpPr>
            <a:spLocks noGrp="1"/>
          </p:cNvSpPr>
          <p:nvPr/>
        </p:nvSpPr>
        <p:spPr>
          <a:xfrm>
            <a:off x="2366867" y="6544342"/>
            <a:ext cx="152495" cy="112586"/>
          </a:xfrm>
          <a:custGeom>
            <a:avLst/>
            <a:gdLst/>
            <a:ahLst/>
            <a:cxnLst/>
            <a:rect l="0" t="0" r="0" b="0"/>
            <a:pathLst>
              <a:path w="152513" h="112569">
                <a:moveTo>
                  <a:pt x="152513" y="112569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7" name="svg-segment-13">
            <a:extLst>
              <a:ext uri="{FF2B5EF4-FFF2-40B4-BE49-F238E27FC236}">
                <a16:creationId xmlns:a16="http://schemas.microsoft.com/office/drawing/2014/main" id="{F3CF5C34-E6B7-4774-BF93-84FFFBBF88E2}"/>
              </a:ext>
            </a:extLst>
          </p:cNvPr>
          <p:cNvSpPr>
            <a:spLocks noGrp="1"/>
          </p:cNvSpPr>
          <p:nvPr/>
        </p:nvSpPr>
        <p:spPr>
          <a:xfrm>
            <a:off x="2321433" y="6321838"/>
            <a:ext cx="45434" cy="222409"/>
          </a:xfrm>
          <a:custGeom>
            <a:avLst/>
            <a:gdLst/>
            <a:ahLst/>
            <a:cxnLst/>
            <a:rect l="0" t="0" r="0" b="0"/>
            <a:pathLst>
              <a:path w="45391" h="222415">
                <a:moveTo>
                  <a:pt x="45391" y="222415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8" name="svg-segment-14">
            <a:extLst>
              <a:ext uri="{FF2B5EF4-FFF2-40B4-BE49-F238E27FC236}">
                <a16:creationId xmlns:a16="http://schemas.microsoft.com/office/drawing/2014/main" id="{FD4608BD-24E4-44C5-A060-687E5FF1D2ED}"/>
              </a:ext>
            </a:extLst>
          </p:cNvPr>
          <p:cNvSpPr>
            <a:spLocks noGrp="1"/>
          </p:cNvSpPr>
          <p:nvPr/>
        </p:nvSpPr>
        <p:spPr>
          <a:xfrm>
            <a:off x="2283333" y="6126671"/>
            <a:ext cx="38100" cy="195167"/>
          </a:xfrm>
          <a:custGeom>
            <a:avLst/>
            <a:gdLst/>
            <a:ahLst/>
            <a:cxnLst/>
            <a:rect l="0" t="0" r="0" b="0"/>
            <a:pathLst>
              <a:path w="38128" h="195180">
                <a:moveTo>
                  <a:pt x="38128" y="195180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9" name="svg-segment-15">
            <a:extLst>
              <a:ext uri="{FF2B5EF4-FFF2-40B4-BE49-F238E27FC236}">
                <a16:creationId xmlns:a16="http://schemas.microsoft.com/office/drawing/2014/main" id="{833E3E50-8E2B-483C-A9F4-370C80D4083D}"/>
              </a:ext>
            </a:extLst>
          </p:cNvPr>
          <p:cNvSpPr>
            <a:spLocks noGrp="1"/>
          </p:cNvSpPr>
          <p:nvPr/>
        </p:nvSpPr>
        <p:spPr>
          <a:xfrm>
            <a:off x="2263331" y="5975128"/>
            <a:ext cx="20003" cy="151638"/>
          </a:xfrm>
          <a:custGeom>
            <a:avLst/>
            <a:gdLst/>
            <a:ahLst/>
            <a:cxnLst/>
            <a:rect l="0" t="0" r="0" b="0"/>
            <a:pathLst>
              <a:path w="19972" h="151605">
                <a:moveTo>
                  <a:pt x="19972" y="151605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20" name="svg-segment-16">
            <a:extLst>
              <a:ext uri="{FF2B5EF4-FFF2-40B4-BE49-F238E27FC236}">
                <a16:creationId xmlns:a16="http://schemas.microsoft.com/office/drawing/2014/main" id="{0B451E74-B378-4897-B06A-28C6E1A7301C}"/>
              </a:ext>
            </a:extLst>
          </p:cNvPr>
          <p:cNvSpPr>
            <a:spLocks noGrp="1"/>
          </p:cNvSpPr>
          <p:nvPr/>
        </p:nvSpPr>
        <p:spPr>
          <a:xfrm>
            <a:off x="4763453" y="6678644"/>
            <a:ext cx="61722" cy="67151"/>
          </a:xfrm>
          <a:custGeom>
            <a:avLst/>
            <a:gdLst/>
            <a:ahLst/>
            <a:cxnLst/>
            <a:rect l="0" t="0" r="0" b="0"/>
            <a:pathLst>
              <a:path w="61732" h="67178">
                <a:moveTo>
                  <a:pt x="61732" y="67178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1" name="svg-segment-17">
            <a:extLst>
              <a:ext uri="{FF2B5EF4-FFF2-40B4-BE49-F238E27FC236}">
                <a16:creationId xmlns:a16="http://schemas.microsoft.com/office/drawing/2014/main" id="{AB1930BD-CC1F-4C63-9C63-7F3F6E24F7DE}"/>
              </a:ext>
            </a:extLst>
          </p:cNvPr>
          <p:cNvSpPr>
            <a:spLocks noGrp="1"/>
          </p:cNvSpPr>
          <p:nvPr/>
        </p:nvSpPr>
        <p:spPr>
          <a:xfrm>
            <a:off x="4657249" y="6549771"/>
            <a:ext cx="106204" cy="128873"/>
          </a:xfrm>
          <a:custGeom>
            <a:avLst/>
            <a:gdLst/>
            <a:ahLst/>
            <a:cxnLst/>
            <a:rect l="0" t="0" r="0" b="0"/>
            <a:pathLst>
              <a:path w="106214" h="128910">
                <a:moveTo>
                  <a:pt x="106214" y="128910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2" name="svg-segment-18">
            <a:extLst>
              <a:ext uri="{FF2B5EF4-FFF2-40B4-BE49-F238E27FC236}">
                <a16:creationId xmlns:a16="http://schemas.microsoft.com/office/drawing/2014/main" id="{D3A4C307-C8FE-40A9-A79D-BB29F7044C00}"/>
              </a:ext>
            </a:extLst>
          </p:cNvPr>
          <p:cNvSpPr>
            <a:spLocks noGrp="1"/>
          </p:cNvSpPr>
          <p:nvPr/>
        </p:nvSpPr>
        <p:spPr>
          <a:xfrm>
            <a:off x="4657249" y="6284690"/>
            <a:ext cx="26289" cy="265081"/>
          </a:xfrm>
          <a:custGeom>
            <a:avLst/>
            <a:gdLst/>
            <a:ahLst/>
            <a:cxnLst/>
            <a:rect l="0" t="0" r="0" b="0"/>
            <a:pathLst>
              <a:path w="26327" h="265082">
                <a:moveTo>
                  <a:pt x="0" y="265082"/>
                </a:moveTo>
                <a:lnTo>
                  <a:pt x="26327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3" name="svg-segment-19">
            <a:extLst>
              <a:ext uri="{FF2B5EF4-FFF2-40B4-BE49-F238E27FC236}">
                <a16:creationId xmlns:a16="http://schemas.microsoft.com/office/drawing/2014/main" id="{35B34CFC-C593-4913-B5D1-E103A4BE246A}"/>
              </a:ext>
            </a:extLst>
          </p:cNvPr>
          <p:cNvSpPr>
            <a:spLocks noGrp="1"/>
          </p:cNvSpPr>
          <p:nvPr/>
        </p:nvSpPr>
        <p:spPr>
          <a:xfrm>
            <a:off x="4199668" y="5910644"/>
            <a:ext cx="483870" cy="374047"/>
          </a:xfrm>
          <a:custGeom>
            <a:avLst/>
            <a:gdLst/>
            <a:ahLst/>
            <a:cxnLst/>
            <a:rect l="0" t="0" r="0" b="0"/>
            <a:pathLst>
              <a:path w="483865" h="374020">
                <a:moveTo>
                  <a:pt x="483865" y="374020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4" name="svg-segment-20">
            <a:extLst>
              <a:ext uri="{FF2B5EF4-FFF2-40B4-BE49-F238E27FC236}">
                <a16:creationId xmlns:a16="http://schemas.microsoft.com/office/drawing/2014/main" id="{092DEC9C-D03F-44DF-BD01-0D38ED160324}"/>
              </a:ext>
            </a:extLst>
          </p:cNvPr>
          <p:cNvSpPr>
            <a:spLocks noGrp="1"/>
          </p:cNvSpPr>
          <p:nvPr/>
        </p:nvSpPr>
        <p:spPr>
          <a:xfrm>
            <a:off x="3783902" y="5328761"/>
            <a:ext cx="415766" cy="581882"/>
          </a:xfrm>
          <a:custGeom>
            <a:avLst/>
            <a:gdLst/>
            <a:ahLst/>
            <a:cxnLst/>
            <a:rect l="0" t="0" r="0" b="0"/>
            <a:pathLst>
              <a:path w="415779" h="581909">
                <a:moveTo>
                  <a:pt x="415779" y="581909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5" name="svg-segment-21">
            <a:extLst>
              <a:ext uri="{FF2B5EF4-FFF2-40B4-BE49-F238E27FC236}">
                <a16:creationId xmlns:a16="http://schemas.microsoft.com/office/drawing/2014/main" id="{5B4567F0-4EBC-49B2-88EB-8D1313D8253D}"/>
              </a:ext>
            </a:extLst>
          </p:cNvPr>
          <p:cNvSpPr>
            <a:spLocks noGrp="1"/>
          </p:cNvSpPr>
          <p:nvPr/>
        </p:nvSpPr>
        <p:spPr>
          <a:xfrm>
            <a:off x="3266504" y="5099971"/>
            <a:ext cx="517493" cy="228791"/>
          </a:xfrm>
          <a:custGeom>
            <a:avLst/>
            <a:gdLst/>
            <a:ahLst/>
            <a:cxnLst/>
            <a:rect l="0" t="0" r="0" b="0"/>
            <a:pathLst>
              <a:path w="517454" h="228769">
                <a:moveTo>
                  <a:pt x="517454" y="228769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6" name="svg-segment-22">
            <a:extLst>
              <a:ext uri="{FF2B5EF4-FFF2-40B4-BE49-F238E27FC236}">
                <a16:creationId xmlns:a16="http://schemas.microsoft.com/office/drawing/2014/main" id="{AE7894E3-55DC-4D4E-B0A5-EF021FC0C921}"/>
              </a:ext>
            </a:extLst>
          </p:cNvPr>
          <p:cNvSpPr>
            <a:spLocks noGrp="1"/>
          </p:cNvSpPr>
          <p:nvPr/>
        </p:nvSpPr>
        <p:spPr>
          <a:xfrm>
            <a:off x="3266504" y="4608862"/>
            <a:ext cx="40862" cy="491109"/>
          </a:xfrm>
          <a:custGeom>
            <a:avLst/>
            <a:gdLst/>
            <a:ahLst/>
            <a:cxnLst/>
            <a:rect l="0" t="0" r="0" b="0"/>
            <a:pathLst>
              <a:path w="40852" h="491128">
                <a:moveTo>
                  <a:pt x="0" y="491128"/>
                </a:moveTo>
                <a:lnTo>
                  <a:pt x="40852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7" name="svg-line-23">
            <a:extLst>
              <a:ext uri="{FF2B5EF4-FFF2-40B4-BE49-F238E27FC236}">
                <a16:creationId xmlns:a16="http://schemas.microsoft.com/office/drawing/2014/main" id="{FBD7A166-811A-460D-A977-B6DFA1B83B64}"/>
              </a:ext>
            </a:extLst>
          </p:cNvPr>
          <p:cNvSpPr>
            <a:spLocks noGrp="1"/>
          </p:cNvSpPr>
          <p:nvPr/>
        </p:nvSpPr>
        <p:spPr>
          <a:xfrm>
            <a:off x="7382828" y="6817519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28" name="svg-line-24">
            <a:extLst>
              <a:ext uri="{FF2B5EF4-FFF2-40B4-BE49-F238E27FC236}">
                <a16:creationId xmlns:a16="http://schemas.microsoft.com/office/drawing/2014/main" id="{F79B1CD1-CE2D-40EF-9B26-795CA8B2BA2E}"/>
              </a:ext>
            </a:extLst>
          </p:cNvPr>
          <p:cNvSpPr>
            <a:spLocks noGrp="1"/>
          </p:cNvSpPr>
          <p:nvPr/>
        </p:nvSpPr>
        <p:spPr>
          <a:xfrm>
            <a:off x="7382828" y="6186583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29" name="svg-line-25">
            <a:extLst>
              <a:ext uri="{FF2B5EF4-FFF2-40B4-BE49-F238E27FC236}">
                <a16:creationId xmlns:a16="http://schemas.microsoft.com/office/drawing/2014/main" id="{55174DC0-5969-4EAE-AD19-1EA11051FC55}"/>
              </a:ext>
            </a:extLst>
          </p:cNvPr>
          <p:cNvSpPr>
            <a:spLocks noGrp="1"/>
          </p:cNvSpPr>
          <p:nvPr/>
        </p:nvSpPr>
        <p:spPr>
          <a:xfrm>
            <a:off x="7382828" y="5555647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0" name="svg-line-26">
            <a:extLst>
              <a:ext uri="{FF2B5EF4-FFF2-40B4-BE49-F238E27FC236}">
                <a16:creationId xmlns:a16="http://schemas.microsoft.com/office/drawing/2014/main" id="{140CDCA6-FEB0-402A-B7DB-7BF9905F994B}"/>
              </a:ext>
            </a:extLst>
          </p:cNvPr>
          <p:cNvSpPr>
            <a:spLocks noGrp="1"/>
          </p:cNvSpPr>
          <p:nvPr/>
        </p:nvSpPr>
        <p:spPr>
          <a:xfrm>
            <a:off x="7382828" y="4924711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1" name="svg-line-27">
            <a:extLst>
              <a:ext uri="{FF2B5EF4-FFF2-40B4-BE49-F238E27FC236}">
                <a16:creationId xmlns:a16="http://schemas.microsoft.com/office/drawing/2014/main" id="{39A94DC9-2141-4942-9D8F-104127DE5ED2}"/>
              </a:ext>
            </a:extLst>
          </p:cNvPr>
          <p:cNvSpPr>
            <a:spLocks noGrp="1"/>
          </p:cNvSpPr>
          <p:nvPr/>
        </p:nvSpPr>
        <p:spPr>
          <a:xfrm>
            <a:off x="7382828" y="4293870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2" name="svg-line-28">
            <a:extLst>
              <a:ext uri="{FF2B5EF4-FFF2-40B4-BE49-F238E27FC236}">
                <a16:creationId xmlns:a16="http://schemas.microsoft.com/office/drawing/2014/main" id="{7D4AE3A7-1837-4637-9B0B-53B655267F6B}"/>
              </a:ext>
            </a:extLst>
          </p:cNvPr>
          <p:cNvSpPr>
            <a:spLocks noGrp="1"/>
          </p:cNvSpPr>
          <p:nvPr/>
        </p:nvSpPr>
        <p:spPr>
          <a:xfrm>
            <a:off x="7382828" y="4293870"/>
            <a:ext cx="4763" cy="2523744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33" name="svg-line-29">
            <a:extLst>
              <a:ext uri="{FF2B5EF4-FFF2-40B4-BE49-F238E27FC236}">
                <a16:creationId xmlns:a16="http://schemas.microsoft.com/office/drawing/2014/main" id="{26F24B91-A859-4C9D-BA7B-6C1D1BC73C1A}"/>
              </a:ext>
            </a:extLst>
          </p:cNvPr>
          <p:cNvSpPr>
            <a:spLocks noGrp="1"/>
          </p:cNvSpPr>
          <p:nvPr/>
        </p:nvSpPr>
        <p:spPr>
          <a:xfrm>
            <a:off x="7382828" y="6817519"/>
            <a:ext cx="3812858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34" name="svg-line-30">
            <a:extLst>
              <a:ext uri="{FF2B5EF4-FFF2-40B4-BE49-F238E27FC236}">
                <a16:creationId xmlns:a16="http://schemas.microsoft.com/office/drawing/2014/main" id="{E368D7FE-7518-496A-8F58-4D2A86EC85F3}"/>
              </a:ext>
            </a:extLst>
          </p:cNvPr>
          <p:cNvSpPr>
            <a:spLocks noGrp="1"/>
          </p:cNvSpPr>
          <p:nvPr/>
        </p:nvSpPr>
        <p:spPr>
          <a:xfrm>
            <a:off x="9289256" y="4293870"/>
            <a:ext cx="4763" cy="2523744"/>
          </a:xfrm>
          <a:prstGeom prst="line">
            <a:avLst/>
          </a:prstGeom>
          <a:noFill/>
          <a:ln w="19050">
            <a:solidFill>
              <a:srgbClr val="642AF0"/>
            </a:solidFill>
            <a:prstDash val="dash"/>
          </a:ln>
        </p:spPr>
      </p:sp>
      <p:sp>
        <p:nvSpPr>
          <p:cNvPr id="35" name="svg-segment-31">
            <a:extLst>
              <a:ext uri="{FF2B5EF4-FFF2-40B4-BE49-F238E27FC236}">
                <a16:creationId xmlns:a16="http://schemas.microsoft.com/office/drawing/2014/main" id="{CFAA272D-1B4A-4360-9207-38EAAA1EC237}"/>
              </a:ext>
            </a:extLst>
          </p:cNvPr>
          <p:cNvSpPr>
            <a:spLocks noGrp="1"/>
          </p:cNvSpPr>
          <p:nvPr/>
        </p:nvSpPr>
        <p:spPr>
          <a:xfrm>
            <a:off x="8130921" y="6763988"/>
            <a:ext cx="102584" cy="23622"/>
          </a:xfrm>
          <a:custGeom>
            <a:avLst/>
            <a:gdLst/>
            <a:ahLst/>
            <a:cxnLst/>
            <a:rect l="0" t="0" r="0" b="0"/>
            <a:pathLst>
              <a:path w="102583" h="23603">
                <a:moveTo>
                  <a:pt x="102583" y="23603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6" name="svg-segment-32">
            <a:extLst>
              <a:ext uri="{FF2B5EF4-FFF2-40B4-BE49-F238E27FC236}">
                <a16:creationId xmlns:a16="http://schemas.microsoft.com/office/drawing/2014/main" id="{973F843A-CF74-4373-B090-157CCB0A2AA0}"/>
              </a:ext>
            </a:extLst>
          </p:cNvPr>
          <p:cNvSpPr>
            <a:spLocks noGrp="1"/>
          </p:cNvSpPr>
          <p:nvPr/>
        </p:nvSpPr>
        <p:spPr>
          <a:xfrm>
            <a:off x="8125396" y="6711315"/>
            <a:ext cx="5429" cy="52673"/>
          </a:xfrm>
          <a:custGeom>
            <a:avLst/>
            <a:gdLst/>
            <a:ahLst/>
            <a:cxnLst/>
            <a:rect l="0" t="0" r="0" b="0"/>
            <a:pathLst>
              <a:path w="5447" h="52653">
                <a:moveTo>
                  <a:pt x="5447" y="52653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7" name="svg-segment-33">
            <a:extLst>
              <a:ext uri="{FF2B5EF4-FFF2-40B4-BE49-F238E27FC236}">
                <a16:creationId xmlns:a16="http://schemas.microsoft.com/office/drawing/2014/main" id="{C36C15C3-ECBD-4F1F-B916-4D7EEDA9B555}"/>
              </a:ext>
            </a:extLst>
          </p:cNvPr>
          <p:cNvSpPr>
            <a:spLocks noGrp="1"/>
          </p:cNvSpPr>
          <p:nvPr/>
        </p:nvSpPr>
        <p:spPr>
          <a:xfrm>
            <a:off x="8125396" y="6605111"/>
            <a:ext cx="48101" cy="106204"/>
          </a:xfrm>
          <a:custGeom>
            <a:avLst/>
            <a:gdLst/>
            <a:ahLst/>
            <a:cxnLst/>
            <a:rect l="0" t="0" r="0" b="0"/>
            <a:pathLst>
              <a:path w="48114" h="106214">
                <a:moveTo>
                  <a:pt x="0" y="106214"/>
                </a:moveTo>
                <a:lnTo>
                  <a:pt x="48114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8" name="svg-segment-34">
            <a:extLst>
              <a:ext uri="{FF2B5EF4-FFF2-40B4-BE49-F238E27FC236}">
                <a16:creationId xmlns:a16="http://schemas.microsoft.com/office/drawing/2014/main" id="{1D7F76CA-FD1F-4239-A8EA-003665A50425}"/>
              </a:ext>
            </a:extLst>
          </p:cNvPr>
          <p:cNvSpPr>
            <a:spLocks noGrp="1"/>
          </p:cNvSpPr>
          <p:nvPr/>
        </p:nvSpPr>
        <p:spPr>
          <a:xfrm>
            <a:off x="8027384" y="6472619"/>
            <a:ext cx="146114" cy="132588"/>
          </a:xfrm>
          <a:custGeom>
            <a:avLst/>
            <a:gdLst/>
            <a:ahLst/>
            <a:cxnLst/>
            <a:rect l="0" t="0" r="0" b="0"/>
            <a:pathLst>
              <a:path w="146158" h="132541">
                <a:moveTo>
                  <a:pt x="146158" y="132541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9" name="svg-segment-35">
            <a:extLst>
              <a:ext uri="{FF2B5EF4-FFF2-40B4-BE49-F238E27FC236}">
                <a16:creationId xmlns:a16="http://schemas.microsoft.com/office/drawing/2014/main" id="{03394E27-CE41-4F57-8E9B-A5BE9AE48A05}"/>
              </a:ext>
            </a:extLst>
          </p:cNvPr>
          <p:cNvSpPr>
            <a:spLocks noGrp="1"/>
          </p:cNvSpPr>
          <p:nvPr/>
        </p:nvSpPr>
        <p:spPr>
          <a:xfrm>
            <a:off x="7981093" y="6172105"/>
            <a:ext cx="46292" cy="300514"/>
          </a:xfrm>
          <a:custGeom>
            <a:avLst/>
            <a:gdLst/>
            <a:ahLst/>
            <a:cxnLst/>
            <a:rect l="0" t="0" r="0" b="0"/>
            <a:pathLst>
              <a:path w="46299" h="300487">
                <a:moveTo>
                  <a:pt x="46299" y="30048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0" name="svg-segment-36">
            <a:extLst>
              <a:ext uri="{FF2B5EF4-FFF2-40B4-BE49-F238E27FC236}">
                <a16:creationId xmlns:a16="http://schemas.microsoft.com/office/drawing/2014/main" id="{30993837-B8DC-4DA4-9082-C917575E2E26}"/>
              </a:ext>
            </a:extLst>
          </p:cNvPr>
          <p:cNvSpPr>
            <a:spLocks noGrp="1"/>
          </p:cNvSpPr>
          <p:nvPr/>
        </p:nvSpPr>
        <p:spPr>
          <a:xfrm>
            <a:off x="7962900" y="5907024"/>
            <a:ext cx="18193" cy="265081"/>
          </a:xfrm>
          <a:custGeom>
            <a:avLst/>
            <a:gdLst/>
            <a:ahLst/>
            <a:cxnLst/>
            <a:rect l="0" t="0" r="0" b="0"/>
            <a:pathLst>
              <a:path w="18156" h="265082">
                <a:moveTo>
                  <a:pt x="18156" y="265082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1" name="svg-segment-37">
            <a:extLst>
              <a:ext uri="{FF2B5EF4-FFF2-40B4-BE49-F238E27FC236}">
                <a16:creationId xmlns:a16="http://schemas.microsoft.com/office/drawing/2014/main" id="{184CF2CE-0C2E-4568-ADA7-523ACDB8E734}"/>
              </a:ext>
            </a:extLst>
          </p:cNvPr>
          <p:cNvSpPr>
            <a:spLocks noGrp="1"/>
          </p:cNvSpPr>
          <p:nvPr/>
        </p:nvSpPr>
        <p:spPr>
          <a:xfrm>
            <a:off x="7934801" y="5686425"/>
            <a:ext cx="28099" cy="220599"/>
          </a:xfrm>
          <a:custGeom>
            <a:avLst/>
            <a:gdLst/>
            <a:ahLst/>
            <a:cxnLst/>
            <a:rect l="0" t="0" r="0" b="0"/>
            <a:pathLst>
              <a:path w="28142" h="220599">
                <a:moveTo>
                  <a:pt x="28142" y="220599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2" name="svg-segment-38">
            <a:extLst>
              <a:ext uri="{FF2B5EF4-FFF2-40B4-BE49-F238E27FC236}">
                <a16:creationId xmlns:a16="http://schemas.microsoft.com/office/drawing/2014/main" id="{7A26EC12-2770-4EE7-B742-E07F34EDBBA7}"/>
              </a:ext>
            </a:extLst>
          </p:cNvPr>
          <p:cNvSpPr>
            <a:spLocks noGrp="1"/>
          </p:cNvSpPr>
          <p:nvPr/>
        </p:nvSpPr>
        <p:spPr>
          <a:xfrm>
            <a:off x="10271474" y="6663214"/>
            <a:ext cx="40862" cy="74486"/>
          </a:xfrm>
          <a:custGeom>
            <a:avLst/>
            <a:gdLst/>
            <a:ahLst/>
            <a:cxnLst/>
            <a:rect l="0" t="0" r="0" b="0"/>
            <a:pathLst>
              <a:path w="40852" h="74441">
                <a:moveTo>
                  <a:pt x="40852" y="74441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3" name="svg-segment-39">
            <a:extLst>
              <a:ext uri="{FF2B5EF4-FFF2-40B4-BE49-F238E27FC236}">
                <a16:creationId xmlns:a16="http://schemas.microsoft.com/office/drawing/2014/main" id="{5AE53006-C935-4DAB-B0B9-F192643F755A}"/>
              </a:ext>
            </a:extLst>
          </p:cNvPr>
          <p:cNvSpPr>
            <a:spLocks noGrp="1"/>
          </p:cNvSpPr>
          <p:nvPr/>
        </p:nvSpPr>
        <p:spPr>
          <a:xfrm>
            <a:off x="10199751" y="6517958"/>
            <a:ext cx="71723" cy="145256"/>
          </a:xfrm>
          <a:custGeom>
            <a:avLst/>
            <a:gdLst/>
            <a:ahLst/>
            <a:cxnLst/>
            <a:rect l="0" t="0" r="0" b="0"/>
            <a:pathLst>
              <a:path w="71718" h="145250">
                <a:moveTo>
                  <a:pt x="71718" y="145250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4" name="svg-segment-40">
            <a:extLst>
              <a:ext uri="{FF2B5EF4-FFF2-40B4-BE49-F238E27FC236}">
                <a16:creationId xmlns:a16="http://schemas.microsoft.com/office/drawing/2014/main" id="{E7309B44-7A5B-4770-80F0-9167E6587684}"/>
              </a:ext>
            </a:extLst>
          </p:cNvPr>
          <p:cNvSpPr>
            <a:spLocks noGrp="1"/>
          </p:cNvSpPr>
          <p:nvPr/>
        </p:nvSpPr>
        <p:spPr>
          <a:xfrm>
            <a:off x="10151650" y="6252877"/>
            <a:ext cx="48101" cy="265081"/>
          </a:xfrm>
          <a:custGeom>
            <a:avLst/>
            <a:gdLst/>
            <a:ahLst/>
            <a:cxnLst/>
            <a:rect l="0" t="0" r="0" b="0"/>
            <a:pathLst>
              <a:path w="48114" h="265082">
                <a:moveTo>
                  <a:pt x="48114" y="265082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5" name="svg-segment-41">
            <a:extLst>
              <a:ext uri="{FF2B5EF4-FFF2-40B4-BE49-F238E27FC236}">
                <a16:creationId xmlns:a16="http://schemas.microsoft.com/office/drawing/2014/main" id="{E63AA2E7-B42C-4A52-9E30-DA0DD7BA8424}"/>
              </a:ext>
            </a:extLst>
          </p:cNvPr>
          <p:cNvSpPr>
            <a:spLocks noGrp="1"/>
          </p:cNvSpPr>
          <p:nvPr/>
        </p:nvSpPr>
        <p:spPr>
          <a:xfrm>
            <a:off x="9951053" y="5856161"/>
            <a:ext cx="200597" cy="396716"/>
          </a:xfrm>
          <a:custGeom>
            <a:avLst/>
            <a:gdLst/>
            <a:ahLst/>
            <a:cxnLst/>
            <a:rect l="0" t="0" r="0" b="0"/>
            <a:pathLst>
              <a:path w="200627" h="396715">
                <a:moveTo>
                  <a:pt x="200627" y="396715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6" name="svg-segment-42">
            <a:extLst>
              <a:ext uri="{FF2B5EF4-FFF2-40B4-BE49-F238E27FC236}">
                <a16:creationId xmlns:a16="http://schemas.microsoft.com/office/drawing/2014/main" id="{77EB88D8-E5A3-440A-BBA1-555B9A0BB414}"/>
              </a:ext>
            </a:extLst>
          </p:cNvPr>
          <p:cNvSpPr>
            <a:spLocks noGrp="1"/>
          </p:cNvSpPr>
          <p:nvPr/>
        </p:nvSpPr>
        <p:spPr>
          <a:xfrm>
            <a:off x="9565196" y="5256086"/>
            <a:ext cx="385858" cy="600075"/>
          </a:xfrm>
          <a:custGeom>
            <a:avLst/>
            <a:gdLst/>
            <a:ahLst/>
            <a:cxnLst/>
            <a:rect l="0" t="0" r="0" b="0"/>
            <a:pathLst>
              <a:path w="385821" h="600066">
                <a:moveTo>
                  <a:pt x="385821" y="600066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7" name="svg-segment-43">
            <a:extLst>
              <a:ext uri="{FF2B5EF4-FFF2-40B4-BE49-F238E27FC236}">
                <a16:creationId xmlns:a16="http://schemas.microsoft.com/office/drawing/2014/main" id="{6411E50B-D4A9-42A4-8E16-85C09B54A742}"/>
              </a:ext>
            </a:extLst>
          </p:cNvPr>
          <p:cNvSpPr>
            <a:spLocks noGrp="1"/>
          </p:cNvSpPr>
          <p:nvPr/>
        </p:nvSpPr>
        <p:spPr>
          <a:xfrm>
            <a:off x="9084945" y="4945666"/>
            <a:ext cx="480251" cy="310515"/>
          </a:xfrm>
          <a:custGeom>
            <a:avLst/>
            <a:gdLst/>
            <a:ahLst/>
            <a:cxnLst/>
            <a:rect l="0" t="0" r="0" b="0"/>
            <a:pathLst>
              <a:path w="480234" h="310473">
                <a:moveTo>
                  <a:pt x="480234" y="310473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8" name="svg-segment-44">
            <a:extLst>
              <a:ext uri="{FF2B5EF4-FFF2-40B4-BE49-F238E27FC236}">
                <a16:creationId xmlns:a16="http://schemas.microsoft.com/office/drawing/2014/main" id="{820CF1D3-320B-4950-B988-27CEED137D59}"/>
              </a:ext>
            </a:extLst>
          </p:cNvPr>
          <p:cNvSpPr>
            <a:spLocks noGrp="1"/>
          </p:cNvSpPr>
          <p:nvPr/>
        </p:nvSpPr>
        <p:spPr>
          <a:xfrm>
            <a:off x="8921591" y="4646962"/>
            <a:ext cx="163449" cy="298704"/>
          </a:xfrm>
          <a:custGeom>
            <a:avLst/>
            <a:gdLst/>
            <a:ahLst/>
            <a:cxnLst/>
            <a:rect l="0" t="0" r="0" b="0"/>
            <a:pathLst>
              <a:path w="163407" h="298671">
                <a:moveTo>
                  <a:pt x="163407" y="298671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9" name="svg-line-45">
            <a:extLst>
              <a:ext uri="{FF2B5EF4-FFF2-40B4-BE49-F238E27FC236}">
                <a16:creationId xmlns:a16="http://schemas.microsoft.com/office/drawing/2014/main" id="{B795AE8C-C412-49EC-AA88-CE441BB73165}"/>
              </a:ext>
            </a:extLst>
          </p:cNvPr>
          <p:cNvSpPr>
            <a:spLocks noGrp="1"/>
          </p:cNvSpPr>
          <p:nvPr/>
        </p:nvSpPr>
        <p:spPr>
          <a:xfrm>
            <a:off x="13059728" y="6817519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0" name="svg-line-46">
            <a:extLst>
              <a:ext uri="{FF2B5EF4-FFF2-40B4-BE49-F238E27FC236}">
                <a16:creationId xmlns:a16="http://schemas.microsoft.com/office/drawing/2014/main" id="{38A9BE56-2BCF-48CB-A67D-64A818ADD487}"/>
              </a:ext>
            </a:extLst>
          </p:cNvPr>
          <p:cNvSpPr>
            <a:spLocks noGrp="1"/>
          </p:cNvSpPr>
          <p:nvPr/>
        </p:nvSpPr>
        <p:spPr>
          <a:xfrm>
            <a:off x="13059728" y="6186583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1" name="svg-line-47">
            <a:extLst>
              <a:ext uri="{FF2B5EF4-FFF2-40B4-BE49-F238E27FC236}">
                <a16:creationId xmlns:a16="http://schemas.microsoft.com/office/drawing/2014/main" id="{BD67E777-9792-42F0-B153-4018A973469D}"/>
              </a:ext>
            </a:extLst>
          </p:cNvPr>
          <p:cNvSpPr>
            <a:spLocks noGrp="1"/>
          </p:cNvSpPr>
          <p:nvPr/>
        </p:nvSpPr>
        <p:spPr>
          <a:xfrm>
            <a:off x="13059728" y="5555647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2" name="svg-line-48">
            <a:extLst>
              <a:ext uri="{FF2B5EF4-FFF2-40B4-BE49-F238E27FC236}">
                <a16:creationId xmlns:a16="http://schemas.microsoft.com/office/drawing/2014/main" id="{B213E705-4E6F-49BA-B224-25F9B36FD1B6}"/>
              </a:ext>
            </a:extLst>
          </p:cNvPr>
          <p:cNvSpPr>
            <a:spLocks noGrp="1"/>
          </p:cNvSpPr>
          <p:nvPr/>
        </p:nvSpPr>
        <p:spPr>
          <a:xfrm>
            <a:off x="13059728" y="4924711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3" name="svg-line-49">
            <a:extLst>
              <a:ext uri="{FF2B5EF4-FFF2-40B4-BE49-F238E27FC236}">
                <a16:creationId xmlns:a16="http://schemas.microsoft.com/office/drawing/2014/main" id="{1F8E5250-432E-4CEE-B7E5-4B4C3553EA95}"/>
              </a:ext>
            </a:extLst>
          </p:cNvPr>
          <p:cNvSpPr>
            <a:spLocks noGrp="1"/>
          </p:cNvSpPr>
          <p:nvPr/>
        </p:nvSpPr>
        <p:spPr>
          <a:xfrm>
            <a:off x="13059728" y="4293870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4" name="svg-line-50">
            <a:extLst>
              <a:ext uri="{FF2B5EF4-FFF2-40B4-BE49-F238E27FC236}">
                <a16:creationId xmlns:a16="http://schemas.microsoft.com/office/drawing/2014/main" id="{E7C2A77F-EC39-444A-91B7-C25CB1F5E5A8}"/>
              </a:ext>
            </a:extLst>
          </p:cNvPr>
          <p:cNvSpPr>
            <a:spLocks noGrp="1"/>
          </p:cNvSpPr>
          <p:nvPr/>
        </p:nvSpPr>
        <p:spPr>
          <a:xfrm>
            <a:off x="13059728" y="4293870"/>
            <a:ext cx="4763" cy="2523744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55" name="svg-line-51">
            <a:extLst>
              <a:ext uri="{FF2B5EF4-FFF2-40B4-BE49-F238E27FC236}">
                <a16:creationId xmlns:a16="http://schemas.microsoft.com/office/drawing/2014/main" id="{1D283F8D-607A-429E-A039-4F546BCA3469}"/>
              </a:ext>
            </a:extLst>
          </p:cNvPr>
          <p:cNvSpPr>
            <a:spLocks noGrp="1"/>
          </p:cNvSpPr>
          <p:nvPr/>
        </p:nvSpPr>
        <p:spPr>
          <a:xfrm>
            <a:off x="13059728" y="6817519"/>
            <a:ext cx="3812858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56" name="svg-line-52">
            <a:extLst>
              <a:ext uri="{FF2B5EF4-FFF2-40B4-BE49-F238E27FC236}">
                <a16:creationId xmlns:a16="http://schemas.microsoft.com/office/drawing/2014/main" id="{50B7C61F-9339-4CD4-8904-B640F013E9A1}"/>
              </a:ext>
            </a:extLst>
          </p:cNvPr>
          <p:cNvSpPr>
            <a:spLocks noGrp="1"/>
          </p:cNvSpPr>
          <p:nvPr/>
        </p:nvSpPr>
        <p:spPr>
          <a:xfrm>
            <a:off x="14966156" y="4293870"/>
            <a:ext cx="4763" cy="2523744"/>
          </a:xfrm>
          <a:prstGeom prst="line">
            <a:avLst/>
          </a:prstGeom>
          <a:noFill/>
          <a:ln w="19050">
            <a:solidFill>
              <a:srgbClr val="642AF0"/>
            </a:solidFill>
            <a:prstDash val="dash"/>
          </a:ln>
        </p:spPr>
      </p:sp>
      <p:sp>
        <p:nvSpPr>
          <p:cNvPr id="57" name="svg-segment-53">
            <a:extLst>
              <a:ext uri="{FF2B5EF4-FFF2-40B4-BE49-F238E27FC236}">
                <a16:creationId xmlns:a16="http://schemas.microsoft.com/office/drawing/2014/main" id="{3CEF34A2-3932-422B-A4B8-A478C06F22EA}"/>
              </a:ext>
            </a:extLst>
          </p:cNvPr>
          <p:cNvSpPr>
            <a:spLocks noGrp="1"/>
          </p:cNvSpPr>
          <p:nvPr/>
        </p:nvSpPr>
        <p:spPr>
          <a:xfrm>
            <a:off x="13801439" y="6607874"/>
            <a:ext cx="64484" cy="97155"/>
          </a:xfrm>
          <a:custGeom>
            <a:avLst/>
            <a:gdLst/>
            <a:ahLst/>
            <a:cxnLst/>
            <a:rect l="0" t="0" r="0" b="0"/>
            <a:pathLst>
              <a:path w="64455" h="97136">
                <a:moveTo>
                  <a:pt x="64455" y="97136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58" name="svg-segment-54">
            <a:extLst>
              <a:ext uri="{FF2B5EF4-FFF2-40B4-BE49-F238E27FC236}">
                <a16:creationId xmlns:a16="http://schemas.microsoft.com/office/drawing/2014/main" id="{66BDAEAD-DA0B-4FF0-B17C-FA6B9CB1EEE6}"/>
              </a:ext>
            </a:extLst>
          </p:cNvPr>
          <p:cNvSpPr>
            <a:spLocks noGrp="1"/>
          </p:cNvSpPr>
          <p:nvPr/>
        </p:nvSpPr>
        <p:spPr>
          <a:xfrm>
            <a:off x="13756958" y="6428137"/>
            <a:ext cx="44482" cy="179737"/>
          </a:xfrm>
          <a:custGeom>
            <a:avLst/>
            <a:gdLst/>
            <a:ahLst/>
            <a:cxnLst/>
            <a:rect l="0" t="0" r="0" b="0"/>
            <a:pathLst>
              <a:path w="44483" h="179747">
                <a:moveTo>
                  <a:pt x="44483" y="17974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59" name="svg-segment-55">
            <a:extLst>
              <a:ext uri="{FF2B5EF4-FFF2-40B4-BE49-F238E27FC236}">
                <a16:creationId xmlns:a16="http://schemas.microsoft.com/office/drawing/2014/main" id="{D918BD80-0B3D-495E-B32B-864A36C90C29}"/>
              </a:ext>
            </a:extLst>
          </p:cNvPr>
          <p:cNvSpPr>
            <a:spLocks noGrp="1"/>
          </p:cNvSpPr>
          <p:nvPr/>
        </p:nvSpPr>
        <p:spPr>
          <a:xfrm>
            <a:off x="13729716" y="6074093"/>
            <a:ext cx="27242" cy="354044"/>
          </a:xfrm>
          <a:custGeom>
            <a:avLst/>
            <a:gdLst/>
            <a:ahLst/>
            <a:cxnLst/>
            <a:rect l="0" t="0" r="0" b="0"/>
            <a:pathLst>
              <a:path w="27234" h="354048">
                <a:moveTo>
                  <a:pt x="27234" y="354048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0" name="svg-segment-56">
            <a:extLst>
              <a:ext uri="{FF2B5EF4-FFF2-40B4-BE49-F238E27FC236}">
                <a16:creationId xmlns:a16="http://schemas.microsoft.com/office/drawing/2014/main" id="{19F91882-9F81-45A2-AE0A-5EB5E7AED393}"/>
              </a:ext>
            </a:extLst>
          </p:cNvPr>
          <p:cNvSpPr>
            <a:spLocks noGrp="1"/>
          </p:cNvSpPr>
          <p:nvPr/>
        </p:nvSpPr>
        <p:spPr>
          <a:xfrm>
            <a:off x="13676186" y="5499354"/>
            <a:ext cx="53531" cy="574643"/>
          </a:xfrm>
          <a:custGeom>
            <a:avLst/>
            <a:gdLst/>
            <a:ahLst/>
            <a:cxnLst/>
            <a:rect l="0" t="0" r="0" b="0"/>
            <a:pathLst>
              <a:path w="53561" h="574647">
                <a:moveTo>
                  <a:pt x="53561" y="57464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1" name="svg-segment-57">
            <a:extLst>
              <a:ext uri="{FF2B5EF4-FFF2-40B4-BE49-F238E27FC236}">
                <a16:creationId xmlns:a16="http://schemas.microsoft.com/office/drawing/2014/main" id="{9B21220D-19FB-419D-A4F6-208CED0ADCA2}"/>
              </a:ext>
            </a:extLst>
          </p:cNvPr>
          <p:cNvSpPr>
            <a:spLocks noGrp="1"/>
          </p:cNvSpPr>
          <p:nvPr/>
        </p:nvSpPr>
        <p:spPr>
          <a:xfrm>
            <a:off x="13665232" y="5090922"/>
            <a:ext cx="10858" cy="408527"/>
          </a:xfrm>
          <a:custGeom>
            <a:avLst/>
            <a:gdLst/>
            <a:ahLst/>
            <a:cxnLst/>
            <a:rect l="0" t="0" r="0" b="0"/>
            <a:pathLst>
              <a:path w="10894" h="408517">
                <a:moveTo>
                  <a:pt x="10894" y="40851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2" name="svg-segment-58">
            <a:extLst>
              <a:ext uri="{FF2B5EF4-FFF2-40B4-BE49-F238E27FC236}">
                <a16:creationId xmlns:a16="http://schemas.microsoft.com/office/drawing/2014/main" id="{9C7491B6-5194-4ABA-9D4A-EFF30AFF501C}"/>
              </a:ext>
            </a:extLst>
          </p:cNvPr>
          <p:cNvSpPr>
            <a:spLocks noGrp="1"/>
          </p:cNvSpPr>
          <p:nvPr/>
        </p:nvSpPr>
        <p:spPr>
          <a:xfrm>
            <a:off x="13665232" y="5048250"/>
            <a:ext cx="4763" cy="42672"/>
          </a:xfrm>
          <a:custGeom>
            <a:avLst/>
            <a:gdLst/>
            <a:ahLst/>
            <a:cxnLst/>
            <a:rect l="0" t="0" r="0" b="0"/>
            <a:pathLst>
              <a:path w="4763" h="42667">
                <a:moveTo>
                  <a:pt x="0" y="42667"/>
                </a:moveTo>
                <a:lnTo>
                  <a:pt x="1816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3" name="svg-segment-59">
            <a:extLst>
              <a:ext uri="{FF2B5EF4-FFF2-40B4-BE49-F238E27FC236}">
                <a16:creationId xmlns:a16="http://schemas.microsoft.com/office/drawing/2014/main" id="{F0C7B4E3-8755-4162-B409-0F53A2B16ED0}"/>
              </a:ext>
            </a:extLst>
          </p:cNvPr>
          <p:cNvSpPr>
            <a:spLocks noGrp="1"/>
          </p:cNvSpPr>
          <p:nvPr/>
        </p:nvSpPr>
        <p:spPr>
          <a:xfrm>
            <a:off x="13660755" y="5012817"/>
            <a:ext cx="6382" cy="35433"/>
          </a:xfrm>
          <a:custGeom>
            <a:avLst/>
            <a:gdLst/>
            <a:ahLst/>
            <a:cxnLst/>
            <a:rect l="0" t="0" r="0" b="0"/>
            <a:pathLst>
              <a:path w="6355" h="35405">
                <a:moveTo>
                  <a:pt x="6355" y="35405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4" name="svg-segment-60">
            <a:extLst>
              <a:ext uri="{FF2B5EF4-FFF2-40B4-BE49-F238E27FC236}">
                <a16:creationId xmlns:a16="http://schemas.microsoft.com/office/drawing/2014/main" id="{B3B88D5A-87B2-4675-94DC-7D236196A924}"/>
              </a:ext>
            </a:extLst>
          </p:cNvPr>
          <p:cNvSpPr>
            <a:spLocks noGrp="1"/>
          </p:cNvSpPr>
          <p:nvPr/>
        </p:nvSpPr>
        <p:spPr>
          <a:xfrm>
            <a:off x="15657862" y="6344603"/>
            <a:ext cx="5429" cy="237839"/>
          </a:xfrm>
          <a:custGeom>
            <a:avLst/>
            <a:gdLst/>
            <a:ahLst/>
            <a:cxnLst/>
            <a:rect l="0" t="0" r="0" b="0"/>
            <a:pathLst>
              <a:path w="5447" h="237848">
                <a:moveTo>
                  <a:pt x="5447" y="237848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5" name="svg-segment-61">
            <a:extLst>
              <a:ext uri="{FF2B5EF4-FFF2-40B4-BE49-F238E27FC236}">
                <a16:creationId xmlns:a16="http://schemas.microsoft.com/office/drawing/2014/main" id="{775C89CA-E52C-4CCF-972F-B951611EC7E1}"/>
              </a:ext>
            </a:extLst>
          </p:cNvPr>
          <p:cNvSpPr>
            <a:spLocks noGrp="1"/>
          </p:cNvSpPr>
          <p:nvPr/>
        </p:nvSpPr>
        <p:spPr>
          <a:xfrm>
            <a:off x="15648813" y="5913406"/>
            <a:ext cx="9049" cy="431197"/>
          </a:xfrm>
          <a:custGeom>
            <a:avLst/>
            <a:gdLst/>
            <a:ahLst/>
            <a:cxnLst/>
            <a:rect l="0" t="0" r="0" b="0"/>
            <a:pathLst>
              <a:path w="9078" h="431212">
                <a:moveTo>
                  <a:pt x="9078" y="431212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6" name="svg-segment-62">
            <a:extLst>
              <a:ext uri="{FF2B5EF4-FFF2-40B4-BE49-F238E27FC236}">
                <a16:creationId xmlns:a16="http://schemas.microsoft.com/office/drawing/2014/main" id="{3A6EB376-BAFA-4B4D-A4F2-D04947ED32C8}"/>
              </a:ext>
            </a:extLst>
          </p:cNvPr>
          <p:cNvSpPr>
            <a:spLocks noGrp="1"/>
          </p:cNvSpPr>
          <p:nvPr/>
        </p:nvSpPr>
        <p:spPr>
          <a:xfrm>
            <a:off x="15648813" y="5290566"/>
            <a:ext cx="539210" cy="622745"/>
          </a:xfrm>
          <a:custGeom>
            <a:avLst/>
            <a:gdLst/>
            <a:ahLst/>
            <a:cxnLst/>
            <a:rect l="0" t="0" r="0" b="0"/>
            <a:pathLst>
              <a:path w="539242" h="622761">
                <a:moveTo>
                  <a:pt x="0" y="622761"/>
                </a:moveTo>
                <a:lnTo>
                  <a:pt x="539242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7" name="svg-segment-63">
            <a:extLst>
              <a:ext uri="{FF2B5EF4-FFF2-40B4-BE49-F238E27FC236}">
                <a16:creationId xmlns:a16="http://schemas.microsoft.com/office/drawing/2014/main" id="{F61FFBBB-50A7-48D2-AA5E-76CDF1CD405D}"/>
              </a:ext>
            </a:extLst>
          </p:cNvPr>
          <p:cNvSpPr>
            <a:spLocks noGrp="1"/>
          </p:cNvSpPr>
          <p:nvPr/>
        </p:nvSpPr>
        <p:spPr>
          <a:xfrm>
            <a:off x="15667006" y="4679633"/>
            <a:ext cx="521113" cy="610934"/>
          </a:xfrm>
          <a:custGeom>
            <a:avLst/>
            <a:gdLst/>
            <a:ahLst/>
            <a:cxnLst/>
            <a:rect l="0" t="0" r="0" b="0"/>
            <a:pathLst>
              <a:path w="521086" h="610959">
                <a:moveTo>
                  <a:pt x="521086" y="610959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8" name="svg-segment-64">
            <a:extLst>
              <a:ext uri="{FF2B5EF4-FFF2-40B4-BE49-F238E27FC236}">
                <a16:creationId xmlns:a16="http://schemas.microsoft.com/office/drawing/2014/main" id="{92DCAB64-4234-47A8-B41A-B7AC2AA9B016}"/>
              </a:ext>
            </a:extLst>
          </p:cNvPr>
          <p:cNvSpPr>
            <a:spLocks noGrp="1"/>
          </p:cNvSpPr>
          <p:nvPr/>
        </p:nvSpPr>
        <p:spPr>
          <a:xfrm>
            <a:off x="15667006" y="4628769"/>
            <a:ext cx="31814" cy="50864"/>
          </a:xfrm>
          <a:custGeom>
            <a:avLst/>
            <a:gdLst/>
            <a:ahLst/>
            <a:cxnLst/>
            <a:rect l="0" t="0" r="0" b="0"/>
            <a:pathLst>
              <a:path w="31774" h="50838">
                <a:moveTo>
                  <a:pt x="0" y="50838"/>
                </a:moveTo>
                <a:lnTo>
                  <a:pt x="31774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9" name="svg-segment-65">
            <a:extLst>
              <a:ext uri="{FF2B5EF4-FFF2-40B4-BE49-F238E27FC236}">
                <a16:creationId xmlns:a16="http://schemas.microsoft.com/office/drawing/2014/main" id="{17BCDA85-88EE-4616-A7C8-005499EAF1BB}"/>
              </a:ext>
            </a:extLst>
          </p:cNvPr>
          <p:cNvSpPr>
            <a:spLocks noGrp="1"/>
          </p:cNvSpPr>
          <p:nvPr/>
        </p:nvSpPr>
        <p:spPr>
          <a:xfrm>
            <a:off x="15698724" y="4628769"/>
            <a:ext cx="24479" cy="344043"/>
          </a:xfrm>
          <a:prstGeom prst="line">
            <a:avLst/>
          </a:pr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70" name="svg-segment-66">
            <a:extLst>
              <a:ext uri="{FF2B5EF4-FFF2-40B4-BE49-F238E27FC236}">
                <a16:creationId xmlns:a16="http://schemas.microsoft.com/office/drawing/2014/main" id="{03F0F9A3-0620-4532-A953-19258C7814FC}"/>
              </a:ext>
            </a:extLst>
          </p:cNvPr>
          <p:cNvSpPr>
            <a:spLocks noGrp="1"/>
          </p:cNvSpPr>
          <p:nvPr/>
        </p:nvSpPr>
        <p:spPr>
          <a:xfrm>
            <a:off x="15723299" y="4825841"/>
            <a:ext cx="95345" cy="147066"/>
          </a:xfrm>
          <a:custGeom>
            <a:avLst/>
            <a:gdLst/>
            <a:ahLst/>
            <a:cxnLst/>
            <a:rect l="0" t="0" r="0" b="0"/>
            <a:pathLst>
              <a:path w="95321" h="147066">
                <a:moveTo>
                  <a:pt x="0" y="147066"/>
                </a:moveTo>
                <a:lnTo>
                  <a:pt x="95321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71" name="svg-point-1">
            <a:extLst>
              <a:ext uri="{FF2B5EF4-FFF2-40B4-BE49-F238E27FC236}">
                <a16:creationId xmlns:a16="http://schemas.microsoft.com/office/drawing/2014/main" id="{36187B16-C150-425F-ADF2-F749FFDD2B0B}"/>
              </a:ext>
            </a:extLst>
          </p:cNvPr>
          <p:cNvSpPr>
            <a:spLocks noGrp="1"/>
          </p:cNvSpPr>
          <p:nvPr/>
        </p:nvSpPr>
        <p:spPr>
          <a:xfrm>
            <a:off x="2542985" y="674951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2" name="svg-point-2">
            <a:extLst>
              <a:ext uri="{FF2B5EF4-FFF2-40B4-BE49-F238E27FC236}">
                <a16:creationId xmlns:a16="http://schemas.microsoft.com/office/drawing/2014/main" id="{47A3E66B-9CFD-4C17-B3A5-CA7357A81B3D}"/>
              </a:ext>
            </a:extLst>
          </p:cNvPr>
          <p:cNvSpPr>
            <a:spLocks noGrp="1"/>
          </p:cNvSpPr>
          <p:nvPr/>
        </p:nvSpPr>
        <p:spPr>
          <a:xfrm>
            <a:off x="2425827" y="673131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3" name="svg-point-3">
            <a:extLst>
              <a:ext uri="{FF2B5EF4-FFF2-40B4-BE49-F238E27FC236}">
                <a16:creationId xmlns:a16="http://schemas.microsoft.com/office/drawing/2014/main" id="{DC05EF15-28D3-48AC-8F97-94159F023211}"/>
              </a:ext>
            </a:extLst>
          </p:cNvPr>
          <p:cNvSpPr>
            <a:spLocks noGrp="1"/>
          </p:cNvSpPr>
          <p:nvPr/>
        </p:nvSpPr>
        <p:spPr>
          <a:xfrm>
            <a:off x="2404967" y="669407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4" name="svg-point-4">
            <a:extLst>
              <a:ext uri="{FF2B5EF4-FFF2-40B4-BE49-F238E27FC236}">
                <a16:creationId xmlns:a16="http://schemas.microsoft.com/office/drawing/2014/main" id="{7E44289D-E50B-4376-8C5B-A11D11FEF2CC}"/>
              </a:ext>
            </a:extLst>
          </p:cNvPr>
          <p:cNvSpPr>
            <a:spLocks noGrp="1"/>
          </p:cNvSpPr>
          <p:nvPr/>
        </p:nvSpPr>
        <p:spPr>
          <a:xfrm>
            <a:off x="2473928" y="661149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5" name="svg-point-5">
            <a:extLst>
              <a:ext uri="{FF2B5EF4-FFF2-40B4-BE49-F238E27FC236}">
                <a16:creationId xmlns:a16="http://schemas.microsoft.com/office/drawing/2014/main" id="{1A363940-2348-469D-B7D8-6B9666FDFEAA}"/>
              </a:ext>
            </a:extLst>
          </p:cNvPr>
          <p:cNvSpPr>
            <a:spLocks noGrp="1"/>
          </p:cNvSpPr>
          <p:nvPr/>
        </p:nvSpPr>
        <p:spPr>
          <a:xfrm>
            <a:off x="2321433" y="649890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6" name="svg-point-6">
            <a:extLst>
              <a:ext uri="{FF2B5EF4-FFF2-40B4-BE49-F238E27FC236}">
                <a16:creationId xmlns:a16="http://schemas.microsoft.com/office/drawing/2014/main" id="{8B06ABFD-8CC7-45E5-94BD-5BD40D9A967E}"/>
              </a:ext>
            </a:extLst>
          </p:cNvPr>
          <p:cNvSpPr>
            <a:spLocks noGrp="1"/>
          </p:cNvSpPr>
          <p:nvPr/>
        </p:nvSpPr>
        <p:spPr>
          <a:xfrm>
            <a:off x="2276094" y="627649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7" name="svg-point-7">
            <a:extLst>
              <a:ext uri="{FF2B5EF4-FFF2-40B4-BE49-F238E27FC236}">
                <a16:creationId xmlns:a16="http://schemas.microsoft.com/office/drawing/2014/main" id="{05EFC103-70C6-4E8F-BC3D-988CEE3B9EE8}"/>
              </a:ext>
            </a:extLst>
          </p:cNvPr>
          <p:cNvSpPr>
            <a:spLocks noGrp="1"/>
          </p:cNvSpPr>
          <p:nvPr/>
        </p:nvSpPr>
        <p:spPr>
          <a:xfrm>
            <a:off x="2237899" y="608133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8" name="svg-point-8">
            <a:extLst>
              <a:ext uri="{FF2B5EF4-FFF2-40B4-BE49-F238E27FC236}">
                <a16:creationId xmlns:a16="http://schemas.microsoft.com/office/drawing/2014/main" id="{000713B2-7FDC-4C9E-8712-A0A3757EBC65}"/>
              </a:ext>
            </a:extLst>
          </p:cNvPr>
          <p:cNvSpPr>
            <a:spLocks noGrp="1"/>
          </p:cNvSpPr>
          <p:nvPr/>
        </p:nvSpPr>
        <p:spPr>
          <a:xfrm>
            <a:off x="2217992" y="592969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9" name="svg-point-9">
            <a:extLst>
              <a:ext uri="{FF2B5EF4-FFF2-40B4-BE49-F238E27FC236}">
                <a16:creationId xmlns:a16="http://schemas.microsoft.com/office/drawing/2014/main" id="{B9E5DB58-8BA6-47DF-A68E-C54C3D8F76EB}"/>
              </a:ext>
            </a:extLst>
          </p:cNvPr>
          <p:cNvSpPr>
            <a:spLocks noGrp="1"/>
          </p:cNvSpPr>
          <p:nvPr/>
        </p:nvSpPr>
        <p:spPr>
          <a:xfrm>
            <a:off x="4779836" y="670045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0" name="svg-point-10">
            <a:extLst>
              <a:ext uri="{FF2B5EF4-FFF2-40B4-BE49-F238E27FC236}">
                <a16:creationId xmlns:a16="http://schemas.microsoft.com/office/drawing/2014/main" id="{A895C3F0-3D76-43DE-8957-69A6C0DC6973}"/>
              </a:ext>
            </a:extLst>
          </p:cNvPr>
          <p:cNvSpPr>
            <a:spLocks noGrp="1"/>
          </p:cNvSpPr>
          <p:nvPr/>
        </p:nvSpPr>
        <p:spPr>
          <a:xfrm>
            <a:off x="4718114" y="663330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1" name="svg-point-11">
            <a:extLst>
              <a:ext uri="{FF2B5EF4-FFF2-40B4-BE49-F238E27FC236}">
                <a16:creationId xmlns:a16="http://schemas.microsoft.com/office/drawing/2014/main" id="{78AE41DE-5C5E-47F5-9110-02E3BCF95C31}"/>
              </a:ext>
            </a:extLst>
          </p:cNvPr>
          <p:cNvSpPr>
            <a:spLocks noGrp="1"/>
          </p:cNvSpPr>
          <p:nvPr/>
        </p:nvSpPr>
        <p:spPr>
          <a:xfrm>
            <a:off x="4611815" y="650433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2" name="svg-point-12">
            <a:extLst>
              <a:ext uri="{FF2B5EF4-FFF2-40B4-BE49-F238E27FC236}">
                <a16:creationId xmlns:a16="http://schemas.microsoft.com/office/drawing/2014/main" id="{4B0FADAD-CD32-41E2-AF0D-4D15EA6E80B9}"/>
              </a:ext>
            </a:extLst>
          </p:cNvPr>
          <p:cNvSpPr>
            <a:spLocks noGrp="1"/>
          </p:cNvSpPr>
          <p:nvPr/>
        </p:nvSpPr>
        <p:spPr>
          <a:xfrm>
            <a:off x="4638199" y="623925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3" name="svg-point-13">
            <a:extLst>
              <a:ext uri="{FF2B5EF4-FFF2-40B4-BE49-F238E27FC236}">
                <a16:creationId xmlns:a16="http://schemas.microsoft.com/office/drawing/2014/main" id="{12CA57B3-2E61-4525-A236-F490939EFCF4}"/>
              </a:ext>
            </a:extLst>
          </p:cNvPr>
          <p:cNvSpPr>
            <a:spLocks noGrp="1"/>
          </p:cNvSpPr>
          <p:nvPr/>
        </p:nvSpPr>
        <p:spPr>
          <a:xfrm>
            <a:off x="4154329" y="586520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4" name="svg-point-14">
            <a:extLst>
              <a:ext uri="{FF2B5EF4-FFF2-40B4-BE49-F238E27FC236}">
                <a16:creationId xmlns:a16="http://schemas.microsoft.com/office/drawing/2014/main" id="{4C0BA92E-2482-45A4-AC6C-5B33E3EC28BE}"/>
              </a:ext>
            </a:extLst>
          </p:cNvPr>
          <p:cNvSpPr>
            <a:spLocks noGrp="1"/>
          </p:cNvSpPr>
          <p:nvPr/>
        </p:nvSpPr>
        <p:spPr>
          <a:xfrm>
            <a:off x="3738563" y="528332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5" name="svg-point-15">
            <a:extLst>
              <a:ext uri="{FF2B5EF4-FFF2-40B4-BE49-F238E27FC236}">
                <a16:creationId xmlns:a16="http://schemas.microsoft.com/office/drawing/2014/main" id="{4F1E4849-F42B-4530-9241-30E36784C60A}"/>
              </a:ext>
            </a:extLst>
          </p:cNvPr>
          <p:cNvSpPr>
            <a:spLocks noGrp="1"/>
          </p:cNvSpPr>
          <p:nvPr/>
        </p:nvSpPr>
        <p:spPr>
          <a:xfrm>
            <a:off x="3221069" y="505453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6" name="svg-point-16">
            <a:extLst>
              <a:ext uri="{FF2B5EF4-FFF2-40B4-BE49-F238E27FC236}">
                <a16:creationId xmlns:a16="http://schemas.microsoft.com/office/drawing/2014/main" id="{C928B800-94D4-4C6D-94CB-E5E1C61E1158}"/>
              </a:ext>
            </a:extLst>
          </p:cNvPr>
          <p:cNvSpPr>
            <a:spLocks noGrp="1"/>
          </p:cNvSpPr>
          <p:nvPr/>
        </p:nvSpPr>
        <p:spPr>
          <a:xfrm>
            <a:off x="3261932" y="456342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7" name="svg-point-17">
            <a:extLst>
              <a:ext uri="{FF2B5EF4-FFF2-40B4-BE49-F238E27FC236}">
                <a16:creationId xmlns:a16="http://schemas.microsoft.com/office/drawing/2014/main" id="{1E825CDD-5FB5-4821-A2A6-577244C61E55}"/>
              </a:ext>
            </a:extLst>
          </p:cNvPr>
          <p:cNvSpPr>
            <a:spLocks noGrp="1"/>
          </p:cNvSpPr>
          <p:nvPr/>
        </p:nvSpPr>
        <p:spPr>
          <a:xfrm>
            <a:off x="8188071" y="674217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8" name="svg-point-18">
            <a:extLst>
              <a:ext uri="{FF2B5EF4-FFF2-40B4-BE49-F238E27FC236}">
                <a16:creationId xmlns:a16="http://schemas.microsoft.com/office/drawing/2014/main" id="{50B659DA-15E6-4F24-83FB-D5DA899D0DC8}"/>
              </a:ext>
            </a:extLst>
          </p:cNvPr>
          <p:cNvSpPr>
            <a:spLocks noGrp="1"/>
          </p:cNvSpPr>
          <p:nvPr/>
        </p:nvSpPr>
        <p:spPr>
          <a:xfrm>
            <a:off x="8085487" y="671855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9" name="svg-point-19">
            <a:extLst>
              <a:ext uri="{FF2B5EF4-FFF2-40B4-BE49-F238E27FC236}">
                <a16:creationId xmlns:a16="http://schemas.microsoft.com/office/drawing/2014/main" id="{E701CF40-3947-4CB9-BE2B-F36AB285DB56}"/>
              </a:ext>
            </a:extLst>
          </p:cNvPr>
          <p:cNvSpPr>
            <a:spLocks noGrp="1"/>
          </p:cNvSpPr>
          <p:nvPr/>
        </p:nvSpPr>
        <p:spPr>
          <a:xfrm>
            <a:off x="8080058" y="666597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0" name="svg-point-20">
            <a:extLst>
              <a:ext uri="{FF2B5EF4-FFF2-40B4-BE49-F238E27FC236}">
                <a16:creationId xmlns:a16="http://schemas.microsoft.com/office/drawing/2014/main" id="{3A9F66ED-059E-48F9-9C1F-AAF481546011}"/>
              </a:ext>
            </a:extLst>
          </p:cNvPr>
          <p:cNvSpPr>
            <a:spLocks noGrp="1"/>
          </p:cNvSpPr>
          <p:nvPr/>
        </p:nvSpPr>
        <p:spPr>
          <a:xfrm>
            <a:off x="8128159" y="655967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1" name="svg-point-21">
            <a:extLst>
              <a:ext uri="{FF2B5EF4-FFF2-40B4-BE49-F238E27FC236}">
                <a16:creationId xmlns:a16="http://schemas.microsoft.com/office/drawing/2014/main" id="{22482CB3-9AAC-4A06-BF10-A2BFD992E591}"/>
              </a:ext>
            </a:extLst>
          </p:cNvPr>
          <p:cNvSpPr>
            <a:spLocks noGrp="1"/>
          </p:cNvSpPr>
          <p:nvPr/>
        </p:nvSpPr>
        <p:spPr>
          <a:xfrm>
            <a:off x="7981950" y="642718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2" name="svg-point-22">
            <a:extLst>
              <a:ext uri="{FF2B5EF4-FFF2-40B4-BE49-F238E27FC236}">
                <a16:creationId xmlns:a16="http://schemas.microsoft.com/office/drawing/2014/main" id="{0DD32AD5-CF10-4C4C-818F-F9A10A31A493}"/>
              </a:ext>
            </a:extLst>
          </p:cNvPr>
          <p:cNvSpPr>
            <a:spLocks noGrp="1"/>
          </p:cNvSpPr>
          <p:nvPr/>
        </p:nvSpPr>
        <p:spPr>
          <a:xfrm>
            <a:off x="7935659" y="612667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3" name="svg-point-23">
            <a:extLst>
              <a:ext uri="{FF2B5EF4-FFF2-40B4-BE49-F238E27FC236}">
                <a16:creationId xmlns:a16="http://schemas.microsoft.com/office/drawing/2014/main" id="{B4E5B5CD-787E-457C-AE8C-CE28671AA7B5}"/>
              </a:ext>
            </a:extLst>
          </p:cNvPr>
          <p:cNvSpPr>
            <a:spLocks noGrp="1"/>
          </p:cNvSpPr>
          <p:nvPr/>
        </p:nvSpPr>
        <p:spPr>
          <a:xfrm>
            <a:off x="7917561" y="586159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4" name="svg-point-24">
            <a:extLst>
              <a:ext uri="{FF2B5EF4-FFF2-40B4-BE49-F238E27FC236}">
                <a16:creationId xmlns:a16="http://schemas.microsoft.com/office/drawing/2014/main" id="{A7111351-ED81-42A4-8FCD-452C1A829E33}"/>
              </a:ext>
            </a:extLst>
          </p:cNvPr>
          <p:cNvSpPr>
            <a:spLocks noGrp="1"/>
          </p:cNvSpPr>
          <p:nvPr/>
        </p:nvSpPr>
        <p:spPr>
          <a:xfrm>
            <a:off x="7889367" y="564099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5" name="svg-point-25">
            <a:extLst>
              <a:ext uri="{FF2B5EF4-FFF2-40B4-BE49-F238E27FC236}">
                <a16:creationId xmlns:a16="http://schemas.microsoft.com/office/drawing/2014/main" id="{66DB4E56-33D1-4689-B447-061C7DB70BF1}"/>
              </a:ext>
            </a:extLst>
          </p:cNvPr>
          <p:cNvSpPr>
            <a:spLocks noGrp="1"/>
          </p:cNvSpPr>
          <p:nvPr/>
        </p:nvSpPr>
        <p:spPr>
          <a:xfrm>
            <a:off x="10266998" y="669226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6" name="svg-point-26">
            <a:extLst>
              <a:ext uri="{FF2B5EF4-FFF2-40B4-BE49-F238E27FC236}">
                <a16:creationId xmlns:a16="http://schemas.microsoft.com/office/drawing/2014/main" id="{3D4C230B-5943-41AA-B7B1-79F812603C94}"/>
              </a:ext>
            </a:extLst>
          </p:cNvPr>
          <p:cNvSpPr>
            <a:spLocks noGrp="1"/>
          </p:cNvSpPr>
          <p:nvPr/>
        </p:nvSpPr>
        <p:spPr>
          <a:xfrm>
            <a:off x="10226135" y="661787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7" name="svg-point-27">
            <a:extLst>
              <a:ext uri="{FF2B5EF4-FFF2-40B4-BE49-F238E27FC236}">
                <a16:creationId xmlns:a16="http://schemas.microsoft.com/office/drawing/2014/main" id="{D85AECB9-6AA2-48B6-A740-8A54E77BC371}"/>
              </a:ext>
            </a:extLst>
          </p:cNvPr>
          <p:cNvSpPr>
            <a:spLocks noGrp="1"/>
          </p:cNvSpPr>
          <p:nvPr/>
        </p:nvSpPr>
        <p:spPr>
          <a:xfrm>
            <a:off x="10154412" y="647261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8" name="svg-point-28">
            <a:extLst>
              <a:ext uri="{FF2B5EF4-FFF2-40B4-BE49-F238E27FC236}">
                <a16:creationId xmlns:a16="http://schemas.microsoft.com/office/drawing/2014/main" id="{87A1E021-82FC-486C-984E-43175F046AF0}"/>
              </a:ext>
            </a:extLst>
          </p:cNvPr>
          <p:cNvSpPr>
            <a:spLocks noGrp="1"/>
          </p:cNvSpPr>
          <p:nvPr/>
        </p:nvSpPr>
        <p:spPr>
          <a:xfrm>
            <a:off x="10106311" y="620753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9" name="svg-point-29">
            <a:extLst>
              <a:ext uri="{FF2B5EF4-FFF2-40B4-BE49-F238E27FC236}">
                <a16:creationId xmlns:a16="http://schemas.microsoft.com/office/drawing/2014/main" id="{70C96F7A-4978-46C6-84A4-12D2DC3C869C}"/>
              </a:ext>
            </a:extLst>
          </p:cNvPr>
          <p:cNvSpPr>
            <a:spLocks noGrp="1"/>
          </p:cNvSpPr>
          <p:nvPr/>
        </p:nvSpPr>
        <p:spPr>
          <a:xfrm>
            <a:off x="9905619" y="581072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0" name="svg-point-30">
            <a:extLst>
              <a:ext uri="{FF2B5EF4-FFF2-40B4-BE49-F238E27FC236}">
                <a16:creationId xmlns:a16="http://schemas.microsoft.com/office/drawing/2014/main" id="{587BBE92-0235-4E91-9E7F-B093D2293E9D}"/>
              </a:ext>
            </a:extLst>
          </p:cNvPr>
          <p:cNvSpPr>
            <a:spLocks noGrp="1"/>
          </p:cNvSpPr>
          <p:nvPr/>
        </p:nvSpPr>
        <p:spPr>
          <a:xfrm>
            <a:off x="9519857" y="521074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1" name="svg-point-31">
            <a:extLst>
              <a:ext uri="{FF2B5EF4-FFF2-40B4-BE49-F238E27FC236}">
                <a16:creationId xmlns:a16="http://schemas.microsoft.com/office/drawing/2014/main" id="{8D2935D8-42DC-4C65-AB53-A9921A4900D7}"/>
              </a:ext>
            </a:extLst>
          </p:cNvPr>
          <p:cNvSpPr>
            <a:spLocks noGrp="1"/>
          </p:cNvSpPr>
          <p:nvPr/>
        </p:nvSpPr>
        <p:spPr>
          <a:xfrm>
            <a:off x="9039606" y="490023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2" name="svg-point-32">
            <a:extLst>
              <a:ext uri="{FF2B5EF4-FFF2-40B4-BE49-F238E27FC236}">
                <a16:creationId xmlns:a16="http://schemas.microsoft.com/office/drawing/2014/main" id="{293CE01A-5764-4D27-9A69-129A4290F82E}"/>
              </a:ext>
            </a:extLst>
          </p:cNvPr>
          <p:cNvSpPr>
            <a:spLocks noGrp="1"/>
          </p:cNvSpPr>
          <p:nvPr/>
        </p:nvSpPr>
        <p:spPr>
          <a:xfrm>
            <a:off x="8876157" y="460162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3" name="svg-point-33">
            <a:extLst>
              <a:ext uri="{FF2B5EF4-FFF2-40B4-BE49-F238E27FC236}">
                <a16:creationId xmlns:a16="http://schemas.microsoft.com/office/drawing/2014/main" id="{7D9AB93F-BBBA-49E7-AEE0-3B535A26BB6F}"/>
              </a:ext>
            </a:extLst>
          </p:cNvPr>
          <p:cNvSpPr>
            <a:spLocks noGrp="1"/>
          </p:cNvSpPr>
          <p:nvPr/>
        </p:nvSpPr>
        <p:spPr>
          <a:xfrm>
            <a:off x="13820489" y="665959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4" name="svg-point-34">
            <a:extLst>
              <a:ext uri="{FF2B5EF4-FFF2-40B4-BE49-F238E27FC236}">
                <a16:creationId xmlns:a16="http://schemas.microsoft.com/office/drawing/2014/main" id="{6F18E855-CE1A-4AEB-9BEA-96DCFECA5780}"/>
              </a:ext>
            </a:extLst>
          </p:cNvPr>
          <p:cNvSpPr>
            <a:spLocks noGrp="1"/>
          </p:cNvSpPr>
          <p:nvPr/>
        </p:nvSpPr>
        <p:spPr>
          <a:xfrm>
            <a:off x="13756005" y="656243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5" name="svg-point-35">
            <a:extLst>
              <a:ext uri="{FF2B5EF4-FFF2-40B4-BE49-F238E27FC236}">
                <a16:creationId xmlns:a16="http://schemas.microsoft.com/office/drawing/2014/main" id="{5CA26282-F697-4390-834E-1DFEC4A64955}"/>
              </a:ext>
            </a:extLst>
          </p:cNvPr>
          <p:cNvSpPr>
            <a:spLocks noGrp="1"/>
          </p:cNvSpPr>
          <p:nvPr/>
        </p:nvSpPr>
        <p:spPr>
          <a:xfrm>
            <a:off x="13711523" y="638270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6" name="svg-point-36">
            <a:extLst>
              <a:ext uri="{FF2B5EF4-FFF2-40B4-BE49-F238E27FC236}">
                <a16:creationId xmlns:a16="http://schemas.microsoft.com/office/drawing/2014/main" id="{54BA8A9C-2D32-467D-B035-530AF5788827}"/>
              </a:ext>
            </a:extLst>
          </p:cNvPr>
          <p:cNvSpPr>
            <a:spLocks noGrp="1"/>
          </p:cNvSpPr>
          <p:nvPr/>
        </p:nvSpPr>
        <p:spPr>
          <a:xfrm>
            <a:off x="13684282" y="602865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7" name="svg-point-37">
            <a:extLst>
              <a:ext uri="{FF2B5EF4-FFF2-40B4-BE49-F238E27FC236}">
                <a16:creationId xmlns:a16="http://schemas.microsoft.com/office/drawing/2014/main" id="{7F3FD270-292B-4362-A2EC-3006FC6CDDBB}"/>
              </a:ext>
            </a:extLst>
          </p:cNvPr>
          <p:cNvSpPr>
            <a:spLocks noGrp="1"/>
          </p:cNvSpPr>
          <p:nvPr/>
        </p:nvSpPr>
        <p:spPr>
          <a:xfrm>
            <a:off x="13630751" y="545401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8" name="svg-point-38">
            <a:extLst>
              <a:ext uri="{FF2B5EF4-FFF2-40B4-BE49-F238E27FC236}">
                <a16:creationId xmlns:a16="http://schemas.microsoft.com/office/drawing/2014/main" id="{E4132D24-0245-4F68-98D9-2125703409DC}"/>
              </a:ext>
            </a:extLst>
          </p:cNvPr>
          <p:cNvSpPr>
            <a:spLocks noGrp="1"/>
          </p:cNvSpPr>
          <p:nvPr/>
        </p:nvSpPr>
        <p:spPr>
          <a:xfrm>
            <a:off x="13619893" y="504548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9" name="svg-point-39">
            <a:extLst>
              <a:ext uri="{FF2B5EF4-FFF2-40B4-BE49-F238E27FC236}">
                <a16:creationId xmlns:a16="http://schemas.microsoft.com/office/drawing/2014/main" id="{DB57D942-EA89-4E10-A730-10A8430E6C98}"/>
              </a:ext>
            </a:extLst>
          </p:cNvPr>
          <p:cNvSpPr>
            <a:spLocks noGrp="1"/>
          </p:cNvSpPr>
          <p:nvPr/>
        </p:nvSpPr>
        <p:spPr>
          <a:xfrm>
            <a:off x="13621703" y="500281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10" name="svg-point-40">
            <a:extLst>
              <a:ext uri="{FF2B5EF4-FFF2-40B4-BE49-F238E27FC236}">
                <a16:creationId xmlns:a16="http://schemas.microsoft.com/office/drawing/2014/main" id="{A564A1B0-E24E-48DA-A7DF-912D7140B1D5}"/>
              </a:ext>
            </a:extLst>
          </p:cNvPr>
          <p:cNvSpPr>
            <a:spLocks noGrp="1"/>
          </p:cNvSpPr>
          <p:nvPr/>
        </p:nvSpPr>
        <p:spPr>
          <a:xfrm>
            <a:off x="13615321" y="496747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11" name="svg-point-41">
            <a:extLst>
              <a:ext uri="{FF2B5EF4-FFF2-40B4-BE49-F238E27FC236}">
                <a16:creationId xmlns:a16="http://schemas.microsoft.com/office/drawing/2014/main" id="{49FE60D1-4AD3-4319-80EF-A9D7D2058089}"/>
              </a:ext>
            </a:extLst>
          </p:cNvPr>
          <p:cNvSpPr>
            <a:spLocks noGrp="1"/>
          </p:cNvSpPr>
          <p:nvPr/>
        </p:nvSpPr>
        <p:spPr>
          <a:xfrm>
            <a:off x="15617952" y="653700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2" name="svg-point-42">
            <a:extLst>
              <a:ext uri="{FF2B5EF4-FFF2-40B4-BE49-F238E27FC236}">
                <a16:creationId xmlns:a16="http://schemas.microsoft.com/office/drawing/2014/main" id="{F494BD5D-146B-461B-B61D-E851C961F6B1}"/>
              </a:ext>
            </a:extLst>
          </p:cNvPr>
          <p:cNvSpPr>
            <a:spLocks noGrp="1"/>
          </p:cNvSpPr>
          <p:nvPr/>
        </p:nvSpPr>
        <p:spPr>
          <a:xfrm>
            <a:off x="15612523" y="629916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3" name="svg-point-43">
            <a:extLst>
              <a:ext uri="{FF2B5EF4-FFF2-40B4-BE49-F238E27FC236}">
                <a16:creationId xmlns:a16="http://schemas.microsoft.com/office/drawing/2014/main" id="{CA2D6FEA-A642-4450-8A7F-6DB778317768}"/>
              </a:ext>
            </a:extLst>
          </p:cNvPr>
          <p:cNvSpPr>
            <a:spLocks noGrp="1"/>
          </p:cNvSpPr>
          <p:nvPr/>
        </p:nvSpPr>
        <p:spPr>
          <a:xfrm>
            <a:off x="15603474" y="586797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4" name="svg-point-44">
            <a:extLst>
              <a:ext uri="{FF2B5EF4-FFF2-40B4-BE49-F238E27FC236}">
                <a16:creationId xmlns:a16="http://schemas.microsoft.com/office/drawing/2014/main" id="{D422D1A8-3608-4425-9229-C61BB4D63C78}"/>
              </a:ext>
            </a:extLst>
          </p:cNvPr>
          <p:cNvSpPr>
            <a:spLocks noGrp="1"/>
          </p:cNvSpPr>
          <p:nvPr/>
        </p:nvSpPr>
        <p:spPr>
          <a:xfrm>
            <a:off x="16142684" y="524522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5" name="svg-point-45">
            <a:extLst>
              <a:ext uri="{FF2B5EF4-FFF2-40B4-BE49-F238E27FC236}">
                <a16:creationId xmlns:a16="http://schemas.microsoft.com/office/drawing/2014/main" id="{2256C411-1704-4599-A082-DC2C6FFCB2DC}"/>
              </a:ext>
            </a:extLst>
          </p:cNvPr>
          <p:cNvSpPr>
            <a:spLocks noGrp="1"/>
          </p:cNvSpPr>
          <p:nvPr/>
        </p:nvSpPr>
        <p:spPr>
          <a:xfrm>
            <a:off x="15621572" y="463429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6" name="svg-point-46">
            <a:extLst>
              <a:ext uri="{FF2B5EF4-FFF2-40B4-BE49-F238E27FC236}">
                <a16:creationId xmlns:a16="http://schemas.microsoft.com/office/drawing/2014/main" id="{9B168D2A-F100-4C04-864D-E821E1D6E8A9}"/>
              </a:ext>
            </a:extLst>
          </p:cNvPr>
          <p:cNvSpPr>
            <a:spLocks noGrp="1"/>
          </p:cNvSpPr>
          <p:nvPr/>
        </p:nvSpPr>
        <p:spPr>
          <a:xfrm>
            <a:off x="15653385" y="458343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7" name="svg-point-47">
            <a:extLst>
              <a:ext uri="{FF2B5EF4-FFF2-40B4-BE49-F238E27FC236}">
                <a16:creationId xmlns:a16="http://schemas.microsoft.com/office/drawing/2014/main" id="{4DBE13B7-F1DF-4465-AE04-9FB4E3F9C005}"/>
              </a:ext>
            </a:extLst>
          </p:cNvPr>
          <p:cNvSpPr>
            <a:spLocks noGrp="1"/>
          </p:cNvSpPr>
          <p:nvPr/>
        </p:nvSpPr>
        <p:spPr>
          <a:xfrm>
            <a:off x="15677864" y="492747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8" name="svg-point-48">
            <a:extLst>
              <a:ext uri="{FF2B5EF4-FFF2-40B4-BE49-F238E27FC236}">
                <a16:creationId xmlns:a16="http://schemas.microsoft.com/office/drawing/2014/main" id="{D06A1D24-66C8-4B69-8488-71F65CBF0F81}"/>
              </a:ext>
            </a:extLst>
          </p:cNvPr>
          <p:cNvSpPr>
            <a:spLocks noGrp="1"/>
          </p:cNvSpPr>
          <p:nvPr/>
        </p:nvSpPr>
        <p:spPr>
          <a:xfrm>
            <a:off x="15773210" y="478040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9" name="pseudo-49">
            <a:extLst>
              <a:ext uri="{FF2B5EF4-FFF2-40B4-BE49-F238E27FC236}">
                <a16:creationId xmlns:a16="http://schemas.microsoft.com/office/drawing/2014/main" id="{C1B0A813-7A17-4CE3-B018-2B37C80F549A}"/>
              </a:ext>
            </a:extLst>
          </p:cNvPr>
          <p:cNvSpPr>
            <a:spLocks noGrp="1"/>
          </p:cNvSpPr>
          <p:nvPr/>
        </p:nvSpPr>
        <p:spPr>
          <a:xfrm>
            <a:off x="7323106" y="2867025"/>
            <a:ext cx="219075" cy="47625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20" name="pseudo-50">
            <a:extLst>
              <a:ext uri="{FF2B5EF4-FFF2-40B4-BE49-F238E27FC236}">
                <a16:creationId xmlns:a16="http://schemas.microsoft.com/office/drawing/2014/main" id="{8C681AAE-1B07-4488-8F02-8C885C02A195}"/>
              </a:ext>
            </a:extLst>
          </p:cNvPr>
          <p:cNvSpPr>
            <a:spLocks noGrp="1"/>
          </p:cNvSpPr>
          <p:nvPr/>
        </p:nvSpPr>
        <p:spPr>
          <a:xfrm>
            <a:off x="13847159" y="2867025"/>
            <a:ext cx="219075" cy="47625"/>
          </a:xfrm>
          <a:prstGeom prst="roundRect">
            <a:avLst>
              <a:gd name="adj" fmla="val 50000"/>
            </a:avLst>
          </a:prstGeom>
          <a:solidFill>
            <a:srgbClr val="1785C1"/>
          </a:solidFill>
          <a:ln w="0">
            <a:noFill/>
            <a:prstDash val="solid"/>
          </a:ln>
        </p:spPr>
      </p:sp>
      <p:sp>
        <p:nvSpPr>
          <p:cNvPr id="121" name="border-52">
            <a:extLst>
              <a:ext uri="{FF2B5EF4-FFF2-40B4-BE49-F238E27FC236}">
                <a16:creationId xmlns:a16="http://schemas.microsoft.com/office/drawing/2014/main" id="{B1A153C5-7514-45F6-8355-9162586A7662}"/>
              </a:ext>
            </a:extLst>
          </p:cNvPr>
          <p:cNvSpPr>
            <a:spLocks noGrp="1"/>
          </p:cNvSpPr>
          <p:nvPr/>
        </p:nvSpPr>
        <p:spPr>
          <a:xfrm>
            <a:off x="7715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2" name="html-shape-53">
            <a:extLst>
              <a:ext uri="{FF2B5EF4-FFF2-40B4-BE49-F238E27FC236}">
                <a16:creationId xmlns:a16="http://schemas.microsoft.com/office/drawing/2014/main" id="{9330507B-2F88-42F3-BE88-F725D101A154}"/>
              </a:ext>
            </a:extLst>
          </p:cNvPr>
          <p:cNvSpPr>
            <a:spLocks noGrp="1"/>
          </p:cNvSpPr>
          <p:nvPr/>
        </p:nvSpPr>
        <p:spPr>
          <a:xfrm>
            <a:off x="1038225" y="75438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3" name="border-54">
            <a:extLst>
              <a:ext uri="{FF2B5EF4-FFF2-40B4-BE49-F238E27FC236}">
                <a16:creationId xmlns:a16="http://schemas.microsoft.com/office/drawing/2014/main" id="{E027F573-EF4E-4813-83B7-4D8CC3FDA614}"/>
              </a:ext>
            </a:extLst>
          </p:cNvPr>
          <p:cNvSpPr>
            <a:spLocks noGrp="1"/>
          </p:cNvSpPr>
          <p:nvPr/>
        </p:nvSpPr>
        <p:spPr>
          <a:xfrm>
            <a:off x="1038225" y="75438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4" name="border-56">
            <a:extLst>
              <a:ext uri="{FF2B5EF4-FFF2-40B4-BE49-F238E27FC236}">
                <a16:creationId xmlns:a16="http://schemas.microsoft.com/office/drawing/2014/main" id="{D6B92BCC-F8C6-434E-A032-413A3546DC3C}"/>
              </a:ext>
            </a:extLst>
          </p:cNvPr>
          <p:cNvSpPr>
            <a:spLocks noGrp="1"/>
          </p:cNvSpPr>
          <p:nvPr/>
        </p:nvSpPr>
        <p:spPr>
          <a:xfrm>
            <a:off x="64484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5" name="html-shape-57">
            <a:extLst>
              <a:ext uri="{FF2B5EF4-FFF2-40B4-BE49-F238E27FC236}">
                <a16:creationId xmlns:a16="http://schemas.microsoft.com/office/drawing/2014/main" id="{22FD0FCE-09C3-4410-BC29-45EE892496BD}"/>
              </a:ext>
            </a:extLst>
          </p:cNvPr>
          <p:cNvSpPr>
            <a:spLocks noGrp="1"/>
          </p:cNvSpPr>
          <p:nvPr/>
        </p:nvSpPr>
        <p:spPr>
          <a:xfrm>
            <a:off x="6715125" y="75438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6" name="border-58">
            <a:extLst>
              <a:ext uri="{FF2B5EF4-FFF2-40B4-BE49-F238E27FC236}">
                <a16:creationId xmlns:a16="http://schemas.microsoft.com/office/drawing/2014/main" id="{36E046CD-4629-4F00-B2F4-1E9A8F0D1A38}"/>
              </a:ext>
            </a:extLst>
          </p:cNvPr>
          <p:cNvSpPr>
            <a:spLocks noGrp="1"/>
          </p:cNvSpPr>
          <p:nvPr/>
        </p:nvSpPr>
        <p:spPr>
          <a:xfrm>
            <a:off x="6715125" y="75438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7" name="border-60">
            <a:extLst>
              <a:ext uri="{FF2B5EF4-FFF2-40B4-BE49-F238E27FC236}">
                <a16:creationId xmlns:a16="http://schemas.microsoft.com/office/drawing/2014/main" id="{CF53FBE3-24EA-43C9-839F-4C65E9401297}"/>
              </a:ext>
            </a:extLst>
          </p:cNvPr>
          <p:cNvSpPr>
            <a:spLocks noGrp="1"/>
          </p:cNvSpPr>
          <p:nvPr/>
        </p:nvSpPr>
        <p:spPr>
          <a:xfrm>
            <a:off x="121253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8" name="html-shape-61">
            <a:extLst>
              <a:ext uri="{FF2B5EF4-FFF2-40B4-BE49-F238E27FC236}">
                <a16:creationId xmlns:a16="http://schemas.microsoft.com/office/drawing/2014/main" id="{B41A4199-3F23-4050-B590-2B40A5DDC74E}"/>
              </a:ext>
            </a:extLst>
          </p:cNvPr>
          <p:cNvSpPr>
            <a:spLocks noGrp="1"/>
          </p:cNvSpPr>
          <p:nvPr/>
        </p:nvSpPr>
        <p:spPr>
          <a:xfrm>
            <a:off x="12392025" y="75438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9" name="border-62">
            <a:extLst>
              <a:ext uri="{FF2B5EF4-FFF2-40B4-BE49-F238E27FC236}">
                <a16:creationId xmlns:a16="http://schemas.microsoft.com/office/drawing/2014/main" id="{A944FA3E-BDD2-4247-B8C4-1B42EC8AFA8D}"/>
              </a:ext>
            </a:extLst>
          </p:cNvPr>
          <p:cNvSpPr>
            <a:spLocks noGrp="1"/>
          </p:cNvSpPr>
          <p:nvPr/>
        </p:nvSpPr>
        <p:spPr>
          <a:xfrm>
            <a:off x="12392025" y="75438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130" name="图片 129">
            <a:extLst>
              <a:ext uri="{FF2B5EF4-FFF2-40B4-BE49-F238E27FC236}">
                <a16:creationId xmlns:a16="http://schemas.microsoft.com/office/drawing/2014/main" id="{7AEB255A-6470-452E-AA77-5CE39B369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31" name="图片 130">
            <a:extLst>
              <a:ext uri="{FF2B5EF4-FFF2-40B4-BE49-F238E27FC236}">
                <a16:creationId xmlns:a16="http://schemas.microsoft.com/office/drawing/2014/main" id="{AB5D4C3E-A07D-4209-9349-8739A18FB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32" name="svg-text-1">
            <a:extLst>
              <a:ext uri="{FF2B5EF4-FFF2-40B4-BE49-F238E27FC236}">
                <a16:creationId xmlns:a16="http://schemas.microsoft.com/office/drawing/2014/main" id="{8213982B-AFA8-4235-A2DC-F0A249EE6410}"/>
              </a:ext>
            </a:extLst>
          </p:cNvPr>
          <p:cNvSpPr>
            <a:spLocks noGrp="1"/>
          </p:cNvSpPr>
          <p:nvPr/>
        </p:nvSpPr>
        <p:spPr>
          <a:xfrm>
            <a:off x="1677353" y="3846862"/>
            <a:ext cx="120948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Output TPS</a:t>
            </a:r>
          </a:p>
        </p:txBody>
      </p:sp>
      <p:sp>
        <p:nvSpPr>
          <p:cNvPr id="133" name="svg-text-2">
            <a:extLst>
              <a:ext uri="{FF2B5EF4-FFF2-40B4-BE49-F238E27FC236}">
                <a16:creationId xmlns:a16="http://schemas.microsoft.com/office/drawing/2014/main" id="{51E737EC-E7F2-4640-8697-B4D2C6AFB76F}"/>
              </a:ext>
            </a:extLst>
          </p:cNvPr>
          <p:cNvSpPr>
            <a:spLocks noGrp="1"/>
          </p:cNvSpPr>
          <p:nvPr/>
        </p:nvSpPr>
        <p:spPr>
          <a:xfrm>
            <a:off x="1463040" y="6662071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34" name="svg-text-3">
            <a:extLst>
              <a:ext uri="{FF2B5EF4-FFF2-40B4-BE49-F238E27FC236}">
                <a16:creationId xmlns:a16="http://schemas.microsoft.com/office/drawing/2014/main" id="{F75EE3D6-24CA-4DE2-AAFA-6BBF474A8B13}"/>
              </a:ext>
            </a:extLst>
          </p:cNvPr>
          <p:cNvSpPr>
            <a:spLocks noGrp="1"/>
          </p:cNvSpPr>
          <p:nvPr/>
        </p:nvSpPr>
        <p:spPr>
          <a:xfrm>
            <a:off x="1234345" y="6031039"/>
            <a:ext cx="400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500</a:t>
            </a:r>
          </a:p>
        </p:txBody>
      </p:sp>
      <p:sp>
        <p:nvSpPr>
          <p:cNvPr id="135" name="svg-text-4">
            <a:extLst>
              <a:ext uri="{FF2B5EF4-FFF2-40B4-BE49-F238E27FC236}">
                <a16:creationId xmlns:a16="http://schemas.microsoft.com/office/drawing/2014/main" id="{8A817251-888B-491E-A27B-AA1C0253B0F2}"/>
              </a:ext>
            </a:extLst>
          </p:cNvPr>
          <p:cNvSpPr>
            <a:spLocks noGrp="1"/>
          </p:cNvSpPr>
          <p:nvPr/>
        </p:nvSpPr>
        <p:spPr>
          <a:xfrm>
            <a:off x="1107662" y="5400199"/>
            <a:ext cx="5270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1,000</a:t>
            </a:r>
          </a:p>
        </p:txBody>
      </p:sp>
      <p:sp>
        <p:nvSpPr>
          <p:cNvPr id="136" name="svg-text-5">
            <a:extLst>
              <a:ext uri="{FF2B5EF4-FFF2-40B4-BE49-F238E27FC236}">
                <a16:creationId xmlns:a16="http://schemas.microsoft.com/office/drawing/2014/main" id="{E643BBC2-D8D7-47F6-892B-406435AE93FD}"/>
              </a:ext>
            </a:extLst>
          </p:cNvPr>
          <p:cNvSpPr>
            <a:spLocks noGrp="1"/>
          </p:cNvSpPr>
          <p:nvPr/>
        </p:nvSpPr>
        <p:spPr>
          <a:xfrm>
            <a:off x="1107662" y="4769263"/>
            <a:ext cx="5270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1,500</a:t>
            </a:r>
          </a:p>
        </p:txBody>
      </p:sp>
      <p:sp>
        <p:nvSpPr>
          <p:cNvPr id="137" name="svg-text-6">
            <a:extLst>
              <a:ext uri="{FF2B5EF4-FFF2-40B4-BE49-F238E27FC236}">
                <a16:creationId xmlns:a16="http://schemas.microsoft.com/office/drawing/2014/main" id="{FDA7B565-2BF5-4F2E-A95B-D6DA13CBCD25}"/>
              </a:ext>
            </a:extLst>
          </p:cNvPr>
          <p:cNvSpPr>
            <a:spLocks noGrp="1"/>
          </p:cNvSpPr>
          <p:nvPr/>
        </p:nvSpPr>
        <p:spPr>
          <a:xfrm>
            <a:off x="1069658" y="4138232"/>
            <a:ext cx="56492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2,000</a:t>
            </a:r>
          </a:p>
        </p:txBody>
      </p:sp>
      <p:sp>
        <p:nvSpPr>
          <p:cNvPr id="138" name="svg-text-7">
            <a:extLst>
              <a:ext uri="{FF2B5EF4-FFF2-40B4-BE49-F238E27FC236}">
                <a16:creationId xmlns:a16="http://schemas.microsoft.com/office/drawing/2014/main" id="{97936222-E0AF-4CC6-8C1F-216BBBB62468}"/>
              </a:ext>
            </a:extLst>
          </p:cNvPr>
          <p:cNvSpPr>
            <a:spLocks noGrp="1"/>
          </p:cNvSpPr>
          <p:nvPr/>
        </p:nvSpPr>
        <p:spPr>
          <a:xfrm>
            <a:off x="1620107" y="6852666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39" name="svg-text-8">
            <a:extLst>
              <a:ext uri="{FF2B5EF4-FFF2-40B4-BE49-F238E27FC236}">
                <a16:creationId xmlns:a16="http://schemas.microsoft.com/office/drawing/2014/main" id="{36E2EA52-7A18-4993-9750-D93A2C424991}"/>
              </a:ext>
            </a:extLst>
          </p:cNvPr>
          <p:cNvSpPr>
            <a:spLocks noGrp="1"/>
          </p:cNvSpPr>
          <p:nvPr/>
        </p:nvSpPr>
        <p:spPr>
          <a:xfrm>
            <a:off x="2516219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40" name="svg-text-9">
            <a:extLst>
              <a:ext uri="{FF2B5EF4-FFF2-40B4-BE49-F238E27FC236}">
                <a16:creationId xmlns:a16="http://schemas.microsoft.com/office/drawing/2014/main" id="{A5FB214F-D73B-489D-A232-66604640D40A}"/>
              </a:ext>
            </a:extLst>
          </p:cNvPr>
          <p:cNvSpPr>
            <a:spLocks noGrp="1"/>
          </p:cNvSpPr>
          <p:nvPr/>
        </p:nvSpPr>
        <p:spPr>
          <a:xfrm>
            <a:off x="3469386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40</a:t>
            </a:r>
          </a:p>
        </p:txBody>
      </p:sp>
      <p:sp>
        <p:nvSpPr>
          <p:cNvPr id="141" name="svg-text-10">
            <a:extLst>
              <a:ext uri="{FF2B5EF4-FFF2-40B4-BE49-F238E27FC236}">
                <a16:creationId xmlns:a16="http://schemas.microsoft.com/office/drawing/2014/main" id="{83720FCD-601E-4AD0-91F0-A75CA343A947}"/>
              </a:ext>
            </a:extLst>
          </p:cNvPr>
          <p:cNvSpPr>
            <a:spLocks noGrp="1"/>
          </p:cNvSpPr>
          <p:nvPr/>
        </p:nvSpPr>
        <p:spPr>
          <a:xfrm>
            <a:off x="4422648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</a:t>
            </a:r>
          </a:p>
        </p:txBody>
      </p:sp>
      <p:sp>
        <p:nvSpPr>
          <p:cNvPr id="142" name="svg-text-11">
            <a:extLst>
              <a:ext uri="{FF2B5EF4-FFF2-40B4-BE49-F238E27FC236}">
                <a16:creationId xmlns:a16="http://schemas.microsoft.com/office/drawing/2014/main" id="{9C767B70-ADB7-4602-92DB-02D7E2A1DE57}"/>
              </a:ext>
            </a:extLst>
          </p:cNvPr>
          <p:cNvSpPr>
            <a:spLocks noGrp="1"/>
          </p:cNvSpPr>
          <p:nvPr/>
        </p:nvSpPr>
        <p:spPr>
          <a:xfrm>
            <a:off x="5375815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80</a:t>
            </a:r>
          </a:p>
        </p:txBody>
      </p:sp>
      <p:sp>
        <p:nvSpPr>
          <p:cNvPr id="143" name="svg-text-12">
            <a:extLst>
              <a:ext uri="{FF2B5EF4-FFF2-40B4-BE49-F238E27FC236}">
                <a16:creationId xmlns:a16="http://schemas.microsoft.com/office/drawing/2014/main" id="{F5773473-5A2C-44B9-BC6B-F030D90BD316}"/>
              </a:ext>
            </a:extLst>
          </p:cNvPr>
          <p:cNvSpPr>
            <a:spLocks noGrp="1"/>
          </p:cNvSpPr>
          <p:nvPr/>
        </p:nvSpPr>
        <p:spPr>
          <a:xfrm>
            <a:off x="3211068" y="3885057"/>
            <a:ext cx="80267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Agent 40</a:t>
            </a:r>
          </a:p>
        </p:txBody>
      </p:sp>
      <p:sp>
        <p:nvSpPr>
          <p:cNvPr id="144" name="svg-text-13">
            <a:extLst>
              <a:ext uri="{FF2B5EF4-FFF2-40B4-BE49-F238E27FC236}">
                <a16:creationId xmlns:a16="http://schemas.microsoft.com/office/drawing/2014/main" id="{9C7DE39E-A3F5-41B8-9B9E-0AA0237C71C5}"/>
              </a:ext>
            </a:extLst>
          </p:cNvPr>
          <p:cNvSpPr>
            <a:spLocks noGrp="1"/>
          </p:cNvSpPr>
          <p:nvPr/>
        </p:nvSpPr>
        <p:spPr>
          <a:xfrm>
            <a:off x="2343722" y="5756910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45" name="svg-text-14">
            <a:extLst>
              <a:ext uri="{FF2B5EF4-FFF2-40B4-BE49-F238E27FC236}">
                <a16:creationId xmlns:a16="http://schemas.microsoft.com/office/drawing/2014/main" id="{512ECC38-93A8-4D84-A0B7-B0F3EA65292A}"/>
              </a:ext>
            </a:extLst>
          </p:cNvPr>
          <p:cNvSpPr>
            <a:spLocks noGrp="1"/>
          </p:cNvSpPr>
          <p:nvPr/>
        </p:nvSpPr>
        <p:spPr>
          <a:xfrm>
            <a:off x="4905566" y="6382417"/>
            <a:ext cx="2540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146" name="svg-text-15">
            <a:extLst>
              <a:ext uri="{FF2B5EF4-FFF2-40B4-BE49-F238E27FC236}">
                <a16:creationId xmlns:a16="http://schemas.microsoft.com/office/drawing/2014/main" id="{A0850EEC-D6F7-435D-BDEE-FA1B717007A9}"/>
              </a:ext>
            </a:extLst>
          </p:cNvPr>
          <p:cNvSpPr>
            <a:spLocks noGrp="1"/>
          </p:cNvSpPr>
          <p:nvPr/>
        </p:nvSpPr>
        <p:spPr>
          <a:xfrm>
            <a:off x="2836545" y="4699349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47" name="svg-text-16">
            <a:extLst>
              <a:ext uri="{FF2B5EF4-FFF2-40B4-BE49-F238E27FC236}">
                <a16:creationId xmlns:a16="http://schemas.microsoft.com/office/drawing/2014/main" id="{D34ADC0E-B684-4878-8243-C73D9817B257}"/>
              </a:ext>
            </a:extLst>
          </p:cNvPr>
          <p:cNvSpPr>
            <a:spLocks noGrp="1"/>
          </p:cNvSpPr>
          <p:nvPr/>
        </p:nvSpPr>
        <p:spPr>
          <a:xfrm>
            <a:off x="2259997" y="7169468"/>
            <a:ext cx="270462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46"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Decode 速度 (token/s/req)</a:t>
            </a:r>
          </a:p>
        </p:txBody>
      </p:sp>
      <p:sp>
        <p:nvSpPr>
          <p:cNvPr id="148" name="svg-text-17">
            <a:extLst>
              <a:ext uri="{FF2B5EF4-FFF2-40B4-BE49-F238E27FC236}">
                <a16:creationId xmlns:a16="http://schemas.microsoft.com/office/drawing/2014/main" id="{8163D4E0-8B34-42DF-BEA0-67ACD3B3CADB}"/>
              </a:ext>
            </a:extLst>
          </p:cNvPr>
          <p:cNvSpPr>
            <a:spLocks noGrp="1"/>
          </p:cNvSpPr>
          <p:nvPr/>
        </p:nvSpPr>
        <p:spPr>
          <a:xfrm>
            <a:off x="7354253" y="3846862"/>
            <a:ext cx="120948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Output TPS</a:t>
            </a:r>
          </a:p>
        </p:txBody>
      </p:sp>
      <p:sp>
        <p:nvSpPr>
          <p:cNvPr id="149" name="svg-text-18">
            <a:extLst>
              <a:ext uri="{FF2B5EF4-FFF2-40B4-BE49-F238E27FC236}">
                <a16:creationId xmlns:a16="http://schemas.microsoft.com/office/drawing/2014/main" id="{EB67099C-EE9E-47FB-A092-1B0DAD37E8DA}"/>
              </a:ext>
            </a:extLst>
          </p:cNvPr>
          <p:cNvSpPr>
            <a:spLocks noGrp="1"/>
          </p:cNvSpPr>
          <p:nvPr/>
        </p:nvSpPr>
        <p:spPr>
          <a:xfrm>
            <a:off x="7139940" y="6662071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50" name="svg-text-19">
            <a:extLst>
              <a:ext uri="{FF2B5EF4-FFF2-40B4-BE49-F238E27FC236}">
                <a16:creationId xmlns:a16="http://schemas.microsoft.com/office/drawing/2014/main" id="{479222E3-85CC-4265-B431-A27B73A9CB2E}"/>
              </a:ext>
            </a:extLst>
          </p:cNvPr>
          <p:cNvSpPr>
            <a:spLocks noGrp="1"/>
          </p:cNvSpPr>
          <p:nvPr/>
        </p:nvSpPr>
        <p:spPr>
          <a:xfrm>
            <a:off x="6911245" y="6031039"/>
            <a:ext cx="400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350</a:t>
            </a:r>
          </a:p>
        </p:txBody>
      </p:sp>
      <p:sp>
        <p:nvSpPr>
          <p:cNvPr id="151" name="svg-text-20">
            <a:extLst>
              <a:ext uri="{FF2B5EF4-FFF2-40B4-BE49-F238E27FC236}">
                <a16:creationId xmlns:a16="http://schemas.microsoft.com/office/drawing/2014/main" id="{8B4F14CF-8EE6-485C-86FB-2F41F34EB946}"/>
              </a:ext>
            </a:extLst>
          </p:cNvPr>
          <p:cNvSpPr>
            <a:spLocks noGrp="1"/>
          </p:cNvSpPr>
          <p:nvPr/>
        </p:nvSpPr>
        <p:spPr>
          <a:xfrm>
            <a:off x="6921341" y="5400199"/>
            <a:ext cx="3902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700</a:t>
            </a:r>
          </a:p>
        </p:txBody>
      </p:sp>
      <p:sp>
        <p:nvSpPr>
          <p:cNvPr id="152" name="svg-text-21">
            <a:extLst>
              <a:ext uri="{FF2B5EF4-FFF2-40B4-BE49-F238E27FC236}">
                <a16:creationId xmlns:a16="http://schemas.microsoft.com/office/drawing/2014/main" id="{1133B118-CDAE-4208-BD93-18499DD427AD}"/>
              </a:ext>
            </a:extLst>
          </p:cNvPr>
          <p:cNvSpPr>
            <a:spLocks noGrp="1"/>
          </p:cNvSpPr>
          <p:nvPr/>
        </p:nvSpPr>
        <p:spPr>
          <a:xfrm>
            <a:off x="6784562" y="4769263"/>
            <a:ext cx="5270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1,050</a:t>
            </a:r>
          </a:p>
        </p:txBody>
      </p:sp>
      <p:sp>
        <p:nvSpPr>
          <p:cNvPr id="153" name="svg-text-22">
            <a:extLst>
              <a:ext uri="{FF2B5EF4-FFF2-40B4-BE49-F238E27FC236}">
                <a16:creationId xmlns:a16="http://schemas.microsoft.com/office/drawing/2014/main" id="{A1D9E85F-00EB-47FC-8129-1000B7AADC11}"/>
              </a:ext>
            </a:extLst>
          </p:cNvPr>
          <p:cNvSpPr>
            <a:spLocks noGrp="1"/>
          </p:cNvSpPr>
          <p:nvPr/>
        </p:nvSpPr>
        <p:spPr>
          <a:xfrm>
            <a:off x="6784562" y="4138232"/>
            <a:ext cx="5270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1,400</a:t>
            </a:r>
          </a:p>
        </p:txBody>
      </p:sp>
      <p:sp>
        <p:nvSpPr>
          <p:cNvPr id="154" name="svg-text-23">
            <a:extLst>
              <a:ext uri="{FF2B5EF4-FFF2-40B4-BE49-F238E27FC236}">
                <a16:creationId xmlns:a16="http://schemas.microsoft.com/office/drawing/2014/main" id="{6147FA01-3023-4E55-8879-74F92D4F54AD}"/>
              </a:ext>
            </a:extLst>
          </p:cNvPr>
          <p:cNvSpPr>
            <a:spLocks noGrp="1"/>
          </p:cNvSpPr>
          <p:nvPr/>
        </p:nvSpPr>
        <p:spPr>
          <a:xfrm>
            <a:off x="7297007" y="6852666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55" name="svg-text-24">
            <a:extLst>
              <a:ext uri="{FF2B5EF4-FFF2-40B4-BE49-F238E27FC236}">
                <a16:creationId xmlns:a16="http://schemas.microsoft.com/office/drawing/2014/main" id="{C2074D47-C941-4075-B005-13642FF11D5D}"/>
              </a:ext>
            </a:extLst>
          </p:cNvPr>
          <p:cNvSpPr>
            <a:spLocks noGrp="1"/>
          </p:cNvSpPr>
          <p:nvPr/>
        </p:nvSpPr>
        <p:spPr>
          <a:xfrm>
            <a:off x="8193119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56" name="svg-text-25">
            <a:extLst>
              <a:ext uri="{FF2B5EF4-FFF2-40B4-BE49-F238E27FC236}">
                <a16:creationId xmlns:a16="http://schemas.microsoft.com/office/drawing/2014/main" id="{0820BA96-2E43-4706-ACB7-20F0D0805FEA}"/>
              </a:ext>
            </a:extLst>
          </p:cNvPr>
          <p:cNvSpPr>
            <a:spLocks noGrp="1"/>
          </p:cNvSpPr>
          <p:nvPr/>
        </p:nvSpPr>
        <p:spPr>
          <a:xfrm>
            <a:off x="9146286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40</a:t>
            </a:r>
          </a:p>
        </p:txBody>
      </p:sp>
      <p:sp>
        <p:nvSpPr>
          <p:cNvPr id="157" name="svg-text-26">
            <a:extLst>
              <a:ext uri="{FF2B5EF4-FFF2-40B4-BE49-F238E27FC236}">
                <a16:creationId xmlns:a16="http://schemas.microsoft.com/office/drawing/2014/main" id="{96E872C1-4E05-4CA0-8E3A-E7BBD8D0B607}"/>
              </a:ext>
            </a:extLst>
          </p:cNvPr>
          <p:cNvSpPr>
            <a:spLocks noGrp="1"/>
          </p:cNvSpPr>
          <p:nvPr/>
        </p:nvSpPr>
        <p:spPr>
          <a:xfrm>
            <a:off x="10099548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</a:t>
            </a:r>
          </a:p>
        </p:txBody>
      </p:sp>
      <p:sp>
        <p:nvSpPr>
          <p:cNvPr id="158" name="svg-text-27">
            <a:extLst>
              <a:ext uri="{FF2B5EF4-FFF2-40B4-BE49-F238E27FC236}">
                <a16:creationId xmlns:a16="http://schemas.microsoft.com/office/drawing/2014/main" id="{71E6B5C1-699F-48DA-B655-8AA96B929E7C}"/>
              </a:ext>
            </a:extLst>
          </p:cNvPr>
          <p:cNvSpPr>
            <a:spLocks noGrp="1"/>
          </p:cNvSpPr>
          <p:nvPr/>
        </p:nvSpPr>
        <p:spPr>
          <a:xfrm>
            <a:off x="11052715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80</a:t>
            </a:r>
          </a:p>
        </p:txBody>
      </p:sp>
      <p:sp>
        <p:nvSpPr>
          <p:cNvPr id="159" name="svg-text-28">
            <a:extLst>
              <a:ext uri="{FF2B5EF4-FFF2-40B4-BE49-F238E27FC236}">
                <a16:creationId xmlns:a16="http://schemas.microsoft.com/office/drawing/2014/main" id="{757F4934-2A43-4853-94F5-28220FD7C596}"/>
              </a:ext>
            </a:extLst>
          </p:cNvPr>
          <p:cNvSpPr>
            <a:spLocks noGrp="1"/>
          </p:cNvSpPr>
          <p:nvPr/>
        </p:nvSpPr>
        <p:spPr>
          <a:xfrm>
            <a:off x="8887968" y="3885057"/>
            <a:ext cx="80267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Agent 40</a:t>
            </a:r>
          </a:p>
        </p:txBody>
      </p:sp>
      <p:sp>
        <p:nvSpPr>
          <p:cNvPr id="160" name="svg-text-29">
            <a:extLst>
              <a:ext uri="{FF2B5EF4-FFF2-40B4-BE49-F238E27FC236}">
                <a16:creationId xmlns:a16="http://schemas.microsoft.com/office/drawing/2014/main" id="{47884E5A-142A-4951-81F1-F1D275237556}"/>
              </a:ext>
            </a:extLst>
          </p:cNvPr>
          <p:cNvSpPr>
            <a:spLocks noGrp="1"/>
          </p:cNvSpPr>
          <p:nvPr/>
        </p:nvSpPr>
        <p:spPr>
          <a:xfrm>
            <a:off x="8015192" y="5468207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61" name="svg-text-30">
            <a:extLst>
              <a:ext uri="{FF2B5EF4-FFF2-40B4-BE49-F238E27FC236}">
                <a16:creationId xmlns:a16="http://schemas.microsoft.com/office/drawing/2014/main" id="{699CA745-F540-447B-99CF-349AF35530FC}"/>
              </a:ext>
            </a:extLst>
          </p:cNvPr>
          <p:cNvSpPr>
            <a:spLocks noGrp="1"/>
          </p:cNvSpPr>
          <p:nvPr/>
        </p:nvSpPr>
        <p:spPr>
          <a:xfrm>
            <a:off x="10392728" y="6374225"/>
            <a:ext cx="2540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162" name="svg-text-31">
            <a:extLst>
              <a:ext uri="{FF2B5EF4-FFF2-40B4-BE49-F238E27FC236}">
                <a16:creationId xmlns:a16="http://schemas.microsoft.com/office/drawing/2014/main" id="{BEEF54CA-5477-4378-B41D-2FF6F487B6FD}"/>
              </a:ext>
            </a:extLst>
          </p:cNvPr>
          <p:cNvSpPr>
            <a:spLocks noGrp="1"/>
          </p:cNvSpPr>
          <p:nvPr/>
        </p:nvSpPr>
        <p:spPr>
          <a:xfrm>
            <a:off x="8450866" y="4428744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63" name="svg-text-32">
            <a:extLst>
              <a:ext uri="{FF2B5EF4-FFF2-40B4-BE49-F238E27FC236}">
                <a16:creationId xmlns:a16="http://schemas.microsoft.com/office/drawing/2014/main" id="{F56F31C1-93FF-4AC5-8BDB-B2AB02193478}"/>
              </a:ext>
            </a:extLst>
          </p:cNvPr>
          <p:cNvSpPr>
            <a:spLocks noGrp="1"/>
          </p:cNvSpPr>
          <p:nvPr/>
        </p:nvSpPr>
        <p:spPr>
          <a:xfrm>
            <a:off x="7936897" y="7169468"/>
            <a:ext cx="270462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46"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Decode 速度 (token/s/req)</a:t>
            </a:r>
          </a:p>
        </p:txBody>
      </p:sp>
      <p:sp>
        <p:nvSpPr>
          <p:cNvPr id="164" name="svg-text-33">
            <a:extLst>
              <a:ext uri="{FF2B5EF4-FFF2-40B4-BE49-F238E27FC236}">
                <a16:creationId xmlns:a16="http://schemas.microsoft.com/office/drawing/2014/main" id="{9C6E98DD-D0A5-4496-BFA3-CB88093CC5BD}"/>
              </a:ext>
            </a:extLst>
          </p:cNvPr>
          <p:cNvSpPr>
            <a:spLocks noGrp="1"/>
          </p:cNvSpPr>
          <p:nvPr/>
        </p:nvSpPr>
        <p:spPr>
          <a:xfrm>
            <a:off x="13031153" y="3846862"/>
            <a:ext cx="120948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Output TPS</a:t>
            </a:r>
          </a:p>
        </p:txBody>
      </p:sp>
      <p:sp>
        <p:nvSpPr>
          <p:cNvPr id="165" name="svg-text-34">
            <a:extLst>
              <a:ext uri="{FF2B5EF4-FFF2-40B4-BE49-F238E27FC236}">
                <a16:creationId xmlns:a16="http://schemas.microsoft.com/office/drawing/2014/main" id="{839A9B45-557E-4893-A3FF-D357F32FA915}"/>
              </a:ext>
            </a:extLst>
          </p:cNvPr>
          <p:cNvSpPr>
            <a:spLocks noGrp="1"/>
          </p:cNvSpPr>
          <p:nvPr/>
        </p:nvSpPr>
        <p:spPr>
          <a:xfrm>
            <a:off x="12816840" y="6662071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66" name="svg-text-35">
            <a:extLst>
              <a:ext uri="{FF2B5EF4-FFF2-40B4-BE49-F238E27FC236}">
                <a16:creationId xmlns:a16="http://schemas.microsoft.com/office/drawing/2014/main" id="{615EC51A-60C9-4B46-A85F-6825EBDE2A6D}"/>
              </a:ext>
            </a:extLst>
          </p:cNvPr>
          <p:cNvSpPr>
            <a:spLocks noGrp="1"/>
          </p:cNvSpPr>
          <p:nvPr/>
        </p:nvSpPr>
        <p:spPr>
          <a:xfrm>
            <a:off x="12702540" y="6031039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80</a:t>
            </a:r>
          </a:p>
        </p:txBody>
      </p:sp>
      <p:sp>
        <p:nvSpPr>
          <p:cNvPr id="167" name="svg-text-36">
            <a:extLst>
              <a:ext uri="{FF2B5EF4-FFF2-40B4-BE49-F238E27FC236}">
                <a16:creationId xmlns:a16="http://schemas.microsoft.com/office/drawing/2014/main" id="{42850EF4-5741-43E9-915C-4F6D937D1BA5}"/>
              </a:ext>
            </a:extLst>
          </p:cNvPr>
          <p:cNvSpPr>
            <a:spLocks noGrp="1"/>
          </p:cNvSpPr>
          <p:nvPr/>
        </p:nvSpPr>
        <p:spPr>
          <a:xfrm>
            <a:off x="12626054" y="5400199"/>
            <a:ext cx="36242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160</a:t>
            </a:r>
          </a:p>
        </p:txBody>
      </p:sp>
      <p:sp>
        <p:nvSpPr>
          <p:cNvPr id="168" name="svg-text-37">
            <a:extLst>
              <a:ext uri="{FF2B5EF4-FFF2-40B4-BE49-F238E27FC236}">
                <a16:creationId xmlns:a16="http://schemas.microsoft.com/office/drawing/2014/main" id="{EF72569C-D49E-480C-8939-1E5691ACA6E2}"/>
              </a:ext>
            </a:extLst>
          </p:cNvPr>
          <p:cNvSpPr>
            <a:spLocks noGrp="1"/>
          </p:cNvSpPr>
          <p:nvPr/>
        </p:nvSpPr>
        <p:spPr>
          <a:xfrm>
            <a:off x="12588145" y="4769263"/>
            <a:ext cx="400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240</a:t>
            </a:r>
          </a:p>
        </p:txBody>
      </p:sp>
      <p:sp>
        <p:nvSpPr>
          <p:cNvPr id="169" name="svg-text-38">
            <a:extLst>
              <a:ext uri="{FF2B5EF4-FFF2-40B4-BE49-F238E27FC236}">
                <a16:creationId xmlns:a16="http://schemas.microsoft.com/office/drawing/2014/main" id="{E2D951BD-C8C5-4C77-878D-D206C250996F}"/>
              </a:ext>
            </a:extLst>
          </p:cNvPr>
          <p:cNvSpPr>
            <a:spLocks noGrp="1"/>
          </p:cNvSpPr>
          <p:nvPr/>
        </p:nvSpPr>
        <p:spPr>
          <a:xfrm>
            <a:off x="12588145" y="4138232"/>
            <a:ext cx="400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320</a:t>
            </a:r>
          </a:p>
        </p:txBody>
      </p:sp>
      <p:sp>
        <p:nvSpPr>
          <p:cNvPr id="170" name="svg-text-39">
            <a:extLst>
              <a:ext uri="{FF2B5EF4-FFF2-40B4-BE49-F238E27FC236}">
                <a16:creationId xmlns:a16="http://schemas.microsoft.com/office/drawing/2014/main" id="{C60059C5-60A0-496A-8E1E-EDC945B3323D}"/>
              </a:ext>
            </a:extLst>
          </p:cNvPr>
          <p:cNvSpPr>
            <a:spLocks noGrp="1"/>
          </p:cNvSpPr>
          <p:nvPr/>
        </p:nvSpPr>
        <p:spPr>
          <a:xfrm>
            <a:off x="12973907" y="6852666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71" name="svg-text-40">
            <a:extLst>
              <a:ext uri="{FF2B5EF4-FFF2-40B4-BE49-F238E27FC236}">
                <a16:creationId xmlns:a16="http://schemas.microsoft.com/office/drawing/2014/main" id="{846F79F3-A3C8-43FC-A433-9FD0EA39097C}"/>
              </a:ext>
            </a:extLst>
          </p:cNvPr>
          <p:cNvSpPr>
            <a:spLocks noGrp="1"/>
          </p:cNvSpPr>
          <p:nvPr/>
        </p:nvSpPr>
        <p:spPr>
          <a:xfrm>
            <a:off x="13870019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72" name="svg-text-41">
            <a:extLst>
              <a:ext uri="{FF2B5EF4-FFF2-40B4-BE49-F238E27FC236}">
                <a16:creationId xmlns:a16="http://schemas.microsoft.com/office/drawing/2014/main" id="{9F58A53B-1763-4BAC-9679-4F8F41B05341}"/>
              </a:ext>
            </a:extLst>
          </p:cNvPr>
          <p:cNvSpPr>
            <a:spLocks noGrp="1"/>
          </p:cNvSpPr>
          <p:nvPr/>
        </p:nvSpPr>
        <p:spPr>
          <a:xfrm>
            <a:off x="14823186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40</a:t>
            </a:r>
          </a:p>
        </p:txBody>
      </p:sp>
      <p:sp>
        <p:nvSpPr>
          <p:cNvPr id="173" name="svg-text-42">
            <a:extLst>
              <a:ext uri="{FF2B5EF4-FFF2-40B4-BE49-F238E27FC236}">
                <a16:creationId xmlns:a16="http://schemas.microsoft.com/office/drawing/2014/main" id="{6739CFAD-2452-471B-9603-6A9B0D24650B}"/>
              </a:ext>
            </a:extLst>
          </p:cNvPr>
          <p:cNvSpPr>
            <a:spLocks noGrp="1"/>
          </p:cNvSpPr>
          <p:nvPr/>
        </p:nvSpPr>
        <p:spPr>
          <a:xfrm>
            <a:off x="15776448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</a:t>
            </a:r>
          </a:p>
        </p:txBody>
      </p:sp>
      <p:sp>
        <p:nvSpPr>
          <p:cNvPr id="174" name="svg-text-43">
            <a:extLst>
              <a:ext uri="{FF2B5EF4-FFF2-40B4-BE49-F238E27FC236}">
                <a16:creationId xmlns:a16="http://schemas.microsoft.com/office/drawing/2014/main" id="{013A66A7-1930-466C-AC22-601FA604B82C}"/>
              </a:ext>
            </a:extLst>
          </p:cNvPr>
          <p:cNvSpPr>
            <a:spLocks noGrp="1"/>
          </p:cNvSpPr>
          <p:nvPr/>
        </p:nvSpPr>
        <p:spPr>
          <a:xfrm>
            <a:off x="16729615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80</a:t>
            </a:r>
          </a:p>
        </p:txBody>
      </p:sp>
      <p:sp>
        <p:nvSpPr>
          <p:cNvPr id="175" name="svg-text-44">
            <a:extLst>
              <a:ext uri="{FF2B5EF4-FFF2-40B4-BE49-F238E27FC236}">
                <a16:creationId xmlns:a16="http://schemas.microsoft.com/office/drawing/2014/main" id="{BDBD6ACC-7D5C-40D5-92AC-F586600E8260}"/>
              </a:ext>
            </a:extLst>
          </p:cNvPr>
          <p:cNvSpPr>
            <a:spLocks noGrp="1"/>
          </p:cNvSpPr>
          <p:nvPr/>
        </p:nvSpPr>
        <p:spPr>
          <a:xfrm>
            <a:off x="14564868" y="3885057"/>
            <a:ext cx="80267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Agent 40</a:t>
            </a:r>
          </a:p>
        </p:txBody>
      </p:sp>
      <p:sp>
        <p:nvSpPr>
          <p:cNvPr id="176" name="svg-text-45">
            <a:extLst>
              <a:ext uri="{FF2B5EF4-FFF2-40B4-BE49-F238E27FC236}">
                <a16:creationId xmlns:a16="http://schemas.microsoft.com/office/drawing/2014/main" id="{868F3327-5103-406B-9411-FFB442B4D689}"/>
              </a:ext>
            </a:extLst>
          </p:cNvPr>
          <p:cNvSpPr>
            <a:spLocks noGrp="1"/>
          </p:cNvSpPr>
          <p:nvPr/>
        </p:nvSpPr>
        <p:spPr>
          <a:xfrm>
            <a:off x="13741051" y="4794695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77" name="svg-text-46">
            <a:extLst>
              <a:ext uri="{FF2B5EF4-FFF2-40B4-BE49-F238E27FC236}">
                <a16:creationId xmlns:a16="http://schemas.microsoft.com/office/drawing/2014/main" id="{36A40AF9-F89C-436A-8AF1-C773326670AA}"/>
              </a:ext>
            </a:extLst>
          </p:cNvPr>
          <p:cNvSpPr>
            <a:spLocks noGrp="1"/>
          </p:cNvSpPr>
          <p:nvPr/>
        </p:nvSpPr>
        <p:spPr>
          <a:xfrm>
            <a:off x="15743682" y="6364224"/>
            <a:ext cx="2540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178" name="svg-text-47">
            <a:extLst>
              <a:ext uri="{FF2B5EF4-FFF2-40B4-BE49-F238E27FC236}">
                <a16:creationId xmlns:a16="http://schemas.microsoft.com/office/drawing/2014/main" id="{2ABA2A96-F8D9-4038-9393-B37893633E82}"/>
              </a:ext>
            </a:extLst>
          </p:cNvPr>
          <p:cNvSpPr>
            <a:spLocks noGrp="1"/>
          </p:cNvSpPr>
          <p:nvPr/>
        </p:nvSpPr>
        <p:spPr>
          <a:xfrm>
            <a:off x="15898940" y="4607624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79" name="svg-text-48">
            <a:extLst>
              <a:ext uri="{FF2B5EF4-FFF2-40B4-BE49-F238E27FC236}">
                <a16:creationId xmlns:a16="http://schemas.microsoft.com/office/drawing/2014/main" id="{41E48BED-D95C-46FD-9618-E74970B3B35C}"/>
              </a:ext>
            </a:extLst>
          </p:cNvPr>
          <p:cNvSpPr>
            <a:spLocks noGrp="1"/>
          </p:cNvSpPr>
          <p:nvPr/>
        </p:nvSpPr>
        <p:spPr>
          <a:xfrm>
            <a:off x="13613797" y="7169468"/>
            <a:ext cx="270462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46"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Decode 速度 (token/s/req)</a:t>
            </a:r>
          </a:p>
        </p:txBody>
      </p:sp>
      <p:sp>
        <p:nvSpPr>
          <p:cNvPr id="180" name="text-49">
            <a:extLst>
              <a:ext uri="{FF2B5EF4-FFF2-40B4-BE49-F238E27FC236}">
                <a16:creationId xmlns:a16="http://schemas.microsoft.com/office/drawing/2014/main" id="{E6041F61-D282-48D5-BA0A-B9E0113DF97C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81" name="text-50">
            <a:extLst>
              <a:ext uri="{FF2B5EF4-FFF2-40B4-BE49-F238E27FC236}">
                <a16:creationId xmlns:a16="http://schemas.microsoft.com/office/drawing/2014/main" id="{3F81C096-26D8-428C-B93B-1A7092FDFB73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182" name="text-51">
            <a:extLst>
              <a:ext uri="{FF2B5EF4-FFF2-40B4-BE49-F238E27FC236}">
                <a16:creationId xmlns:a16="http://schemas.microsoft.com/office/drawing/2014/main" id="{D9E00A68-5AE1-464D-BEE3-0CB7471F3FAA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0334816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978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异构将 Decode 输出速度提升到高质量区间</a:t>
            </a:r>
          </a:p>
        </p:txBody>
      </p:sp>
      <p:sp>
        <p:nvSpPr>
          <p:cNvPr id="183" name="text-52">
            <a:extLst>
              <a:ext uri="{FF2B5EF4-FFF2-40B4-BE49-F238E27FC236}">
                <a16:creationId xmlns:a16="http://schemas.microsoft.com/office/drawing/2014/main" id="{9F6228A4-5B04-4B52-B4AF-18EF19BD2930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4858714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522"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2K / 8K / 32K 的单请求输出速度为 65.5 / 61.5 / 54.6 token/s/req，均超过 Agent 速度门槛（40 token/s/req）。</a:t>
            </a:r>
          </a:p>
        </p:txBody>
      </p:sp>
      <p:sp>
        <p:nvSpPr>
          <p:cNvPr id="184" name="text-53">
            <a:extLst>
              <a:ext uri="{FF2B5EF4-FFF2-40B4-BE49-F238E27FC236}">
                <a16:creationId xmlns:a16="http://schemas.microsoft.com/office/drawing/2014/main" id="{E3BC4644-5D73-4873-9219-AD769C28D194}"/>
              </a:ext>
            </a:extLst>
          </p:cNvPr>
          <p:cNvSpPr>
            <a:spLocks noGrp="1"/>
          </p:cNvSpPr>
          <p:nvPr/>
        </p:nvSpPr>
        <p:spPr>
          <a:xfrm>
            <a:off x="7618381" y="2771775"/>
            <a:ext cx="585730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异构 · 高算力设备 C + 高带宽设备 B · Mooncake TE TCP</a:t>
            </a:r>
          </a:p>
        </p:txBody>
      </p:sp>
      <p:sp>
        <p:nvSpPr>
          <p:cNvPr id="185" name="text-54">
            <a:extLst>
              <a:ext uri="{FF2B5EF4-FFF2-40B4-BE49-F238E27FC236}">
                <a16:creationId xmlns:a16="http://schemas.microsoft.com/office/drawing/2014/main" id="{28145D86-277D-4DE4-BB51-11F667C16381}"/>
              </a:ext>
            </a:extLst>
          </p:cNvPr>
          <p:cNvSpPr>
            <a:spLocks noGrp="1"/>
          </p:cNvSpPr>
          <p:nvPr/>
        </p:nvSpPr>
        <p:spPr>
          <a:xfrm>
            <a:off x="14142434" y="2771775"/>
            <a:ext cx="321211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同构 · 纯高算力设备 C · RDMA</a:t>
            </a:r>
          </a:p>
        </p:txBody>
      </p:sp>
      <p:sp>
        <p:nvSpPr>
          <p:cNvPr id="186" name="text-55">
            <a:extLst>
              <a:ext uri="{FF2B5EF4-FFF2-40B4-BE49-F238E27FC236}">
                <a16:creationId xmlns:a16="http://schemas.microsoft.com/office/drawing/2014/main" id="{18E9224B-FDE3-40BA-ACCC-7CCE734A96A3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12665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2K Input</a:t>
            </a:r>
          </a:p>
        </p:txBody>
      </p:sp>
      <p:sp>
        <p:nvSpPr>
          <p:cNvPr id="187" name="text-56">
            <a:extLst>
              <a:ext uri="{FF2B5EF4-FFF2-40B4-BE49-F238E27FC236}">
                <a16:creationId xmlns:a16="http://schemas.microsoft.com/office/drawing/2014/main" id="{4ABDB7B9-9142-4721-8372-9909CAE54D62}"/>
              </a:ext>
            </a:extLst>
          </p:cNvPr>
          <p:cNvSpPr>
            <a:spLocks noGrp="1"/>
          </p:cNvSpPr>
          <p:nvPr/>
        </p:nvSpPr>
        <p:spPr>
          <a:xfrm>
            <a:off x="2114074" y="7686675"/>
            <a:ext cx="276301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 · 65.5 token/s/req</a:t>
            </a:r>
          </a:p>
        </p:txBody>
      </p:sp>
      <p:sp>
        <p:nvSpPr>
          <p:cNvPr id="188" name="text-57">
            <a:extLst>
              <a:ext uri="{FF2B5EF4-FFF2-40B4-BE49-F238E27FC236}">
                <a16:creationId xmlns:a16="http://schemas.microsoft.com/office/drawing/2014/main" id="{1AF6CA24-7941-4786-9B60-E45119DC9400}"/>
              </a:ext>
            </a:extLst>
          </p:cNvPr>
          <p:cNvSpPr>
            <a:spLocks noGrp="1"/>
          </p:cNvSpPr>
          <p:nvPr/>
        </p:nvSpPr>
        <p:spPr>
          <a:xfrm>
            <a:off x="2299811" y="8124825"/>
            <a:ext cx="239153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C64 · 1,751 Output TPS</a:t>
            </a:r>
          </a:p>
        </p:txBody>
      </p:sp>
      <p:sp>
        <p:nvSpPr>
          <p:cNvPr id="189" name="text-58">
            <a:extLst>
              <a:ext uri="{FF2B5EF4-FFF2-40B4-BE49-F238E27FC236}">
                <a16:creationId xmlns:a16="http://schemas.microsoft.com/office/drawing/2014/main" id="{4D3D6B21-FA8B-4738-86B1-3F4708576F08}"/>
              </a:ext>
            </a:extLst>
          </p:cNvPr>
          <p:cNvSpPr>
            <a:spLocks noGrp="1"/>
          </p:cNvSpPr>
          <p:nvPr/>
        </p:nvSpPr>
        <p:spPr>
          <a:xfrm>
            <a:off x="6686550" y="3505200"/>
            <a:ext cx="12665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8K Input</a:t>
            </a:r>
          </a:p>
        </p:txBody>
      </p:sp>
      <p:sp>
        <p:nvSpPr>
          <p:cNvPr id="190" name="text-59">
            <a:extLst>
              <a:ext uri="{FF2B5EF4-FFF2-40B4-BE49-F238E27FC236}">
                <a16:creationId xmlns:a16="http://schemas.microsoft.com/office/drawing/2014/main" id="{8DA8A8C4-CE1B-4AF3-9FC8-29A13E4BC381}"/>
              </a:ext>
            </a:extLst>
          </p:cNvPr>
          <p:cNvSpPr>
            <a:spLocks noGrp="1"/>
          </p:cNvSpPr>
          <p:nvPr/>
        </p:nvSpPr>
        <p:spPr>
          <a:xfrm>
            <a:off x="7815453" y="7686675"/>
            <a:ext cx="271414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 · 61.5 token/s/req</a:t>
            </a:r>
          </a:p>
        </p:txBody>
      </p:sp>
      <p:sp>
        <p:nvSpPr>
          <p:cNvPr id="191" name="text-60">
            <a:extLst>
              <a:ext uri="{FF2B5EF4-FFF2-40B4-BE49-F238E27FC236}">
                <a16:creationId xmlns:a16="http://schemas.microsoft.com/office/drawing/2014/main" id="{0DB47432-A174-4B0D-85D6-CEE0CC586027}"/>
              </a:ext>
            </a:extLst>
          </p:cNvPr>
          <p:cNvSpPr>
            <a:spLocks noGrp="1"/>
          </p:cNvSpPr>
          <p:nvPr/>
        </p:nvSpPr>
        <p:spPr>
          <a:xfrm>
            <a:off x="7950422" y="8124825"/>
            <a:ext cx="244440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C64 · 1,204 Output TPS</a:t>
            </a:r>
          </a:p>
        </p:txBody>
      </p:sp>
      <p:sp>
        <p:nvSpPr>
          <p:cNvPr id="192" name="text-61">
            <a:extLst>
              <a:ext uri="{FF2B5EF4-FFF2-40B4-BE49-F238E27FC236}">
                <a16:creationId xmlns:a16="http://schemas.microsoft.com/office/drawing/2014/main" id="{3F4ABCA9-A71D-45C2-8DAF-42F92678848B}"/>
              </a:ext>
            </a:extLst>
          </p:cNvPr>
          <p:cNvSpPr>
            <a:spLocks noGrp="1"/>
          </p:cNvSpPr>
          <p:nvPr/>
        </p:nvSpPr>
        <p:spPr>
          <a:xfrm>
            <a:off x="12363450" y="3505200"/>
            <a:ext cx="144360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32K Input</a:t>
            </a:r>
          </a:p>
        </p:txBody>
      </p:sp>
      <p:sp>
        <p:nvSpPr>
          <p:cNvPr id="193" name="text-62">
            <a:extLst>
              <a:ext uri="{FF2B5EF4-FFF2-40B4-BE49-F238E27FC236}">
                <a16:creationId xmlns:a16="http://schemas.microsoft.com/office/drawing/2014/main" id="{D489AC48-4DA4-4603-866A-E0069385729F}"/>
              </a:ext>
            </a:extLst>
          </p:cNvPr>
          <p:cNvSpPr>
            <a:spLocks noGrp="1"/>
          </p:cNvSpPr>
          <p:nvPr/>
        </p:nvSpPr>
        <p:spPr>
          <a:xfrm>
            <a:off x="13467874" y="7686675"/>
            <a:ext cx="276301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 · 54.6 token/s/req</a:t>
            </a:r>
          </a:p>
        </p:txBody>
      </p:sp>
      <p:sp>
        <p:nvSpPr>
          <p:cNvPr id="194" name="text-63">
            <a:extLst>
              <a:ext uri="{FF2B5EF4-FFF2-40B4-BE49-F238E27FC236}">
                <a16:creationId xmlns:a16="http://schemas.microsoft.com/office/drawing/2014/main" id="{B9A7E71C-252C-4782-957C-F8A8D9B46143}"/>
              </a:ext>
            </a:extLst>
          </p:cNvPr>
          <p:cNvSpPr>
            <a:spLocks noGrp="1"/>
          </p:cNvSpPr>
          <p:nvPr/>
        </p:nvSpPr>
        <p:spPr>
          <a:xfrm>
            <a:off x="13696950" y="812482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C64 · 253 Output TPS</a:t>
            </a:r>
          </a:p>
        </p:txBody>
      </p:sp>
      <p:sp>
        <p:nvSpPr>
          <p:cNvPr id="195" name="text-64">
            <a:extLst>
              <a:ext uri="{FF2B5EF4-FFF2-40B4-BE49-F238E27FC236}">
                <a16:creationId xmlns:a16="http://schemas.microsoft.com/office/drawing/2014/main" id="{768A8C89-7A61-4E70-BBA2-30764BA4B235}"/>
              </a:ext>
            </a:extLst>
          </p:cNvPr>
          <p:cNvSpPr>
            <a:spLocks noGrp="1"/>
          </p:cNvSpPr>
          <p:nvPr/>
        </p:nvSpPr>
        <p:spPr>
          <a:xfrm>
            <a:off x="4728401" y="8818245"/>
            <a:ext cx="888834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跨园区部署下，异构 PD 的单请求输出速度和总输出吞吐均优于同构方案。</a:t>
            </a:r>
          </a:p>
        </p:txBody>
      </p:sp>
      <p:sp>
        <p:nvSpPr>
          <p:cNvPr id="196" name="text-65">
            <a:extLst>
              <a:ext uri="{FF2B5EF4-FFF2-40B4-BE49-F238E27FC236}">
                <a16:creationId xmlns:a16="http://schemas.microsoft.com/office/drawing/2014/main" id="{B0FD0C0D-1F03-4909-B517-D7BA72DAA668}"/>
              </a:ext>
            </a:extLst>
          </p:cNvPr>
          <p:cNvSpPr>
            <a:spLocks noGrp="1"/>
          </p:cNvSpPr>
          <p:nvPr/>
        </p:nvSpPr>
        <p:spPr>
          <a:xfrm>
            <a:off x="771525" y="9585865"/>
            <a:ext cx="657548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Kimi K2.6 3P1D 性能曲线。单请求速度排除 TTFT，不以 Output TPS / C 估算。</a:t>
            </a:r>
          </a:p>
        </p:txBody>
      </p:sp>
      <p:sp>
        <p:nvSpPr>
          <p:cNvPr id="197" name="text-66">
            <a:extLst>
              <a:ext uri="{FF2B5EF4-FFF2-40B4-BE49-F238E27FC236}">
                <a16:creationId xmlns:a16="http://schemas.microsoft.com/office/drawing/2014/main" id="{5B5783B9-4FDF-4700-9BC5-4766DCE97495}"/>
              </a:ext>
            </a:extLst>
          </p:cNvPr>
          <p:cNvSpPr>
            <a:spLocks noGrp="1"/>
          </p:cNvSpPr>
          <p:nvPr/>
        </p:nvSpPr>
        <p:spPr>
          <a:xfrm>
            <a:off x="771525" y="9820561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两组对照来自独立实验测量，统计窗口口径存在差异。</a:t>
            </a:r>
          </a:p>
        </p:txBody>
      </p:sp>
      <p:sp>
        <p:nvSpPr>
          <p:cNvPr id="198" name="text-67">
            <a:extLst>
              <a:ext uri="{FF2B5EF4-FFF2-40B4-BE49-F238E27FC236}">
                <a16:creationId xmlns:a16="http://schemas.microsoft.com/office/drawing/2014/main" id="{582FCF77-7BF2-4A22-BCBC-845356A2BBF6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30 / 43</a:t>
            </a:r>
          </a:p>
        </p:txBody>
      </p:sp>
    </p:spTree>
    <p:extLst>
      <p:ext uri="{BB962C8B-B14F-4D97-AF65-F5344CB8AC3E}">
        <p14:creationId xmlns:p14="http://schemas.microsoft.com/office/powerpoint/2010/main" val="1544675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html-shape-55">
            <a:extLst>
              <a:ext uri="{FF2B5EF4-FFF2-40B4-BE49-F238E27FC236}">
                <a16:creationId xmlns:a16="http://schemas.microsoft.com/office/drawing/2014/main" id="{113A6E6E-EE56-4734-9961-7926DF06F74B}"/>
              </a:ext>
            </a:extLst>
          </p:cNvPr>
          <p:cNvSpPr>
            <a:spLocks noGrp="1"/>
          </p:cNvSpPr>
          <p:nvPr/>
        </p:nvSpPr>
        <p:spPr>
          <a:xfrm>
            <a:off x="771525" y="3257550"/>
            <a:ext cx="5391150" cy="5314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html-shape-59">
            <a:extLst>
              <a:ext uri="{FF2B5EF4-FFF2-40B4-BE49-F238E27FC236}">
                <a16:creationId xmlns:a16="http://schemas.microsoft.com/office/drawing/2014/main" id="{E91DD5F5-C96C-40A0-BFAF-C44B42A6BB33}"/>
              </a:ext>
            </a:extLst>
          </p:cNvPr>
          <p:cNvSpPr>
            <a:spLocks noGrp="1"/>
          </p:cNvSpPr>
          <p:nvPr/>
        </p:nvSpPr>
        <p:spPr>
          <a:xfrm>
            <a:off x="6448425" y="3257550"/>
            <a:ext cx="5391150" cy="5314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html-shape-63">
            <a:extLst>
              <a:ext uri="{FF2B5EF4-FFF2-40B4-BE49-F238E27FC236}">
                <a16:creationId xmlns:a16="http://schemas.microsoft.com/office/drawing/2014/main" id="{6B61A373-9690-48D5-B814-A333E822FA06}"/>
              </a:ext>
            </a:extLst>
          </p:cNvPr>
          <p:cNvSpPr>
            <a:spLocks noGrp="1"/>
          </p:cNvSpPr>
          <p:nvPr/>
        </p:nvSpPr>
        <p:spPr>
          <a:xfrm>
            <a:off x="12125325" y="3257550"/>
            <a:ext cx="5391150" cy="5314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html-shape-67">
            <a:extLst>
              <a:ext uri="{FF2B5EF4-FFF2-40B4-BE49-F238E27FC236}">
                <a16:creationId xmlns:a16="http://schemas.microsoft.com/office/drawing/2014/main" id="{B3643F89-14C5-41AE-8A76-DE8B82E8B256}"/>
              </a:ext>
            </a:extLst>
          </p:cNvPr>
          <p:cNvSpPr>
            <a:spLocks noGrp="1"/>
          </p:cNvSpPr>
          <p:nvPr/>
        </p:nvSpPr>
        <p:spPr>
          <a:xfrm>
            <a:off x="1600200" y="8648700"/>
            <a:ext cx="15087600" cy="723900"/>
          </a:xfrm>
          <a:prstGeom prst="roundRect">
            <a:avLst>
              <a:gd name="adj" fmla="val 1973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5" name="svg-line-1">
            <a:extLst>
              <a:ext uri="{FF2B5EF4-FFF2-40B4-BE49-F238E27FC236}">
                <a16:creationId xmlns:a16="http://schemas.microsoft.com/office/drawing/2014/main" id="{E0E1FC3D-353B-455F-988C-EB7F22AF7721}"/>
              </a:ext>
            </a:extLst>
          </p:cNvPr>
          <p:cNvSpPr>
            <a:spLocks noGrp="1"/>
          </p:cNvSpPr>
          <p:nvPr/>
        </p:nvSpPr>
        <p:spPr>
          <a:xfrm>
            <a:off x="1705928" y="6817519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6" name="svg-line-2">
            <a:extLst>
              <a:ext uri="{FF2B5EF4-FFF2-40B4-BE49-F238E27FC236}">
                <a16:creationId xmlns:a16="http://schemas.microsoft.com/office/drawing/2014/main" id="{A1FD6F4E-3A9E-4E2D-B2DA-14F02BAF52E9}"/>
              </a:ext>
            </a:extLst>
          </p:cNvPr>
          <p:cNvSpPr>
            <a:spLocks noGrp="1"/>
          </p:cNvSpPr>
          <p:nvPr/>
        </p:nvSpPr>
        <p:spPr>
          <a:xfrm>
            <a:off x="1705928" y="6186583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7" name="svg-line-3">
            <a:extLst>
              <a:ext uri="{FF2B5EF4-FFF2-40B4-BE49-F238E27FC236}">
                <a16:creationId xmlns:a16="http://schemas.microsoft.com/office/drawing/2014/main" id="{D92E91C4-F71D-4E6B-A9E6-E46F17BED892}"/>
              </a:ext>
            </a:extLst>
          </p:cNvPr>
          <p:cNvSpPr>
            <a:spLocks noGrp="1"/>
          </p:cNvSpPr>
          <p:nvPr/>
        </p:nvSpPr>
        <p:spPr>
          <a:xfrm>
            <a:off x="1705928" y="5555647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8" name="svg-line-4">
            <a:extLst>
              <a:ext uri="{FF2B5EF4-FFF2-40B4-BE49-F238E27FC236}">
                <a16:creationId xmlns:a16="http://schemas.microsoft.com/office/drawing/2014/main" id="{5438BDB1-74C2-4565-AEBD-5BF8AF5BF806}"/>
              </a:ext>
            </a:extLst>
          </p:cNvPr>
          <p:cNvSpPr>
            <a:spLocks noGrp="1"/>
          </p:cNvSpPr>
          <p:nvPr/>
        </p:nvSpPr>
        <p:spPr>
          <a:xfrm>
            <a:off x="1705928" y="4924711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9" name="svg-line-5">
            <a:extLst>
              <a:ext uri="{FF2B5EF4-FFF2-40B4-BE49-F238E27FC236}">
                <a16:creationId xmlns:a16="http://schemas.microsoft.com/office/drawing/2014/main" id="{8BAEEEA2-E89E-463C-B18D-4473C33ED456}"/>
              </a:ext>
            </a:extLst>
          </p:cNvPr>
          <p:cNvSpPr>
            <a:spLocks noGrp="1"/>
          </p:cNvSpPr>
          <p:nvPr/>
        </p:nvSpPr>
        <p:spPr>
          <a:xfrm>
            <a:off x="1705928" y="4293870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10" name="svg-line-6">
            <a:extLst>
              <a:ext uri="{FF2B5EF4-FFF2-40B4-BE49-F238E27FC236}">
                <a16:creationId xmlns:a16="http://schemas.microsoft.com/office/drawing/2014/main" id="{5383C327-1021-4238-B443-0BE84842585C}"/>
              </a:ext>
            </a:extLst>
          </p:cNvPr>
          <p:cNvSpPr>
            <a:spLocks noGrp="1"/>
          </p:cNvSpPr>
          <p:nvPr/>
        </p:nvSpPr>
        <p:spPr>
          <a:xfrm>
            <a:off x="1705928" y="4293870"/>
            <a:ext cx="4763" cy="2523744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11" name="svg-line-7">
            <a:extLst>
              <a:ext uri="{FF2B5EF4-FFF2-40B4-BE49-F238E27FC236}">
                <a16:creationId xmlns:a16="http://schemas.microsoft.com/office/drawing/2014/main" id="{F3E95259-2FA6-4EA9-ACBD-DB44D26851D3}"/>
              </a:ext>
            </a:extLst>
          </p:cNvPr>
          <p:cNvSpPr>
            <a:spLocks noGrp="1"/>
          </p:cNvSpPr>
          <p:nvPr/>
        </p:nvSpPr>
        <p:spPr>
          <a:xfrm>
            <a:off x="1705928" y="6817519"/>
            <a:ext cx="3812858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12" name="svg-segment-8">
            <a:extLst>
              <a:ext uri="{FF2B5EF4-FFF2-40B4-BE49-F238E27FC236}">
                <a16:creationId xmlns:a16="http://schemas.microsoft.com/office/drawing/2014/main" id="{6E4DC46D-C860-476F-91B2-218DC697F154}"/>
              </a:ext>
            </a:extLst>
          </p:cNvPr>
          <p:cNvSpPr>
            <a:spLocks noGrp="1"/>
          </p:cNvSpPr>
          <p:nvPr/>
        </p:nvSpPr>
        <p:spPr>
          <a:xfrm>
            <a:off x="1756791" y="6388132"/>
            <a:ext cx="4763" cy="215170"/>
          </a:xfrm>
          <a:custGeom>
            <a:avLst/>
            <a:gdLst/>
            <a:ahLst/>
            <a:cxnLst/>
            <a:rect l="0" t="0" r="0" b="0"/>
            <a:pathLst>
              <a:path w="4763" h="215152">
                <a:moveTo>
                  <a:pt x="0" y="215152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3" name="svg-segment-9">
            <a:extLst>
              <a:ext uri="{FF2B5EF4-FFF2-40B4-BE49-F238E27FC236}">
                <a16:creationId xmlns:a16="http://schemas.microsoft.com/office/drawing/2014/main" id="{D65C7974-D2FF-41C6-96E8-2BB5927C77E4}"/>
              </a:ext>
            </a:extLst>
          </p:cNvPr>
          <p:cNvSpPr>
            <a:spLocks noGrp="1"/>
          </p:cNvSpPr>
          <p:nvPr/>
        </p:nvSpPr>
        <p:spPr>
          <a:xfrm>
            <a:off x="1756791" y="6083141"/>
            <a:ext cx="9049" cy="304991"/>
          </a:xfrm>
          <a:custGeom>
            <a:avLst/>
            <a:gdLst/>
            <a:ahLst/>
            <a:cxnLst/>
            <a:rect l="0" t="0" r="0" b="0"/>
            <a:pathLst>
              <a:path w="9078" h="305026">
                <a:moveTo>
                  <a:pt x="0" y="305026"/>
                </a:moveTo>
                <a:lnTo>
                  <a:pt x="9078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4" name="svg-segment-10">
            <a:extLst>
              <a:ext uri="{FF2B5EF4-FFF2-40B4-BE49-F238E27FC236}">
                <a16:creationId xmlns:a16="http://schemas.microsoft.com/office/drawing/2014/main" id="{A20DB3E0-0C6A-4B98-819C-C44AAAA1A828}"/>
              </a:ext>
            </a:extLst>
          </p:cNvPr>
          <p:cNvSpPr>
            <a:spLocks noGrp="1"/>
          </p:cNvSpPr>
          <p:nvPr/>
        </p:nvSpPr>
        <p:spPr>
          <a:xfrm>
            <a:off x="1765840" y="5909691"/>
            <a:ext cx="38100" cy="173355"/>
          </a:xfrm>
          <a:custGeom>
            <a:avLst/>
            <a:gdLst/>
            <a:ahLst/>
            <a:cxnLst/>
            <a:rect l="0" t="0" r="0" b="0"/>
            <a:pathLst>
              <a:path w="38128" h="173393">
                <a:moveTo>
                  <a:pt x="0" y="173393"/>
                </a:moveTo>
                <a:lnTo>
                  <a:pt x="38128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5" name="svg-segment-11">
            <a:extLst>
              <a:ext uri="{FF2B5EF4-FFF2-40B4-BE49-F238E27FC236}">
                <a16:creationId xmlns:a16="http://schemas.microsoft.com/office/drawing/2014/main" id="{5B0C255D-68BA-4F59-B771-FB6A8E890B04}"/>
              </a:ext>
            </a:extLst>
          </p:cNvPr>
          <p:cNvSpPr>
            <a:spLocks noGrp="1"/>
          </p:cNvSpPr>
          <p:nvPr/>
        </p:nvSpPr>
        <p:spPr>
          <a:xfrm>
            <a:off x="1803940" y="5707285"/>
            <a:ext cx="58103" cy="202406"/>
          </a:xfrm>
          <a:custGeom>
            <a:avLst/>
            <a:gdLst/>
            <a:ahLst/>
            <a:cxnLst/>
            <a:rect l="0" t="0" r="0" b="0"/>
            <a:pathLst>
              <a:path w="58100" h="202443">
                <a:moveTo>
                  <a:pt x="0" y="202443"/>
                </a:moveTo>
                <a:lnTo>
                  <a:pt x="5810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6" name="svg-segment-12">
            <a:extLst>
              <a:ext uri="{FF2B5EF4-FFF2-40B4-BE49-F238E27FC236}">
                <a16:creationId xmlns:a16="http://schemas.microsoft.com/office/drawing/2014/main" id="{22125D95-FCEC-48EA-9E62-37A64050AFD4}"/>
              </a:ext>
            </a:extLst>
          </p:cNvPr>
          <p:cNvSpPr>
            <a:spLocks noGrp="1"/>
          </p:cNvSpPr>
          <p:nvPr/>
        </p:nvSpPr>
        <p:spPr>
          <a:xfrm>
            <a:off x="1862042" y="5344192"/>
            <a:ext cx="82582" cy="363093"/>
          </a:xfrm>
          <a:custGeom>
            <a:avLst/>
            <a:gdLst/>
            <a:ahLst/>
            <a:cxnLst/>
            <a:rect l="0" t="0" r="0" b="0"/>
            <a:pathLst>
              <a:path w="82611" h="363126">
                <a:moveTo>
                  <a:pt x="0" y="363126"/>
                </a:moveTo>
                <a:lnTo>
                  <a:pt x="82611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7" name="svg-segment-13">
            <a:extLst>
              <a:ext uri="{FF2B5EF4-FFF2-40B4-BE49-F238E27FC236}">
                <a16:creationId xmlns:a16="http://schemas.microsoft.com/office/drawing/2014/main" id="{08532F60-2FDC-4A23-983F-77F62E6F6EC2}"/>
              </a:ext>
            </a:extLst>
          </p:cNvPr>
          <p:cNvSpPr>
            <a:spLocks noGrp="1"/>
          </p:cNvSpPr>
          <p:nvPr/>
        </p:nvSpPr>
        <p:spPr>
          <a:xfrm>
            <a:off x="1944719" y="5024628"/>
            <a:ext cx="54483" cy="319564"/>
          </a:xfrm>
          <a:custGeom>
            <a:avLst/>
            <a:gdLst/>
            <a:ahLst/>
            <a:cxnLst/>
            <a:rect l="0" t="0" r="0" b="0"/>
            <a:pathLst>
              <a:path w="54469" h="319551">
                <a:moveTo>
                  <a:pt x="0" y="319551"/>
                </a:moveTo>
                <a:lnTo>
                  <a:pt x="54469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8" name="svg-segment-14">
            <a:extLst>
              <a:ext uri="{FF2B5EF4-FFF2-40B4-BE49-F238E27FC236}">
                <a16:creationId xmlns:a16="http://schemas.microsoft.com/office/drawing/2014/main" id="{E27D3782-F97A-474B-8420-025C6D17A6E9}"/>
              </a:ext>
            </a:extLst>
          </p:cNvPr>
          <p:cNvSpPr>
            <a:spLocks noGrp="1"/>
          </p:cNvSpPr>
          <p:nvPr/>
        </p:nvSpPr>
        <p:spPr>
          <a:xfrm>
            <a:off x="1999202" y="4715066"/>
            <a:ext cx="40862" cy="309563"/>
          </a:xfrm>
          <a:custGeom>
            <a:avLst/>
            <a:gdLst/>
            <a:ahLst/>
            <a:cxnLst/>
            <a:rect l="0" t="0" r="0" b="0"/>
            <a:pathLst>
              <a:path w="40852" h="309565">
                <a:moveTo>
                  <a:pt x="0" y="309565"/>
                </a:moveTo>
                <a:lnTo>
                  <a:pt x="40852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9" name="svg-segment-15">
            <a:extLst>
              <a:ext uri="{FF2B5EF4-FFF2-40B4-BE49-F238E27FC236}">
                <a16:creationId xmlns:a16="http://schemas.microsoft.com/office/drawing/2014/main" id="{BC47B771-4302-4F41-88DD-B7881B9FDE1B}"/>
              </a:ext>
            </a:extLst>
          </p:cNvPr>
          <p:cNvSpPr>
            <a:spLocks noGrp="1"/>
          </p:cNvSpPr>
          <p:nvPr/>
        </p:nvSpPr>
        <p:spPr>
          <a:xfrm>
            <a:off x="1785842" y="6587871"/>
            <a:ext cx="16383" cy="93536"/>
          </a:xfrm>
          <a:custGeom>
            <a:avLst/>
            <a:gdLst/>
            <a:ahLst/>
            <a:cxnLst/>
            <a:rect l="0" t="0" r="0" b="0"/>
            <a:pathLst>
              <a:path w="16341" h="93505">
                <a:moveTo>
                  <a:pt x="0" y="93505"/>
                </a:moveTo>
                <a:lnTo>
                  <a:pt x="16341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0" name="svg-segment-16">
            <a:extLst>
              <a:ext uri="{FF2B5EF4-FFF2-40B4-BE49-F238E27FC236}">
                <a16:creationId xmlns:a16="http://schemas.microsoft.com/office/drawing/2014/main" id="{08623AEF-05DF-4A10-82AA-70FE2237A7FC}"/>
              </a:ext>
            </a:extLst>
          </p:cNvPr>
          <p:cNvSpPr>
            <a:spLocks noGrp="1"/>
          </p:cNvSpPr>
          <p:nvPr/>
        </p:nvSpPr>
        <p:spPr>
          <a:xfrm>
            <a:off x="1802130" y="6440805"/>
            <a:ext cx="17240" cy="147066"/>
          </a:xfrm>
          <a:custGeom>
            <a:avLst/>
            <a:gdLst/>
            <a:ahLst/>
            <a:cxnLst/>
            <a:rect l="0" t="0" r="0" b="0"/>
            <a:pathLst>
              <a:path w="17248" h="147066">
                <a:moveTo>
                  <a:pt x="0" y="147066"/>
                </a:moveTo>
                <a:lnTo>
                  <a:pt x="17248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1" name="svg-segment-17">
            <a:extLst>
              <a:ext uri="{FF2B5EF4-FFF2-40B4-BE49-F238E27FC236}">
                <a16:creationId xmlns:a16="http://schemas.microsoft.com/office/drawing/2014/main" id="{455F1AF6-AAA2-4ADD-A843-990D60752851}"/>
              </a:ext>
            </a:extLst>
          </p:cNvPr>
          <p:cNvSpPr>
            <a:spLocks noGrp="1"/>
          </p:cNvSpPr>
          <p:nvPr/>
        </p:nvSpPr>
        <p:spPr>
          <a:xfrm>
            <a:off x="1819370" y="6283738"/>
            <a:ext cx="49911" cy="157067"/>
          </a:xfrm>
          <a:custGeom>
            <a:avLst/>
            <a:gdLst/>
            <a:ahLst/>
            <a:cxnLst/>
            <a:rect l="0" t="0" r="0" b="0"/>
            <a:pathLst>
              <a:path w="49930" h="157052">
                <a:moveTo>
                  <a:pt x="0" y="157052"/>
                </a:moveTo>
                <a:lnTo>
                  <a:pt x="4993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2" name="svg-segment-18">
            <a:extLst>
              <a:ext uri="{FF2B5EF4-FFF2-40B4-BE49-F238E27FC236}">
                <a16:creationId xmlns:a16="http://schemas.microsoft.com/office/drawing/2014/main" id="{2F2DF25E-323B-4648-A0E3-DD4F4204907C}"/>
              </a:ext>
            </a:extLst>
          </p:cNvPr>
          <p:cNvSpPr>
            <a:spLocks noGrp="1"/>
          </p:cNvSpPr>
          <p:nvPr/>
        </p:nvSpPr>
        <p:spPr>
          <a:xfrm>
            <a:off x="1869377" y="6103144"/>
            <a:ext cx="90773" cy="180689"/>
          </a:xfrm>
          <a:custGeom>
            <a:avLst/>
            <a:gdLst/>
            <a:ahLst/>
            <a:cxnLst/>
            <a:rect l="0" t="0" r="0" b="0"/>
            <a:pathLst>
              <a:path w="90781" h="180655">
                <a:moveTo>
                  <a:pt x="0" y="180655"/>
                </a:moveTo>
                <a:lnTo>
                  <a:pt x="90781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3" name="svg-segment-19">
            <a:extLst>
              <a:ext uri="{FF2B5EF4-FFF2-40B4-BE49-F238E27FC236}">
                <a16:creationId xmlns:a16="http://schemas.microsoft.com/office/drawing/2014/main" id="{A0025178-349D-4DF5-8798-9B33712F11BB}"/>
              </a:ext>
            </a:extLst>
          </p:cNvPr>
          <p:cNvSpPr>
            <a:spLocks noGrp="1"/>
          </p:cNvSpPr>
          <p:nvPr/>
        </p:nvSpPr>
        <p:spPr>
          <a:xfrm>
            <a:off x="1960150" y="5805297"/>
            <a:ext cx="110776" cy="297752"/>
          </a:xfrm>
          <a:custGeom>
            <a:avLst/>
            <a:gdLst/>
            <a:ahLst/>
            <a:cxnLst/>
            <a:rect l="0" t="0" r="0" b="0"/>
            <a:pathLst>
              <a:path w="110753" h="297763">
                <a:moveTo>
                  <a:pt x="0" y="297763"/>
                </a:moveTo>
                <a:lnTo>
                  <a:pt x="110753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4" name="svg-segment-20">
            <a:extLst>
              <a:ext uri="{FF2B5EF4-FFF2-40B4-BE49-F238E27FC236}">
                <a16:creationId xmlns:a16="http://schemas.microsoft.com/office/drawing/2014/main" id="{CDC0C4FC-AEAC-4220-9E20-FD84C3AD9F6F}"/>
              </a:ext>
            </a:extLst>
          </p:cNvPr>
          <p:cNvSpPr>
            <a:spLocks noGrp="1"/>
          </p:cNvSpPr>
          <p:nvPr/>
        </p:nvSpPr>
        <p:spPr>
          <a:xfrm>
            <a:off x="2070925" y="5569268"/>
            <a:ext cx="69914" cy="236030"/>
          </a:xfrm>
          <a:custGeom>
            <a:avLst/>
            <a:gdLst/>
            <a:ahLst/>
            <a:cxnLst/>
            <a:rect l="0" t="0" r="0" b="0"/>
            <a:pathLst>
              <a:path w="69902" h="236032">
                <a:moveTo>
                  <a:pt x="0" y="236032"/>
                </a:moveTo>
                <a:lnTo>
                  <a:pt x="69902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5" name="svg-segment-21">
            <a:extLst>
              <a:ext uri="{FF2B5EF4-FFF2-40B4-BE49-F238E27FC236}">
                <a16:creationId xmlns:a16="http://schemas.microsoft.com/office/drawing/2014/main" id="{14C2121D-CF1E-4BBE-8E94-78950834E17E}"/>
              </a:ext>
            </a:extLst>
          </p:cNvPr>
          <p:cNvSpPr>
            <a:spLocks noGrp="1"/>
          </p:cNvSpPr>
          <p:nvPr/>
        </p:nvSpPr>
        <p:spPr>
          <a:xfrm>
            <a:off x="2140744" y="5379530"/>
            <a:ext cx="40862" cy="189738"/>
          </a:xfrm>
          <a:custGeom>
            <a:avLst/>
            <a:gdLst/>
            <a:ahLst/>
            <a:cxnLst/>
            <a:rect l="0" t="0" r="0" b="0"/>
            <a:pathLst>
              <a:path w="40852" h="189733">
                <a:moveTo>
                  <a:pt x="0" y="189733"/>
                </a:moveTo>
                <a:lnTo>
                  <a:pt x="40852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6" name="svg-segment-22">
            <a:extLst>
              <a:ext uri="{FF2B5EF4-FFF2-40B4-BE49-F238E27FC236}">
                <a16:creationId xmlns:a16="http://schemas.microsoft.com/office/drawing/2014/main" id="{3A992B39-224B-4875-A2AE-5B197B81861D}"/>
              </a:ext>
            </a:extLst>
          </p:cNvPr>
          <p:cNvSpPr>
            <a:spLocks noGrp="1"/>
          </p:cNvSpPr>
          <p:nvPr/>
        </p:nvSpPr>
        <p:spPr>
          <a:xfrm>
            <a:off x="2181606" y="5086350"/>
            <a:ext cx="59055" cy="293180"/>
          </a:xfrm>
          <a:custGeom>
            <a:avLst/>
            <a:gdLst/>
            <a:ahLst/>
            <a:cxnLst/>
            <a:rect l="0" t="0" r="0" b="0"/>
            <a:pathLst>
              <a:path w="59008" h="293224">
                <a:moveTo>
                  <a:pt x="0" y="293224"/>
                </a:moveTo>
                <a:lnTo>
                  <a:pt x="59008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7" name="svg-segment-23">
            <a:extLst>
              <a:ext uri="{FF2B5EF4-FFF2-40B4-BE49-F238E27FC236}">
                <a16:creationId xmlns:a16="http://schemas.microsoft.com/office/drawing/2014/main" id="{913CF97C-6C66-47AA-9564-C4B76CFA04C6}"/>
              </a:ext>
            </a:extLst>
          </p:cNvPr>
          <p:cNvSpPr>
            <a:spLocks noGrp="1"/>
          </p:cNvSpPr>
          <p:nvPr/>
        </p:nvSpPr>
        <p:spPr>
          <a:xfrm>
            <a:off x="2240661" y="4859369"/>
            <a:ext cx="103537" cy="226981"/>
          </a:xfrm>
          <a:custGeom>
            <a:avLst/>
            <a:gdLst/>
            <a:ahLst/>
            <a:cxnLst/>
            <a:rect l="0" t="0" r="0" b="0"/>
            <a:pathLst>
              <a:path w="103491" h="226954">
                <a:moveTo>
                  <a:pt x="0" y="226954"/>
                </a:moveTo>
                <a:lnTo>
                  <a:pt x="103491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8" name="svg-segment-24">
            <a:extLst>
              <a:ext uri="{FF2B5EF4-FFF2-40B4-BE49-F238E27FC236}">
                <a16:creationId xmlns:a16="http://schemas.microsoft.com/office/drawing/2014/main" id="{4548F9DA-E356-4ECD-BEDA-0001A4528722}"/>
              </a:ext>
            </a:extLst>
          </p:cNvPr>
          <p:cNvSpPr>
            <a:spLocks noGrp="1"/>
          </p:cNvSpPr>
          <p:nvPr/>
        </p:nvSpPr>
        <p:spPr>
          <a:xfrm>
            <a:off x="2344103" y="4794980"/>
            <a:ext cx="405765" cy="64484"/>
          </a:xfrm>
          <a:custGeom>
            <a:avLst/>
            <a:gdLst/>
            <a:ahLst/>
            <a:cxnLst/>
            <a:rect l="0" t="0" r="0" b="0"/>
            <a:pathLst>
              <a:path w="405793" h="64455">
                <a:moveTo>
                  <a:pt x="0" y="64455"/>
                </a:moveTo>
                <a:lnTo>
                  <a:pt x="405793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9" name="svg-segment-25">
            <a:extLst>
              <a:ext uri="{FF2B5EF4-FFF2-40B4-BE49-F238E27FC236}">
                <a16:creationId xmlns:a16="http://schemas.microsoft.com/office/drawing/2014/main" id="{5008CBC2-6863-4080-9F31-813AC4249428}"/>
              </a:ext>
            </a:extLst>
          </p:cNvPr>
          <p:cNvSpPr>
            <a:spLocks noGrp="1"/>
          </p:cNvSpPr>
          <p:nvPr/>
        </p:nvSpPr>
        <p:spPr>
          <a:xfrm>
            <a:off x="2749963" y="4794980"/>
            <a:ext cx="142494" cy="78105"/>
          </a:xfrm>
          <a:prstGeom prst="line">
            <a:avLst/>
          </a:pr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30" name="svg-segment-26">
            <a:extLst>
              <a:ext uri="{FF2B5EF4-FFF2-40B4-BE49-F238E27FC236}">
                <a16:creationId xmlns:a16="http://schemas.microsoft.com/office/drawing/2014/main" id="{4E0736C2-EE16-450D-BF4C-F79E0E849017}"/>
              </a:ext>
            </a:extLst>
          </p:cNvPr>
          <p:cNvSpPr>
            <a:spLocks noGrp="1"/>
          </p:cNvSpPr>
          <p:nvPr/>
        </p:nvSpPr>
        <p:spPr>
          <a:xfrm>
            <a:off x="2892457" y="4800410"/>
            <a:ext cx="862394" cy="72581"/>
          </a:xfrm>
          <a:custGeom>
            <a:avLst/>
            <a:gdLst/>
            <a:ahLst/>
            <a:cxnLst/>
            <a:rect l="0" t="0" r="0" b="0"/>
            <a:pathLst>
              <a:path w="862424" h="72625">
                <a:moveTo>
                  <a:pt x="0" y="72625"/>
                </a:moveTo>
                <a:lnTo>
                  <a:pt x="862424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31" name="svg-segment-27">
            <a:extLst>
              <a:ext uri="{FF2B5EF4-FFF2-40B4-BE49-F238E27FC236}">
                <a16:creationId xmlns:a16="http://schemas.microsoft.com/office/drawing/2014/main" id="{B28EF44D-6274-44B5-8B15-9AE776E94993}"/>
              </a:ext>
            </a:extLst>
          </p:cNvPr>
          <p:cNvSpPr>
            <a:spLocks noGrp="1"/>
          </p:cNvSpPr>
          <p:nvPr/>
        </p:nvSpPr>
        <p:spPr>
          <a:xfrm>
            <a:off x="3754850" y="4729544"/>
            <a:ext cx="444818" cy="70771"/>
          </a:xfrm>
          <a:custGeom>
            <a:avLst/>
            <a:gdLst/>
            <a:ahLst/>
            <a:cxnLst/>
            <a:rect l="0" t="0" r="0" b="0"/>
            <a:pathLst>
              <a:path w="444829" h="70810">
                <a:moveTo>
                  <a:pt x="0" y="70810"/>
                </a:moveTo>
                <a:lnTo>
                  <a:pt x="444829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32" name="svg-line-28">
            <a:extLst>
              <a:ext uri="{FF2B5EF4-FFF2-40B4-BE49-F238E27FC236}">
                <a16:creationId xmlns:a16="http://schemas.microsoft.com/office/drawing/2014/main" id="{724C1901-36B7-44FB-9D5D-1B7DD5CFA498}"/>
              </a:ext>
            </a:extLst>
          </p:cNvPr>
          <p:cNvSpPr>
            <a:spLocks noGrp="1"/>
          </p:cNvSpPr>
          <p:nvPr/>
        </p:nvSpPr>
        <p:spPr>
          <a:xfrm>
            <a:off x="2097215" y="4638770"/>
            <a:ext cx="226981" cy="60865"/>
          </a:xfrm>
          <a:custGeom>
            <a:avLst/>
            <a:gdLst/>
            <a:ahLst/>
            <a:cxnLst/>
            <a:rect l="0" t="0" r="0" b="0"/>
            <a:pathLst>
              <a:path w="226954" h="60824">
                <a:moveTo>
                  <a:pt x="0" y="60824"/>
                </a:moveTo>
                <a:lnTo>
                  <a:pt x="226954" y="0"/>
                </a:lnTo>
              </a:path>
            </a:pathLst>
          </a:custGeom>
          <a:noFill/>
          <a:ln w="17145">
            <a:solidFill>
              <a:srgbClr val="1785C1">
                <a:alpha val="90000"/>
              </a:srgbClr>
            </a:solidFill>
            <a:prstDash val="solid"/>
          </a:ln>
        </p:spPr>
      </p:sp>
      <p:sp>
        <p:nvSpPr>
          <p:cNvPr id="33" name="svg-line-29">
            <a:extLst>
              <a:ext uri="{FF2B5EF4-FFF2-40B4-BE49-F238E27FC236}">
                <a16:creationId xmlns:a16="http://schemas.microsoft.com/office/drawing/2014/main" id="{EC62199D-1DDA-406B-BC89-82EF9AFD9069}"/>
              </a:ext>
            </a:extLst>
          </p:cNvPr>
          <p:cNvSpPr>
            <a:spLocks noGrp="1"/>
          </p:cNvSpPr>
          <p:nvPr/>
        </p:nvSpPr>
        <p:spPr>
          <a:xfrm>
            <a:off x="1842992" y="6608731"/>
            <a:ext cx="226981" cy="58103"/>
          </a:xfrm>
          <a:custGeom>
            <a:avLst/>
            <a:gdLst/>
            <a:ahLst/>
            <a:cxnLst/>
            <a:rect l="0" t="0" r="0" b="0"/>
            <a:pathLst>
              <a:path w="226954" h="58100">
                <a:moveTo>
                  <a:pt x="0" y="58100"/>
                </a:moveTo>
                <a:lnTo>
                  <a:pt x="226954" y="0"/>
                </a:lnTo>
              </a:path>
            </a:pathLst>
          </a:custGeom>
          <a:noFill/>
          <a:ln w="17145">
            <a:solidFill>
              <a:srgbClr val="0A9A62">
                <a:alpha val="90000"/>
              </a:srgbClr>
            </a:solidFill>
            <a:prstDash val="solid"/>
          </a:ln>
        </p:spPr>
      </p:sp>
      <p:sp>
        <p:nvSpPr>
          <p:cNvPr id="34" name="svg-line-30">
            <a:extLst>
              <a:ext uri="{FF2B5EF4-FFF2-40B4-BE49-F238E27FC236}">
                <a16:creationId xmlns:a16="http://schemas.microsoft.com/office/drawing/2014/main" id="{74E8BC29-C092-4CEB-B8DF-F75593B89F4C}"/>
              </a:ext>
            </a:extLst>
          </p:cNvPr>
          <p:cNvSpPr>
            <a:spLocks noGrp="1"/>
          </p:cNvSpPr>
          <p:nvPr/>
        </p:nvSpPr>
        <p:spPr>
          <a:xfrm>
            <a:off x="2240661" y="5379530"/>
            <a:ext cx="209741" cy="4763"/>
          </a:xfrm>
          <a:prstGeom prst="line">
            <a:avLst/>
          </a:prstGeom>
          <a:noFill/>
          <a:ln w="17145">
            <a:solidFill>
              <a:srgbClr val="0A9A62">
                <a:alpha val="90000"/>
              </a:srgbClr>
            </a:solidFill>
            <a:prstDash val="solid"/>
          </a:ln>
        </p:spPr>
      </p:sp>
      <p:sp>
        <p:nvSpPr>
          <p:cNvPr id="35" name="svg-line-31">
            <a:extLst>
              <a:ext uri="{FF2B5EF4-FFF2-40B4-BE49-F238E27FC236}">
                <a16:creationId xmlns:a16="http://schemas.microsoft.com/office/drawing/2014/main" id="{62DD901D-85C9-4E69-A606-E55E436EEB8E}"/>
              </a:ext>
            </a:extLst>
          </p:cNvPr>
          <p:cNvSpPr>
            <a:spLocks noGrp="1"/>
          </p:cNvSpPr>
          <p:nvPr/>
        </p:nvSpPr>
        <p:spPr>
          <a:xfrm>
            <a:off x="4252341" y="4646009"/>
            <a:ext cx="108014" cy="56293"/>
          </a:xfrm>
          <a:custGeom>
            <a:avLst/>
            <a:gdLst/>
            <a:ahLst/>
            <a:cxnLst/>
            <a:rect l="0" t="0" r="0" b="0"/>
            <a:pathLst>
              <a:path w="108030" h="56285">
                <a:moveTo>
                  <a:pt x="0" y="56285"/>
                </a:moveTo>
                <a:lnTo>
                  <a:pt x="108030" y="0"/>
                </a:lnTo>
              </a:path>
            </a:pathLst>
          </a:custGeom>
          <a:noFill/>
          <a:ln w="17145">
            <a:solidFill>
              <a:srgbClr val="0A9A62">
                <a:alpha val="90000"/>
              </a:srgbClr>
            </a:solidFill>
            <a:prstDash val="solid"/>
          </a:ln>
        </p:spPr>
      </p:sp>
      <p:sp>
        <p:nvSpPr>
          <p:cNvPr id="36" name="svg-line-32">
            <a:extLst>
              <a:ext uri="{FF2B5EF4-FFF2-40B4-BE49-F238E27FC236}">
                <a16:creationId xmlns:a16="http://schemas.microsoft.com/office/drawing/2014/main" id="{4B47F7FD-903B-478C-864D-A56B19DD141E}"/>
              </a:ext>
            </a:extLst>
          </p:cNvPr>
          <p:cNvSpPr>
            <a:spLocks noGrp="1"/>
          </p:cNvSpPr>
          <p:nvPr/>
        </p:nvSpPr>
        <p:spPr>
          <a:xfrm>
            <a:off x="7382828" y="6817519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7" name="svg-line-33">
            <a:extLst>
              <a:ext uri="{FF2B5EF4-FFF2-40B4-BE49-F238E27FC236}">
                <a16:creationId xmlns:a16="http://schemas.microsoft.com/office/drawing/2014/main" id="{A9C3FFD8-1EB9-4252-8B58-235AB8607B09}"/>
              </a:ext>
            </a:extLst>
          </p:cNvPr>
          <p:cNvSpPr>
            <a:spLocks noGrp="1"/>
          </p:cNvSpPr>
          <p:nvPr/>
        </p:nvSpPr>
        <p:spPr>
          <a:xfrm>
            <a:off x="7382828" y="6186583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8" name="svg-line-34">
            <a:extLst>
              <a:ext uri="{FF2B5EF4-FFF2-40B4-BE49-F238E27FC236}">
                <a16:creationId xmlns:a16="http://schemas.microsoft.com/office/drawing/2014/main" id="{F195A304-7C5A-43D9-A46D-6E338A0BE961}"/>
              </a:ext>
            </a:extLst>
          </p:cNvPr>
          <p:cNvSpPr>
            <a:spLocks noGrp="1"/>
          </p:cNvSpPr>
          <p:nvPr/>
        </p:nvSpPr>
        <p:spPr>
          <a:xfrm>
            <a:off x="7382828" y="5555647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9" name="svg-line-35">
            <a:extLst>
              <a:ext uri="{FF2B5EF4-FFF2-40B4-BE49-F238E27FC236}">
                <a16:creationId xmlns:a16="http://schemas.microsoft.com/office/drawing/2014/main" id="{23600E59-D237-49ED-AB4A-42E27053F5E6}"/>
              </a:ext>
            </a:extLst>
          </p:cNvPr>
          <p:cNvSpPr>
            <a:spLocks noGrp="1"/>
          </p:cNvSpPr>
          <p:nvPr/>
        </p:nvSpPr>
        <p:spPr>
          <a:xfrm>
            <a:off x="7382828" y="4924711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40" name="svg-line-36">
            <a:extLst>
              <a:ext uri="{FF2B5EF4-FFF2-40B4-BE49-F238E27FC236}">
                <a16:creationId xmlns:a16="http://schemas.microsoft.com/office/drawing/2014/main" id="{B291F167-3DF1-42C3-B826-441B4D8FFA52}"/>
              </a:ext>
            </a:extLst>
          </p:cNvPr>
          <p:cNvSpPr>
            <a:spLocks noGrp="1"/>
          </p:cNvSpPr>
          <p:nvPr/>
        </p:nvSpPr>
        <p:spPr>
          <a:xfrm>
            <a:off x="7382828" y="4293870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41" name="svg-line-37">
            <a:extLst>
              <a:ext uri="{FF2B5EF4-FFF2-40B4-BE49-F238E27FC236}">
                <a16:creationId xmlns:a16="http://schemas.microsoft.com/office/drawing/2014/main" id="{7A3536E7-2231-4F03-8851-96E1022A10D0}"/>
              </a:ext>
            </a:extLst>
          </p:cNvPr>
          <p:cNvSpPr>
            <a:spLocks noGrp="1"/>
          </p:cNvSpPr>
          <p:nvPr/>
        </p:nvSpPr>
        <p:spPr>
          <a:xfrm>
            <a:off x="7382828" y="4293870"/>
            <a:ext cx="4763" cy="2523744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42" name="svg-line-38">
            <a:extLst>
              <a:ext uri="{FF2B5EF4-FFF2-40B4-BE49-F238E27FC236}">
                <a16:creationId xmlns:a16="http://schemas.microsoft.com/office/drawing/2014/main" id="{B8CC04B6-4CBB-4169-948A-64AE32D39153}"/>
              </a:ext>
            </a:extLst>
          </p:cNvPr>
          <p:cNvSpPr>
            <a:spLocks noGrp="1"/>
          </p:cNvSpPr>
          <p:nvPr/>
        </p:nvSpPr>
        <p:spPr>
          <a:xfrm>
            <a:off x="7382828" y="6817519"/>
            <a:ext cx="3812858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43" name="svg-segment-39">
            <a:extLst>
              <a:ext uri="{FF2B5EF4-FFF2-40B4-BE49-F238E27FC236}">
                <a16:creationId xmlns:a16="http://schemas.microsoft.com/office/drawing/2014/main" id="{C873DDAE-2E25-4F63-ACEE-2C3818F08B5E}"/>
              </a:ext>
            </a:extLst>
          </p:cNvPr>
          <p:cNvSpPr>
            <a:spLocks noGrp="1"/>
          </p:cNvSpPr>
          <p:nvPr/>
        </p:nvSpPr>
        <p:spPr>
          <a:xfrm>
            <a:off x="7506271" y="6109430"/>
            <a:ext cx="4763" cy="354044"/>
          </a:xfrm>
          <a:custGeom>
            <a:avLst/>
            <a:gdLst/>
            <a:ahLst/>
            <a:cxnLst/>
            <a:rect l="0" t="0" r="0" b="0"/>
            <a:pathLst>
              <a:path w="4763" h="354048">
                <a:moveTo>
                  <a:pt x="0" y="354048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4" name="svg-segment-40">
            <a:extLst>
              <a:ext uri="{FF2B5EF4-FFF2-40B4-BE49-F238E27FC236}">
                <a16:creationId xmlns:a16="http://schemas.microsoft.com/office/drawing/2014/main" id="{C54574E1-DC4A-4CAF-BBB7-1812C1C0C554}"/>
              </a:ext>
            </a:extLst>
          </p:cNvPr>
          <p:cNvSpPr>
            <a:spLocks noGrp="1"/>
          </p:cNvSpPr>
          <p:nvPr/>
        </p:nvSpPr>
        <p:spPr>
          <a:xfrm>
            <a:off x="7506271" y="5722715"/>
            <a:ext cx="4763" cy="386715"/>
          </a:xfrm>
          <a:custGeom>
            <a:avLst/>
            <a:gdLst/>
            <a:ahLst/>
            <a:cxnLst/>
            <a:rect l="0" t="0" r="0" b="0"/>
            <a:pathLst>
              <a:path w="4763" h="386729">
                <a:moveTo>
                  <a:pt x="0" y="386729"/>
                </a:moveTo>
                <a:lnTo>
                  <a:pt x="908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5" name="svg-segment-41">
            <a:extLst>
              <a:ext uri="{FF2B5EF4-FFF2-40B4-BE49-F238E27FC236}">
                <a16:creationId xmlns:a16="http://schemas.microsoft.com/office/drawing/2014/main" id="{3BDF1B51-2AB2-4026-A14A-C76072436A31}"/>
              </a:ext>
            </a:extLst>
          </p:cNvPr>
          <p:cNvSpPr>
            <a:spLocks noGrp="1"/>
          </p:cNvSpPr>
          <p:nvPr/>
        </p:nvSpPr>
        <p:spPr>
          <a:xfrm>
            <a:off x="7507224" y="5638324"/>
            <a:ext cx="179737" cy="84392"/>
          </a:xfrm>
          <a:custGeom>
            <a:avLst/>
            <a:gdLst/>
            <a:ahLst/>
            <a:cxnLst/>
            <a:rect l="0" t="0" r="0" b="0"/>
            <a:pathLst>
              <a:path w="179747" h="84427">
                <a:moveTo>
                  <a:pt x="0" y="84427"/>
                </a:moveTo>
                <a:lnTo>
                  <a:pt x="179747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6" name="svg-segment-42">
            <a:extLst>
              <a:ext uri="{FF2B5EF4-FFF2-40B4-BE49-F238E27FC236}">
                <a16:creationId xmlns:a16="http://schemas.microsoft.com/office/drawing/2014/main" id="{00BD1994-272B-4A57-87CC-CFB294C352BE}"/>
              </a:ext>
            </a:extLst>
          </p:cNvPr>
          <p:cNvSpPr>
            <a:spLocks noGrp="1"/>
          </p:cNvSpPr>
          <p:nvPr/>
        </p:nvSpPr>
        <p:spPr>
          <a:xfrm>
            <a:off x="7686961" y="5244275"/>
            <a:ext cx="138875" cy="393954"/>
          </a:xfrm>
          <a:custGeom>
            <a:avLst/>
            <a:gdLst/>
            <a:ahLst/>
            <a:cxnLst/>
            <a:rect l="0" t="0" r="0" b="0"/>
            <a:pathLst>
              <a:path w="138896" h="393992">
                <a:moveTo>
                  <a:pt x="0" y="393992"/>
                </a:moveTo>
                <a:lnTo>
                  <a:pt x="138896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7" name="svg-segment-43">
            <a:extLst>
              <a:ext uri="{FF2B5EF4-FFF2-40B4-BE49-F238E27FC236}">
                <a16:creationId xmlns:a16="http://schemas.microsoft.com/office/drawing/2014/main" id="{8D72C561-C0F7-42F5-95F5-047FAA58D4CA}"/>
              </a:ext>
            </a:extLst>
          </p:cNvPr>
          <p:cNvSpPr>
            <a:spLocks noGrp="1"/>
          </p:cNvSpPr>
          <p:nvPr/>
        </p:nvSpPr>
        <p:spPr>
          <a:xfrm>
            <a:off x="7825835" y="4552569"/>
            <a:ext cx="167926" cy="691801"/>
          </a:xfrm>
          <a:custGeom>
            <a:avLst/>
            <a:gdLst/>
            <a:ahLst/>
            <a:cxnLst/>
            <a:rect l="0" t="0" r="0" b="0"/>
            <a:pathLst>
              <a:path w="167946" h="691755">
                <a:moveTo>
                  <a:pt x="0" y="691755"/>
                </a:moveTo>
                <a:lnTo>
                  <a:pt x="167946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8" name="svg-segment-44">
            <a:extLst>
              <a:ext uri="{FF2B5EF4-FFF2-40B4-BE49-F238E27FC236}">
                <a16:creationId xmlns:a16="http://schemas.microsoft.com/office/drawing/2014/main" id="{5A5FFE40-4FEC-401C-B0DE-3B8382D75265}"/>
              </a:ext>
            </a:extLst>
          </p:cNvPr>
          <p:cNvSpPr>
            <a:spLocks noGrp="1"/>
          </p:cNvSpPr>
          <p:nvPr/>
        </p:nvSpPr>
        <p:spPr>
          <a:xfrm>
            <a:off x="7993761" y="4552569"/>
            <a:ext cx="300514" cy="4763"/>
          </a:xfrm>
          <a:prstGeom prst="line">
            <a:avLst/>
          </a:pr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9" name="svg-segment-45">
            <a:extLst>
              <a:ext uri="{FF2B5EF4-FFF2-40B4-BE49-F238E27FC236}">
                <a16:creationId xmlns:a16="http://schemas.microsoft.com/office/drawing/2014/main" id="{3D54F5CD-E66B-4DDB-A414-7C6B55565D37}"/>
              </a:ext>
            </a:extLst>
          </p:cNvPr>
          <p:cNvSpPr>
            <a:spLocks noGrp="1"/>
          </p:cNvSpPr>
          <p:nvPr/>
        </p:nvSpPr>
        <p:spPr>
          <a:xfrm>
            <a:off x="8294275" y="4552569"/>
            <a:ext cx="307753" cy="4763"/>
          </a:xfrm>
          <a:prstGeom prst="line">
            <a:avLst/>
          </a:pr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50" name="svg-segment-46">
            <a:extLst>
              <a:ext uri="{FF2B5EF4-FFF2-40B4-BE49-F238E27FC236}">
                <a16:creationId xmlns:a16="http://schemas.microsoft.com/office/drawing/2014/main" id="{01794826-4D56-402A-8BC5-B1D7666A4B7F}"/>
              </a:ext>
            </a:extLst>
          </p:cNvPr>
          <p:cNvSpPr>
            <a:spLocks noGrp="1"/>
          </p:cNvSpPr>
          <p:nvPr/>
        </p:nvSpPr>
        <p:spPr>
          <a:xfrm>
            <a:off x="7601617" y="6458998"/>
            <a:ext cx="25432" cy="157924"/>
          </a:xfrm>
          <a:custGeom>
            <a:avLst/>
            <a:gdLst/>
            <a:ahLst/>
            <a:cxnLst/>
            <a:rect l="0" t="0" r="0" b="0"/>
            <a:pathLst>
              <a:path w="25419" h="157960">
                <a:moveTo>
                  <a:pt x="0" y="157960"/>
                </a:moveTo>
                <a:lnTo>
                  <a:pt x="25419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1" name="svg-segment-47">
            <a:extLst>
              <a:ext uri="{FF2B5EF4-FFF2-40B4-BE49-F238E27FC236}">
                <a16:creationId xmlns:a16="http://schemas.microsoft.com/office/drawing/2014/main" id="{7B8157C7-8662-4161-B9A2-DCB158ABB001}"/>
              </a:ext>
            </a:extLst>
          </p:cNvPr>
          <p:cNvSpPr>
            <a:spLocks noGrp="1"/>
          </p:cNvSpPr>
          <p:nvPr/>
        </p:nvSpPr>
        <p:spPr>
          <a:xfrm>
            <a:off x="7627049" y="6260116"/>
            <a:ext cx="59055" cy="198787"/>
          </a:xfrm>
          <a:custGeom>
            <a:avLst/>
            <a:gdLst/>
            <a:ahLst/>
            <a:cxnLst/>
            <a:rect l="0" t="0" r="0" b="0"/>
            <a:pathLst>
              <a:path w="59008" h="198811">
                <a:moveTo>
                  <a:pt x="0" y="198811"/>
                </a:moveTo>
                <a:lnTo>
                  <a:pt x="59008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2" name="svg-segment-48">
            <a:extLst>
              <a:ext uri="{FF2B5EF4-FFF2-40B4-BE49-F238E27FC236}">
                <a16:creationId xmlns:a16="http://schemas.microsoft.com/office/drawing/2014/main" id="{7BDECE17-B592-42D8-9F8A-95EC1977C712}"/>
              </a:ext>
            </a:extLst>
          </p:cNvPr>
          <p:cNvSpPr>
            <a:spLocks noGrp="1"/>
          </p:cNvSpPr>
          <p:nvPr/>
        </p:nvSpPr>
        <p:spPr>
          <a:xfrm>
            <a:off x="7686008" y="5965127"/>
            <a:ext cx="118967" cy="295085"/>
          </a:xfrm>
          <a:custGeom>
            <a:avLst/>
            <a:gdLst/>
            <a:ahLst/>
            <a:cxnLst/>
            <a:rect l="0" t="0" r="0" b="0"/>
            <a:pathLst>
              <a:path w="118924" h="295040">
                <a:moveTo>
                  <a:pt x="0" y="295040"/>
                </a:moveTo>
                <a:lnTo>
                  <a:pt x="118924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3" name="svg-segment-49">
            <a:extLst>
              <a:ext uri="{FF2B5EF4-FFF2-40B4-BE49-F238E27FC236}">
                <a16:creationId xmlns:a16="http://schemas.microsoft.com/office/drawing/2014/main" id="{667677CD-0813-480A-8328-2D3CB4DF3F8B}"/>
              </a:ext>
            </a:extLst>
          </p:cNvPr>
          <p:cNvSpPr>
            <a:spLocks noGrp="1"/>
          </p:cNvSpPr>
          <p:nvPr/>
        </p:nvSpPr>
        <p:spPr>
          <a:xfrm>
            <a:off x="7804976" y="5539359"/>
            <a:ext cx="120777" cy="425768"/>
          </a:xfrm>
          <a:custGeom>
            <a:avLst/>
            <a:gdLst/>
            <a:ahLst/>
            <a:cxnLst/>
            <a:rect l="0" t="0" r="0" b="0"/>
            <a:pathLst>
              <a:path w="120739" h="425765">
                <a:moveTo>
                  <a:pt x="0" y="425765"/>
                </a:moveTo>
                <a:lnTo>
                  <a:pt x="120739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4" name="svg-segment-50">
            <a:extLst>
              <a:ext uri="{FF2B5EF4-FFF2-40B4-BE49-F238E27FC236}">
                <a16:creationId xmlns:a16="http://schemas.microsoft.com/office/drawing/2014/main" id="{3E425599-40AD-42EC-92D9-83E9C5745879}"/>
              </a:ext>
            </a:extLst>
          </p:cNvPr>
          <p:cNvSpPr>
            <a:spLocks noGrp="1"/>
          </p:cNvSpPr>
          <p:nvPr/>
        </p:nvSpPr>
        <p:spPr>
          <a:xfrm>
            <a:off x="7925753" y="4960144"/>
            <a:ext cx="147066" cy="579215"/>
          </a:xfrm>
          <a:custGeom>
            <a:avLst/>
            <a:gdLst/>
            <a:ahLst/>
            <a:cxnLst/>
            <a:rect l="0" t="0" r="0" b="0"/>
            <a:pathLst>
              <a:path w="147066" h="579186">
                <a:moveTo>
                  <a:pt x="0" y="579186"/>
                </a:moveTo>
                <a:lnTo>
                  <a:pt x="147066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5" name="svg-segment-51">
            <a:extLst>
              <a:ext uri="{FF2B5EF4-FFF2-40B4-BE49-F238E27FC236}">
                <a16:creationId xmlns:a16="http://schemas.microsoft.com/office/drawing/2014/main" id="{7B82CFFB-3A8D-4B3B-8F0E-F6044B6BD25F}"/>
              </a:ext>
            </a:extLst>
          </p:cNvPr>
          <p:cNvSpPr>
            <a:spLocks noGrp="1"/>
          </p:cNvSpPr>
          <p:nvPr/>
        </p:nvSpPr>
        <p:spPr>
          <a:xfrm>
            <a:off x="8072819" y="4862132"/>
            <a:ext cx="404908" cy="98012"/>
          </a:xfrm>
          <a:custGeom>
            <a:avLst/>
            <a:gdLst/>
            <a:ahLst/>
            <a:cxnLst/>
            <a:rect l="0" t="0" r="0" b="0"/>
            <a:pathLst>
              <a:path w="404885" h="98044">
                <a:moveTo>
                  <a:pt x="0" y="98044"/>
                </a:moveTo>
                <a:lnTo>
                  <a:pt x="404885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6" name="svg-segment-52">
            <a:extLst>
              <a:ext uri="{FF2B5EF4-FFF2-40B4-BE49-F238E27FC236}">
                <a16:creationId xmlns:a16="http://schemas.microsoft.com/office/drawing/2014/main" id="{19C1C837-F376-48FF-BE40-FA6BF37156DA}"/>
              </a:ext>
            </a:extLst>
          </p:cNvPr>
          <p:cNvSpPr>
            <a:spLocks noGrp="1"/>
          </p:cNvSpPr>
          <p:nvPr/>
        </p:nvSpPr>
        <p:spPr>
          <a:xfrm>
            <a:off x="8477631" y="4853083"/>
            <a:ext cx="200597" cy="9049"/>
          </a:xfrm>
          <a:custGeom>
            <a:avLst/>
            <a:gdLst/>
            <a:ahLst/>
            <a:cxnLst/>
            <a:rect l="0" t="0" r="0" b="0"/>
            <a:pathLst>
              <a:path w="200627" h="9078">
                <a:moveTo>
                  <a:pt x="0" y="9078"/>
                </a:moveTo>
                <a:lnTo>
                  <a:pt x="200627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7" name="svg-segment-53">
            <a:extLst>
              <a:ext uri="{FF2B5EF4-FFF2-40B4-BE49-F238E27FC236}">
                <a16:creationId xmlns:a16="http://schemas.microsoft.com/office/drawing/2014/main" id="{8206C6EE-ADA1-463F-9D8D-AC1007174825}"/>
              </a:ext>
            </a:extLst>
          </p:cNvPr>
          <p:cNvSpPr>
            <a:spLocks noGrp="1"/>
          </p:cNvSpPr>
          <p:nvPr/>
        </p:nvSpPr>
        <p:spPr>
          <a:xfrm>
            <a:off x="8678323" y="4735925"/>
            <a:ext cx="434816" cy="117062"/>
          </a:xfrm>
          <a:custGeom>
            <a:avLst/>
            <a:gdLst/>
            <a:ahLst/>
            <a:cxnLst/>
            <a:rect l="0" t="0" r="0" b="0"/>
            <a:pathLst>
              <a:path w="434843" h="117108">
                <a:moveTo>
                  <a:pt x="0" y="117108"/>
                </a:moveTo>
                <a:lnTo>
                  <a:pt x="434843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8" name="svg-segment-54">
            <a:extLst>
              <a:ext uri="{FF2B5EF4-FFF2-40B4-BE49-F238E27FC236}">
                <a16:creationId xmlns:a16="http://schemas.microsoft.com/office/drawing/2014/main" id="{F7D08F53-6332-44DD-BF91-D7C0D687DFF5}"/>
              </a:ext>
            </a:extLst>
          </p:cNvPr>
          <p:cNvSpPr>
            <a:spLocks noGrp="1"/>
          </p:cNvSpPr>
          <p:nvPr/>
        </p:nvSpPr>
        <p:spPr>
          <a:xfrm>
            <a:off x="9113139" y="4735925"/>
            <a:ext cx="952310" cy="94393"/>
          </a:xfrm>
          <a:prstGeom prst="line">
            <a:avLst/>
          </a:pr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9" name="svg-line-55">
            <a:extLst>
              <a:ext uri="{FF2B5EF4-FFF2-40B4-BE49-F238E27FC236}">
                <a16:creationId xmlns:a16="http://schemas.microsoft.com/office/drawing/2014/main" id="{C4D2C034-5469-4123-B764-8FC9A8E15992}"/>
              </a:ext>
            </a:extLst>
          </p:cNvPr>
          <p:cNvSpPr>
            <a:spLocks noGrp="1"/>
          </p:cNvSpPr>
          <p:nvPr/>
        </p:nvSpPr>
        <p:spPr>
          <a:xfrm>
            <a:off x="8661083" y="4552569"/>
            <a:ext cx="246888" cy="4763"/>
          </a:xfrm>
          <a:prstGeom prst="line">
            <a:avLst/>
          </a:prstGeom>
          <a:noFill/>
          <a:ln w="17145">
            <a:solidFill>
              <a:srgbClr val="1785C1">
                <a:alpha val="90000"/>
              </a:srgbClr>
            </a:solidFill>
            <a:prstDash val="solid"/>
          </a:ln>
        </p:spPr>
      </p:sp>
      <p:sp>
        <p:nvSpPr>
          <p:cNvPr id="60" name="svg-line-56">
            <a:extLst>
              <a:ext uri="{FF2B5EF4-FFF2-40B4-BE49-F238E27FC236}">
                <a16:creationId xmlns:a16="http://schemas.microsoft.com/office/drawing/2014/main" id="{E3292E91-5988-4F4A-8D44-3CB630A24AA3}"/>
              </a:ext>
            </a:extLst>
          </p:cNvPr>
          <p:cNvSpPr>
            <a:spLocks noGrp="1"/>
          </p:cNvSpPr>
          <p:nvPr/>
        </p:nvSpPr>
        <p:spPr>
          <a:xfrm>
            <a:off x="7658862" y="6543389"/>
            <a:ext cx="305943" cy="61722"/>
          </a:xfrm>
          <a:custGeom>
            <a:avLst/>
            <a:gdLst/>
            <a:ahLst/>
            <a:cxnLst/>
            <a:rect l="0" t="0" r="0" b="0"/>
            <a:pathLst>
              <a:path w="305934" h="61731">
                <a:moveTo>
                  <a:pt x="0" y="61731"/>
                </a:moveTo>
                <a:lnTo>
                  <a:pt x="305934" y="0"/>
                </a:lnTo>
              </a:path>
            </a:pathLst>
          </a:custGeom>
          <a:noFill/>
          <a:ln w="17145">
            <a:solidFill>
              <a:srgbClr val="0A9A62">
                <a:alpha val="90000"/>
              </a:srgbClr>
            </a:solidFill>
            <a:prstDash val="solid"/>
          </a:ln>
        </p:spPr>
      </p:sp>
      <p:sp>
        <p:nvSpPr>
          <p:cNvPr id="61" name="svg-line-57">
            <a:extLst>
              <a:ext uri="{FF2B5EF4-FFF2-40B4-BE49-F238E27FC236}">
                <a16:creationId xmlns:a16="http://schemas.microsoft.com/office/drawing/2014/main" id="{E9CDB2CD-853C-47C2-BCEF-59B07AE626B8}"/>
              </a:ext>
            </a:extLst>
          </p:cNvPr>
          <p:cNvSpPr>
            <a:spLocks noGrp="1"/>
          </p:cNvSpPr>
          <p:nvPr/>
        </p:nvSpPr>
        <p:spPr>
          <a:xfrm>
            <a:off x="8729091" y="4882991"/>
            <a:ext cx="156115" cy="91726"/>
          </a:xfrm>
          <a:prstGeom prst="line">
            <a:avLst/>
          </a:prstGeom>
          <a:noFill/>
          <a:ln w="17145">
            <a:solidFill>
              <a:srgbClr val="0A9A62">
                <a:alpha val="90000"/>
              </a:srgbClr>
            </a:solidFill>
            <a:prstDash val="solid"/>
          </a:ln>
        </p:spPr>
      </p:sp>
      <p:sp>
        <p:nvSpPr>
          <p:cNvPr id="62" name="svg-line-58">
            <a:extLst>
              <a:ext uri="{FF2B5EF4-FFF2-40B4-BE49-F238E27FC236}">
                <a16:creationId xmlns:a16="http://schemas.microsoft.com/office/drawing/2014/main" id="{8897BC96-1181-419A-BA91-9F67CBA62A1E}"/>
              </a:ext>
            </a:extLst>
          </p:cNvPr>
          <p:cNvSpPr>
            <a:spLocks noGrp="1"/>
          </p:cNvSpPr>
          <p:nvPr/>
        </p:nvSpPr>
        <p:spPr>
          <a:xfrm>
            <a:off x="9170289" y="4628769"/>
            <a:ext cx="410337" cy="93536"/>
          </a:xfrm>
          <a:custGeom>
            <a:avLst/>
            <a:gdLst/>
            <a:ahLst/>
            <a:cxnLst/>
            <a:rect l="0" t="0" r="0" b="0"/>
            <a:pathLst>
              <a:path w="410332" h="93505">
                <a:moveTo>
                  <a:pt x="0" y="93505"/>
                </a:moveTo>
                <a:lnTo>
                  <a:pt x="410332" y="0"/>
                </a:lnTo>
              </a:path>
            </a:pathLst>
          </a:custGeom>
          <a:noFill/>
          <a:ln w="17145">
            <a:solidFill>
              <a:srgbClr val="0A9A62">
                <a:alpha val="90000"/>
              </a:srgbClr>
            </a:solidFill>
            <a:prstDash val="solid"/>
          </a:ln>
        </p:spPr>
      </p:sp>
      <p:sp>
        <p:nvSpPr>
          <p:cNvPr id="63" name="svg-line-59">
            <a:extLst>
              <a:ext uri="{FF2B5EF4-FFF2-40B4-BE49-F238E27FC236}">
                <a16:creationId xmlns:a16="http://schemas.microsoft.com/office/drawing/2014/main" id="{B3F4CAA6-3DA4-4DB4-BF4A-C920897C0C3A}"/>
              </a:ext>
            </a:extLst>
          </p:cNvPr>
          <p:cNvSpPr>
            <a:spLocks noGrp="1"/>
          </p:cNvSpPr>
          <p:nvPr/>
        </p:nvSpPr>
        <p:spPr>
          <a:xfrm>
            <a:off x="13059728" y="6817519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64" name="svg-line-60">
            <a:extLst>
              <a:ext uri="{FF2B5EF4-FFF2-40B4-BE49-F238E27FC236}">
                <a16:creationId xmlns:a16="http://schemas.microsoft.com/office/drawing/2014/main" id="{2215B533-22D4-478D-9900-1F30DF9FAA3D}"/>
              </a:ext>
            </a:extLst>
          </p:cNvPr>
          <p:cNvSpPr>
            <a:spLocks noGrp="1"/>
          </p:cNvSpPr>
          <p:nvPr/>
        </p:nvSpPr>
        <p:spPr>
          <a:xfrm>
            <a:off x="13059728" y="6186583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65" name="svg-line-61">
            <a:extLst>
              <a:ext uri="{FF2B5EF4-FFF2-40B4-BE49-F238E27FC236}">
                <a16:creationId xmlns:a16="http://schemas.microsoft.com/office/drawing/2014/main" id="{33805823-9E90-4D62-A438-A9BE2A166A46}"/>
              </a:ext>
            </a:extLst>
          </p:cNvPr>
          <p:cNvSpPr>
            <a:spLocks noGrp="1"/>
          </p:cNvSpPr>
          <p:nvPr/>
        </p:nvSpPr>
        <p:spPr>
          <a:xfrm>
            <a:off x="13059728" y="5555647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66" name="svg-line-62">
            <a:extLst>
              <a:ext uri="{FF2B5EF4-FFF2-40B4-BE49-F238E27FC236}">
                <a16:creationId xmlns:a16="http://schemas.microsoft.com/office/drawing/2014/main" id="{8B1FC858-AC3C-4B61-A8AB-16105FA93339}"/>
              </a:ext>
            </a:extLst>
          </p:cNvPr>
          <p:cNvSpPr>
            <a:spLocks noGrp="1"/>
          </p:cNvSpPr>
          <p:nvPr/>
        </p:nvSpPr>
        <p:spPr>
          <a:xfrm>
            <a:off x="13059728" y="4924711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67" name="svg-line-63">
            <a:extLst>
              <a:ext uri="{FF2B5EF4-FFF2-40B4-BE49-F238E27FC236}">
                <a16:creationId xmlns:a16="http://schemas.microsoft.com/office/drawing/2014/main" id="{0940188A-1346-48AA-AC24-768A7ED852A0}"/>
              </a:ext>
            </a:extLst>
          </p:cNvPr>
          <p:cNvSpPr>
            <a:spLocks noGrp="1"/>
          </p:cNvSpPr>
          <p:nvPr/>
        </p:nvSpPr>
        <p:spPr>
          <a:xfrm>
            <a:off x="13059728" y="4293870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68" name="svg-line-64">
            <a:extLst>
              <a:ext uri="{FF2B5EF4-FFF2-40B4-BE49-F238E27FC236}">
                <a16:creationId xmlns:a16="http://schemas.microsoft.com/office/drawing/2014/main" id="{890A71D7-8461-4565-9E28-4A94A8497673}"/>
              </a:ext>
            </a:extLst>
          </p:cNvPr>
          <p:cNvSpPr>
            <a:spLocks noGrp="1"/>
          </p:cNvSpPr>
          <p:nvPr/>
        </p:nvSpPr>
        <p:spPr>
          <a:xfrm>
            <a:off x="13059728" y="4293870"/>
            <a:ext cx="4763" cy="2523744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69" name="svg-line-65">
            <a:extLst>
              <a:ext uri="{FF2B5EF4-FFF2-40B4-BE49-F238E27FC236}">
                <a16:creationId xmlns:a16="http://schemas.microsoft.com/office/drawing/2014/main" id="{C841C9EA-F6BE-4C70-80EB-EC13DA0C05C0}"/>
              </a:ext>
            </a:extLst>
          </p:cNvPr>
          <p:cNvSpPr>
            <a:spLocks noGrp="1"/>
          </p:cNvSpPr>
          <p:nvPr/>
        </p:nvSpPr>
        <p:spPr>
          <a:xfrm>
            <a:off x="13059728" y="6817519"/>
            <a:ext cx="3812858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70" name="svg-segment-66">
            <a:extLst>
              <a:ext uri="{FF2B5EF4-FFF2-40B4-BE49-F238E27FC236}">
                <a16:creationId xmlns:a16="http://schemas.microsoft.com/office/drawing/2014/main" id="{02683BB9-0604-4A61-B716-19650C7D96E4}"/>
              </a:ext>
            </a:extLst>
          </p:cNvPr>
          <p:cNvSpPr>
            <a:spLocks noGrp="1"/>
          </p:cNvSpPr>
          <p:nvPr/>
        </p:nvSpPr>
        <p:spPr>
          <a:xfrm>
            <a:off x="13421011" y="5852541"/>
            <a:ext cx="4763" cy="482918"/>
          </a:xfrm>
          <a:custGeom>
            <a:avLst/>
            <a:gdLst/>
            <a:ahLst/>
            <a:cxnLst/>
            <a:rect l="0" t="0" r="0" b="0"/>
            <a:pathLst>
              <a:path w="4763" h="482957">
                <a:moveTo>
                  <a:pt x="0" y="48295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71" name="svg-segment-67">
            <a:extLst>
              <a:ext uri="{FF2B5EF4-FFF2-40B4-BE49-F238E27FC236}">
                <a16:creationId xmlns:a16="http://schemas.microsoft.com/office/drawing/2014/main" id="{870F63C4-C3EE-452C-BC83-5A352B8A5AB1}"/>
              </a:ext>
            </a:extLst>
          </p:cNvPr>
          <p:cNvSpPr>
            <a:spLocks noGrp="1"/>
          </p:cNvSpPr>
          <p:nvPr/>
        </p:nvSpPr>
        <p:spPr>
          <a:xfrm>
            <a:off x="13421011" y="5332381"/>
            <a:ext cx="107156" cy="520160"/>
          </a:xfrm>
          <a:custGeom>
            <a:avLst/>
            <a:gdLst/>
            <a:ahLst/>
            <a:cxnLst/>
            <a:rect l="0" t="0" r="0" b="0"/>
            <a:pathLst>
              <a:path w="107122" h="520178">
                <a:moveTo>
                  <a:pt x="0" y="520178"/>
                </a:moveTo>
                <a:lnTo>
                  <a:pt x="107122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72" name="svg-segment-68">
            <a:extLst>
              <a:ext uri="{FF2B5EF4-FFF2-40B4-BE49-F238E27FC236}">
                <a16:creationId xmlns:a16="http://schemas.microsoft.com/office/drawing/2014/main" id="{13E61560-C725-4EC2-9F46-C99528C9E709}"/>
              </a:ext>
            </a:extLst>
          </p:cNvPr>
          <p:cNvSpPr>
            <a:spLocks noGrp="1"/>
          </p:cNvSpPr>
          <p:nvPr/>
        </p:nvSpPr>
        <p:spPr>
          <a:xfrm>
            <a:off x="13528167" y="5049107"/>
            <a:ext cx="296894" cy="283274"/>
          </a:xfrm>
          <a:custGeom>
            <a:avLst/>
            <a:gdLst/>
            <a:ahLst/>
            <a:cxnLst/>
            <a:rect l="0" t="0" r="0" b="0"/>
            <a:pathLst>
              <a:path w="296855" h="283238">
                <a:moveTo>
                  <a:pt x="0" y="283238"/>
                </a:moveTo>
                <a:lnTo>
                  <a:pt x="296855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73" name="svg-segment-69">
            <a:extLst>
              <a:ext uri="{FF2B5EF4-FFF2-40B4-BE49-F238E27FC236}">
                <a16:creationId xmlns:a16="http://schemas.microsoft.com/office/drawing/2014/main" id="{2E47A941-D145-4E34-8965-5F3C294742D7}"/>
              </a:ext>
            </a:extLst>
          </p:cNvPr>
          <p:cNvSpPr>
            <a:spLocks noGrp="1"/>
          </p:cNvSpPr>
          <p:nvPr/>
        </p:nvSpPr>
        <p:spPr>
          <a:xfrm>
            <a:off x="13825061" y="5040916"/>
            <a:ext cx="756190" cy="8192"/>
          </a:xfrm>
          <a:custGeom>
            <a:avLst/>
            <a:gdLst/>
            <a:ahLst/>
            <a:cxnLst/>
            <a:rect l="0" t="0" r="0" b="0"/>
            <a:pathLst>
              <a:path w="756210" h="8170">
                <a:moveTo>
                  <a:pt x="0" y="8170"/>
                </a:moveTo>
                <a:lnTo>
                  <a:pt x="75621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74" name="svg-segment-70">
            <a:extLst>
              <a:ext uri="{FF2B5EF4-FFF2-40B4-BE49-F238E27FC236}">
                <a16:creationId xmlns:a16="http://schemas.microsoft.com/office/drawing/2014/main" id="{72EE3F71-49AE-4B4D-B77E-8516D87049E0}"/>
              </a:ext>
            </a:extLst>
          </p:cNvPr>
          <p:cNvSpPr>
            <a:spLocks noGrp="1"/>
          </p:cNvSpPr>
          <p:nvPr/>
        </p:nvSpPr>
        <p:spPr>
          <a:xfrm>
            <a:off x="14581251" y="5040916"/>
            <a:ext cx="1666780" cy="8192"/>
          </a:xfrm>
          <a:prstGeom prst="line">
            <a:avLst/>
          </a:pr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75" name="svg-segment-71">
            <a:extLst>
              <a:ext uri="{FF2B5EF4-FFF2-40B4-BE49-F238E27FC236}">
                <a16:creationId xmlns:a16="http://schemas.microsoft.com/office/drawing/2014/main" id="{33036C35-53DD-4A23-8470-A88A5A7F51D4}"/>
              </a:ext>
            </a:extLst>
          </p:cNvPr>
          <p:cNvSpPr>
            <a:spLocks noGrp="1"/>
          </p:cNvSpPr>
          <p:nvPr/>
        </p:nvSpPr>
        <p:spPr>
          <a:xfrm>
            <a:off x="13545407" y="6220206"/>
            <a:ext cx="164306" cy="241459"/>
          </a:xfrm>
          <a:custGeom>
            <a:avLst/>
            <a:gdLst/>
            <a:ahLst/>
            <a:cxnLst/>
            <a:rect l="0" t="0" r="0" b="0"/>
            <a:pathLst>
              <a:path w="164315" h="241479">
                <a:moveTo>
                  <a:pt x="0" y="241479"/>
                </a:moveTo>
                <a:lnTo>
                  <a:pt x="164315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76" name="svg-segment-72">
            <a:extLst>
              <a:ext uri="{FF2B5EF4-FFF2-40B4-BE49-F238E27FC236}">
                <a16:creationId xmlns:a16="http://schemas.microsoft.com/office/drawing/2014/main" id="{0204CA7A-28A1-4A3C-8AF8-BDF3C48E5644}"/>
              </a:ext>
            </a:extLst>
          </p:cNvPr>
          <p:cNvSpPr>
            <a:spLocks noGrp="1"/>
          </p:cNvSpPr>
          <p:nvPr/>
        </p:nvSpPr>
        <p:spPr>
          <a:xfrm>
            <a:off x="13709714" y="5876163"/>
            <a:ext cx="58103" cy="344043"/>
          </a:xfrm>
          <a:custGeom>
            <a:avLst/>
            <a:gdLst/>
            <a:ahLst/>
            <a:cxnLst/>
            <a:rect l="0" t="0" r="0" b="0"/>
            <a:pathLst>
              <a:path w="58100" h="344062">
                <a:moveTo>
                  <a:pt x="0" y="344062"/>
                </a:moveTo>
                <a:lnTo>
                  <a:pt x="5810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77" name="svg-segment-73">
            <a:extLst>
              <a:ext uri="{FF2B5EF4-FFF2-40B4-BE49-F238E27FC236}">
                <a16:creationId xmlns:a16="http://schemas.microsoft.com/office/drawing/2014/main" id="{FC3AAC8B-E649-4BC6-850E-A3F86DB52DC4}"/>
              </a:ext>
            </a:extLst>
          </p:cNvPr>
          <p:cNvSpPr>
            <a:spLocks noGrp="1"/>
          </p:cNvSpPr>
          <p:nvPr/>
        </p:nvSpPr>
        <p:spPr>
          <a:xfrm>
            <a:off x="13767816" y="5484876"/>
            <a:ext cx="272320" cy="391287"/>
          </a:xfrm>
          <a:custGeom>
            <a:avLst/>
            <a:gdLst/>
            <a:ahLst/>
            <a:cxnLst/>
            <a:rect l="0" t="0" r="0" b="0"/>
            <a:pathLst>
              <a:path w="272344" h="391268">
                <a:moveTo>
                  <a:pt x="0" y="391268"/>
                </a:moveTo>
                <a:lnTo>
                  <a:pt x="272344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78" name="svg-segment-74">
            <a:extLst>
              <a:ext uri="{FF2B5EF4-FFF2-40B4-BE49-F238E27FC236}">
                <a16:creationId xmlns:a16="http://schemas.microsoft.com/office/drawing/2014/main" id="{C3FFA741-3FA9-4F36-886A-86A94CD5ACF5}"/>
              </a:ext>
            </a:extLst>
          </p:cNvPr>
          <p:cNvSpPr>
            <a:spLocks noGrp="1"/>
          </p:cNvSpPr>
          <p:nvPr/>
        </p:nvSpPr>
        <p:spPr>
          <a:xfrm>
            <a:off x="14040136" y="5278755"/>
            <a:ext cx="583692" cy="206121"/>
          </a:xfrm>
          <a:custGeom>
            <a:avLst/>
            <a:gdLst/>
            <a:ahLst/>
            <a:cxnLst/>
            <a:rect l="0" t="0" r="0" b="0"/>
            <a:pathLst>
              <a:path w="583725" h="206074">
                <a:moveTo>
                  <a:pt x="0" y="206074"/>
                </a:moveTo>
                <a:lnTo>
                  <a:pt x="583725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79" name="svg-segment-75">
            <a:extLst>
              <a:ext uri="{FF2B5EF4-FFF2-40B4-BE49-F238E27FC236}">
                <a16:creationId xmlns:a16="http://schemas.microsoft.com/office/drawing/2014/main" id="{5ED18893-60B6-4289-AFBD-AB1A9934B1C5}"/>
              </a:ext>
            </a:extLst>
          </p:cNvPr>
          <p:cNvSpPr>
            <a:spLocks noGrp="1"/>
          </p:cNvSpPr>
          <p:nvPr/>
        </p:nvSpPr>
        <p:spPr>
          <a:xfrm>
            <a:off x="14623923" y="5197983"/>
            <a:ext cx="1723073" cy="80772"/>
          </a:xfrm>
          <a:custGeom>
            <a:avLst/>
            <a:gdLst/>
            <a:ahLst/>
            <a:cxnLst/>
            <a:rect l="0" t="0" r="0" b="0"/>
            <a:pathLst>
              <a:path w="1723033" h="80795">
                <a:moveTo>
                  <a:pt x="0" y="80795"/>
                </a:moveTo>
                <a:lnTo>
                  <a:pt x="1723033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80" name="svg-line-76">
            <a:extLst>
              <a:ext uri="{FF2B5EF4-FFF2-40B4-BE49-F238E27FC236}">
                <a16:creationId xmlns:a16="http://schemas.microsoft.com/office/drawing/2014/main" id="{FD366B88-F400-43BA-A8EB-0EA0CB075614}"/>
              </a:ext>
            </a:extLst>
          </p:cNvPr>
          <p:cNvSpPr>
            <a:spLocks noGrp="1"/>
          </p:cNvSpPr>
          <p:nvPr/>
        </p:nvSpPr>
        <p:spPr>
          <a:xfrm>
            <a:off x="15999238" y="4959287"/>
            <a:ext cx="193358" cy="69914"/>
          </a:xfrm>
          <a:custGeom>
            <a:avLst/>
            <a:gdLst/>
            <a:ahLst/>
            <a:cxnLst/>
            <a:rect l="0" t="0" r="0" b="0"/>
            <a:pathLst>
              <a:path w="193365" h="69902">
                <a:moveTo>
                  <a:pt x="193365" y="69902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1785C1">
                <a:alpha val="90000"/>
              </a:srgbClr>
            </a:solidFill>
            <a:prstDash val="solid"/>
          </a:ln>
        </p:spPr>
      </p:sp>
      <p:sp>
        <p:nvSpPr>
          <p:cNvPr id="81" name="svg-line-77">
            <a:extLst>
              <a:ext uri="{FF2B5EF4-FFF2-40B4-BE49-F238E27FC236}">
                <a16:creationId xmlns:a16="http://schemas.microsoft.com/office/drawing/2014/main" id="{2B46F01A-E3FB-455C-80B3-F10404783458}"/>
              </a:ext>
            </a:extLst>
          </p:cNvPr>
          <p:cNvSpPr>
            <a:spLocks noGrp="1"/>
          </p:cNvSpPr>
          <p:nvPr/>
        </p:nvSpPr>
        <p:spPr>
          <a:xfrm>
            <a:off x="13604462" y="6447187"/>
            <a:ext cx="263271" cy="11811"/>
          </a:xfrm>
          <a:custGeom>
            <a:avLst/>
            <a:gdLst/>
            <a:ahLst/>
            <a:cxnLst/>
            <a:rect l="0" t="0" r="0" b="0"/>
            <a:pathLst>
              <a:path w="263266" h="11802">
                <a:moveTo>
                  <a:pt x="0" y="11802"/>
                </a:moveTo>
                <a:lnTo>
                  <a:pt x="263266" y="0"/>
                </a:lnTo>
              </a:path>
            </a:pathLst>
          </a:custGeom>
          <a:noFill/>
          <a:ln w="17145">
            <a:solidFill>
              <a:srgbClr val="0A9A62">
                <a:alpha val="90000"/>
              </a:srgbClr>
            </a:solidFill>
            <a:prstDash val="solid"/>
          </a:ln>
        </p:spPr>
      </p:sp>
      <p:sp>
        <p:nvSpPr>
          <p:cNvPr id="82" name="svg-line-78">
            <a:extLst>
              <a:ext uri="{FF2B5EF4-FFF2-40B4-BE49-F238E27FC236}">
                <a16:creationId xmlns:a16="http://schemas.microsoft.com/office/drawing/2014/main" id="{BCE87AA8-C5A8-45C4-82A5-8F315259C839}"/>
              </a:ext>
            </a:extLst>
          </p:cNvPr>
          <p:cNvSpPr>
            <a:spLocks noGrp="1"/>
          </p:cNvSpPr>
          <p:nvPr/>
        </p:nvSpPr>
        <p:spPr>
          <a:xfrm>
            <a:off x="16339661" y="5257038"/>
            <a:ext cx="5429" cy="144304"/>
          </a:xfrm>
          <a:custGeom>
            <a:avLst/>
            <a:gdLst/>
            <a:ahLst/>
            <a:cxnLst/>
            <a:rect l="0" t="0" r="0" b="0"/>
            <a:pathLst>
              <a:path w="5447" h="144343">
                <a:moveTo>
                  <a:pt x="5447" y="0"/>
                </a:moveTo>
                <a:lnTo>
                  <a:pt x="0" y="144343"/>
                </a:lnTo>
              </a:path>
            </a:pathLst>
          </a:custGeom>
          <a:noFill/>
          <a:ln w="17145">
            <a:solidFill>
              <a:srgbClr val="0A9A62">
                <a:alpha val="90000"/>
              </a:srgbClr>
            </a:solidFill>
            <a:prstDash val="solid"/>
          </a:ln>
        </p:spPr>
      </p:sp>
      <p:sp>
        <p:nvSpPr>
          <p:cNvPr id="83" name="svg-point-1">
            <a:extLst>
              <a:ext uri="{FF2B5EF4-FFF2-40B4-BE49-F238E27FC236}">
                <a16:creationId xmlns:a16="http://schemas.microsoft.com/office/drawing/2014/main" id="{E7D35431-5234-4A95-97E4-1ED007C7AFA1}"/>
              </a:ext>
            </a:extLst>
          </p:cNvPr>
          <p:cNvSpPr>
            <a:spLocks noGrp="1"/>
          </p:cNvSpPr>
          <p:nvPr/>
        </p:nvSpPr>
        <p:spPr>
          <a:xfrm>
            <a:off x="1711357" y="655796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4" name="svg-point-2">
            <a:extLst>
              <a:ext uri="{FF2B5EF4-FFF2-40B4-BE49-F238E27FC236}">
                <a16:creationId xmlns:a16="http://schemas.microsoft.com/office/drawing/2014/main" id="{28AAE803-9F2A-4F30-854D-E8574A28E32B}"/>
              </a:ext>
            </a:extLst>
          </p:cNvPr>
          <p:cNvSpPr>
            <a:spLocks noGrp="1"/>
          </p:cNvSpPr>
          <p:nvPr/>
        </p:nvSpPr>
        <p:spPr>
          <a:xfrm>
            <a:off x="1711357" y="634279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5" name="svg-point-3">
            <a:extLst>
              <a:ext uri="{FF2B5EF4-FFF2-40B4-BE49-F238E27FC236}">
                <a16:creationId xmlns:a16="http://schemas.microsoft.com/office/drawing/2014/main" id="{78274F51-C96B-4270-AA4A-AD33C712C9A0}"/>
              </a:ext>
            </a:extLst>
          </p:cNvPr>
          <p:cNvSpPr>
            <a:spLocks noGrp="1"/>
          </p:cNvSpPr>
          <p:nvPr/>
        </p:nvSpPr>
        <p:spPr>
          <a:xfrm>
            <a:off x="1720501" y="603770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6" name="svg-point-4">
            <a:extLst>
              <a:ext uri="{FF2B5EF4-FFF2-40B4-BE49-F238E27FC236}">
                <a16:creationId xmlns:a16="http://schemas.microsoft.com/office/drawing/2014/main" id="{3B6CEEED-24E0-46C0-82D4-4B1ABD2C6D4F}"/>
              </a:ext>
            </a:extLst>
          </p:cNvPr>
          <p:cNvSpPr>
            <a:spLocks noGrp="1"/>
          </p:cNvSpPr>
          <p:nvPr/>
        </p:nvSpPr>
        <p:spPr>
          <a:xfrm>
            <a:off x="1758601" y="586435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7" name="svg-point-5">
            <a:extLst>
              <a:ext uri="{FF2B5EF4-FFF2-40B4-BE49-F238E27FC236}">
                <a16:creationId xmlns:a16="http://schemas.microsoft.com/office/drawing/2014/main" id="{E2ED7443-11F8-42D8-AC79-7DEEA22CCA2A}"/>
              </a:ext>
            </a:extLst>
          </p:cNvPr>
          <p:cNvSpPr>
            <a:spLocks noGrp="1"/>
          </p:cNvSpPr>
          <p:nvPr/>
        </p:nvSpPr>
        <p:spPr>
          <a:xfrm>
            <a:off x="1816703" y="566194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8" name="svg-point-6">
            <a:extLst>
              <a:ext uri="{FF2B5EF4-FFF2-40B4-BE49-F238E27FC236}">
                <a16:creationId xmlns:a16="http://schemas.microsoft.com/office/drawing/2014/main" id="{7E11C029-4E8B-4628-9A1B-C0331730A73A}"/>
              </a:ext>
            </a:extLst>
          </p:cNvPr>
          <p:cNvSpPr>
            <a:spLocks noGrp="1"/>
          </p:cNvSpPr>
          <p:nvPr/>
        </p:nvSpPr>
        <p:spPr>
          <a:xfrm>
            <a:off x="1899285" y="529875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9" name="svg-point-7">
            <a:extLst>
              <a:ext uri="{FF2B5EF4-FFF2-40B4-BE49-F238E27FC236}">
                <a16:creationId xmlns:a16="http://schemas.microsoft.com/office/drawing/2014/main" id="{5463F7C0-E2DC-4952-ADE6-6F2CB1B7AF6E}"/>
              </a:ext>
            </a:extLst>
          </p:cNvPr>
          <p:cNvSpPr>
            <a:spLocks noGrp="1"/>
          </p:cNvSpPr>
          <p:nvPr/>
        </p:nvSpPr>
        <p:spPr>
          <a:xfrm>
            <a:off x="1953768" y="497919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0" name="svg-point-8">
            <a:extLst>
              <a:ext uri="{FF2B5EF4-FFF2-40B4-BE49-F238E27FC236}">
                <a16:creationId xmlns:a16="http://schemas.microsoft.com/office/drawing/2014/main" id="{EA102ECE-9BE6-4A6F-8FA5-91571207FBD7}"/>
              </a:ext>
            </a:extLst>
          </p:cNvPr>
          <p:cNvSpPr>
            <a:spLocks noGrp="1"/>
          </p:cNvSpPr>
          <p:nvPr/>
        </p:nvSpPr>
        <p:spPr>
          <a:xfrm>
            <a:off x="1994630" y="466963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1" name="svg-point-9">
            <a:extLst>
              <a:ext uri="{FF2B5EF4-FFF2-40B4-BE49-F238E27FC236}">
                <a16:creationId xmlns:a16="http://schemas.microsoft.com/office/drawing/2014/main" id="{3EF74D53-8E48-4869-840A-7B92E7D4B962}"/>
              </a:ext>
            </a:extLst>
          </p:cNvPr>
          <p:cNvSpPr>
            <a:spLocks noGrp="1"/>
          </p:cNvSpPr>
          <p:nvPr/>
        </p:nvSpPr>
        <p:spPr>
          <a:xfrm>
            <a:off x="1740408" y="663597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2" name="svg-point-10">
            <a:extLst>
              <a:ext uri="{FF2B5EF4-FFF2-40B4-BE49-F238E27FC236}">
                <a16:creationId xmlns:a16="http://schemas.microsoft.com/office/drawing/2014/main" id="{32836373-3FC1-4B0A-9D14-256E909DA6C6}"/>
              </a:ext>
            </a:extLst>
          </p:cNvPr>
          <p:cNvSpPr>
            <a:spLocks noGrp="1"/>
          </p:cNvSpPr>
          <p:nvPr/>
        </p:nvSpPr>
        <p:spPr>
          <a:xfrm>
            <a:off x="1756791" y="654253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3" name="svg-point-11">
            <a:extLst>
              <a:ext uri="{FF2B5EF4-FFF2-40B4-BE49-F238E27FC236}">
                <a16:creationId xmlns:a16="http://schemas.microsoft.com/office/drawing/2014/main" id="{2B4CF6D6-ACA2-45CC-BB29-EFAB81292364}"/>
              </a:ext>
            </a:extLst>
          </p:cNvPr>
          <p:cNvSpPr>
            <a:spLocks noGrp="1"/>
          </p:cNvSpPr>
          <p:nvPr/>
        </p:nvSpPr>
        <p:spPr>
          <a:xfrm>
            <a:off x="1774031" y="639537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4" name="svg-point-12">
            <a:extLst>
              <a:ext uri="{FF2B5EF4-FFF2-40B4-BE49-F238E27FC236}">
                <a16:creationId xmlns:a16="http://schemas.microsoft.com/office/drawing/2014/main" id="{473C200A-5DD6-49D3-B11F-04ADF2C12E48}"/>
              </a:ext>
            </a:extLst>
          </p:cNvPr>
          <p:cNvSpPr>
            <a:spLocks noGrp="1"/>
          </p:cNvSpPr>
          <p:nvPr/>
        </p:nvSpPr>
        <p:spPr>
          <a:xfrm>
            <a:off x="1823942" y="623839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5" name="svg-point-13">
            <a:extLst>
              <a:ext uri="{FF2B5EF4-FFF2-40B4-BE49-F238E27FC236}">
                <a16:creationId xmlns:a16="http://schemas.microsoft.com/office/drawing/2014/main" id="{45F39179-0F21-4819-BEB2-8616CDD2CA34}"/>
              </a:ext>
            </a:extLst>
          </p:cNvPr>
          <p:cNvSpPr>
            <a:spLocks noGrp="1"/>
          </p:cNvSpPr>
          <p:nvPr/>
        </p:nvSpPr>
        <p:spPr>
          <a:xfrm>
            <a:off x="1914716" y="605771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6" name="svg-point-14">
            <a:extLst>
              <a:ext uri="{FF2B5EF4-FFF2-40B4-BE49-F238E27FC236}">
                <a16:creationId xmlns:a16="http://schemas.microsoft.com/office/drawing/2014/main" id="{35845A92-2370-400D-9B6F-F5FC6F802E29}"/>
              </a:ext>
            </a:extLst>
          </p:cNvPr>
          <p:cNvSpPr>
            <a:spLocks noGrp="1"/>
          </p:cNvSpPr>
          <p:nvPr/>
        </p:nvSpPr>
        <p:spPr>
          <a:xfrm>
            <a:off x="2025491" y="575995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7" name="svg-point-15">
            <a:extLst>
              <a:ext uri="{FF2B5EF4-FFF2-40B4-BE49-F238E27FC236}">
                <a16:creationId xmlns:a16="http://schemas.microsoft.com/office/drawing/2014/main" id="{38AE44EA-6BAA-4F8B-8229-6B09FEAE2649}"/>
              </a:ext>
            </a:extLst>
          </p:cNvPr>
          <p:cNvSpPr>
            <a:spLocks noGrp="1"/>
          </p:cNvSpPr>
          <p:nvPr/>
        </p:nvSpPr>
        <p:spPr>
          <a:xfrm>
            <a:off x="2095405" y="552392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8" name="svg-point-16">
            <a:extLst>
              <a:ext uri="{FF2B5EF4-FFF2-40B4-BE49-F238E27FC236}">
                <a16:creationId xmlns:a16="http://schemas.microsoft.com/office/drawing/2014/main" id="{50A10DC7-BEE5-4819-B858-0C06CF7DCA98}"/>
              </a:ext>
            </a:extLst>
          </p:cNvPr>
          <p:cNvSpPr>
            <a:spLocks noGrp="1"/>
          </p:cNvSpPr>
          <p:nvPr/>
        </p:nvSpPr>
        <p:spPr>
          <a:xfrm>
            <a:off x="2136267" y="533419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9" name="svg-point-17">
            <a:extLst>
              <a:ext uri="{FF2B5EF4-FFF2-40B4-BE49-F238E27FC236}">
                <a16:creationId xmlns:a16="http://schemas.microsoft.com/office/drawing/2014/main" id="{A0F28CC1-C6F5-47C5-9BE8-3BB9454CF8D9}"/>
              </a:ext>
            </a:extLst>
          </p:cNvPr>
          <p:cNvSpPr>
            <a:spLocks noGrp="1"/>
          </p:cNvSpPr>
          <p:nvPr/>
        </p:nvSpPr>
        <p:spPr>
          <a:xfrm>
            <a:off x="2195227" y="504091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0" name="svg-point-18">
            <a:extLst>
              <a:ext uri="{FF2B5EF4-FFF2-40B4-BE49-F238E27FC236}">
                <a16:creationId xmlns:a16="http://schemas.microsoft.com/office/drawing/2014/main" id="{FFAFEEC4-4250-429B-B0C3-6DDE1A4A3025}"/>
              </a:ext>
            </a:extLst>
          </p:cNvPr>
          <p:cNvSpPr>
            <a:spLocks noGrp="1"/>
          </p:cNvSpPr>
          <p:nvPr/>
        </p:nvSpPr>
        <p:spPr>
          <a:xfrm>
            <a:off x="2298764" y="481403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1" name="svg-point-19">
            <a:extLst>
              <a:ext uri="{FF2B5EF4-FFF2-40B4-BE49-F238E27FC236}">
                <a16:creationId xmlns:a16="http://schemas.microsoft.com/office/drawing/2014/main" id="{15633CDC-0801-4F8E-8DBC-99614CEB9C30}"/>
              </a:ext>
            </a:extLst>
          </p:cNvPr>
          <p:cNvSpPr>
            <a:spLocks noGrp="1"/>
          </p:cNvSpPr>
          <p:nvPr/>
        </p:nvSpPr>
        <p:spPr>
          <a:xfrm>
            <a:off x="2704529" y="474954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2" name="svg-point-20">
            <a:extLst>
              <a:ext uri="{FF2B5EF4-FFF2-40B4-BE49-F238E27FC236}">
                <a16:creationId xmlns:a16="http://schemas.microsoft.com/office/drawing/2014/main" id="{6BA732FA-0F8B-4436-828D-E22B9BE0B139}"/>
              </a:ext>
            </a:extLst>
          </p:cNvPr>
          <p:cNvSpPr>
            <a:spLocks noGrp="1"/>
          </p:cNvSpPr>
          <p:nvPr/>
        </p:nvSpPr>
        <p:spPr>
          <a:xfrm>
            <a:off x="2847023" y="482765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3" name="svg-point-21">
            <a:extLst>
              <a:ext uri="{FF2B5EF4-FFF2-40B4-BE49-F238E27FC236}">
                <a16:creationId xmlns:a16="http://schemas.microsoft.com/office/drawing/2014/main" id="{E3C75DC5-9DC6-4BCC-B493-1299B6A2C84F}"/>
              </a:ext>
            </a:extLst>
          </p:cNvPr>
          <p:cNvSpPr>
            <a:spLocks noGrp="1"/>
          </p:cNvSpPr>
          <p:nvPr/>
        </p:nvSpPr>
        <p:spPr>
          <a:xfrm>
            <a:off x="3709511" y="475497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4" name="svg-point-22">
            <a:extLst>
              <a:ext uri="{FF2B5EF4-FFF2-40B4-BE49-F238E27FC236}">
                <a16:creationId xmlns:a16="http://schemas.microsoft.com/office/drawing/2014/main" id="{0AF52DFB-6482-4CCD-BE97-8F8AD71E25F5}"/>
              </a:ext>
            </a:extLst>
          </p:cNvPr>
          <p:cNvSpPr>
            <a:spLocks noGrp="1"/>
          </p:cNvSpPr>
          <p:nvPr/>
        </p:nvSpPr>
        <p:spPr>
          <a:xfrm>
            <a:off x="4154329" y="468420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5" name="svg-point-23">
            <a:extLst>
              <a:ext uri="{FF2B5EF4-FFF2-40B4-BE49-F238E27FC236}">
                <a16:creationId xmlns:a16="http://schemas.microsoft.com/office/drawing/2014/main" id="{D6A24F2E-CD76-49A7-841A-FA36FDB22E4B}"/>
              </a:ext>
            </a:extLst>
          </p:cNvPr>
          <p:cNvSpPr>
            <a:spLocks noGrp="1"/>
          </p:cNvSpPr>
          <p:nvPr/>
        </p:nvSpPr>
        <p:spPr>
          <a:xfrm>
            <a:off x="7460933" y="641813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6" name="svg-point-24">
            <a:extLst>
              <a:ext uri="{FF2B5EF4-FFF2-40B4-BE49-F238E27FC236}">
                <a16:creationId xmlns:a16="http://schemas.microsoft.com/office/drawing/2014/main" id="{B523B1B7-DB45-47BA-ADD2-76DF5CD038C4}"/>
              </a:ext>
            </a:extLst>
          </p:cNvPr>
          <p:cNvSpPr>
            <a:spLocks noGrp="1"/>
          </p:cNvSpPr>
          <p:nvPr/>
        </p:nvSpPr>
        <p:spPr>
          <a:xfrm>
            <a:off x="7460933" y="606409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7" name="svg-point-25">
            <a:extLst>
              <a:ext uri="{FF2B5EF4-FFF2-40B4-BE49-F238E27FC236}">
                <a16:creationId xmlns:a16="http://schemas.microsoft.com/office/drawing/2014/main" id="{9B9BB202-DF24-48F5-91BF-68CE36EB3FF8}"/>
              </a:ext>
            </a:extLst>
          </p:cNvPr>
          <p:cNvSpPr>
            <a:spLocks noGrp="1"/>
          </p:cNvSpPr>
          <p:nvPr/>
        </p:nvSpPr>
        <p:spPr>
          <a:xfrm>
            <a:off x="7461790" y="567737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8" name="svg-point-26">
            <a:extLst>
              <a:ext uri="{FF2B5EF4-FFF2-40B4-BE49-F238E27FC236}">
                <a16:creationId xmlns:a16="http://schemas.microsoft.com/office/drawing/2014/main" id="{389A48E3-941E-488C-9BFB-9ABE1D19A8AE}"/>
              </a:ext>
            </a:extLst>
          </p:cNvPr>
          <p:cNvSpPr>
            <a:spLocks noGrp="1"/>
          </p:cNvSpPr>
          <p:nvPr/>
        </p:nvSpPr>
        <p:spPr>
          <a:xfrm>
            <a:off x="7641527" y="559288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9" name="svg-point-27">
            <a:extLst>
              <a:ext uri="{FF2B5EF4-FFF2-40B4-BE49-F238E27FC236}">
                <a16:creationId xmlns:a16="http://schemas.microsoft.com/office/drawing/2014/main" id="{4BF3B44F-5370-463C-8987-4EF862D1F1FF}"/>
              </a:ext>
            </a:extLst>
          </p:cNvPr>
          <p:cNvSpPr>
            <a:spLocks noGrp="1"/>
          </p:cNvSpPr>
          <p:nvPr/>
        </p:nvSpPr>
        <p:spPr>
          <a:xfrm>
            <a:off x="7780496" y="519893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10" name="svg-point-28">
            <a:extLst>
              <a:ext uri="{FF2B5EF4-FFF2-40B4-BE49-F238E27FC236}">
                <a16:creationId xmlns:a16="http://schemas.microsoft.com/office/drawing/2014/main" id="{94931E6F-7C2C-4348-8F2E-124551913F92}"/>
              </a:ext>
            </a:extLst>
          </p:cNvPr>
          <p:cNvSpPr>
            <a:spLocks noGrp="1"/>
          </p:cNvSpPr>
          <p:nvPr/>
        </p:nvSpPr>
        <p:spPr>
          <a:xfrm>
            <a:off x="7948422" y="450713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11" name="svg-point-29">
            <a:extLst>
              <a:ext uri="{FF2B5EF4-FFF2-40B4-BE49-F238E27FC236}">
                <a16:creationId xmlns:a16="http://schemas.microsoft.com/office/drawing/2014/main" id="{1F9E9EB2-0227-4BCB-BCF8-6E69AE5F1372}"/>
              </a:ext>
            </a:extLst>
          </p:cNvPr>
          <p:cNvSpPr>
            <a:spLocks noGrp="1"/>
          </p:cNvSpPr>
          <p:nvPr/>
        </p:nvSpPr>
        <p:spPr>
          <a:xfrm>
            <a:off x="8248936" y="450713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12" name="svg-point-30">
            <a:extLst>
              <a:ext uri="{FF2B5EF4-FFF2-40B4-BE49-F238E27FC236}">
                <a16:creationId xmlns:a16="http://schemas.microsoft.com/office/drawing/2014/main" id="{6CC381F8-27B5-4B08-A7B8-F9E42D753AB5}"/>
              </a:ext>
            </a:extLst>
          </p:cNvPr>
          <p:cNvSpPr>
            <a:spLocks noGrp="1"/>
          </p:cNvSpPr>
          <p:nvPr/>
        </p:nvSpPr>
        <p:spPr>
          <a:xfrm>
            <a:off x="8556689" y="450713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13" name="svg-point-31">
            <a:extLst>
              <a:ext uri="{FF2B5EF4-FFF2-40B4-BE49-F238E27FC236}">
                <a16:creationId xmlns:a16="http://schemas.microsoft.com/office/drawing/2014/main" id="{FDB34E6B-286E-4787-B18D-281D771C956E}"/>
              </a:ext>
            </a:extLst>
          </p:cNvPr>
          <p:cNvSpPr>
            <a:spLocks noGrp="1"/>
          </p:cNvSpPr>
          <p:nvPr/>
        </p:nvSpPr>
        <p:spPr>
          <a:xfrm>
            <a:off x="7556278" y="657158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4" name="svg-point-32">
            <a:extLst>
              <a:ext uri="{FF2B5EF4-FFF2-40B4-BE49-F238E27FC236}">
                <a16:creationId xmlns:a16="http://schemas.microsoft.com/office/drawing/2014/main" id="{E17B7D68-4FAE-49DC-84DE-876F42AEE675}"/>
              </a:ext>
            </a:extLst>
          </p:cNvPr>
          <p:cNvSpPr>
            <a:spLocks noGrp="1"/>
          </p:cNvSpPr>
          <p:nvPr/>
        </p:nvSpPr>
        <p:spPr>
          <a:xfrm>
            <a:off x="7581614" y="641356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5" name="svg-point-33">
            <a:extLst>
              <a:ext uri="{FF2B5EF4-FFF2-40B4-BE49-F238E27FC236}">
                <a16:creationId xmlns:a16="http://schemas.microsoft.com/office/drawing/2014/main" id="{2E0C33B3-EBCF-4962-AA63-BD38945662C3}"/>
              </a:ext>
            </a:extLst>
          </p:cNvPr>
          <p:cNvSpPr>
            <a:spLocks noGrp="1"/>
          </p:cNvSpPr>
          <p:nvPr/>
        </p:nvSpPr>
        <p:spPr>
          <a:xfrm>
            <a:off x="7640669" y="621477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6" name="svg-point-34">
            <a:extLst>
              <a:ext uri="{FF2B5EF4-FFF2-40B4-BE49-F238E27FC236}">
                <a16:creationId xmlns:a16="http://schemas.microsoft.com/office/drawing/2014/main" id="{0372EE64-B89C-40F7-B8E3-3B24C84AB211}"/>
              </a:ext>
            </a:extLst>
          </p:cNvPr>
          <p:cNvSpPr>
            <a:spLocks noGrp="1"/>
          </p:cNvSpPr>
          <p:nvPr/>
        </p:nvSpPr>
        <p:spPr>
          <a:xfrm>
            <a:off x="7759541" y="591969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7" name="svg-point-35">
            <a:extLst>
              <a:ext uri="{FF2B5EF4-FFF2-40B4-BE49-F238E27FC236}">
                <a16:creationId xmlns:a16="http://schemas.microsoft.com/office/drawing/2014/main" id="{E8F55183-4D9D-44BA-A60F-FFF407D06E9F}"/>
              </a:ext>
            </a:extLst>
          </p:cNvPr>
          <p:cNvSpPr>
            <a:spLocks noGrp="1"/>
          </p:cNvSpPr>
          <p:nvPr/>
        </p:nvSpPr>
        <p:spPr>
          <a:xfrm>
            <a:off x="7880318" y="549392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8" name="svg-point-36">
            <a:extLst>
              <a:ext uri="{FF2B5EF4-FFF2-40B4-BE49-F238E27FC236}">
                <a16:creationId xmlns:a16="http://schemas.microsoft.com/office/drawing/2014/main" id="{BF0967A1-5CC6-4ACA-8203-AEE67DA010B3}"/>
              </a:ext>
            </a:extLst>
          </p:cNvPr>
          <p:cNvSpPr>
            <a:spLocks noGrp="1"/>
          </p:cNvSpPr>
          <p:nvPr/>
        </p:nvSpPr>
        <p:spPr>
          <a:xfrm>
            <a:off x="8027384" y="491471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9" name="svg-point-37">
            <a:extLst>
              <a:ext uri="{FF2B5EF4-FFF2-40B4-BE49-F238E27FC236}">
                <a16:creationId xmlns:a16="http://schemas.microsoft.com/office/drawing/2014/main" id="{84D3E381-B6DF-430A-B36E-05C1E4355918}"/>
              </a:ext>
            </a:extLst>
          </p:cNvPr>
          <p:cNvSpPr>
            <a:spLocks noGrp="1"/>
          </p:cNvSpPr>
          <p:nvPr/>
        </p:nvSpPr>
        <p:spPr>
          <a:xfrm>
            <a:off x="8432292" y="481669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20" name="svg-point-38">
            <a:extLst>
              <a:ext uri="{FF2B5EF4-FFF2-40B4-BE49-F238E27FC236}">
                <a16:creationId xmlns:a16="http://schemas.microsoft.com/office/drawing/2014/main" id="{7A478AA3-7C91-4235-878A-DF595EFF17B5}"/>
              </a:ext>
            </a:extLst>
          </p:cNvPr>
          <p:cNvSpPr>
            <a:spLocks noGrp="1"/>
          </p:cNvSpPr>
          <p:nvPr/>
        </p:nvSpPr>
        <p:spPr>
          <a:xfrm>
            <a:off x="8632889" y="480764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21" name="svg-point-39">
            <a:extLst>
              <a:ext uri="{FF2B5EF4-FFF2-40B4-BE49-F238E27FC236}">
                <a16:creationId xmlns:a16="http://schemas.microsoft.com/office/drawing/2014/main" id="{AB73B39C-A211-49E9-9ED0-ED3752D54500}"/>
              </a:ext>
            </a:extLst>
          </p:cNvPr>
          <p:cNvSpPr>
            <a:spLocks noGrp="1"/>
          </p:cNvSpPr>
          <p:nvPr/>
        </p:nvSpPr>
        <p:spPr>
          <a:xfrm>
            <a:off x="9067705" y="469058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22" name="svg-point-40">
            <a:extLst>
              <a:ext uri="{FF2B5EF4-FFF2-40B4-BE49-F238E27FC236}">
                <a16:creationId xmlns:a16="http://schemas.microsoft.com/office/drawing/2014/main" id="{D64F0595-E61F-4800-95CD-5E6554EBACF0}"/>
              </a:ext>
            </a:extLst>
          </p:cNvPr>
          <p:cNvSpPr>
            <a:spLocks noGrp="1"/>
          </p:cNvSpPr>
          <p:nvPr/>
        </p:nvSpPr>
        <p:spPr>
          <a:xfrm>
            <a:off x="10020014" y="478497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23" name="svg-point-41">
            <a:extLst>
              <a:ext uri="{FF2B5EF4-FFF2-40B4-BE49-F238E27FC236}">
                <a16:creationId xmlns:a16="http://schemas.microsoft.com/office/drawing/2014/main" id="{DC3FF8E5-EB04-424E-9E70-BE7212766DB2}"/>
              </a:ext>
            </a:extLst>
          </p:cNvPr>
          <p:cNvSpPr>
            <a:spLocks noGrp="1"/>
          </p:cNvSpPr>
          <p:nvPr/>
        </p:nvSpPr>
        <p:spPr>
          <a:xfrm>
            <a:off x="13375672" y="629012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24" name="svg-point-42">
            <a:extLst>
              <a:ext uri="{FF2B5EF4-FFF2-40B4-BE49-F238E27FC236}">
                <a16:creationId xmlns:a16="http://schemas.microsoft.com/office/drawing/2014/main" id="{13927C30-9BDB-4142-AEBA-392DAB989C2D}"/>
              </a:ext>
            </a:extLst>
          </p:cNvPr>
          <p:cNvSpPr>
            <a:spLocks noGrp="1"/>
          </p:cNvSpPr>
          <p:nvPr/>
        </p:nvSpPr>
        <p:spPr>
          <a:xfrm>
            <a:off x="13375672" y="580720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25" name="svg-point-43">
            <a:extLst>
              <a:ext uri="{FF2B5EF4-FFF2-40B4-BE49-F238E27FC236}">
                <a16:creationId xmlns:a16="http://schemas.microsoft.com/office/drawing/2014/main" id="{83456C9C-6BCE-4B8E-A03C-0E951AC2671D}"/>
              </a:ext>
            </a:extLst>
          </p:cNvPr>
          <p:cNvSpPr>
            <a:spLocks noGrp="1"/>
          </p:cNvSpPr>
          <p:nvPr/>
        </p:nvSpPr>
        <p:spPr>
          <a:xfrm>
            <a:off x="13482828" y="528694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26" name="svg-point-44">
            <a:extLst>
              <a:ext uri="{FF2B5EF4-FFF2-40B4-BE49-F238E27FC236}">
                <a16:creationId xmlns:a16="http://schemas.microsoft.com/office/drawing/2014/main" id="{7C52F165-00AF-4861-BC68-77B641C547C8}"/>
              </a:ext>
            </a:extLst>
          </p:cNvPr>
          <p:cNvSpPr>
            <a:spLocks noGrp="1"/>
          </p:cNvSpPr>
          <p:nvPr/>
        </p:nvSpPr>
        <p:spPr>
          <a:xfrm>
            <a:off x="13779627" y="500376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27" name="svg-point-45">
            <a:extLst>
              <a:ext uri="{FF2B5EF4-FFF2-40B4-BE49-F238E27FC236}">
                <a16:creationId xmlns:a16="http://schemas.microsoft.com/office/drawing/2014/main" id="{F69E292E-C5EF-494F-B68F-6917D4109BC3}"/>
              </a:ext>
            </a:extLst>
          </p:cNvPr>
          <p:cNvSpPr>
            <a:spLocks noGrp="1"/>
          </p:cNvSpPr>
          <p:nvPr/>
        </p:nvSpPr>
        <p:spPr>
          <a:xfrm>
            <a:off x="14535817" y="499557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28" name="svg-point-46">
            <a:extLst>
              <a:ext uri="{FF2B5EF4-FFF2-40B4-BE49-F238E27FC236}">
                <a16:creationId xmlns:a16="http://schemas.microsoft.com/office/drawing/2014/main" id="{B5B4544D-56C7-4685-85FF-B40209778D53}"/>
              </a:ext>
            </a:extLst>
          </p:cNvPr>
          <p:cNvSpPr>
            <a:spLocks noGrp="1"/>
          </p:cNvSpPr>
          <p:nvPr/>
        </p:nvSpPr>
        <p:spPr>
          <a:xfrm>
            <a:off x="16202597" y="500376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29" name="svg-point-47">
            <a:extLst>
              <a:ext uri="{FF2B5EF4-FFF2-40B4-BE49-F238E27FC236}">
                <a16:creationId xmlns:a16="http://schemas.microsoft.com/office/drawing/2014/main" id="{56011CFF-5800-4575-9726-9992173705E9}"/>
              </a:ext>
            </a:extLst>
          </p:cNvPr>
          <p:cNvSpPr>
            <a:spLocks noGrp="1"/>
          </p:cNvSpPr>
          <p:nvPr/>
        </p:nvSpPr>
        <p:spPr>
          <a:xfrm>
            <a:off x="13500068" y="641632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30" name="svg-point-48">
            <a:extLst>
              <a:ext uri="{FF2B5EF4-FFF2-40B4-BE49-F238E27FC236}">
                <a16:creationId xmlns:a16="http://schemas.microsoft.com/office/drawing/2014/main" id="{A589CC12-DC6F-4E1A-AB6C-FBB7103FD85D}"/>
              </a:ext>
            </a:extLst>
          </p:cNvPr>
          <p:cNvSpPr>
            <a:spLocks noGrp="1"/>
          </p:cNvSpPr>
          <p:nvPr/>
        </p:nvSpPr>
        <p:spPr>
          <a:xfrm>
            <a:off x="13664375" y="617477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31" name="svg-point-49">
            <a:extLst>
              <a:ext uri="{FF2B5EF4-FFF2-40B4-BE49-F238E27FC236}">
                <a16:creationId xmlns:a16="http://schemas.microsoft.com/office/drawing/2014/main" id="{BC04A74F-0188-444A-B01C-605ED79DCE0B}"/>
              </a:ext>
            </a:extLst>
          </p:cNvPr>
          <p:cNvSpPr>
            <a:spLocks noGrp="1"/>
          </p:cNvSpPr>
          <p:nvPr/>
        </p:nvSpPr>
        <p:spPr>
          <a:xfrm>
            <a:off x="13722477" y="583072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32" name="svg-point-50">
            <a:extLst>
              <a:ext uri="{FF2B5EF4-FFF2-40B4-BE49-F238E27FC236}">
                <a16:creationId xmlns:a16="http://schemas.microsoft.com/office/drawing/2014/main" id="{A8EAA68D-2E9C-4180-8450-A8E576F93DEA}"/>
              </a:ext>
            </a:extLst>
          </p:cNvPr>
          <p:cNvSpPr>
            <a:spLocks noGrp="1"/>
          </p:cNvSpPr>
          <p:nvPr/>
        </p:nvSpPr>
        <p:spPr>
          <a:xfrm>
            <a:off x="13994797" y="543944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33" name="svg-point-51">
            <a:extLst>
              <a:ext uri="{FF2B5EF4-FFF2-40B4-BE49-F238E27FC236}">
                <a16:creationId xmlns:a16="http://schemas.microsoft.com/office/drawing/2014/main" id="{3968FD36-0C0C-40F7-B0F5-080FA5BA6EF5}"/>
              </a:ext>
            </a:extLst>
          </p:cNvPr>
          <p:cNvSpPr>
            <a:spLocks noGrp="1"/>
          </p:cNvSpPr>
          <p:nvPr/>
        </p:nvSpPr>
        <p:spPr>
          <a:xfrm>
            <a:off x="14578489" y="523341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34" name="svg-point-52">
            <a:extLst>
              <a:ext uri="{FF2B5EF4-FFF2-40B4-BE49-F238E27FC236}">
                <a16:creationId xmlns:a16="http://schemas.microsoft.com/office/drawing/2014/main" id="{B047B4EC-D274-4003-BF46-A8C3E280B5FA}"/>
              </a:ext>
            </a:extLst>
          </p:cNvPr>
          <p:cNvSpPr>
            <a:spLocks noGrp="1"/>
          </p:cNvSpPr>
          <p:nvPr/>
        </p:nvSpPr>
        <p:spPr>
          <a:xfrm>
            <a:off x="16301561" y="515264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35" name="pseudo-53">
            <a:extLst>
              <a:ext uri="{FF2B5EF4-FFF2-40B4-BE49-F238E27FC236}">
                <a16:creationId xmlns:a16="http://schemas.microsoft.com/office/drawing/2014/main" id="{E752BCE2-FBE1-4635-95B7-0AE769B7D066}"/>
              </a:ext>
            </a:extLst>
          </p:cNvPr>
          <p:cNvSpPr>
            <a:spLocks noGrp="1"/>
          </p:cNvSpPr>
          <p:nvPr/>
        </p:nvSpPr>
        <p:spPr>
          <a:xfrm>
            <a:off x="7323106" y="2867025"/>
            <a:ext cx="219075" cy="47625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36" name="pseudo-54">
            <a:extLst>
              <a:ext uri="{FF2B5EF4-FFF2-40B4-BE49-F238E27FC236}">
                <a16:creationId xmlns:a16="http://schemas.microsoft.com/office/drawing/2014/main" id="{6A2F8C32-F642-4D02-8F00-5F66FC2FBA37}"/>
              </a:ext>
            </a:extLst>
          </p:cNvPr>
          <p:cNvSpPr>
            <a:spLocks noGrp="1"/>
          </p:cNvSpPr>
          <p:nvPr/>
        </p:nvSpPr>
        <p:spPr>
          <a:xfrm>
            <a:off x="13847159" y="2867025"/>
            <a:ext cx="219075" cy="47625"/>
          </a:xfrm>
          <a:prstGeom prst="roundRect">
            <a:avLst>
              <a:gd name="adj" fmla="val 50000"/>
            </a:avLst>
          </a:prstGeom>
          <a:solidFill>
            <a:srgbClr val="1785C1"/>
          </a:solidFill>
          <a:ln w="0">
            <a:noFill/>
            <a:prstDash val="solid"/>
          </a:ln>
        </p:spPr>
      </p:sp>
      <p:sp>
        <p:nvSpPr>
          <p:cNvPr id="137" name="border-56">
            <a:extLst>
              <a:ext uri="{FF2B5EF4-FFF2-40B4-BE49-F238E27FC236}">
                <a16:creationId xmlns:a16="http://schemas.microsoft.com/office/drawing/2014/main" id="{0D8014D7-EAEE-4EDE-93A2-AD004A0D5CF1}"/>
              </a:ext>
            </a:extLst>
          </p:cNvPr>
          <p:cNvSpPr>
            <a:spLocks noGrp="1"/>
          </p:cNvSpPr>
          <p:nvPr/>
        </p:nvSpPr>
        <p:spPr>
          <a:xfrm>
            <a:off x="7715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38" name="html-shape-57">
            <a:extLst>
              <a:ext uri="{FF2B5EF4-FFF2-40B4-BE49-F238E27FC236}">
                <a16:creationId xmlns:a16="http://schemas.microsoft.com/office/drawing/2014/main" id="{45AAC09C-E872-40A6-A7F3-DC7FCA26383C}"/>
              </a:ext>
            </a:extLst>
          </p:cNvPr>
          <p:cNvSpPr>
            <a:spLocks noGrp="1"/>
          </p:cNvSpPr>
          <p:nvPr/>
        </p:nvSpPr>
        <p:spPr>
          <a:xfrm>
            <a:off x="1038225" y="75438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9" name="border-58">
            <a:extLst>
              <a:ext uri="{FF2B5EF4-FFF2-40B4-BE49-F238E27FC236}">
                <a16:creationId xmlns:a16="http://schemas.microsoft.com/office/drawing/2014/main" id="{7F2124F6-5793-4F6E-838F-60B435D85CB1}"/>
              </a:ext>
            </a:extLst>
          </p:cNvPr>
          <p:cNvSpPr>
            <a:spLocks noGrp="1"/>
          </p:cNvSpPr>
          <p:nvPr/>
        </p:nvSpPr>
        <p:spPr>
          <a:xfrm>
            <a:off x="1038225" y="75438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0" name="border-60">
            <a:extLst>
              <a:ext uri="{FF2B5EF4-FFF2-40B4-BE49-F238E27FC236}">
                <a16:creationId xmlns:a16="http://schemas.microsoft.com/office/drawing/2014/main" id="{3A5D0068-EA3A-4AEE-9875-4EC85DDBAE6C}"/>
              </a:ext>
            </a:extLst>
          </p:cNvPr>
          <p:cNvSpPr>
            <a:spLocks noGrp="1"/>
          </p:cNvSpPr>
          <p:nvPr/>
        </p:nvSpPr>
        <p:spPr>
          <a:xfrm>
            <a:off x="64484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1" name="html-shape-61">
            <a:extLst>
              <a:ext uri="{FF2B5EF4-FFF2-40B4-BE49-F238E27FC236}">
                <a16:creationId xmlns:a16="http://schemas.microsoft.com/office/drawing/2014/main" id="{1A199BED-A1FD-4D9B-B411-2A02DD83868E}"/>
              </a:ext>
            </a:extLst>
          </p:cNvPr>
          <p:cNvSpPr>
            <a:spLocks noGrp="1"/>
          </p:cNvSpPr>
          <p:nvPr/>
        </p:nvSpPr>
        <p:spPr>
          <a:xfrm>
            <a:off x="6715125" y="75438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2" name="border-62">
            <a:extLst>
              <a:ext uri="{FF2B5EF4-FFF2-40B4-BE49-F238E27FC236}">
                <a16:creationId xmlns:a16="http://schemas.microsoft.com/office/drawing/2014/main" id="{97D7008D-9309-48DB-B8CF-0F2018C54FDF}"/>
              </a:ext>
            </a:extLst>
          </p:cNvPr>
          <p:cNvSpPr>
            <a:spLocks noGrp="1"/>
          </p:cNvSpPr>
          <p:nvPr/>
        </p:nvSpPr>
        <p:spPr>
          <a:xfrm>
            <a:off x="6715125" y="75438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3" name="border-64">
            <a:extLst>
              <a:ext uri="{FF2B5EF4-FFF2-40B4-BE49-F238E27FC236}">
                <a16:creationId xmlns:a16="http://schemas.microsoft.com/office/drawing/2014/main" id="{99C8CE8B-4E8B-4F9F-BCB6-063335BE584C}"/>
              </a:ext>
            </a:extLst>
          </p:cNvPr>
          <p:cNvSpPr>
            <a:spLocks noGrp="1"/>
          </p:cNvSpPr>
          <p:nvPr/>
        </p:nvSpPr>
        <p:spPr>
          <a:xfrm>
            <a:off x="121253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4" name="html-shape-65">
            <a:extLst>
              <a:ext uri="{FF2B5EF4-FFF2-40B4-BE49-F238E27FC236}">
                <a16:creationId xmlns:a16="http://schemas.microsoft.com/office/drawing/2014/main" id="{30AEDDEB-BF37-41B2-A196-44B584CABD2B}"/>
              </a:ext>
            </a:extLst>
          </p:cNvPr>
          <p:cNvSpPr>
            <a:spLocks noGrp="1"/>
          </p:cNvSpPr>
          <p:nvPr/>
        </p:nvSpPr>
        <p:spPr>
          <a:xfrm>
            <a:off x="12392025" y="75438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5" name="border-66">
            <a:extLst>
              <a:ext uri="{FF2B5EF4-FFF2-40B4-BE49-F238E27FC236}">
                <a16:creationId xmlns:a16="http://schemas.microsoft.com/office/drawing/2014/main" id="{7BE25E12-F66C-4E7B-A9D4-B3C383E01350}"/>
              </a:ext>
            </a:extLst>
          </p:cNvPr>
          <p:cNvSpPr>
            <a:spLocks noGrp="1"/>
          </p:cNvSpPr>
          <p:nvPr/>
        </p:nvSpPr>
        <p:spPr>
          <a:xfrm>
            <a:off x="12392025" y="75438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146" name="图片 145">
            <a:extLst>
              <a:ext uri="{FF2B5EF4-FFF2-40B4-BE49-F238E27FC236}">
                <a16:creationId xmlns:a16="http://schemas.microsoft.com/office/drawing/2014/main" id="{4C7A2B1D-9011-40C9-9E24-E28186427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48FAA471-E5F8-4441-8FCB-87ACA8CF3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48" name="svg-text-1">
            <a:extLst>
              <a:ext uri="{FF2B5EF4-FFF2-40B4-BE49-F238E27FC236}">
                <a16:creationId xmlns:a16="http://schemas.microsoft.com/office/drawing/2014/main" id="{025C714B-1CF2-4876-B662-E95A16C5E6C7}"/>
              </a:ext>
            </a:extLst>
          </p:cNvPr>
          <p:cNvSpPr>
            <a:spLocks noGrp="1"/>
          </p:cNvSpPr>
          <p:nvPr/>
        </p:nvSpPr>
        <p:spPr>
          <a:xfrm>
            <a:off x="1677353" y="3846862"/>
            <a:ext cx="102555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Input TPS</a:t>
            </a:r>
          </a:p>
        </p:txBody>
      </p:sp>
      <p:sp>
        <p:nvSpPr>
          <p:cNvPr id="149" name="svg-text-2">
            <a:extLst>
              <a:ext uri="{FF2B5EF4-FFF2-40B4-BE49-F238E27FC236}">
                <a16:creationId xmlns:a16="http://schemas.microsoft.com/office/drawing/2014/main" id="{C3CE5313-225A-4729-BD46-55F69C1702E9}"/>
              </a:ext>
            </a:extLst>
          </p:cNvPr>
          <p:cNvSpPr>
            <a:spLocks noGrp="1"/>
          </p:cNvSpPr>
          <p:nvPr/>
        </p:nvSpPr>
        <p:spPr>
          <a:xfrm>
            <a:off x="1463040" y="6662071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50" name="svg-text-3">
            <a:extLst>
              <a:ext uri="{FF2B5EF4-FFF2-40B4-BE49-F238E27FC236}">
                <a16:creationId xmlns:a16="http://schemas.microsoft.com/office/drawing/2014/main" id="{B1055A7C-5789-4CDA-8E82-2F7F7CD9FABD}"/>
              </a:ext>
            </a:extLst>
          </p:cNvPr>
          <p:cNvSpPr>
            <a:spLocks noGrp="1"/>
          </p:cNvSpPr>
          <p:nvPr/>
        </p:nvSpPr>
        <p:spPr>
          <a:xfrm>
            <a:off x="1255109" y="6031039"/>
            <a:ext cx="37947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15K</a:t>
            </a:r>
          </a:p>
        </p:txBody>
      </p:sp>
      <p:sp>
        <p:nvSpPr>
          <p:cNvPr id="151" name="svg-text-4">
            <a:extLst>
              <a:ext uri="{FF2B5EF4-FFF2-40B4-BE49-F238E27FC236}">
                <a16:creationId xmlns:a16="http://schemas.microsoft.com/office/drawing/2014/main" id="{D59C69E7-3958-423B-A4EC-37DF8AEA05EE}"/>
              </a:ext>
            </a:extLst>
          </p:cNvPr>
          <p:cNvSpPr>
            <a:spLocks noGrp="1"/>
          </p:cNvSpPr>
          <p:nvPr/>
        </p:nvSpPr>
        <p:spPr>
          <a:xfrm>
            <a:off x="1217200" y="5400199"/>
            <a:ext cx="41748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30K</a:t>
            </a:r>
          </a:p>
        </p:txBody>
      </p:sp>
      <p:sp>
        <p:nvSpPr>
          <p:cNvPr id="152" name="svg-text-5">
            <a:extLst>
              <a:ext uri="{FF2B5EF4-FFF2-40B4-BE49-F238E27FC236}">
                <a16:creationId xmlns:a16="http://schemas.microsoft.com/office/drawing/2014/main" id="{6170EAC0-8A29-49B5-A075-66FD0B282D10}"/>
              </a:ext>
            </a:extLst>
          </p:cNvPr>
          <p:cNvSpPr>
            <a:spLocks noGrp="1"/>
          </p:cNvSpPr>
          <p:nvPr/>
        </p:nvSpPr>
        <p:spPr>
          <a:xfrm>
            <a:off x="1217200" y="4769263"/>
            <a:ext cx="41748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45K</a:t>
            </a:r>
          </a:p>
        </p:txBody>
      </p:sp>
      <p:sp>
        <p:nvSpPr>
          <p:cNvPr id="153" name="svg-text-6">
            <a:extLst>
              <a:ext uri="{FF2B5EF4-FFF2-40B4-BE49-F238E27FC236}">
                <a16:creationId xmlns:a16="http://schemas.microsoft.com/office/drawing/2014/main" id="{E4B65ADF-D753-43A0-BAB9-7B585AE4DA3A}"/>
              </a:ext>
            </a:extLst>
          </p:cNvPr>
          <p:cNvSpPr>
            <a:spLocks noGrp="1"/>
          </p:cNvSpPr>
          <p:nvPr/>
        </p:nvSpPr>
        <p:spPr>
          <a:xfrm>
            <a:off x="1217200" y="4138232"/>
            <a:ext cx="41748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60K</a:t>
            </a:r>
          </a:p>
        </p:txBody>
      </p:sp>
      <p:sp>
        <p:nvSpPr>
          <p:cNvPr id="154" name="svg-text-7">
            <a:extLst>
              <a:ext uri="{FF2B5EF4-FFF2-40B4-BE49-F238E27FC236}">
                <a16:creationId xmlns:a16="http://schemas.microsoft.com/office/drawing/2014/main" id="{85D3A099-85F8-45FE-B3FE-D21F7416300D}"/>
              </a:ext>
            </a:extLst>
          </p:cNvPr>
          <p:cNvSpPr>
            <a:spLocks noGrp="1"/>
          </p:cNvSpPr>
          <p:nvPr/>
        </p:nvSpPr>
        <p:spPr>
          <a:xfrm>
            <a:off x="1620107" y="6852666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55" name="svg-text-8">
            <a:extLst>
              <a:ext uri="{FF2B5EF4-FFF2-40B4-BE49-F238E27FC236}">
                <a16:creationId xmlns:a16="http://schemas.microsoft.com/office/drawing/2014/main" id="{1E37B204-8DFA-4A06-A5F8-45F76455514F}"/>
              </a:ext>
            </a:extLst>
          </p:cNvPr>
          <p:cNvSpPr>
            <a:spLocks noGrp="1"/>
          </p:cNvSpPr>
          <p:nvPr/>
        </p:nvSpPr>
        <p:spPr>
          <a:xfrm>
            <a:off x="2852928" y="6852666"/>
            <a:ext cx="2479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10</a:t>
            </a:r>
          </a:p>
        </p:txBody>
      </p:sp>
      <p:sp>
        <p:nvSpPr>
          <p:cNvPr id="156" name="svg-text-9">
            <a:extLst>
              <a:ext uri="{FF2B5EF4-FFF2-40B4-BE49-F238E27FC236}">
                <a16:creationId xmlns:a16="http://schemas.microsoft.com/office/drawing/2014/main" id="{F5F58CD9-5CDC-4E7F-A352-D02E186F96AE}"/>
              </a:ext>
            </a:extLst>
          </p:cNvPr>
          <p:cNvSpPr>
            <a:spLocks noGrp="1"/>
          </p:cNvSpPr>
          <p:nvPr/>
        </p:nvSpPr>
        <p:spPr>
          <a:xfrm>
            <a:off x="4104894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57" name="svg-text-10">
            <a:extLst>
              <a:ext uri="{FF2B5EF4-FFF2-40B4-BE49-F238E27FC236}">
                <a16:creationId xmlns:a16="http://schemas.microsoft.com/office/drawing/2014/main" id="{09694275-FDD8-444F-B6C9-1948A5680733}"/>
              </a:ext>
            </a:extLst>
          </p:cNvPr>
          <p:cNvSpPr>
            <a:spLocks noGrp="1"/>
          </p:cNvSpPr>
          <p:nvPr/>
        </p:nvSpPr>
        <p:spPr>
          <a:xfrm>
            <a:off x="5375815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</a:t>
            </a:r>
          </a:p>
        </p:txBody>
      </p:sp>
      <p:sp>
        <p:nvSpPr>
          <p:cNvPr id="158" name="svg-text-11">
            <a:extLst>
              <a:ext uri="{FF2B5EF4-FFF2-40B4-BE49-F238E27FC236}">
                <a16:creationId xmlns:a16="http://schemas.microsoft.com/office/drawing/2014/main" id="{09EE751F-EED0-4F59-B73E-E6A43E20A6D5}"/>
              </a:ext>
            </a:extLst>
          </p:cNvPr>
          <p:cNvSpPr>
            <a:spLocks noGrp="1"/>
          </p:cNvSpPr>
          <p:nvPr/>
        </p:nvSpPr>
        <p:spPr>
          <a:xfrm>
            <a:off x="2330958" y="4429697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59" name="svg-text-12">
            <a:extLst>
              <a:ext uri="{FF2B5EF4-FFF2-40B4-BE49-F238E27FC236}">
                <a16:creationId xmlns:a16="http://schemas.microsoft.com/office/drawing/2014/main" id="{4E17CEB1-19AD-4076-A8A2-AC4B2F5A995E}"/>
              </a:ext>
            </a:extLst>
          </p:cNvPr>
          <p:cNvSpPr>
            <a:spLocks noGrp="1"/>
          </p:cNvSpPr>
          <p:nvPr/>
        </p:nvSpPr>
        <p:spPr>
          <a:xfrm>
            <a:off x="2076831" y="6399657"/>
            <a:ext cx="2540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160" name="svg-text-13">
            <a:extLst>
              <a:ext uri="{FF2B5EF4-FFF2-40B4-BE49-F238E27FC236}">
                <a16:creationId xmlns:a16="http://schemas.microsoft.com/office/drawing/2014/main" id="{9A86B79B-489A-4E03-B385-B526BD403623}"/>
              </a:ext>
            </a:extLst>
          </p:cNvPr>
          <p:cNvSpPr>
            <a:spLocks noGrp="1"/>
          </p:cNvSpPr>
          <p:nvPr/>
        </p:nvSpPr>
        <p:spPr>
          <a:xfrm>
            <a:off x="2458117" y="5283041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61" name="svg-text-14">
            <a:extLst>
              <a:ext uri="{FF2B5EF4-FFF2-40B4-BE49-F238E27FC236}">
                <a16:creationId xmlns:a16="http://schemas.microsoft.com/office/drawing/2014/main" id="{7D81A458-4D95-497B-B917-4683AE375684}"/>
              </a:ext>
            </a:extLst>
          </p:cNvPr>
          <p:cNvSpPr>
            <a:spLocks noGrp="1"/>
          </p:cNvSpPr>
          <p:nvPr/>
        </p:nvSpPr>
        <p:spPr>
          <a:xfrm>
            <a:off x="4364450" y="4429697"/>
            <a:ext cx="46091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C512</a:t>
            </a:r>
          </a:p>
        </p:txBody>
      </p:sp>
      <p:sp>
        <p:nvSpPr>
          <p:cNvPr id="162" name="svg-text-15">
            <a:extLst>
              <a:ext uri="{FF2B5EF4-FFF2-40B4-BE49-F238E27FC236}">
                <a16:creationId xmlns:a16="http://schemas.microsoft.com/office/drawing/2014/main" id="{CB852608-500E-40B7-B2E7-E8587E043950}"/>
              </a:ext>
            </a:extLst>
          </p:cNvPr>
          <p:cNvSpPr>
            <a:spLocks noGrp="1"/>
          </p:cNvSpPr>
          <p:nvPr/>
        </p:nvSpPr>
        <p:spPr>
          <a:xfrm>
            <a:off x="2942844" y="7169468"/>
            <a:ext cx="1339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580"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TTFT P50 (s)</a:t>
            </a:r>
          </a:p>
        </p:txBody>
      </p:sp>
      <p:sp>
        <p:nvSpPr>
          <p:cNvPr id="163" name="svg-text-16">
            <a:extLst>
              <a:ext uri="{FF2B5EF4-FFF2-40B4-BE49-F238E27FC236}">
                <a16:creationId xmlns:a16="http://schemas.microsoft.com/office/drawing/2014/main" id="{E1A279F0-4B37-4606-B30A-07639695821C}"/>
              </a:ext>
            </a:extLst>
          </p:cNvPr>
          <p:cNvSpPr>
            <a:spLocks noGrp="1"/>
          </p:cNvSpPr>
          <p:nvPr/>
        </p:nvSpPr>
        <p:spPr>
          <a:xfrm>
            <a:off x="7354253" y="3846862"/>
            <a:ext cx="102555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Input TPS</a:t>
            </a:r>
          </a:p>
        </p:txBody>
      </p:sp>
      <p:sp>
        <p:nvSpPr>
          <p:cNvPr id="164" name="svg-text-17">
            <a:extLst>
              <a:ext uri="{FF2B5EF4-FFF2-40B4-BE49-F238E27FC236}">
                <a16:creationId xmlns:a16="http://schemas.microsoft.com/office/drawing/2014/main" id="{26F6A60E-DB5A-47A1-B85E-1945E20EC236}"/>
              </a:ext>
            </a:extLst>
          </p:cNvPr>
          <p:cNvSpPr>
            <a:spLocks noGrp="1"/>
          </p:cNvSpPr>
          <p:nvPr/>
        </p:nvSpPr>
        <p:spPr>
          <a:xfrm>
            <a:off x="7139940" y="6662071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65" name="svg-text-18">
            <a:extLst>
              <a:ext uri="{FF2B5EF4-FFF2-40B4-BE49-F238E27FC236}">
                <a16:creationId xmlns:a16="http://schemas.microsoft.com/office/drawing/2014/main" id="{173E0193-9353-40D1-836B-09493712BE70}"/>
              </a:ext>
            </a:extLst>
          </p:cNvPr>
          <p:cNvSpPr>
            <a:spLocks noGrp="1"/>
          </p:cNvSpPr>
          <p:nvPr/>
        </p:nvSpPr>
        <p:spPr>
          <a:xfrm>
            <a:off x="6932009" y="6031039"/>
            <a:ext cx="37947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15K</a:t>
            </a:r>
          </a:p>
        </p:txBody>
      </p:sp>
      <p:sp>
        <p:nvSpPr>
          <p:cNvPr id="166" name="svg-text-19">
            <a:extLst>
              <a:ext uri="{FF2B5EF4-FFF2-40B4-BE49-F238E27FC236}">
                <a16:creationId xmlns:a16="http://schemas.microsoft.com/office/drawing/2014/main" id="{B4A65E6D-3451-4A89-AC3D-61F3235B93BA}"/>
              </a:ext>
            </a:extLst>
          </p:cNvPr>
          <p:cNvSpPr>
            <a:spLocks noGrp="1"/>
          </p:cNvSpPr>
          <p:nvPr/>
        </p:nvSpPr>
        <p:spPr>
          <a:xfrm>
            <a:off x="6894100" y="5400199"/>
            <a:ext cx="41748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30K</a:t>
            </a:r>
          </a:p>
        </p:txBody>
      </p:sp>
      <p:sp>
        <p:nvSpPr>
          <p:cNvPr id="167" name="svg-text-20">
            <a:extLst>
              <a:ext uri="{FF2B5EF4-FFF2-40B4-BE49-F238E27FC236}">
                <a16:creationId xmlns:a16="http://schemas.microsoft.com/office/drawing/2014/main" id="{ED112FA3-3FBA-434F-9A4D-80CE59FD945C}"/>
              </a:ext>
            </a:extLst>
          </p:cNvPr>
          <p:cNvSpPr>
            <a:spLocks noGrp="1"/>
          </p:cNvSpPr>
          <p:nvPr/>
        </p:nvSpPr>
        <p:spPr>
          <a:xfrm>
            <a:off x="6894100" y="4769263"/>
            <a:ext cx="41748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45K</a:t>
            </a:r>
          </a:p>
        </p:txBody>
      </p:sp>
      <p:sp>
        <p:nvSpPr>
          <p:cNvPr id="168" name="svg-text-21">
            <a:extLst>
              <a:ext uri="{FF2B5EF4-FFF2-40B4-BE49-F238E27FC236}">
                <a16:creationId xmlns:a16="http://schemas.microsoft.com/office/drawing/2014/main" id="{F2E52C40-F039-4196-8B22-80C83F730DBE}"/>
              </a:ext>
            </a:extLst>
          </p:cNvPr>
          <p:cNvSpPr>
            <a:spLocks noGrp="1"/>
          </p:cNvSpPr>
          <p:nvPr/>
        </p:nvSpPr>
        <p:spPr>
          <a:xfrm>
            <a:off x="6894100" y="4138232"/>
            <a:ext cx="41748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60K</a:t>
            </a:r>
          </a:p>
        </p:txBody>
      </p:sp>
      <p:sp>
        <p:nvSpPr>
          <p:cNvPr id="169" name="svg-text-22">
            <a:extLst>
              <a:ext uri="{FF2B5EF4-FFF2-40B4-BE49-F238E27FC236}">
                <a16:creationId xmlns:a16="http://schemas.microsoft.com/office/drawing/2014/main" id="{66991737-D527-4A97-AEEB-6110532559BD}"/>
              </a:ext>
            </a:extLst>
          </p:cNvPr>
          <p:cNvSpPr>
            <a:spLocks noGrp="1"/>
          </p:cNvSpPr>
          <p:nvPr/>
        </p:nvSpPr>
        <p:spPr>
          <a:xfrm>
            <a:off x="7297007" y="6852666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70" name="svg-text-23">
            <a:extLst>
              <a:ext uri="{FF2B5EF4-FFF2-40B4-BE49-F238E27FC236}">
                <a16:creationId xmlns:a16="http://schemas.microsoft.com/office/drawing/2014/main" id="{BB1485B8-185C-44DD-9C3D-8C84E319F08F}"/>
              </a:ext>
            </a:extLst>
          </p:cNvPr>
          <p:cNvSpPr>
            <a:spLocks noGrp="1"/>
          </p:cNvSpPr>
          <p:nvPr/>
        </p:nvSpPr>
        <p:spPr>
          <a:xfrm>
            <a:off x="8529828" y="6852666"/>
            <a:ext cx="2479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10</a:t>
            </a:r>
          </a:p>
        </p:txBody>
      </p:sp>
      <p:sp>
        <p:nvSpPr>
          <p:cNvPr id="171" name="svg-text-24">
            <a:extLst>
              <a:ext uri="{FF2B5EF4-FFF2-40B4-BE49-F238E27FC236}">
                <a16:creationId xmlns:a16="http://schemas.microsoft.com/office/drawing/2014/main" id="{32B5A2B3-9AE1-4980-A76E-A210B3CC0CCC}"/>
              </a:ext>
            </a:extLst>
          </p:cNvPr>
          <p:cNvSpPr>
            <a:spLocks noGrp="1"/>
          </p:cNvSpPr>
          <p:nvPr/>
        </p:nvSpPr>
        <p:spPr>
          <a:xfrm>
            <a:off x="9781794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72" name="svg-text-25">
            <a:extLst>
              <a:ext uri="{FF2B5EF4-FFF2-40B4-BE49-F238E27FC236}">
                <a16:creationId xmlns:a16="http://schemas.microsoft.com/office/drawing/2014/main" id="{0DD25F63-9593-4429-A6D6-B08DF09D4531}"/>
              </a:ext>
            </a:extLst>
          </p:cNvPr>
          <p:cNvSpPr>
            <a:spLocks noGrp="1"/>
          </p:cNvSpPr>
          <p:nvPr/>
        </p:nvSpPr>
        <p:spPr>
          <a:xfrm>
            <a:off x="11052715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</a:t>
            </a:r>
          </a:p>
        </p:txBody>
      </p:sp>
      <p:sp>
        <p:nvSpPr>
          <p:cNvPr id="173" name="svg-text-26">
            <a:extLst>
              <a:ext uri="{FF2B5EF4-FFF2-40B4-BE49-F238E27FC236}">
                <a16:creationId xmlns:a16="http://schemas.microsoft.com/office/drawing/2014/main" id="{DA738A69-C558-4314-9718-CA7B94903589}"/>
              </a:ext>
            </a:extLst>
          </p:cNvPr>
          <p:cNvSpPr>
            <a:spLocks noGrp="1"/>
          </p:cNvSpPr>
          <p:nvPr/>
        </p:nvSpPr>
        <p:spPr>
          <a:xfrm>
            <a:off x="8915686" y="4429697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74" name="svg-text-27">
            <a:extLst>
              <a:ext uri="{FF2B5EF4-FFF2-40B4-BE49-F238E27FC236}">
                <a16:creationId xmlns:a16="http://schemas.microsoft.com/office/drawing/2014/main" id="{0FE95AEE-E65A-4331-B1A6-F7294F6E06BA}"/>
              </a:ext>
            </a:extLst>
          </p:cNvPr>
          <p:cNvSpPr>
            <a:spLocks noGrp="1"/>
          </p:cNvSpPr>
          <p:nvPr/>
        </p:nvSpPr>
        <p:spPr>
          <a:xfrm>
            <a:off x="7971568" y="6336125"/>
            <a:ext cx="2540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175" name="svg-text-28">
            <a:extLst>
              <a:ext uri="{FF2B5EF4-FFF2-40B4-BE49-F238E27FC236}">
                <a16:creationId xmlns:a16="http://schemas.microsoft.com/office/drawing/2014/main" id="{825EEA11-2E0E-418F-B4AE-E2076FA9BBA9}"/>
              </a:ext>
            </a:extLst>
          </p:cNvPr>
          <p:cNvSpPr>
            <a:spLocks noGrp="1"/>
          </p:cNvSpPr>
          <p:nvPr/>
        </p:nvSpPr>
        <p:spPr>
          <a:xfrm>
            <a:off x="8888444" y="5001673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76" name="svg-text-29">
            <a:extLst>
              <a:ext uri="{FF2B5EF4-FFF2-40B4-BE49-F238E27FC236}">
                <a16:creationId xmlns:a16="http://schemas.microsoft.com/office/drawing/2014/main" id="{2364EF56-6517-4062-B172-753826A5B878}"/>
              </a:ext>
            </a:extLst>
          </p:cNvPr>
          <p:cNvSpPr>
            <a:spLocks noGrp="1"/>
          </p:cNvSpPr>
          <p:nvPr/>
        </p:nvSpPr>
        <p:spPr>
          <a:xfrm>
            <a:off x="9587484" y="4420648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C96</a:t>
            </a:r>
          </a:p>
        </p:txBody>
      </p:sp>
      <p:sp>
        <p:nvSpPr>
          <p:cNvPr id="177" name="svg-text-30">
            <a:extLst>
              <a:ext uri="{FF2B5EF4-FFF2-40B4-BE49-F238E27FC236}">
                <a16:creationId xmlns:a16="http://schemas.microsoft.com/office/drawing/2014/main" id="{7189B48A-0176-46DC-A682-E5B9FFA458E4}"/>
              </a:ext>
            </a:extLst>
          </p:cNvPr>
          <p:cNvSpPr>
            <a:spLocks noGrp="1"/>
          </p:cNvSpPr>
          <p:nvPr/>
        </p:nvSpPr>
        <p:spPr>
          <a:xfrm>
            <a:off x="8619744" y="7169468"/>
            <a:ext cx="1339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580"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TTFT P50 (s)</a:t>
            </a:r>
          </a:p>
        </p:txBody>
      </p:sp>
      <p:sp>
        <p:nvSpPr>
          <p:cNvPr id="178" name="svg-text-31">
            <a:extLst>
              <a:ext uri="{FF2B5EF4-FFF2-40B4-BE49-F238E27FC236}">
                <a16:creationId xmlns:a16="http://schemas.microsoft.com/office/drawing/2014/main" id="{5E77702F-8427-42FC-AC87-9B263ADB21D9}"/>
              </a:ext>
            </a:extLst>
          </p:cNvPr>
          <p:cNvSpPr>
            <a:spLocks noGrp="1"/>
          </p:cNvSpPr>
          <p:nvPr/>
        </p:nvSpPr>
        <p:spPr>
          <a:xfrm>
            <a:off x="13031153" y="3846862"/>
            <a:ext cx="102555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Input TPS</a:t>
            </a:r>
          </a:p>
        </p:txBody>
      </p:sp>
      <p:sp>
        <p:nvSpPr>
          <p:cNvPr id="179" name="svg-text-32">
            <a:extLst>
              <a:ext uri="{FF2B5EF4-FFF2-40B4-BE49-F238E27FC236}">
                <a16:creationId xmlns:a16="http://schemas.microsoft.com/office/drawing/2014/main" id="{B5464227-D89E-48B9-B1CD-56FD9CDD7852}"/>
              </a:ext>
            </a:extLst>
          </p:cNvPr>
          <p:cNvSpPr>
            <a:spLocks noGrp="1"/>
          </p:cNvSpPr>
          <p:nvPr/>
        </p:nvSpPr>
        <p:spPr>
          <a:xfrm>
            <a:off x="12816840" y="6662071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80" name="svg-text-33">
            <a:extLst>
              <a:ext uri="{FF2B5EF4-FFF2-40B4-BE49-F238E27FC236}">
                <a16:creationId xmlns:a16="http://schemas.microsoft.com/office/drawing/2014/main" id="{55EDECB3-212A-4A5D-B857-17D2C840ADE8}"/>
              </a:ext>
            </a:extLst>
          </p:cNvPr>
          <p:cNvSpPr>
            <a:spLocks noGrp="1"/>
          </p:cNvSpPr>
          <p:nvPr/>
        </p:nvSpPr>
        <p:spPr>
          <a:xfrm>
            <a:off x="12608909" y="6031039"/>
            <a:ext cx="37947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15K</a:t>
            </a:r>
          </a:p>
        </p:txBody>
      </p:sp>
      <p:sp>
        <p:nvSpPr>
          <p:cNvPr id="181" name="svg-text-34">
            <a:extLst>
              <a:ext uri="{FF2B5EF4-FFF2-40B4-BE49-F238E27FC236}">
                <a16:creationId xmlns:a16="http://schemas.microsoft.com/office/drawing/2014/main" id="{F2E7D8FA-DAFE-4716-ACF3-C332646CC9B8}"/>
              </a:ext>
            </a:extLst>
          </p:cNvPr>
          <p:cNvSpPr>
            <a:spLocks noGrp="1"/>
          </p:cNvSpPr>
          <p:nvPr/>
        </p:nvSpPr>
        <p:spPr>
          <a:xfrm>
            <a:off x="12571000" y="5400199"/>
            <a:ext cx="41748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30K</a:t>
            </a:r>
          </a:p>
        </p:txBody>
      </p:sp>
      <p:sp>
        <p:nvSpPr>
          <p:cNvPr id="182" name="svg-text-35">
            <a:extLst>
              <a:ext uri="{FF2B5EF4-FFF2-40B4-BE49-F238E27FC236}">
                <a16:creationId xmlns:a16="http://schemas.microsoft.com/office/drawing/2014/main" id="{29E72771-5DAE-4F3E-B61E-12E6E6941077}"/>
              </a:ext>
            </a:extLst>
          </p:cNvPr>
          <p:cNvSpPr>
            <a:spLocks noGrp="1"/>
          </p:cNvSpPr>
          <p:nvPr/>
        </p:nvSpPr>
        <p:spPr>
          <a:xfrm>
            <a:off x="12571000" y="4769263"/>
            <a:ext cx="41748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45K</a:t>
            </a:r>
          </a:p>
        </p:txBody>
      </p:sp>
      <p:sp>
        <p:nvSpPr>
          <p:cNvPr id="183" name="svg-text-36">
            <a:extLst>
              <a:ext uri="{FF2B5EF4-FFF2-40B4-BE49-F238E27FC236}">
                <a16:creationId xmlns:a16="http://schemas.microsoft.com/office/drawing/2014/main" id="{60019CE9-A53B-4F52-B663-BEB1EF7F2848}"/>
              </a:ext>
            </a:extLst>
          </p:cNvPr>
          <p:cNvSpPr>
            <a:spLocks noGrp="1"/>
          </p:cNvSpPr>
          <p:nvPr/>
        </p:nvSpPr>
        <p:spPr>
          <a:xfrm>
            <a:off x="12571000" y="4138232"/>
            <a:ext cx="41748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60K</a:t>
            </a:r>
          </a:p>
        </p:txBody>
      </p:sp>
      <p:sp>
        <p:nvSpPr>
          <p:cNvPr id="184" name="svg-text-37">
            <a:extLst>
              <a:ext uri="{FF2B5EF4-FFF2-40B4-BE49-F238E27FC236}">
                <a16:creationId xmlns:a16="http://schemas.microsoft.com/office/drawing/2014/main" id="{945C4B4E-A7A3-4B2D-84E5-EDFE67064A9D}"/>
              </a:ext>
            </a:extLst>
          </p:cNvPr>
          <p:cNvSpPr>
            <a:spLocks noGrp="1"/>
          </p:cNvSpPr>
          <p:nvPr/>
        </p:nvSpPr>
        <p:spPr>
          <a:xfrm>
            <a:off x="12973907" y="6852666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85" name="svg-text-38">
            <a:extLst>
              <a:ext uri="{FF2B5EF4-FFF2-40B4-BE49-F238E27FC236}">
                <a16:creationId xmlns:a16="http://schemas.microsoft.com/office/drawing/2014/main" id="{58BB4689-0458-4124-A9BF-097FDA9766A7}"/>
              </a:ext>
            </a:extLst>
          </p:cNvPr>
          <p:cNvSpPr>
            <a:spLocks noGrp="1"/>
          </p:cNvSpPr>
          <p:nvPr/>
        </p:nvSpPr>
        <p:spPr>
          <a:xfrm>
            <a:off x="14206728" y="6852666"/>
            <a:ext cx="2479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10</a:t>
            </a:r>
          </a:p>
        </p:txBody>
      </p:sp>
      <p:sp>
        <p:nvSpPr>
          <p:cNvPr id="186" name="svg-text-39">
            <a:extLst>
              <a:ext uri="{FF2B5EF4-FFF2-40B4-BE49-F238E27FC236}">
                <a16:creationId xmlns:a16="http://schemas.microsoft.com/office/drawing/2014/main" id="{8F660DDD-8AE2-4CDF-B2E3-3A6EC61935CA}"/>
              </a:ext>
            </a:extLst>
          </p:cNvPr>
          <p:cNvSpPr>
            <a:spLocks noGrp="1"/>
          </p:cNvSpPr>
          <p:nvPr/>
        </p:nvSpPr>
        <p:spPr>
          <a:xfrm>
            <a:off x="15458694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87" name="svg-text-40">
            <a:extLst>
              <a:ext uri="{FF2B5EF4-FFF2-40B4-BE49-F238E27FC236}">
                <a16:creationId xmlns:a16="http://schemas.microsoft.com/office/drawing/2014/main" id="{CB2F387B-555F-467C-A336-08EE6ABDE371}"/>
              </a:ext>
            </a:extLst>
          </p:cNvPr>
          <p:cNvSpPr>
            <a:spLocks noGrp="1"/>
          </p:cNvSpPr>
          <p:nvPr/>
        </p:nvSpPr>
        <p:spPr>
          <a:xfrm>
            <a:off x="16729615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</a:t>
            </a:r>
          </a:p>
        </p:txBody>
      </p:sp>
      <p:sp>
        <p:nvSpPr>
          <p:cNvPr id="188" name="svg-text-41">
            <a:extLst>
              <a:ext uri="{FF2B5EF4-FFF2-40B4-BE49-F238E27FC236}">
                <a16:creationId xmlns:a16="http://schemas.microsoft.com/office/drawing/2014/main" id="{8A390D50-353E-4DB2-B073-00F8DB82B6E2}"/>
              </a:ext>
            </a:extLst>
          </p:cNvPr>
          <p:cNvSpPr>
            <a:spLocks noGrp="1"/>
          </p:cNvSpPr>
          <p:nvPr/>
        </p:nvSpPr>
        <p:spPr>
          <a:xfrm>
            <a:off x="15602903" y="4747451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C32</a:t>
            </a:r>
          </a:p>
        </p:txBody>
      </p:sp>
      <p:sp>
        <p:nvSpPr>
          <p:cNvPr id="189" name="svg-text-42">
            <a:extLst>
              <a:ext uri="{FF2B5EF4-FFF2-40B4-BE49-F238E27FC236}">
                <a16:creationId xmlns:a16="http://schemas.microsoft.com/office/drawing/2014/main" id="{A26533B8-EC77-4E2C-A347-6F343DE582B2}"/>
              </a:ext>
            </a:extLst>
          </p:cNvPr>
          <p:cNvSpPr>
            <a:spLocks noGrp="1"/>
          </p:cNvSpPr>
          <p:nvPr/>
        </p:nvSpPr>
        <p:spPr>
          <a:xfrm>
            <a:off x="13875449" y="6245352"/>
            <a:ext cx="2540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190" name="svg-text-43">
            <a:extLst>
              <a:ext uri="{FF2B5EF4-FFF2-40B4-BE49-F238E27FC236}">
                <a16:creationId xmlns:a16="http://schemas.microsoft.com/office/drawing/2014/main" id="{294921BF-1193-4DBF-BA52-9A551548998E}"/>
              </a:ext>
            </a:extLst>
          </p:cNvPr>
          <p:cNvSpPr>
            <a:spLocks noGrp="1"/>
          </p:cNvSpPr>
          <p:nvPr/>
        </p:nvSpPr>
        <p:spPr>
          <a:xfrm>
            <a:off x="15972473" y="5446395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C32</a:t>
            </a:r>
          </a:p>
        </p:txBody>
      </p:sp>
      <p:sp>
        <p:nvSpPr>
          <p:cNvPr id="191" name="svg-text-44">
            <a:extLst>
              <a:ext uri="{FF2B5EF4-FFF2-40B4-BE49-F238E27FC236}">
                <a16:creationId xmlns:a16="http://schemas.microsoft.com/office/drawing/2014/main" id="{32A1ABF4-F979-41AD-BC4C-B0F0AFB61962}"/>
              </a:ext>
            </a:extLst>
          </p:cNvPr>
          <p:cNvSpPr>
            <a:spLocks noGrp="1"/>
          </p:cNvSpPr>
          <p:nvPr/>
        </p:nvSpPr>
        <p:spPr>
          <a:xfrm>
            <a:off x="14296644" y="7169468"/>
            <a:ext cx="1339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580"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TTFT P50 (s)</a:t>
            </a:r>
          </a:p>
        </p:txBody>
      </p:sp>
      <p:sp>
        <p:nvSpPr>
          <p:cNvPr id="192" name="text-45">
            <a:extLst>
              <a:ext uri="{FF2B5EF4-FFF2-40B4-BE49-F238E27FC236}">
                <a16:creationId xmlns:a16="http://schemas.microsoft.com/office/drawing/2014/main" id="{80A0CBBF-B90F-4CCC-B3A8-98F9A8B9AC91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93" name="text-46">
            <a:extLst>
              <a:ext uri="{FF2B5EF4-FFF2-40B4-BE49-F238E27FC236}">
                <a16:creationId xmlns:a16="http://schemas.microsoft.com/office/drawing/2014/main" id="{00CE721B-D4FF-48C8-9782-47F576F75555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194" name="text-47">
            <a:extLst>
              <a:ext uri="{FF2B5EF4-FFF2-40B4-BE49-F238E27FC236}">
                <a16:creationId xmlns:a16="http://schemas.microsoft.com/office/drawing/2014/main" id="{60DAEA07-9616-4246-A6EB-0A611B49BF99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6095429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44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异构 Prefill 吞吐接近同构</a:t>
            </a:r>
          </a:p>
        </p:txBody>
      </p:sp>
      <p:sp>
        <p:nvSpPr>
          <p:cNvPr id="195" name="text-48">
            <a:extLst>
              <a:ext uri="{FF2B5EF4-FFF2-40B4-BE49-F238E27FC236}">
                <a16:creationId xmlns:a16="http://schemas.microsoft.com/office/drawing/2014/main" id="{DE5B73BA-511D-4A3D-871E-F9C65BE22066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887253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三种输入长度的异构峰值分别为 49.6K / 49.5K / 38.5K Input TPS。</a:t>
            </a:r>
          </a:p>
        </p:txBody>
      </p:sp>
      <p:sp>
        <p:nvSpPr>
          <p:cNvPr id="196" name="text-49">
            <a:extLst>
              <a:ext uri="{FF2B5EF4-FFF2-40B4-BE49-F238E27FC236}">
                <a16:creationId xmlns:a16="http://schemas.microsoft.com/office/drawing/2014/main" id="{9F52EA9F-F0FB-45F0-AF16-AB9AFDF169F1}"/>
              </a:ext>
            </a:extLst>
          </p:cNvPr>
          <p:cNvSpPr>
            <a:spLocks noGrp="1"/>
          </p:cNvSpPr>
          <p:nvPr/>
        </p:nvSpPr>
        <p:spPr>
          <a:xfrm>
            <a:off x="7618381" y="2771775"/>
            <a:ext cx="585730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异构 · 高算力设备 C + 高带宽设备 B · Mooncake TE TCP</a:t>
            </a:r>
          </a:p>
        </p:txBody>
      </p:sp>
      <p:sp>
        <p:nvSpPr>
          <p:cNvPr id="197" name="text-50">
            <a:extLst>
              <a:ext uri="{FF2B5EF4-FFF2-40B4-BE49-F238E27FC236}">
                <a16:creationId xmlns:a16="http://schemas.microsoft.com/office/drawing/2014/main" id="{628D97EE-4248-4DBD-9FC5-E414CD213045}"/>
              </a:ext>
            </a:extLst>
          </p:cNvPr>
          <p:cNvSpPr>
            <a:spLocks noGrp="1"/>
          </p:cNvSpPr>
          <p:nvPr/>
        </p:nvSpPr>
        <p:spPr>
          <a:xfrm>
            <a:off x="14142434" y="2771775"/>
            <a:ext cx="321211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同构 · 纯高算力设备 C · RDMA</a:t>
            </a:r>
          </a:p>
        </p:txBody>
      </p:sp>
      <p:sp>
        <p:nvSpPr>
          <p:cNvPr id="198" name="text-51">
            <a:extLst>
              <a:ext uri="{FF2B5EF4-FFF2-40B4-BE49-F238E27FC236}">
                <a16:creationId xmlns:a16="http://schemas.microsoft.com/office/drawing/2014/main" id="{842CF704-A0CB-471C-93BC-A84F5FD311EC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12665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2K Input</a:t>
            </a:r>
          </a:p>
        </p:txBody>
      </p:sp>
      <p:sp>
        <p:nvSpPr>
          <p:cNvPr id="199" name="text-52">
            <a:extLst>
              <a:ext uri="{FF2B5EF4-FFF2-40B4-BE49-F238E27FC236}">
                <a16:creationId xmlns:a16="http://schemas.microsoft.com/office/drawing/2014/main" id="{BADB0AC9-9BC5-46EE-AF41-27B2AE206A8C}"/>
              </a:ext>
            </a:extLst>
          </p:cNvPr>
          <p:cNvSpPr>
            <a:spLocks noGrp="1"/>
          </p:cNvSpPr>
          <p:nvPr/>
        </p:nvSpPr>
        <p:spPr>
          <a:xfrm>
            <a:off x="2103215" y="7686675"/>
            <a:ext cx="278492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峰值 49,647 Input TPS</a:t>
            </a:r>
          </a:p>
        </p:txBody>
      </p:sp>
      <p:sp>
        <p:nvSpPr>
          <p:cNvPr id="200" name="text-53">
            <a:extLst>
              <a:ext uri="{FF2B5EF4-FFF2-40B4-BE49-F238E27FC236}">
                <a16:creationId xmlns:a16="http://schemas.microsoft.com/office/drawing/2014/main" id="{23FDB0FD-0823-4CDD-82A6-03845164331F}"/>
              </a:ext>
            </a:extLst>
          </p:cNvPr>
          <p:cNvSpPr>
            <a:spLocks noGrp="1"/>
          </p:cNvSpPr>
          <p:nvPr/>
        </p:nvSpPr>
        <p:spPr>
          <a:xfrm>
            <a:off x="2290286" y="8124825"/>
            <a:ext cx="241068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C512 · TTFT P50 19.6 s</a:t>
            </a:r>
          </a:p>
        </p:txBody>
      </p:sp>
      <p:sp>
        <p:nvSpPr>
          <p:cNvPr id="201" name="text-54">
            <a:extLst>
              <a:ext uri="{FF2B5EF4-FFF2-40B4-BE49-F238E27FC236}">
                <a16:creationId xmlns:a16="http://schemas.microsoft.com/office/drawing/2014/main" id="{D1C9A23D-DE46-46F0-B3D0-BEDA8ABE2ACF}"/>
              </a:ext>
            </a:extLst>
          </p:cNvPr>
          <p:cNvSpPr>
            <a:spLocks noGrp="1"/>
          </p:cNvSpPr>
          <p:nvPr/>
        </p:nvSpPr>
        <p:spPr>
          <a:xfrm>
            <a:off x="6686550" y="3505200"/>
            <a:ext cx="12665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8K Input</a:t>
            </a:r>
          </a:p>
        </p:txBody>
      </p:sp>
      <p:sp>
        <p:nvSpPr>
          <p:cNvPr id="202" name="text-55">
            <a:extLst>
              <a:ext uri="{FF2B5EF4-FFF2-40B4-BE49-F238E27FC236}">
                <a16:creationId xmlns:a16="http://schemas.microsoft.com/office/drawing/2014/main" id="{F230B737-81B8-4E88-8620-57CE24A7A8C3}"/>
              </a:ext>
            </a:extLst>
          </p:cNvPr>
          <p:cNvSpPr>
            <a:spLocks noGrp="1"/>
          </p:cNvSpPr>
          <p:nvPr/>
        </p:nvSpPr>
        <p:spPr>
          <a:xfrm>
            <a:off x="7774019" y="7686675"/>
            <a:ext cx="279692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峰值 49,493 Input TPS</a:t>
            </a:r>
          </a:p>
        </p:txBody>
      </p:sp>
      <p:sp>
        <p:nvSpPr>
          <p:cNvPr id="203" name="text-56">
            <a:extLst>
              <a:ext uri="{FF2B5EF4-FFF2-40B4-BE49-F238E27FC236}">
                <a16:creationId xmlns:a16="http://schemas.microsoft.com/office/drawing/2014/main" id="{E9B4859B-5011-4D2B-8076-22E881D26073}"/>
              </a:ext>
            </a:extLst>
          </p:cNvPr>
          <p:cNvSpPr>
            <a:spLocks noGrp="1"/>
          </p:cNvSpPr>
          <p:nvPr/>
        </p:nvSpPr>
        <p:spPr>
          <a:xfrm>
            <a:off x="8009192" y="8124825"/>
            <a:ext cx="232667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C96 · TTFT P50 13.6 s</a:t>
            </a:r>
          </a:p>
        </p:txBody>
      </p:sp>
      <p:sp>
        <p:nvSpPr>
          <p:cNvPr id="204" name="text-57">
            <a:extLst>
              <a:ext uri="{FF2B5EF4-FFF2-40B4-BE49-F238E27FC236}">
                <a16:creationId xmlns:a16="http://schemas.microsoft.com/office/drawing/2014/main" id="{017DE48D-18E6-48C4-9F0F-DCF3A919EE5E}"/>
              </a:ext>
            </a:extLst>
          </p:cNvPr>
          <p:cNvSpPr>
            <a:spLocks noGrp="1"/>
          </p:cNvSpPr>
          <p:nvPr/>
        </p:nvSpPr>
        <p:spPr>
          <a:xfrm>
            <a:off x="12363450" y="3505200"/>
            <a:ext cx="144360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32K Input</a:t>
            </a:r>
          </a:p>
        </p:txBody>
      </p:sp>
      <p:sp>
        <p:nvSpPr>
          <p:cNvPr id="205" name="text-58">
            <a:extLst>
              <a:ext uri="{FF2B5EF4-FFF2-40B4-BE49-F238E27FC236}">
                <a16:creationId xmlns:a16="http://schemas.microsoft.com/office/drawing/2014/main" id="{D897F4A0-40D2-454E-9803-90E8DF1BCADA}"/>
              </a:ext>
            </a:extLst>
          </p:cNvPr>
          <p:cNvSpPr>
            <a:spLocks noGrp="1"/>
          </p:cNvSpPr>
          <p:nvPr/>
        </p:nvSpPr>
        <p:spPr>
          <a:xfrm>
            <a:off x="13450919" y="7686675"/>
            <a:ext cx="279692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峰值 38,502 Input TPS</a:t>
            </a:r>
          </a:p>
        </p:txBody>
      </p:sp>
      <p:sp>
        <p:nvSpPr>
          <p:cNvPr id="206" name="text-59">
            <a:extLst>
              <a:ext uri="{FF2B5EF4-FFF2-40B4-BE49-F238E27FC236}">
                <a16:creationId xmlns:a16="http://schemas.microsoft.com/office/drawing/2014/main" id="{76F345F4-D6F3-4634-AE6E-D29267B07943}"/>
              </a:ext>
            </a:extLst>
          </p:cNvPr>
          <p:cNvSpPr>
            <a:spLocks noGrp="1"/>
          </p:cNvSpPr>
          <p:nvPr/>
        </p:nvSpPr>
        <p:spPr>
          <a:xfrm>
            <a:off x="13665232" y="8124825"/>
            <a:ext cx="236829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C32 · TTFT P50 25.9 s</a:t>
            </a:r>
          </a:p>
        </p:txBody>
      </p:sp>
      <p:sp>
        <p:nvSpPr>
          <p:cNvPr id="207" name="text-60">
            <a:extLst>
              <a:ext uri="{FF2B5EF4-FFF2-40B4-BE49-F238E27FC236}">
                <a16:creationId xmlns:a16="http://schemas.microsoft.com/office/drawing/2014/main" id="{D1D6ADE4-C1F3-4784-8257-5AB17B876363}"/>
              </a:ext>
            </a:extLst>
          </p:cNvPr>
          <p:cNvSpPr>
            <a:spLocks noGrp="1"/>
          </p:cNvSpPr>
          <p:nvPr/>
        </p:nvSpPr>
        <p:spPr>
          <a:xfrm>
            <a:off x="5476304" y="8818245"/>
            <a:ext cx="7392448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异构 PD 的 Prefill 吞吐接近同构方案，单请求输出速度更高。</a:t>
            </a:r>
          </a:p>
        </p:txBody>
      </p:sp>
      <p:sp>
        <p:nvSpPr>
          <p:cNvPr id="208" name="text-61">
            <a:extLst>
              <a:ext uri="{FF2B5EF4-FFF2-40B4-BE49-F238E27FC236}">
                <a16:creationId xmlns:a16="http://schemas.microsoft.com/office/drawing/2014/main" id="{8A055A93-1264-40E8-A53F-C1D5A7955AAE}"/>
              </a:ext>
            </a:extLst>
          </p:cNvPr>
          <p:cNvSpPr>
            <a:spLocks noGrp="1"/>
          </p:cNvSpPr>
          <p:nvPr/>
        </p:nvSpPr>
        <p:spPr>
          <a:xfrm>
            <a:off x="771525" y="9585865"/>
            <a:ext cx="750589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Kimi K2.6 3P1D 曲线；仅展示 TTFT ≤ 30 s。32K 峰值存在窗口波动，不作为稳态平台结论。</a:t>
            </a:r>
          </a:p>
        </p:txBody>
      </p:sp>
      <p:sp>
        <p:nvSpPr>
          <p:cNvPr id="209" name="text-62">
            <a:extLst>
              <a:ext uri="{FF2B5EF4-FFF2-40B4-BE49-F238E27FC236}">
                <a16:creationId xmlns:a16="http://schemas.microsoft.com/office/drawing/2014/main" id="{FB2B16D2-DC0F-4050-A90C-2D65FCA40A52}"/>
              </a:ext>
            </a:extLst>
          </p:cNvPr>
          <p:cNvSpPr>
            <a:spLocks noGrp="1"/>
          </p:cNvSpPr>
          <p:nvPr/>
        </p:nvSpPr>
        <p:spPr>
          <a:xfrm>
            <a:off x="771525" y="9820561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两组对照来自独立实验测量，统计窗口口径存在差异。</a:t>
            </a:r>
          </a:p>
        </p:txBody>
      </p:sp>
      <p:sp>
        <p:nvSpPr>
          <p:cNvPr id="210" name="text-63">
            <a:extLst>
              <a:ext uri="{FF2B5EF4-FFF2-40B4-BE49-F238E27FC236}">
                <a16:creationId xmlns:a16="http://schemas.microsoft.com/office/drawing/2014/main" id="{6B9CD120-1707-492A-AC6F-89F0CC10A1AA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31 / 43</a:t>
            </a:r>
          </a:p>
        </p:txBody>
      </p:sp>
    </p:spTree>
    <p:extLst>
      <p:ext uri="{BB962C8B-B14F-4D97-AF65-F5344CB8AC3E}">
        <p14:creationId xmlns:p14="http://schemas.microsoft.com/office/powerpoint/2010/main" val="1118178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html-shape-1">
            <a:extLst>
              <a:ext uri="{FF2B5EF4-FFF2-40B4-BE49-F238E27FC236}">
                <a16:creationId xmlns:a16="http://schemas.microsoft.com/office/drawing/2014/main" id="{26C22A11-0202-4121-BF30-F23C2D266EFD}"/>
              </a:ext>
            </a:extLst>
          </p:cNvPr>
          <p:cNvSpPr>
            <a:spLocks noGrp="1"/>
          </p:cNvSpPr>
          <p:nvPr/>
        </p:nvSpPr>
        <p:spPr>
          <a:xfrm>
            <a:off x="771525" y="3352800"/>
            <a:ext cx="4670108" cy="3238500"/>
          </a:xfrm>
          <a:prstGeom prst="rect">
            <a:avLst/>
          </a:prstGeom>
          <a:solidFill>
            <a:srgbClr val="F6F4FC"/>
          </a:solidFill>
          <a:ln w="0">
            <a:noFill/>
            <a:prstDash val="solid"/>
          </a:ln>
        </p:spPr>
      </p:sp>
      <p:sp>
        <p:nvSpPr>
          <p:cNvPr id="2" name="html-shape-3">
            <a:extLst>
              <a:ext uri="{FF2B5EF4-FFF2-40B4-BE49-F238E27FC236}">
                <a16:creationId xmlns:a16="http://schemas.microsoft.com/office/drawing/2014/main" id="{00551F2E-BA8D-4E3F-8BEF-406C3ACFB89D}"/>
              </a:ext>
            </a:extLst>
          </p:cNvPr>
          <p:cNvSpPr>
            <a:spLocks noGrp="1"/>
          </p:cNvSpPr>
          <p:nvPr/>
        </p:nvSpPr>
        <p:spPr>
          <a:xfrm>
            <a:off x="6108383" y="3352800"/>
            <a:ext cx="6071140" cy="3238500"/>
          </a:xfrm>
          <a:prstGeom prst="rect">
            <a:avLst/>
          </a:prstGeom>
          <a:solidFill>
            <a:srgbClr val="E9EFFF"/>
          </a:solidFill>
          <a:ln w="0">
            <a:noFill/>
            <a:prstDash val="solid"/>
          </a:ln>
        </p:spPr>
      </p:sp>
      <p:sp>
        <p:nvSpPr>
          <p:cNvPr id="3" name="html-shape-5">
            <a:extLst>
              <a:ext uri="{FF2B5EF4-FFF2-40B4-BE49-F238E27FC236}">
                <a16:creationId xmlns:a16="http://schemas.microsoft.com/office/drawing/2014/main" id="{D1F89875-62E3-466D-B0E3-5A554A7241BB}"/>
              </a:ext>
            </a:extLst>
          </p:cNvPr>
          <p:cNvSpPr>
            <a:spLocks noGrp="1"/>
          </p:cNvSpPr>
          <p:nvPr/>
        </p:nvSpPr>
        <p:spPr>
          <a:xfrm>
            <a:off x="12846272" y="3352800"/>
            <a:ext cx="4670203" cy="3238500"/>
          </a:xfrm>
          <a:prstGeom prst="rect">
            <a:avLst/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4" name="html-shape-7">
            <a:extLst>
              <a:ext uri="{FF2B5EF4-FFF2-40B4-BE49-F238E27FC236}">
                <a16:creationId xmlns:a16="http://schemas.microsoft.com/office/drawing/2014/main" id="{277505E8-C318-4A57-8AF6-8BA4B7902B91}"/>
              </a:ext>
            </a:extLst>
          </p:cNvPr>
          <p:cNvSpPr>
            <a:spLocks noGrp="1"/>
          </p:cNvSpPr>
          <p:nvPr/>
        </p:nvSpPr>
        <p:spPr>
          <a:xfrm>
            <a:off x="771525" y="7105650"/>
            <a:ext cx="8086725" cy="14287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" name="html-shape-9">
            <a:extLst>
              <a:ext uri="{FF2B5EF4-FFF2-40B4-BE49-F238E27FC236}">
                <a16:creationId xmlns:a16="http://schemas.microsoft.com/office/drawing/2014/main" id="{C683FE63-9172-4209-A80C-95C39451F2FC}"/>
              </a:ext>
            </a:extLst>
          </p:cNvPr>
          <p:cNvSpPr>
            <a:spLocks noGrp="1"/>
          </p:cNvSpPr>
          <p:nvPr/>
        </p:nvSpPr>
        <p:spPr>
          <a:xfrm>
            <a:off x="9429750" y="7105650"/>
            <a:ext cx="8086725" cy="14287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" name="html-shape-11">
            <a:extLst>
              <a:ext uri="{FF2B5EF4-FFF2-40B4-BE49-F238E27FC236}">
                <a16:creationId xmlns:a16="http://schemas.microsoft.com/office/drawing/2014/main" id="{C3E3C5F3-2DB7-4FC9-88E7-29E51C8C66DC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7" name="border-2">
            <a:extLst>
              <a:ext uri="{FF2B5EF4-FFF2-40B4-BE49-F238E27FC236}">
                <a16:creationId xmlns:a16="http://schemas.microsoft.com/office/drawing/2014/main" id="{ED48CFBA-737B-48A7-B39F-4779FB759B0F}"/>
              </a:ext>
            </a:extLst>
          </p:cNvPr>
          <p:cNvSpPr>
            <a:spLocks noGrp="1"/>
          </p:cNvSpPr>
          <p:nvPr/>
        </p:nvSpPr>
        <p:spPr>
          <a:xfrm>
            <a:off x="771525" y="3352800"/>
            <a:ext cx="4670108" cy="5715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8" name="border-4">
            <a:extLst>
              <a:ext uri="{FF2B5EF4-FFF2-40B4-BE49-F238E27FC236}">
                <a16:creationId xmlns:a16="http://schemas.microsoft.com/office/drawing/2014/main" id="{134A2EA6-DA9B-4099-B87A-19CD31CE4755}"/>
              </a:ext>
            </a:extLst>
          </p:cNvPr>
          <p:cNvSpPr>
            <a:spLocks noGrp="1"/>
          </p:cNvSpPr>
          <p:nvPr/>
        </p:nvSpPr>
        <p:spPr>
          <a:xfrm>
            <a:off x="6108383" y="3352800"/>
            <a:ext cx="6071140" cy="57150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9" name="border-6">
            <a:extLst>
              <a:ext uri="{FF2B5EF4-FFF2-40B4-BE49-F238E27FC236}">
                <a16:creationId xmlns:a16="http://schemas.microsoft.com/office/drawing/2014/main" id="{0E0D6E0F-76C3-4F1D-B33D-CF42BA3A73D9}"/>
              </a:ext>
            </a:extLst>
          </p:cNvPr>
          <p:cNvSpPr>
            <a:spLocks noGrp="1"/>
          </p:cNvSpPr>
          <p:nvPr/>
        </p:nvSpPr>
        <p:spPr>
          <a:xfrm>
            <a:off x="12846272" y="3352800"/>
            <a:ext cx="4670203" cy="5715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0" name="border-8">
            <a:extLst>
              <a:ext uri="{FF2B5EF4-FFF2-40B4-BE49-F238E27FC236}">
                <a16:creationId xmlns:a16="http://schemas.microsoft.com/office/drawing/2014/main" id="{FE4A5321-536A-4895-BB1B-2F484AA9845E}"/>
              </a:ext>
            </a:extLst>
          </p:cNvPr>
          <p:cNvSpPr>
            <a:spLocks noGrp="1"/>
          </p:cNvSpPr>
          <p:nvPr/>
        </p:nvSpPr>
        <p:spPr>
          <a:xfrm>
            <a:off x="771525" y="7105650"/>
            <a:ext cx="8086725" cy="285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" name="border-10">
            <a:extLst>
              <a:ext uri="{FF2B5EF4-FFF2-40B4-BE49-F238E27FC236}">
                <a16:creationId xmlns:a16="http://schemas.microsoft.com/office/drawing/2014/main" id="{5C47C80D-E188-4397-8CFA-792A6275929C}"/>
              </a:ext>
            </a:extLst>
          </p:cNvPr>
          <p:cNvSpPr>
            <a:spLocks noGrp="1"/>
          </p:cNvSpPr>
          <p:nvPr/>
        </p:nvSpPr>
        <p:spPr>
          <a:xfrm>
            <a:off x="9429750" y="7105650"/>
            <a:ext cx="8086725" cy="2857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51F81B7-C3F8-4D50-BB0C-6B218B5EA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79F2043-7DBD-45FE-AE4E-F8FAA5A4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4" name="text-1">
            <a:extLst>
              <a:ext uri="{FF2B5EF4-FFF2-40B4-BE49-F238E27FC236}">
                <a16:creationId xmlns:a16="http://schemas.microsoft.com/office/drawing/2014/main" id="{EA93F0FC-5BEC-481A-90C9-B078B6554427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5" name="text-2">
            <a:extLst>
              <a:ext uri="{FF2B5EF4-FFF2-40B4-BE49-F238E27FC236}">
                <a16:creationId xmlns:a16="http://schemas.microsoft.com/office/drawing/2014/main" id="{41B303AF-59B5-4325-89EA-5E164A209BC6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401393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 · 网络受限</a:t>
            </a:r>
          </a:p>
        </p:txBody>
      </p:sp>
      <p:sp>
        <p:nvSpPr>
          <p:cNvPr id="16" name="text-3">
            <a:extLst>
              <a:ext uri="{FF2B5EF4-FFF2-40B4-BE49-F238E27FC236}">
                <a16:creationId xmlns:a16="http://schemas.microsoft.com/office/drawing/2014/main" id="{1EDFAAF6-FC0F-42ED-A4D4-861F73628FA3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077068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63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如果跨机房网络带宽受限，异构 PD 会怎样？</a:t>
            </a:r>
          </a:p>
        </p:txBody>
      </p:sp>
      <p:sp>
        <p:nvSpPr>
          <p:cNvPr id="17" name="text-4">
            <a:extLst>
              <a:ext uri="{FF2B5EF4-FFF2-40B4-BE49-F238E27FC236}">
                <a16:creationId xmlns:a16="http://schemas.microsoft.com/office/drawing/2014/main" id="{D2314D58-3CFA-4860-89FC-862B8FE7D6A7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8362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跨机房互联的带宽成本更高，在成本约束下，可用带宽往往更小。</a:t>
            </a:r>
          </a:p>
        </p:txBody>
      </p:sp>
      <p:sp>
        <p:nvSpPr>
          <p:cNvPr id="18" name="text-5">
            <a:extLst>
              <a:ext uri="{FF2B5EF4-FFF2-40B4-BE49-F238E27FC236}">
                <a16:creationId xmlns:a16="http://schemas.microsoft.com/office/drawing/2014/main" id="{140A657D-083C-4DDB-9977-3B404100DF64}"/>
              </a:ext>
            </a:extLst>
          </p:cNvPr>
          <p:cNvSpPr>
            <a:spLocks noGrp="1"/>
          </p:cNvSpPr>
          <p:nvPr/>
        </p:nvSpPr>
        <p:spPr>
          <a:xfrm>
            <a:off x="2656904" y="3771900"/>
            <a:ext cx="95640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19" name="text-6">
            <a:extLst>
              <a:ext uri="{FF2B5EF4-FFF2-40B4-BE49-F238E27FC236}">
                <a16:creationId xmlns:a16="http://schemas.microsoft.com/office/drawing/2014/main" id="{63C7F9D9-B145-4FCE-AD5C-F15C8036E098}"/>
              </a:ext>
            </a:extLst>
          </p:cNvPr>
          <p:cNvSpPr>
            <a:spLocks noGrp="1"/>
          </p:cNvSpPr>
          <p:nvPr/>
        </p:nvSpPr>
        <p:spPr>
          <a:xfrm>
            <a:off x="1061847" y="4314825"/>
            <a:ext cx="414651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rPr>
              <a:t>3P · 24 × 高算力设备 C</a:t>
            </a:r>
          </a:p>
        </p:txBody>
      </p:sp>
      <p:sp>
        <p:nvSpPr>
          <p:cNvPr id="20" name="text-7">
            <a:extLst>
              <a:ext uri="{FF2B5EF4-FFF2-40B4-BE49-F238E27FC236}">
                <a16:creationId xmlns:a16="http://schemas.microsoft.com/office/drawing/2014/main" id="{028AB751-7E58-40B4-A6BD-9A9BEE8F389D}"/>
              </a:ext>
            </a:extLst>
          </p:cNvPr>
          <p:cNvSpPr>
            <a:spLocks noGrp="1"/>
          </p:cNvSpPr>
          <p:nvPr/>
        </p:nvSpPr>
        <p:spPr>
          <a:xfrm>
            <a:off x="2085499" y="4991100"/>
            <a:ext cx="209921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4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6 个节点</a:t>
            </a:r>
          </a:p>
        </p:txBody>
      </p:sp>
      <p:sp>
        <p:nvSpPr>
          <p:cNvPr id="21" name="text-8">
            <a:extLst>
              <a:ext uri="{FF2B5EF4-FFF2-40B4-BE49-F238E27FC236}">
                <a16:creationId xmlns:a16="http://schemas.microsoft.com/office/drawing/2014/main" id="{12AB2A31-57D8-4F30-B14D-0242709D469B}"/>
              </a:ext>
            </a:extLst>
          </p:cNvPr>
          <p:cNvSpPr>
            <a:spLocks noGrp="1"/>
          </p:cNvSpPr>
          <p:nvPr/>
        </p:nvSpPr>
        <p:spPr>
          <a:xfrm>
            <a:off x="1954244" y="5858732"/>
            <a:ext cx="236162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每个 P：PP2 / TP8</a:t>
            </a:r>
          </a:p>
        </p:txBody>
      </p:sp>
      <p:sp>
        <p:nvSpPr>
          <p:cNvPr id="22" name="text-9">
            <a:extLst>
              <a:ext uri="{FF2B5EF4-FFF2-40B4-BE49-F238E27FC236}">
                <a16:creationId xmlns:a16="http://schemas.microsoft.com/office/drawing/2014/main" id="{E4C67A5A-276F-4975-A501-3A22B0B5C26A}"/>
              </a:ext>
            </a:extLst>
          </p:cNvPr>
          <p:cNvSpPr>
            <a:spLocks noGrp="1"/>
          </p:cNvSpPr>
          <p:nvPr/>
        </p:nvSpPr>
        <p:spPr>
          <a:xfrm>
            <a:off x="5555933" y="4676775"/>
            <a:ext cx="49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3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3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3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3" name="text-10">
            <a:extLst>
              <a:ext uri="{FF2B5EF4-FFF2-40B4-BE49-F238E27FC236}">
                <a16:creationId xmlns:a16="http://schemas.microsoft.com/office/drawing/2014/main" id="{F29CFBB7-7F6A-4ACE-89C0-86EA3274DB3C}"/>
              </a:ext>
            </a:extLst>
          </p:cNvPr>
          <p:cNvSpPr>
            <a:spLocks noGrp="1"/>
          </p:cNvSpPr>
          <p:nvPr/>
        </p:nvSpPr>
        <p:spPr>
          <a:xfrm>
            <a:off x="8349425" y="3771900"/>
            <a:ext cx="164620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同园区 · 跨机房</a:t>
            </a:r>
          </a:p>
        </p:txBody>
      </p:sp>
      <p:sp>
        <p:nvSpPr>
          <p:cNvPr id="24" name="text-11">
            <a:extLst>
              <a:ext uri="{FF2B5EF4-FFF2-40B4-BE49-F238E27FC236}">
                <a16:creationId xmlns:a16="http://schemas.microsoft.com/office/drawing/2014/main" id="{35885B74-D93C-40AE-A136-E55AAB44B5F8}"/>
              </a:ext>
            </a:extLst>
          </p:cNvPr>
          <p:cNvSpPr>
            <a:spLocks noGrp="1"/>
          </p:cNvSpPr>
          <p:nvPr/>
        </p:nvSpPr>
        <p:spPr>
          <a:xfrm>
            <a:off x="7488269" y="4314825"/>
            <a:ext cx="3368326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rPr>
              <a:t>Mooncake TE TCP</a:t>
            </a:r>
          </a:p>
        </p:txBody>
      </p:sp>
      <p:sp>
        <p:nvSpPr>
          <p:cNvPr id="25" name="text-12">
            <a:extLst>
              <a:ext uri="{FF2B5EF4-FFF2-40B4-BE49-F238E27FC236}">
                <a16:creationId xmlns:a16="http://schemas.microsoft.com/office/drawing/2014/main" id="{5A772FB6-7D87-4F68-A953-D05553FB8BEE}"/>
              </a:ext>
            </a:extLst>
          </p:cNvPr>
          <p:cNvSpPr>
            <a:spLocks noGrp="1"/>
          </p:cNvSpPr>
          <p:nvPr/>
        </p:nvSpPr>
        <p:spPr>
          <a:xfrm>
            <a:off x="7035260" y="4991100"/>
            <a:ext cx="4274534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9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9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9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100GbE → 20GbE</a:t>
            </a:r>
          </a:p>
        </p:txBody>
      </p:sp>
      <p:sp>
        <p:nvSpPr>
          <p:cNvPr id="26" name="text-13">
            <a:extLst>
              <a:ext uri="{FF2B5EF4-FFF2-40B4-BE49-F238E27FC236}">
                <a16:creationId xmlns:a16="http://schemas.microsoft.com/office/drawing/2014/main" id="{F2B80D64-6AEE-44A4-86D1-1E0CCDEC5550}"/>
              </a:ext>
            </a:extLst>
          </p:cNvPr>
          <p:cNvSpPr>
            <a:spLocks noGrp="1"/>
          </p:cNvSpPr>
          <p:nvPr/>
        </p:nvSpPr>
        <p:spPr>
          <a:xfrm>
            <a:off x="7329964" y="5836920"/>
            <a:ext cx="368503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本组 TCP Goodput · 18.8Gb/s</a:t>
            </a:r>
          </a:p>
        </p:txBody>
      </p:sp>
      <p:sp>
        <p:nvSpPr>
          <p:cNvPr id="27" name="text-14">
            <a:extLst>
              <a:ext uri="{FF2B5EF4-FFF2-40B4-BE49-F238E27FC236}">
                <a16:creationId xmlns:a16="http://schemas.microsoft.com/office/drawing/2014/main" id="{ECEB33D5-8FA8-40AF-8B7C-BBD0D9037AFC}"/>
              </a:ext>
            </a:extLst>
          </p:cNvPr>
          <p:cNvSpPr>
            <a:spLocks noGrp="1"/>
          </p:cNvSpPr>
          <p:nvPr/>
        </p:nvSpPr>
        <p:spPr>
          <a:xfrm>
            <a:off x="12293822" y="4676775"/>
            <a:ext cx="49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3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3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3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28" name="text-15">
            <a:extLst>
              <a:ext uri="{FF2B5EF4-FFF2-40B4-BE49-F238E27FC236}">
                <a16:creationId xmlns:a16="http://schemas.microsoft.com/office/drawing/2014/main" id="{59E4C65F-138F-40EF-B35D-E42E282FF001}"/>
              </a:ext>
            </a:extLst>
          </p:cNvPr>
          <p:cNvSpPr>
            <a:spLocks noGrp="1"/>
          </p:cNvSpPr>
          <p:nvPr/>
        </p:nvSpPr>
        <p:spPr>
          <a:xfrm>
            <a:off x="14708219" y="3771900"/>
            <a:ext cx="1003268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29" name="text-16">
            <a:extLst>
              <a:ext uri="{FF2B5EF4-FFF2-40B4-BE49-F238E27FC236}">
                <a16:creationId xmlns:a16="http://schemas.microsoft.com/office/drawing/2014/main" id="{786F166B-07BC-4A8E-A838-837AE9775A88}"/>
              </a:ext>
            </a:extLst>
          </p:cNvPr>
          <p:cNvSpPr>
            <a:spLocks noGrp="1"/>
          </p:cNvSpPr>
          <p:nvPr/>
        </p:nvSpPr>
        <p:spPr>
          <a:xfrm>
            <a:off x="13279088" y="4314825"/>
            <a:ext cx="3861626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92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92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925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rPr>
              <a:t>1D · 8 × 高带宽设备 B</a:t>
            </a:r>
          </a:p>
        </p:txBody>
      </p:sp>
      <p:sp>
        <p:nvSpPr>
          <p:cNvPr id="30" name="text-17">
            <a:extLst>
              <a:ext uri="{FF2B5EF4-FFF2-40B4-BE49-F238E27FC236}">
                <a16:creationId xmlns:a16="http://schemas.microsoft.com/office/drawing/2014/main" id="{A25E94F8-496B-4ED8-A229-5018A65D9353}"/>
              </a:ext>
            </a:extLst>
          </p:cNvPr>
          <p:cNvSpPr>
            <a:spLocks noGrp="1"/>
          </p:cNvSpPr>
          <p:nvPr/>
        </p:nvSpPr>
        <p:spPr>
          <a:xfrm>
            <a:off x="14209205" y="4991100"/>
            <a:ext cx="2001488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40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0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050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1 个节点</a:t>
            </a:r>
          </a:p>
        </p:txBody>
      </p:sp>
      <p:sp>
        <p:nvSpPr>
          <p:cNvPr id="31" name="text-18">
            <a:extLst>
              <a:ext uri="{FF2B5EF4-FFF2-40B4-BE49-F238E27FC236}">
                <a16:creationId xmlns:a16="http://schemas.microsoft.com/office/drawing/2014/main" id="{DBA398AC-5ECE-4096-B046-AF4BA82B129A}"/>
              </a:ext>
            </a:extLst>
          </p:cNvPr>
          <p:cNvSpPr>
            <a:spLocks noGrp="1"/>
          </p:cNvSpPr>
          <p:nvPr/>
        </p:nvSpPr>
        <p:spPr>
          <a:xfrm>
            <a:off x="13944410" y="5858732"/>
            <a:ext cx="253098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TP8 / Attention DP8</a:t>
            </a:r>
          </a:p>
        </p:txBody>
      </p:sp>
      <p:sp>
        <p:nvSpPr>
          <p:cNvPr id="32" name="text-19">
            <a:extLst>
              <a:ext uri="{FF2B5EF4-FFF2-40B4-BE49-F238E27FC236}">
                <a16:creationId xmlns:a16="http://schemas.microsoft.com/office/drawing/2014/main" id="{D81AF0BF-1DDE-4B45-8BDF-3D80203985A8}"/>
              </a:ext>
            </a:extLst>
          </p:cNvPr>
          <p:cNvSpPr>
            <a:spLocks noGrp="1"/>
          </p:cNvSpPr>
          <p:nvPr/>
        </p:nvSpPr>
        <p:spPr>
          <a:xfrm>
            <a:off x="762000" y="7324725"/>
            <a:ext cx="87972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PREFILL</a:t>
            </a:r>
          </a:p>
        </p:txBody>
      </p:sp>
      <p:sp>
        <p:nvSpPr>
          <p:cNvPr id="33" name="text-20">
            <a:extLst>
              <a:ext uri="{FF2B5EF4-FFF2-40B4-BE49-F238E27FC236}">
                <a16:creationId xmlns:a16="http://schemas.microsoft.com/office/drawing/2014/main" id="{1AF5577B-69DC-44CD-BA61-E80917E5A800}"/>
              </a:ext>
            </a:extLst>
          </p:cNvPr>
          <p:cNvSpPr>
            <a:spLocks noGrp="1"/>
          </p:cNvSpPr>
          <p:nvPr/>
        </p:nvSpPr>
        <p:spPr>
          <a:xfrm>
            <a:off x="762000" y="7696200"/>
            <a:ext cx="4038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rPr>
              <a:t>吞吐能否接近网络容量上限？</a:t>
            </a:r>
          </a:p>
        </p:txBody>
      </p:sp>
      <p:sp>
        <p:nvSpPr>
          <p:cNvPr id="34" name="text-21">
            <a:extLst>
              <a:ext uri="{FF2B5EF4-FFF2-40B4-BE49-F238E27FC236}">
                <a16:creationId xmlns:a16="http://schemas.microsoft.com/office/drawing/2014/main" id="{CFE9071C-A9CE-4CAC-97CA-E20BF3DDABE4}"/>
              </a:ext>
            </a:extLst>
          </p:cNvPr>
          <p:cNvSpPr>
            <a:spLocks noGrp="1"/>
          </p:cNvSpPr>
          <p:nvPr/>
        </p:nvSpPr>
        <p:spPr>
          <a:xfrm>
            <a:off x="762000" y="8220075"/>
            <a:ext cx="4842891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用模型 KV 数据量换算链路可承载的 Input TPS</a:t>
            </a:r>
          </a:p>
        </p:txBody>
      </p:sp>
      <p:sp>
        <p:nvSpPr>
          <p:cNvPr id="35" name="text-22">
            <a:extLst>
              <a:ext uri="{FF2B5EF4-FFF2-40B4-BE49-F238E27FC236}">
                <a16:creationId xmlns:a16="http://schemas.microsoft.com/office/drawing/2014/main" id="{28253B5C-957A-43B8-9597-C46D2F559317}"/>
              </a:ext>
            </a:extLst>
          </p:cNvPr>
          <p:cNvSpPr>
            <a:spLocks noGrp="1"/>
          </p:cNvSpPr>
          <p:nvPr/>
        </p:nvSpPr>
        <p:spPr>
          <a:xfrm>
            <a:off x="9420225" y="7324725"/>
            <a:ext cx="922592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36" name="text-23">
            <a:extLst>
              <a:ext uri="{FF2B5EF4-FFF2-40B4-BE49-F238E27FC236}">
                <a16:creationId xmlns:a16="http://schemas.microsoft.com/office/drawing/2014/main" id="{8C415856-2485-4C3A-9BE9-CD0E3EB5EC8D}"/>
              </a:ext>
            </a:extLst>
          </p:cNvPr>
          <p:cNvSpPr>
            <a:spLocks noGrp="1"/>
          </p:cNvSpPr>
          <p:nvPr/>
        </p:nvSpPr>
        <p:spPr>
          <a:xfrm>
            <a:off x="9420225" y="7696200"/>
            <a:ext cx="3733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283143"/>
                </a:solidFill>
                <a:latin typeface="PingFang SC"/>
                <a:ea typeface="PingFang SC"/>
                <a:cs typeface="Arial"/>
              </a:rPr>
              <a:t>高质量输出速度能否保持？</a:t>
            </a:r>
          </a:p>
        </p:txBody>
      </p:sp>
      <p:sp>
        <p:nvSpPr>
          <p:cNvPr id="37" name="text-24">
            <a:extLst>
              <a:ext uri="{FF2B5EF4-FFF2-40B4-BE49-F238E27FC236}">
                <a16:creationId xmlns:a16="http://schemas.microsoft.com/office/drawing/2014/main" id="{AC04F81A-1F08-4E1A-99D8-217D663C4D28}"/>
              </a:ext>
            </a:extLst>
          </p:cNvPr>
          <p:cNvSpPr>
            <a:spLocks noGrp="1"/>
          </p:cNvSpPr>
          <p:nvPr/>
        </p:nvSpPr>
        <p:spPr>
          <a:xfrm>
            <a:off x="9420225" y="8220075"/>
            <a:ext cx="4429601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检查传输完成后的 Interactivity 与输出优势</a:t>
            </a:r>
          </a:p>
        </p:txBody>
      </p:sp>
      <p:sp>
        <p:nvSpPr>
          <p:cNvPr id="38" name="text-25">
            <a:extLst>
              <a:ext uri="{FF2B5EF4-FFF2-40B4-BE49-F238E27FC236}">
                <a16:creationId xmlns:a16="http://schemas.microsoft.com/office/drawing/2014/main" id="{D5435A9B-ABE8-40A8-A6DE-5AE061E1F989}"/>
              </a:ext>
            </a:extLst>
          </p:cNvPr>
          <p:cNvSpPr>
            <a:spLocks noGrp="1"/>
          </p:cNvSpPr>
          <p:nvPr/>
        </p:nvSpPr>
        <p:spPr>
          <a:xfrm>
            <a:off x="4306157" y="9080183"/>
            <a:ext cx="973264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同园区跨机房实验采用 20GbE，检验受限带宽下的 Prefill 吞吐与 Decode 输出。</a:t>
            </a:r>
          </a:p>
        </p:txBody>
      </p:sp>
      <p:sp>
        <p:nvSpPr>
          <p:cNvPr id="39" name="text-26">
            <a:extLst>
              <a:ext uri="{FF2B5EF4-FFF2-40B4-BE49-F238E27FC236}">
                <a16:creationId xmlns:a16="http://schemas.microsoft.com/office/drawing/2014/main" id="{06411D9D-E193-4BF1-BB72-B03B5DE9C344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9083326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Kimi K2.6 3P1D 部署与低带宽实验。跨园区实验为 100GbE，同园区实验为 20GbE；两组独立，不作纯带宽 A/B 归因。</a:t>
            </a:r>
          </a:p>
        </p:txBody>
      </p:sp>
      <p:sp>
        <p:nvSpPr>
          <p:cNvPr id="40" name="text-27">
            <a:extLst>
              <a:ext uri="{FF2B5EF4-FFF2-40B4-BE49-F238E27FC236}">
                <a16:creationId xmlns:a16="http://schemas.microsoft.com/office/drawing/2014/main" id="{871E7736-FCBE-4786-97A7-5669B3441ED0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32 / 43</a:t>
            </a:r>
          </a:p>
        </p:txBody>
      </p:sp>
    </p:spTree>
    <p:extLst>
      <p:ext uri="{BB962C8B-B14F-4D97-AF65-F5344CB8AC3E}">
        <p14:creationId xmlns:p14="http://schemas.microsoft.com/office/powerpoint/2010/main" val="1698713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html-shape-51">
            <a:extLst>
              <a:ext uri="{FF2B5EF4-FFF2-40B4-BE49-F238E27FC236}">
                <a16:creationId xmlns:a16="http://schemas.microsoft.com/office/drawing/2014/main" id="{425993D5-43A7-4AB2-934C-CC7CC4C0F7F6}"/>
              </a:ext>
            </a:extLst>
          </p:cNvPr>
          <p:cNvSpPr>
            <a:spLocks noGrp="1"/>
          </p:cNvSpPr>
          <p:nvPr/>
        </p:nvSpPr>
        <p:spPr>
          <a:xfrm>
            <a:off x="771525" y="3257550"/>
            <a:ext cx="5391150" cy="5314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html-shape-55">
            <a:extLst>
              <a:ext uri="{FF2B5EF4-FFF2-40B4-BE49-F238E27FC236}">
                <a16:creationId xmlns:a16="http://schemas.microsoft.com/office/drawing/2014/main" id="{1458821E-00F9-47CA-A7D3-B9AC051EA0A5}"/>
              </a:ext>
            </a:extLst>
          </p:cNvPr>
          <p:cNvSpPr>
            <a:spLocks noGrp="1"/>
          </p:cNvSpPr>
          <p:nvPr/>
        </p:nvSpPr>
        <p:spPr>
          <a:xfrm>
            <a:off x="6448425" y="3257550"/>
            <a:ext cx="5391150" cy="5314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html-shape-59">
            <a:extLst>
              <a:ext uri="{FF2B5EF4-FFF2-40B4-BE49-F238E27FC236}">
                <a16:creationId xmlns:a16="http://schemas.microsoft.com/office/drawing/2014/main" id="{A4265CEB-6AD2-4651-A0B0-92F895B97271}"/>
              </a:ext>
            </a:extLst>
          </p:cNvPr>
          <p:cNvSpPr>
            <a:spLocks noGrp="1"/>
          </p:cNvSpPr>
          <p:nvPr/>
        </p:nvSpPr>
        <p:spPr>
          <a:xfrm>
            <a:off x="12125325" y="3257550"/>
            <a:ext cx="5391150" cy="5314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html-shape-63">
            <a:extLst>
              <a:ext uri="{FF2B5EF4-FFF2-40B4-BE49-F238E27FC236}">
                <a16:creationId xmlns:a16="http://schemas.microsoft.com/office/drawing/2014/main" id="{D5E6327F-3D58-4D33-95E5-DA5112EAF9B0}"/>
              </a:ext>
            </a:extLst>
          </p:cNvPr>
          <p:cNvSpPr>
            <a:spLocks noGrp="1"/>
          </p:cNvSpPr>
          <p:nvPr/>
        </p:nvSpPr>
        <p:spPr>
          <a:xfrm>
            <a:off x="1600200" y="8648700"/>
            <a:ext cx="15087600" cy="723900"/>
          </a:xfrm>
          <a:prstGeom prst="roundRect">
            <a:avLst>
              <a:gd name="adj" fmla="val 1973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5" name="svg-line-1">
            <a:extLst>
              <a:ext uri="{FF2B5EF4-FFF2-40B4-BE49-F238E27FC236}">
                <a16:creationId xmlns:a16="http://schemas.microsoft.com/office/drawing/2014/main" id="{E7AA4EB6-E392-43A5-9E83-753DD3F48580}"/>
              </a:ext>
            </a:extLst>
          </p:cNvPr>
          <p:cNvSpPr>
            <a:spLocks noGrp="1"/>
          </p:cNvSpPr>
          <p:nvPr/>
        </p:nvSpPr>
        <p:spPr>
          <a:xfrm>
            <a:off x="1705928" y="6817519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6" name="svg-line-2">
            <a:extLst>
              <a:ext uri="{FF2B5EF4-FFF2-40B4-BE49-F238E27FC236}">
                <a16:creationId xmlns:a16="http://schemas.microsoft.com/office/drawing/2014/main" id="{DBB7CE81-D326-4100-862B-0B6F2696B2B8}"/>
              </a:ext>
            </a:extLst>
          </p:cNvPr>
          <p:cNvSpPr>
            <a:spLocks noGrp="1"/>
          </p:cNvSpPr>
          <p:nvPr/>
        </p:nvSpPr>
        <p:spPr>
          <a:xfrm>
            <a:off x="1705928" y="6186583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7" name="svg-line-3">
            <a:extLst>
              <a:ext uri="{FF2B5EF4-FFF2-40B4-BE49-F238E27FC236}">
                <a16:creationId xmlns:a16="http://schemas.microsoft.com/office/drawing/2014/main" id="{5E999442-767B-4A2A-9E21-8DA11E897884}"/>
              </a:ext>
            </a:extLst>
          </p:cNvPr>
          <p:cNvSpPr>
            <a:spLocks noGrp="1"/>
          </p:cNvSpPr>
          <p:nvPr/>
        </p:nvSpPr>
        <p:spPr>
          <a:xfrm>
            <a:off x="1705928" y="5555647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8" name="svg-line-4">
            <a:extLst>
              <a:ext uri="{FF2B5EF4-FFF2-40B4-BE49-F238E27FC236}">
                <a16:creationId xmlns:a16="http://schemas.microsoft.com/office/drawing/2014/main" id="{ADCFCAEA-2608-45D5-9FEC-DFF9C1CBE1BA}"/>
              </a:ext>
            </a:extLst>
          </p:cNvPr>
          <p:cNvSpPr>
            <a:spLocks noGrp="1"/>
          </p:cNvSpPr>
          <p:nvPr/>
        </p:nvSpPr>
        <p:spPr>
          <a:xfrm>
            <a:off x="1705928" y="4924711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9" name="svg-line-5">
            <a:extLst>
              <a:ext uri="{FF2B5EF4-FFF2-40B4-BE49-F238E27FC236}">
                <a16:creationId xmlns:a16="http://schemas.microsoft.com/office/drawing/2014/main" id="{40144BF6-73BB-4854-929B-A4E61179E320}"/>
              </a:ext>
            </a:extLst>
          </p:cNvPr>
          <p:cNvSpPr>
            <a:spLocks noGrp="1"/>
          </p:cNvSpPr>
          <p:nvPr/>
        </p:nvSpPr>
        <p:spPr>
          <a:xfrm>
            <a:off x="1705928" y="4293870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10" name="svg-line-6">
            <a:extLst>
              <a:ext uri="{FF2B5EF4-FFF2-40B4-BE49-F238E27FC236}">
                <a16:creationId xmlns:a16="http://schemas.microsoft.com/office/drawing/2014/main" id="{BC5F42E1-9CB7-4B30-BFEE-E421AEFED718}"/>
              </a:ext>
            </a:extLst>
          </p:cNvPr>
          <p:cNvSpPr>
            <a:spLocks noGrp="1"/>
          </p:cNvSpPr>
          <p:nvPr/>
        </p:nvSpPr>
        <p:spPr>
          <a:xfrm>
            <a:off x="1705928" y="4293870"/>
            <a:ext cx="4763" cy="2523744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11" name="svg-line-7">
            <a:extLst>
              <a:ext uri="{FF2B5EF4-FFF2-40B4-BE49-F238E27FC236}">
                <a16:creationId xmlns:a16="http://schemas.microsoft.com/office/drawing/2014/main" id="{B0462CA2-2764-4F61-BD0A-7C7F724C69F2}"/>
              </a:ext>
            </a:extLst>
          </p:cNvPr>
          <p:cNvSpPr>
            <a:spLocks noGrp="1"/>
          </p:cNvSpPr>
          <p:nvPr/>
        </p:nvSpPr>
        <p:spPr>
          <a:xfrm>
            <a:off x="1705928" y="6817519"/>
            <a:ext cx="3812858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12" name="svg-line-8">
            <a:extLst>
              <a:ext uri="{FF2B5EF4-FFF2-40B4-BE49-F238E27FC236}">
                <a16:creationId xmlns:a16="http://schemas.microsoft.com/office/drawing/2014/main" id="{076635DF-BB56-4637-96FB-4433CCF468D4}"/>
              </a:ext>
            </a:extLst>
          </p:cNvPr>
          <p:cNvSpPr>
            <a:spLocks noGrp="1"/>
          </p:cNvSpPr>
          <p:nvPr/>
        </p:nvSpPr>
        <p:spPr>
          <a:xfrm>
            <a:off x="3612356" y="4293870"/>
            <a:ext cx="4763" cy="2523744"/>
          </a:xfrm>
          <a:prstGeom prst="line">
            <a:avLst/>
          </a:prstGeom>
          <a:noFill/>
          <a:ln w="19050">
            <a:solidFill>
              <a:srgbClr val="642AF0"/>
            </a:solidFill>
            <a:prstDash val="dash"/>
          </a:ln>
        </p:spPr>
      </p:sp>
      <p:sp>
        <p:nvSpPr>
          <p:cNvPr id="13" name="svg-segment-9">
            <a:extLst>
              <a:ext uri="{FF2B5EF4-FFF2-40B4-BE49-F238E27FC236}">
                <a16:creationId xmlns:a16="http://schemas.microsoft.com/office/drawing/2014/main" id="{58C40094-EED0-446F-9EB0-0FC518F099D8}"/>
              </a:ext>
            </a:extLst>
          </p:cNvPr>
          <p:cNvSpPr>
            <a:spLocks noGrp="1"/>
          </p:cNvSpPr>
          <p:nvPr/>
        </p:nvSpPr>
        <p:spPr>
          <a:xfrm>
            <a:off x="2471261" y="6776657"/>
            <a:ext cx="117062" cy="18193"/>
          </a:xfrm>
          <a:custGeom>
            <a:avLst/>
            <a:gdLst/>
            <a:ahLst/>
            <a:cxnLst/>
            <a:rect l="0" t="0" r="0" b="0"/>
            <a:pathLst>
              <a:path w="117108" h="18156">
                <a:moveTo>
                  <a:pt x="117108" y="18156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4" name="svg-segment-10">
            <a:extLst>
              <a:ext uri="{FF2B5EF4-FFF2-40B4-BE49-F238E27FC236}">
                <a16:creationId xmlns:a16="http://schemas.microsoft.com/office/drawing/2014/main" id="{355BFB98-06A0-4036-8B69-AFE472EFCF2E}"/>
              </a:ext>
            </a:extLst>
          </p:cNvPr>
          <p:cNvSpPr>
            <a:spLocks noGrp="1"/>
          </p:cNvSpPr>
          <p:nvPr/>
        </p:nvSpPr>
        <p:spPr>
          <a:xfrm>
            <a:off x="2450306" y="6739509"/>
            <a:ext cx="20860" cy="37243"/>
          </a:xfrm>
          <a:custGeom>
            <a:avLst/>
            <a:gdLst/>
            <a:ahLst/>
            <a:cxnLst/>
            <a:rect l="0" t="0" r="0" b="0"/>
            <a:pathLst>
              <a:path w="20880" h="37220">
                <a:moveTo>
                  <a:pt x="20880" y="37220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5" name="svg-segment-11">
            <a:extLst>
              <a:ext uri="{FF2B5EF4-FFF2-40B4-BE49-F238E27FC236}">
                <a16:creationId xmlns:a16="http://schemas.microsoft.com/office/drawing/2014/main" id="{10E199D8-E720-42A6-B646-2FF7D4D9ECE7}"/>
              </a:ext>
            </a:extLst>
          </p:cNvPr>
          <p:cNvSpPr>
            <a:spLocks noGrp="1"/>
          </p:cNvSpPr>
          <p:nvPr/>
        </p:nvSpPr>
        <p:spPr>
          <a:xfrm>
            <a:off x="2450306" y="6656832"/>
            <a:ext cx="68961" cy="82582"/>
          </a:xfrm>
          <a:custGeom>
            <a:avLst/>
            <a:gdLst/>
            <a:ahLst/>
            <a:cxnLst/>
            <a:rect l="0" t="0" r="0" b="0"/>
            <a:pathLst>
              <a:path w="68994" h="82611">
                <a:moveTo>
                  <a:pt x="0" y="82611"/>
                </a:moveTo>
                <a:lnTo>
                  <a:pt x="68994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6" name="svg-segment-12">
            <a:extLst>
              <a:ext uri="{FF2B5EF4-FFF2-40B4-BE49-F238E27FC236}">
                <a16:creationId xmlns:a16="http://schemas.microsoft.com/office/drawing/2014/main" id="{DBBEA48F-5244-4D79-9CC7-A336A158AC52}"/>
              </a:ext>
            </a:extLst>
          </p:cNvPr>
          <p:cNvSpPr>
            <a:spLocks noGrp="1"/>
          </p:cNvSpPr>
          <p:nvPr/>
        </p:nvSpPr>
        <p:spPr>
          <a:xfrm>
            <a:off x="2366867" y="6544342"/>
            <a:ext cx="152495" cy="112586"/>
          </a:xfrm>
          <a:custGeom>
            <a:avLst/>
            <a:gdLst/>
            <a:ahLst/>
            <a:cxnLst/>
            <a:rect l="0" t="0" r="0" b="0"/>
            <a:pathLst>
              <a:path w="152513" h="112569">
                <a:moveTo>
                  <a:pt x="152513" y="112569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7" name="svg-segment-13">
            <a:extLst>
              <a:ext uri="{FF2B5EF4-FFF2-40B4-BE49-F238E27FC236}">
                <a16:creationId xmlns:a16="http://schemas.microsoft.com/office/drawing/2014/main" id="{FCE1FCEF-39B7-40B1-AED2-77E65CBAC87E}"/>
              </a:ext>
            </a:extLst>
          </p:cNvPr>
          <p:cNvSpPr>
            <a:spLocks noGrp="1"/>
          </p:cNvSpPr>
          <p:nvPr/>
        </p:nvSpPr>
        <p:spPr>
          <a:xfrm>
            <a:off x="2321433" y="6321838"/>
            <a:ext cx="45434" cy="222409"/>
          </a:xfrm>
          <a:custGeom>
            <a:avLst/>
            <a:gdLst/>
            <a:ahLst/>
            <a:cxnLst/>
            <a:rect l="0" t="0" r="0" b="0"/>
            <a:pathLst>
              <a:path w="45391" h="222415">
                <a:moveTo>
                  <a:pt x="45391" y="222415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8" name="svg-segment-14">
            <a:extLst>
              <a:ext uri="{FF2B5EF4-FFF2-40B4-BE49-F238E27FC236}">
                <a16:creationId xmlns:a16="http://schemas.microsoft.com/office/drawing/2014/main" id="{1665BBB9-2E55-443F-B3EC-0C1380986F4D}"/>
              </a:ext>
            </a:extLst>
          </p:cNvPr>
          <p:cNvSpPr>
            <a:spLocks noGrp="1"/>
          </p:cNvSpPr>
          <p:nvPr/>
        </p:nvSpPr>
        <p:spPr>
          <a:xfrm>
            <a:off x="2283333" y="6126671"/>
            <a:ext cx="38100" cy="195167"/>
          </a:xfrm>
          <a:custGeom>
            <a:avLst/>
            <a:gdLst/>
            <a:ahLst/>
            <a:cxnLst/>
            <a:rect l="0" t="0" r="0" b="0"/>
            <a:pathLst>
              <a:path w="38128" h="195180">
                <a:moveTo>
                  <a:pt x="38128" y="195180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9" name="svg-segment-15">
            <a:extLst>
              <a:ext uri="{FF2B5EF4-FFF2-40B4-BE49-F238E27FC236}">
                <a16:creationId xmlns:a16="http://schemas.microsoft.com/office/drawing/2014/main" id="{76A10DBB-C619-4393-8C6E-35B6CB21019A}"/>
              </a:ext>
            </a:extLst>
          </p:cNvPr>
          <p:cNvSpPr>
            <a:spLocks noGrp="1"/>
          </p:cNvSpPr>
          <p:nvPr/>
        </p:nvSpPr>
        <p:spPr>
          <a:xfrm>
            <a:off x="2263331" y="5975128"/>
            <a:ext cx="20003" cy="151638"/>
          </a:xfrm>
          <a:custGeom>
            <a:avLst/>
            <a:gdLst/>
            <a:ahLst/>
            <a:cxnLst/>
            <a:rect l="0" t="0" r="0" b="0"/>
            <a:pathLst>
              <a:path w="19972" h="151605">
                <a:moveTo>
                  <a:pt x="19972" y="151605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20" name="svg-segment-16">
            <a:extLst>
              <a:ext uri="{FF2B5EF4-FFF2-40B4-BE49-F238E27FC236}">
                <a16:creationId xmlns:a16="http://schemas.microsoft.com/office/drawing/2014/main" id="{DD5B53CA-D0B9-4C0B-B0AE-52EEE41A6D97}"/>
              </a:ext>
            </a:extLst>
          </p:cNvPr>
          <p:cNvSpPr>
            <a:spLocks noGrp="1"/>
          </p:cNvSpPr>
          <p:nvPr/>
        </p:nvSpPr>
        <p:spPr>
          <a:xfrm>
            <a:off x="4879658" y="6673215"/>
            <a:ext cx="38100" cy="71723"/>
          </a:xfrm>
          <a:custGeom>
            <a:avLst/>
            <a:gdLst/>
            <a:ahLst/>
            <a:cxnLst/>
            <a:rect l="0" t="0" r="0" b="0"/>
            <a:pathLst>
              <a:path w="38128" h="71717">
                <a:moveTo>
                  <a:pt x="38128" y="7171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1" name="svg-segment-17">
            <a:extLst>
              <a:ext uri="{FF2B5EF4-FFF2-40B4-BE49-F238E27FC236}">
                <a16:creationId xmlns:a16="http://schemas.microsoft.com/office/drawing/2014/main" id="{406DAD0A-74D0-4FAA-AFE8-DDB1823E693F}"/>
              </a:ext>
            </a:extLst>
          </p:cNvPr>
          <p:cNvSpPr>
            <a:spLocks noGrp="1"/>
          </p:cNvSpPr>
          <p:nvPr/>
        </p:nvSpPr>
        <p:spPr>
          <a:xfrm>
            <a:off x="4814316" y="6537008"/>
            <a:ext cx="65342" cy="136208"/>
          </a:xfrm>
          <a:custGeom>
            <a:avLst/>
            <a:gdLst/>
            <a:ahLst/>
            <a:cxnLst/>
            <a:rect l="0" t="0" r="0" b="0"/>
            <a:pathLst>
              <a:path w="65363" h="136172">
                <a:moveTo>
                  <a:pt x="65363" y="136172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2" name="svg-segment-18">
            <a:extLst>
              <a:ext uri="{FF2B5EF4-FFF2-40B4-BE49-F238E27FC236}">
                <a16:creationId xmlns:a16="http://schemas.microsoft.com/office/drawing/2014/main" id="{C8C07563-7492-4F92-BBFA-487C8F0E6B4B}"/>
              </a:ext>
            </a:extLst>
          </p:cNvPr>
          <p:cNvSpPr>
            <a:spLocks noGrp="1"/>
          </p:cNvSpPr>
          <p:nvPr/>
        </p:nvSpPr>
        <p:spPr>
          <a:xfrm>
            <a:off x="4814316" y="6255639"/>
            <a:ext cx="59055" cy="281464"/>
          </a:xfrm>
          <a:custGeom>
            <a:avLst/>
            <a:gdLst/>
            <a:ahLst/>
            <a:cxnLst/>
            <a:rect l="0" t="0" r="0" b="0"/>
            <a:pathLst>
              <a:path w="59008" h="281423">
                <a:moveTo>
                  <a:pt x="0" y="281423"/>
                </a:moveTo>
                <a:lnTo>
                  <a:pt x="59008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3" name="svg-segment-19">
            <a:extLst>
              <a:ext uri="{FF2B5EF4-FFF2-40B4-BE49-F238E27FC236}">
                <a16:creationId xmlns:a16="http://schemas.microsoft.com/office/drawing/2014/main" id="{3FE63BDE-555A-482B-90B5-97DC5DA64E09}"/>
              </a:ext>
            </a:extLst>
          </p:cNvPr>
          <p:cNvSpPr>
            <a:spLocks noGrp="1"/>
          </p:cNvSpPr>
          <p:nvPr/>
        </p:nvSpPr>
        <p:spPr>
          <a:xfrm>
            <a:off x="4443889" y="5851589"/>
            <a:ext cx="429387" cy="403955"/>
          </a:xfrm>
          <a:custGeom>
            <a:avLst/>
            <a:gdLst/>
            <a:ahLst/>
            <a:cxnLst/>
            <a:rect l="0" t="0" r="0" b="0"/>
            <a:pathLst>
              <a:path w="429396" h="403978">
                <a:moveTo>
                  <a:pt x="429396" y="403978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4" name="svg-segment-20">
            <a:extLst>
              <a:ext uri="{FF2B5EF4-FFF2-40B4-BE49-F238E27FC236}">
                <a16:creationId xmlns:a16="http://schemas.microsoft.com/office/drawing/2014/main" id="{F5B1AF32-F2A7-4B18-996B-5E4CB2706CD3}"/>
              </a:ext>
            </a:extLst>
          </p:cNvPr>
          <p:cNvSpPr>
            <a:spLocks noGrp="1"/>
          </p:cNvSpPr>
          <p:nvPr/>
        </p:nvSpPr>
        <p:spPr>
          <a:xfrm>
            <a:off x="4070795" y="5194364"/>
            <a:ext cx="373094" cy="657225"/>
          </a:xfrm>
          <a:custGeom>
            <a:avLst/>
            <a:gdLst/>
            <a:ahLst/>
            <a:cxnLst/>
            <a:rect l="0" t="0" r="0" b="0"/>
            <a:pathLst>
              <a:path w="373112" h="657258">
                <a:moveTo>
                  <a:pt x="373112" y="657258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5" name="svg-segment-21">
            <a:extLst>
              <a:ext uri="{FF2B5EF4-FFF2-40B4-BE49-F238E27FC236}">
                <a16:creationId xmlns:a16="http://schemas.microsoft.com/office/drawing/2014/main" id="{9E80F135-13AC-4F47-A0F2-17E777AFBEE0}"/>
              </a:ext>
            </a:extLst>
          </p:cNvPr>
          <p:cNvSpPr>
            <a:spLocks noGrp="1"/>
          </p:cNvSpPr>
          <p:nvPr/>
        </p:nvSpPr>
        <p:spPr>
          <a:xfrm>
            <a:off x="3499771" y="4960144"/>
            <a:ext cx="571024" cy="234220"/>
          </a:xfrm>
          <a:custGeom>
            <a:avLst/>
            <a:gdLst/>
            <a:ahLst/>
            <a:cxnLst/>
            <a:rect l="0" t="0" r="0" b="0"/>
            <a:pathLst>
              <a:path w="571015" h="234216">
                <a:moveTo>
                  <a:pt x="571015" y="234216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6" name="svg-segment-22">
            <a:extLst>
              <a:ext uri="{FF2B5EF4-FFF2-40B4-BE49-F238E27FC236}">
                <a16:creationId xmlns:a16="http://schemas.microsoft.com/office/drawing/2014/main" id="{BBCDECB9-4556-4EBA-AA09-5391CE1149EC}"/>
              </a:ext>
            </a:extLst>
          </p:cNvPr>
          <p:cNvSpPr>
            <a:spLocks noGrp="1"/>
          </p:cNvSpPr>
          <p:nvPr/>
        </p:nvSpPr>
        <p:spPr>
          <a:xfrm>
            <a:off x="3388995" y="4960144"/>
            <a:ext cx="110776" cy="157067"/>
          </a:xfrm>
          <a:custGeom>
            <a:avLst/>
            <a:gdLst/>
            <a:ahLst/>
            <a:cxnLst/>
            <a:rect l="0" t="0" r="0" b="0"/>
            <a:pathLst>
              <a:path w="110754" h="157052">
                <a:moveTo>
                  <a:pt x="110754" y="0"/>
                </a:moveTo>
                <a:lnTo>
                  <a:pt x="0" y="157052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7" name="svg-line-23">
            <a:extLst>
              <a:ext uri="{FF2B5EF4-FFF2-40B4-BE49-F238E27FC236}">
                <a16:creationId xmlns:a16="http://schemas.microsoft.com/office/drawing/2014/main" id="{FA445C1F-D216-4DDE-83BC-DDB5FEB43540}"/>
              </a:ext>
            </a:extLst>
          </p:cNvPr>
          <p:cNvSpPr>
            <a:spLocks noGrp="1"/>
          </p:cNvSpPr>
          <p:nvPr/>
        </p:nvSpPr>
        <p:spPr>
          <a:xfrm>
            <a:off x="7382828" y="6817519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28" name="svg-line-24">
            <a:extLst>
              <a:ext uri="{FF2B5EF4-FFF2-40B4-BE49-F238E27FC236}">
                <a16:creationId xmlns:a16="http://schemas.microsoft.com/office/drawing/2014/main" id="{121E32DC-AC08-4EB1-8009-017641674526}"/>
              </a:ext>
            </a:extLst>
          </p:cNvPr>
          <p:cNvSpPr>
            <a:spLocks noGrp="1"/>
          </p:cNvSpPr>
          <p:nvPr/>
        </p:nvSpPr>
        <p:spPr>
          <a:xfrm>
            <a:off x="7382828" y="6186583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29" name="svg-line-25">
            <a:extLst>
              <a:ext uri="{FF2B5EF4-FFF2-40B4-BE49-F238E27FC236}">
                <a16:creationId xmlns:a16="http://schemas.microsoft.com/office/drawing/2014/main" id="{35A52467-0F0F-4E7A-80AE-E6848B430000}"/>
              </a:ext>
            </a:extLst>
          </p:cNvPr>
          <p:cNvSpPr>
            <a:spLocks noGrp="1"/>
          </p:cNvSpPr>
          <p:nvPr/>
        </p:nvSpPr>
        <p:spPr>
          <a:xfrm>
            <a:off x="7382828" y="5555647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0" name="svg-line-26">
            <a:extLst>
              <a:ext uri="{FF2B5EF4-FFF2-40B4-BE49-F238E27FC236}">
                <a16:creationId xmlns:a16="http://schemas.microsoft.com/office/drawing/2014/main" id="{D10189AB-2B88-414D-AE39-A1FEE55B0FF4}"/>
              </a:ext>
            </a:extLst>
          </p:cNvPr>
          <p:cNvSpPr>
            <a:spLocks noGrp="1"/>
          </p:cNvSpPr>
          <p:nvPr/>
        </p:nvSpPr>
        <p:spPr>
          <a:xfrm>
            <a:off x="7382828" y="4924711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1" name="svg-line-27">
            <a:extLst>
              <a:ext uri="{FF2B5EF4-FFF2-40B4-BE49-F238E27FC236}">
                <a16:creationId xmlns:a16="http://schemas.microsoft.com/office/drawing/2014/main" id="{2D8C9FD5-1B5C-4C20-802F-F4676782EA62}"/>
              </a:ext>
            </a:extLst>
          </p:cNvPr>
          <p:cNvSpPr>
            <a:spLocks noGrp="1"/>
          </p:cNvSpPr>
          <p:nvPr/>
        </p:nvSpPr>
        <p:spPr>
          <a:xfrm>
            <a:off x="7382828" y="4293870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2" name="svg-line-28">
            <a:extLst>
              <a:ext uri="{FF2B5EF4-FFF2-40B4-BE49-F238E27FC236}">
                <a16:creationId xmlns:a16="http://schemas.microsoft.com/office/drawing/2014/main" id="{6072896B-DF85-4BEE-B99D-5643BAE33CA3}"/>
              </a:ext>
            </a:extLst>
          </p:cNvPr>
          <p:cNvSpPr>
            <a:spLocks noGrp="1"/>
          </p:cNvSpPr>
          <p:nvPr/>
        </p:nvSpPr>
        <p:spPr>
          <a:xfrm>
            <a:off x="7382828" y="4293870"/>
            <a:ext cx="4763" cy="2523744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33" name="svg-line-29">
            <a:extLst>
              <a:ext uri="{FF2B5EF4-FFF2-40B4-BE49-F238E27FC236}">
                <a16:creationId xmlns:a16="http://schemas.microsoft.com/office/drawing/2014/main" id="{ED4C1C14-193A-4D91-808D-417CC52940CD}"/>
              </a:ext>
            </a:extLst>
          </p:cNvPr>
          <p:cNvSpPr>
            <a:spLocks noGrp="1"/>
          </p:cNvSpPr>
          <p:nvPr/>
        </p:nvSpPr>
        <p:spPr>
          <a:xfrm>
            <a:off x="7382828" y="6817519"/>
            <a:ext cx="3812858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34" name="svg-line-30">
            <a:extLst>
              <a:ext uri="{FF2B5EF4-FFF2-40B4-BE49-F238E27FC236}">
                <a16:creationId xmlns:a16="http://schemas.microsoft.com/office/drawing/2014/main" id="{52FBA063-3C99-47F9-959D-D77E801176E2}"/>
              </a:ext>
            </a:extLst>
          </p:cNvPr>
          <p:cNvSpPr>
            <a:spLocks noGrp="1"/>
          </p:cNvSpPr>
          <p:nvPr/>
        </p:nvSpPr>
        <p:spPr>
          <a:xfrm>
            <a:off x="9289256" y="4293870"/>
            <a:ext cx="4763" cy="2523744"/>
          </a:xfrm>
          <a:prstGeom prst="line">
            <a:avLst/>
          </a:prstGeom>
          <a:noFill/>
          <a:ln w="19050">
            <a:solidFill>
              <a:srgbClr val="642AF0"/>
            </a:solidFill>
            <a:prstDash val="dash"/>
          </a:ln>
        </p:spPr>
      </p:sp>
      <p:sp>
        <p:nvSpPr>
          <p:cNvPr id="35" name="svg-segment-31">
            <a:extLst>
              <a:ext uri="{FF2B5EF4-FFF2-40B4-BE49-F238E27FC236}">
                <a16:creationId xmlns:a16="http://schemas.microsoft.com/office/drawing/2014/main" id="{557016B2-062C-44D7-BAB2-B63B2A289150}"/>
              </a:ext>
            </a:extLst>
          </p:cNvPr>
          <p:cNvSpPr>
            <a:spLocks noGrp="1"/>
          </p:cNvSpPr>
          <p:nvPr/>
        </p:nvSpPr>
        <p:spPr>
          <a:xfrm>
            <a:off x="8130921" y="6763988"/>
            <a:ext cx="102584" cy="23622"/>
          </a:xfrm>
          <a:custGeom>
            <a:avLst/>
            <a:gdLst/>
            <a:ahLst/>
            <a:cxnLst/>
            <a:rect l="0" t="0" r="0" b="0"/>
            <a:pathLst>
              <a:path w="102583" h="23603">
                <a:moveTo>
                  <a:pt x="102583" y="23603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6" name="svg-segment-32">
            <a:extLst>
              <a:ext uri="{FF2B5EF4-FFF2-40B4-BE49-F238E27FC236}">
                <a16:creationId xmlns:a16="http://schemas.microsoft.com/office/drawing/2014/main" id="{94081FEE-5472-4AF3-8A14-B575FC4F53C7}"/>
              </a:ext>
            </a:extLst>
          </p:cNvPr>
          <p:cNvSpPr>
            <a:spLocks noGrp="1"/>
          </p:cNvSpPr>
          <p:nvPr/>
        </p:nvSpPr>
        <p:spPr>
          <a:xfrm>
            <a:off x="8125396" y="6711315"/>
            <a:ext cx="5429" cy="52673"/>
          </a:xfrm>
          <a:custGeom>
            <a:avLst/>
            <a:gdLst/>
            <a:ahLst/>
            <a:cxnLst/>
            <a:rect l="0" t="0" r="0" b="0"/>
            <a:pathLst>
              <a:path w="5447" h="52653">
                <a:moveTo>
                  <a:pt x="5447" y="52653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7" name="svg-segment-33">
            <a:extLst>
              <a:ext uri="{FF2B5EF4-FFF2-40B4-BE49-F238E27FC236}">
                <a16:creationId xmlns:a16="http://schemas.microsoft.com/office/drawing/2014/main" id="{02C791F4-8B1F-405A-89F8-E5C0119CD65D}"/>
              </a:ext>
            </a:extLst>
          </p:cNvPr>
          <p:cNvSpPr>
            <a:spLocks noGrp="1"/>
          </p:cNvSpPr>
          <p:nvPr/>
        </p:nvSpPr>
        <p:spPr>
          <a:xfrm>
            <a:off x="8125396" y="6605111"/>
            <a:ext cx="48101" cy="106204"/>
          </a:xfrm>
          <a:custGeom>
            <a:avLst/>
            <a:gdLst/>
            <a:ahLst/>
            <a:cxnLst/>
            <a:rect l="0" t="0" r="0" b="0"/>
            <a:pathLst>
              <a:path w="48114" h="106214">
                <a:moveTo>
                  <a:pt x="0" y="106214"/>
                </a:moveTo>
                <a:lnTo>
                  <a:pt x="48114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8" name="svg-segment-34">
            <a:extLst>
              <a:ext uri="{FF2B5EF4-FFF2-40B4-BE49-F238E27FC236}">
                <a16:creationId xmlns:a16="http://schemas.microsoft.com/office/drawing/2014/main" id="{32303336-5E33-4151-B83B-972A65D8F289}"/>
              </a:ext>
            </a:extLst>
          </p:cNvPr>
          <p:cNvSpPr>
            <a:spLocks noGrp="1"/>
          </p:cNvSpPr>
          <p:nvPr/>
        </p:nvSpPr>
        <p:spPr>
          <a:xfrm>
            <a:off x="8027384" y="6472619"/>
            <a:ext cx="146114" cy="132588"/>
          </a:xfrm>
          <a:custGeom>
            <a:avLst/>
            <a:gdLst/>
            <a:ahLst/>
            <a:cxnLst/>
            <a:rect l="0" t="0" r="0" b="0"/>
            <a:pathLst>
              <a:path w="146158" h="132541">
                <a:moveTo>
                  <a:pt x="146158" y="132541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9" name="svg-segment-35">
            <a:extLst>
              <a:ext uri="{FF2B5EF4-FFF2-40B4-BE49-F238E27FC236}">
                <a16:creationId xmlns:a16="http://schemas.microsoft.com/office/drawing/2014/main" id="{F5E6E48C-17DD-479B-B6FE-C3F4A52B0FAB}"/>
              </a:ext>
            </a:extLst>
          </p:cNvPr>
          <p:cNvSpPr>
            <a:spLocks noGrp="1"/>
          </p:cNvSpPr>
          <p:nvPr/>
        </p:nvSpPr>
        <p:spPr>
          <a:xfrm>
            <a:off x="7981093" y="6172105"/>
            <a:ext cx="46292" cy="300514"/>
          </a:xfrm>
          <a:custGeom>
            <a:avLst/>
            <a:gdLst/>
            <a:ahLst/>
            <a:cxnLst/>
            <a:rect l="0" t="0" r="0" b="0"/>
            <a:pathLst>
              <a:path w="46299" h="300487">
                <a:moveTo>
                  <a:pt x="46299" y="30048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0" name="svg-segment-36">
            <a:extLst>
              <a:ext uri="{FF2B5EF4-FFF2-40B4-BE49-F238E27FC236}">
                <a16:creationId xmlns:a16="http://schemas.microsoft.com/office/drawing/2014/main" id="{86E9850E-7E35-4539-AE18-003C70DEC9AC}"/>
              </a:ext>
            </a:extLst>
          </p:cNvPr>
          <p:cNvSpPr>
            <a:spLocks noGrp="1"/>
          </p:cNvSpPr>
          <p:nvPr/>
        </p:nvSpPr>
        <p:spPr>
          <a:xfrm>
            <a:off x="7962900" y="5907024"/>
            <a:ext cx="18193" cy="265081"/>
          </a:xfrm>
          <a:custGeom>
            <a:avLst/>
            <a:gdLst/>
            <a:ahLst/>
            <a:cxnLst/>
            <a:rect l="0" t="0" r="0" b="0"/>
            <a:pathLst>
              <a:path w="18156" h="265082">
                <a:moveTo>
                  <a:pt x="18156" y="265082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1" name="svg-segment-37">
            <a:extLst>
              <a:ext uri="{FF2B5EF4-FFF2-40B4-BE49-F238E27FC236}">
                <a16:creationId xmlns:a16="http://schemas.microsoft.com/office/drawing/2014/main" id="{770E33D4-01BD-495E-B19F-BFDDF8A7992D}"/>
              </a:ext>
            </a:extLst>
          </p:cNvPr>
          <p:cNvSpPr>
            <a:spLocks noGrp="1"/>
          </p:cNvSpPr>
          <p:nvPr/>
        </p:nvSpPr>
        <p:spPr>
          <a:xfrm>
            <a:off x="7934801" y="5686425"/>
            <a:ext cx="28099" cy="220599"/>
          </a:xfrm>
          <a:custGeom>
            <a:avLst/>
            <a:gdLst/>
            <a:ahLst/>
            <a:cxnLst/>
            <a:rect l="0" t="0" r="0" b="0"/>
            <a:pathLst>
              <a:path w="28142" h="220599">
                <a:moveTo>
                  <a:pt x="28142" y="220599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2" name="svg-segment-38">
            <a:extLst>
              <a:ext uri="{FF2B5EF4-FFF2-40B4-BE49-F238E27FC236}">
                <a16:creationId xmlns:a16="http://schemas.microsoft.com/office/drawing/2014/main" id="{64D05D76-4ACA-4F88-9C6E-612C15979B38}"/>
              </a:ext>
            </a:extLst>
          </p:cNvPr>
          <p:cNvSpPr>
            <a:spLocks noGrp="1"/>
          </p:cNvSpPr>
          <p:nvPr/>
        </p:nvSpPr>
        <p:spPr>
          <a:xfrm>
            <a:off x="10375868" y="6661404"/>
            <a:ext cx="51721" cy="77153"/>
          </a:xfrm>
          <a:custGeom>
            <a:avLst/>
            <a:gdLst/>
            <a:ahLst/>
            <a:cxnLst/>
            <a:rect l="0" t="0" r="0" b="0"/>
            <a:pathLst>
              <a:path w="51745" h="77164">
                <a:moveTo>
                  <a:pt x="51745" y="77164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3" name="svg-segment-39">
            <a:extLst>
              <a:ext uri="{FF2B5EF4-FFF2-40B4-BE49-F238E27FC236}">
                <a16:creationId xmlns:a16="http://schemas.microsoft.com/office/drawing/2014/main" id="{05744B0C-9C5D-4E9F-99F0-86A09001E3C8}"/>
              </a:ext>
            </a:extLst>
          </p:cNvPr>
          <p:cNvSpPr>
            <a:spLocks noGrp="1"/>
          </p:cNvSpPr>
          <p:nvPr/>
        </p:nvSpPr>
        <p:spPr>
          <a:xfrm>
            <a:off x="10304145" y="6516148"/>
            <a:ext cx="71723" cy="145256"/>
          </a:xfrm>
          <a:custGeom>
            <a:avLst/>
            <a:gdLst/>
            <a:ahLst/>
            <a:cxnLst/>
            <a:rect l="0" t="0" r="0" b="0"/>
            <a:pathLst>
              <a:path w="71718" h="145250">
                <a:moveTo>
                  <a:pt x="71718" y="145250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4" name="svg-segment-40">
            <a:extLst>
              <a:ext uri="{FF2B5EF4-FFF2-40B4-BE49-F238E27FC236}">
                <a16:creationId xmlns:a16="http://schemas.microsoft.com/office/drawing/2014/main" id="{D98A44A7-C7F3-449A-BD2F-1431BBEDF704}"/>
              </a:ext>
            </a:extLst>
          </p:cNvPr>
          <p:cNvSpPr>
            <a:spLocks noGrp="1"/>
          </p:cNvSpPr>
          <p:nvPr/>
        </p:nvSpPr>
        <p:spPr>
          <a:xfrm>
            <a:off x="10304145" y="6245638"/>
            <a:ext cx="20860" cy="270510"/>
          </a:xfrm>
          <a:custGeom>
            <a:avLst/>
            <a:gdLst/>
            <a:ahLst/>
            <a:cxnLst/>
            <a:rect l="0" t="0" r="0" b="0"/>
            <a:pathLst>
              <a:path w="20880" h="270529">
                <a:moveTo>
                  <a:pt x="0" y="270529"/>
                </a:moveTo>
                <a:lnTo>
                  <a:pt x="2088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5" name="svg-segment-41">
            <a:extLst>
              <a:ext uri="{FF2B5EF4-FFF2-40B4-BE49-F238E27FC236}">
                <a16:creationId xmlns:a16="http://schemas.microsoft.com/office/drawing/2014/main" id="{230F9500-0728-471A-A078-622D615F9C55}"/>
              </a:ext>
            </a:extLst>
          </p:cNvPr>
          <p:cNvSpPr>
            <a:spLocks noGrp="1"/>
          </p:cNvSpPr>
          <p:nvPr/>
        </p:nvSpPr>
        <p:spPr>
          <a:xfrm>
            <a:off x="10188893" y="5881592"/>
            <a:ext cx="136208" cy="364046"/>
          </a:xfrm>
          <a:custGeom>
            <a:avLst/>
            <a:gdLst/>
            <a:ahLst/>
            <a:cxnLst/>
            <a:rect l="0" t="0" r="0" b="0"/>
            <a:pathLst>
              <a:path w="136172" h="364034">
                <a:moveTo>
                  <a:pt x="136172" y="364034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6" name="svg-segment-42">
            <a:extLst>
              <a:ext uri="{FF2B5EF4-FFF2-40B4-BE49-F238E27FC236}">
                <a16:creationId xmlns:a16="http://schemas.microsoft.com/office/drawing/2014/main" id="{038F3136-527C-4097-BF8C-FA932AF30EB5}"/>
              </a:ext>
            </a:extLst>
          </p:cNvPr>
          <p:cNvSpPr>
            <a:spLocks noGrp="1"/>
          </p:cNvSpPr>
          <p:nvPr/>
        </p:nvSpPr>
        <p:spPr>
          <a:xfrm>
            <a:off x="9685973" y="5494877"/>
            <a:ext cx="502920" cy="386715"/>
          </a:xfrm>
          <a:custGeom>
            <a:avLst/>
            <a:gdLst/>
            <a:ahLst/>
            <a:cxnLst/>
            <a:rect l="0" t="0" r="0" b="0"/>
            <a:pathLst>
              <a:path w="502929" h="386729">
                <a:moveTo>
                  <a:pt x="502929" y="386729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7" name="svg-segment-43">
            <a:extLst>
              <a:ext uri="{FF2B5EF4-FFF2-40B4-BE49-F238E27FC236}">
                <a16:creationId xmlns:a16="http://schemas.microsoft.com/office/drawing/2014/main" id="{3AF345D8-266F-4865-B00D-FAB3DB393A6D}"/>
              </a:ext>
            </a:extLst>
          </p:cNvPr>
          <p:cNvSpPr>
            <a:spLocks noGrp="1"/>
          </p:cNvSpPr>
          <p:nvPr/>
        </p:nvSpPr>
        <p:spPr>
          <a:xfrm>
            <a:off x="9577007" y="5353241"/>
            <a:ext cx="108966" cy="141637"/>
          </a:xfrm>
          <a:custGeom>
            <a:avLst/>
            <a:gdLst/>
            <a:ahLst/>
            <a:cxnLst/>
            <a:rect l="0" t="0" r="0" b="0"/>
            <a:pathLst>
              <a:path w="108938" h="141619">
                <a:moveTo>
                  <a:pt x="108938" y="141619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8" name="svg-segment-44">
            <a:extLst>
              <a:ext uri="{FF2B5EF4-FFF2-40B4-BE49-F238E27FC236}">
                <a16:creationId xmlns:a16="http://schemas.microsoft.com/office/drawing/2014/main" id="{51F8CDFD-871C-44DE-9E40-39A02A2D2AF6}"/>
              </a:ext>
            </a:extLst>
          </p:cNvPr>
          <p:cNvSpPr>
            <a:spLocks noGrp="1"/>
          </p:cNvSpPr>
          <p:nvPr/>
        </p:nvSpPr>
        <p:spPr>
          <a:xfrm>
            <a:off x="9382792" y="5353241"/>
            <a:ext cx="194310" cy="21812"/>
          </a:xfrm>
          <a:custGeom>
            <a:avLst/>
            <a:gdLst/>
            <a:ahLst/>
            <a:cxnLst/>
            <a:rect l="0" t="0" r="0" b="0"/>
            <a:pathLst>
              <a:path w="194273" h="21788">
                <a:moveTo>
                  <a:pt x="194273" y="0"/>
                </a:moveTo>
                <a:lnTo>
                  <a:pt x="0" y="21788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9" name="svg-line-45">
            <a:extLst>
              <a:ext uri="{FF2B5EF4-FFF2-40B4-BE49-F238E27FC236}">
                <a16:creationId xmlns:a16="http://schemas.microsoft.com/office/drawing/2014/main" id="{33A61209-DA9F-422F-AC41-5D0EB8E06477}"/>
              </a:ext>
            </a:extLst>
          </p:cNvPr>
          <p:cNvSpPr>
            <a:spLocks noGrp="1"/>
          </p:cNvSpPr>
          <p:nvPr/>
        </p:nvSpPr>
        <p:spPr>
          <a:xfrm>
            <a:off x="13059728" y="6817519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0" name="svg-line-46">
            <a:extLst>
              <a:ext uri="{FF2B5EF4-FFF2-40B4-BE49-F238E27FC236}">
                <a16:creationId xmlns:a16="http://schemas.microsoft.com/office/drawing/2014/main" id="{CD3D565D-5153-4D04-8FD7-93C2F1A66EC3}"/>
              </a:ext>
            </a:extLst>
          </p:cNvPr>
          <p:cNvSpPr>
            <a:spLocks noGrp="1"/>
          </p:cNvSpPr>
          <p:nvPr/>
        </p:nvSpPr>
        <p:spPr>
          <a:xfrm>
            <a:off x="13059728" y="6186583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1" name="svg-line-47">
            <a:extLst>
              <a:ext uri="{FF2B5EF4-FFF2-40B4-BE49-F238E27FC236}">
                <a16:creationId xmlns:a16="http://schemas.microsoft.com/office/drawing/2014/main" id="{CC7F554E-5FB4-46B1-8B00-F68032607A94}"/>
              </a:ext>
            </a:extLst>
          </p:cNvPr>
          <p:cNvSpPr>
            <a:spLocks noGrp="1"/>
          </p:cNvSpPr>
          <p:nvPr/>
        </p:nvSpPr>
        <p:spPr>
          <a:xfrm>
            <a:off x="13059728" y="5555647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2" name="svg-line-48">
            <a:extLst>
              <a:ext uri="{FF2B5EF4-FFF2-40B4-BE49-F238E27FC236}">
                <a16:creationId xmlns:a16="http://schemas.microsoft.com/office/drawing/2014/main" id="{26E2DF4F-9E63-475A-8C0C-07B1E408D7F3}"/>
              </a:ext>
            </a:extLst>
          </p:cNvPr>
          <p:cNvSpPr>
            <a:spLocks noGrp="1"/>
          </p:cNvSpPr>
          <p:nvPr/>
        </p:nvSpPr>
        <p:spPr>
          <a:xfrm>
            <a:off x="13059728" y="4924711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3" name="svg-line-49">
            <a:extLst>
              <a:ext uri="{FF2B5EF4-FFF2-40B4-BE49-F238E27FC236}">
                <a16:creationId xmlns:a16="http://schemas.microsoft.com/office/drawing/2014/main" id="{2B79CC9B-DD15-469A-8928-FE32B4A570DC}"/>
              </a:ext>
            </a:extLst>
          </p:cNvPr>
          <p:cNvSpPr>
            <a:spLocks noGrp="1"/>
          </p:cNvSpPr>
          <p:nvPr/>
        </p:nvSpPr>
        <p:spPr>
          <a:xfrm>
            <a:off x="13059728" y="4293870"/>
            <a:ext cx="3812858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4" name="svg-line-50">
            <a:extLst>
              <a:ext uri="{FF2B5EF4-FFF2-40B4-BE49-F238E27FC236}">
                <a16:creationId xmlns:a16="http://schemas.microsoft.com/office/drawing/2014/main" id="{34AD387E-2230-4383-9B56-BC82B0DF3EED}"/>
              </a:ext>
            </a:extLst>
          </p:cNvPr>
          <p:cNvSpPr>
            <a:spLocks noGrp="1"/>
          </p:cNvSpPr>
          <p:nvPr/>
        </p:nvSpPr>
        <p:spPr>
          <a:xfrm>
            <a:off x="13059728" y="4293870"/>
            <a:ext cx="4763" cy="2523744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55" name="svg-line-51">
            <a:extLst>
              <a:ext uri="{FF2B5EF4-FFF2-40B4-BE49-F238E27FC236}">
                <a16:creationId xmlns:a16="http://schemas.microsoft.com/office/drawing/2014/main" id="{E41B7952-F56B-4A0C-BCA3-B76D865FE269}"/>
              </a:ext>
            </a:extLst>
          </p:cNvPr>
          <p:cNvSpPr>
            <a:spLocks noGrp="1"/>
          </p:cNvSpPr>
          <p:nvPr/>
        </p:nvSpPr>
        <p:spPr>
          <a:xfrm>
            <a:off x="13059728" y="6817519"/>
            <a:ext cx="3812858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56" name="svg-line-52">
            <a:extLst>
              <a:ext uri="{FF2B5EF4-FFF2-40B4-BE49-F238E27FC236}">
                <a16:creationId xmlns:a16="http://schemas.microsoft.com/office/drawing/2014/main" id="{C383931B-5FA3-462F-B873-2EBD039B82BA}"/>
              </a:ext>
            </a:extLst>
          </p:cNvPr>
          <p:cNvSpPr>
            <a:spLocks noGrp="1"/>
          </p:cNvSpPr>
          <p:nvPr/>
        </p:nvSpPr>
        <p:spPr>
          <a:xfrm>
            <a:off x="14966156" y="4293870"/>
            <a:ext cx="4763" cy="2523744"/>
          </a:xfrm>
          <a:prstGeom prst="line">
            <a:avLst/>
          </a:prstGeom>
          <a:noFill/>
          <a:ln w="19050">
            <a:solidFill>
              <a:srgbClr val="642AF0"/>
            </a:solidFill>
            <a:prstDash val="dash"/>
          </a:ln>
        </p:spPr>
      </p:sp>
      <p:sp>
        <p:nvSpPr>
          <p:cNvPr id="57" name="svg-segment-53">
            <a:extLst>
              <a:ext uri="{FF2B5EF4-FFF2-40B4-BE49-F238E27FC236}">
                <a16:creationId xmlns:a16="http://schemas.microsoft.com/office/drawing/2014/main" id="{9A744194-BDF6-43A0-B2E3-DA75B7B94208}"/>
              </a:ext>
            </a:extLst>
          </p:cNvPr>
          <p:cNvSpPr>
            <a:spLocks noGrp="1"/>
          </p:cNvSpPr>
          <p:nvPr/>
        </p:nvSpPr>
        <p:spPr>
          <a:xfrm>
            <a:off x="13801439" y="6607874"/>
            <a:ext cx="64484" cy="97155"/>
          </a:xfrm>
          <a:custGeom>
            <a:avLst/>
            <a:gdLst/>
            <a:ahLst/>
            <a:cxnLst/>
            <a:rect l="0" t="0" r="0" b="0"/>
            <a:pathLst>
              <a:path w="64455" h="97136">
                <a:moveTo>
                  <a:pt x="64455" y="97136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58" name="svg-segment-54">
            <a:extLst>
              <a:ext uri="{FF2B5EF4-FFF2-40B4-BE49-F238E27FC236}">
                <a16:creationId xmlns:a16="http://schemas.microsoft.com/office/drawing/2014/main" id="{8D4DEBA0-C0F6-4282-8BD2-72E9C9BBCADC}"/>
              </a:ext>
            </a:extLst>
          </p:cNvPr>
          <p:cNvSpPr>
            <a:spLocks noGrp="1"/>
          </p:cNvSpPr>
          <p:nvPr/>
        </p:nvSpPr>
        <p:spPr>
          <a:xfrm>
            <a:off x="13756958" y="6428137"/>
            <a:ext cx="44482" cy="179737"/>
          </a:xfrm>
          <a:custGeom>
            <a:avLst/>
            <a:gdLst/>
            <a:ahLst/>
            <a:cxnLst/>
            <a:rect l="0" t="0" r="0" b="0"/>
            <a:pathLst>
              <a:path w="44483" h="179747">
                <a:moveTo>
                  <a:pt x="44483" y="17974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59" name="svg-segment-55">
            <a:extLst>
              <a:ext uri="{FF2B5EF4-FFF2-40B4-BE49-F238E27FC236}">
                <a16:creationId xmlns:a16="http://schemas.microsoft.com/office/drawing/2014/main" id="{CF554855-3196-4B6F-8417-39825F271883}"/>
              </a:ext>
            </a:extLst>
          </p:cNvPr>
          <p:cNvSpPr>
            <a:spLocks noGrp="1"/>
          </p:cNvSpPr>
          <p:nvPr/>
        </p:nvSpPr>
        <p:spPr>
          <a:xfrm>
            <a:off x="13729716" y="6074093"/>
            <a:ext cx="27242" cy="354044"/>
          </a:xfrm>
          <a:custGeom>
            <a:avLst/>
            <a:gdLst/>
            <a:ahLst/>
            <a:cxnLst/>
            <a:rect l="0" t="0" r="0" b="0"/>
            <a:pathLst>
              <a:path w="27234" h="354048">
                <a:moveTo>
                  <a:pt x="27234" y="354048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0" name="svg-segment-56">
            <a:extLst>
              <a:ext uri="{FF2B5EF4-FFF2-40B4-BE49-F238E27FC236}">
                <a16:creationId xmlns:a16="http://schemas.microsoft.com/office/drawing/2014/main" id="{782DBB86-526E-439C-ABD7-11A7965C4193}"/>
              </a:ext>
            </a:extLst>
          </p:cNvPr>
          <p:cNvSpPr>
            <a:spLocks noGrp="1"/>
          </p:cNvSpPr>
          <p:nvPr/>
        </p:nvSpPr>
        <p:spPr>
          <a:xfrm>
            <a:off x="13676186" y="5499354"/>
            <a:ext cx="53531" cy="574643"/>
          </a:xfrm>
          <a:custGeom>
            <a:avLst/>
            <a:gdLst/>
            <a:ahLst/>
            <a:cxnLst/>
            <a:rect l="0" t="0" r="0" b="0"/>
            <a:pathLst>
              <a:path w="53561" h="574647">
                <a:moveTo>
                  <a:pt x="53561" y="57464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1" name="svg-segment-57">
            <a:extLst>
              <a:ext uri="{FF2B5EF4-FFF2-40B4-BE49-F238E27FC236}">
                <a16:creationId xmlns:a16="http://schemas.microsoft.com/office/drawing/2014/main" id="{24D22D55-6904-4922-A0C6-0D6DC5A231E7}"/>
              </a:ext>
            </a:extLst>
          </p:cNvPr>
          <p:cNvSpPr>
            <a:spLocks noGrp="1"/>
          </p:cNvSpPr>
          <p:nvPr/>
        </p:nvSpPr>
        <p:spPr>
          <a:xfrm>
            <a:off x="13665232" y="5090922"/>
            <a:ext cx="10858" cy="408527"/>
          </a:xfrm>
          <a:custGeom>
            <a:avLst/>
            <a:gdLst/>
            <a:ahLst/>
            <a:cxnLst/>
            <a:rect l="0" t="0" r="0" b="0"/>
            <a:pathLst>
              <a:path w="10894" h="408517">
                <a:moveTo>
                  <a:pt x="10894" y="40851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2" name="svg-segment-58">
            <a:extLst>
              <a:ext uri="{FF2B5EF4-FFF2-40B4-BE49-F238E27FC236}">
                <a16:creationId xmlns:a16="http://schemas.microsoft.com/office/drawing/2014/main" id="{FB80509E-FCF7-4371-81AD-8F4DFEB246B0}"/>
              </a:ext>
            </a:extLst>
          </p:cNvPr>
          <p:cNvSpPr>
            <a:spLocks noGrp="1"/>
          </p:cNvSpPr>
          <p:nvPr/>
        </p:nvSpPr>
        <p:spPr>
          <a:xfrm>
            <a:off x="13665232" y="5048250"/>
            <a:ext cx="4763" cy="42672"/>
          </a:xfrm>
          <a:custGeom>
            <a:avLst/>
            <a:gdLst/>
            <a:ahLst/>
            <a:cxnLst/>
            <a:rect l="0" t="0" r="0" b="0"/>
            <a:pathLst>
              <a:path w="4763" h="42667">
                <a:moveTo>
                  <a:pt x="0" y="42667"/>
                </a:moveTo>
                <a:lnTo>
                  <a:pt x="1816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3" name="svg-segment-59">
            <a:extLst>
              <a:ext uri="{FF2B5EF4-FFF2-40B4-BE49-F238E27FC236}">
                <a16:creationId xmlns:a16="http://schemas.microsoft.com/office/drawing/2014/main" id="{33DBDEC4-55A0-4D6B-82B1-3C84D53B08F3}"/>
              </a:ext>
            </a:extLst>
          </p:cNvPr>
          <p:cNvSpPr>
            <a:spLocks noGrp="1"/>
          </p:cNvSpPr>
          <p:nvPr/>
        </p:nvSpPr>
        <p:spPr>
          <a:xfrm>
            <a:off x="13660755" y="5012817"/>
            <a:ext cx="6382" cy="35433"/>
          </a:xfrm>
          <a:custGeom>
            <a:avLst/>
            <a:gdLst/>
            <a:ahLst/>
            <a:cxnLst/>
            <a:rect l="0" t="0" r="0" b="0"/>
            <a:pathLst>
              <a:path w="6355" h="35405">
                <a:moveTo>
                  <a:pt x="6355" y="35405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4" name="svg-segment-60">
            <a:extLst>
              <a:ext uri="{FF2B5EF4-FFF2-40B4-BE49-F238E27FC236}">
                <a16:creationId xmlns:a16="http://schemas.microsoft.com/office/drawing/2014/main" id="{B8212F3E-37C4-4F96-9C09-38156002660C}"/>
              </a:ext>
            </a:extLst>
          </p:cNvPr>
          <p:cNvSpPr>
            <a:spLocks noGrp="1"/>
          </p:cNvSpPr>
          <p:nvPr/>
        </p:nvSpPr>
        <p:spPr>
          <a:xfrm>
            <a:off x="15752350" y="6352794"/>
            <a:ext cx="16383" cy="224219"/>
          </a:xfrm>
          <a:custGeom>
            <a:avLst/>
            <a:gdLst/>
            <a:ahLst/>
            <a:cxnLst/>
            <a:rect l="0" t="0" r="0" b="0"/>
            <a:pathLst>
              <a:path w="16341" h="224230">
                <a:moveTo>
                  <a:pt x="16341" y="224230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5" name="svg-segment-61">
            <a:extLst>
              <a:ext uri="{FF2B5EF4-FFF2-40B4-BE49-F238E27FC236}">
                <a16:creationId xmlns:a16="http://schemas.microsoft.com/office/drawing/2014/main" id="{D819D4D9-45BB-48C6-9307-149FC04CE906}"/>
              </a:ext>
            </a:extLst>
          </p:cNvPr>
          <p:cNvSpPr>
            <a:spLocks noGrp="1"/>
          </p:cNvSpPr>
          <p:nvPr/>
        </p:nvSpPr>
        <p:spPr>
          <a:xfrm>
            <a:off x="15752350" y="5951506"/>
            <a:ext cx="215170" cy="401288"/>
          </a:xfrm>
          <a:custGeom>
            <a:avLst/>
            <a:gdLst/>
            <a:ahLst/>
            <a:cxnLst/>
            <a:rect l="0" t="0" r="0" b="0"/>
            <a:pathLst>
              <a:path w="215152" h="401254">
                <a:moveTo>
                  <a:pt x="0" y="401254"/>
                </a:moveTo>
                <a:lnTo>
                  <a:pt x="215152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6" name="svg-segment-62">
            <a:extLst>
              <a:ext uri="{FF2B5EF4-FFF2-40B4-BE49-F238E27FC236}">
                <a16:creationId xmlns:a16="http://schemas.microsoft.com/office/drawing/2014/main" id="{3E98A684-91AB-4B11-8B23-5375C5FB9E0B}"/>
              </a:ext>
            </a:extLst>
          </p:cNvPr>
          <p:cNvSpPr>
            <a:spLocks noGrp="1"/>
          </p:cNvSpPr>
          <p:nvPr/>
        </p:nvSpPr>
        <p:spPr>
          <a:xfrm>
            <a:off x="15967424" y="5501259"/>
            <a:ext cx="68961" cy="450247"/>
          </a:xfrm>
          <a:custGeom>
            <a:avLst/>
            <a:gdLst/>
            <a:ahLst/>
            <a:cxnLst/>
            <a:rect l="0" t="0" r="0" b="0"/>
            <a:pathLst>
              <a:path w="68994" h="450276">
                <a:moveTo>
                  <a:pt x="0" y="450276"/>
                </a:moveTo>
                <a:lnTo>
                  <a:pt x="68994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7" name="svg-segment-63">
            <a:extLst>
              <a:ext uri="{FF2B5EF4-FFF2-40B4-BE49-F238E27FC236}">
                <a16:creationId xmlns:a16="http://schemas.microsoft.com/office/drawing/2014/main" id="{74312411-D4B3-444E-BCEB-75E2D1236014}"/>
              </a:ext>
            </a:extLst>
          </p:cNvPr>
          <p:cNvSpPr>
            <a:spLocks noGrp="1"/>
          </p:cNvSpPr>
          <p:nvPr/>
        </p:nvSpPr>
        <p:spPr>
          <a:xfrm>
            <a:off x="15751397" y="5263325"/>
            <a:ext cx="285083" cy="237839"/>
          </a:xfrm>
          <a:custGeom>
            <a:avLst/>
            <a:gdLst/>
            <a:ahLst/>
            <a:cxnLst/>
            <a:rect l="0" t="0" r="0" b="0"/>
            <a:pathLst>
              <a:path w="285054" h="237847">
                <a:moveTo>
                  <a:pt x="285054" y="237847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8" name="svg-segment-64">
            <a:extLst>
              <a:ext uri="{FF2B5EF4-FFF2-40B4-BE49-F238E27FC236}">
                <a16:creationId xmlns:a16="http://schemas.microsoft.com/office/drawing/2014/main" id="{E5B96876-9ECF-49EB-A606-8BD2543381BE}"/>
              </a:ext>
            </a:extLst>
          </p:cNvPr>
          <p:cNvSpPr>
            <a:spLocks noGrp="1"/>
          </p:cNvSpPr>
          <p:nvPr/>
        </p:nvSpPr>
        <p:spPr>
          <a:xfrm>
            <a:off x="15751397" y="5263325"/>
            <a:ext cx="83534" cy="32671"/>
          </a:xfrm>
          <a:prstGeom prst="line">
            <a:avLst/>
          </a:pr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9" name="svg-segment-65">
            <a:extLst>
              <a:ext uri="{FF2B5EF4-FFF2-40B4-BE49-F238E27FC236}">
                <a16:creationId xmlns:a16="http://schemas.microsoft.com/office/drawing/2014/main" id="{3A7E3114-FE65-4401-A719-0F29EF3F2A7F}"/>
              </a:ext>
            </a:extLst>
          </p:cNvPr>
          <p:cNvSpPr>
            <a:spLocks noGrp="1"/>
          </p:cNvSpPr>
          <p:nvPr/>
        </p:nvSpPr>
        <p:spPr>
          <a:xfrm>
            <a:off x="15832169" y="5296091"/>
            <a:ext cx="4763" cy="23622"/>
          </a:xfrm>
          <a:custGeom>
            <a:avLst/>
            <a:gdLst/>
            <a:ahLst/>
            <a:cxnLst/>
            <a:rect l="0" t="0" r="0" b="0"/>
            <a:pathLst>
              <a:path w="4763" h="23603">
                <a:moveTo>
                  <a:pt x="2724" y="0"/>
                </a:moveTo>
                <a:lnTo>
                  <a:pt x="0" y="23603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70" name="svg-segment-66">
            <a:extLst>
              <a:ext uri="{FF2B5EF4-FFF2-40B4-BE49-F238E27FC236}">
                <a16:creationId xmlns:a16="http://schemas.microsoft.com/office/drawing/2014/main" id="{8C7525A7-2D68-40F9-AD44-AA8CDA5B70B9}"/>
              </a:ext>
            </a:extLst>
          </p:cNvPr>
          <p:cNvSpPr>
            <a:spLocks noGrp="1"/>
          </p:cNvSpPr>
          <p:nvPr/>
        </p:nvSpPr>
        <p:spPr>
          <a:xfrm>
            <a:off x="15831312" y="5319617"/>
            <a:ext cx="4763" cy="75343"/>
          </a:xfrm>
          <a:custGeom>
            <a:avLst/>
            <a:gdLst/>
            <a:ahLst/>
            <a:cxnLst/>
            <a:rect l="0" t="0" r="0" b="0"/>
            <a:pathLst>
              <a:path w="4763" h="75349">
                <a:moveTo>
                  <a:pt x="908" y="0"/>
                </a:moveTo>
                <a:lnTo>
                  <a:pt x="0" y="75349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71" name="svg-point-1">
            <a:extLst>
              <a:ext uri="{FF2B5EF4-FFF2-40B4-BE49-F238E27FC236}">
                <a16:creationId xmlns:a16="http://schemas.microsoft.com/office/drawing/2014/main" id="{F037C99B-A05A-4535-A718-F369AC6F2AE1}"/>
              </a:ext>
            </a:extLst>
          </p:cNvPr>
          <p:cNvSpPr>
            <a:spLocks noGrp="1"/>
          </p:cNvSpPr>
          <p:nvPr/>
        </p:nvSpPr>
        <p:spPr>
          <a:xfrm>
            <a:off x="2542985" y="674951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2" name="svg-point-2">
            <a:extLst>
              <a:ext uri="{FF2B5EF4-FFF2-40B4-BE49-F238E27FC236}">
                <a16:creationId xmlns:a16="http://schemas.microsoft.com/office/drawing/2014/main" id="{EB904928-1912-4351-B571-8AC07ADF8691}"/>
              </a:ext>
            </a:extLst>
          </p:cNvPr>
          <p:cNvSpPr>
            <a:spLocks noGrp="1"/>
          </p:cNvSpPr>
          <p:nvPr/>
        </p:nvSpPr>
        <p:spPr>
          <a:xfrm>
            <a:off x="2425827" y="673131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3" name="svg-point-3">
            <a:extLst>
              <a:ext uri="{FF2B5EF4-FFF2-40B4-BE49-F238E27FC236}">
                <a16:creationId xmlns:a16="http://schemas.microsoft.com/office/drawing/2014/main" id="{00D6DC08-862B-4DFA-9206-6E03B1445423}"/>
              </a:ext>
            </a:extLst>
          </p:cNvPr>
          <p:cNvSpPr>
            <a:spLocks noGrp="1"/>
          </p:cNvSpPr>
          <p:nvPr/>
        </p:nvSpPr>
        <p:spPr>
          <a:xfrm>
            <a:off x="2404967" y="669407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4" name="svg-point-4">
            <a:extLst>
              <a:ext uri="{FF2B5EF4-FFF2-40B4-BE49-F238E27FC236}">
                <a16:creationId xmlns:a16="http://schemas.microsoft.com/office/drawing/2014/main" id="{E5D7DE30-1C96-452D-AE26-3B589AD12DFB}"/>
              </a:ext>
            </a:extLst>
          </p:cNvPr>
          <p:cNvSpPr>
            <a:spLocks noGrp="1"/>
          </p:cNvSpPr>
          <p:nvPr/>
        </p:nvSpPr>
        <p:spPr>
          <a:xfrm>
            <a:off x="2473928" y="661149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5" name="svg-point-5">
            <a:extLst>
              <a:ext uri="{FF2B5EF4-FFF2-40B4-BE49-F238E27FC236}">
                <a16:creationId xmlns:a16="http://schemas.microsoft.com/office/drawing/2014/main" id="{209F5C77-D39B-4808-82BF-DA78BCE44F41}"/>
              </a:ext>
            </a:extLst>
          </p:cNvPr>
          <p:cNvSpPr>
            <a:spLocks noGrp="1"/>
          </p:cNvSpPr>
          <p:nvPr/>
        </p:nvSpPr>
        <p:spPr>
          <a:xfrm>
            <a:off x="2321433" y="649890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6" name="svg-point-6">
            <a:extLst>
              <a:ext uri="{FF2B5EF4-FFF2-40B4-BE49-F238E27FC236}">
                <a16:creationId xmlns:a16="http://schemas.microsoft.com/office/drawing/2014/main" id="{20BEC7CA-28A7-4113-8DC2-A3F8538A0538}"/>
              </a:ext>
            </a:extLst>
          </p:cNvPr>
          <p:cNvSpPr>
            <a:spLocks noGrp="1"/>
          </p:cNvSpPr>
          <p:nvPr/>
        </p:nvSpPr>
        <p:spPr>
          <a:xfrm>
            <a:off x="2276094" y="627649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7" name="svg-point-7">
            <a:extLst>
              <a:ext uri="{FF2B5EF4-FFF2-40B4-BE49-F238E27FC236}">
                <a16:creationId xmlns:a16="http://schemas.microsoft.com/office/drawing/2014/main" id="{7FE6C490-0757-4886-B9AC-4963522AF449}"/>
              </a:ext>
            </a:extLst>
          </p:cNvPr>
          <p:cNvSpPr>
            <a:spLocks noGrp="1"/>
          </p:cNvSpPr>
          <p:nvPr/>
        </p:nvSpPr>
        <p:spPr>
          <a:xfrm>
            <a:off x="2237899" y="6081332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8" name="svg-point-8">
            <a:extLst>
              <a:ext uri="{FF2B5EF4-FFF2-40B4-BE49-F238E27FC236}">
                <a16:creationId xmlns:a16="http://schemas.microsoft.com/office/drawing/2014/main" id="{A3A4EB43-E1AC-4A6C-8392-BFA56BC9D2BD}"/>
              </a:ext>
            </a:extLst>
          </p:cNvPr>
          <p:cNvSpPr>
            <a:spLocks noGrp="1"/>
          </p:cNvSpPr>
          <p:nvPr/>
        </p:nvSpPr>
        <p:spPr>
          <a:xfrm>
            <a:off x="2217992" y="592969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9" name="svg-point-9">
            <a:extLst>
              <a:ext uri="{FF2B5EF4-FFF2-40B4-BE49-F238E27FC236}">
                <a16:creationId xmlns:a16="http://schemas.microsoft.com/office/drawing/2014/main" id="{059B8B0B-24F6-4256-AAEA-8948AA1B7242}"/>
              </a:ext>
            </a:extLst>
          </p:cNvPr>
          <p:cNvSpPr>
            <a:spLocks noGrp="1"/>
          </p:cNvSpPr>
          <p:nvPr/>
        </p:nvSpPr>
        <p:spPr>
          <a:xfrm>
            <a:off x="4872419" y="669950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0" name="svg-point-10">
            <a:extLst>
              <a:ext uri="{FF2B5EF4-FFF2-40B4-BE49-F238E27FC236}">
                <a16:creationId xmlns:a16="http://schemas.microsoft.com/office/drawing/2014/main" id="{6D3C7348-5B0F-4FA7-B1A7-4C4CB00AA94E}"/>
              </a:ext>
            </a:extLst>
          </p:cNvPr>
          <p:cNvSpPr>
            <a:spLocks noGrp="1"/>
          </p:cNvSpPr>
          <p:nvPr/>
        </p:nvSpPr>
        <p:spPr>
          <a:xfrm>
            <a:off x="4834223" y="662778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1" name="svg-point-11">
            <a:extLst>
              <a:ext uri="{FF2B5EF4-FFF2-40B4-BE49-F238E27FC236}">
                <a16:creationId xmlns:a16="http://schemas.microsoft.com/office/drawing/2014/main" id="{B5F7FC4E-C684-47FE-AED7-CA20E3C90452}"/>
              </a:ext>
            </a:extLst>
          </p:cNvPr>
          <p:cNvSpPr>
            <a:spLocks noGrp="1"/>
          </p:cNvSpPr>
          <p:nvPr/>
        </p:nvSpPr>
        <p:spPr>
          <a:xfrm>
            <a:off x="4768882" y="649166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2" name="svg-point-12">
            <a:extLst>
              <a:ext uri="{FF2B5EF4-FFF2-40B4-BE49-F238E27FC236}">
                <a16:creationId xmlns:a16="http://schemas.microsoft.com/office/drawing/2014/main" id="{E271714D-F00A-4099-84FD-103EA682AA8B}"/>
              </a:ext>
            </a:extLst>
          </p:cNvPr>
          <p:cNvSpPr>
            <a:spLocks noGrp="1"/>
          </p:cNvSpPr>
          <p:nvPr/>
        </p:nvSpPr>
        <p:spPr>
          <a:xfrm>
            <a:off x="4827937" y="621020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3" name="svg-point-13">
            <a:extLst>
              <a:ext uri="{FF2B5EF4-FFF2-40B4-BE49-F238E27FC236}">
                <a16:creationId xmlns:a16="http://schemas.microsoft.com/office/drawing/2014/main" id="{874F1928-2885-42C5-B68C-757201CF9258}"/>
              </a:ext>
            </a:extLst>
          </p:cNvPr>
          <p:cNvSpPr>
            <a:spLocks noGrp="1"/>
          </p:cNvSpPr>
          <p:nvPr/>
        </p:nvSpPr>
        <p:spPr>
          <a:xfrm>
            <a:off x="4398550" y="580625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4" name="svg-point-14">
            <a:extLst>
              <a:ext uri="{FF2B5EF4-FFF2-40B4-BE49-F238E27FC236}">
                <a16:creationId xmlns:a16="http://schemas.microsoft.com/office/drawing/2014/main" id="{957ED3B6-89D6-4C49-9929-9FF35E80E054}"/>
              </a:ext>
            </a:extLst>
          </p:cNvPr>
          <p:cNvSpPr>
            <a:spLocks noGrp="1"/>
          </p:cNvSpPr>
          <p:nvPr/>
        </p:nvSpPr>
        <p:spPr>
          <a:xfrm>
            <a:off x="4025360" y="514892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5" name="svg-point-15">
            <a:extLst>
              <a:ext uri="{FF2B5EF4-FFF2-40B4-BE49-F238E27FC236}">
                <a16:creationId xmlns:a16="http://schemas.microsoft.com/office/drawing/2014/main" id="{247C18EB-7FA3-4EAE-8B54-E457965EADFF}"/>
              </a:ext>
            </a:extLst>
          </p:cNvPr>
          <p:cNvSpPr>
            <a:spLocks noGrp="1"/>
          </p:cNvSpPr>
          <p:nvPr/>
        </p:nvSpPr>
        <p:spPr>
          <a:xfrm>
            <a:off x="3454432" y="491471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6" name="svg-point-16">
            <a:extLst>
              <a:ext uri="{FF2B5EF4-FFF2-40B4-BE49-F238E27FC236}">
                <a16:creationId xmlns:a16="http://schemas.microsoft.com/office/drawing/2014/main" id="{893F2AC9-45BD-4C79-B0DC-5090630B9159}"/>
              </a:ext>
            </a:extLst>
          </p:cNvPr>
          <p:cNvSpPr>
            <a:spLocks noGrp="1"/>
          </p:cNvSpPr>
          <p:nvPr/>
        </p:nvSpPr>
        <p:spPr>
          <a:xfrm>
            <a:off x="3343656" y="507177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7" name="svg-point-17">
            <a:extLst>
              <a:ext uri="{FF2B5EF4-FFF2-40B4-BE49-F238E27FC236}">
                <a16:creationId xmlns:a16="http://schemas.microsoft.com/office/drawing/2014/main" id="{E7CDB340-261D-4096-9F3A-37E2A9954B92}"/>
              </a:ext>
            </a:extLst>
          </p:cNvPr>
          <p:cNvSpPr>
            <a:spLocks noGrp="1"/>
          </p:cNvSpPr>
          <p:nvPr/>
        </p:nvSpPr>
        <p:spPr>
          <a:xfrm>
            <a:off x="8188071" y="674217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8" name="svg-point-18">
            <a:extLst>
              <a:ext uri="{FF2B5EF4-FFF2-40B4-BE49-F238E27FC236}">
                <a16:creationId xmlns:a16="http://schemas.microsoft.com/office/drawing/2014/main" id="{F086DCD5-5CD2-43BB-B8A8-710C4944D39F}"/>
              </a:ext>
            </a:extLst>
          </p:cNvPr>
          <p:cNvSpPr>
            <a:spLocks noGrp="1"/>
          </p:cNvSpPr>
          <p:nvPr/>
        </p:nvSpPr>
        <p:spPr>
          <a:xfrm>
            <a:off x="8085487" y="671855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9" name="svg-point-19">
            <a:extLst>
              <a:ext uri="{FF2B5EF4-FFF2-40B4-BE49-F238E27FC236}">
                <a16:creationId xmlns:a16="http://schemas.microsoft.com/office/drawing/2014/main" id="{91C507A5-FBCB-4327-9BA6-4F828B160A92}"/>
              </a:ext>
            </a:extLst>
          </p:cNvPr>
          <p:cNvSpPr>
            <a:spLocks noGrp="1"/>
          </p:cNvSpPr>
          <p:nvPr/>
        </p:nvSpPr>
        <p:spPr>
          <a:xfrm>
            <a:off x="8080058" y="666597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0" name="svg-point-20">
            <a:extLst>
              <a:ext uri="{FF2B5EF4-FFF2-40B4-BE49-F238E27FC236}">
                <a16:creationId xmlns:a16="http://schemas.microsoft.com/office/drawing/2014/main" id="{F941B978-11AA-4316-AB4B-2D4F8ACBC85D}"/>
              </a:ext>
            </a:extLst>
          </p:cNvPr>
          <p:cNvSpPr>
            <a:spLocks noGrp="1"/>
          </p:cNvSpPr>
          <p:nvPr/>
        </p:nvSpPr>
        <p:spPr>
          <a:xfrm>
            <a:off x="8128159" y="6559677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1" name="svg-point-21">
            <a:extLst>
              <a:ext uri="{FF2B5EF4-FFF2-40B4-BE49-F238E27FC236}">
                <a16:creationId xmlns:a16="http://schemas.microsoft.com/office/drawing/2014/main" id="{7B0FFF6B-EF9F-4801-9F3D-482CC3420912}"/>
              </a:ext>
            </a:extLst>
          </p:cNvPr>
          <p:cNvSpPr>
            <a:spLocks noGrp="1"/>
          </p:cNvSpPr>
          <p:nvPr/>
        </p:nvSpPr>
        <p:spPr>
          <a:xfrm>
            <a:off x="7981950" y="642718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2" name="svg-point-22">
            <a:extLst>
              <a:ext uri="{FF2B5EF4-FFF2-40B4-BE49-F238E27FC236}">
                <a16:creationId xmlns:a16="http://schemas.microsoft.com/office/drawing/2014/main" id="{8269BE70-EA23-442B-B03E-94AECBFBC251}"/>
              </a:ext>
            </a:extLst>
          </p:cNvPr>
          <p:cNvSpPr>
            <a:spLocks noGrp="1"/>
          </p:cNvSpPr>
          <p:nvPr/>
        </p:nvSpPr>
        <p:spPr>
          <a:xfrm>
            <a:off x="7935659" y="612667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3" name="svg-point-23">
            <a:extLst>
              <a:ext uri="{FF2B5EF4-FFF2-40B4-BE49-F238E27FC236}">
                <a16:creationId xmlns:a16="http://schemas.microsoft.com/office/drawing/2014/main" id="{2365524F-8DCC-4F57-A693-30E7B8006E94}"/>
              </a:ext>
            </a:extLst>
          </p:cNvPr>
          <p:cNvSpPr>
            <a:spLocks noGrp="1"/>
          </p:cNvSpPr>
          <p:nvPr/>
        </p:nvSpPr>
        <p:spPr>
          <a:xfrm>
            <a:off x="7917561" y="586159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4" name="svg-point-24">
            <a:extLst>
              <a:ext uri="{FF2B5EF4-FFF2-40B4-BE49-F238E27FC236}">
                <a16:creationId xmlns:a16="http://schemas.microsoft.com/office/drawing/2014/main" id="{55255118-4E82-4CC5-8796-FDB0C26B8AB1}"/>
              </a:ext>
            </a:extLst>
          </p:cNvPr>
          <p:cNvSpPr>
            <a:spLocks noGrp="1"/>
          </p:cNvSpPr>
          <p:nvPr/>
        </p:nvSpPr>
        <p:spPr>
          <a:xfrm>
            <a:off x="7889367" y="564099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5" name="svg-point-25">
            <a:extLst>
              <a:ext uri="{FF2B5EF4-FFF2-40B4-BE49-F238E27FC236}">
                <a16:creationId xmlns:a16="http://schemas.microsoft.com/office/drawing/2014/main" id="{F3FD71A1-1D9D-4B6E-8055-7D061EDD761E}"/>
              </a:ext>
            </a:extLst>
          </p:cNvPr>
          <p:cNvSpPr>
            <a:spLocks noGrp="1"/>
          </p:cNvSpPr>
          <p:nvPr/>
        </p:nvSpPr>
        <p:spPr>
          <a:xfrm>
            <a:off x="10382250" y="669321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6" name="svg-point-26">
            <a:extLst>
              <a:ext uri="{FF2B5EF4-FFF2-40B4-BE49-F238E27FC236}">
                <a16:creationId xmlns:a16="http://schemas.microsoft.com/office/drawing/2014/main" id="{0F675255-950A-4089-A076-B72551EE78EC}"/>
              </a:ext>
            </a:extLst>
          </p:cNvPr>
          <p:cNvSpPr>
            <a:spLocks noGrp="1"/>
          </p:cNvSpPr>
          <p:nvPr/>
        </p:nvSpPr>
        <p:spPr>
          <a:xfrm>
            <a:off x="10330529" y="661597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7" name="svg-point-27">
            <a:extLst>
              <a:ext uri="{FF2B5EF4-FFF2-40B4-BE49-F238E27FC236}">
                <a16:creationId xmlns:a16="http://schemas.microsoft.com/office/drawing/2014/main" id="{43EBCBCD-815B-43EE-B4E5-BC96844E12AA}"/>
              </a:ext>
            </a:extLst>
          </p:cNvPr>
          <p:cNvSpPr>
            <a:spLocks noGrp="1"/>
          </p:cNvSpPr>
          <p:nvPr/>
        </p:nvSpPr>
        <p:spPr>
          <a:xfrm>
            <a:off x="10258806" y="647071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8" name="svg-point-28">
            <a:extLst>
              <a:ext uri="{FF2B5EF4-FFF2-40B4-BE49-F238E27FC236}">
                <a16:creationId xmlns:a16="http://schemas.microsoft.com/office/drawing/2014/main" id="{4960E423-6056-464E-9BCF-638A1EFE40F3}"/>
              </a:ext>
            </a:extLst>
          </p:cNvPr>
          <p:cNvSpPr>
            <a:spLocks noGrp="1"/>
          </p:cNvSpPr>
          <p:nvPr/>
        </p:nvSpPr>
        <p:spPr>
          <a:xfrm>
            <a:off x="10279666" y="620020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9" name="svg-point-29">
            <a:extLst>
              <a:ext uri="{FF2B5EF4-FFF2-40B4-BE49-F238E27FC236}">
                <a16:creationId xmlns:a16="http://schemas.microsoft.com/office/drawing/2014/main" id="{104568B7-0B16-43A8-A175-2DC84C7756E5}"/>
              </a:ext>
            </a:extLst>
          </p:cNvPr>
          <p:cNvSpPr>
            <a:spLocks noGrp="1"/>
          </p:cNvSpPr>
          <p:nvPr/>
        </p:nvSpPr>
        <p:spPr>
          <a:xfrm>
            <a:off x="10143458" y="583615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0" name="svg-point-30">
            <a:extLst>
              <a:ext uri="{FF2B5EF4-FFF2-40B4-BE49-F238E27FC236}">
                <a16:creationId xmlns:a16="http://schemas.microsoft.com/office/drawing/2014/main" id="{7A2AD51F-6C46-46E0-A82D-A719052829EA}"/>
              </a:ext>
            </a:extLst>
          </p:cNvPr>
          <p:cNvSpPr>
            <a:spLocks noGrp="1"/>
          </p:cNvSpPr>
          <p:nvPr/>
        </p:nvSpPr>
        <p:spPr>
          <a:xfrm>
            <a:off x="9640538" y="544944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1" name="svg-point-31">
            <a:extLst>
              <a:ext uri="{FF2B5EF4-FFF2-40B4-BE49-F238E27FC236}">
                <a16:creationId xmlns:a16="http://schemas.microsoft.com/office/drawing/2014/main" id="{0781F562-B844-4559-BBEA-53C63B94525B}"/>
              </a:ext>
            </a:extLst>
          </p:cNvPr>
          <p:cNvSpPr>
            <a:spLocks noGrp="1"/>
          </p:cNvSpPr>
          <p:nvPr/>
        </p:nvSpPr>
        <p:spPr>
          <a:xfrm>
            <a:off x="9531668" y="530780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2" name="svg-point-32">
            <a:extLst>
              <a:ext uri="{FF2B5EF4-FFF2-40B4-BE49-F238E27FC236}">
                <a16:creationId xmlns:a16="http://schemas.microsoft.com/office/drawing/2014/main" id="{F41BC0B2-4195-45B5-AA8B-5B5C4A114159}"/>
              </a:ext>
            </a:extLst>
          </p:cNvPr>
          <p:cNvSpPr>
            <a:spLocks noGrp="1"/>
          </p:cNvSpPr>
          <p:nvPr/>
        </p:nvSpPr>
        <p:spPr>
          <a:xfrm>
            <a:off x="9337358" y="532961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3" name="svg-point-33">
            <a:extLst>
              <a:ext uri="{FF2B5EF4-FFF2-40B4-BE49-F238E27FC236}">
                <a16:creationId xmlns:a16="http://schemas.microsoft.com/office/drawing/2014/main" id="{2337501D-A150-4E24-A62C-34569D055727}"/>
              </a:ext>
            </a:extLst>
          </p:cNvPr>
          <p:cNvSpPr>
            <a:spLocks noGrp="1"/>
          </p:cNvSpPr>
          <p:nvPr/>
        </p:nvSpPr>
        <p:spPr>
          <a:xfrm>
            <a:off x="13820489" y="6659594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4" name="svg-point-34">
            <a:extLst>
              <a:ext uri="{FF2B5EF4-FFF2-40B4-BE49-F238E27FC236}">
                <a16:creationId xmlns:a16="http://schemas.microsoft.com/office/drawing/2014/main" id="{47AD560C-4886-4315-9328-A9906398927A}"/>
              </a:ext>
            </a:extLst>
          </p:cNvPr>
          <p:cNvSpPr>
            <a:spLocks noGrp="1"/>
          </p:cNvSpPr>
          <p:nvPr/>
        </p:nvSpPr>
        <p:spPr>
          <a:xfrm>
            <a:off x="13756005" y="6562439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5" name="svg-point-35">
            <a:extLst>
              <a:ext uri="{FF2B5EF4-FFF2-40B4-BE49-F238E27FC236}">
                <a16:creationId xmlns:a16="http://schemas.microsoft.com/office/drawing/2014/main" id="{9088C8C7-43D1-47E7-8C60-1D1F4F89B4EB}"/>
              </a:ext>
            </a:extLst>
          </p:cNvPr>
          <p:cNvSpPr>
            <a:spLocks noGrp="1"/>
          </p:cNvSpPr>
          <p:nvPr/>
        </p:nvSpPr>
        <p:spPr>
          <a:xfrm>
            <a:off x="13711523" y="6382703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6" name="svg-point-36">
            <a:extLst>
              <a:ext uri="{FF2B5EF4-FFF2-40B4-BE49-F238E27FC236}">
                <a16:creationId xmlns:a16="http://schemas.microsoft.com/office/drawing/2014/main" id="{F5CA6A96-A7AB-415A-9B37-B1C4739177D9}"/>
              </a:ext>
            </a:extLst>
          </p:cNvPr>
          <p:cNvSpPr>
            <a:spLocks noGrp="1"/>
          </p:cNvSpPr>
          <p:nvPr/>
        </p:nvSpPr>
        <p:spPr>
          <a:xfrm>
            <a:off x="13684282" y="602865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7" name="svg-point-37">
            <a:extLst>
              <a:ext uri="{FF2B5EF4-FFF2-40B4-BE49-F238E27FC236}">
                <a16:creationId xmlns:a16="http://schemas.microsoft.com/office/drawing/2014/main" id="{6B355B4C-2964-4656-8CDA-E87B79C4CC14}"/>
              </a:ext>
            </a:extLst>
          </p:cNvPr>
          <p:cNvSpPr>
            <a:spLocks noGrp="1"/>
          </p:cNvSpPr>
          <p:nvPr/>
        </p:nvSpPr>
        <p:spPr>
          <a:xfrm>
            <a:off x="13630751" y="545401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8" name="svg-point-38">
            <a:extLst>
              <a:ext uri="{FF2B5EF4-FFF2-40B4-BE49-F238E27FC236}">
                <a16:creationId xmlns:a16="http://schemas.microsoft.com/office/drawing/2014/main" id="{87D6B732-3D7D-4CF2-8D27-A3E9BEA76FD7}"/>
              </a:ext>
            </a:extLst>
          </p:cNvPr>
          <p:cNvSpPr>
            <a:spLocks noGrp="1"/>
          </p:cNvSpPr>
          <p:nvPr/>
        </p:nvSpPr>
        <p:spPr>
          <a:xfrm>
            <a:off x="13619893" y="504548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9" name="svg-point-39">
            <a:extLst>
              <a:ext uri="{FF2B5EF4-FFF2-40B4-BE49-F238E27FC236}">
                <a16:creationId xmlns:a16="http://schemas.microsoft.com/office/drawing/2014/main" id="{7FD52B7C-7387-46F3-A58C-C510C5C374D7}"/>
              </a:ext>
            </a:extLst>
          </p:cNvPr>
          <p:cNvSpPr>
            <a:spLocks noGrp="1"/>
          </p:cNvSpPr>
          <p:nvPr/>
        </p:nvSpPr>
        <p:spPr>
          <a:xfrm>
            <a:off x="13621703" y="500281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10" name="svg-point-40">
            <a:extLst>
              <a:ext uri="{FF2B5EF4-FFF2-40B4-BE49-F238E27FC236}">
                <a16:creationId xmlns:a16="http://schemas.microsoft.com/office/drawing/2014/main" id="{E0E90E34-44A3-4568-9ADF-DB02CFF438AF}"/>
              </a:ext>
            </a:extLst>
          </p:cNvPr>
          <p:cNvSpPr>
            <a:spLocks noGrp="1"/>
          </p:cNvSpPr>
          <p:nvPr/>
        </p:nvSpPr>
        <p:spPr>
          <a:xfrm>
            <a:off x="13615321" y="496747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11" name="svg-point-41">
            <a:extLst>
              <a:ext uri="{FF2B5EF4-FFF2-40B4-BE49-F238E27FC236}">
                <a16:creationId xmlns:a16="http://schemas.microsoft.com/office/drawing/2014/main" id="{4CD537BA-3B71-4C3B-8629-28902A298E98}"/>
              </a:ext>
            </a:extLst>
          </p:cNvPr>
          <p:cNvSpPr>
            <a:spLocks noGrp="1"/>
          </p:cNvSpPr>
          <p:nvPr/>
        </p:nvSpPr>
        <p:spPr>
          <a:xfrm>
            <a:off x="15723299" y="653157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2" name="svg-point-42">
            <a:extLst>
              <a:ext uri="{FF2B5EF4-FFF2-40B4-BE49-F238E27FC236}">
                <a16:creationId xmlns:a16="http://schemas.microsoft.com/office/drawing/2014/main" id="{875A1FA8-1DED-4062-8936-94B70D94CF94}"/>
              </a:ext>
            </a:extLst>
          </p:cNvPr>
          <p:cNvSpPr>
            <a:spLocks noGrp="1"/>
          </p:cNvSpPr>
          <p:nvPr/>
        </p:nvSpPr>
        <p:spPr>
          <a:xfrm>
            <a:off x="15706916" y="6307360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3" name="svg-point-43">
            <a:extLst>
              <a:ext uri="{FF2B5EF4-FFF2-40B4-BE49-F238E27FC236}">
                <a16:creationId xmlns:a16="http://schemas.microsoft.com/office/drawing/2014/main" id="{CBCB612F-0DEA-4BDE-AC50-75461E4BD59E}"/>
              </a:ext>
            </a:extLst>
          </p:cNvPr>
          <p:cNvSpPr>
            <a:spLocks noGrp="1"/>
          </p:cNvSpPr>
          <p:nvPr/>
        </p:nvSpPr>
        <p:spPr>
          <a:xfrm>
            <a:off x="15922085" y="590607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4" name="svg-point-44">
            <a:extLst>
              <a:ext uri="{FF2B5EF4-FFF2-40B4-BE49-F238E27FC236}">
                <a16:creationId xmlns:a16="http://schemas.microsoft.com/office/drawing/2014/main" id="{CE5709ED-9D75-46FD-A331-B3F13513B12F}"/>
              </a:ext>
            </a:extLst>
          </p:cNvPr>
          <p:cNvSpPr>
            <a:spLocks noGrp="1"/>
          </p:cNvSpPr>
          <p:nvPr/>
        </p:nvSpPr>
        <p:spPr>
          <a:xfrm>
            <a:off x="15991046" y="5455825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5" name="svg-point-45">
            <a:extLst>
              <a:ext uri="{FF2B5EF4-FFF2-40B4-BE49-F238E27FC236}">
                <a16:creationId xmlns:a16="http://schemas.microsoft.com/office/drawing/2014/main" id="{8CDEE6FE-2FB4-434B-86E7-66A374E6D68E}"/>
              </a:ext>
            </a:extLst>
          </p:cNvPr>
          <p:cNvSpPr>
            <a:spLocks noGrp="1"/>
          </p:cNvSpPr>
          <p:nvPr/>
        </p:nvSpPr>
        <p:spPr>
          <a:xfrm>
            <a:off x="15706058" y="521798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6" name="svg-point-46">
            <a:extLst>
              <a:ext uri="{FF2B5EF4-FFF2-40B4-BE49-F238E27FC236}">
                <a16:creationId xmlns:a16="http://schemas.microsoft.com/office/drawing/2014/main" id="{F0719FE5-E3A4-42B6-B5D2-6A6F891FEA7E}"/>
              </a:ext>
            </a:extLst>
          </p:cNvPr>
          <p:cNvSpPr>
            <a:spLocks noGrp="1"/>
          </p:cNvSpPr>
          <p:nvPr/>
        </p:nvSpPr>
        <p:spPr>
          <a:xfrm>
            <a:off x="15789497" y="5250656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7" name="svg-point-47">
            <a:extLst>
              <a:ext uri="{FF2B5EF4-FFF2-40B4-BE49-F238E27FC236}">
                <a16:creationId xmlns:a16="http://schemas.microsoft.com/office/drawing/2014/main" id="{E524C50D-D951-4AF5-B185-1C9AE004CD13}"/>
              </a:ext>
            </a:extLst>
          </p:cNvPr>
          <p:cNvSpPr>
            <a:spLocks noGrp="1"/>
          </p:cNvSpPr>
          <p:nvPr/>
        </p:nvSpPr>
        <p:spPr>
          <a:xfrm>
            <a:off x="15786830" y="5274278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8" name="svg-point-48">
            <a:extLst>
              <a:ext uri="{FF2B5EF4-FFF2-40B4-BE49-F238E27FC236}">
                <a16:creationId xmlns:a16="http://schemas.microsoft.com/office/drawing/2014/main" id="{7D52ED1A-6668-448C-AC2F-73FDDAA1EA37}"/>
              </a:ext>
            </a:extLst>
          </p:cNvPr>
          <p:cNvSpPr>
            <a:spLocks noGrp="1"/>
          </p:cNvSpPr>
          <p:nvPr/>
        </p:nvSpPr>
        <p:spPr>
          <a:xfrm>
            <a:off x="15785878" y="5349621"/>
            <a:ext cx="90773" cy="90773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19" name="pseudo-49">
            <a:extLst>
              <a:ext uri="{FF2B5EF4-FFF2-40B4-BE49-F238E27FC236}">
                <a16:creationId xmlns:a16="http://schemas.microsoft.com/office/drawing/2014/main" id="{1EF09002-DE07-4BBB-95A4-CD5AE2E7810D}"/>
              </a:ext>
            </a:extLst>
          </p:cNvPr>
          <p:cNvSpPr>
            <a:spLocks noGrp="1"/>
          </p:cNvSpPr>
          <p:nvPr/>
        </p:nvSpPr>
        <p:spPr>
          <a:xfrm>
            <a:off x="7323106" y="2867025"/>
            <a:ext cx="219075" cy="47625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20" name="pseudo-50">
            <a:extLst>
              <a:ext uri="{FF2B5EF4-FFF2-40B4-BE49-F238E27FC236}">
                <a16:creationId xmlns:a16="http://schemas.microsoft.com/office/drawing/2014/main" id="{126A3A2B-81B7-409B-B9FB-EDE44CD8785B}"/>
              </a:ext>
            </a:extLst>
          </p:cNvPr>
          <p:cNvSpPr>
            <a:spLocks noGrp="1"/>
          </p:cNvSpPr>
          <p:nvPr/>
        </p:nvSpPr>
        <p:spPr>
          <a:xfrm>
            <a:off x="13847159" y="2867025"/>
            <a:ext cx="219075" cy="47625"/>
          </a:xfrm>
          <a:prstGeom prst="roundRect">
            <a:avLst>
              <a:gd name="adj" fmla="val 50000"/>
            </a:avLst>
          </a:prstGeom>
          <a:solidFill>
            <a:srgbClr val="1785C1"/>
          </a:solidFill>
          <a:ln w="0">
            <a:noFill/>
            <a:prstDash val="solid"/>
          </a:ln>
        </p:spPr>
      </p:sp>
      <p:sp>
        <p:nvSpPr>
          <p:cNvPr id="121" name="border-52">
            <a:extLst>
              <a:ext uri="{FF2B5EF4-FFF2-40B4-BE49-F238E27FC236}">
                <a16:creationId xmlns:a16="http://schemas.microsoft.com/office/drawing/2014/main" id="{05D51051-0684-418E-85B0-5AC6CBE4A34C}"/>
              </a:ext>
            </a:extLst>
          </p:cNvPr>
          <p:cNvSpPr>
            <a:spLocks noGrp="1"/>
          </p:cNvSpPr>
          <p:nvPr/>
        </p:nvSpPr>
        <p:spPr>
          <a:xfrm>
            <a:off x="7715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2" name="html-shape-53">
            <a:extLst>
              <a:ext uri="{FF2B5EF4-FFF2-40B4-BE49-F238E27FC236}">
                <a16:creationId xmlns:a16="http://schemas.microsoft.com/office/drawing/2014/main" id="{81FEDE74-73A1-4684-A351-45747C0A204F}"/>
              </a:ext>
            </a:extLst>
          </p:cNvPr>
          <p:cNvSpPr>
            <a:spLocks noGrp="1"/>
          </p:cNvSpPr>
          <p:nvPr/>
        </p:nvSpPr>
        <p:spPr>
          <a:xfrm>
            <a:off x="1038225" y="75438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3" name="border-54">
            <a:extLst>
              <a:ext uri="{FF2B5EF4-FFF2-40B4-BE49-F238E27FC236}">
                <a16:creationId xmlns:a16="http://schemas.microsoft.com/office/drawing/2014/main" id="{449A7D20-49FA-449A-BA33-8AF54F4E1331}"/>
              </a:ext>
            </a:extLst>
          </p:cNvPr>
          <p:cNvSpPr>
            <a:spLocks noGrp="1"/>
          </p:cNvSpPr>
          <p:nvPr/>
        </p:nvSpPr>
        <p:spPr>
          <a:xfrm>
            <a:off x="1038225" y="75438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4" name="border-56">
            <a:extLst>
              <a:ext uri="{FF2B5EF4-FFF2-40B4-BE49-F238E27FC236}">
                <a16:creationId xmlns:a16="http://schemas.microsoft.com/office/drawing/2014/main" id="{9B234A98-D36C-4317-B2C1-B5023523FE3D}"/>
              </a:ext>
            </a:extLst>
          </p:cNvPr>
          <p:cNvSpPr>
            <a:spLocks noGrp="1"/>
          </p:cNvSpPr>
          <p:nvPr/>
        </p:nvSpPr>
        <p:spPr>
          <a:xfrm>
            <a:off x="64484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5" name="html-shape-57">
            <a:extLst>
              <a:ext uri="{FF2B5EF4-FFF2-40B4-BE49-F238E27FC236}">
                <a16:creationId xmlns:a16="http://schemas.microsoft.com/office/drawing/2014/main" id="{1B3D5F38-263E-4075-BB8A-DF42BDCB2534}"/>
              </a:ext>
            </a:extLst>
          </p:cNvPr>
          <p:cNvSpPr>
            <a:spLocks noGrp="1"/>
          </p:cNvSpPr>
          <p:nvPr/>
        </p:nvSpPr>
        <p:spPr>
          <a:xfrm>
            <a:off x="6715125" y="75438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6" name="border-58">
            <a:extLst>
              <a:ext uri="{FF2B5EF4-FFF2-40B4-BE49-F238E27FC236}">
                <a16:creationId xmlns:a16="http://schemas.microsoft.com/office/drawing/2014/main" id="{B1F7EA82-A4C6-4DCB-9FEF-A7A29E86DB22}"/>
              </a:ext>
            </a:extLst>
          </p:cNvPr>
          <p:cNvSpPr>
            <a:spLocks noGrp="1"/>
          </p:cNvSpPr>
          <p:nvPr/>
        </p:nvSpPr>
        <p:spPr>
          <a:xfrm>
            <a:off x="6715125" y="75438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7" name="border-60">
            <a:extLst>
              <a:ext uri="{FF2B5EF4-FFF2-40B4-BE49-F238E27FC236}">
                <a16:creationId xmlns:a16="http://schemas.microsoft.com/office/drawing/2014/main" id="{5F298DF9-3C7B-43E3-848E-5F8243533B75}"/>
              </a:ext>
            </a:extLst>
          </p:cNvPr>
          <p:cNvSpPr>
            <a:spLocks noGrp="1"/>
          </p:cNvSpPr>
          <p:nvPr/>
        </p:nvSpPr>
        <p:spPr>
          <a:xfrm>
            <a:off x="121253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8" name="html-shape-61">
            <a:extLst>
              <a:ext uri="{FF2B5EF4-FFF2-40B4-BE49-F238E27FC236}">
                <a16:creationId xmlns:a16="http://schemas.microsoft.com/office/drawing/2014/main" id="{D8B2702F-4CC3-4AC9-AAA5-B35E0461007C}"/>
              </a:ext>
            </a:extLst>
          </p:cNvPr>
          <p:cNvSpPr>
            <a:spLocks noGrp="1"/>
          </p:cNvSpPr>
          <p:nvPr/>
        </p:nvSpPr>
        <p:spPr>
          <a:xfrm>
            <a:off x="12392025" y="75438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9" name="border-62">
            <a:extLst>
              <a:ext uri="{FF2B5EF4-FFF2-40B4-BE49-F238E27FC236}">
                <a16:creationId xmlns:a16="http://schemas.microsoft.com/office/drawing/2014/main" id="{F69510C8-78FB-4BCC-B579-2B0D741C544A}"/>
              </a:ext>
            </a:extLst>
          </p:cNvPr>
          <p:cNvSpPr>
            <a:spLocks noGrp="1"/>
          </p:cNvSpPr>
          <p:nvPr/>
        </p:nvSpPr>
        <p:spPr>
          <a:xfrm>
            <a:off x="12392025" y="75438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130" name="图片 129">
            <a:extLst>
              <a:ext uri="{FF2B5EF4-FFF2-40B4-BE49-F238E27FC236}">
                <a16:creationId xmlns:a16="http://schemas.microsoft.com/office/drawing/2014/main" id="{096DFD8D-B293-4BA9-BE0F-735334548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31" name="图片 130">
            <a:extLst>
              <a:ext uri="{FF2B5EF4-FFF2-40B4-BE49-F238E27FC236}">
                <a16:creationId xmlns:a16="http://schemas.microsoft.com/office/drawing/2014/main" id="{E0FF27BF-9A7D-467B-A3BD-4CDF9C04A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32" name="svg-text-1">
            <a:extLst>
              <a:ext uri="{FF2B5EF4-FFF2-40B4-BE49-F238E27FC236}">
                <a16:creationId xmlns:a16="http://schemas.microsoft.com/office/drawing/2014/main" id="{52790DF9-CBBB-4D29-ABD9-D2E2E28FED1D}"/>
              </a:ext>
            </a:extLst>
          </p:cNvPr>
          <p:cNvSpPr>
            <a:spLocks noGrp="1"/>
          </p:cNvSpPr>
          <p:nvPr/>
        </p:nvSpPr>
        <p:spPr>
          <a:xfrm>
            <a:off x="1677353" y="3846862"/>
            <a:ext cx="120948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Output TPS</a:t>
            </a:r>
          </a:p>
        </p:txBody>
      </p:sp>
      <p:sp>
        <p:nvSpPr>
          <p:cNvPr id="133" name="svg-text-2">
            <a:extLst>
              <a:ext uri="{FF2B5EF4-FFF2-40B4-BE49-F238E27FC236}">
                <a16:creationId xmlns:a16="http://schemas.microsoft.com/office/drawing/2014/main" id="{5E743D7B-DCFB-4906-A9CE-C1392B437A96}"/>
              </a:ext>
            </a:extLst>
          </p:cNvPr>
          <p:cNvSpPr>
            <a:spLocks noGrp="1"/>
          </p:cNvSpPr>
          <p:nvPr/>
        </p:nvSpPr>
        <p:spPr>
          <a:xfrm>
            <a:off x="1463040" y="6662071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34" name="svg-text-3">
            <a:extLst>
              <a:ext uri="{FF2B5EF4-FFF2-40B4-BE49-F238E27FC236}">
                <a16:creationId xmlns:a16="http://schemas.microsoft.com/office/drawing/2014/main" id="{28A977F9-8B84-437C-9C9E-8CE1AD4849C3}"/>
              </a:ext>
            </a:extLst>
          </p:cNvPr>
          <p:cNvSpPr>
            <a:spLocks noGrp="1"/>
          </p:cNvSpPr>
          <p:nvPr/>
        </p:nvSpPr>
        <p:spPr>
          <a:xfrm>
            <a:off x="1234345" y="6031039"/>
            <a:ext cx="400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500</a:t>
            </a:r>
          </a:p>
        </p:txBody>
      </p:sp>
      <p:sp>
        <p:nvSpPr>
          <p:cNvPr id="135" name="svg-text-4">
            <a:extLst>
              <a:ext uri="{FF2B5EF4-FFF2-40B4-BE49-F238E27FC236}">
                <a16:creationId xmlns:a16="http://schemas.microsoft.com/office/drawing/2014/main" id="{2AEDE1E1-CE8D-4530-8251-2012C24B3364}"/>
              </a:ext>
            </a:extLst>
          </p:cNvPr>
          <p:cNvSpPr>
            <a:spLocks noGrp="1"/>
          </p:cNvSpPr>
          <p:nvPr/>
        </p:nvSpPr>
        <p:spPr>
          <a:xfrm>
            <a:off x="1107662" y="5400199"/>
            <a:ext cx="5270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1,000</a:t>
            </a:r>
          </a:p>
        </p:txBody>
      </p:sp>
      <p:sp>
        <p:nvSpPr>
          <p:cNvPr id="136" name="svg-text-5">
            <a:extLst>
              <a:ext uri="{FF2B5EF4-FFF2-40B4-BE49-F238E27FC236}">
                <a16:creationId xmlns:a16="http://schemas.microsoft.com/office/drawing/2014/main" id="{F99DAB7D-7A4B-42FF-A17A-665D15CCC62B}"/>
              </a:ext>
            </a:extLst>
          </p:cNvPr>
          <p:cNvSpPr>
            <a:spLocks noGrp="1"/>
          </p:cNvSpPr>
          <p:nvPr/>
        </p:nvSpPr>
        <p:spPr>
          <a:xfrm>
            <a:off x="1107662" y="4769263"/>
            <a:ext cx="5270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1,500</a:t>
            </a:r>
          </a:p>
        </p:txBody>
      </p:sp>
      <p:sp>
        <p:nvSpPr>
          <p:cNvPr id="137" name="svg-text-6">
            <a:extLst>
              <a:ext uri="{FF2B5EF4-FFF2-40B4-BE49-F238E27FC236}">
                <a16:creationId xmlns:a16="http://schemas.microsoft.com/office/drawing/2014/main" id="{2DE63755-8F2B-4722-9C8F-5DC4C739B74F}"/>
              </a:ext>
            </a:extLst>
          </p:cNvPr>
          <p:cNvSpPr>
            <a:spLocks noGrp="1"/>
          </p:cNvSpPr>
          <p:nvPr/>
        </p:nvSpPr>
        <p:spPr>
          <a:xfrm>
            <a:off x="1069658" y="4138232"/>
            <a:ext cx="56492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2,000</a:t>
            </a:r>
          </a:p>
        </p:txBody>
      </p:sp>
      <p:sp>
        <p:nvSpPr>
          <p:cNvPr id="138" name="svg-text-7">
            <a:extLst>
              <a:ext uri="{FF2B5EF4-FFF2-40B4-BE49-F238E27FC236}">
                <a16:creationId xmlns:a16="http://schemas.microsoft.com/office/drawing/2014/main" id="{5EDFB00C-D48F-478C-A07C-25EB9E1A36CD}"/>
              </a:ext>
            </a:extLst>
          </p:cNvPr>
          <p:cNvSpPr>
            <a:spLocks noGrp="1"/>
          </p:cNvSpPr>
          <p:nvPr/>
        </p:nvSpPr>
        <p:spPr>
          <a:xfrm>
            <a:off x="1620107" y="6852666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39" name="svg-text-8">
            <a:extLst>
              <a:ext uri="{FF2B5EF4-FFF2-40B4-BE49-F238E27FC236}">
                <a16:creationId xmlns:a16="http://schemas.microsoft.com/office/drawing/2014/main" id="{60CBB171-E854-4C2D-AAF0-43DF5C9A6805}"/>
              </a:ext>
            </a:extLst>
          </p:cNvPr>
          <p:cNvSpPr>
            <a:spLocks noGrp="1"/>
          </p:cNvSpPr>
          <p:nvPr/>
        </p:nvSpPr>
        <p:spPr>
          <a:xfrm>
            <a:off x="2516219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40" name="svg-text-9">
            <a:extLst>
              <a:ext uri="{FF2B5EF4-FFF2-40B4-BE49-F238E27FC236}">
                <a16:creationId xmlns:a16="http://schemas.microsoft.com/office/drawing/2014/main" id="{150A06B9-C9DF-459E-A652-ADFD73EEA1FF}"/>
              </a:ext>
            </a:extLst>
          </p:cNvPr>
          <p:cNvSpPr>
            <a:spLocks noGrp="1"/>
          </p:cNvSpPr>
          <p:nvPr/>
        </p:nvSpPr>
        <p:spPr>
          <a:xfrm>
            <a:off x="3469386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40</a:t>
            </a:r>
          </a:p>
        </p:txBody>
      </p:sp>
      <p:sp>
        <p:nvSpPr>
          <p:cNvPr id="141" name="svg-text-10">
            <a:extLst>
              <a:ext uri="{FF2B5EF4-FFF2-40B4-BE49-F238E27FC236}">
                <a16:creationId xmlns:a16="http://schemas.microsoft.com/office/drawing/2014/main" id="{5CBB07AC-D0C2-43BE-9420-07DA0DAB823B}"/>
              </a:ext>
            </a:extLst>
          </p:cNvPr>
          <p:cNvSpPr>
            <a:spLocks noGrp="1"/>
          </p:cNvSpPr>
          <p:nvPr/>
        </p:nvSpPr>
        <p:spPr>
          <a:xfrm>
            <a:off x="4422648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</a:t>
            </a:r>
          </a:p>
        </p:txBody>
      </p:sp>
      <p:sp>
        <p:nvSpPr>
          <p:cNvPr id="142" name="svg-text-11">
            <a:extLst>
              <a:ext uri="{FF2B5EF4-FFF2-40B4-BE49-F238E27FC236}">
                <a16:creationId xmlns:a16="http://schemas.microsoft.com/office/drawing/2014/main" id="{C0BA62C7-69EE-4D6E-9DCC-D6D2E2BA0209}"/>
              </a:ext>
            </a:extLst>
          </p:cNvPr>
          <p:cNvSpPr>
            <a:spLocks noGrp="1"/>
          </p:cNvSpPr>
          <p:nvPr/>
        </p:nvSpPr>
        <p:spPr>
          <a:xfrm>
            <a:off x="5375815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80</a:t>
            </a:r>
          </a:p>
        </p:txBody>
      </p:sp>
      <p:sp>
        <p:nvSpPr>
          <p:cNvPr id="143" name="svg-text-12">
            <a:extLst>
              <a:ext uri="{FF2B5EF4-FFF2-40B4-BE49-F238E27FC236}">
                <a16:creationId xmlns:a16="http://schemas.microsoft.com/office/drawing/2014/main" id="{766B996C-459A-4734-8142-3354BB6D71FF}"/>
              </a:ext>
            </a:extLst>
          </p:cNvPr>
          <p:cNvSpPr>
            <a:spLocks noGrp="1"/>
          </p:cNvSpPr>
          <p:nvPr/>
        </p:nvSpPr>
        <p:spPr>
          <a:xfrm>
            <a:off x="3211068" y="3885057"/>
            <a:ext cx="80267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Agent 40</a:t>
            </a:r>
          </a:p>
        </p:txBody>
      </p:sp>
      <p:sp>
        <p:nvSpPr>
          <p:cNvPr id="144" name="svg-text-13">
            <a:extLst>
              <a:ext uri="{FF2B5EF4-FFF2-40B4-BE49-F238E27FC236}">
                <a16:creationId xmlns:a16="http://schemas.microsoft.com/office/drawing/2014/main" id="{042BE07C-461E-451F-8FC4-AFEEBE0C96D7}"/>
              </a:ext>
            </a:extLst>
          </p:cNvPr>
          <p:cNvSpPr>
            <a:spLocks noGrp="1"/>
          </p:cNvSpPr>
          <p:nvPr/>
        </p:nvSpPr>
        <p:spPr>
          <a:xfrm>
            <a:off x="2343722" y="5756910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45" name="svg-text-14">
            <a:extLst>
              <a:ext uri="{FF2B5EF4-FFF2-40B4-BE49-F238E27FC236}">
                <a16:creationId xmlns:a16="http://schemas.microsoft.com/office/drawing/2014/main" id="{FD8F6375-345A-4199-92B2-B29C535E4D3A}"/>
              </a:ext>
            </a:extLst>
          </p:cNvPr>
          <p:cNvSpPr>
            <a:spLocks noGrp="1"/>
          </p:cNvSpPr>
          <p:nvPr/>
        </p:nvSpPr>
        <p:spPr>
          <a:xfrm>
            <a:off x="4998149" y="6381464"/>
            <a:ext cx="2540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146" name="svg-text-15">
            <a:extLst>
              <a:ext uri="{FF2B5EF4-FFF2-40B4-BE49-F238E27FC236}">
                <a16:creationId xmlns:a16="http://schemas.microsoft.com/office/drawing/2014/main" id="{BC85FA1B-4588-4F75-B25C-66B22E75F78E}"/>
              </a:ext>
            </a:extLst>
          </p:cNvPr>
          <p:cNvSpPr>
            <a:spLocks noGrp="1"/>
          </p:cNvSpPr>
          <p:nvPr/>
        </p:nvSpPr>
        <p:spPr>
          <a:xfrm>
            <a:off x="2918270" y="4898993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47" name="svg-text-16">
            <a:extLst>
              <a:ext uri="{FF2B5EF4-FFF2-40B4-BE49-F238E27FC236}">
                <a16:creationId xmlns:a16="http://schemas.microsoft.com/office/drawing/2014/main" id="{2D0C74CA-0175-4DD1-86A3-7988EAF6E9DF}"/>
              </a:ext>
            </a:extLst>
          </p:cNvPr>
          <p:cNvSpPr>
            <a:spLocks noGrp="1"/>
          </p:cNvSpPr>
          <p:nvPr/>
        </p:nvSpPr>
        <p:spPr>
          <a:xfrm>
            <a:off x="2259997" y="7169468"/>
            <a:ext cx="270462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46"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Decode 速度 (token/s/req)</a:t>
            </a:r>
          </a:p>
        </p:txBody>
      </p:sp>
      <p:sp>
        <p:nvSpPr>
          <p:cNvPr id="148" name="svg-text-17">
            <a:extLst>
              <a:ext uri="{FF2B5EF4-FFF2-40B4-BE49-F238E27FC236}">
                <a16:creationId xmlns:a16="http://schemas.microsoft.com/office/drawing/2014/main" id="{85CD6384-E73D-4462-A231-1DD1FFA88EC4}"/>
              </a:ext>
            </a:extLst>
          </p:cNvPr>
          <p:cNvSpPr>
            <a:spLocks noGrp="1"/>
          </p:cNvSpPr>
          <p:nvPr/>
        </p:nvSpPr>
        <p:spPr>
          <a:xfrm>
            <a:off x="7354253" y="3846862"/>
            <a:ext cx="120948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Output TPS</a:t>
            </a:r>
          </a:p>
        </p:txBody>
      </p:sp>
      <p:sp>
        <p:nvSpPr>
          <p:cNvPr id="149" name="svg-text-18">
            <a:extLst>
              <a:ext uri="{FF2B5EF4-FFF2-40B4-BE49-F238E27FC236}">
                <a16:creationId xmlns:a16="http://schemas.microsoft.com/office/drawing/2014/main" id="{00EA705F-942D-4A49-B4B0-32A8AA41C2F1}"/>
              </a:ext>
            </a:extLst>
          </p:cNvPr>
          <p:cNvSpPr>
            <a:spLocks noGrp="1"/>
          </p:cNvSpPr>
          <p:nvPr/>
        </p:nvSpPr>
        <p:spPr>
          <a:xfrm>
            <a:off x="7139940" y="6662071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50" name="svg-text-19">
            <a:extLst>
              <a:ext uri="{FF2B5EF4-FFF2-40B4-BE49-F238E27FC236}">
                <a16:creationId xmlns:a16="http://schemas.microsoft.com/office/drawing/2014/main" id="{B1740F5F-FDBD-421D-BE6E-C4CF30FE9B7E}"/>
              </a:ext>
            </a:extLst>
          </p:cNvPr>
          <p:cNvSpPr>
            <a:spLocks noGrp="1"/>
          </p:cNvSpPr>
          <p:nvPr/>
        </p:nvSpPr>
        <p:spPr>
          <a:xfrm>
            <a:off x="6911245" y="6031039"/>
            <a:ext cx="400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350</a:t>
            </a:r>
          </a:p>
        </p:txBody>
      </p:sp>
      <p:sp>
        <p:nvSpPr>
          <p:cNvPr id="151" name="svg-text-20">
            <a:extLst>
              <a:ext uri="{FF2B5EF4-FFF2-40B4-BE49-F238E27FC236}">
                <a16:creationId xmlns:a16="http://schemas.microsoft.com/office/drawing/2014/main" id="{90DA85AD-D5DF-467B-9F42-D0078B63ABFA}"/>
              </a:ext>
            </a:extLst>
          </p:cNvPr>
          <p:cNvSpPr>
            <a:spLocks noGrp="1"/>
          </p:cNvSpPr>
          <p:nvPr/>
        </p:nvSpPr>
        <p:spPr>
          <a:xfrm>
            <a:off x="6921341" y="5400199"/>
            <a:ext cx="3902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700</a:t>
            </a:r>
          </a:p>
        </p:txBody>
      </p:sp>
      <p:sp>
        <p:nvSpPr>
          <p:cNvPr id="152" name="svg-text-21">
            <a:extLst>
              <a:ext uri="{FF2B5EF4-FFF2-40B4-BE49-F238E27FC236}">
                <a16:creationId xmlns:a16="http://schemas.microsoft.com/office/drawing/2014/main" id="{B1724B41-8F1B-49E8-A1B6-9C9243098180}"/>
              </a:ext>
            </a:extLst>
          </p:cNvPr>
          <p:cNvSpPr>
            <a:spLocks noGrp="1"/>
          </p:cNvSpPr>
          <p:nvPr/>
        </p:nvSpPr>
        <p:spPr>
          <a:xfrm>
            <a:off x="6784562" y="4769263"/>
            <a:ext cx="5270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1,050</a:t>
            </a:r>
          </a:p>
        </p:txBody>
      </p:sp>
      <p:sp>
        <p:nvSpPr>
          <p:cNvPr id="153" name="svg-text-22">
            <a:extLst>
              <a:ext uri="{FF2B5EF4-FFF2-40B4-BE49-F238E27FC236}">
                <a16:creationId xmlns:a16="http://schemas.microsoft.com/office/drawing/2014/main" id="{3D6BF9A1-92F1-40BC-9574-28FA85EAD0B3}"/>
              </a:ext>
            </a:extLst>
          </p:cNvPr>
          <p:cNvSpPr>
            <a:spLocks noGrp="1"/>
          </p:cNvSpPr>
          <p:nvPr/>
        </p:nvSpPr>
        <p:spPr>
          <a:xfrm>
            <a:off x="6784562" y="4138232"/>
            <a:ext cx="5270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1,400</a:t>
            </a:r>
          </a:p>
        </p:txBody>
      </p:sp>
      <p:sp>
        <p:nvSpPr>
          <p:cNvPr id="154" name="svg-text-23">
            <a:extLst>
              <a:ext uri="{FF2B5EF4-FFF2-40B4-BE49-F238E27FC236}">
                <a16:creationId xmlns:a16="http://schemas.microsoft.com/office/drawing/2014/main" id="{A15E986C-28EC-409B-9988-75B93682B3A6}"/>
              </a:ext>
            </a:extLst>
          </p:cNvPr>
          <p:cNvSpPr>
            <a:spLocks noGrp="1"/>
          </p:cNvSpPr>
          <p:nvPr/>
        </p:nvSpPr>
        <p:spPr>
          <a:xfrm>
            <a:off x="7297007" y="6852666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55" name="svg-text-24">
            <a:extLst>
              <a:ext uri="{FF2B5EF4-FFF2-40B4-BE49-F238E27FC236}">
                <a16:creationId xmlns:a16="http://schemas.microsoft.com/office/drawing/2014/main" id="{2F419B34-D64B-4AB8-A665-2C7752518A9D}"/>
              </a:ext>
            </a:extLst>
          </p:cNvPr>
          <p:cNvSpPr>
            <a:spLocks noGrp="1"/>
          </p:cNvSpPr>
          <p:nvPr/>
        </p:nvSpPr>
        <p:spPr>
          <a:xfrm>
            <a:off x="8193119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56" name="svg-text-25">
            <a:extLst>
              <a:ext uri="{FF2B5EF4-FFF2-40B4-BE49-F238E27FC236}">
                <a16:creationId xmlns:a16="http://schemas.microsoft.com/office/drawing/2014/main" id="{CED78215-3FF8-4863-AFF6-530E0A4BC6AD}"/>
              </a:ext>
            </a:extLst>
          </p:cNvPr>
          <p:cNvSpPr>
            <a:spLocks noGrp="1"/>
          </p:cNvSpPr>
          <p:nvPr/>
        </p:nvSpPr>
        <p:spPr>
          <a:xfrm>
            <a:off x="9146286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40</a:t>
            </a:r>
          </a:p>
        </p:txBody>
      </p:sp>
      <p:sp>
        <p:nvSpPr>
          <p:cNvPr id="157" name="svg-text-26">
            <a:extLst>
              <a:ext uri="{FF2B5EF4-FFF2-40B4-BE49-F238E27FC236}">
                <a16:creationId xmlns:a16="http://schemas.microsoft.com/office/drawing/2014/main" id="{32492753-88DC-408B-8A71-25D6DA8A6E4D}"/>
              </a:ext>
            </a:extLst>
          </p:cNvPr>
          <p:cNvSpPr>
            <a:spLocks noGrp="1"/>
          </p:cNvSpPr>
          <p:nvPr/>
        </p:nvSpPr>
        <p:spPr>
          <a:xfrm>
            <a:off x="10099548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</a:t>
            </a:r>
          </a:p>
        </p:txBody>
      </p:sp>
      <p:sp>
        <p:nvSpPr>
          <p:cNvPr id="158" name="svg-text-27">
            <a:extLst>
              <a:ext uri="{FF2B5EF4-FFF2-40B4-BE49-F238E27FC236}">
                <a16:creationId xmlns:a16="http://schemas.microsoft.com/office/drawing/2014/main" id="{4EF129EF-89AE-4694-9CF0-D2B2B34D8C50}"/>
              </a:ext>
            </a:extLst>
          </p:cNvPr>
          <p:cNvSpPr>
            <a:spLocks noGrp="1"/>
          </p:cNvSpPr>
          <p:nvPr/>
        </p:nvSpPr>
        <p:spPr>
          <a:xfrm>
            <a:off x="11052715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80</a:t>
            </a:r>
          </a:p>
        </p:txBody>
      </p:sp>
      <p:sp>
        <p:nvSpPr>
          <p:cNvPr id="159" name="svg-text-28">
            <a:extLst>
              <a:ext uri="{FF2B5EF4-FFF2-40B4-BE49-F238E27FC236}">
                <a16:creationId xmlns:a16="http://schemas.microsoft.com/office/drawing/2014/main" id="{D581454D-8E7C-4EC5-A2F5-2306862443EF}"/>
              </a:ext>
            </a:extLst>
          </p:cNvPr>
          <p:cNvSpPr>
            <a:spLocks noGrp="1"/>
          </p:cNvSpPr>
          <p:nvPr/>
        </p:nvSpPr>
        <p:spPr>
          <a:xfrm>
            <a:off x="8887968" y="3885057"/>
            <a:ext cx="80267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Agent 40</a:t>
            </a:r>
          </a:p>
        </p:txBody>
      </p:sp>
      <p:sp>
        <p:nvSpPr>
          <p:cNvPr id="160" name="svg-text-29">
            <a:extLst>
              <a:ext uri="{FF2B5EF4-FFF2-40B4-BE49-F238E27FC236}">
                <a16:creationId xmlns:a16="http://schemas.microsoft.com/office/drawing/2014/main" id="{3DA390A9-B271-4E34-B0CF-EBE826F01E80}"/>
              </a:ext>
            </a:extLst>
          </p:cNvPr>
          <p:cNvSpPr>
            <a:spLocks noGrp="1"/>
          </p:cNvSpPr>
          <p:nvPr/>
        </p:nvSpPr>
        <p:spPr>
          <a:xfrm>
            <a:off x="8015192" y="5468207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61" name="svg-text-30">
            <a:extLst>
              <a:ext uri="{FF2B5EF4-FFF2-40B4-BE49-F238E27FC236}">
                <a16:creationId xmlns:a16="http://schemas.microsoft.com/office/drawing/2014/main" id="{7928A600-CAEF-4DB6-90EC-36598D50D66E}"/>
              </a:ext>
            </a:extLst>
          </p:cNvPr>
          <p:cNvSpPr>
            <a:spLocks noGrp="1"/>
          </p:cNvSpPr>
          <p:nvPr/>
        </p:nvSpPr>
        <p:spPr>
          <a:xfrm>
            <a:off x="10507980" y="6375083"/>
            <a:ext cx="2540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162" name="svg-text-31">
            <a:extLst>
              <a:ext uri="{FF2B5EF4-FFF2-40B4-BE49-F238E27FC236}">
                <a16:creationId xmlns:a16="http://schemas.microsoft.com/office/drawing/2014/main" id="{2BB96512-AA88-4784-B87E-3CE76E4DD860}"/>
              </a:ext>
            </a:extLst>
          </p:cNvPr>
          <p:cNvSpPr>
            <a:spLocks noGrp="1"/>
          </p:cNvSpPr>
          <p:nvPr/>
        </p:nvSpPr>
        <p:spPr>
          <a:xfrm>
            <a:off x="8748617" y="5156835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63" name="svg-text-32">
            <a:extLst>
              <a:ext uri="{FF2B5EF4-FFF2-40B4-BE49-F238E27FC236}">
                <a16:creationId xmlns:a16="http://schemas.microsoft.com/office/drawing/2014/main" id="{1812CE92-E5D5-4AE4-9E89-128F99E89D97}"/>
              </a:ext>
            </a:extLst>
          </p:cNvPr>
          <p:cNvSpPr>
            <a:spLocks noGrp="1"/>
          </p:cNvSpPr>
          <p:nvPr/>
        </p:nvSpPr>
        <p:spPr>
          <a:xfrm>
            <a:off x="7936897" y="7169468"/>
            <a:ext cx="270462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46"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Decode 速度 (token/s/req)</a:t>
            </a:r>
          </a:p>
        </p:txBody>
      </p:sp>
      <p:sp>
        <p:nvSpPr>
          <p:cNvPr id="164" name="svg-text-33">
            <a:extLst>
              <a:ext uri="{FF2B5EF4-FFF2-40B4-BE49-F238E27FC236}">
                <a16:creationId xmlns:a16="http://schemas.microsoft.com/office/drawing/2014/main" id="{4268DFA2-03AB-4276-8921-2032846825B8}"/>
              </a:ext>
            </a:extLst>
          </p:cNvPr>
          <p:cNvSpPr>
            <a:spLocks noGrp="1"/>
          </p:cNvSpPr>
          <p:nvPr/>
        </p:nvSpPr>
        <p:spPr>
          <a:xfrm>
            <a:off x="13031153" y="3846862"/>
            <a:ext cx="120948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Output TPS</a:t>
            </a:r>
          </a:p>
        </p:txBody>
      </p:sp>
      <p:sp>
        <p:nvSpPr>
          <p:cNvPr id="165" name="svg-text-34">
            <a:extLst>
              <a:ext uri="{FF2B5EF4-FFF2-40B4-BE49-F238E27FC236}">
                <a16:creationId xmlns:a16="http://schemas.microsoft.com/office/drawing/2014/main" id="{E263A194-0FA1-4811-9285-C5066E2D455E}"/>
              </a:ext>
            </a:extLst>
          </p:cNvPr>
          <p:cNvSpPr>
            <a:spLocks noGrp="1"/>
          </p:cNvSpPr>
          <p:nvPr/>
        </p:nvSpPr>
        <p:spPr>
          <a:xfrm>
            <a:off x="12816840" y="6662071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66" name="svg-text-35">
            <a:extLst>
              <a:ext uri="{FF2B5EF4-FFF2-40B4-BE49-F238E27FC236}">
                <a16:creationId xmlns:a16="http://schemas.microsoft.com/office/drawing/2014/main" id="{87C78116-15E4-4440-8CDD-E09A65E8383C}"/>
              </a:ext>
            </a:extLst>
          </p:cNvPr>
          <p:cNvSpPr>
            <a:spLocks noGrp="1"/>
          </p:cNvSpPr>
          <p:nvPr/>
        </p:nvSpPr>
        <p:spPr>
          <a:xfrm>
            <a:off x="12702540" y="6031039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80</a:t>
            </a:r>
          </a:p>
        </p:txBody>
      </p:sp>
      <p:sp>
        <p:nvSpPr>
          <p:cNvPr id="167" name="svg-text-36">
            <a:extLst>
              <a:ext uri="{FF2B5EF4-FFF2-40B4-BE49-F238E27FC236}">
                <a16:creationId xmlns:a16="http://schemas.microsoft.com/office/drawing/2014/main" id="{D8B8E9A3-8DD8-4EE8-BD21-561C1E8F81A5}"/>
              </a:ext>
            </a:extLst>
          </p:cNvPr>
          <p:cNvSpPr>
            <a:spLocks noGrp="1"/>
          </p:cNvSpPr>
          <p:nvPr/>
        </p:nvSpPr>
        <p:spPr>
          <a:xfrm>
            <a:off x="12626054" y="5400199"/>
            <a:ext cx="36242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160</a:t>
            </a:r>
          </a:p>
        </p:txBody>
      </p:sp>
      <p:sp>
        <p:nvSpPr>
          <p:cNvPr id="168" name="svg-text-37">
            <a:extLst>
              <a:ext uri="{FF2B5EF4-FFF2-40B4-BE49-F238E27FC236}">
                <a16:creationId xmlns:a16="http://schemas.microsoft.com/office/drawing/2014/main" id="{1A278420-B546-428F-A351-7A132EB3C7AE}"/>
              </a:ext>
            </a:extLst>
          </p:cNvPr>
          <p:cNvSpPr>
            <a:spLocks noGrp="1"/>
          </p:cNvSpPr>
          <p:nvPr/>
        </p:nvSpPr>
        <p:spPr>
          <a:xfrm>
            <a:off x="12588145" y="4769263"/>
            <a:ext cx="400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240</a:t>
            </a:r>
          </a:p>
        </p:txBody>
      </p:sp>
      <p:sp>
        <p:nvSpPr>
          <p:cNvPr id="169" name="svg-text-38">
            <a:extLst>
              <a:ext uri="{FF2B5EF4-FFF2-40B4-BE49-F238E27FC236}">
                <a16:creationId xmlns:a16="http://schemas.microsoft.com/office/drawing/2014/main" id="{82786E38-D4D4-494F-B4DB-3B5E5B0E9402}"/>
              </a:ext>
            </a:extLst>
          </p:cNvPr>
          <p:cNvSpPr>
            <a:spLocks noGrp="1"/>
          </p:cNvSpPr>
          <p:nvPr/>
        </p:nvSpPr>
        <p:spPr>
          <a:xfrm>
            <a:off x="12588145" y="4138232"/>
            <a:ext cx="400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320</a:t>
            </a:r>
          </a:p>
        </p:txBody>
      </p:sp>
      <p:sp>
        <p:nvSpPr>
          <p:cNvPr id="170" name="svg-text-39">
            <a:extLst>
              <a:ext uri="{FF2B5EF4-FFF2-40B4-BE49-F238E27FC236}">
                <a16:creationId xmlns:a16="http://schemas.microsoft.com/office/drawing/2014/main" id="{496B6F6A-1E11-4576-A0D8-DC2E20BE1476}"/>
              </a:ext>
            </a:extLst>
          </p:cNvPr>
          <p:cNvSpPr>
            <a:spLocks noGrp="1"/>
          </p:cNvSpPr>
          <p:nvPr/>
        </p:nvSpPr>
        <p:spPr>
          <a:xfrm>
            <a:off x="12973907" y="6852666"/>
            <a:ext cx="1716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71" name="svg-text-40">
            <a:extLst>
              <a:ext uri="{FF2B5EF4-FFF2-40B4-BE49-F238E27FC236}">
                <a16:creationId xmlns:a16="http://schemas.microsoft.com/office/drawing/2014/main" id="{4444097B-8101-49AB-BE76-52015FF00D3B}"/>
              </a:ext>
            </a:extLst>
          </p:cNvPr>
          <p:cNvSpPr>
            <a:spLocks noGrp="1"/>
          </p:cNvSpPr>
          <p:nvPr/>
        </p:nvSpPr>
        <p:spPr>
          <a:xfrm>
            <a:off x="13870019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72" name="svg-text-41">
            <a:extLst>
              <a:ext uri="{FF2B5EF4-FFF2-40B4-BE49-F238E27FC236}">
                <a16:creationId xmlns:a16="http://schemas.microsoft.com/office/drawing/2014/main" id="{7A24D1E5-6FDE-451B-A215-8E1F1F121555}"/>
              </a:ext>
            </a:extLst>
          </p:cNvPr>
          <p:cNvSpPr>
            <a:spLocks noGrp="1"/>
          </p:cNvSpPr>
          <p:nvPr/>
        </p:nvSpPr>
        <p:spPr>
          <a:xfrm>
            <a:off x="14823186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40</a:t>
            </a:r>
          </a:p>
        </p:txBody>
      </p:sp>
      <p:sp>
        <p:nvSpPr>
          <p:cNvPr id="173" name="svg-text-42">
            <a:extLst>
              <a:ext uri="{FF2B5EF4-FFF2-40B4-BE49-F238E27FC236}">
                <a16:creationId xmlns:a16="http://schemas.microsoft.com/office/drawing/2014/main" id="{8124FD7E-93BA-4B91-8A35-AAC129B7B6D8}"/>
              </a:ext>
            </a:extLst>
          </p:cNvPr>
          <p:cNvSpPr>
            <a:spLocks noGrp="1"/>
          </p:cNvSpPr>
          <p:nvPr/>
        </p:nvSpPr>
        <p:spPr>
          <a:xfrm>
            <a:off x="15776448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</a:t>
            </a:r>
          </a:p>
        </p:txBody>
      </p:sp>
      <p:sp>
        <p:nvSpPr>
          <p:cNvPr id="174" name="svg-text-43">
            <a:extLst>
              <a:ext uri="{FF2B5EF4-FFF2-40B4-BE49-F238E27FC236}">
                <a16:creationId xmlns:a16="http://schemas.microsoft.com/office/drawing/2014/main" id="{1E254F1E-0034-4F24-852B-F4E52993E4E1}"/>
              </a:ext>
            </a:extLst>
          </p:cNvPr>
          <p:cNvSpPr>
            <a:spLocks noGrp="1"/>
          </p:cNvSpPr>
          <p:nvPr/>
        </p:nvSpPr>
        <p:spPr>
          <a:xfrm>
            <a:off x="16729615" y="6852666"/>
            <a:ext cx="28594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80</a:t>
            </a:r>
          </a:p>
        </p:txBody>
      </p:sp>
      <p:sp>
        <p:nvSpPr>
          <p:cNvPr id="175" name="svg-text-44">
            <a:extLst>
              <a:ext uri="{FF2B5EF4-FFF2-40B4-BE49-F238E27FC236}">
                <a16:creationId xmlns:a16="http://schemas.microsoft.com/office/drawing/2014/main" id="{4DC76CE0-A4A4-4FDD-8C33-AFE783764AB9}"/>
              </a:ext>
            </a:extLst>
          </p:cNvPr>
          <p:cNvSpPr>
            <a:spLocks noGrp="1"/>
          </p:cNvSpPr>
          <p:nvPr/>
        </p:nvSpPr>
        <p:spPr>
          <a:xfrm>
            <a:off x="14564868" y="3885057"/>
            <a:ext cx="80267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Agent 40</a:t>
            </a:r>
          </a:p>
        </p:txBody>
      </p:sp>
      <p:sp>
        <p:nvSpPr>
          <p:cNvPr id="176" name="svg-text-45">
            <a:extLst>
              <a:ext uri="{FF2B5EF4-FFF2-40B4-BE49-F238E27FC236}">
                <a16:creationId xmlns:a16="http://schemas.microsoft.com/office/drawing/2014/main" id="{23EC5E62-7639-461B-882D-11D1A2D8648B}"/>
              </a:ext>
            </a:extLst>
          </p:cNvPr>
          <p:cNvSpPr>
            <a:spLocks noGrp="1"/>
          </p:cNvSpPr>
          <p:nvPr/>
        </p:nvSpPr>
        <p:spPr>
          <a:xfrm>
            <a:off x="13741051" y="4794695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77" name="svg-text-46">
            <a:extLst>
              <a:ext uri="{FF2B5EF4-FFF2-40B4-BE49-F238E27FC236}">
                <a16:creationId xmlns:a16="http://schemas.microsoft.com/office/drawing/2014/main" id="{AED2DAEE-6139-40C9-BBCE-6A0A7EA03E4B}"/>
              </a:ext>
            </a:extLst>
          </p:cNvPr>
          <p:cNvSpPr>
            <a:spLocks noGrp="1"/>
          </p:cNvSpPr>
          <p:nvPr/>
        </p:nvSpPr>
        <p:spPr>
          <a:xfrm>
            <a:off x="15849029" y="6358795"/>
            <a:ext cx="2540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178" name="svg-text-47">
            <a:extLst>
              <a:ext uri="{FF2B5EF4-FFF2-40B4-BE49-F238E27FC236}">
                <a16:creationId xmlns:a16="http://schemas.microsoft.com/office/drawing/2014/main" id="{2A25484F-79F0-4F8D-8CC0-6EF0D6BF0BE3}"/>
              </a:ext>
            </a:extLst>
          </p:cNvPr>
          <p:cNvSpPr>
            <a:spLocks noGrp="1"/>
          </p:cNvSpPr>
          <p:nvPr/>
        </p:nvSpPr>
        <p:spPr>
          <a:xfrm>
            <a:off x="16075057" y="5176838"/>
            <a:ext cx="3903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79" name="svg-text-48">
            <a:extLst>
              <a:ext uri="{FF2B5EF4-FFF2-40B4-BE49-F238E27FC236}">
                <a16:creationId xmlns:a16="http://schemas.microsoft.com/office/drawing/2014/main" id="{55468922-6F0F-4BD7-A735-BD1B5BCC7CBC}"/>
              </a:ext>
            </a:extLst>
          </p:cNvPr>
          <p:cNvSpPr>
            <a:spLocks noGrp="1"/>
          </p:cNvSpPr>
          <p:nvPr/>
        </p:nvSpPr>
        <p:spPr>
          <a:xfrm>
            <a:off x="13613797" y="7169468"/>
            <a:ext cx="270462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46"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Decode 速度 (token/s/req)</a:t>
            </a:r>
          </a:p>
        </p:txBody>
      </p:sp>
      <p:sp>
        <p:nvSpPr>
          <p:cNvPr id="180" name="text-49">
            <a:extLst>
              <a:ext uri="{FF2B5EF4-FFF2-40B4-BE49-F238E27FC236}">
                <a16:creationId xmlns:a16="http://schemas.microsoft.com/office/drawing/2014/main" id="{485C3D83-9B7E-499D-8773-8F2C2FD8535E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81" name="text-50">
            <a:extLst>
              <a:ext uri="{FF2B5EF4-FFF2-40B4-BE49-F238E27FC236}">
                <a16:creationId xmlns:a16="http://schemas.microsoft.com/office/drawing/2014/main" id="{78A2D4B4-2A8B-4F8E-8373-1ACF360FA6E7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182" name="text-51">
            <a:extLst>
              <a:ext uri="{FF2B5EF4-FFF2-40B4-BE49-F238E27FC236}">
                <a16:creationId xmlns:a16="http://schemas.microsoft.com/office/drawing/2014/main" id="{392110B0-6FAF-49D1-A63D-339BAD948F1C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971178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65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网络受限时，异构仍保持高质量输出速度</a:t>
            </a:r>
          </a:p>
        </p:txBody>
      </p:sp>
      <p:sp>
        <p:nvSpPr>
          <p:cNvPr id="183" name="text-52">
            <a:extLst>
              <a:ext uri="{FF2B5EF4-FFF2-40B4-BE49-F238E27FC236}">
                <a16:creationId xmlns:a16="http://schemas.microsoft.com/office/drawing/2014/main" id="{438E330E-37E0-4797-A3F9-29268CE996CD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367285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542"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20GbE 网络下，并发为 1 时，三种输入长度的单请求输出速度均超过 Agent 速度门槛（40 token/s/req）。</a:t>
            </a:r>
          </a:p>
        </p:txBody>
      </p:sp>
      <p:sp>
        <p:nvSpPr>
          <p:cNvPr id="184" name="text-53">
            <a:extLst>
              <a:ext uri="{FF2B5EF4-FFF2-40B4-BE49-F238E27FC236}">
                <a16:creationId xmlns:a16="http://schemas.microsoft.com/office/drawing/2014/main" id="{698D19EA-1023-4725-B6E0-21B819723747}"/>
              </a:ext>
            </a:extLst>
          </p:cNvPr>
          <p:cNvSpPr>
            <a:spLocks noGrp="1"/>
          </p:cNvSpPr>
          <p:nvPr/>
        </p:nvSpPr>
        <p:spPr>
          <a:xfrm>
            <a:off x="7618381" y="2771775"/>
            <a:ext cx="585730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异构 · 高算力设备 C + 高带宽设备 B · Mooncake TE TCP</a:t>
            </a:r>
          </a:p>
        </p:txBody>
      </p:sp>
      <p:sp>
        <p:nvSpPr>
          <p:cNvPr id="185" name="text-54">
            <a:extLst>
              <a:ext uri="{FF2B5EF4-FFF2-40B4-BE49-F238E27FC236}">
                <a16:creationId xmlns:a16="http://schemas.microsoft.com/office/drawing/2014/main" id="{925EF59D-904D-49A8-ADEB-42C63ED27E56}"/>
              </a:ext>
            </a:extLst>
          </p:cNvPr>
          <p:cNvSpPr>
            <a:spLocks noGrp="1"/>
          </p:cNvSpPr>
          <p:nvPr/>
        </p:nvSpPr>
        <p:spPr>
          <a:xfrm>
            <a:off x="14142434" y="2771775"/>
            <a:ext cx="321211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同构 · 纯高算力设备 C · RDMA</a:t>
            </a:r>
          </a:p>
        </p:txBody>
      </p:sp>
      <p:sp>
        <p:nvSpPr>
          <p:cNvPr id="186" name="text-55">
            <a:extLst>
              <a:ext uri="{FF2B5EF4-FFF2-40B4-BE49-F238E27FC236}">
                <a16:creationId xmlns:a16="http://schemas.microsoft.com/office/drawing/2014/main" id="{258BEE8E-D76D-4A2D-AE4D-5FD91504FEA0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12665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2K Input</a:t>
            </a:r>
          </a:p>
        </p:txBody>
      </p:sp>
      <p:sp>
        <p:nvSpPr>
          <p:cNvPr id="187" name="text-56">
            <a:extLst>
              <a:ext uri="{FF2B5EF4-FFF2-40B4-BE49-F238E27FC236}">
                <a16:creationId xmlns:a16="http://schemas.microsoft.com/office/drawing/2014/main" id="{2D39D032-E1E0-4D6F-8588-22AD247F1049}"/>
              </a:ext>
            </a:extLst>
          </p:cNvPr>
          <p:cNvSpPr>
            <a:spLocks noGrp="1"/>
          </p:cNvSpPr>
          <p:nvPr/>
        </p:nvSpPr>
        <p:spPr>
          <a:xfrm>
            <a:off x="2120170" y="7686675"/>
            <a:ext cx="275091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 · 67.4 token/s/req</a:t>
            </a:r>
          </a:p>
        </p:txBody>
      </p:sp>
      <p:sp>
        <p:nvSpPr>
          <p:cNvPr id="188" name="text-57">
            <a:extLst>
              <a:ext uri="{FF2B5EF4-FFF2-40B4-BE49-F238E27FC236}">
                <a16:creationId xmlns:a16="http://schemas.microsoft.com/office/drawing/2014/main" id="{6DE5BD56-163E-4955-86AF-5AF9F0B32924}"/>
              </a:ext>
            </a:extLst>
          </p:cNvPr>
          <p:cNvSpPr>
            <a:spLocks noGrp="1"/>
          </p:cNvSpPr>
          <p:nvPr/>
        </p:nvSpPr>
        <p:spPr>
          <a:xfrm>
            <a:off x="2279047" y="8124825"/>
            <a:ext cx="24333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C64 · 1,347 Output TPS</a:t>
            </a:r>
          </a:p>
        </p:txBody>
      </p:sp>
      <p:sp>
        <p:nvSpPr>
          <p:cNvPr id="189" name="text-58">
            <a:extLst>
              <a:ext uri="{FF2B5EF4-FFF2-40B4-BE49-F238E27FC236}">
                <a16:creationId xmlns:a16="http://schemas.microsoft.com/office/drawing/2014/main" id="{2B08CA1F-4EBF-4567-946B-2B64E530D39F}"/>
              </a:ext>
            </a:extLst>
          </p:cNvPr>
          <p:cNvSpPr>
            <a:spLocks noGrp="1"/>
          </p:cNvSpPr>
          <p:nvPr/>
        </p:nvSpPr>
        <p:spPr>
          <a:xfrm>
            <a:off x="6686550" y="3505200"/>
            <a:ext cx="12665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8K Input</a:t>
            </a:r>
          </a:p>
        </p:txBody>
      </p:sp>
      <p:sp>
        <p:nvSpPr>
          <p:cNvPr id="190" name="text-59">
            <a:extLst>
              <a:ext uri="{FF2B5EF4-FFF2-40B4-BE49-F238E27FC236}">
                <a16:creationId xmlns:a16="http://schemas.microsoft.com/office/drawing/2014/main" id="{BA3C6FED-C575-429A-9AE7-DC42C9DDE929}"/>
              </a:ext>
            </a:extLst>
          </p:cNvPr>
          <p:cNvSpPr>
            <a:spLocks noGrp="1"/>
          </p:cNvSpPr>
          <p:nvPr/>
        </p:nvSpPr>
        <p:spPr>
          <a:xfrm>
            <a:off x="7790974" y="7686675"/>
            <a:ext cx="276301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 · 63.9 token/s/req</a:t>
            </a:r>
          </a:p>
        </p:txBody>
      </p:sp>
      <p:sp>
        <p:nvSpPr>
          <p:cNvPr id="191" name="text-60">
            <a:extLst>
              <a:ext uri="{FF2B5EF4-FFF2-40B4-BE49-F238E27FC236}">
                <a16:creationId xmlns:a16="http://schemas.microsoft.com/office/drawing/2014/main" id="{19DDBABA-1298-42C0-B2F9-3A3C67CDD05E}"/>
              </a:ext>
            </a:extLst>
          </p:cNvPr>
          <p:cNvSpPr>
            <a:spLocks noGrp="1"/>
          </p:cNvSpPr>
          <p:nvPr/>
        </p:nvSpPr>
        <p:spPr>
          <a:xfrm>
            <a:off x="8020050" y="812482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C64 · 800 Output TPS</a:t>
            </a:r>
          </a:p>
        </p:txBody>
      </p:sp>
      <p:sp>
        <p:nvSpPr>
          <p:cNvPr id="192" name="text-61">
            <a:extLst>
              <a:ext uri="{FF2B5EF4-FFF2-40B4-BE49-F238E27FC236}">
                <a16:creationId xmlns:a16="http://schemas.microsoft.com/office/drawing/2014/main" id="{CE2619A8-FBBF-4C02-A35F-55462D3684B6}"/>
              </a:ext>
            </a:extLst>
          </p:cNvPr>
          <p:cNvSpPr>
            <a:spLocks noGrp="1"/>
          </p:cNvSpPr>
          <p:nvPr/>
        </p:nvSpPr>
        <p:spPr>
          <a:xfrm>
            <a:off x="12363450" y="3505200"/>
            <a:ext cx="144360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32K Input</a:t>
            </a:r>
          </a:p>
        </p:txBody>
      </p:sp>
      <p:sp>
        <p:nvSpPr>
          <p:cNvPr id="193" name="text-62">
            <a:extLst>
              <a:ext uri="{FF2B5EF4-FFF2-40B4-BE49-F238E27FC236}">
                <a16:creationId xmlns:a16="http://schemas.microsoft.com/office/drawing/2014/main" id="{9A911C14-C5CC-4FCB-B448-46FCF3ED8BD5}"/>
              </a:ext>
            </a:extLst>
          </p:cNvPr>
          <p:cNvSpPr>
            <a:spLocks noGrp="1"/>
          </p:cNvSpPr>
          <p:nvPr/>
        </p:nvSpPr>
        <p:spPr>
          <a:xfrm>
            <a:off x="13467874" y="7686675"/>
            <a:ext cx="276301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 · 56.8 token/s/req</a:t>
            </a:r>
          </a:p>
        </p:txBody>
      </p:sp>
      <p:sp>
        <p:nvSpPr>
          <p:cNvPr id="194" name="text-63">
            <a:extLst>
              <a:ext uri="{FF2B5EF4-FFF2-40B4-BE49-F238E27FC236}">
                <a16:creationId xmlns:a16="http://schemas.microsoft.com/office/drawing/2014/main" id="{7D189AE3-740A-459A-881A-204B966A1868}"/>
              </a:ext>
            </a:extLst>
          </p:cNvPr>
          <p:cNvSpPr>
            <a:spLocks noGrp="1"/>
          </p:cNvSpPr>
          <p:nvPr/>
        </p:nvSpPr>
        <p:spPr>
          <a:xfrm>
            <a:off x="13717810" y="8124825"/>
            <a:ext cx="226342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C64 · 180 Output TPS</a:t>
            </a:r>
          </a:p>
        </p:txBody>
      </p:sp>
      <p:sp>
        <p:nvSpPr>
          <p:cNvPr id="195" name="text-64">
            <a:extLst>
              <a:ext uri="{FF2B5EF4-FFF2-40B4-BE49-F238E27FC236}">
                <a16:creationId xmlns:a16="http://schemas.microsoft.com/office/drawing/2014/main" id="{2A0894A9-CD55-44D2-A42E-8383812E77FA}"/>
              </a:ext>
            </a:extLst>
          </p:cNvPr>
          <p:cNvSpPr>
            <a:spLocks noGrp="1"/>
          </p:cNvSpPr>
          <p:nvPr/>
        </p:nvSpPr>
        <p:spPr>
          <a:xfrm>
            <a:off x="4737545" y="8818245"/>
            <a:ext cx="8870156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单请求测试中，20GbE 异构方案的输出速度约为同构方案的 3.4–3.6 倍。</a:t>
            </a:r>
          </a:p>
        </p:txBody>
      </p:sp>
      <p:sp>
        <p:nvSpPr>
          <p:cNvPr id="196" name="text-65">
            <a:extLst>
              <a:ext uri="{FF2B5EF4-FFF2-40B4-BE49-F238E27FC236}">
                <a16:creationId xmlns:a16="http://schemas.microsoft.com/office/drawing/2014/main" id="{D000766E-853F-4E9E-BE63-2EC59F8DC594}"/>
              </a:ext>
            </a:extLst>
          </p:cNvPr>
          <p:cNvSpPr>
            <a:spLocks noGrp="1"/>
          </p:cNvSpPr>
          <p:nvPr/>
        </p:nvSpPr>
        <p:spPr>
          <a:xfrm>
            <a:off x="771525" y="9820561"/>
            <a:ext cx="884205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Kimi K2.6 低带宽 Decode 曲线；输入 2K / 8K / 32K，输出 256 tokens，并发 1–64。单请求速度排除 TTFT。</a:t>
            </a:r>
          </a:p>
        </p:txBody>
      </p:sp>
      <p:sp>
        <p:nvSpPr>
          <p:cNvPr id="197" name="text-66">
            <a:extLst>
              <a:ext uri="{FF2B5EF4-FFF2-40B4-BE49-F238E27FC236}">
                <a16:creationId xmlns:a16="http://schemas.microsoft.com/office/drawing/2014/main" id="{1B9A6589-6921-4C90-BD73-D7E04E4B473A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33 / 43</a:t>
            </a:r>
          </a:p>
        </p:txBody>
      </p:sp>
    </p:spTree>
    <p:extLst>
      <p:ext uri="{BB962C8B-B14F-4D97-AF65-F5344CB8AC3E}">
        <p14:creationId xmlns:p14="http://schemas.microsoft.com/office/powerpoint/2010/main" val="1398426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html-shape-45">
            <a:extLst>
              <a:ext uri="{FF2B5EF4-FFF2-40B4-BE49-F238E27FC236}">
                <a16:creationId xmlns:a16="http://schemas.microsoft.com/office/drawing/2014/main" id="{421AA312-1A30-4850-B4DD-E5E9A2B40B80}"/>
              </a:ext>
            </a:extLst>
          </p:cNvPr>
          <p:cNvSpPr>
            <a:spLocks noGrp="1"/>
          </p:cNvSpPr>
          <p:nvPr/>
        </p:nvSpPr>
        <p:spPr>
          <a:xfrm>
            <a:off x="771525" y="3257550"/>
            <a:ext cx="5391150" cy="4857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html-shape-49">
            <a:extLst>
              <a:ext uri="{FF2B5EF4-FFF2-40B4-BE49-F238E27FC236}">
                <a16:creationId xmlns:a16="http://schemas.microsoft.com/office/drawing/2014/main" id="{55D432CC-35AE-496A-8CBC-8E761226CEE0}"/>
              </a:ext>
            </a:extLst>
          </p:cNvPr>
          <p:cNvSpPr>
            <a:spLocks noGrp="1"/>
          </p:cNvSpPr>
          <p:nvPr/>
        </p:nvSpPr>
        <p:spPr>
          <a:xfrm>
            <a:off x="6448425" y="3257550"/>
            <a:ext cx="5391150" cy="4857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html-shape-53">
            <a:extLst>
              <a:ext uri="{FF2B5EF4-FFF2-40B4-BE49-F238E27FC236}">
                <a16:creationId xmlns:a16="http://schemas.microsoft.com/office/drawing/2014/main" id="{CEC17CC1-E146-4F0C-8F36-E4F3E4D3371D}"/>
              </a:ext>
            </a:extLst>
          </p:cNvPr>
          <p:cNvSpPr>
            <a:spLocks noGrp="1"/>
          </p:cNvSpPr>
          <p:nvPr/>
        </p:nvSpPr>
        <p:spPr>
          <a:xfrm>
            <a:off x="12125325" y="3257550"/>
            <a:ext cx="5391150" cy="4857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html-shape-57">
            <a:extLst>
              <a:ext uri="{FF2B5EF4-FFF2-40B4-BE49-F238E27FC236}">
                <a16:creationId xmlns:a16="http://schemas.microsoft.com/office/drawing/2014/main" id="{7E0F25A8-D1DB-46B9-B14E-915C50AD4BC9}"/>
              </a:ext>
            </a:extLst>
          </p:cNvPr>
          <p:cNvSpPr>
            <a:spLocks noGrp="1"/>
          </p:cNvSpPr>
          <p:nvPr/>
        </p:nvSpPr>
        <p:spPr>
          <a:xfrm>
            <a:off x="771525" y="8286750"/>
            <a:ext cx="16744950" cy="1238250"/>
          </a:xfrm>
          <a:prstGeom prst="rect">
            <a:avLst/>
          </a:prstGeom>
          <a:solidFill>
            <a:srgbClr val="F3F8F6"/>
          </a:solidFill>
          <a:ln w="0">
            <a:noFill/>
            <a:prstDash val="solid"/>
          </a:ln>
        </p:spPr>
      </p:sp>
      <p:sp>
        <p:nvSpPr>
          <p:cNvPr id="5" name="html-shape-60">
            <a:extLst>
              <a:ext uri="{FF2B5EF4-FFF2-40B4-BE49-F238E27FC236}">
                <a16:creationId xmlns:a16="http://schemas.microsoft.com/office/drawing/2014/main" id="{BD66F551-F4AF-4A86-902F-3807ECC091C8}"/>
              </a:ext>
            </a:extLst>
          </p:cNvPr>
          <p:cNvSpPr>
            <a:spLocks noGrp="1"/>
          </p:cNvSpPr>
          <p:nvPr/>
        </p:nvSpPr>
        <p:spPr>
          <a:xfrm>
            <a:off x="2962275" y="8343900"/>
            <a:ext cx="10744200" cy="11811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" name="svg-line-1">
            <a:extLst>
              <a:ext uri="{FF2B5EF4-FFF2-40B4-BE49-F238E27FC236}">
                <a16:creationId xmlns:a16="http://schemas.microsoft.com/office/drawing/2014/main" id="{F6308AC0-3736-4933-8FA3-BFB2ACCAFF12}"/>
              </a:ext>
            </a:extLst>
          </p:cNvPr>
          <p:cNvSpPr>
            <a:spLocks noGrp="1"/>
          </p:cNvSpPr>
          <p:nvPr/>
        </p:nvSpPr>
        <p:spPr>
          <a:xfrm>
            <a:off x="1682591" y="6258782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7" name="svg-line-2">
            <a:extLst>
              <a:ext uri="{FF2B5EF4-FFF2-40B4-BE49-F238E27FC236}">
                <a16:creationId xmlns:a16="http://schemas.microsoft.com/office/drawing/2014/main" id="{DE93EB8E-E8B1-43A9-80E2-A15AED8DFB8C}"/>
              </a:ext>
            </a:extLst>
          </p:cNvPr>
          <p:cNvSpPr>
            <a:spLocks noGrp="1"/>
          </p:cNvSpPr>
          <p:nvPr/>
        </p:nvSpPr>
        <p:spPr>
          <a:xfrm>
            <a:off x="1682591" y="5762054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8" name="svg-line-3">
            <a:extLst>
              <a:ext uri="{FF2B5EF4-FFF2-40B4-BE49-F238E27FC236}">
                <a16:creationId xmlns:a16="http://schemas.microsoft.com/office/drawing/2014/main" id="{A722A278-056F-4120-B970-0E6E25D75099}"/>
              </a:ext>
            </a:extLst>
          </p:cNvPr>
          <p:cNvSpPr>
            <a:spLocks noGrp="1"/>
          </p:cNvSpPr>
          <p:nvPr/>
        </p:nvSpPr>
        <p:spPr>
          <a:xfrm>
            <a:off x="1682591" y="5265325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9" name="svg-line-4">
            <a:extLst>
              <a:ext uri="{FF2B5EF4-FFF2-40B4-BE49-F238E27FC236}">
                <a16:creationId xmlns:a16="http://schemas.microsoft.com/office/drawing/2014/main" id="{37575C09-1803-4ADE-8FFF-AB41FBA1B381}"/>
              </a:ext>
            </a:extLst>
          </p:cNvPr>
          <p:cNvSpPr>
            <a:spLocks noGrp="1"/>
          </p:cNvSpPr>
          <p:nvPr/>
        </p:nvSpPr>
        <p:spPr>
          <a:xfrm>
            <a:off x="1682591" y="4768596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10" name="svg-line-5">
            <a:extLst>
              <a:ext uri="{FF2B5EF4-FFF2-40B4-BE49-F238E27FC236}">
                <a16:creationId xmlns:a16="http://schemas.microsoft.com/office/drawing/2014/main" id="{D03216B6-26FB-4655-BF04-195179C80BE3}"/>
              </a:ext>
            </a:extLst>
          </p:cNvPr>
          <p:cNvSpPr>
            <a:spLocks noGrp="1"/>
          </p:cNvSpPr>
          <p:nvPr/>
        </p:nvSpPr>
        <p:spPr>
          <a:xfrm>
            <a:off x="1682591" y="4271867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11" name="svg-line-6">
            <a:extLst>
              <a:ext uri="{FF2B5EF4-FFF2-40B4-BE49-F238E27FC236}">
                <a16:creationId xmlns:a16="http://schemas.microsoft.com/office/drawing/2014/main" id="{340FCEEA-F429-4EC9-B17A-A50B555262AA}"/>
              </a:ext>
            </a:extLst>
          </p:cNvPr>
          <p:cNvSpPr>
            <a:spLocks noGrp="1"/>
          </p:cNvSpPr>
          <p:nvPr/>
        </p:nvSpPr>
        <p:spPr>
          <a:xfrm>
            <a:off x="1682591" y="4271867"/>
            <a:ext cx="4763" cy="1986820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12" name="svg-line-7">
            <a:extLst>
              <a:ext uri="{FF2B5EF4-FFF2-40B4-BE49-F238E27FC236}">
                <a16:creationId xmlns:a16="http://schemas.microsoft.com/office/drawing/2014/main" id="{5AFB3552-B8D9-491C-9A58-9E36B0BC4B7E}"/>
              </a:ext>
            </a:extLst>
          </p:cNvPr>
          <p:cNvSpPr>
            <a:spLocks noGrp="1"/>
          </p:cNvSpPr>
          <p:nvPr/>
        </p:nvSpPr>
        <p:spPr>
          <a:xfrm>
            <a:off x="1682591" y="6258782"/>
            <a:ext cx="3863340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13" name="svg-line-8">
            <a:extLst>
              <a:ext uri="{FF2B5EF4-FFF2-40B4-BE49-F238E27FC236}">
                <a16:creationId xmlns:a16="http://schemas.microsoft.com/office/drawing/2014/main" id="{26066503-9C40-43B3-9A55-6B0F1293140B}"/>
              </a:ext>
            </a:extLst>
          </p:cNvPr>
          <p:cNvSpPr>
            <a:spLocks noGrp="1"/>
          </p:cNvSpPr>
          <p:nvPr/>
        </p:nvSpPr>
        <p:spPr>
          <a:xfrm>
            <a:off x="1682591" y="5151215"/>
            <a:ext cx="3863340" cy="4763"/>
          </a:xfrm>
          <a:prstGeom prst="line">
            <a:avLst/>
          </a:prstGeom>
          <a:noFill/>
          <a:ln w="19050">
            <a:solidFill>
              <a:srgbClr val="642AF0"/>
            </a:solidFill>
            <a:prstDash val="dash"/>
          </a:ln>
        </p:spPr>
      </p:sp>
      <p:sp>
        <p:nvSpPr>
          <p:cNvPr id="14" name="svg-segment-9">
            <a:extLst>
              <a:ext uri="{FF2B5EF4-FFF2-40B4-BE49-F238E27FC236}">
                <a16:creationId xmlns:a16="http://schemas.microsoft.com/office/drawing/2014/main" id="{1323920B-3EF3-45E1-9E79-E1E19B646E76}"/>
              </a:ext>
            </a:extLst>
          </p:cNvPr>
          <p:cNvSpPr>
            <a:spLocks noGrp="1"/>
          </p:cNvSpPr>
          <p:nvPr/>
        </p:nvSpPr>
        <p:spPr>
          <a:xfrm>
            <a:off x="1838992" y="5920264"/>
            <a:ext cx="4763" cy="169259"/>
          </a:xfrm>
          <a:custGeom>
            <a:avLst/>
            <a:gdLst/>
            <a:ahLst/>
            <a:cxnLst/>
            <a:rect l="0" t="0" r="0" b="0"/>
            <a:pathLst>
              <a:path w="4763" h="169251">
                <a:moveTo>
                  <a:pt x="0" y="169251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5" name="svg-segment-10">
            <a:extLst>
              <a:ext uri="{FF2B5EF4-FFF2-40B4-BE49-F238E27FC236}">
                <a16:creationId xmlns:a16="http://schemas.microsoft.com/office/drawing/2014/main" id="{30647B12-728D-427F-B418-2C73289BF53E}"/>
              </a:ext>
            </a:extLst>
          </p:cNvPr>
          <p:cNvSpPr>
            <a:spLocks noGrp="1"/>
          </p:cNvSpPr>
          <p:nvPr/>
        </p:nvSpPr>
        <p:spPr>
          <a:xfrm>
            <a:off x="1838992" y="5680139"/>
            <a:ext cx="30385" cy="240125"/>
          </a:xfrm>
          <a:custGeom>
            <a:avLst/>
            <a:gdLst/>
            <a:ahLst/>
            <a:cxnLst/>
            <a:rect l="0" t="0" r="0" b="0"/>
            <a:pathLst>
              <a:path w="30355" h="240079">
                <a:moveTo>
                  <a:pt x="0" y="240079"/>
                </a:moveTo>
                <a:lnTo>
                  <a:pt x="30355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6" name="svg-segment-11">
            <a:extLst>
              <a:ext uri="{FF2B5EF4-FFF2-40B4-BE49-F238E27FC236}">
                <a16:creationId xmlns:a16="http://schemas.microsoft.com/office/drawing/2014/main" id="{13CFA17F-2CBF-4DEA-8FE3-259CFB5F924E}"/>
              </a:ext>
            </a:extLst>
          </p:cNvPr>
          <p:cNvSpPr>
            <a:spLocks noGrp="1"/>
          </p:cNvSpPr>
          <p:nvPr/>
        </p:nvSpPr>
        <p:spPr>
          <a:xfrm>
            <a:off x="1869377" y="5543074"/>
            <a:ext cx="149924" cy="137065"/>
          </a:xfrm>
          <a:custGeom>
            <a:avLst/>
            <a:gdLst/>
            <a:ahLst/>
            <a:cxnLst/>
            <a:rect l="0" t="0" r="0" b="0"/>
            <a:pathLst>
              <a:path w="149934" h="137057">
                <a:moveTo>
                  <a:pt x="0" y="137057"/>
                </a:moveTo>
                <a:lnTo>
                  <a:pt x="149934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7" name="svg-segment-12">
            <a:extLst>
              <a:ext uri="{FF2B5EF4-FFF2-40B4-BE49-F238E27FC236}">
                <a16:creationId xmlns:a16="http://schemas.microsoft.com/office/drawing/2014/main" id="{B693EC7D-B077-4684-A1DA-06D55CF2CE22}"/>
              </a:ext>
            </a:extLst>
          </p:cNvPr>
          <p:cNvSpPr>
            <a:spLocks noGrp="1"/>
          </p:cNvSpPr>
          <p:nvPr/>
        </p:nvSpPr>
        <p:spPr>
          <a:xfrm>
            <a:off x="2019300" y="5383054"/>
            <a:ext cx="239173" cy="160020"/>
          </a:xfrm>
          <a:custGeom>
            <a:avLst/>
            <a:gdLst/>
            <a:ahLst/>
            <a:cxnLst/>
            <a:rect l="0" t="0" r="0" b="0"/>
            <a:pathLst>
              <a:path w="239159" h="160053">
                <a:moveTo>
                  <a:pt x="0" y="160053"/>
                </a:moveTo>
                <a:lnTo>
                  <a:pt x="239159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8" name="svg-segment-13">
            <a:extLst>
              <a:ext uri="{FF2B5EF4-FFF2-40B4-BE49-F238E27FC236}">
                <a16:creationId xmlns:a16="http://schemas.microsoft.com/office/drawing/2014/main" id="{728069C8-FB82-4C4F-A46D-0FE5EAF93912}"/>
              </a:ext>
            </a:extLst>
          </p:cNvPr>
          <p:cNvSpPr>
            <a:spLocks noGrp="1"/>
          </p:cNvSpPr>
          <p:nvPr/>
        </p:nvSpPr>
        <p:spPr>
          <a:xfrm>
            <a:off x="2258473" y="5097018"/>
            <a:ext cx="249269" cy="286036"/>
          </a:xfrm>
          <a:custGeom>
            <a:avLst/>
            <a:gdLst/>
            <a:ahLst/>
            <a:cxnLst/>
            <a:rect l="0" t="0" r="0" b="0"/>
            <a:pathLst>
              <a:path w="249277" h="286071">
                <a:moveTo>
                  <a:pt x="0" y="286071"/>
                </a:moveTo>
                <a:lnTo>
                  <a:pt x="249277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19" name="svg-segment-14">
            <a:extLst>
              <a:ext uri="{FF2B5EF4-FFF2-40B4-BE49-F238E27FC236}">
                <a16:creationId xmlns:a16="http://schemas.microsoft.com/office/drawing/2014/main" id="{0B1859B2-0383-43F8-92D6-0E31EEB71FCE}"/>
              </a:ext>
            </a:extLst>
          </p:cNvPr>
          <p:cNvSpPr>
            <a:spLocks noGrp="1"/>
          </p:cNvSpPr>
          <p:nvPr/>
        </p:nvSpPr>
        <p:spPr>
          <a:xfrm>
            <a:off x="2507742" y="4837557"/>
            <a:ext cx="164687" cy="259366"/>
          </a:xfrm>
          <a:custGeom>
            <a:avLst/>
            <a:gdLst/>
            <a:ahLst/>
            <a:cxnLst/>
            <a:rect l="0" t="0" r="0" b="0"/>
            <a:pathLst>
              <a:path w="164652" h="259396">
                <a:moveTo>
                  <a:pt x="0" y="259396"/>
                </a:moveTo>
                <a:lnTo>
                  <a:pt x="164652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20" name="svg-segment-15">
            <a:extLst>
              <a:ext uri="{FF2B5EF4-FFF2-40B4-BE49-F238E27FC236}">
                <a16:creationId xmlns:a16="http://schemas.microsoft.com/office/drawing/2014/main" id="{0BF44521-07DC-49D4-B520-AB1E527A4282}"/>
              </a:ext>
            </a:extLst>
          </p:cNvPr>
          <p:cNvSpPr>
            <a:spLocks noGrp="1"/>
          </p:cNvSpPr>
          <p:nvPr/>
        </p:nvSpPr>
        <p:spPr>
          <a:xfrm>
            <a:off x="2672334" y="4594765"/>
            <a:ext cx="87344" cy="242792"/>
          </a:xfrm>
          <a:custGeom>
            <a:avLst/>
            <a:gdLst/>
            <a:ahLst/>
            <a:cxnLst/>
            <a:rect l="0" t="0" r="0" b="0"/>
            <a:pathLst>
              <a:path w="87385" h="242839">
                <a:moveTo>
                  <a:pt x="0" y="242839"/>
                </a:moveTo>
                <a:lnTo>
                  <a:pt x="87385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21" name="svg-segment-16">
            <a:extLst>
              <a:ext uri="{FF2B5EF4-FFF2-40B4-BE49-F238E27FC236}">
                <a16:creationId xmlns:a16="http://schemas.microsoft.com/office/drawing/2014/main" id="{6ADEA208-5DC8-43C7-969D-86E9380045E9}"/>
              </a:ext>
            </a:extLst>
          </p:cNvPr>
          <p:cNvSpPr>
            <a:spLocks noGrp="1"/>
          </p:cNvSpPr>
          <p:nvPr/>
        </p:nvSpPr>
        <p:spPr>
          <a:xfrm>
            <a:off x="1941100" y="6061901"/>
            <a:ext cx="21146" cy="92012"/>
          </a:xfrm>
          <a:custGeom>
            <a:avLst/>
            <a:gdLst/>
            <a:ahLst/>
            <a:cxnLst/>
            <a:rect l="0" t="0" r="0" b="0"/>
            <a:pathLst>
              <a:path w="21156" h="91984">
                <a:moveTo>
                  <a:pt x="0" y="91984"/>
                </a:moveTo>
                <a:lnTo>
                  <a:pt x="21156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2" name="svg-segment-17">
            <a:extLst>
              <a:ext uri="{FF2B5EF4-FFF2-40B4-BE49-F238E27FC236}">
                <a16:creationId xmlns:a16="http://schemas.microsoft.com/office/drawing/2014/main" id="{C0945173-2322-4346-9DBC-B4DB8C06973E}"/>
              </a:ext>
            </a:extLst>
          </p:cNvPr>
          <p:cNvSpPr>
            <a:spLocks noGrp="1"/>
          </p:cNvSpPr>
          <p:nvPr/>
        </p:nvSpPr>
        <p:spPr>
          <a:xfrm>
            <a:off x="1962245" y="5908262"/>
            <a:ext cx="84582" cy="153638"/>
          </a:xfrm>
          <a:custGeom>
            <a:avLst/>
            <a:gdLst/>
            <a:ahLst/>
            <a:cxnLst/>
            <a:rect l="0" t="0" r="0" b="0"/>
            <a:pathLst>
              <a:path w="84626" h="153614">
                <a:moveTo>
                  <a:pt x="0" y="153614"/>
                </a:moveTo>
                <a:lnTo>
                  <a:pt x="84626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3" name="svg-segment-18">
            <a:extLst>
              <a:ext uri="{FF2B5EF4-FFF2-40B4-BE49-F238E27FC236}">
                <a16:creationId xmlns:a16="http://schemas.microsoft.com/office/drawing/2014/main" id="{3B0002E2-3EB9-431D-806E-7B40F088B5C9}"/>
              </a:ext>
            </a:extLst>
          </p:cNvPr>
          <p:cNvSpPr>
            <a:spLocks noGrp="1"/>
          </p:cNvSpPr>
          <p:nvPr/>
        </p:nvSpPr>
        <p:spPr>
          <a:xfrm>
            <a:off x="2046827" y="5637848"/>
            <a:ext cx="13811" cy="270415"/>
          </a:xfrm>
          <a:custGeom>
            <a:avLst/>
            <a:gdLst/>
            <a:ahLst/>
            <a:cxnLst/>
            <a:rect l="0" t="0" r="0" b="0"/>
            <a:pathLst>
              <a:path w="13798" h="270434">
                <a:moveTo>
                  <a:pt x="0" y="270434"/>
                </a:moveTo>
                <a:lnTo>
                  <a:pt x="13798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4" name="svg-segment-19">
            <a:extLst>
              <a:ext uri="{FF2B5EF4-FFF2-40B4-BE49-F238E27FC236}">
                <a16:creationId xmlns:a16="http://schemas.microsoft.com/office/drawing/2014/main" id="{574CCCDA-A1ED-4FF1-A3FB-D80A873ADF9F}"/>
              </a:ext>
            </a:extLst>
          </p:cNvPr>
          <p:cNvSpPr>
            <a:spLocks noGrp="1"/>
          </p:cNvSpPr>
          <p:nvPr/>
        </p:nvSpPr>
        <p:spPr>
          <a:xfrm>
            <a:off x="2060639" y="5513642"/>
            <a:ext cx="307181" cy="124206"/>
          </a:xfrm>
          <a:custGeom>
            <a:avLst/>
            <a:gdLst/>
            <a:ahLst/>
            <a:cxnLst/>
            <a:rect l="0" t="0" r="0" b="0"/>
            <a:pathLst>
              <a:path w="307228" h="124179">
                <a:moveTo>
                  <a:pt x="0" y="124179"/>
                </a:moveTo>
                <a:lnTo>
                  <a:pt x="307228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5" name="svg-segment-20">
            <a:extLst>
              <a:ext uri="{FF2B5EF4-FFF2-40B4-BE49-F238E27FC236}">
                <a16:creationId xmlns:a16="http://schemas.microsoft.com/office/drawing/2014/main" id="{F64EE1C5-4449-4F50-A1BF-5262953F61AE}"/>
              </a:ext>
            </a:extLst>
          </p:cNvPr>
          <p:cNvSpPr>
            <a:spLocks noGrp="1"/>
          </p:cNvSpPr>
          <p:nvPr/>
        </p:nvSpPr>
        <p:spPr>
          <a:xfrm>
            <a:off x="2367915" y="5337048"/>
            <a:ext cx="526161" cy="176594"/>
          </a:xfrm>
          <a:custGeom>
            <a:avLst/>
            <a:gdLst/>
            <a:ahLst/>
            <a:cxnLst/>
            <a:rect l="0" t="0" r="0" b="0"/>
            <a:pathLst>
              <a:path w="526150" h="176610">
                <a:moveTo>
                  <a:pt x="0" y="176610"/>
                </a:moveTo>
                <a:lnTo>
                  <a:pt x="52615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6" name="svg-segment-21">
            <a:extLst>
              <a:ext uri="{FF2B5EF4-FFF2-40B4-BE49-F238E27FC236}">
                <a16:creationId xmlns:a16="http://schemas.microsoft.com/office/drawing/2014/main" id="{66720221-3331-4FD6-A38C-A500BA4594AB}"/>
              </a:ext>
            </a:extLst>
          </p:cNvPr>
          <p:cNvSpPr>
            <a:spLocks noGrp="1"/>
          </p:cNvSpPr>
          <p:nvPr/>
        </p:nvSpPr>
        <p:spPr>
          <a:xfrm>
            <a:off x="2894076" y="5298472"/>
            <a:ext cx="845344" cy="38671"/>
          </a:xfrm>
          <a:custGeom>
            <a:avLst/>
            <a:gdLst/>
            <a:ahLst/>
            <a:cxnLst/>
            <a:rect l="0" t="0" r="0" b="0"/>
            <a:pathLst>
              <a:path w="845336" h="38633">
                <a:moveTo>
                  <a:pt x="0" y="38633"/>
                </a:moveTo>
                <a:lnTo>
                  <a:pt x="845336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7" name="svg-segment-22">
            <a:extLst>
              <a:ext uri="{FF2B5EF4-FFF2-40B4-BE49-F238E27FC236}">
                <a16:creationId xmlns:a16="http://schemas.microsoft.com/office/drawing/2014/main" id="{153683D6-D08C-4F68-B205-B3C2AAFDFC6F}"/>
              </a:ext>
            </a:extLst>
          </p:cNvPr>
          <p:cNvSpPr>
            <a:spLocks noGrp="1"/>
          </p:cNvSpPr>
          <p:nvPr/>
        </p:nvSpPr>
        <p:spPr>
          <a:xfrm>
            <a:off x="3739420" y="5298472"/>
            <a:ext cx="1224344" cy="4763"/>
          </a:xfrm>
          <a:prstGeom prst="line">
            <a:avLst/>
          </a:pr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28" name="svg-line-23">
            <a:extLst>
              <a:ext uri="{FF2B5EF4-FFF2-40B4-BE49-F238E27FC236}">
                <a16:creationId xmlns:a16="http://schemas.microsoft.com/office/drawing/2014/main" id="{444FE1A9-BB00-4CA0-AC78-2258FCD5FC25}"/>
              </a:ext>
            </a:extLst>
          </p:cNvPr>
          <p:cNvSpPr>
            <a:spLocks noGrp="1"/>
          </p:cNvSpPr>
          <p:nvPr/>
        </p:nvSpPr>
        <p:spPr>
          <a:xfrm>
            <a:off x="2258473" y="5383054"/>
            <a:ext cx="643890" cy="220790"/>
          </a:xfrm>
          <a:prstGeom prst="line">
            <a:avLst/>
          </a:prstGeom>
          <a:noFill/>
          <a:ln w="9525">
            <a:solidFill>
              <a:srgbClr val="1785C1">
                <a:alpha val="55000"/>
              </a:srgbClr>
            </a:solidFill>
            <a:prstDash val="solid"/>
          </a:ln>
        </p:spPr>
      </p:sp>
      <p:sp>
        <p:nvSpPr>
          <p:cNvPr id="29" name="svg-line-24">
            <a:extLst>
              <a:ext uri="{FF2B5EF4-FFF2-40B4-BE49-F238E27FC236}">
                <a16:creationId xmlns:a16="http://schemas.microsoft.com/office/drawing/2014/main" id="{829CD882-0065-4501-9499-17FA872ADD50}"/>
              </a:ext>
            </a:extLst>
          </p:cNvPr>
          <p:cNvSpPr>
            <a:spLocks noGrp="1"/>
          </p:cNvSpPr>
          <p:nvPr/>
        </p:nvSpPr>
        <p:spPr>
          <a:xfrm>
            <a:off x="7359491" y="6258782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0" name="svg-line-25">
            <a:extLst>
              <a:ext uri="{FF2B5EF4-FFF2-40B4-BE49-F238E27FC236}">
                <a16:creationId xmlns:a16="http://schemas.microsoft.com/office/drawing/2014/main" id="{FFE64BE6-EBAE-49F4-A9DC-B78C43F3EA30}"/>
              </a:ext>
            </a:extLst>
          </p:cNvPr>
          <p:cNvSpPr>
            <a:spLocks noGrp="1"/>
          </p:cNvSpPr>
          <p:nvPr/>
        </p:nvSpPr>
        <p:spPr>
          <a:xfrm>
            <a:off x="7359491" y="5762054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1" name="svg-line-26">
            <a:extLst>
              <a:ext uri="{FF2B5EF4-FFF2-40B4-BE49-F238E27FC236}">
                <a16:creationId xmlns:a16="http://schemas.microsoft.com/office/drawing/2014/main" id="{A4FAC352-2BF6-44DE-BC3F-1D06E4AB5D91}"/>
              </a:ext>
            </a:extLst>
          </p:cNvPr>
          <p:cNvSpPr>
            <a:spLocks noGrp="1"/>
          </p:cNvSpPr>
          <p:nvPr/>
        </p:nvSpPr>
        <p:spPr>
          <a:xfrm>
            <a:off x="7359491" y="5265325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2" name="svg-line-27">
            <a:extLst>
              <a:ext uri="{FF2B5EF4-FFF2-40B4-BE49-F238E27FC236}">
                <a16:creationId xmlns:a16="http://schemas.microsoft.com/office/drawing/2014/main" id="{B0773006-1263-434E-A807-2B6BBD47D70A}"/>
              </a:ext>
            </a:extLst>
          </p:cNvPr>
          <p:cNvSpPr>
            <a:spLocks noGrp="1"/>
          </p:cNvSpPr>
          <p:nvPr/>
        </p:nvSpPr>
        <p:spPr>
          <a:xfrm>
            <a:off x="7359491" y="4768596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3" name="svg-line-28">
            <a:extLst>
              <a:ext uri="{FF2B5EF4-FFF2-40B4-BE49-F238E27FC236}">
                <a16:creationId xmlns:a16="http://schemas.microsoft.com/office/drawing/2014/main" id="{1AC652B2-A04F-4ADA-8F8B-C9CAECA8CB15}"/>
              </a:ext>
            </a:extLst>
          </p:cNvPr>
          <p:cNvSpPr>
            <a:spLocks noGrp="1"/>
          </p:cNvSpPr>
          <p:nvPr/>
        </p:nvSpPr>
        <p:spPr>
          <a:xfrm>
            <a:off x="7359491" y="4271867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34" name="svg-line-29">
            <a:extLst>
              <a:ext uri="{FF2B5EF4-FFF2-40B4-BE49-F238E27FC236}">
                <a16:creationId xmlns:a16="http://schemas.microsoft.com/office/drawing/2014/main" id="{DD375033-4FCC-41ED-9BAD-E7759A922257}"/>
              </a:ext>
            </a:extLst>
          </p:cNvPr>
          <p:cNvSpPr>
            <a:spLocks noGrp="1"/>
          </p:cNvSpPr>
          <p:nvPr/>
        </p:nvSpPr>
        <p:spPr>
          <a:xfrm>
            <a:off x="7359491" y="4271867"/>
            <a:ext cx="4763" cy="1986820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35" name="svg-line-30">
            <a:extLst>
              <a:ext uri="{FF2B5EF4-FFF2-40B4-BE49-F238E27FC236}">
                <a16:creationId xmlns:a16="http://schemas.microsoft.com/office/drawing/2014/main" id="{132385C5-CA3D-49A6-B5B3-5CF334457798}"/>
              </a:ext>
            </a:extLst>
          </p:cNvPr>
          <p:cNvSpPr>
            <a:spLocks noGrp="1"/>
          </p:cNvSpPr>
          <p:nvPr/>
        </p:nvSpPr>
        <p:spPr>
          <a:xfrm>
            <a:off x="7359491" y="6258782"/>
            <a:ext cx="3863340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36" name="svg-line-31">
            <a:extLst>
              <a:ext uri="{FF2B5EF4-FFF2-40B4-BE49-F238E27FC236}">
                <a16:creationId xmlns:a16="http://schemas.microsoft.com/office/drawing/2014/main" id="{72DD5170-8F25-4962-B518-48B251AC7772}"/>
              </a:ext>
            </a:extLst>
          </p:cNvPr>
          <p:cNvSpPr>
            <a:spLocks noGrp="1"/>
          </p:cNvSpPr>
          <p:nvPr/>
        </p:nvSpPr>
        <p:spPr>
          <a:xfrm>
            <a:off x="7359491" y="5151215"/>
            <a:ext cx="3863340" cy="4763"/>
          </a:xfrm>
          <a:prstGeom prst="line">
            <a:avLst/>
          </a:prstGeom>
          <a:noFill/>
          <a:ln w="19050">
            <a:solidFill>
              <a:srgbClr val="642AF0"/>
            </a:solidFill>
            <a:prstDash val="dash"/>
          </a:ln>
        </p:spPr>
      </p:sp>
      <p:sp>
        <p:nvSpPr>
          <p:cNvPr id="37" name="svg-segment-32">
            <a:extLst>
              <a:ext uri="{FF2B5EF4-FFF2-40B4-BE49-F238E27FC236}">
                <a16:creationId xmlns:a16="http://schemas.microsoft.com/office/drawing/2014/main" id="{4A1C9CDD-54B8-4DA1-87FF-1EBD8FFBB553}"/>
              </a:ext>
            </a:extLst>
          </p:cNvPr>
          <p:cNvSpPr>
            <a:spLocks noGrp="1"/>
          </p:cNvSpPr>
          <p:nvPr/>
        </p:nvSpPr>
        <p:spPr>
          <a:xfrm>
            <a:off x="7484650" y="5699474"/>
            <a:ext cx="4763" cy="279654"/>
          </a:xfrm>
          <a:custGeom>
            <a:avLst/>
            <a:gdLst/>
            <a:ahLst/>
            <a:cxnLst/>
            <a:rect l="0" t="0" r="0" b="0"/>
            <a:pathLst>
              <a:path w="4763" h="279632">
                <a:moveTo>
                  <a:pt x="920" y="279632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8" name="svg-segment-33">
            <a:extLst>
              <a:ext uri="{FF2B5EF4-FFF2-40B4-BE49-F238E27FC236}">
                <a16:creationId xmlns:a16="http://schemas.microsoft.com/office/drawing/2014/main" id="{F8D0FC58-18FF-485F-88EC-B09D8D7CA95A}"/>
              </a:ext>
            </a:extLst>
          </p:cNvPr>
          <p:cNvSpPr>
            <a:spLocks noGrp="1"/>
          </p:cNvSpPr>
          <p:nvPr/>
        </p:nvSpPr>
        <p:spPr>
          <a:xfrm>
            <a:off x="7484650" y="5392293"/>
            <a:ext cx="108585" cy="307181"/>
          </a:xfrm>
          <a:custGeom>
            <a:avLst/>
            <a:gdLst/>
            <a:ahLst/>
            <a:cxnLst/>
            <a:rect l="0" t="0" r="0" b="0"/>
            <a:pathLst>
              <a:path w="108541" h="307227">
                <a:moveTo>
                  <a:pt x="0" y="307227"/>
                </a:moveTo>
                <a:lnTo>
                  <a:pt x="108541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39" name="svg-segment-34">
            <a:extLst>
              <a:ext uri="{FF2B5EF4-FFF2-40B4-BE49-F238E27FC236}">
                <a16:creationId xmlns:a16="http://schemas.microsoft.com/office/drawing/2014/main" id="{B8B336D3-B45B-419A-940B-84B2786767F5}"/>
              </a:ext>
            </a:extLst>
          </p:cNvPr>
          <p:cNvSpPr>
            <a:spLocks noGrp="1"/>
          </p:cNvSpPr>
          <p:nvPr/>
        </p:nvSpPr>
        <p:spPr>
          <a:xfrm>
            <a:off x="7593139" y="5325999"/>
            <a:ext cx="92012" cy="66199"/>
          </a:xfrm>
          <a:custGeom>
            <a:avLst/>
            <a:gdLst/>
            <a:ahLst/>
            <a:cxnLst/>
            <a:rect l="0" t="0" r="0" b="0"/>
            <a:pathLst>
              <a:path w="91984" h="66229">
                <a:moveTo>
                  <a:pt x="0" y="66229"/>
                </a:moveTo>
                <a:lnTo>
                  <a:pt x="91984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0" name="svg-segment-35">
            <a:extLst>
              <a:ext uri="{FF2B5EF4-FFF2-40B4-BE49-F238E27FC236}">
                <a16:creationId xmlns:a16="http://schemas.microsoft.com/office/drawing/2014/main" id="{ADF535E2-B220-4091-B330-7E84AC58CDB1}"/>
              </a:ext>
            </a:extLst>
          </p:cNvPr>
          <p:cNvSpPr>
            <a:spLocks noGrp="1"/>
          </p:cNvSpPr>
          <p:nvPr/>
        </p:nvSpPr>
        <p:spPr>
          <a:xfrm>
            <a:off x="7685151" y="5009579"/>
            <a:ext cx="128778" cy="316421"/>
          </a:xfrm>
          <a:custGeom>
            <a:avLst/>
            <a:gdLst/>
            <a:ahLst/>
            <a:cxnLst/>
            <a:rect l="0" t="0" r="0" b="0"/>
            <a:pathLst>
              <a:path w="128778" h="316426">
                <a:moveTo>
                  <a:pt x="0" y="316426"/>
                </a:moveTo>
                <a:lnTo>
                  <a:pt x="128778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1" name="svg-segment-36">
            <a:extLst>
              <a:ext uri="{FF2B5EF4-FFF2-40B4-BE49-F238E27FC236}">
                <a16:creationId xmlns:a16="http://schemas.microsoft.com/office/drawing/2014/main" id="{F240E2A1-A9F6-498D-8D57-4DCD6CFB39B1}"/>
              </a:ext>
            </a:extLst>
          </p:cNvPr>
          <p:cNvSpPr>
            <a:spLocks noGrp="1"/>
          </p:cNvSpPr>
          <p:nvPr/>
        </p:nvSpPr>
        <p:spPr>
          <a:xfrm>
            <a:off x="7813929" y="4462272"/>
            <a:ext cx="196882" cy="547307"/>
          </a:xfrm>
          <a:custGeom>
            <a:avLst/>
            <a:gdLst/>
            <a:ahLst/>
            <a:cxnLst/>
            <a:rect l="0" t="0" r="0" b="0"/>
            <a:pathLst>
              <a:path w="196846" h="547306">
                <a:moveTo>
                  <a:pt x="0" y="547306"/>
                </a:moveTo>
                <a:lnTo>
                  <a:pt x="196846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2" name="svg-segment-37">
            <a:extLst>
              <a:ext uri="{FF2B5EF4-FFF2-40B4-BE49-F238E27FC236}">
                <a16:creationId xmlns:a16="http://schemas.microsoft.com/office/drawing/2014/main" id="{2E65EEB1-D52B-419E-8163-6760E5760767}"/>
              </a:ext>
            </a:extLst>
          </p:cNvPr>
          <p:cNvSpPr>
            <a:spLocks noGrp="1"/>
          </p:cNvSpPr>
          <p:nvPr/>
        </p:nvSpPr>
        <p:spPr>
          <a:xfrm>
            <a:off x="8010716" y="4462272"/>
            <a:ext cx="300800" cy="4763"/>
          </a:xfrm>
          <a:prstGeom prst="line">
            <a:avLst/>
          </a:pr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3" name="svg-segment-38">
            <a:extLst>
              <a:ext uri="{FF2B5EF4-FFF2-40B4-BE49-F238E27FC236}">
                <a16:creationId xmlns:a16="http://schemas.microsoft.com/office/drawing/2014/main" id="{E06BC913-18C8-4C65-9696-9BA664ECC9E8}"/>
              </a:ext>
            </a:extLst>
          </p:cNvPr>
          <p:cNvSpPr>
            <a:spLocks noGrp="1"/>
          </p:cNvSpPr>
          <p:nvPr/>
        </p:nvSpPr>
        <p:spPr>
          <a:xfrm>
            <a:off x="8311515" y="4462272"/>
            <a:ext cx="320993" cy="4763"/>
          </a:xfrm>
          <a:custGeom>
            <a:avLst/>
            <a:gdLst/>
            <a:ahLst/>
            <a:cxnLst/>
            <a:rect l="0" t="0" r="0" b="0"/>
            <a:pathLst>
              <a:path w="321025" h="4763">
                <a:moveTo>
                  <a:pt x="0" y="1840"/>
                </a:moveTo>
                <a:lnTo>
                  <a:pt x="321025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44" name="svg-segment-39">
            <a:extLst>
              <a:ext uri="{FF2B5EF4-FFF2-40B4-BE49-F238E27FC236}">
                <a16:creationId xmlns:a16="http://schemas.microsoft.com/office/drawing/2014/main" id="{CB52B265-7F50-4436-A499-00CF728A2E7C}"/>
              </a:ext>
            </a:extLst>
          </p:cNvPr>
          <p:cNvSpPr>
            <a:spLocks noGrp="1"/>
          </p:cNvSpPr>
          <p:nvPr/>
        </p:nvSpPr>
        <p:spPr>
          <a:xfrm>
            <a:off x="7597712" y="5968079"/>
            <a:ext cx="16574" cy="141637"/>
          </a:xfrm>
          <a:custGeom>
            <a:avLst/>
            <a:gdLst/>
            <a:ahLst/>
            <a:cxnLst/>
            <a:rect l="0" t="0" r="0" b="0"/>
            <a:pathLst>
              <a:path w="16557" h="141656">
                <a:moveTo>
                  <a:pt x="0" y="141656"/>
                </a:moveTo>
                <a:lnTo>
                  <a:pt x="16557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5" name="svg-segment-40">
            <a:extLst>
              <a:ext uri="{FF2B5EF4-FFF2-40B4-BE49-F238E27FC236}">
                <a16:creationId xmlns:a16="http://schemas.microsoft.com/office/drawing/2014/main" id="{B0FE18A0-F5D6-4F23-972C-99522281D7B2}"/>
              </a:ext>
            </a:extLst>
          </p:cNvPr>
          <p:cNvSpPr>
            <a:spLocks noGrp="1"/>
          </p:cNvSpPr>
          <p:nvPr/>
        </p:nvSpPr>
        <p:spPr>
          <a:xfrm>
            <a:off x="7614285" y="5776722"/>
            <a:ext cx="146209" cy="191357"/>
          </a:xfrm>
          <a:custGeom>
            <a:avLst/>
            <a:gdLst/>
            <a:ahLst/>
            <a:cxnLst/>
            <a:rect l="0" t="0" r="0" b="0"/>
            <a:pathLst>
              <a:path w="146255" h="191327">
                <a:moveTo>
                  <a:pt x="0" y="191327"/>
                </a:moveTo>
                <a:lnTo>
                  <a:pt x="146255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6" name="svg-segment-41">
            <a:extLst>
              <a:ext uri="{FF2B5EF4-FFF2-40B4-BE49-F238E27FC236}">
                <a16:creationId xmlns:a16="http://schemas.microsoft.com/office/drawing/2014/main" id="{C9DDE727-6E49-4C0F-BA65-AF4583519161}"/>
              </a:ext>
            </a:extLst>
          </p:cNvPr>
          <p:cNvSpPr>
            <a:spLocks noGrp="1"/>
          </p:cNvSpPr>
          <p:nvPr/>
        </p:nvSpPr>
        <p:spPr>
          <a:xfrm>
            <a:off x="7760589" y="5466779"/>
            <a:ext cx="46958" cy="309944"/>
          </a:xfrm>
          <a:custGeom>
            <a:avLst/>
            <a:gdLst/>
            <a:ahLst/>
            <a:cxnLst/>
            <a:rect l="0" t="0" r="0" b="0"/>
            <a:pathLst>
              <a:path w="46912" h="309987">
                <a:moveTo>
                  <a:pt x="0" y="309987"/>
                </a:moveTo>
                <a:lnTo>
                  <a:pt x="46912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7" name="svg-segment-42">
            <a:extLst>
              <a:ext uri="{FF2B5EF4-FFF2-40B4-BE49-F238E27FC236}">
                <a16:creationId xmlns:a16="http://schemas.microsoft.com/office/drawing/2014/main" id="{4655F4EE-2FC9-4476-80E2-50A87DDF8DBA}"/>
              </a:ext>
            </a:extLst>
          </p:cNvPr>
          <p:cNvSpPr>
            <a:spLocks noGrp="1"/>
          </p:cNvSpPr>
          <p:nvPr/>
        </p:nvSpPr>
        <p:spPr>
          <a:xfrm>
            <a:off x="7807452" y="5281898"/>
            <a:ext cx="274987" cy="184880"/>
          </a:xfrm>
          <a:custGeom>
            <a:avLst/>
            <a:gdLst/>
            <a:ahLst/>
            <a:cxnLst/>
            <a:rect l="0" t="0" r="0" b="0"/>
            <a:pathLst>
              <a:path w="275033" h="184888">
                <a:moveTo>
                  <a:pt x="0" y="184888"/>
                </a:moveTo>
                <a:lnTo>
                  <a:pt x="275033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8" name="svg-segment-43">
            <a:extLst>
              <a:ext uri="{FF2B5EF4-FFF2-40B4-BE49-F238E27FC236}">
                <a16:creationId xmlns:a16="http://schemas.microsoft.com/office/drawing/2014/main" id="{389B8D57-EE45-4AC0-8B84-3D777DFAF67A}"/>
              </a:ext>
            </a:extLst>
          </p:cNvPr>
          <p:cNvSpPr>
            <a:spLocks noGrp="1"/>
          </p:cNvSpPr>
          <p:nvPr/>
        </p:nvSpPr>
        <p:spPr>
          <a:xfrm>
            <a:off x="8082534" y="5274469"/>
            <a:ext cx="1421130" cy="7334"/>
          </a:xfrm>
          <a:custGeom>
            <a:avLst/>
            <a:gdLst/>
            <a:ahLst/>
            <a:cxnLst/>
            <a:rect l="0" t="0" r="0" b="0"/>
            <a:pathLst>
              <a:path w="1421157" h="7359">
                <a:moveTo>
                  <a:pt x="0" y="7359"/>
                </a:moveTo>
                <a:lnTo>
                  <a:pt x="1421157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49" name="svg-segment-44">
            <a:extLst>
              <a:ext uri="{FF2B5EF4-FFF2-40B4-BE49-F238E27FC236}">
                <a16:creationId xmlns:a16="http://schemas.microsoft.com/office/drawing/2014/main" id="{7D780AE1-AE9D-48A8-85A7-D7921BB193C7}"/>
              </a:ext>
            </a:extLst>
          </p:cNvPr>
          <p:cNvSpPr>
            <a:spLocks noGrp="1"/>
          </p:cNvSpPr>
          <p:nvPr/>
        </p:nvSpPr>
        <p:spPr>
          <a:xfrm>
            <a:off x="9503664" y="5274469"/>
            <a:ext cx="1382554" cy="10097"/>
          </a:xfrm>
          <a:prstGeom prst="line">
            <a:avLst/>
          </a:pr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50" name="svg-line-45">
            <a:extLst>
              <a:ext uri="{FF2B5EF4-FFF2-40B4-BE49-F238E27FC236}">
                <a16:creationId xmlns:a16="http://schemas.microsoft.com/office/drawing/2014/main" id="{A286C796-3768-42DE-AADD-6D2297EA94CE}"/>
              </a:ext>
            </a:extLst>
          </p:cNvPr>
          <p:cNvSpPr>
            <a:spLocks noGrp="1"/>
          </p:cNvSpPr>
          <p:nvPr/>
        </p:nvSpPr>
        <p:spPr>
          <a:xfrm>
            <a:off x="13036391" y="6258782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1" name="svg-line-46">
            <a:extLst>
              <a:ext uri="{FF2B5EF4-FFF2-40B4-BE49-F238E27FC236}">
                <a16:creationId xmlns:a16="http://schemas.microsoft.com/office/drawing/2014/main" id="{5BDB7520-FACB-46FD-B00C-F8F47936B9DB}"/>
              </a:ext>
            </a:extLst>
          </p:cNvPr>
          <p:cNvSpPr>
            <a:spLocks noGrp="1"/>
          </p:cNvSpPr>
          <p:nvPr/>
        </p:nvSpPr>
        <p:spPr>
          <a:xfrm>
            <a:off x="13036391" y="5762054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2" name="svg-line-47">
            <a:extLst>
              <a:ext uri="{FF2B5EF4-FFF2-40B4-BE49-F238E27FC236}">
                <a16:creationId xmlns:a16="http://schemas.microsoft.com/office/drawing/2014/main" id="{8C422A57-FE43-448C-B746-DA2F07D5351E}"/>
              </a:ext>
            </a:extLst>
          </p:cNvPr>
          <p:cNvSpPr>
            <a:spLocks noGrp="1"/>
          </p:cNvSpPr>
          <p:nvPr/>
        </p:nvSpPr>
        <p:spPr>
          <a:xfrm>
            <a:off x="13036391" y="5265325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3" name="svg-line-48">
            <a:extLst>
              <a:ext uri="{FF2B5EF4-FFF2-40B4-BE49-F238E27FC236}">
                <a16:creationId xmlns:a16="http://schemas.microsoft.com/office/drawing/2014/main" id="{EF25A9F6-62F7-4924-84CF-6DA10B74A6E9}"/>
              </a:ext>
            </a:extLst>
          </p:cNvPr>
          <p:cNvSpPr>
            <a:spLocks noGrp="1"/>
          </p:cNvSpPr>
          <p:nvPr/>
        </p:nvSpPr>
        <p:spPr>
          <a:xfrm>
            <a:off x="13036391" y="4768596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4" name="svg-line-49">
            <a:extLst>
              <a:ext uri="{FF2B5EF4-FFF2-40B4-BE49-F238E27FC236}">
                <a16:creationId xmlns:a16="http://schemas.microsoft.com/office/drawing/2014/main" id="{59499FBC-A1EB-4EC9-8B96-243A8DE54DE6}"/>
              </a:ext>
            </a:extLst>
          </p:cNvPr>
          <p:cNvSpPr>
            <a:spLocks noGrp="1"/>
          </p:cNvSpPr>
          <p:nvPr/>
        </p:nvSpPr>
        <p:spPr>
          <a:xfrm>
            <a:off x="13036391" y="4271867"/>
            <a:ext cx="3863340" cy="4763"/>
          </a:xfrm>
          <a:prstGeom prst="line">
            <a:avLst/>
          </a:prstGeom>
          <a:noFill/>
          <a:ln w="14288">
            <a:solidFill>
              <a:srgbClr val="E1E6EE"/>
            </a:solidFill>
            <a:prstDash val="solid"/>
          </a:ln>
        </p:spPr>
      </p:sp>
      <p:sp>
        <p:nvSpPr>
          <p:cNvPr id="55" name="svg-line-50">
            <a:extLst>
              <a:ext uri="{FF2B5EF4-FFF2-40B4-BE49-F238E27FC236}">
                <a16:creationId xmlns:a16="http://schemas.microsoft.com/office/drawing/2014/main" id="{61D04B4D-0EF7-4C09-85C4-4609FBF99BAB}"/>
              </a:ext>
            </a:extLst>
          </p:cNvPr>
          <p:cNvSpPr>
            <a:spLocks noGrp="1"/>
          </p:cNvSpPr>
          <p:nvPr/>
        </p:nvSpPr>
        <p:spPr>
          <a:xfrm>
            <a:off x="13036391" y="4271867"/>
            <a:ext cx="4763" cy="1986820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56" name="svg-line-51">
            <a:extLst>
              <a:ext uri="{FF2B5EF4-FFF2-40B4-BE49-F238E27FC236}">
                <a16:creationId xmlns:a16="http://schemas.microsoft.com/office/drawing/2014/main" id="{877C4E1A-13DC-46B2-AD06-6FF4863665AF}"/>
              </a:ext>
            </a:extLst>
          </p:cNvPr>
          <p:cNvSpPr>
            <a:spLocks noGrp="1"/>
          </p:cNvSpPr>
          <p:nvPr/>
        </p:nvSpPr>
        <p:spPr>
          <a:xfrm>
            <a:off x="13036391" y="6258782"/>
            <a:ext cx="3863340" cy="4763"/>
          </a:xfrm>
          <a:prstGeom prst="line">
            <a:avLst/>
          </a:prstGeom>
          <a:noFill/>
          <a:ln w="15240">
            <a:solidFill>
              <a:srgbClr val="A9B4C6"/>
            </a:solidFill>
            <a:prstDash val="solid"/>
          </a:ln>
        </p:spPr>
      </p:sp>
      <p:sp>
        <p:nvSpPr>
          <p:cNvPr id="57" name="svg-line-52">
            <a:extLst>
              <a:ext uri="{FF2B5EF4-FFF2-40B4-BE49-F238E27FC236}">
                <a16:creationId xmlns:a16="http://schemas.microsoft.com/office/drawing/2014/main" id="{19C12F0A-D753-4644-BFB5-4D79540B9995}"/>
              </a:ext>
            </a:extLst>
          </p:cNvPr>
          <p:cNvSpPr>
            <a:spLocks noGrp="1"/>
          </p:cNvSpPr>
          <p:nvPr/>
        </p:nvSpPr>
        <p:spPr>
          <a:xfrm>
            <a:off x="13036391" y="5151215"/>
            <a:ext cx="3863340" cy="4763"/>
          </a:xfrm>
          <a:prstGeom prst="line">
            <a:avLst/>
          </a:prstGeom>
          <a:noFill/>
          <a:ln w="19050">
            <a:solidFill>
              <a:srgbClr val="642AF0"/>
            </a:solidFill>
            <a:prstDash val="dash"/>
          </a:ln>
        </p:spPr>
      </p:sp>
      <p:sp>
        <p:nvSpPr>
          <p:cNvPr id="58" name="svg-segment-53">
            <a:extLst>
              <a:ext uri="{FF2B5EF4-FFF2-40B4-BE49-F238E27FC236}">
                <a16:creationId xmlns:a16="http://schemas.microsoft.com/office/drawing/2014/main" id="{604CDACC-8266-47AF-B533-75BD585F99D8}"/>
              </a:ext>
            </a:extLst>
          </p:cNvPr>
          <p:cNvSpPr>
            <a:spLocks noGrp="1"/>
          </p:cNvSpPr>
          <p:nvPr/>
        </p:nvSpPr>
        <p:spPr>
          <a:xfrm>
            <a:off x="13404342" y="5497068"/>
            <a:ext cx="4763" cy="380809"/>
          </a:xfrm>
          <a:custGeom>
            <a:avLst/>
            <a:gdLst/>
            <a:ahLst/>
            <a:cxnLst/>
            <a:rect l="0" t="0" r="0" b="0"/>
            <a:pathLst>
              <a:path w="4763" h="380815">
                <a:moveTo>
                  <a:pt x="0" y="380815"/>
                </a:moveTo>
                <a:lnTo>
                  <a:pt x="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59" name="svg-segment-54">
            <a:extLst>
              <a:ext uri="{FF2B5EF4-FFF2-40B4-BE49-F238E27FC236}">
                <a16:creationId xmlns:a16="http://schemas.microsoft.com/office/drawing/2014/main" id="{9951FD18-3632-4566-B4FB-659035304D62}"/>
              </a:ext>
            </a:extLst>
          </p:cNvPr>
          <p:cNvSpPr>
            <a:spLocks noGrp="1"/>
          </p:cNvSpPr>
          <p:nvPr/>
        </p:nvSpPr>
        <p:spPr>
          <a:xfrm>
            <a:off x="13404342" y="5084064"/>
            <a:ext cx="183071" cy="413004"/>
          </a:xfrm>
          <a:custGeom>
            <a:avLst/>
            <a:gdLst/>
            <a:ahLst/>
            <a:cxnLst/>
            <a:rect l="0" t="0" r="0" b="0"/>
            <a:pathLst>
              <a:path w="183049" h="413009">
                <a:moveTo>
                  <a:pt x="0" y="413009"/>
                </a:moveTo>
                <a:lnTo>
                  <a:pt x="183049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0" name="svg-segment-55">
            <a:extLst>
              <a:ext uri="{FF2B5EF4-FFF2-40B4-BE49-F238E27FC236}">
                <a16:creationId xmlns:a16="http://schemas.microsoft.com/office/drawing/2014/main" id="{2900EB8D-D5FA-451F-BE2E-84A8706858D0}"/>
              </a:ext>
            </a:extLst>
          </p:cNvPr>
          <p:cNvSpPr>
            <a:spLocks noGrp="1"/>
          </p:cNvSpPr>
          <p:nvPr/>
        </p:nvSpPr>
        <p:spPr>
          <a:xfrm>
            <a:off x="13587413" y="4851368"/>
            <a:ext cx="284226" cy="232696"/>
          </a:xfrm>
          <a:custGeom>
            <a:avLst/>
            <a:gdLst/>
            <a:ahLst/>
            <a:cxnLst/>
            <a:rect l="0" t="0" r="0" b="0"/>
            <a:pathLst>
              <a:path w="284232" h="232720">
                <a:moveTo>
                  <a:pt x="0" y="232720"/>
                </a:moveTo>
                <a:lnTo>
                  <a:pt x="284232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1" name="svg-segment-56">
            <a:extLst>
              <a:ext uri="{FF2B5EF4-FFF2-40B4-BE49-F238E27FC236}">
                <a16:creationId xmlns:a16="http://schemas.microsoft.com/office/drawing/2014/main" id="{46518226-366C-478E-9BA4-5A651F31730F}"/>
              </a:ext>
            </a:extLst>
          </p:cNvPr>
          <p:cNvSpPr>
            <a:spLocks noGrp="1"/>
          </p:cNvSpPr>
          <p:nvPr/>
        </p:nvSpPr>
        <p:spPr>
          <a:xfrm>
            <a:off x="13871639" y="4844034"/>
            <a:ext cx="875729" cy="7334"/>
          </a:xfrm>
          <a:custGeom>
            <a:avLst/>
            <a:gdLst/>
            <a:ahLst/>
            <a:cxnLst/>
            <a:rect l="0" t="0" r="0" b="0"/>
            <a:pathLst>
              <a:path w="875690" h="7359">
                <a:moveTo>
                  <a:pt x="0" y="7359"/>
                </a:moveTo>
                <a:lnTo>
                  <a:pt x="875690" y="0"/>
                </a:lnTo>
              </a:path>
            </a:pathLst>
          </a:cu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2" name="svg-segment-57">
            <a:extLst>
              <a:ext uri="{FF2B5EF4-FFF2-40B4-BE49-F238E27FC236}">
                <a16:creationId xmlns:a16="http://schemas.microsoft.com/office/drawing/2014/main" id="{8AD52579-B8A8-4AA5-AD18-33E3219DD2D1}"/>
              </a:ext>
            </a:extLst>
          </p:cNvPr>
          <p:cNvSpPr>
            <a:spLocks noGrp="1"/>
          </p:cNvSpPr>
          <p:nvPr/>
        </p:nvSpPr>
        <p:spPr>
          <a:xfrm>
            <a:off x="14747272" y="4844034"/>
            <a:ext cx="1820323" cy="5525"/>
          </a:xfrm>
          <a:prstGeom prst="line">
            <a:avLst/>
          </a:prstGeom>
          <a:noFill/>
          <a:ln w="42863">
            <a:solidFill>
              <a:srgbClr val="1785C1"/>
            </a:solidFill>
            <a:prstDash val="solid"/>
          </a:ln>
        </p:spPr>
      </p:sp>
      <p:sp>
        <p:nvSpPr>
          <p:cNvPr id="63" name="svg-segment-58">
            <a:extLst>
              <a:ext uri="{FF2B5EF4-FFF2-40B4-BE49-F238E27FC236}">
                <a16:creationId xmlns:a16="http://schemas.microsoft.com/office/drawing/2014/main" id="{929E0418-385F-4516-B65D-46FDEB5C2FF1}"/>
              </a:ext>
            </a:extLst>
          </p:cNvPr>
          <p:cNvSpPr>
            <a:spLocks noGrp="1"/>
          </p:cNvSpPr>
          <p:nvPr/>
        </p:nvSpPr>
        <p:spPr>
          <a:xfrm>
            <a:off x="13631513" y="5751005"/>
            <a:ext cx="45053" cy="236411"/>
          </a:xfrm>
          <a:custGeom>
            <a:avLst/>
            <a:gdLst/>
            <a:ahLst/>
            <a:cxnLst/>
            <a:rect l="0" t="0" r="0" b="0"/>
            <a:pathLst>
              <a:path w="45072" h="236400">
                <a:moveTo>
                  <a:pt x="0" y="236400"/>
                </a:moveTo>
                <a:lnTo>
                  <a:pt x="45072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4" name="svg-segment-59">
            <a:extLst>
              <a:ext uri="{FF2B5EF4-FFF2-40B4-BE49-F238E27FC236}">
                <a16:creationId xmlns:a16="http://schemas.microsoft.com/office/drawing/2014/main" id="{0E1264F9-6BCA-4CB4-B500-550EF0B524D5}"/>
              </a:ext>
            </a:extLst>
          </p:cNvPr>
          <p:cNvSpPr>
            <a:spLocks noGrp="1"/>
          </p:cNvSpPr>
          <p:nvPr/>
        </p:nvSpPr>
        <p:spPr>
          <a:xfrm>
            <a:off x="13676662" y="5509070"/>
            <a:ext cx="254794" cy="241935"/>
          </a:xfrm>
          <a:custGeom>
            <a:avLst/>
            <a:gdLst/>
            <a:ahLst/>
            <a:cxnLst/>
            <a:rect l="0" t="0" r="0" b="0"/>
            <a:pathLst>
              <a:path w="254796" h="241919">
                <a:moveTo>
                  <a:pt x="0" y="241919"/>
                </a:moveTo>
                <a:lnTo>
                  <a:pt x="254796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5" name="svg-segment-60">
            <a:extLst>
              <a:ext uri="{FF2B5EF4-FFF2-40B4-BE49-F238E27FC236}">
                <a16:creationId xmlns:a16="http://schemas.microsoft.com/office/drawing/2014/main" id="{B9E57D90-5C6B-4981-AAB8-E171BED371B9}"/>
              </a:ext>
            </a:extLst>
          </p:cNvPr>
          <p:cNvSpPr>
            <a:spLocks noGrp="1"/>
          </p:cNvSpPr>
          <p:nvPr/>
        </p:nvSpPr>
        <p:spPr>
          <a:xfrm>
            <a:off x="13931455" y="5308568"/>
            <a:ext cx="526161" cy="200501"/>
          </a:xfrm>
          <a:custGeom>
            <a:avLst/>
            <a:gdLst/>
            <a:ahLst/>
            <a:cxnLst/>
            <a:rect l="0" t="0" r="0" b="0"/>
            <a:pathLst>
              <a:path w="526150" h="200526">
                <a:moveTo>
                  <a:pt x="0" y="200526"/>
                </a:moveTo>
                <a:lnTo>
                  <a:pt x="526150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6" name="svg-segment-61">
            <a:extLst>
              <a:ext uri="{FF2B5EF4-FFF2-40B4-BE49-F238E27FC236}">
                <a16:creationId xmlns:a16="http://schemas.microsoft.com/office/drawing/2014/main" id="{C4F44807-E6B5-4FAB-9503-BA4F9A264045}"/>
              </a:ext>
            </a:extLst>
          </p:cNvPr>
          <p:cNvSpPr>
            <a:spLocks noGrp="1"/>
          </p:cNvSpPr>
          <p:nvPr/>
        </p:nvSpPr>
        <p:spPr>
          <a:xfrm>
            <a:off x="14457521" y="5255228"/>
            <a:ext cx="1884712" cy="53340"/>
          </a:xfrm>
          <a:custGeom>
            <a:avLst/>
            <a:gdLst/>
            <a:ahLst/>
            <a:cxnLst/>
            <a:rect l="0" t="0" r="0" b="0"/>
            <a:pathLst>
              <a:path w="1884758" h="53351">
                <a:moveTo>
                  <a:pt x="0" y="53351"/>
                </a:moveTo>
                <a:lnTo>
                  <a:pt x="1884758" y="0"/>
                </a:lnTo>
              </a:path>
            </a:pathLst>
          </a:custGeom>
          <a:noFill/>
          <a:ln w="42863">
            <a:solidFill>
              <a:srgbClr val="0A9A62"/>
            </a:solidFill>
            <a:prstDash val="solid"/>
          </a:ln>
        </p:spPr>
      </p:sp>
      <p:sp>
        <p:nvSpPr>
          <p:cNvPr id="67" name="svg-point-1">
            <a:extLst>
              <a:ext uri="{FF2B5EF4-FFF2-40B4-BE49-F238E27FC236}">
                <a16:creationId xmlns:a16="http://schemas.microsoft.com/office/drawing/2014/main" id="{B1487A55-5EC5-4424-8927-A26168EB51EC}"/>
              </a:ext>
            </a:extLst>
          </p:cNvPr>
          <p:cNvSpPr>
            <a:spLocks noGrp="1"/>
          </p:cNvSpPr>
          <p:nvPr/>
        </p:nvSpPr>
        <p:spPr>
          <a:xfrm>
            <a:off x="1792986" y="6043517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68" name="svg-point-2">
            <a:extLst>
              <a:ext uri="{FF2B5EF4-FFF2-40B4-BE49-F238E27FC236}">
                <a16:creationId xmlns:a16="http://schemas.microsoft.com/office/drawing/2014/main" id="{CE9AAC3A-B96A-4D6F-B225-D28B62FEFB88}"/>
              </a:ext>
            </a:extLst>
          </p:cNvPr>
          <p:cNvSpPr>
            <a:spLocks noGrp="1"/>
          </p:cNvSpPr>
          <p:nvPr/>
        </p:nvSpPr>
        <p:spPr>
          <a:xfrm>
            <a:off x="1792986" y="5874258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69" name="svg-point-3">
            <a:extLst>
              <a:ext uri="{FF2B5EF4-FFF2-40B4-BE49-F238E27FC236}">
                <a16:creationId xmlns:a16="http://schemas.microsoft.com/office/drawing/2014/main" id="{8BB1CBB9-FF95-4925-80C8-DC8153DEFE11}"/>
              </a:ext>
            </a:extLst>
          </p:cNvPr>
          <p:cNvSpPr>
            <a:spLocks noGrp="1"/>
          </p:cNvSpPr>
          <p:nvPr/>
        </p:nvSpPr>
        <p:spPr>
          <a:xfrm>
            <a:off x="1823371" y="5634228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0" name="svg-point-4">
            <a:extLst>
              <a:ext uri="{FF2B5EF4-FFF2-40B4-BE49-F238E27FC236}">
                <a16:creationId xmlns:a16="http://schemas.microsoft.com/office/drawing/2014/main" id="{A1B2A701-5CBC-4B8C-97AE-DC67BC699C91}"/>
              </a:ext>
            </a:extLst>
          </p:cNvPr>
          <p:cNvSpPr>
            <a:spLocks noGrp="1"/>
          </p:cNvSpPr>
          <p:nvPr/>
        </p:nvSpPr>
        <p:spPr>
          <a:xfrm>
            <a:off x="1973294" y="549716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1" name="svg-point-5">
            <a:extLst>
              <a:ext uri="{FF2B5EF4-FFF2-40B4-BE49-F238E27FC236}">
                <a16:creationId xmlns:a16="http://schemas.microsoft.com/office/drawing/2014/main" id="{E860BFE9-9529-4D00-A8C7-5CE4EA82AB57}"/>
              </a:ext>
            </a:extLst>
          </p:cNvPr>
          <p:cNvSpPr>
            <a:spLocks noGrp="1"/>
          </p:cNvSpPr>
          <p:nvPr/>
        </p:nvSpPr>
        <p:spPr>
          <a:xfrm>
            <a:off x="2212467" y="5337048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2" name="svg-point-6">
            <a:extLst>
              <a:ext uri="{FF2B5EF4-FFF2-40B4-BE49-F238E27FC236}">
                <a16:creationId xmlns:a16="http://schemas.microsoft.com/office/drawing/2014/main" id="{614233CB-392B-4404-96F4-B8D53CE785BD}"/>
              </a:ext>
            </a:extLst>
          </p:cNvPr>
          <p:cNvSpPr>
            <a:spLocks noGrp="1"/>
          </p:cNvSpPr>
          <p:nvPr/>
        </p:nvSpPr>
        <p:spPr>
          <a:xfrm>
            <a:off x="2461736" y="5051012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3" name="svg-point-7">
            <a:extLst>
              <a:ext uri="{FF2B5EF4-FFF2-40B4-BE49-F238E27FC236}">
                <a16:creationId xmlns:a16="http://schemas.microsoft.com/office/drawing/2014/main" id="{508F4EB1-6914-4168-8D81-6C31ECA2CE1F}"/>
              </a:ext>
            </a:extLst>
          </p:cNvPr>
          <p:cNvSpPr>
            <a:spLocks noGrp="1"/>
          </p:cNvSpPr>
          <p:nvPr/>
        </p:nvSpPr>
        <p:spPr>
          <a:xfrm>
            <a:off x="2626328" y="4791551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4" name="svg-point-8">
            <a:extLst>
              <a:ext uri="{FF2B5EF4-FFF2-40B4-BE49-F238E27FC236}">
                <a16:creationId xmlns:a16="http://schemas.microsoft.com/office/drawing/2014/main" id="{64B85E28-CA30-44F9-B51D-D73EA64B4477}"/>
              </a:ext>
            </a:extLst>
          </p:cNvPr>
          <p:cNvSpPr>
            <a:spLocks noGrp="1"/>
          </p:cNvSpPr>
          <p:nvPr/>
        </p:nvSpPr>
        <p:spPr>
          <a:xfrm>
            <a:off x="2713768" y="4548759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75" name="svg-point-9">
            <a:extLst>
              <a:ext uri="{FF2B5EF4-FFF2-40B4-BE49-F238E27FC236}">
                <a16:creationId xmlns:a16="http://schemas.microsoft.com/office/drawing/2014/main" id="{80A3027A-C7A7-4485-99FD-1F4E89F32845}"/>
              </a:ext>
            </a:extLst>
          </p:cNvPr>
          <p:cNvSpPr>
            <a:spLocks noGrp="1"/>
          </p:cNvSpPr>
          <p:nvPr/>
        </p:nvSpPr>
        <p:spPr>
          <a:xfrm>
            <a:off x="1895094" y="6107906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76" name="svg-point-10">
            <a:extLst>
              <a:ext uri="{FF2B5EF4-FFF2-40B4-BE49-F238E27FC236}">
                <a16:creationId xmlns:a16="http://schemas.microsoft.com/office/drawing/2014/main" id="{ACEECBDE-EE91-4AE5-932C-F560537E95F4}"/>
              </a:ext>
            </a:extLst>
          </p:cNvPr>
          <p:cNvSpPr>
            <a:spLocks noGrp="1"/>
          </p:cNvSpPr>
          <p:nvPr/>
        </p:nvSpPr>
        <p:spPr>
          <a:xfrm>
            <a:off x="1916240" y="6015895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77" name="svg-point-11">
            <a:extLst>
              <a:ext uri="{FF2B5EF4-FFF2-40B4-BE49-F238E27FC236}">
                <a16:creationId xmlns:a16="http://schemas.microsoft.com/office/drawing/2014/main" id="{4E016ECC-ECC3-4027-86B1-7938B224661A}"/>
              </a:ext>
            </a:extLst>
          </p:cNvPr>
          <p:cNvSpPr>
            <a:spLocks noGrp="1"/>
          </p:cNvSpPr>
          <p:nvPr/>
        </p:nvSpPr>
        <p:spPr>
          <a:xfrm>
            <a:off x="2000917" y="5862257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78" name="svg-point-12">
            <a:extLst>
              <a:ext uri="{FF2B5EF4-FFF2-40B4-BE49-F238E27FC236}">
                <a16:creationId xmlns:a16="http://schemas.microsoft.com/office/drawing/2014/main" id="{4FD28A20-716C-4009-BCE7-1C3A2A28E8F2}"/>
              </a:ext>
            </a:extLst>
          </p:cNvPr>
          <p:cNvSpPr>
            <a:spLocks noGrp="1"/>
          </p:cNvSpPr>
          <p:nvPr/>
        </p:nvSpPr>
        <p:spPr>
          <a:xfrm>
            <a:off x="2014633" y="5591842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79" name="svg-point-13">
            <a:extLst>
              <a:ext uri="{FF2B5EF4-FFF2-40B4-BE49-F238E27FC236}">
                <a16:creationId xmlns:a16="http://schemas.microsoft.com/office/drawing/2014/main" id="{428DA89D-F92D-4AAC-B257-F0F6D7653E7B}"/>
              </a:ext>
            </a:extLst>
          </p:cNvPr>
          <p:cNvSpPr>
            <a:spLocks noGrp="1"/>
          </p:cNvSpPr>
          <p:nvPr/>
        </p:nvSpPr>
        <p:spPr>
          <a:xfrm>
            <a:off x="2321909" y="5467731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0" name="svg-point-14">
            <a:extLst>
              <a:ext uri="{FF2B5EF4-FFF2-40B4-BE49-F238E27FC236}">
                <a16:creationId xmlns:a16="http://schemas.microsoft.com/office/drawing/2014/main" id="{A34CF098-3C58-46C9-9E6B-4C14EABB2547}"/>
              </a:ext>
            </a:extLst>
          </p:cNvPr>
          <p:cNvSpPr>
            <a:spLocks noGrp="1"/>
          </p:cNvSpPr>
          <p:nvPr/>
        </p:nvSpPr>
        <p:spPr>
          <a:xfrm>
            <a:off x="2848070" y="5291042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1" name="svg-point-15">
            <a:extLst>
              <a:ext uri="{FF2B5EF4-FFF2-40B4-BE49-F238E27FC236}">
                <a16:creationId xmlns:a16="http://schemas.microsoft.com/office/drawing/2014/main" id="{3F08D5FA-D016-4683-9BCB-E757F553B5DD}"/>
              </a:ext>
            </a:extLst>
          </p:cNvPr>
          <p:cNvSpPr>
            <a:spLocks noGrp="1"/>
          </p:cNvSpPr>
          <p:nvPr/>
        </p:nvSpPr>
        <p:spPr>
          <a:xfrm>
            <a:off x="3693414" y="5252466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2" name="svg-point-16">
            <a:extLst>
              <a:ext uri="{FF2B5EF4-FFF2-40B4-BE49-F238E27FC236}">
                <a16:creationId xmlns:a16="http://schemas.microsoft.com/office/drawing/2014/main" id="{178BAB05-E7EA-4005-9D88-C5A16727441D}"/>
              </a:ext>
            </a:extLst>
          </p:cNvPr>
          <p:cNvSpPr>
            <a:spLocks noGrp="1"/>
          </p:cNvSpPr>
          <p:nvPr/>
        </p:nvSpPr>
        <p:spPr>
          <a:xfrm>
            <a:off x="4917662" y="5257038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83" name="svg-point-17">
            <a:extLst>
              <a:ext uri="{FF2B5EF4-FFF2-40B4-BE49-F238E27FC236}">
                <a16:creationId xmlns:a16="http://schemas.microsoft.com/office/drawing/2014/main" id="{D134E364-1DB2-4FA6-84DD-17EDBB2B059E}"/>
              </a:ext>
            </a:extLst>
          </p:cNvPr>
          <p:cNvSpPr>
            <a:spLocks noGrp="1"/>
          </p:cNvSpPr>
          <p:nvPr/>
        </p:nvSpPr>
        <p:spPr>
          <a:xfrm>
            <a:off x="7439501" y="593312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4" name="svg-point-18">
            <a:extLst>
              <a:ext uri="{FF2B5EF4-FFF2-40B4-BE49-F238E27FC236}">
                <a16:creationId xmlns:a16="http://schemas.microsoft.com/office/drawing/2014/main" id="{D0D72CBA-4392-4260-9EB5-9BAE998215E5}"/>
              </a:ext>
            </a:extLst>
          </p:cNvPr>
          <p:cNvSpPr>
            <a:spLocks noGrp="1"/>
          </p:cNvSpPr>
          <p:nvPr/>
        </p:nvSpPr>
        <p:spPr>
          <a:xfrm>
            <a:off x="7438644" y="5653469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5" name="svg-point-19">
            <a:extLst>
              <a:ext uri="{FF2B5EF4-FFF2-40B4-BE49-F238E27FC236}">
                <a16:creationId xmlns:a16="http://schemas.microsoft.com/office/drawing/2014/main" id="{C9A3DC03-2CBB-422F-948A-A6B3E8C304A8}"/>
              </a:ext>
            </a:extLst>
          </p:cNvPr>
          <p:cNvSpPr>
            <a:spLocks noGrp="1"/>
          </p:cNvSpPr>
          <p:nvPr/>
        </p:nvSpPr>
        <p:spPr>
          <a:xfrm>
            <a:off x="7547134" y="5346287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6" name="svg-point-20">
            <a:extLst>
              <a:ext uri="{FF2B5EF4-FFF2-40B4-BE49-F238E27FC236}">
                <a16:creationId xmlns:a16="http://schemas.microsoft.com/office/drawing/2014/main" id="{CE10E87D-1194-4EDB-810C-33C359865D6A}"/>
              </a:ext>
            </a:extLst>
          </p:cNvPr>
          <p:cNvSpPr>
            <a:spLocks noGrp="1"/>
          </p:cNvSpPr>
          <p:nvPr/>
        </p:nvSpPr>
        <p:spPr>
          <a:xfrm>
            <a:off x="7639145" y="527999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7" name="svg-point-21">
            <a:extLst>
              <a:ext uri="{FF2B5EF4-FFF2-40B4-BE49-F238E27FC236}">
                <a16:creationId xmlns:a16="http://schemas.microsoft.com/office/drawing/2014/main" id="{F7C1C020-309F-4DC9-9161-2173EDDBF51D}"/>
              </a:ext>
            </a:extLst>
          </p:cNvPr>
          <p:cNvSpPr>
            <a:spLocks noGrp="1"/>
          </p:cNvSpPr>
          <p:nvPr/>
        </p:nvSpPr>
        <p:spPr>
          <a:xfrm>
            <a:off x="7767923" y="496357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8" name="svg-point-22">
            <a:extLst>
              <a:ext uri="{FF2B5EF4-FFF2-40B4-BE49-F238E27FC236}">
                <a16:creationId xmlns:a16="http://schemas.microsoft.com/office/drawing/2014/main" id="{E0F3780A-F1E8-4ABA-9F23-B72CADB2E387}"/>
              </a:ext>
            </a:extLst>
          </p:cNvPr>
          <p:cNvSpPr>
            <a:spLocks noGrp="1"/>
          </p:cNvSpPr>
          <p:nvPr/>
        </p:nvSpPr>
        <p:spPr>
          <a:xfrm>
            <a:off x="7964805" y="4416266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89" name="svg-point-23">
            <a:extLst>
              <a:ext uri="{FF2B5EF4-FFF2-40B4-BE49-F238E27FC236}">
                <a16:creationId xmlns:a16="http://schemas.microsoft.com/office/drawing/2014/main" id="{E0D6BC65-567B-4E53-9B8B-74BC8427BF35}"/>
              </a:ext>
            </a:extLst>
          </p:cNvPr>
          <p:cNvSpPr>
            <a:spLocks noGrp="1"/>
          </p:cNvSpPr>
          <p:nvPr/>
        </p:nvSpPr>
        <p:spPr>
          <a:xfrm>
            <a:off x="8265509" y="4418171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0" name="svg-point-24">
            <a:extLst>
              <a:ext uri="{FF2B5EF4-FFF2-40B4-BE49-F238E27FC236}">
                <a16:creationId xmlns:a16="http://schemas.microsoft.com/office/drawing/2014/main" id="{4219EF84-434B-49EA-BD60-8F4F35ACD49E}"/>
              </a:ext>
            </a:extLst>
          </p:cNvPr>
          <p:cNvSpPr>
            <a:spLocks noGrp="1"/>
          </p:cNvSpPr>
          <p:nvPr/>
        </p:nvSpPr>
        <p:spPr>
          <a:xfrm>
            <a:off x="8586597" y="4416266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1" name="svg-point-25">
            <a:extLst>
              <a:ext uri="{FF2B5EF4-FFF2-40B4-BE49-F238E27FC236}">
                <a16:creationId xmlns:a16="http://schemas.microsoft.com/office/drawing/2014/main" id="{46A53C6F-F9B2-4C01-AA66-72899FB326CC}"/>
              </a:ext>
            </a:extLst>
          </p:cNvPr>
          <p:cNvSpPr>
            <a:spLocks noGrp="1"/>
          </p:cNvSpPr>
          <p:nvPr/>
        </p:nvSpPr>
        <p:spPr>
          <a:xfrm>
            <a:off x="7551706" y="6063710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2" name="svg-point-26">
            <a:extLst>
              <a:ext uri="{FF2B5EF4-FFF2-40B4-BE49-F238E27FC236}">
                <a16:creationId xmlns:a16="http://schemas.microsoft.com/office/drawing/2014/main" id="{1CCF6CFB-E6CC-4E6A-80DB-11CC917F40A1}"/>
              </a:ext>
            </a:extLst>
          </p:cNvPr>
          <p:cNvSpPr>
            <a:spLocks noGrp="1"/>
          </p:cNvSpPr>
          <p:nvPr/>
        </p:nvSpPr>
        <p:spPr>
          <a:xfrm>
            <a:off x="7568279" y="5922074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3" name="svg-point-27">
            <a:extLst>
              <a:ext uri="{FF2B5EF4-FFF2-40B4-BE49-F238E27FC236}">
                <a16:creationId xmlns:a16="http://schemas.microsoft.com/office/drawing/2014/main" id="{C0B1F7E5-077C-480A-93DC-32A6320230B1}"/>
              </a:ext>
            </a:extLst>
          </p:cNvPr>
          <p:cNvSpPr>
            <a:spLocks noGrp="1"/>
          </p:cNvSpPr>
          <p:nvPr/>
        </p:nvSpPr>
        <p:spPr>
          <a:xfrm>
            <a:off x="7714583" y="5730716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4" name="svg-point-28">
            <a:extLst>
              <a:ext uri="{FF2B5EF4-FFF2-40B4-BE49-F238E27FC236}">
                <a16:creationId xmlns:a16="http://schemas.microsoft.com/office/drawing/2014/main" id="{78808F5E-81AE-4F91-9264-1814D1FFAE21}"/>
              </a:ext>
            </a:extLst>
          </p:cNvPr>
          <p:cNvSpPr>
            <a:spLocks noGrp="1"/>
          </p:cNvSpPr>
          <p:nvPr/>
        </p:nvSpPr>
        <p:spPr>
          <a:xfrm>
            <a:off x="7761446" y="542077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5" name="svg-point-29">
            <a:extLst>
              <a:ext uri="{FF2B5EF4-FFF2-40B4-BE49-F238E27FC236}">
                <a16:creationId xmlns:a16="http://schemas.microsoft.com/office/drawing/2014/main" id="{4837C4F0-60BA-4FFD-B11F-50E03ACA9116}"/>
              </a:ext>
            </a:extLst>
          </p:cNvPr>
          <p:cNvSpPr>
            <a:spLocks noGrp="1"/>
          </p:cNvSpPr>
          <p:nvPr/>
        </p:nvSpPr>
        <p:spPr>
          <a:xfrm>
            <a:off x="8036528" y="523589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6" name="svg-point-30">
            <a:extLst>
              <a:ext uri="{FF2B5EF4-FFF2-40B4-BE49-F238E27FC236}">
                <a16:creationId xmlns:a16="http://schemas.microsoft.com/office/drawing/2014/main" id="{53E85474-1945-4661-8E36-00EC738378E6}"/>
              </a:ext>
            </a:extLst>
          </p:cNvPr>
          <p:cNvSpPr>
            <a:spLocks noGrp="1"/>
          </p:cNvSpPr>
          <p:nvPr/>
        </p:nvSpPr>
        <p:spPr>
          <a:xfrm>
            <a:off x="9457658" y="5228558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7" name="svg-point-31">
            <a:extLst>
              <a:ext uri="{FF2B5EF4-FFF2-40B4-BE49-F238E27FC236}">
                <a16:creationId xmlns:a16="http://schemas.microsoft.com/office/drawing/2014/main" id="{939E1F4D-180B-4666-A606-BA33C1218FEF}"/>
              </a:ext>
            </a:extLst>
          </p:cNvPr>
          <p:cNvSpPr>
            <a:spLocks noGrp="1"/>
          </p:cNvSpPr>
          <p:nvPr/>
        </p:nvSpPr>
        <p:spPr>
          <a:xfrm>
            <a:off x="10840212" y="5238655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98" name="svg-point-32">
            <a:extLst>
              <a:ext uri="{FF2B5EF4-FFF2-40B4-BE49-F238E27FC236}">
                <a16:creationId xmlns:a16="http://schemas.microsoft.com/office/drawing/2014/main" id="{25FC9900-58EB-4409-963E-5128F091A476}"/>
              </a:ext>
            </a:extLst>
          </p:cNvPr>
          <p:cNvSpPr>
            <a:spLocks noGrp="1"/>
          </p:cNvSpPr>
          <p:nvPr/>
        </p:nvSpPr>
        <p:spPr>
          <a:xfrm>
            <a:off x="13358336" y="5831967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99" name="svg-point-33">
            <a:extLst>
              <a:ext uri="{FF2B5EF4-FFF2-40B4-BE49-F238E27FC236}">
                <a16:creationId xmlns:a16="http://schemas.microsoft.com/office/drawing/2014/main" id="{8347109B-A8F1-45F5-89D2-17E7829217ED}"/>
              </a:ext>
            </a:extLst>
          </p:cNvPr>
          <p:cNvSpPr>
            <a:spLocks noGrp="1"/>
          </p:cNvSpPr>
          <p:nvPr/>
        </p:nvSpPr>
        <p:spPr>
          <a:xfrm>
            <a:off x="13358336" y="5451158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0" name="svg-point-34">
            <a:extLst>
              <a:ext uri="{FF2B5EF4-FFF2-40B4-BE49-F238E27FC236}">
                <a16:creationId xmlns:a16="http://schemas.microsoft.com/office/drawing/2014/main" id="{B1DE2D18-DE84-4FF8-AFD6-475D0C2F69AD}"/>
              </a:ext>
            </a:extLst>
          </p:cNvPr>
          <p:cNvSpPr>
            <a:spLocks noGrp="1"/>
          </p:cNvSpPr>
          <p:nvPr/>
        </p:nvSpPr>
        <p:spPr>
          <a:xfrm>
            <a:off x="13541407" y="5038058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1" name="svg-point-35">
            <a:extLst>
              <a:ext uri="{FF2B5EF4-FFF2-40B4-BE49-F238E27FC236}">
                <a16:creationId xmlns:a16="http://schemas.microsoft.com/office/drawing/2014/main" id="{A1C51B8C-92E2-4001-90FF-6E52A2D72C6D}"/>
              </a:ext>
            </a:extLst>
          </p:cNvPr>
          <p:cNvSpPr>
            <a:spLocks noGrp="1"/>
          </p:cNvSpPr>
          <p:nvPr/>
        </p:nvSpPr>
        <p:spPr>
          <a:xfrm>
            <a:off x="13825633" y="480536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2" name="svg-point-36">
            <a:extLst>
              <a:ext uri="{FF2B5EF4-FFF2-40B4-BE49-F238E27FC236}">
                <a16:creationId xmlns:a16="http://schemas.microsoft.com/office/drawing/2014/main" id="{E073705B-AFF4-44D4-A496-2969F049201D}"/>
              </a:ext>
            </a:extLst>
          </p:cNvPr>
          <p:cNvSpPr>
            <a:spLocks noGrp="1"/>
          </p:cNvSpPr>
          <p:nvPr/>
        </p:nvSpPr>
        <p:spPr>
          <a:xfrm>
            <a:off x="14701361" y="4798028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3" name="svg-point-37">
            <a:extLst>
              <a:ext uri="{FF2B5EF4-FFF2-40B4-BE49-F238E27FC236}">
                <a16:creationId xmlns:a16="http://schemas.microsoft.com/office/drawing/2014/main" id="{32F6F500-73F1-4A14-915E-92BB4DC0038E}"/>
              </a:ext>
            </a:extLst>
          </p:cNvPr>
          <p:cNvSpPr>
            <a:spLocks noGrp="1"/>
          </p:cNvSpPr>
          <p:nvPr/>
        </p:nvSpPr>
        <p:spPr>
          <a:xfrm>
            <a:off x="16521684" y="480355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1785C1"/>
            </a:solidFill>
            <a:prstDash val="solid"/>
          </a:ln>
        </p:spPr>
      </p:sp>
      <p:sp>
        <p:nvSpPr>
          <p:cNvPr id="104" name="svg-point-38">
            <a:extLst>
              <a:ext uri="{FF2B5EF4-FFF2-40B4-BE49-F238E27FC236}">
                <a16:creationId xmlns:a16="http://schemas.microsoft.com/office/drawing/2014/main" id="{7179EB90-6B90-44C8-B92D-9393C7F0FCA7}"/>
              </a:ext>
            </a:extLst>
          </p:cNvPr>
          <p:cNvSpPr>
            <a:spLocks noGrp="1"/>
          </p:cNvSpPr>
          <p:nvPr/>
        </p:nvSpPr>
        <p:spPr>
          <a:xfrm>
            <a:off x="13585508" y="5941409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5" name="svg-point-39">
            <a:extLst>
              <a:ext uri="{FF2B5EF4-FFF2-40B4-BE49-F238E27FC236}">
                <a16:creationId xmlns:a16="http://schemas.microsoft.com/office/drawing/2014/main" id="{87F80F7F-5E65-44A1-8B52-7FE1D6385974}"/>
              </a:ext>
            </a:extLst>
          </p:cNvPr>
          <p:cNvSpPr>
            <a:spLocks noGrp="1"/>
          </p:cNvSpPr>
          <p:nvPr/>
        </p:nvSpPr>
        <p:spPr>
          <a:xfrm>
            <a:off x="13630656" y="5704999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6" name="svg-point-40">
            <a:extLst>
              <a:ext uri="{FF2B5EF4-FFF2-40B4-BE49-F238E27FC236}">
                <a16:creationId xmlns:a16="http://schemas.microsoft.com/office/drawing/2014/main" id="{0C478B74-C9C8-40A8-9FA9-5577BCC9031E}"/>
              </a:ext>
            </a:extLst>
          </p:cNvPr>
          <p:cNvSpPr>
            <a:spLocks noGrp="1"/>
          </p:cNvSpPr>
          <p:nvPr/>
        </p:nvSpPr>
        <p:spPr>
          <a:xfrm>
            <a:off x="13885450" y="5463064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7" name="svg-point-41">
            <a:extLst>
              <a:ext uri="{FF2B5EF4-FFF2-40B4-BE49-F238E27FC236}">
                <a16:creationId xmlns:a16="http://schemas.microsoft.com/office/drawing/2014/main" id="{27B8E75F-814F-45B2-8912-186F4EF2F069}"/>
              </a:ext>
            </a:extLst>
          </p:cNvPr>
          <p:cNvSpPr>
            <a:spLocks noGrp="1"/>
          </p:cNvSpPr>
          <p:nvPr/>
        </p:nvSpPr>
        <p:spPr>
          <a:xfrm>
            <a:off x="14411611" y="526256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8" name="svg-point-42">
            <a:extLst>
              <a:ext uri="{FF2B5EF4-FFF2-40B4-BE49-F238E27FC236}">
                <a16:creationId xmlns:a16="http://schemas.microsoft.com/office/drawing/2014/main" id="{91BFE905-B2A1-4631-AFC7-63FCE3599CD0}"/>
              </a:ext>
            </a:extLst>
          </p:cNvPr>
          <p:cNvSpPr>
            <a:spLocks noGrp="1"/>
          </p:cNvSpPr>
          <p:nvPr/>
        </p:nvSpPr>
        <p:spPr>
          <a:xfrm>
            <a:off x="16296323" y="5209223"/>
            <a:ext cx="92012" cy="9201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A9A62"/>
            </a:solidFill>
            <a:prstDash val="solid"/>
          </a:ln>
        </p:spPr>
      </p:sp>
      <p:sp>
        <p:nvSpPr>
          <p:cNvPr id="109" name="pseudo-43">
            <a:extLst>
              <a:ext uri="{FF2B5EF4-FFF2-40B4-BE49-F238E27FC236}">
                <a16:creationId xmlns:a16="http://schemas.microsoft.com/office/drawing/2014/main" id="{DA833273-69EE-4164-88C4-3F9C9A59932C}"/>
              </a:ext>
            </a:extLst>
          </p:cNvPr>
          <p:cNvSpPr>
            <a:spLocks noGrp="1"/>
          </p:cNvSpPr>
          <p:nvPr/>
        </p:nvSpPr>
        <p:spPr>
          <a:xfrm>
            <a:off x="5887212" y="2867025"/>
            <a:ext cx="219075" cy="47625"/>
          </a:xfrm>
          <a:prstGeom prst="roundRect">
            <a:avLst>
              <a:gd name="adj" fmla="val 50000"/>
            </a:avLst>
          </a:prstGeom>
          <a:solidFill>
            <a:srgbClr val="1785C1"/>
          </a:solidFill>
          <a:ln w="0">
            <a:noFill/>
            <a:prstDash val="solid"/>
          </a:ln>
        </p:spPr>
      </p:sp>
      <p:sp>
        <p:nvSpPr>
          <p:cNvPr id="110" name="pseudo-44">
            <a:extLst>
              <a:ext uri="{FF2B5EF4-FFF2-40B4-BE49-F238E27FC236}">
                <a16:creationId xmlns:a16="http://schemas.microsoft.com/office/drawing/2014/main" id="{4FD58F28-216C-40E3-9160-D6FF3083EABA}"/>
              </a:ext>
            </a:extLst>
          </p:cNvPr>
          <p:cNvSpPr>
            <a:spLocks noGrp="1"/>
          </p:cNvSpPr>
          <p:nvPr/>
        </p:nvSpPr>
        <p:spPr>
          <a:xfrm>
            <a:off x="8177022" y="2867025"/>
            <a:ext cx="219075" cy="47625"/>
          </a:xfrm>
          <a:prstGeom prst="roundRect">
            <a:avLst>
              <a:gd name="adj" fmla="val 50000"/>
            </a:avLst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11" name="border-46">
            <a:extLst>
              <a:ext uri="{FF2B5EF4-FFF2-40B4-BE49-F238E27FC236}">
                <a16:creationId xmlns:a16="http://schemas.microsoft.com/office/drawing/2014/main" id="{E1253073-F292-467D-A3F1-4AA2DD2336DC}"/>
              </a:ext>
            </a:extLst>
          </p:cNvPr>
          <p:cNvSpPr>
            <a:spLocks noGrp="1"/>
          </p:cNvSpPr>
          <p:nvPr/>
        </p:nvSpPr>
        <p:spPr>
          <a:xfrm>
            <a:off x="7715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2" name="html-shape-47">
            <a:extLst>
              <a:ext uri="{FF2B5EF4-FFF2-40B4-BE49-F238E27FC236}">
                <a16:creationId xmlns:a16="http://schemas.microsoft.com/office/drawing/2014/main" id="{5860A0DC-D9EE-457C-8189-7CAEFF80D271}"/>
              </a:ext>
            </a:extLst>
          </p:cNvPr>
          <p:cNvSpPr>
            <a:spLocks noGrp="1"/>
          </p:cNvSpPr>
          <p:nvPr/>
        </p:nvSpPr>
        <p:spPr>
          <a:xfrm>
            <a:off x="1038225" y="70866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3" name="border-48">
            <a:extLst>
              <a:ext uri="{FF2B5EF4-FFF2-40B4-BE49-F238E27FC236}">
                <a16:creationId xmlns:a16="http://schemas.microsoft.com/office/drawing/2014/main" id="{9FD24EAF-08A0-4BF1-8A44-F5B7E9634B5D}"/>
              </a:ext>
            </a:extLst>
          </p:cNvPr>
          <p:cNvSpPr>
            <a:spLocks noGrp="1"/>
          </p:cNvSpPr>
          <p:nvPr/>
        </p:nvSpPr>
        <p:spPr>
          <a:xfrm>
            <a:off x="1038225" y="70866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4" name="border-50">
            <a:extLst>
              <a:ext uri="{FF2B5EF4-FFF2-40B4-BE49-F238E27FC236}">
                <a16:creationId xmlns:a16="http://schemas.microsoft.com/office/drawing/2014/main" id="{EC0AD37E-E114-4F91-AD90-A66C4315B000}"/>
              </a:ext>
            </a:extLst>
          </p:cNvPr>
          <p:cNvSpPr>
            <a:spLocks noGrp="1"/>
          </p:cNvSpPr>
          <p:nvPr/>
        </p:nvSpPr>
        <p:spPr>
          <a:xfrm>
            <a:off x="64484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5" name="html-shape-51">
            <a:extLst>
              <a:ext uri="{FF2B5EF4-FFF2-40B4-BE49-F238E27FC236}">
                <a16:creationId xmlns:a16="http://schemas.microsoft.com/office/drawing/2014/main" id="{41DB2D15-DEE7-491A-A299-89374B76E31C}"/>
              </a:ext>
            </a:extLst>
          </p:cNvPr>
          <p:cNvSpPr>
            <a:spLocks noGrp="1"/>
          </p:cNvSpPr>
          <p:nvPr/>
        </p:nvSpPr>
        <p:spPr>
          <a:xfrm>
            <a:off x="6715125" y="70866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6" name="border-52">
            <a:extLst>
              <a:ext uri="{FF2B5EF4-FFF2-40B4-BE49-F238E27FC236}">
                <a16:creationId xmlns:a16="http://schemas.microsoft.com/office/drawing/2014/main" id="{14CE3EF2-7E20-497F-A83C-A2F0BC7731F1}"/>
              </a:ext>
            </a:extLst>
          </p:cNvPr>
          <p:cNvSpPr>
            <a:spLocks noGrp="1"/>
          </p:cNvSpPr>
          <p:nvPr/>
        </p:nvSpPr>
        <p:spPr>
          <a:xfrm>
            <a:off x="6715125" y="70866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7" name="border-54">
            <a:extLst>
              <a:ext uri="{FF2B5EF4-FFF2-40B4-BE49-F238E27FC236}">
                <a16:creationId xmlns:a16="http://schemas.microsoft.com/office/drawing/2014/main" id="{1B63AF75-B972-4721-851E-B035746300F1}"/>
              </a:ext>
            </a:extLst>
          </p:cNvPr>
          <p:cNvSpPr>
            <a:spLocks noGrp="1"/>
          </p:cNvSpPr>
          <p:nvPr/>
        </p:nvSpPr>
        <p:spPr>
          <a:xfrm>
            <a:off x="12125325" y="3257550"/>
            <a:ext cx="5391150" cy="381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8" name="html-shape-55">
            <a:extLst>
              <a:ext uri="{FF2B5EF4-FFF2-40B4-BE49-F238E27FC236}">
                <a16:creationId xmlns:a16="http://schemas.microsoft.com/office/drawing/2014/main" id="{D9AA0E1A-1DAD-412D-A6F1-9E4127038D11}"/>
              </a:ext>
            </a:extLst>
          </p:cNvPr>
          <p:cNvSpPr>
            <a:spLocks noGrp="1"/>
          </p:cNvSpPr>
          <p:nvPr/>
        </p:nvSpPr>
        <p:spPr>
          <a:xfrm>
            <a:off x="12392025" y="708660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9" name="border-56">
            <a:extLst>
              <a:ext uri="{FF2B5EF4-FFF2-40B4-BE49-F238E27FC236}">
                <a16:creationId xmlns:a16="http://schemas.microsoft.com/office/drawing/2014/main" id="{A48836A9-3A45-425F-82F5-818B306F14D9}"/>
              </a:ext>
            </a:extLst>
          </p:cNvPr>
          <p:cNvSpPr>
            <a:spLocks noGrp="1"/>
          </p:cNvSpPr>
          <p:nvPr/>
        </p:nvSpPr>
        <p:spPr>
          <a:xfrm>
            <a:off x="12392025" y="7086600"/>
            <a:ext cx="48577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20" name="border-58">
            <a:extLst>
              <a:ext uri="{FF2B5EF4-FFF2-40B4-BE49-F238E27FC236}">
                <a16:creationId xmlns:a16="http://schemas.microsoft.com/office/drawing/2014/main" id="{52FFCC0C-83E6-4545-8F91-C8D431CD5CCA}"/>
              </a:ext>
            </a:extLst>
          </p:cNvPr>
          <p:cNvSpPr>
            <a:spLocks noGrp="1"/>
          </p:cNvSpPr>
          <p:nvPr/>
        </p:nvSpPr>
        <p:spPr>
          <a:xfrm>
            <a:off x="771525" y="8286750"/>
            <a:ext cx="16744950" cy="5715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21" name="html-shape-59">
            <a:extLst>
              <a:ext uri="{FF2B5EF4-FFF2-40B4-BE49-F238E27FC236}">
                <a16:creationId xmlns:a16="http://schemas.microsoft.com/office/drawing/2014/main" id="{90D19224-9144-49A4-A880-7750C666D730}"/>
              </a:ext>
            </a:extLst>
          </p:cNvPr>
          <p:cNvSpPr>
            <a:spLocks noGrp="1"/>
          </p:cNvSpPr>
          <p:nvPr/>
        </p:nvSpPr>
        <p:spPr>
          <a:xfrm>
            <a:off x="771525" y="8343900"/>
            <a:ext cx="2190750" cy="11811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22" name="border-61">
            <a:extLst>
              <a:ext uri="{FF2B5EF4-FFF2-40B4-BE49-F238E27FC236}">
                <a16:creationId xmlns:a16="http://schemas.microsoft.com/office/drawing/2014/main" id="{4F01BF63-D175-42C7-AA49-36001B73BFE2}"/>
              </a:ext>
            </a:extLst>
          </p:cNvPr>
          <p:cNvSpPr>
            <a:spLocks noGrp="1"/>
          </p:cNvSpPr>
          <p:nvPr/>
        </p:nvSpPr>
        <p:spPr>
          <a:xfrm>
            <a:off x="13687425" y="8343900"/>
            <a:ext cx="19050" cy="1181100"/>
          </a:xfrm>
          <a:prstGeom prst="rect">
            <a:avLst/>
          </a:prstGeom>
          <a:solidFill>
            <a:srgbClr val="C8DFD5"/>
          </a:solidFill>
          <a:ln w="0">
            <a:noFill/>
            <a:prstDash val="solid"/>
          </a:ln>
        </p:spPr>
      </p:sp>
      <p:pic>
        <p:nvPicPr>
          <p:cNvPr id="123" name="图片 122">
            <a:extLst>
              <a:ext uri="{FF2B5EF4-FFF2-40B4-BE49-F238E27FC236}">
                <a16:creationId xmlns:a16="http://schemas.microsoft.com/office/drawing/2014/main" id="{E0F0C599-067E-4BF5-8E36-C59D35AC7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24" name="图片 123">
            <a:extLst>
              <a:ext uri="{FF2B5EF4-FFF2-40B4-BE49-F238E27FC236}">
                <a16:creationId xmlns:a16="http://schemas.microsoft.com/office/drawing/2014/main" id="{AD690411-9B9C-4FC4-A358-22F4936D2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25" name="svg-text-1">
            <a:extLst>
              <a:ext uri="{FF2B5EF4-FFF2-40B4-BE49-F238E27FC236}">
                <a16:creationId xmlns:a16="http://schemas.microsoft.com/office/drawing/2014/main" id="{A0946001-846A-4A92-B051-525213C2C4FA}"/>
              </a:ext>
            </a:extLst>
          </p:cNvPr>
          <p:cNvSpPr>
            <a:spLocks noGrp="1"/>
          </p:cNvSpPr>
          <p:nvPr/>
        </p:nvSpPr>
        <p:spPr>
          <a:xfrm>
            <a:off x="1654016" y="3840290"/>
            <a:ext cx="103841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Input TPS</a:t>
            </a:r>
          </a:p>
        </p:txBody>
      </p:sp>
      <p:sp>
        <p:nvSpPr>
          <p:cNvPr id="126" name="svg-text-2">
            <a:extLst>
              <a:ext uri="{FF2B5EF4-FFF2-40B4-BE49-F238E27FC236}">
                <a16:creationId xmlns:a16="http://schemas.microsoft.com/office/drawing/2014/main" id="{85AF09A4-9E2C-49B7-B350-4517737AB536}"/>
              </a:ext>
            </a:extLst>
          </p:cNvPr>
          <p:cNvSpPr>
            <a:spLocks noGrp="1"/>
          </p:cNvSpPr>
          <p:nvPr/>
        </p:nvSpPr>
        <p:spPr>
          <a:xfrm>
            <a:off x="1436942" y="6104001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27" name="svg-text-3">
            <a:extLst>
              <a:ext uri="{FF2B5EF4-FFF2-40B4-BE49-F238E27FC236}">
                <a16:creationId xmlns:a16="http://schemas.microsoft.com/office/drawing/2014/main" id="{3A3A424A-ACD3-4307-972C-07682543CB67}"/>
              </a:ext>
            </a:extLst>
          </p:cNvPr>
          <p:cNvSpPr>
            <a:spLocks noGrp="1"/>
          </p:cNvSpPr>
          <p:nvPr/>
        </p:nvSpPr>
        <p:spPr>
          <a:xfrm>
            <a:off x="1226153" y="5607368"/>
            <a:ext cx="38385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15K</a:t>
            </a:r>
          </a:p>
        </p:txBody>
      </p:sp>
      <p:sp>
        <p:nvSpPr>
          <p:cNvPr id="128" name="svg-text-4">
            <a:extLst>
              <a:ext uri="{FF2B5EF4-FFF2-40B4-BE49-F238E27FC236}">
                <a16:creationId xmlns:a16="http://schemas.microsoft.com/office/drawing/2014/main" id="{00331EB0-F360-4787-8DFC-EDB951C00768}"/>
              </a:ext>
            </a:extLst>
          </p:cNvPr>
          <p:cNvSpPr>
            <a:spLocks noGrp="1"/>
          </p:cNvSpPr>
          <p:nvPr/>
        </p:nvSpPr>
        <p:spPr>
          <a:xfrm>
            <a:off x="1187577" y="5110639"/>
            <a:ext cx="4223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30K</a:t>
            </a:r>
          </a:p>
        </p:txBody>
      </p:sp>
      <p:sp>
        <p:nvSpPr>
          <p:cNvPr id="129" name="svg-text-5">
            <a:extLst>
              <a:ext uri="{FF2B5EF4-FFF2-40B4-BE49-F238E27FC236}">
                <a16:creationId xmlns:a16="http://schemas.microsoft.com/office/drawing/2014/main" id="{6BE3914A-3D41-46E9-98A3-A892BCFB33A2}"/>
              </a:ext>
            </a:extLst>
          </p:cNvPr>
          <p:cNvSpPr>
            <a:spLocks noGrp="1"/>
          </p:cNvSpPr>
          <p:nvPr/>
        </p:nvSpPr>
        <p:spPr>
          <a:xfrm>
            <a:off x="1187577" y="4613910"/>
            <a:ext cx="4223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45K</a:t>
            </a:r>
          </a:p>
        </p:txBody>
      </p:sp>
      <p:sp>
        <p:nvSpPr>
          <p:cNvPr id="130" name="svg-text-6">
            <a:extLst>
              <a:ext uri="{FF2B5EF4-FFF2-40B4-BE49-F238E27FC236}">
                <a16:creationId xmlns:a16="http://schemas.microsoft.com/office/drawing/2014/main" id="{4F9A4696-A085-440F-BEFC-20AC37E9E2E0}"/>
              </a:ext>
            </a:extLst>
          </p:cNvPr>
          <p:cNvSpPr>
            <a:spLocks noGrp="1"/>
          </p:cNvSpPr>
          <p:nvPr/>
        </p:nvSpPr>
        <p:spPr>
          <a:xfrm>
            <a:off x="1187577" y="4117181"/>
            <a:ext cx="4223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60K</a:t>
            </a:r>
          </a:p>
        </p:txBody>
      </p:sp>
      <p:sp>
        <p:nvSpPr>
          <p:cNvPr id="131" name="svg-text-7">
            <a:extLst>
              <a:ext uri="{FF2B5EF4-FFF2-40B4-BE49-F238E27FC236}">
                <a16:creationId xmlns:a16="http://schemas.microsoft.com/office/drawing/2014/main" id="{04AB8114-2E1D-4B07-8F1B-5B2BB6F9E652}"/>
              </a:ext>
            </a:extLst>
          </p:cNvPr>
          <p:cNvSpPr>
            <a:spLocks noGrp="1"/>
          </p:cNvSpPr>
          <p:nvPr/>
        </p:nvSpPr>
        <p:spPr>
          <a:xfrm>
            <a:off x="1596104" y="6352413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32" name="svg-text-8">
            <a:extLst>
              <a:ext uri="{FF2B5EF4-FFF2-40B4-BE49-F238E27FC236}">
                <a16:creationId xmlns:a16="http://schemas.microsoft.com/office/drawing/2014/main" id="{669BEC5F-EB71-4155-A867-C8B2EF2EEE97}"/>
              </a:ext>
            </a:extLst>
          </p:cNvPr>
          <p:cNvSpPr>
            <a:spLocks noGrp="1"/>
          </p:cNvSpPr>
          <p:nvPr/>
        </p:nvSpPr>
        <p:spPr>
          <a:xfrm>
            <a:off x="2368772" y="6352413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</a:t>
            </a:r>
          </a:p>
        </p:txBody>
      </p:sp>
      <p:sp>
        <p:nvSpPr>
          <p:cNvPr id="133" name="svg-text-9">
            <a:extLst>
              <a:ext uri="{FF2B5EF4-FFF2-40B4-BE49-F238E27FC236}">
                <a16:creationId xmlns:a16="http://schemas.microsoft.com/office/drawing/2014/main" id="{E82B7285-4F3B-4811-B048-5950B2A32F97}"/>
              </a:ext>
            </a:extLst>
          </p:cNvPr>
          <p:cNvSpPr>
            <a:spLocks noGrp="1"/>
          </p:cNvSpPr>
          <p:nvPr/>
        </p:nvSpPr>
        <p:spPr>
          <a:xfrm>
            <a:off x="3141440" y="6352413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</a:t>
            </a:r>
          </a:p>
        </p:txBody>
      </p:sp>
      <p:sp>
        <p:nvSpPr>
          <p:cNvPr id="134" name="svg-text-10">
            <a:extLst>
              <a:ext uri="{FF2B5EF4-FFF2-40B4-BE49-F238E27FC236}">
                <a16:creationId xmlns:a16="http://schemas.microsoft.com/office/drawing/2014/main" id="{DBC8E97E-08A7-4915-A3C4-A07E34D284B1}"/>
              </a:ext>
            </a:extLst>
          </p:cNvPr>
          <p:cNvSpPr>
            <a:spLocks noGrp="1"/>
          </p:cNvSpPr>
          <p:nvPr/>
        </p:nvSpPr>
        <p:spPr>
          <a:xfrm>
            <a:off x="3914108" y="6352413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</a:t>
            </a:r>
          </a:p>
        </p:txBody>
      </p:sp>
      <p:sp>
        <p:nvSpPr>
          <p:cNvPr id="135" name="svg-text-11">
            <a:extLst>
              <a:ext uri="{FF2B5EF4-FFF2-40B4-BE49-F238E27FC236}">
                <a16:creationId xmlns:a16="http://schemas.microsoft.com/office/drawing/2014/main" id="{165CEFAF-40D4-4E54-AED9-9712173F02D1}"/>
              </a:ext>
            </a:extLst>
          </p:cNvPr>
          <p:cNvSpPr>
            <a:spLocks noGrp="1"/>
          </p:cNvSpPr>
          <p:nvPr/>
        </p:nvSpPr>
        <p:spPr>
          <a:xfrm>
            <a:off x="4686776" y="6352413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8</a:t>
            </a:r>
          </a:p>
        </p:txBody>
      </p:sp>
      <p:sp>
        <p:nvSpPr>
          <p:cNvPr id="136" name="svg-text-12">
            <a:extLst>
              <a:ext uri="{FF2B5EF4-FFF2-40B4-BE49-F238E27FC236}">
                <a16:creationId xmlns:a16="http://schemas.microsoft.com/office/drawing/2014/main" id="{4B3AF9B3-3F53-40E4-A39E-9D748FF09EAF}"/>
              </a:ext>
            </a:extLst>
          </p:cNvPr>
          <p:cNvSpPr>
            <a:spLocks noGrp="1"/>
          </p:cNvSpPr>
          <p:nvPr/>
        </p:nvSpPr>
        <p:spPr>
          <a:xfrm>
            <a:off x="5420678" y="6352413"/>
            <a:ext cx="25060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10</a:t>
            </a:r>
          </a:p>
        </p:txBody>
      </p:sp>
      <p:sp>
        <p:nvSpPr>
          <p:cNvPr id="137" name="svg-text-13">
            <a:extLst>
              <a:ext uri="{FF2B5EF4-FFF2-40B4-BE49-F238E27FC236}">
                <a16:creationId xmlns:a16="http://schemas.microsoft.com/office/drawing/2014/main" id="{8C2A1E8F-A630-47A9-8D2F-946EF710A89D}"/>
              </a:ext>
            </a:extLst>
          </p:cNvPr>
          <p:cNvSpPr>
            <a:spLocks noGrp="1"/>
          </p:cNvSpPr>
          <p:nvPr/>
        </p:nvSpPr>
        <p:spPr>
          <a:xfrm>
            <a:off x="2936272" y="6701028"/>
            <a:ext cx="135597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P90 TTFT (s)</a:t>
            </a:r>
          </a:p>
        </p:txBody>
      </p:sp>
      <p:sp>
        <p:nvSpPr>
          <p:cNvPr id="138" name="svg-text-14">
            <a:extLst>
              <a:ext uri="{FF2B5EF4-FFF2-40B4-BE49-F238E27FC236}">
                <a16:creationId xmlns:a16="http://schemas.microsoft.com/office/drawing/2014/main" id="{E40899AE-4693-4E0F-A612-EDE0BE87F7D8}"/>
              </a:ext>
            </a:extLst>
          </p:cNvPr>
          <p:cNvSpPr>
            <a:spLocks noGrp="1"/>
          </p:cNvSpPr>
          <p:nvPr/>
        </p:nvSpPr>
        <p:spPr>
          <a:xfrm>
            <a:off x="2873788" y="5477351"/>
            <a:ext cx="36147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C16</a:t>
            </a:r>
          </a:p>
        </p:txBody>
      </p:sp>
      <p:sp>
        <p:nvSpPr>
          <p:cNvPr id="139" name="svg-text-15">
            <a:extLst>
              <a:ext uri="{FF2B5EF4-FFF2-40B4-BE49-F238E27FC236}">
                <a16:creationId xmlns:a16="http://schemas.microsoft.com/office/drawing/2014/main" id="{E47D646F-32CB-4B7B-B888-2388B2BD58D2}"/>
              </a:ext>
            </a:extLst>
          </p:cNvPr>
          <p:cNvSpPr>
            <a:spLocks noGrp="1"/>
          </p:cNvSpPr>
          <p:nvPr/>
        </p:nvSpPr>
        <p:spPr>
          <a:xfrm>
            <a:off x="2841593" y="4689062"/>
            <a:ext cx="39471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40" name="svg-text-16">
            <a:extLst>
              <a:ext uri="{FF2B5EF4-FFF2-40B4-BE49-F238E27FC236}">
                <a16:creationId xmlns:a16="http://schemas.microsoft.com/office/drawing/2014/main" id="{1CA9EFF6-DF1C-4FBC-8523-FE1E21D170E3}"/>
              </a:ext>
            </a:extLst>
          </p:cNvPr>
          <p:cNvSpPr>
            <a:spLocks noGrp="1"/>
          </p:cNvSpPr>
          <p:nvPr/>
        </p:nvSpPr>
        <p:spPr>
          <a:xfrm>
            <a:off x="2449735" y="5608034"/>
            <a:ext cx="36147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C16</a:t>
            </a:r>
          </a:p>
        </p:txBody>
      </p:sp>
      <p:sp>
        <p:nvSpPr>
          <p:cNvPr id="141" name="svg-text-17">
            <a:extLst>
              <a:ext uri="{FF2B5EF4-FFF2-40B4-BE49-F238E27FC236}">
                <a16:creationId xmlns:a16="http://schemas.microsoft.com/office/drawing/2014/main" id="{D40628FB-8DF4-4F02-AEF9-8F5A6E01AC79}"/>
              </a:ext>
            </a:extLst>
          </p:cNvPr>
          <p:cNvSpPr>
            <a:spLocks noGrp="1"/>
          </p:cNvSpPr>
          <p:nvPr/>
        </p:nvSpPr>
        <p:spPr>
          <a:xfrm>
            <a:off x="3821144" y="5392769"/>
            <a:ext cx="39471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C48</a:t>
            </a:r>
          </a:p>
        </p:txBody>
      </p:sp>
      <p:sp>
        <p:nvSpPr>
          <p:cNvPr id="142" name="svg-text-18">
            <a:extLst>
              <a:ext uri="{FF2B5EF4-FFF2-40B4-BE49-F238E27FC236}">
                <a16:creationId xmlns:a16="http://schemas.microsoft.com/office/drawing/2014/main" id="{731829A8-2109-4F5C-A94B-44CA6FD8FBEC}"/>
              </a:ext>
            </a:extLst>
          </p:cNvPr>
          <p:cNvSpPr>
            <a:spLocks noGrp="1"/>
          </p:cNvSpPr>
          <p:nvPr/>
        </p:nvSpPr>
        <p:spPr>
          <a:xfrm>
            <a:off x="5045488" y="5397341"/>
            <a:ext cx="39471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43" name="svg-text-19">
            <a:extLst>
              <a:ext uri="{FF2B5EF4-FFF2-40B4-BE49-F238E27FC236}">
                <a16:creationId xmlns:a16="http://schemas.microsoft.com/office/drawing/2014/main" id="{DA98749D-DAD7-48E6-874B-E6FAF5E03B23}"/>
              </a:ext>
            </a:extLst>
          </p:cNvPr>
          <p:cNvSpPr>
            <a:spLocks noGrp="1"/>
          </p:cNvSpPr>
          <p:nvPr/>
        </p:nvSpPr>
        <p:spPr>
          <a:xfrm>
            <a:off x="7330916" y="3840290"/>
            <a:ext cx="103841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Input TPS</a:t>
            </a:r>
          </a:p>
        </p:txBody>
      </p:sp>
      <p:sp>
        <p:nvSpPr>
          <p:cNvPr id="144" name="svg-text-20">
            <a:extLst>
              <a:ext uri="{FF2B5EF4-FFF2-40B4-BE49-F238E27FC236}">
                <a16:creationId xmlns:a16="http://schemas.microsoft.com/office/drawing/2014/main" id="{3B2B848D-65DE-4B55-8BAB-FAB8E36DAA10}"/>
              </a:ext>
            </a:extLst>
          </p:cNvPr>
          <p:cNvSpPr>
            <a:spLocks noGrp="1"/>
          </p:cNvSpPr>
          <p:nvPr/>
        </p:nvSpPr>
        <p:spPr>
          <a:xfrm>
            <a:off x="7113842" y="6104001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45" name="svg-text-21">
            <a:extLst>
              <a:ext uri="{FF2B5EF4-FFF2-40B4-BE49-F238E27FC236}">
                <a16:creationId xmlns:a16="http://schemas.microsoft.com/office/drawing/2014/main" id="{095CE0C9-F5EC-4853-BDFB-43A802D82317}"/>
              </a:ext>
            </a:extLst>
          </p:cNvPr>
          <p:cNvSpPr>
            <a:spLocks noGrp="1"/>
          </p:cNvSpPr>
          <p:nvPr/>
        </p:nvSpPr>
        <p:spPr>
          <a:xfrm>
            <a:off x="6903053" y="5607368"/>
            <a:ext cx="38385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15K</a:t>
            </a:r>
          </a:p>
        </p:txBody>
      </p:sp>
      <p:sp>
        <p:nvSpPr>
          <p:cNvPr id="146" name="svg-text-22">
            <a:extLst>
              <a:ext uri="{FF2B5EF4-FFF2-40B4-BE49-F238E27FC236}">
                <a16:creationId xmlns:a16="http://schemas.microsoft.com/office/drawing/2014/main" id="{60CB3479-9872-4D56-92DD-12F233BEFDD9}"/>
              </a:ext>
            </a:extLst>
          </p:cNvPr>
          <p:cNvSpPr>
            <a:spLocks noGrp="1"/>
          </p:cNvSpPr>
          <p:nvPr/>
        </p:nvSpPr>
        <p:spPr>
          <a:xfrm>
            <a:off x="6864477" y="5110639"/>
            <a:ext cx="4223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30K</a:t>
            </a:r>
          </a:p>
        </p:txBody>
      </p:sp>
      <p:sp>
        <p:nvSpPr>
          <p:cNvPr id="147" name="svg-text-23">
            <a:extLst>
              <a:ext uri="{FF2B5EF4-FFF2-40B4-BE49-F238E27FC236}">
                <a16:creationId xmlns:a16="http://schemas.microsoft.com/office/drawing/2014/main" id="{73641AAB-5DBA-4CC7-B067-A1149442D345}"/>
              </a:ext>
            </a:extLst>
          </p:cNvPr>
          <p:cNvSpPr>
            <a:spLocks noGrp="1"/>
          </p:cNvSpPr>
          <p:nvPr/>
        </p:nvSpPr>
        <p:spPr>
          <a:xfrm>
            <a:off x="6864477" y="4613910"/>
            <a:ext cx="4223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45K</a:t>
            </a:r>
          </a:p>
        </p:txBody>
      </p:sp>
      <p:sp>
        <p:nvSpPr>
          <p:cNvPr id="148" name="svg-text-24">
            <a:extLst>
              <a:ext uri="{FF2B5EF4-FFF2-40B4-BE49-F238E27FC236}">
                <a16:creationId xmlns:a16="http://schemas.microsoft.com/office/drawing/2014/main" id="{66DE6E7B-7DBB-41C5-A702-70333768888E}"/>
              </a:ext>
            </a:extLst>
          </p:cNvPr>
          <p:cNvSpPr>
            <a:spLocks noGrp="1"/>
          </p:cNvSpPr>
          <p:nvPr/>
        </p:nvSpPr>
        <p:spPr>
          <a:xfrm>
            <a:off x="6864477" y="4117181"/>
            <a:ext cx="4223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60K</a:t>
            </a:r>
          </a:p>
        </p:txBody>
      </p:sp>
      <p:sp>
        <p:nvSpPr>
          <p:cNvPr id="149" name="svg-text-25">
            <a:extLst>
              <a:ext uri="{FF2B5EF4-FFF2-40B4-BE49-F238E27FC236}">
                <a16:creationId xmlns:a16="http://schemas.microsoft.com/office/drawing/2014/main" id="{8C0BE446-A2E2-41E7-98EF-5A298DB7961B}"/>
              </a:ext>
            </a:extLst>
          </p:cNvPr>
          <p:cNvSpPr>
            <a:spLocks noGrp="1"/>
          </p:cNvSpPr>
          <p:nvPr/>
        </p:nvSpPr>
        <p:spPr>
          <a:xfrm>
            <a:off x="7273004" y="6352413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50" name="svg-text-26">
            <a:extLst>
              <a:ext uri="{FF2B5EF4-FFF2-40B4-BE49-F238E27FC236}">
                <a16:creationId xmlns:a16="http://schemas.microsoft.com/office/drawing/2014/main" id="{B6005637-FFF6-45B9-9355-43499C1A39F0}"/>
              </a:ext>
            </a:extLst>
          </p:cNvPr>
          <p:cNvSpPr>
            <a:spLocks noGrp="1"/>
          </p:cNvSpPr>
          <p:nvPr/>
        </p:nvSpPr>
        <p:spPr>
          <a:xfrm>
            <a:off x="8522018" y="6352413"/>
            <a:ext cx="25060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10</a:t>
            </a:r>
          </a:p>
        </p:txBody>
      </p:sp>
      <p:sp>
        <p:nvSpPr>
          <p:cNvPr id="151" name="svg-text-27">
            <a:extLst>
              <a:ext uri="{FF2B5EF4-FFF2-40B4-BE49-F238E27FC236}">
                <a16:creationId xmlns:a16="http://schemas.microsoft.com/office/drawing/2014/main" id="{5DC56D5B-5C59-483D-8013-DCD41E95CEBD}"/>
              </a:ext>
            </a:extLst>
          </p:cNvPr>
          <p:cNvSpPr>
            <a:spLocks noGrp="1"/>
          </p:cNvSpPr>
          <p:nvPr/>
        </p:nvSpPr>
        <p:spPr>
          <a:xfrm>
            <a:off x="9790557" y="6352413"/>
            <a:ext cx="28898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52" name="svg-text-28">
            <a:extLst>
              <a:ext uri="{FF2B5EF4-FFF2-40B4-BE49-F238E27FC236}">
                <a16:creationId xmlns:a16="http://schemas.microsoft.com/office/drawing/2014/main" id="{A8C60E68-942E-4B4D-968A-2224890384CC}"/>
              </a:ext>
            </a:extLst>
          </p:cNvPr>
          <p:cNvSpPr>
            <a:spLocks noGrp="1"/>
          </p:cNvSpPr>
          <p:nvPr/>
        </p:nvSpPr>
        <p:spPr>
          <a:xfrm>
            <a:off x="11078337" y="6352413"/>
            <a:ext cx="28898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</a:t>
            </a:r>
          </a:p>
        </p:txBody>
      </p:sp>
      <p:sp>
        <p:nvSpPr>
          <p:cNvPr id="153" name="svg-text-29">
            <a:extLst>
              <a:ext uri="{FF2B5EF4-FFF2-40B4-BE49-F238E27FC236}">
                <a16:creationId xmlns:a16="http://schemas.microsoft.com/office/drawing/2014/main" id="{1DADB6A1-A686-4B6A-AABE-3AB52C3105E9}"/>
              </a:ext>
            </a:extLst>
          </p:cNvPr>
          <p:cNvSpPr>
            <a:spLocks noGrp="1"/>
          </p:cNvSpPr>
          <p:nvPr/>
        </p:nvSpPr>
        <p:spPr>
          <a:xfrm>
            <a:off x="8613172" y="6701028"/>
            <a:ext cx="135597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P90 TTFT (s)</a:t>
            </a:r>
          </a:p>
        </p:txBody>
      </p:sp>
      <p:sp>
        <p:nvSpPr>
          <p:cNvPr id="154" name="svg-text-30">
            <a:extLst>
              <a:ext uri="{FF2B5EF4-FFF2-40B4-BE49-F238E27FC236}">
                <a16:creationId xmlns:a16="http://schemas.microsoft.com/office/drawing/2014/main" id="{712231F5-3666-4E7A-AD01-764BF6DDCD01}"/>
              </a:ext>
            </a:extLst>
          </p:cNvPr>
          <p:cNvSpPr>
            <a:spLocks noGrp="1"/>
          </p:cNvSpPr>
          <p:nvPr/>
        </p:nvSpPr>
        <p:spPr>
          <a:xfrm>
            <a:off x="8061293" y="4791170"/>
            <a:ext cx="36147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C16</a:t>
            </a:r>
          </a:p>
        </p:txBody>
      </p:sp>
      <p:sp>
        <p:nvSpPr>
          <p:cNvPr id="155" name="svg-text-31">
            <a:extLst>
              <a:ext uri="{FF2B5EF4-FFF2-40B4-BE49-F238E27FC236}">
                <a16:creationId xmlns:a16="http://schemas.microsoft.com/office/drawing/2014/main" id="{03A7C1D5-2705-441B-A282-1A538BBAF99E}"/>
              </a:ext>
            </a:extLst>
          </p:cNvPr>
          <p:cNvSpPr>
            <a:spLocks noGrp="1"/>
          </p:cNvSpPr>
          <p:nvPr/>
        </p:nvSpPr>
        <p:spPr>
          <a:xfrm>
            <a:off x="8714327" y="4556570"/>
            <a:ext cx="39471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C64</a:t>
            </a:r>
          </a:p>
        </p:txBody>
      </p:sp>
      <p:sp>
        <p:nvSpPr>
          <p:cNvPr id="156" name="svg-text-32">
            <a:extLst>
              <a:ext uri="{FF2B5EF4-FFF2-40B4-BE49-F238E27FC236}">
                <a16:creationId xmlns:a16="http://schemas.microsoft.com/office/drawing/2014/main" id="{2DCD7FFC-5881-4C7D-A862-D33FDE6024D7}"/>
              </a:ext>
            </a:extLst>
          </p:cNvPr>
          <p:cNvSpPr>
            <a:spLocks noGrp="1"/>
          </p:cNvSpPr>
          <p:nvPr/>
        </p:nvSpPr>
        <p:spPr>
          <a:xfrm>
            <a:off x="8164354" y="5376196"/>
            <a:ext cx="36147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C16</a:t>
            </a:r>
          </a:p>
        </p:txBody>
      </p:sp>
      <p:sp>
        <p:nvSpPr>
          <p:cNvPr id="157" name="svg-text-33">
            <a:extLst>
              <a:ext uri="{FF2B5EF4-FFF2-40B4-BE49-F238E27FC236}">
                <a16:creationId xmlns:a16="http://schemas.microsoft.com/office/drawing/2014/main" id="{D6A09D71-6BD1-4941-A304-8D365970269C}"/>
              </a:ext>
            </a:extLst>
          </p:cNvPr>
          <p:cNvSpPr>
            <a:spLocks noGrp="1"/>
          </p:cNvSpPr>
          <p:nvPr/>
        </p:nvSpPr>
        <p:spPr>
          <a:xfrm>
            <a:off x="9585484" y="5368862"/>
            <a:ext cx="39471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C32</a:t>
            </a:r>
          </a:p>
        </p:txBody>
      </p:sp>
      <p:sp>
        <p:nvSpPr>
          <p:cNvPr id="158" name="svg-text-34">
            <a:extLst>
              <a:ext uri="{FF2B5EF4-FFF2-40B4-BE49-F238E27FC236}">
                <a16:creationId xmlns:a16="http://schemas.microsoft.com/office/drawing/2014/main" id="{D87D42B9-6C56-44B6-97A0-13E41AE04478}"/>
              </a:ext>
            </a:extLst>
          </p:cNvPr>
          <p:cNvSpPr>
            <a:spLocks noGrp="1"/>
          </p:cNvSpPr>
          <p:nvPr/>
        </p:nvSpPr>
        <p:spPr>
          <a:xfrm>
            <a:off x="10409682" y="5378958"/>
            <a:ext cx="39471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C48</a:t>
            </a:r>
          </a:p>
        </p:txBody>
      </p:sp>
      <p:sp>
        <p:nvSpPr>
          <p:cNvPr id="159" name="svg-text-35">
            <a:extLst>
              <a:ext uri="{FF2B5EF4-FFF2-40B4-BE49-F238E27FC236}">
                <a16:creationId xmlns:a16="http://schemas.microsoft.com/office/drawing/2014/main" id="{CE3E566A-330F-4422-90EA-40999295364B}"/>
              </a:ext>
            </a:extLst>
          </p:cNvPr>
          <p:cNvSpPr>
            <a:spLocks noGrp="1"/>
          </p:cNvSpPr>
          <p:nvPr/>
        </p:nvSpPr>
        <p:spPr>
          <a:xfrm>
            <a:off x="13007816" y="3840290"/>
            <a:ext cx="103841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Input TPS</a:t>
            </a:r>
          </a:p>
        </p:txBody>
      </p:sp>
      <p:sp>
        <p:nvSpPr>
          <p:cNvPr id="160" name="svg-text-36">
            <a:extLst>
              <a:ext uri="{FF2B5EF4-FFF2-40B4-BE49-F238E27FC236}">
                <a16:creationId xmlns:a16="http://schemas.microsoft.com/office/drawing/2014/main" id="{3CDA4668-3C5C-488A-B459-8BF0C1CAB322}"/>
              </a:ext>
            </a:extLst>
          </p:cNvPr>
          <p:cNvSpPr>
            <a:spLocks noGrp="1"/>
          </p:cNvSpPr>
          <p:nvPr/>
        </p:nvSpPr>
        <p:spPr>
          <a:xfrm>
            <a:off x="12790741" y="6104001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61" name="svg-text-37">
            <a:extLst>
              <a:ext uri="{FF2B5EF4-FFF2-40B4-BE49-F238E27FC236}">
                <a16:creationId xmlns:a16="http://schemas.microsoft.com/office/drawing/2014/main" id="{C1A829F6-C903-4CBF-8B23-92A575C9238A}"/>
              </a:ext>
            </a:extLst>
          </p:cNvPr>
          <p:cNvSpPr>
            <a:spLocks noGrp="1"/>
          </p:cNvSpPr>
          <p:nvPr/>
        </p:nvSpPr>
        <p:spPr>
          <a:xfrm>
            <a:off x="12579953" y="5607368"/>
            <a:ext cx="38385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15K</a:t>
            </a:r>
          </a:p>
        </p:txBody>
      </p:sp>
      <p:sp>
        <p:nvSpPr>
          <p:cNvPr id="162" name="svg-text-38">
            <a:extLst>
              <a:ext uri="{FF2B5EF4-FFF2-40B4-BE49-F238E27FC236}">
                <a16:creationId xmlns:a16="http://schemas.microsoft.com/office/drawing/2014/main" id="{E0A42E15-0B07-42CC-9D47-F1BA09D15E61}"/>
              </a:ext>
            </a:extLst>
          </p:cNvPr>
          <p:cNvSpPr>
            <a:spLocks noGrp="1"/>
          </p:cNvSpPr>
          <p:nvPr/>
        </p:nvSpPr>
        <p:spPr>
          <a:xfrm>
            <a:off x="12541377" y="5110639"/>
            <a:ext cx="4223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30K</a:t>
            </a:r>
          </a:p>
        </p:txBody>
      </p:sp>
      <p:sp>
        <p:nvSpPr>
          <p:cNvPr id="163" name="svg-text-39">
            <a:extLst>
              <a:ext uri="{FF2B5EF4-FFF2-40B4-BE49-F238E27FC236}">
                <a16:creationId xmlns:a16="http://schemas.microsoft.com/office/drawing/2014/main" id="{9201FE80-4937-4F11-9650-EC633662C604}"/>
              </a:ext>
            </a:extLst>
          </p:cNvPr>
          <p:cNvSpPr>
            <a:spLocks noGrp="1"/>
          </p:cNvSpPr>
          <p:nvPr/>
        </p:nvSpPr>
        <p:spPr>
          <a:xfrm>
            <a:off x="12541377" y="4613910"/>
            <a:ext cx="4223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45K</a:t>
            </a:r>
          </a:p>
        </p:txBody>
      </p:sp>
      <p:sp>
        <p:nvSpPr>
          <p:cNvPr id="164" name="svg-text-40">
            <a:extLst>
              <a:ext uri="{FF2B5EF4-FFF2-40B4-BE49-F238E27FC236}">
                <a16:creationId xmlns:a16="http://schemas.microsoft.com/office/drawing/2014/main" id="{CAB82BAB-52EF-4DB0-9495-C3B0502DF9C6}"/>
              </a:ext>
            </a:extLst>
          </p:cNvPr>
          <p:cNvSpPr>
            <a:spLocks noGrp="1"/>
          </p:cNvSpPr>
          <p:nvPr/>
        </p:nvSpPr>
        <p:spPr>
          <a:xfrm>
            <a:off x="12541377" y="4117181"/>
            <a:ext cx="42233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60K</a:t>
            </a:r>
          </a:p>
        </p:txBody>
      </p:sp>
      <p:sp>
        <p:nvSpPr>
          <p:cNvPr id="165" name="svg-text-41">
            <a:extLst>
              <a:ext uri="{FF2B5EF4-FFF2-40B4-BE49-F238E27FC236}">
                <a16:creationId xmlns:a16="http://schemas.microsoft.com/office/drawing/2014/main" id="{1A48A17A-3FBF-4914-A6DA-3FF5C6426077}"/>
              </a:ext>
            </a:extLst>
          </p:cNvPr>
          <p:cNvSpPr>
            <a:spLocks noGrp="1"/>
          </p:cNvSpPr>
          <p:nvPr/>
        </p:nvSpPr>
        <p:spPr>
          <a:xfrm>
            <a:off x="12949904" y="6352413"/>
            <a:ext cx="1730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166" name="svg-text-42">
            <a:extLst>
              <a:ext uri="{FF2B5EF4-FFF2-40B4-BE49-F238E27FC236}">
                <a16:creationId xmlns:a16="http://schemas.microsoft.com/office/drawing/2014/main" id="{1E7CD3F5-270F-4436-A65B-CECD1D055955}"/>
              </a:ext>
            </a:extLst>
          </p:cNvPr>
          <p:cNvSpPr>
            <a:spLocks noGrp="1"/>
          </p:cNvSpPr>
          <p:nvPr/>
        </p:nvSpPr>
        <p:spPr>
          <a:xfrm>
            <a:off x="14198918" y="6352413"/>
            <a:ext cx="25060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10</a:t>
            </a:r>
          </a:p>
        </p:txBody>
      </p:sp>
      <p:sp>
        <p:nvSpPr>
          <p:cNvPr id="167" name="svg-text-43">
            <a:extLst>
              <a:ext uri="{FF2B5EF4-FFF2-40B4-BE49-F238E27FC236}">
                <a16:creationId xmlns:a16="http://schemas.microsoft.com/office/drawing/2014/main" id="{C034392A-D510-41D0-9434-310141EB2341}"/>
              </a:ext>
            </a:extLst>
          </p:cNvPr>
          <p:cNvSpPr>
            <a:spLocks noGrp="1"/>
          </p:cNvSpPr>
          <p:nvPr/>
        </p:nvSpPr>
        <p:spPr>
          <a:xfrm>
            <a:off x="15467457" y="6352413"/>
            <a:ext cx="28898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20</a:t>
            </a:r>
          </a:p>
        </p:txBody>
      </p:sp>
      <p:sp>
        <p:nvSpPr>
          <p:cNvPr id="168" name="svg-text-44">
            <a:extLst>
              <a:ext uri="{FF2B5EF4-FFF2-40B4-BE49-F238E27FC236}">
                <a16:creationId xmlns:a16="http://schemas.microsoft.com/office/drawing/2014/main" id="{7178A4CD-080D-4563-B6C1-F59AC94C852C}"/>
              </a:ext>
            </a:extLst>
          </p:cNvPr>
          <p:cNvSpPr>
            <a:spLocks noGrp="1"/>
          </p:cNvSpPr>
          <p:nvPr/>
        </p:nvSpPr>
        <p:spPr>
          <a:xfrm>
            <a:off x="16755237" y="6352413"/>
            <a:ext cx="28898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30</a:t>
            </a:r>
          </a:p>
        </p:txBody>
      </p:sp>
      <p:sp>
        <p:nvSpPr>
          <p:cNvPr id="169" name="svg-text-45">
            <a:extLst>
              <a:ext uri="{FF2B5EF4-FFF2-40B4-BE49-F238E27FC236}">
                <a16:creationId xmlns:a16="http://schemas.microsoft.com/office/drawing/2014/main" id="{927A1BED-74D7-485D-BF80-391C520E380F}"/>
              </a:ext>
            </a:extLst>
          </p:cNvPr>
          <p:cNvSpPr>
            <a:spLocks noGrp="1"/>
          </p:cNvSpPr>
          <p:nvPr/>
        </p:nvSpPr>
        <p:spPr>
          <a:xfrm>
            <a:off x="14290072" y="6701028"/>
            <a:ext cx="135597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F4D62"/>
                </a:solidFill>
                <a:latin typeface="PingFang SC"/>
                <a:ea typeface="PingFang SC"/>
                <a:cs typeface="Arial"/>
              </a:rPr>
              <a:t>P90 TTFT (s)</a:t>
            </a:r>
          </a:p>
        </p:txBody>
      </p:sp>
      <p:sp>
        <p:nvSpPr>
          <p:cNvPr id="170" name="svg-text-46">
            <a:extLst>
              <a:ext uri="{FF2B5EF4-FFF2-40B4-BE49-F238E27FC236}">
                <a16:creationId xmlns:a16="http://schemas.microsoft.com/office/drawing/2014/main" id="{6A7DBFEA-C83C-413E-8616-724A32DB3738}"/>
              </a:ext>
            </a:extLst>
          </p:cNvPr>
          <p:cNvSpPr>
            <a:spLocks noGrp="1"/>
          </p:cNvSpPr>
          <p:nvPr/>
        </p:nvSpPr>
        <p:spPr>
          <a:xfrm>
            <a:off x="14829091" y="4478465"/>
            <a:ext cx="36147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C16</a:t>
            </a:r>
          </a:p>
        </p:txBody>
      </p:sp>
      <p:sp>
        <p:nvSpPr>
          <p:cNvPr id="171" name="svg-text-47">
            <a:extLst>
              <a:ext uri="{FF2B5EF4-FFF2-40B4-BE49-F238E27FC236}">
                <a16:creationId xmlns:a16="http://schemas.microsoft.com/office/drawing/2014/main" id="{8D96CBD9-7070-457D-AC85-0A1D482A0615}"/>
              </a:ext>
            </a:extLst>
          </p:cNvPr>
          <p:cNvSpPr>
            <a:spLocks noGrp="1"/>
          </p:cNvSpPr>
          <p:nvPr/>
        </p:nvSpPr>
        <p:spPr>
          <a:xfrm>
            <a:off x="16091154" y="4483894"/>
            <a:ext cx="39471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1785C1"/>
                </a:solidFill>
                <a:latin typeface="PingFang SC"/>
                <a:ea typeface="PingFang SC"/>
                <a:cs typeface="Arial"/>
              </a:rPr>
              <a:t>C32</a:t>
            </a:r>
          </a:p>
        </p:txBody>
      </p:sp>
      <p:sp>
        <p:nvSpPr>
          <p:cNvPr id="172" name="svg-text-48">
            <a:extLst>
              <a:ext uri="{FF2B5EF4-FFF2-40B4-BE49-F238E27FC236}">
                <a16:creationId xmlns:a16="http://schemas.microsoft.com/office/drawing/2014/main" id="{5CC65CCE-4E0C-432D-ACDF-2592C78BEC8E}"/>
              </a:ext>
            </a:extLst>
          </p:cNvPr>
          <p:cNvSpPr>
            <a:spLocks noGrp="1"/>
          </p:cNvSpPr>
          <p:nvPr/>
        </p:nvSpPr>
        <p:spPr>
          <a:xfrm>
            <a:off x="15899035" y="5349526"/>
            <a:ext cx="36147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C16</a:t>
            </a:r>
          </a:p>
        </p:txBody>
      </p:sp>
      <p:sp>
        <p:nvSpPr>
          <p:cNvPr id="173" name="text-49">
            <a:extLst>
              <a:ext uri="{FF2B5EF4-FFF2-40B4-BE49-F238E27FC236}">
                <a16:creationId xmlns:a16="http://schemas.microsoft.com/office/drawing/2014/main" id="{28F575A0-6FE0-46A1-AC1D-530D375260B1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74" name="text-50">
            <a:extLst>
              <a:ext uri="{FF2B5EF4-FFF2-40B4-BE49-F238E27FC236}">
                <a16:creationId xmlns:a16="http://schemas.microsoft.com/office/drawing/2014/main" id="{FA596480-88E3-4CA4-8E5D-1C160FFC802B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175" name="text-51">
            <a:extLst>
              <a:ext uri="{FF2B5EF4-FFF2-40B4-BE49-F238E27FC236}">
                <a16:creationId xmlns:a16="http://schemas.microsoft.com/office/drawing/2014/main" id="{09845582-16C0-4EE1-8483-D44C8EA41833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1453336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677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网络受限时，Prefill 达到链路换算上限的 90.6%</a:t>
            </a:r>
          </a:p>
        </p:txBody>
      </p:sp>
      <p:sp>
        <p:nvSpPr>
          <p:cNvPr id="176" name="text-52">
            <a:extLst>
              <a:ext uri="{FF2B5EF4-FFF2-40B4-BE49-F238E27FC236}">
                <a16:creationId xmlns:a16="http://schemas.microsoft.com/office/drawing/2014/main" id="{DF36DDFB-B37C-42C9-849D-88E9BB97001F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844791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20GbE 条件下实现 29K–30K Input TPS，接近链路可承载容量。</a:t>
            </a:r>
          </a:p>
        </p:txBody>
      </p:sp>
      <p:sp>
        <p:nvSpPr>
          <p:cNvPr id="177" name="text-53">
            <a:extLst>
              <a:ext uri="{FF2B5EF4-FFF2-40B4-BE49-F238E27FC236}">
                <a16:creationId xmlns:a16="http://schemas.microsoft.com/office/drawing/2014/main" id="{E121BA62-4FCE-4CC0-A0E9-4E18B6C161C6}"/>
              </a:ext>
            </a:extLst>
          </p:cNvPr>
          <p:cNvSpPr>
            <a:spLocks noGrp="1"/>
          </p:cNvSpPr>
          <p:nvPr/>
        </p:nvSpPr>
        <p:spPr>
          <a:xfrm>
            <a:off x="6182487" y="2771775"/>
            <a:ext cx="162315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纯高算力设备 C</a:t>
            </a:r>
          </a:p>
        </p:txBody>
      </p:sp>
      <p:sp>
        <p:nvSpPr>
          <p:cNvPr id="178" name="text-54">
            <a:extLst>
              <a:ext uri="{FF2B5EF4-FFF2-40B4-BE49-F238E27FC236}">
                <a16:creationId xmlns:a16="http://schemas.microsoft.com/office/drawing/2014/main" id="{72F63F6A-CB7C-462B-8984-8ECC1B3BAB66}"/>
              </a:ext>
            </a:extLst>
          </p:cNvPr>
          <p:cNvSpPr>
            <a:spLocks noGrp="1"/>
          </p:cNvSpPr>
          <p:nvPr/>
        </p:nvSpPr>
        <p:spPr>
          <a:xfrm>
            <a:off x="8472297" y="2771775"/>
            <a:ext cx="299923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高算力设备 C + 高带宽设备 B</a:t>
            </a:r>
          </a:p>
        </p:txBody>
      </p:sp>
      <p:sp>
        <p:nvSpPr>
          <p:cNvPr id="179" name="text-55">
            <a:extLst>
              <a:ext uri="{FF2B5EF4-FFF2-40B4-BE49-F238E27FC236}">
                <a16:creationId xmlns:a16="http://schemas.microsoft.com/office/drawing/2014/main" id="{2C44BB47-DD4E-4D76-B787-18E4578EADAD}"/>
              </a:ext>
            </a:extLst>
          </p:cNvPr>
          <p:cNvSpPr>
            <a:spLocks noGrp="1"/>
          </p:cNvSpPr>
          <p:nvPr/>
        </p:nvSpPr>
        <p:spPr>
          <a:xfrm>
            <a:off x="12138279" y="2771775"/>
            <a:ext cx="5216271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① 18.8Gb/s 实测 TCP goodput · 33,441 Input TPS</a:t>
            </a:r>
          </a:p>
        </p:txBody>
      </p:sp>
      <p:sp>
        <p:nvSpPr>
          <p:cNvPr id="180" name="text-56">
            <a:extLst>
              <a:ext uri="{FF2B5EF4-FFF2-40B4-BE49-F238E27FC236}">
                <a16:creationId xmlns:a16="http://schemas.microsoft.com/office/drawing/2014/main" id="{D9D7CD5D-739C-4C57-A3B5-E886343190D8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12665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2K Input</a:t>
            </a:r>
          </a:p>
        </p:txBody>
      </p:sp>
      <p:sp>
        <p:nvSpPr>
          <p:cNvPr id="181" name="text-57">
            <a:extLst>
              <a:ext uri="{FF2B5EF4-FFF2-40B4-BE49-F238E27FC236}">
                <a16:creationId xmlns:a16="http://schemas.microsoft.com/office/drawing/2014/main" id="{74E483C6-491C-4DA7-AEA1-9B588C02796E}"/>
              </a:ext>
            </a:extLst>
          </p:cNvPr>
          <p:cNvSpPr>
            <a:spLocks noGrp="1"/>
          </p:cNvSpPr>
          <p:nvPr/>
        </p:nvSpPr>
        <p:spPr>
          <a:xfrm>
            <a:off x="2300288" y="7229475"/>
            <a:ext cx="239058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30 s 内峰值 29,002</a:t>
            </a:r>
          </a:p>
        </p:txBody>
      </p:sp>
      <p:sp>
        <p:nvSpPr>
          <p:cNvPr id="182" name="text-58">
            <a:extLst>
              <a:ext uri="{FF2B5EF4-FFF2-40B4-BE49-F238E27FC236}">
                <a16:creationId xmlns:a16="http://schemas.microsoft.com/office/drawing/2014/main" id="{BBED2735-FA24-4F0B-9912-44C09ACBE3A4}"/>
              </a:ext>
            </a:extLst>
          </p:cNvPr>
          <p:cNvSpPr>
            <a:spLocks noGrp="1"/>
          </p:cNvSpPr>
          <p:nvPr/>
        </p:nvSpPr>
        <p:spPr>
          <a:xfrm>
            <a:off x="2374392" y="7667625"/>
            <a:ext cx="224256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C48 · P90 TTFT 5.3 s</a:t>
            </a:r>
          </a:p>
        </p:txBody>
      </p:sp>
      <p:sp>
        <p:nvSpPr>
          <p:cNvPr id="183" name="text-59">
            <a:extLst>
              <a:ext uri="{FF2B5EF4-FFF2-40B4-BE49-F238E27FC236}">
                <a16:creationId xmlns:a16="http://schemas.microsoft.com/office/drawing/2014/main" id="{D4388ECA-9A46-4108-9F8F-84D70052D76B}"/>
              </a:ext>
            </a:extLst>
          </p:cNvPr>
          <p:cNvSpPr>
            <a:spLocks noGrp="1"/>
          </p:cNvSpPr>
          <p:nvPr/>
        </p:nvSpPr>
        <p:spPr>
          <a:xfrm>
            <a:off x="6686550" y="3505200"/>
            <a:ext cx="12665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8K Input</a:t>
            </a:r>
          </a:p>
        </p:txBody>
      </p:sp>
      <p:sp>
        <p:nvSpPr>
          <p:cNvPr id="184" name="text-60">
            <a:extLst>
              <a:ext uri="{FF2B5EF4-FFF2-40B4-BE49-F238E27FC236}">
                <a16:creationId xmlns:a16="http://schemas.microsoft.com/office/drawing/2014/main" id="{E6C1CA0D-1199-4595-9229-4647736FEFFC}"/>
              </a:ext>
            </a:extLst>
          </p:cNvPr>
          <p:cNvSpPr>
            <a:spLocks noGrp="1"/>
          </p:cNvSpPr>
          <p:nvPr/>
        </p:nvSpPr>
        <p:spPr>
          <a:xfrm>
            <a:off x="7983284" y="7229475"/>
            <a:ext cx="237858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30 s 内峰值 29,720</a:t>
            </a:r>
          </a:p>
        </p:txBody>
      </p:sp>
      <p:sp>
        <p:nvSpPr>
          <p:cNvPr id="185" name="text-61">
            <a:extLst>
              <a:ext uri="{FF2B5EF4-FFF2-40B4-BE49-F238E27FC236}">
                <a16:creationId xmlns:a16="http://schemas.microsoft.com/office/drawing/2014/main" id="{B818378E-74A0-4073-A778-6A56F99369F5}"/>
              </a:ext>
            </a:extLst>
          </p:cNvPr>
          <p:cNvSpPr>
            <a:spLocks noGrp="1"/>
          </p:cNvSpPr>
          <p:nvPr/>
        </p:nvSpPr>
        <p:spPr>
          <a:xfrm>
            <a:off x="8009192" y="7667625"/>
            <a:ext cx="232667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C32 · P90 TTFT 16.6 s</a:t>
            </a:r>
          </a:p>
        </p:txBody>
      </p:sp>
      <p:sp>
        <p:nvSpPr>
          <p:cNvPr id="186" name="text-62">
            <a:extLst>
              <a:ext uri="{FF2B5EF4-FFF2-40B4-BE49-F238E27FC236}">
                <a16:creationId xmlns:a16="http://schemas.microsoft.com/office/drawing/2014/main" id="{C585DBC6-DACB-4746-9377-ED06FDE567DE}"/>
              </a:ext>
            </a:extLst>
          </p:cNvPr>
          <p:cNvSpPr>
            <a:spLocks noGrp="1"/>
          </p:cNvSpPr>
          <p:nvPr/>
        </p:nvSpPr>
        <p:spPr>
          <a:xfrm>
            <a:off x="12363450" y="3505200"/>
            <a:ext cx="144360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273144"/>
                </a:solidFill>
                <a:latin typeface="PingFang SC"/>
                <a:ea typeface="PingFang SC"/>
                <a:cs typeface="Arial"/>
              </a:rPr>
              <a:t>32K Input</a:t>
            </a:r>
          </a:p>
        </p:txBody>
      </p:sp>
      <p:sp>
        <p:nvSpPr>
          <p:cNvPr id="187" name="text-63">
            <a:extLst>
              <a:ext uri="{FF2B5EF4-FFF2-40B4-BE49-F238E27FC236}">
                <a16:creationId xmlns:a16="http://schemas.microsoft.com/office/drawing/2014/main" id="{E095C1EE-464E-4138-B665-D08DDEC4CCFE}"/>
              </a:ext>
            </a:extLst>
          </p:cNvPr>
          <p:cNvSpPr>
            <a:spLocks noGrp="1"/>
          </p:cNvSpPr>
          <p:nvPr/>
        </p:nvSpPr>
        <p:spPr>
          <a:xfrm>
            <a:off x="13678662" y="7229475"/>
            <a:ext cx="2341626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30 s 内峰值 30,313</a:t>
            </a:r>
          </a:p>
        </p:txBody>
      </p:sp>
      <p:sp>
        <p:nvSpPr>
          <p:cNvPr id="188" name="text-64">
            <a:extLst>
              <a:ext uri="{FF2B5EF4-FFF2-40B4-BE49-F238E27FC236}">
                <a16:creationId xmlns:a16="http://schemas.microsoft.com/office/drawing/2014/main" id="{B3862D32-7240-4DCF-82F8-79891962A881}"/>
              </a:ext>
            </a:extLst>
          </p:cNvPr>
          <p:cNvSpPr>
            <a:spLocks noGrp="1"/>
          </p:cNvSpPr>
          <p:nvPr/>
        </p:nvSpPr>
        <p:spPr>
          <a:xfrm>
            <a:off x="13691711" y="7667625"/>
            <a:ext cx="231543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C16 · P90 TTFT 25.7 s</a:t>
            </a:r>
          </a:p>
        </p:txBody>
      </p:sp>
      <p:sp>
        <p:nvSpPr>
          <p:cNvPr id="189" name="text-65">
            <a:extLst>
              <a:ext uri="{FF2B5EF4-FFF2-40B4-BE49-F238E27FC236}">
                <a16:creationId xmlns:a16="http://schemas.microsoft.com/office/drawing/2014/main" id="{439FA178-B920-45D9-A1EF-3DBA86EE833B}"/>
              </a:ext>
            </a:extLst>
          </p:cNvPr>
          <p:cNvSpPr>
            <a:spLocks noGrp="1"/>
          </p:cNvSpPr>
          <p:nvPr/>
        </p:nvSpPr>
        <p:spPr>
          <a:xfrm>
            <a:off x="1568672" y="8629650"/>
            <a:ext cx="65370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75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75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75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① P→D</a:t>
            </a:r>
          </a:p>
        </p:txBody>
      </p:sp>
      <p:sp>
        <p:nvSpPr>
          <p:cNvPr id="190" name="text-66">
            <a:extLst>
              <a:ext uri="{FF2B5EF4-FFF2-40B4-BE49-F238E27FC236}">
                <a16:creationId xmlns:a16="http://schemas.microsoft.com/office/drawing/2014/main" id="{210A98C2-8189-475B-9F74-74F801689144}"/>
              </a:ext>
            </a:extLst>
          </p:cNvPr>
          <p:cNvSpPr>
            <a:spLocks noGrp="1"/>
          </p:cNvSpPr>
          <p:nvPr/>
        </p:nvSpPr>
        <p:spPr>
          <a:xfrm>
            <a:off x="1114425" y="8886825"/>
            <a:ext cx="15621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网络上限计算</a:t>
            </a:r>
          </a:p>
        </p:txBody>
      </p:sp>
      <p:sp>
        <p:nvSpPr>
          <p:cNvPr id="191" name="text-67">
            <a:extLst>
              <a:ext uri="{FF2B5EF4-FFF2-40B4-BE49-F238E27FC236}">
                <a16:creationId xmlns:a16="http://schemas.microsoft.com/office/drawing/2014/main" id="{ECA2B4D1-8342-4688-BB1A-05645D888C88}"/>
              </a:ext>
            </a:extLst>
          </p:cNvPr>
          <p:cNvSpPr>
            <a:spLocks noGrp="1"/>
          </p:cNvSpPr>
          <p:nvPr/>
        </p:nvSpPr>
        <p:spPr>
          <a:xfrm>
            <a:off x="3257550" y="8501920"/>
            <a:ext cx="470192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KV 数据量：70,272 B/token × 8 = 562,176 bit/token</a:t>
            </a:r>
          </a:p>
        </p:txBody>
      </p:sp>
      <p:sp>
        <p:nvSpPr>
          <p:cNvPr id="192" name="text-68">
            <a:extLst>
              <a:ext uri="{FF2B5EF4-FFF2-40B4-BE49-F238E27FC236}">
                <a16:creationId xmlns:a16="http://schemas.microsoft.com/office/drawing/2014/main" id="{2B45E0EE-0B88-48F5-BB9C-0C330DB41864}"/>
              </a:ext>
            </a:extLst>
          </p:cNvPr>
          <p:cNvSpPr>
            <a:spLocks noGrp="1"/>
          </p:cNvSpPr>
          <p:nvPr/>
        </p:nvSpPr>
        <p:spPr>
          <a:xfrm>
            <a:off x="3257550" y="8778145"/>
            <a:ext cx="324754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链路实测：TCP goodput = 18.8Gb/s</a:t>
            </a:r>
          </a:p>
        </p:txBody>
      </p:sp>
      <p:sp>
        <p:nvSpPr>
          <p:cNvPr id="193" name="text-69">
            <a:extLst>
              <a:ext uri="{FF2B5EF4-FFF2-40B4-BE49-F238E27FC236}">
                <a16:creationId xmlns:a16="http://schemas.microsoft.com/office/drawing/2014/main" id="{8D9A3AAD-F868-4F37-9A30-61B98CE7E409}"/>
              </a:ext>
            </a:extLst>
          </p:cNvPr>
          <p:cNvSpPr>
            <a:spLocks noGrp="1"/>
          </p:cNvSpPr>
          <p:nvPr/>
        </p:nvSpPr>
        <p:spPr>
          <a:xfrm>
            <a:off x="3257550" y="9044845"/>
            <a:ext cx="53887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18.8Gb/s ÷ 562,176 bit/token = 33,441 Input TPS</a:t>
            </a:r>
          </a:p>
        </p:txBody>
      </p:sp>
      <p:sp>
        <p:nvSpPr>
          <p:cNvPr id="194" name="text-70">
            <a:extLst>
              <a:ext uri="{FF2B5EF4-FFF2-40B4-BE49-F238E27FC236}">
                <a16:creationId xmlns:a16="http://schemas.microsoft.com/office/drawing/2014/main" id="{33958F82-EEEE-4181-BE49-553AD16F28A1}"/>
              </a:ext>
            </a:extLst>
          </p:cNvPr>
          <p:cNvSpPr>
            <a:spLocks noGrp="1"/>
          </p:cNvSpPr>
          <p:nvPr/>
        </p:nvSpPr>
        <p:spPr>
          <a:xfrm>
            <a:off x="14633543" y="8586788"/>
            <a:ext cx="20129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59667A"/>
                </a:solidFill>
                <a:latin typeface="PingFang SC"/>
                <a:ea typeface="PingFang SC"/>
                <a:cs typeface="Arial"/>
              </a:rPr>
              <a:t>端到端峰值 / 链路上限</a:t>
            </a:r>
          </a:p>
        </p:txBody>
      </p:sp>
      <p:sp>
        <p:nvSpPr>
          <p:cNvPr id="195" name="text-71">
            <a:extLst>
              <a:ext uri="{FF2B5EF4-FFF2-40B4-BE49-F238E27FC236}">
                <a16:creationId xmlns:a16="http://schemas.microsoft.com/office/drawing/2014/main" id="{E221CB65-0790-46AD-8108-8A8913A56C0C}"/>
              </a:ext>
            </a:extLst>
          </p:cNvPr>
          <p:cNvSpPr>
            <a:spLocks noGrp="1"/>
          </p:cNvSpPr>
          <p:nvPr/>
        </p:nvSpPr>
        <p:spPr>
          <a:xfrm>
            <a:off x="14142815" y="8929688"/>
            <a:ext cx="2994279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30,313 ÷ 33,441 = 90.6%</a:t>
            </a:r>
          </a:p>
        </p:txBody>
      </p:sp>
      <p:sp>
        <p:nvSpPr>
          <p:cNvPr id="196" name="text-72">
            <a:extLst>
              <a:ext uri="{FF2B5EF4-FFF2-40B4-BE49-F238E27FC236}">
                <a16:creationId xmlns:a16="http://schemas.microsoft.com/office/drawing/2014/main" id="{9A43D7E5-5E6A-470B-A853-CEE62439836B}"/>
              </a:ext>
            </a:extLst>
          </p:cNvPr>
          <p:cNvSpPr>
            <a:spLocks noGrp="1"/>
          </p:cNvSpPr>
          <p:nvPr/>
        </p:nvSpPr>
        <p:spPr>
          <a:xfrm>
            <a:off x="771525" y="9820561"/>
            <a:ext cx="8264747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Kimi K2.6 低带宽 Prefill 曲线、MLA KV 数据量及 TCP 链路测速。图中仅展示 P90 TTFT ≤ 30 s 的点。</a:t>
            </a:r>
          </a:p>
        </p:txBody>
      </p:sp>
      <p:sp>
        <p:nvSpPr>
          <p:cNvPr id="197" name="text-73">
            <a:extLst>
              <a:ext uri="{FF2B5EF4-FFF2-40B4-BE49-F238E27FC236}">
                <a16:creationId xmlns:a16="http://schemas.microsoft.com/office/drawing/2014/main" id="{2F454DC7-E4D8-4B2D-89B0-6D6E905E8311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34 / 43</a:t>
            </a:r>
          </a:p>
        </p:txBody>
      </p:sp>
    </p:spTree>
    <p:extLst>
      <p:ext uri="{BB962C8B-B14F-4D97-AF65-F5344CB8AC3E}">
        <p14:creationId xmlns:p14="http://schemas.microsoft.com/office/powerpoint/2010/main" val="14296014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html-shape-5">
            <a:extLst>
              <a:ext uri="{FF2B5EF4-FFF2-40B4-BE49-F238E27FC236}">
                <a16:creationId xmlns:a16="http://schemas.microsoft.com/office/drawing/2014/main" id="{3C96B620-F2B0-4AA8-AE07-982AECBE4050}"/>
              </a:ext>
            </a:extLst>
          </p:cNvPr>
          <p:cNvSpPr>
            <a:spLocks noGrp="1"/>
          </p:cNvSpPr>
          <p:nvPr/>
        </p:nvSpPr>
        <p:spPr>
          <a:xfrm>
            <a:off x="1143000" y="6715125"/>
            <a:ext cx="16002000" cy="1504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" name="html-shape-10">
            <a:extLst>
              <a:ext uri="{FF2B5EF4-FFF2-40B4-BE49-F238E27FC236}">
                <a16:creationId xmlns:a16="http://schemas.microsoft.com/office/drawing/2014/main" id="{4DDB1972-F935-45B1-BBB5-44C23F1AB614}"/>
              </a:ext>
            </a:extLst>
          </p:cNvPr>
          <p:cNvSpPr>
            <a:spLocks noGrp="1"/>
          </p:cNvSpPr>
          <p:nvPr/>
        </p:nvSpPr>
        <p:spPr>
          <a:xfrm>
            <a:off x="3810000" y="6734175"/>
            <a:ext cx="4444937" cy="14668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html-shape-12">
            <a:extLst>
              <a:ext uri="{FF2B5EF4-FFF2-40B4-BE49-F238E27FC236}">
                <a16:creationId xmlns:a16="http://schemas.microsoft.com/office/drawing/2014/main" id="{A6014B87-5BDA-49A3-AE6F-B11425A04192}"/>
              </a:ext>
            </a:extLst>
          </p:cNvPr>
          <p:cNvSpPr>
            <a:spLocks noGrp="1"/>
          </p:cNvSpPr>
          <p:nvPr/>
        </p:nvSpPr>
        <p:spPr>
          <a:xfrm>
            <a:off x="8254937" y="6734175"/>
            <a:ext cx="4445032" cy="14668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html-line-1">
            <a:extLst>
              <a:ext uri="{FF2B5EF4-FFF2-40B4-BE49-F238E27FC236}">
                <a16:creationId xmlns:a16="http://schemas.microsoft.com/office/drawing/2014/main" id="{91EF3A89-3149-4805-8128-E12CC147E001}"/>
              </a:ext>
            </a:extLst>
          </p:cNvPr>
          <p:cNvSpPr>
            <a:spLocks noGrp="1"/>
          </p:cNvSpPr>
          <p:nvPr/>
        </p:nvSpPr>
        <p:spPr>
          <a:xfrm>
            <a:off x="1581150" y="3605213"/>
            <a:ext cx="15125700" cy="4763"/>
          </a:xfrm>
          <a:prstGeom prst="line">
            <a:avLst/>
          </a:prstGeom>
          <a:noFill/>
          <a:ln w="28575">
            <a:solidFill>
              <a:srgbClr val="CDD4DF"/>
            </a:solidFill>
            <a:prstDash val="solid"/>
          </a:ln>
        </p:spPr>
      </p:sp>
      <p:sp>
        <p:nvSpPr>
          <p:cNvPr id="5" name="html-shape-1">
            <a:extLst>
              <a:ext uri="{FF2B5EF4-FFF2-40B4-BE49-F238E27FC236}">
                <a16:creationId xmlns:a16="http://schemas.microsoft.com/office/drawing/2014/main" id="{63D63B99-3BFB-40AB-8624-959CFE8A135E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315FD5"/>
            </a:solidFill>
            <a:prstDash val="solid"/>
          </a:ln>
        </p:spPr>
      </p:sp>
      <p:sp>
        <p:nvSpPr>
          <p:cNvPr id="6" name="html-shape-2">
            <a:extLst>
              <a:ext uri="{FF2B5EF4-FFF2-40B4-BE49-F238E27FC236}">
                <a16:creationId xmlns:a16="http://schemas.microsoft.com/office/drawing/2014/main" id="{22138604-6875-4A1E-BEC1-8BA22B94B9BB}"/>
              </a:ext>
            </a:extLst>
          </p:cNvPr>
          <p:cNvSpPr>
            <a:spLocks noGrp="1"/>
          </p:cNvSpPr>
          <p:nvPr/>
        </p:nvSpPr>
        <p:spPr>
          <a:xfrm>
            <a:off x="5362575" y="31432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A9A62"/>
            </a:solidFill>
            <a:prstDash val="solid"/>
          </a:ln>
        </p:spPr>
      </p:sp>
      <p:sp>
        <p:nvSpPr>
          <p:cNvPr id="7" name="html-shape-3">
            <a:extLst>
              <a:ext uri="{FF2B5EF4-FFF2-40B4-BE49-F238E27FC236}">
                <a16:creationId xmlns:a16="http://schemas.microsoft.com/office/drawing/2014/main" id="{C0A2202B-378C-4AC2-BBA6-BF23BCEAD14D}"/>
              </a:ext>
            </a:extLst>
          </p:cNvPr>
          <p:cNvSpPr>
            <a:spLocks noGrp="1"/>
          </p:cNvSpPr>
          <p:nvPr/>
        </p:nvSpPr>
        <p:spPr>
          <a:xfrm>
            <a:off x="9486900" y="31432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8" name="html-shape-4">
            <a:extLst>
              <a:ext uri="{FF2B5EF4-FFF2-40B4-BE49-F238E27FC236}">
                <a16:creationId xmlns:a16="http://schemas.microsoft.com/office/drawing/2014/main" id="{8B4A661E-3033-4864-BD0D-D4F8F8DEB7A1}"/>
              </a:ext>
            </a:extLst>
          </p:cNvPr>
          <p:cNvSpPr>
            <a:spLocks noGrp="1"/>
          </p:cNvSpPr>
          <p:nvPr/>
        </p:nvSpPr>
        <p:spPr>
          <a:xfrm>
            <a:off x="13611225" y="31432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9" name="border-6">
            <a:extLst>
              <a:ext uri="{FF2B5EF4-FFF2-40B4-BE49-F238E27FC236}">
                <a16:creationId xmlns:a16="http://schemas.microsoft.com/office/drawing/2014/main" id="{BF3B2D4C-15C3-4182-8058-8C230B764F0D}"/>
              </a:ext>
            </a:extLst>
          </p:cNvPr>
          <p:cNvSpPr>
            <a:spLocks noGrp="1"/>
          </p:cNvSpPr>
          <p:nvPr/>
        </p:nvSpPr>
        <p:spPr>
          <a:xfrm>
            <a:off x="1143000" y="6715125"/>
            <a:ext cx="16002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0" name="border-7">
            <a:extLst>
              <a:ext uri="{FF2B5EF4-FFF2-40B4-BE49-F238E27FC236}">
                <a16:creationId xmlns:a16="http://schemas.microsoft.com/office/drawing/2014/main" id="{587C37B8-DA93-4FDD-B633-FF66851B3D9A}"/>
              </a:ext>
            </a:extLst>
          </p:cNvPr>
          <p:cNvSpPr>
            <a:spLocks noGrp="1"/>
          </p:cNvSpPr>
          <p:nvPr/>
        </p:nvSpPr>
        <p:spPr>
          <a:xfrm>
            <a:off x="1143000" y="8201025"/>
            <a:ext cx="16002000" cy="190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" name="html-shape-8">
            <a:extLst>
              <a:ext uri="{FF2B5EF4-FFF2-40B4-BE49-F238E27FC236}">
                <a16:creationId xmlns:a16="http://schemas.microsoft.com/office/drawing/2014/main" id="{38124448-76D9-47E1-B57A-8FAEA6BCB174}"/>
              </a:ext>
            </a:extLst>
          </p:cNvPr>
          <p:cNvSpPr>
            <a:spLocks noGrp="1"/>
          </p:cNvSpPr>
          <p:nvPr/>
        </p:nvSpPr>
        <p:spPr>
          <a:xfrm>
            <a:off x="1143000" y="6734175"/>
            <a:ext cx="2667000" cy="14668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" name="border-9">
            <a:extLst>
              <a:ext uri="{FF2B5EF4-FFF2-40B4-BE49-F238E27FC236}">
                <a16:creationId xmlns:a16="http://schemas.microsoft.com/office/drawing/2014/main" id="{B141CDDF-93E0-4B38-89AD-57F9729541EA}"/>
              </a:ext>
            </a:extLst>
          </p:cNvPr>
          <p:cNvSpPr>
            <a:spLocks noGrp="1"/>
          </p:cNvSpPr>
          <p:nvPr/>
        </p:nvSpPr>
        <p:spPr>
          <a:xfrm>
            <a:off x="3790950" y="6734175"/>
            <a:ext cx="19050" cy="14668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3" name="border-11">
            <a:extLst>
              <a:ext uri="{FF2B5EF4-FFF2-40B4-BE49-F238E27FC236}">
                <a16:creationId xmlns:a16="http://schemas.microsoft.com/office/drawing/2014/main" id="{EFF93A8B-7415-48EF-8375-2D679FF5EB7E}"/>
              </a:ext>
            </a:extLst>
          </p:cNvPr>
          <p:cNvSpPr>
            <a:spLocks noGrp="1"/>
          </p:cNvSpPr>
          <p:nvPr/>
        </p:nvSpPr>
        <p:spPr>
          <a:xfrm>
            <a:off x="8235887" y="6734175"/>
            <a:ext cx="19050" cy="14668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4" name="border-13">
            <a:extLst>
              <a:ext uri="{FF2B5EF4-FFF2-40B4-BE49-F238E27FC236}">
                <a16:creationId xmlns:a16="http://schemas.microsoft.com/office/drawing/2014/main" id="{B0CC87E0-1640-4BE4-B896-5EDA788569F6}"/>
              </a:ext>
            </a:extLst>
          </p:cNvPr>
          <p:cNvSpPr>
            <a:spLocks noGrp="1"/>
          </p:cNvSpPr>
          <p:nvPr/>
        </p:nvSpPr>
        <p:spPr>
          <a:xfrm>
            <a:off x="12680918" y="6734175"/>
            <a:ext cx="19050" cy="146685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1148803-019D-4C56-9AFB-52F811FE9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6247CF7-A2E3-4022-A399-7044DDD92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7" name="text-1">
            <a:extLst>
              <a:ext uri="{FF2B5EF4-FFF2-40B4-BE49-F238E27FC236}">
                <a16:creationId xmlns:a16="http://schemas.microsoft.com/office/drawing/2014/main" id="{82D792B1-668A-4C19-8CAB-CA841C41A04B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8" name="text-2">
            <a:extLst>
              <a:ext uri="{FF2B5EF4-FFF2-40B4-BE49-F238E27FC236}">
                <a16:creationId xmlns:a16="http://schemas.microsoft.com/office/drawing/2014/main" id="{C13B2EE8-BBEC-4226-B849-340EB1BC37A7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19" name="text-3">
            <a:extLst>
              <a:ext uri="{FF2B5EF4-FFF2-40B4-BE49-F238E27FC236}">
                <a16:creationId xmlns:a16="http://schemas.microsoft.com/office/drawing/2014/main" id="{D961135A-C955-4C15-84C5-5F953DC3D19B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1686318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99"/>
          </a:bodyPr>
          <a:lstStyle>
            <a:def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9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跨机房异构 PD 已完成同园区与跨园区验证</a:t>
            </a:r>
          </a:p>
        </p:txBody>
      </p:sp>
      <p:sp>
        <p:nvSpPr>
          <p:cNvPr id="20" name="text-4">
            <a:extLst>
              <a:ext uri="{FF2B5EF4-FFF2-40B4-BE49-F238E27FC236}">
                <a16:creationId xmlns:a16="http://schemas.microsoft.com/office/drawing/2014/main" id="{9325DAC9-4587-4D6A-BF60-7B632BDAA95F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0934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跨园区实验接近同构吞吐，同园区低带宽实验接近链路容量，两组均保持高质量输出。</a:t>
            </a:r>
          </a:p>
        </p:txBody>
      </p:sp>
      <p:sp>
        <p:nvSpPr>
          <p:cNvPr id="21" name="text-5">
            <a:extLst>
              <a:ext uri="{FF2B5EF4-FFF2-40B4-BE49-F238E27FC236}">
                <a16:creationId xmlns:a16="http://schemas.microsoft.com/office/drawing/2014/main" id="{9F9B0F7A-9B2C-4FA5-B9F5-AC6E632F7C97}"/>
              </a:ext>
            </a:extLst>
          </p:cNvPr>
          <p:cNvSpPr>
            <a:spLocks noGrp="1"/>
          </p:cNvSpPr>
          <p:nvPr/>
        </p:nvSpPr>
        <p:spPr>
          <a:xfrm>
            <a:off x="1489520" y="3357563"/>
            <a:ext cx="29746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22" name="text-6">
            <a:extLst>
              <a:ext uri="{FF2B5EF4-FFF2-40B4-BE49-F238E27FC236}">
                <a16:creationId xmlns:a16="http://schemas.microsoft.com/office/drawing/2014/main" id="{2F2D3F87-DAEF-4BCC-9B1C-507AF0DF21A8}"/>
              </a:ext>
            </a:extLst>
          </p:cNvPr>
          <p:cNvSpPr>
            <a:spLocks noGrp="1"/>
          </p:cNvSpPr>
          <p:nvPr/>
        </p:nvSpPr>
        <p:spPr>
          <a:xfrm>
            <a:off x="1228725" y="4095750"/>
            <a:ext cx="147999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LONG CONTEXT</a:t>
            </a:r>
          </a:p>
        </p:txBody>
      </p:sp>
      <p:sp>
        <p:nvSpPr>
          <p:cNvPr id="23" name="text-7">
            <a:extLst>
              <a:ext uri="{FF2B5EF4-FFF2-40B4-BE49-F238E27FC236}">
                <a16:creationId xmlns:a16="http://schemas.microsoft.com/office/drawing/2014/main" id="{6580543F-59DC-4FBF-A393-88A318B8ED8E}"/>
              </a:ext>
            </a:extLst>
          </p:cNvPr>
          <p:cNvSpPr>
            <a:spLocks noGrp="1"/>
          </p:cNvSpPr>
          <p:nvPr/>
        </p:nvSpPr>
        <p:spPr>
          <a:xfrm>
            <a:off x="1228725" y="4391025"/>
            <a:ext cx="180003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15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15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15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55K + 1K</a:t>
            </a:r>
          </a:p>
        </p:txBody>
      </p:sp>
      <p:sp>
        <p:nvSpPr>
          <p:cNvPr id="24" name="text-8">
            <a:extLst>
              <a:ext uri="{FF2B5EF4-FFF2-40B4-BE49-F238E27FC236}">
                <a16:creationId xmlns:a16="http://schemas.microsoft.com/office/drawing/2014/main" id="{C31DF88A-67E4-406E-8EC3-78871183A86D}"/>
              </a:ext>
            </a:extLst>
          </p:cNvPr>
          <p:cNvSpPr>
            <a:spLocks noGrp="1"/>
          </p:cNvSpPr>
          <p:nvPr/>
        </p:nvSpPr>
        <p:spPr>
          <a:xfrm>
            <a:off x="1228725" y="4953857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rPr>
              <a:t>长上下文验证成功</a:t>
            </a:r>
          </a:p>
        </p:txBody>
      </p:sp>
      <p:sp>
        <p:nvSpPr>
          <p:cNvPr id="25" name="text-9">
            <a:extLst>
              <a:ext uri="{FF2B5EF4-FFF2-40B4-BE49-F238E27FC236}">
                <a16:creationId xmlns:a16="http://schemas.microsoft.com/office/drawing/2014/main" id="{E53817B7-2CB7-4BFC-837A-A5F3EAA2620D}"/>
              </a:ext>
            </a:extLst>
          </p:cNvPr>
          <p:cNvSpPr>
            <a:spLocks noGrp="1"/>
          </p:cNvSpPr>
          <p:nvPr/>
        </p:nvSpPr>
        <p:spPr>
          <a:xfrm>
            <a:off x="1228725" y="5452491"/>
            <a:ext cx="201425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Input + Output tokens</a:t>
            </a:r>
          </a:p>
        </p:txBody>
      </p:sp>
      <p:sp>
        <p:nvSpPr>
          <p:cNvPr id="26" name="text-10">
            <a:extLst>
              <a:ext uri="{FF2B5EF4-FFF2-40B4-BE49-F238E27FC236}">
                <a16:creationId xmlns:a16="http://schemas.microsoft.com/office/drawing/2014/main" id="{596D6729-8928-493A-A97D-ACDD8C0D9E2E}"/>
              </a:ext>
            </a:extLst>
          </p:cNvPr>
          <p:cNvSpPr>
            <a:spLocks noGrp="1"/>
          </p:cNvSpPr>
          <p:nvPr/>
        </p:nvSpPr>
        <p:spPr>
          <a:xfrm>
            <a:off x="1228725" y="5719191"/>
            <a:ext cx="15052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10 / 10 请求成功</a:t>
            </a:r>
          </a:p>
        </p:txBody>
      </p:sp>
      <p:sp>
        <p:nvSpPr>
          <p:cNvPr id="27" name="text-11">
            <a:extLst>
              <a:ext uri="{FF2B5EF4-FFF2-40B4-BE49-F238E27FC236}">
                <a16:creationId xmlns:a16="http://schemas.microsoft.com/office/drawing/2014/main" id="{EA2228E6-72F1-4767-B89B-77C4D89F11B7}"/>
              </a:ext>
            </a:extLst>
          </p:cNvPr>
          <p:cNvSpPr>
            <a:spLocks noGrp="1"/>
          </p:cNvSpPr>
          <p:nvPr/>
        </p:nvSpPr>
        <p:spPr>
          <a:xfrm>
            <a:off x="5592985" y="3357563"/>
            <a:ext cx="339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28" name="text-12">
            <a:extLst>
              <a:ext uri="{FF2B5EF4-FFF2-40B4-BE49-F238E27FC236}">
                <a16:creationId xmlns:a16="http://schemas.microsoft.com/office/drawing/2014/main" id="{205F0649-80C5-4F7B-8100-C5ED51739075}"/>
              </a:ext>
            </a:extLst>
          </p:cNvPr>
          <p:cNvSpPr>
            <a:spLocks noGrp="1"/>
          </p:cNvSpPr>
          <p:nvPr/>
        </p:nvSpPr>
        <p:spPr>
          <a:xfrm>
            <a:off x="5353050" y="4095750"/>
            <a:ext cx="81857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75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75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75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DECODE</a:t>
            </a:r>
          </a:p>
        </p:txBody>
      </p:sp>
      <p:sp>
        <p:nvSpPr>
          <p:cNvPr id="29" name="text-13">
            <a:extLst>
              <a:ext uri="{FF2B5EF4-FFF2-40B4-BE49-F238E27FC236}">
                <a16:creationId xmlns:a16="http://schemas.microsoft.com/office/drawing/2014/main" id="{553CAEEB-6190-494B-876C-376321C9CF87}"/>
              </a:ext>
            </a:extLst>
          </p:cNvPr>
          <p:cNvSpPr>
            <a:spLocks noGrp="1"/>
          </p:cNvSpPr>
          <p:nvPr/>
        </p:nvSpPr>
        <p:spPr>
          <a:xfrm>
            <a:off x="5353050" y="4391025"/>
            <a:ext cx="2066163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1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1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1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54.6–65.5</a:t>
            </a:r>
          </a:p>
        </p:txBody>
      </p:sp>
      <p:sp>
        <p:nvSpPr>
          <p:cNvPr id="30" name="text-14">
            <a:extLst>
              <a:ext uri="{FF2B5EF4-FFF2-40B4-BE49-F238E27FC236}">
                <a16:creationId xmlns:a16="http://schemas.microsoft.com/office/drawing/2014/main" id="{1654FF7E-C33A-4363-BE50-C1D9CEDAB5A6}"/>
              </a:ext>
            </a:extLst>
          </p:cNvPr>
          <p:cNvSpPr>
            <a:spLocks noGrp="1"/>
          </p:cNvSpPr>
          <p:nvPr/>
        </p:nvSpPr>
        <p:spPr>
          <a:xfrm>
            <a:off x="5353050" y="4953857"/>
            <a:ext cx="2009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rPr>
              <a:t>高质量输出成立</a:t>
            </a:r>
          </a:p>
        </p:txBody>
      </p:sp>
      <p:sp>
        <p:nvSpPr>
          <p:cNvPr id="31" name="text-15">
            <a:extLst>
              <a:ext uri="{FF2B5EF4-FFF2-40B4-BE49-F238E27FC236}">
                <a16:creationId xmlns:a16="http://schemas.microsoft.com/office/drawing/2014/main" id="{F4A0925F-96B7-4CB5-991F-9FED8A5E3765}"/>
              </a:ext>
            </a:extLst>
          </p:cNvPr>
          <p:cNvSpPr>
            <a:spLocks noGrp="1"/>
          </p:cNvSpPr>
          <p:nvPr/>
        </p:nvSpPr>
        <p:spPr>
          <a:xfrm>
            <a:off x="5353050" y="5452491"/>
            <a:ext cx="3314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三种输入长度的单请求输出速度均超过</a:t>
            </a:r>
          </a:p>
        </p:txBody>
      </p:sp>
      <p:sp>
        <p:nvSpPr>
          <p:cNvPr id="32" name="text-16">
            <a:extLst>
              <a:ext uri="{FF2B5EF4-FFF2-40B4-BE49-F238E27FC236}">
                <a16:creationId xmlns:a16="http://schemas.microsoft.com/office/drawing/2014/main" id="{8CCE55B9-0D78-43D6-8F3B-564DC2564A7D}"/>
              </a:ext>
            </a:extLst>
          </p:cNvPr>
          <p:cNvSpPr>
            <a:spLocks noGrp="1"/>
          </p:cNvSpPr>
          <p:nvPr/>
        </p:nvSpPr>
        <p:spPr>
          <a:xfrm>
            <a:off x="5353050" y="5719191"/>
            <a:ext cx="315810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Agent 速度门槛（40 token/s/req）</a:t>
            </a:r>
          </a:p>
        </p:txBody>
      </p:sp>
      <p:sp>
        <p:nvSpPr>
          <p:cNvPr id="33" name="text-17">
            <a:extLst>
              <a:ext uri="{FF2B5EF4-FFF2-40B4-BE49-F238E27FC236}">
                <a16:creationId xmlns:a16="http://schemas.microsoft.com/office/drawing/2014/main" id="{E14B5970-741C-4050-B062-C3F2AE714DD5}"/>
              </a:ext>
            </a:extLst>
          </p:cNvPr>
          <p:cNvSpPr>
            <a:spLocks noGrp="1"/>
          </p:cNvSpPr>
          <p:nvPr/>
        </p:nvSpPr>
        <p:spPr>
          <a:xfrm>
            <a:off x="9717310" y="3357563"/>
            <a:ext cx="339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03</a:t>
            </a:r>
          </a:p>
        </p:txBody>
      </p:sp>
      <p:sp>
        <p:nvSpPr>
          <p:cNvPr id="34" name="text-18">
            <a:extLst>
              <a:ext uri="{FF2B5EF4-FFF2-40B4-BE49-F238E27FC236}">
                <a16:creationId xmlns:a16="http://schemas.microsoft.com/office/drawing/2014/main" id="{4860487B-36D2-4375-9F3F-401CE081D6AA}"/>
              </a:ext>
            </a:extLst>
          </p:cNvPr>
          <p:cNvSpPr>
            <a:spLocks noGrp="1"/>
          </p:cNvSpPr>
          <p:nvPr/>
        </p:nvSpPr>
        <p:spPr>
          <a:xfrm>
            <a:off x="9477375" y="4095750"/>
            <a:ext cx="149380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跨园区 · 充分带宽</a:t>
            </a:r>
          </a:p>
        </p:txBody>
      </p:sp>
      <p:sp>
        <p:nvSpPr>
          <p:cNvPr id="35" name="text-19">
            <a:extLst>
              <a:ext uri="{FF2B5EF4-FFF2-40B4-BE49-F238E27FC236}">
                <a16:creationId xmlns:a16="http://schemas.microsoft.com/office/drawing/2014/main" id="{FCB4633D-27BC-4BEA-A0F9-BF8D22611906}"/>
              </a:ext>
            </a:extLst>
          </p:cNvPr>
          <p:cNvSpPr>
            <a:spLocks noGrp="1"/>
          </p:cNvSpPr>
          <p:nvPr/>
        </p:nvSpPr>
        <p:spPr>
          <a:xfrm>
            <a:off x="9477375" y="4391025"/>
            <a:ext cx="137522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1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1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1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约 50K</a:t>
            </a:r>
          </a:p>
        </p:txBody>
      </p:sp>
      <p:sp>
        <p:nvSpPr>
          <p:cNvPr id="36" name="text-20">
            <a:extLst>
              <a:ext uri="{FF2B5EF4-FFF2-40B4-BE49-F238E27FC236}">
                <a16:creationId xmlns:a16="http://schemas.microsoft.com/office/drawing/2014/main" id="{35B9391B-AA7E-4A04-8476-8B1AB79C0195}"/>
              </a:ext>
            </a:extLst>
          </p:cNvPr>
          <p:cNvSpPr>
            <a:spLocks noGrp="1"/>
          </p:cNvSpPr>
          <p:nvPr/>
        </p:nvSpPr>
        <p:spPr>
          <a:xfrm>
            <a:off x="9477375" y="4953857"/>
            <a:ext cx="2578322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rPr>
              <a:t>Prefill 吞吐接近同构</a:t>
            </a:r>
          </a:p>
        </p:txBody>
      </p:sp>
      <p:sp>
        <p:nvSpPr>
          <p:cNvPr id="37" name="text-21">
            <a:extLst>
              <a:ext uri="{FF2B5EF4-FFF2-40B4-BE49-F238E27FC236}">
                <a16:creationId xmlns:a16="http://schemas.microsoft.com/office/drawing/2014/main" id="{65860690-85C6-404D-AF49-7F9ACC07C668}"/>
              </a:ext>
            </a:extLst>
          </p:cNvPr>
          <p:cNvSpPr>
            <a:spLocks noGrp="1"/>
          </p:cNvSpPr>
          <p:nvPr/>
        </p:nvSpPr>
        <p:spPr>
          <a:xfrm>
            <a:off x="9477375" y="5452491"/>
            <a:ext cx="215931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2K / 8K 峰值 Input TPS</a:t>
            </a:r>
          </a:p>
        </p:txBody>
      </p:sp>
      <p:sp>
        <p:nvSpPr>
          <p:cNvPr id="38" name="text-22">
            <a:extLst>
              <a:ext uri="{FF2B5EF4-FFF2-40B4-BE49-F238E27FC236}">
                <a16:creationId xmlns:a16="http://schemas.microsoft.com/office/drawing/2014/main" id="{3BA2DE6B-F6D9-498A-8DD4-7AB06EE69E4D}"/>
              </a:ext>
            </a:extLst>
          </p:cNvPr>
          <p:cNvSpPr>
            <a:spLocks noGrp="1"/>
          </p:cNvSpPr>
          <p:nvPr/>
        </p:nvSpPr>
        <p:spPr>
          <a:xfrm>
            <a:off x="9477375" y="5719191"/>
            <a:ext cx="2437257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100GbE · 跨机房 TCP 网络</a:t>
            </a:r>
          </a:p>
        </p:txBody>
      </p:sp>
      <p:sp>
        <p:nvSpPr>
          <p:cNvPr id="39" name="text-23">
            <a:extLst>
              <a:ext uri="{FF2B5EF4-FFF2-40B4-BE49-F238E27FC236}">
                <a16:creationId xmlns:a16="http://schemas.microsoft.com/office/drawing/2014/main" id="{DA4FDC90-D959-45BF-B214-CF1588CCBADB}"/>
              </a:ext>
            </a:extLst>
          </p:cNvPr>
          <p:cNvSpPr>
            <a:spLocks noGrp="1"/>
          </p:cNvSpPr>
          <p:nvPr/>
        </p:nvSpPr>
        <p:spPr>
          <a:xfrm>
            <a:off x="13841635" y="3357563"/>
            <a:ext cx="33918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04</a:t>
            </a:r>
          </a:p>
        </p:txBody>
      </p:sp>
      <p:sp>
        <p:nvSpPr>
          <p:cNvPr id="40" name="text-24">
            <a:extLst>
              <a:ext uri="{FF2B5EF4-FFF2-40B4-BE49-F238E27FC236}">
                <a16:creationId xmlns:a16="http://schemas.microsoft.com/office/drawing/2014/main" id="{E647C413-4AEA-4E0B-94BA-0774E3D60131}"/>
              </a:ext>
            </a:extLst>
          </p:cNvPr>
          <p:cNvSpPr>
            <a:spLocks noGrp="1"/>
          </p:cNvSpPr>
          <p:nvPr/>
        </p:nvSpPr>
        <p:spPr>
          <a:xfrm>
            <a:off x="13601700" y="4095750"/>
            <a:ext cx="149380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同园区 · 带宽受限</a:t>
            </a:r>
          </a:p>
        </p:txBody>
      </p:sp>
      <p:sp>
        <p:nvSpPr>
          <p:cNvPr id="41" name="text-25">
            <a:extLst>
              <a:ext uri="{FF2B5EF4-FFF2-40B4-BE49-F238E27FC236}">
                <a16:creationId xmlns:a16="http://schemas.microsoft.com/office/drawing/2014/main" id="{41EA53E1-60C6-4506-BED8-9CA57AC2E907}"/>
              </a:ext>
            </a:extLst>
          </p:cNvPr>
          <p:cNvSpPr>
            <a:spLocks noGrp="1"/>
          </p:cNvSpPr>
          <p:nvPr/>
        </p:nvSpPr>
        <p:spPr>
          <a:xfrm>
            <a:off x="13601700" y="4391025"/>
            <a:ext cx="130473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31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1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1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90.6%</a:t>
            </a:r>
          </a:p>
        </p:txBody>
      </p:sp>
      <p:sp>
        <p:nvSpPr>
          <p:cNvPr id="42" name="text-26">
            <a:extLst>
              <a:ext uri="{FF2B5EF4-FFF2-40B4-BE49-F238E27FC236}">
                <a16:creationId xmlns:a16="http://schemas.microsoft.com/office/drawing/2014/main" id="{0E93EA7D-051D-4263-8CF5-36E6F6D77DF3}"/>
              </a:ext>
            </a:extLst>
          </p:cNvPr>
          <p:cNvSpPr>
            <a:spLocks noGrp="1"/>
          </p:cNvSpPr>
          <p:nvPr/>
        </p:nvSpPr>
        <p:spPr>
          <a:xfrm>
            <a:off x="13601700" y="4953857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73143"/>
                </a:solidFill>
                <a:latin typeface="PingFang SC"/>
                <a:ea typeface="PingFang SC"/>
                <a:cs typeface="Arial"/>
              </a:rPr>
              <a:t>接近链路容量上限</a:t>
            </a:r>
          </a:p>
        </p:txBody>
      </p:sp>
      <p:sp>
        <p:nvSpPr>
          <p:cNvPr id="43" name="text-27">
            <a:extLst>
              <a:ext uri="{FF2B5EF4-FFF2-40B4-BE49-F238E27FC236}">
                <a16:creationId xmlns:a16="http://schemas.microsoft.com/office/drawing/2014/main" id="{C861E22C-8022-4109-B8F4-AE96F8E98306}"/>
              </a:ext>
            </a:extLst>
          </p:cNvPr>
          <p:cNvSpPr>
            <a:spLocks noGrp="1"/>
          </p:cNvSpPr>
          <p:nvPr/>
        </p:nvSpPr>
        <p:spPr>
          <a:xfrm>
            <a:off x="13601700" y="5452491"/>
            <a:ext cx="1585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30,313 Input TPS</a:t>
            </a:r>
          </a:p>
        </p:txBody>
      </p:sp>
      <p:sp>
        <p:nvSpPr>
          <p:cNvPr id="44" name="text-28">
            <a:extLst>
              <a:ext uri="{FF2B5EF4-FFF2-40B4-BE49-F238E27FC236}">
                <a16:creationId xmlns:a16="http://schemas.microsoft.com/office/drawing/2014/main" id="{0ABF1941-AF72-4585-8F72-6A9260F64F39}"/>
              </a:ext>
            </a:extLst>
          </p:cNvPr>
          <p:cNvSpPr>
            <a:spLocks noGrp="1"/>
          </p:cNvSpPr>
          <p:nvPr/>
        </p:nvSpPr>
        <p:spPr>
          <a:xfrm>
            <a:off x="13601700" y="5719191"/>
            <a:ext cx="250012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20GbE · 18.8Gb/s goodput</a:t>
            </a:r>
          </a:p>
        </p:txBody>
      </p:sp>
      <p:sp>
        <p:nvSpPr>
          <p:cNvPr id="45" name="text-29">
            <a:extLst>
              <a:ext uri="{FF2B5EF4-FFF2-40B4-BE49-F238E27FC236}">
                <a16:creationId xmlns:a16="http://schemas.microsoft.com/office/drawing/2014/main" id="{690EEC26-4DBD-4E44-9EC0-29E7F9D7557D}"/>
              </a:ext>
            </a:extLst>
          </p:cNvPr>
          <p:cNvSpPr>
            <a:spLocks noGrp="1"/>
          </p:cNvSpPr>
          <p:nvPr/>
        </p:nvSpPr>
        <p:spPr>
          <a:xfrm>
            <a:off x="1133475" y="7124700"/>
            <a:ext cx="179908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CORE CHALLENGES</a:t>
            </a:r>
          </a:p>
        </p:txBody>
      </p:sp>
      <p:sp>
        <p:nvSpPr>
          <p:cNvPr id="46" name="text-30">
            <a:extLst>
              <a:ext uri="{FF2B5EF4-FFF2-40B4-BE49-F238E27FC236}">
                <a16:creationId xmlns:a16="http://schemas.microsoft.com/office/drawing/2014/main" id="{25521E2E-849C-4A7D-9019-F0650E7C4440}"/>
              </a:ext>
            </a:extLst>
          </p:cNvPr>
          <p:cNvSpPr>
            <a:spLocks noGrp="1"/>
          </p:cNvSpPr>
          <p:nvPr/>
        </p:nvSpPr>
        <p:spPr>
          <a:xfrm>
            <a:off x="1133475" y="7410450"/>
            <a:ext cx="1676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核心技术挑战</a:t>
            </a:r>
          </a:p>
        </p:txBody>
      </p:sp>
      <p:sp>
        <p:nvSpPr>
          <p:cNvPr id="47" name="text-31">
            <a:extLst>
              <a:ext uri="{FF2B5EF4-FFF2-40B4-BE49-F238E27FC236}">
                <a16:creationId xmlns:a16="http://schemas.microsoft.com/office/drawing/2014/main" id="{59C93DE6-5D2F-48B3-A84E-A99597914EC3}"/>
              </a:ext>
            </a:extLst>
          </p:cNvPr>
          <p:cNvSpPr>
            <a:spLocks noGrp="1"/>
          </p:cNvSpPr>
          <p:nvPr/>
        </p:nvSpPr>
        <p:spPr>
          <a:xfrm>
            <a:off x="4067175" y="6999256"/>
            <a:ext cx="7543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设备异构</a:t>
            </a:r>
          </a:p>
        </p:txBody>
      </p:sp>
      <p:sp>
        <p:nvSpPr>
          <p:cNvPr id="48" name="text-32">
            <a:extLst>
              <a:ext uri="{FF2B5EF4-FFF2-40B4-BE49-F238E27FC236}">
                <a16:creationId xmlns:a16="http://schemas.microsoft.com/office/drawing/2014/main" id="{EB435FF0-DE61-4DDA-B4A9-6600AD5839F5}"/>
              </a:ext>
            </a:extLst>
          </p:cNvPr>
          <p:cNvSpPr>
            <a:spLocks noGrp="1"/>
          </p:cNvSpPr>
          <p:nvPr/>
        </p:nvSpPr>
        <p:spPr>
          <a:xfrm>
            <a:off x="4067175" y="7285006"/>
            <a:ext cx="264080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2C36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2C36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2C3648"/>
                </a:solidFill>
                <a:latin typeface="PingFang SC"/>
                <a:ea typeface="PingFang SC"/>
                <a:cs typeface="Arial"/>
              </a:rPr>
              <a:t>KV 布局与设备内存不兼容</a:t>
            </a:r>
          </a:p>
        </p:txBody>
      </p:sp>
      <p:sp>
        <p:nvSpPr>
          <p:cNvPr id="49" name="text-33">
            <a:extLst>
              <a:ext uri="{FF2B5EF4-FFF2-40B4-BE49-F238E27FC236}">
                <a16:creationId xmlns:a16="http://schemas.microsoft.com/office/drawing/2014/main" id="{5797589A-6295-4434-8D33-119AF6FDEB69}"/>
              </a:ext>
            </a:extLst>
          </p:cNvPr>
          <p:cNvSpPr>
            <a:spLocks noGrp="1"/>
          </p:cNvSpPr>
          <p:nvPr/>
        </p:nvSpPr>
        <p:spPr>
          <a:xfrm>
            <a:off x="4067175" y="7652576"/>
            <a:ext cx="243782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Host Mirror + MLA 布局转换</a:t>
            </a:r>
          </a:p>
        </p:txBody>
      </p:sp>
      <p:sp>
        <p:nvSpPr>
          <p:cNvPr id="50" name="text-34">
            <a:extLst>
              <a:ext uri="{FF2B5EF4-FFF2-40B4-BE49-F238E27FC236}">
                <a16:creationId xmlns:a16="http://schemas.microsoft.com/office/drawing/2014/main" id="{5E6BCDB4-5A3F-4532-AAF7-9DB95D15EFE1}"/>
              </a:ext>
            </a:extLst>
          </p:cNvPr>
          <p:cNvSpPr>
            <a:spLocks noGrp="1"/>
          </p:cNvSpPr>
          <p:nvPr/>
        </p:nvSpPr>
        <p:spPr>
          <a:xfrm>
            <a:off x="8512112" y="6999256"/>
            <a:ext cx="7543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普通网络</a:t>
            </a:r>
          </a:p>
        </p:txBody>
      </p:sp>
      <p:sp>
        <p:nvSpPr>
          <p:cNvPr id="51" name="text-35">
            <a:extLst>
              <a:ext uri="{FF2B5EF4-FFF2-40B4-BE49-F238E27FC236}">
                <a16:creationId xmlns:a16="http://schemas.microsoft.com/office/drawing/2014/main" id="{DE16D99C-4726-4248-BFD2-56607A906DC7}"/>
              </a:ext>
            </a:extLst>
          </p:cNvPr>
          <p:cNvSpPr>
            <a:spLocks noGrp="1"/>
          </p:cNvSpPr>
          <p:nvPr/>
        </p:nvSpPr>
        <p:spPr>
          <a:xfrm>
            <a:off x="8512112" y="7285006"/>
            <a:ext cx="2850833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2C36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2C36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2C3648"/>
                </a:solidFill>
                <a:latin typeface="PingFang SC"/>
                <a:ea typeface="PingFang SC"/>
                <a:cs typeface="Arial"/>
              </a:rPr>
              <a:t>机房间缺少共享 RDMA 通路</a:t>
            </a:r>
          </a:p>
        </p:txBody>
      </p:sp>
      <p:sp>
        <p:nvSpPr>
          <p:cNvPr id="52" name="text-36">
            <a:extLst>
              <a:ext uri="{FF2B5EF4-FFF2-40B4-BE49-F238E27FC236}">
                <a16:creationId xmlns:a16="http://schemas.microsoft.com/office/drawing/2014/main" id="{FC3F3066-C41B-413D-8282-BBF4608C47D2}"/>
              </a:ext>
            </a:extLst>
          </p:cNvPr>
          <p:cNvSpPr>
            <a:spLocks noGrp="1"/>
          </p:cNvSpPr>
          <p:nvPr/>
        </p:nvSpPr>
        <p:spPr>
          <a:xfrm>
            <a:off x="8512112" y="7652576"/>
            <a:ext cx="26185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Mooncake TE TCP 跨机房传输</a:t>
            </a:r>
          </a:p>
        </p:txBody>
      </p:sp>
      <p:sp>
        <p:nvSpPr>
          <p:cNvPr id="53" name="text-37">
            <a:extLst>
              <a:ext uri="{FF2B5EF4-FFF2-40B4-BE49-F238E27FC236}">
                <a16:creationId xmlns:a16="http://schemas.microsoft.com/office/drawing/2014/main" id="{84DAD2DA-1038-4E5B-A4E6-000136602A19}"/>
              </a:ext>
            </a:extLst>
          </p:cNvPr>
          <p:cNvSpPr>
            <a:spLocks noGrp="1"/>
          </p:cNvSpPr>
          <p:nvPr/>
        </p:nvSpPr>
        <p:spPr>
          <a:xfrm>
            <a:off x="12957143" y="6999256"/>
            <a:ext cx="7543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异步流水</a:t>
            </a:r>
          </a:p>
        </p:txBody>
      </p:sp>
      <p:sp>
        <p:nvSpPr>
          <p:cNvPr id="54" name="text-38">
            <a:extLst>
              <a:ext uri="{FF2B5EF4-FFF2-40B4-BE49-F238E27FC236}">
                <a16:creationId xmlns:a16="http://schemas.microsoft.com/office/drawing/2014/main" id="{3E964D17-94CF-455A-A745-11CDA17110DA}"/>
              </a:ext>
            </a:extLst>
          </p:cNvPr>
          <p:cNvSpPr>
            <a:spLocks noGrp="1"/>
          </p:cNvSpPr>
          <p:nvPr/>
        </p:nvSpPr>
        <p:spPr>
          <a:xfrm>
            <a:off x="12957143" y="7285006"/>
            <a:ext cx="264080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725" b="1" i="0" noProof="1">
                <a:solidFill>
                  <a:srgbClr val="2C36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725" b="1" i="0" noProof="1">
                <a:solidFill>
                  <a:srgbClr val="2C36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725" b="1" i="0" noProof="1">
                <a:solidFill>
                  <a:srgbClr val="2C3648"/>
                </a:solidFill>
                <a:latin typeface="PingFang SC"/>
                <a:ea typeface="PingFang SC"/>
                <a:cs typeface="Arial"/>
              </a:rPr>
              <a:t>KV 交付需与推理流水衔接</a:t>
            </a:r>
          </a:p>
        </p:txBody>
      </p:sp>
      <p:sp>
        <p:nvSpPr>
          <p:cNvPr id="55" name="text-39">
            <a:extLst>
              <a:ext uri="{FF2B5EF4-FFF2-40B4-BE49-F238E27FC236}">
                <a16:creationId xmlns:a16="http://schemas.microsoft.com/office/drawing/2014/main" id="{6480D31B-8020-4AA6-A7ED-87F9872225C4}"/>
              </a:ext>
            </a:extLst>
          </p:cNvPr>
          <p:cNvSpPr>
            <a:spLocks noGrp="1"/>
          </p:cNvSpPr>
          <p:nvPr/>
        </p:nvSpPr>
        <p:spPr>
          <a:xfrm>
            <a:off x="12957143" y="7652576"/>
            <a:ext cx="259689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Readiness event 对齐计算完成</a:t>
            </a:r>
          </a:p>
        </p:txBody>
      </p:sp>
      <p:sp>
        <p:nvSpPr>
          <p:cNvPr id="56" name="text-40">
            <a:extLst>
              <a:ext uri="{FF2B5EF4-FFF2-40B4-BE49-F238E27FC236}">
                <a16:creationId xmlns:a16="http://schemas.microsoft.com/office/drawing/2014/main" id="{AC208D11-68E4-4324-A821-1D8062E46AA3}"/>
              </a:ext>
            </a:extLst>
          </p:cNvPr>
          <p:cNvSpPr>
            <a:spLocks noGrp="1"/>
          </p:cNvSpPr>
          <p:nvPr/>
        </p:nvSpPr>
        <p:spPr>
          <a:xfrm>
            <a:off x="3573209" y="8829675"/>
            <a:ext cx="1119854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同园区与跨园区实验验证：Prefill 与 Decode 不必共址，仍能提供高质量 Token 服务。</a:t>
            </a:r>
          </a:p>
        </p:txBody>
      </p:sp>
      <p:sp>
        <p:nvSpPr>
          <p:cNvPr id="57" name="text-41">
            <a:extLst>
              <a:ext uri="{FF2B5EF4-FFF2-40B4-BE49-F238E27FC236}">
                <a16:creationId xmlns:a16="http://schemas.microsoft.com/office/drawing/2014/main" id="{62DA5AFB-5473-48C5-9FD7-B97EE50B2699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7718108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Kimi K2.6 3P1D 性能与长上下文验证。32K 高并发部分点存在窗口波动，不代表全部高压验证通过。</a:t>
            </a:r>
          </a:p>
        </p:txBody>
      </p:sp>
      <p:sp>
        <p:nvSpPr>
          <p:cNvPr id="58" name="text-42">
            <a:extLst>
              <a:ext uri="{FF2B5EF4-FFF2-40B4-BE49-F238E27FC236}">
                <a16:creationId xmlns:a16="http://schemas.microsoft.com/office/drawing/2014/main" id="{F89EEC8A-FC4C-45EB-BE1C-4441E6D8483A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35 / 43</a:t>
            </a:r>
          </a:p>
        </p:txBody>
      </p:sp>
    </p:spTree>
    <p:extLst>
      <p:ext uri="{BB962C8B-B14F-4D97-AF65-F5344CB8AC3E}">
        <p14:creationId xmlns:p14="http://schemas.microsoft.com/office/powerpoint/2010/main" val="8347362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tml-shape-1">
            <a:extLst>
              <a:ext uri="{FF2B5EF4-FFF2-40B4-BE49-F238E27FC236}">
                <a16:creationId xmlns:a16="http://schemas.microsoft.com/office/drawing/2014/main" id="{F1757E3A-F6C2-431A-8765-CE37DBF56CED}"/>
              </a:ext>
            </a:extLst>
          </p:cNvPr>
          <p:cNvSpPr>
            <a:spLocks noGrp="1"/>
          </p:cNvSpPr>
          <p:nvPr/>
        </p:nvSpPr>
        <p:spPr>
          <a:xfrm>
            <a:off x="1000125" y="2933700"/>
            <a:ext cx="11577447" cy="5600700"/>
          </a:xfrm>
          <a:prstGeom prst="rect">
            <a:avLst/>
          </a:prstGeom>
          <a:solidFill>
            <a:srgbClr val="F7F6FB"/>
          </a:solidFill>
          <a:ln w="0">
            <a:noFill/>
            <a:prstDash val="solid"/>
          </a:ln>
        </p:spPr>
      </p:sp>
      <p:sp>
        <p:nvSpPr>
          <p:cNvPr id="2" name="html-shape-3">
            <a:extLst>
              <a:ext uri="{FF2B5EF4-FFF2-40B4-BE49-F238E27FC236}">
                <a16:creationId xmlns:a16="http://schemas.microsoft.com/office/drawing/2014/main" id="{5378ADDB-8AC5-423E-8E3E-12D44ACECC4D}"/>
              </a:ext>
            </a:extLst>
          </p:cNvPr>
          <p:cNvSpPr>
            <a:spLocks noGrp="1"/>
          </p:cNvSpPr>
          <p:nvPr/>
        </p:nvSpPr>
        <p:spPr>
          <a:xfrm>
            <a:off x="1533525" y="6091238"/>
            <a:ext cx="10510647" cy="2138363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html-shape-5">
            <a:extLst>
              <a:ext uri="{FF2B5EF4-FFF2-40B4-BE49-F238E27FC236}">
                <a16:creationId xmlns:a16="http://schemas.microsoft.com/office/drawing/2014/main" id="{95C652D9-3615-4276-BE51-EB304E7E62CF}"/>
              </a:ext>
            </a:extLst>
          </p:cNvPr>
          <p:cNvSpPr>
            <a:spLocks noGrp="1"/>
          </p:cNvSpPr>
          <p:nvPr/>
        </p:nvSpPr>
        <p:spPr>
          <a:xfrm>
            <a:off x="13034772" y="2933700"/>
            <a:ext cx="4253103" cy="5600700"/>
          </a:xfrm>
          <a:prstGeom prst="rect">
            <a:avLst/>
          </a:prstGeom>
          <a:solidFill>
            <a:srgbClr val="F3F8F6"/>
          </a:solidFill>
          <a:ln w="0">
            <a:noFill/>
            <a:prstDash val="solid"/>
          </a:ln>
        </p:spPr>
      </p:sp>
      <p:sp>
        <p:nvSpPr>
          <p:cNvPr id="4" name="html-shape-13">
            <a:extLst>
              <a:ext uri="{FF2B5EF4-FFF2-40B4-BE49-F238E27FC236}">
                <a16:creationId xmlns:a16="http://schemas.microsoft.com/office/drawing/2014/main" id="{8595B5F3-0959-4948-89AF-992260D772AF}"/>
              </a:ext>
            </a:extLst>
          </p:cNvPr>
          <p:cNvSpPr>
            <a:spLocks noGrp="1"/>
          </p:cNvSpPr>
          <p:nvPr/>
        </p:nvSpPr>
        <p:spPr>
          <a:xfrm>
            <a:off x="1314450" y="8858250"/>
            <a:ext cx="156591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5" name="border-2">
            <a:extLst>
              <a:ext uri="{FF2B5EF4-FFF2-40B4-BE49-F238E27FC236}">
                <a16:creationId xmlns:a16="http://schemas.microsoft.com/office/drawing/2014/main" id="{CE8C6A7C-1979-4149-8A77-62911565695E}"/>
              </a:ext>
            </a:extLst>
          </p:cNvPr>
          <p:cNvSpPr>
            <a:spLocks noGrp="1"/>
          </p:cNvSpPr>
          <p:nvPr/>
        </p:nvSpPr>
        <p:spPr>
          <a:xfrm>
            <a:off x="1000125" y="2933700"/>
            <a:ext cx="11577447" cy="6667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6" name="border-4">
            <a:extLst>
              <a:ext uri="{FF2B5EF4-FFF2-40B4-BE49-F238E27FC236}">
                <a16:creationId xmlns:a16="http://schemas.microsoft.com/office/drawing/2014/main" id="{4929C200-D1F8-4343-8D75-36528A92738B}"/>
              </a:ext>
            </a:extLst>
          </p:cNvPr>
          <p:cNvSpPr>
            <a:spLocks noGrp="1"/>
          </p:cNvSpPr>
          <p:nvPr/>
        </p:nvSpPr>
        <p:spPr>
          <a:xfrm>
            <a:off x="1533525" y="6091238"/>
            <a:ext cx="10510647" cy="9525"/>
          </a:xfrm>
          <a:prstGeom prst="rect">
            <a:avLst/>
          </a:prstGeom>
          <a:solidFill>
            <a:srgbClr val="DCE1EA"/>
          </a:solidFill>
          <a:ln w="0">
            <a:noFill/>
            <a:prstDash val="solid"/>
          </a:ln>
        </p:spPr>
      </p:sp>
      <p:sp>
        <p:nvSpPr>
          <p:cNvPr id="7" name="border-6">
            <a:extLst>
              <a:ext uri="{FF2B5EF4-FFF2-40B4-BE49-F238E27FC236}">
                <a16:creationId xmlns:a16="http://schemas.microsoft.com/office/drawing/2014/main" id="{B2255415-3F6E-4BE8-B336-DE19FB438228}"/>
              </a:ext>
            </a:extLst>
          </p:cNvPr>
          <p:cNvSpPr>
            <a:spLocks noGrp="1"/>
          </p:cNvSpPr>
          <p:nvPr/>
        </p:nvSpPr>
        <p:spPr>
          <a:xfrm>
            <a:off x="13034772" y="2933700"/>
            <a:ext cx="4253103" cy="6667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8" name="html-shape-7">
            <a:extLst>
              <a:ext uri="{FF2B5EF4-FFF2-40B4-BE49-F238E27FC236}">
                <a16:creationId xmlns:a16="http://schemas.microsoft.com/office/drawing/2014/main" id="{717E9E95-824A-43D3-A792-CEF50716C84C}"/>
              </a:ext>
            </a:extLst>
          </p:cNvPr>
          <p:cNvSpPr>
            <a:spLocks noGrp="1"/>
          </p:cNvSpPr>
          <p:nvPr/>
        </p:nvSpPr>
        <p:spPr>
          <a:xfrm>
            <a:off x="13320522" y="4095750"/>
            <a:ext cx="3681603" cy="12001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border-8">
            <a:extLst>
              <a:ext uri="{FF2B5EF4-FFF2-40B4-BE49-F238E27FC236}">
                <a16:creationId xmlns:a16="http://schemas.microsoft.com/office/drawing/2014/main" id="{BF311CF8-E295-45DA-BC57-10326E96B855}"/>
              </a:ext>
            </a:extLst>
          </p:cNvPr>
          <p:cNvSpPr>
            <a:spLocks noGrp="1"/>
          </p:cNvSpPr>
          <p:nvPr/>
        </p:nvSpPr>
        <p:spPr>
          <a:xfrm>
            <a:off x="13320522" y="4095750"/>
            <a:ext cx="3681603" cy="9525"/>
          </a:xfrm>
          <a:prstGeom prst="rect">
            <a:avLst/>
          </a:prstGeom>
          <a:solidFill>
            <a:srgbClr val="D6E1DC"/>
          </a:solidFill>
          <a:ln w="0">
            <a:noFill/>
            <a:prstDash val="solid"/>
          </a:ln>
        </p:spPr>
      </p:sp>
      <p:sp>
        <p:nvSpPr>
          <p:cNvPr id="10" name="html-shape-9">
            <a:extLst>
              <a:ext uri="{FF2B5EF4-FFF2-40B4-BE49-F238E27FC236}">
                <a16:creationId xmlns:a16="http://schemas.microsoft.com/office/drawing/2014/main" id="{5668E5F7-F6D8-47DF-ADE3-6289C4DD6D02}"/>
              </a:ext>
            </a:extLst>
          </p:cNvPr>
          <p:cNvSpPr>
            <a:spLocks noGrp="1"/>
          </p:cNvSpPr>
          <p:nvPr/>
        </p:nvSpPr>
        <p:spPr>
          <a:xfrm>
            <a:off x="13320522" y="5295900"/>
            <a:ext cx="3681603" cy="12001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" name="border-10">
            <a:extLst>
              <a:ext uri="{FF2B5EF4-FFF2-40B4-BE49-F238E27FC236}">
                <a16:creationId xmlns:a16="http://schemas.microsoft.com/office/drawing/2014/main" id="{DFAC2D09-345C-465A-9CE6-56E935B04858}"/>
              </a:ext>
            </a:extLst>
          </p:cNvPr>
          <p:cNvSpPr>
            <a:spLocks noGrp="1"/>
          </p:cNvSpPr>
          <p:nvPr/>
        </p:nvSpPr>
        <p:spPr>
          <a:xfrm>
            <a:off x="13320522" y="5295900"/>
            <a:ext cx="3681603" cy="9525"/>
          </a:xfrm>
          <a:prstGeom prst="rect">
            <a:avLst/>
          </a:prstGeom>
          <a:solidFill>
            <a:srgbClr val="D6E1DC"/>
          </a:solidFill>
          <a:ln w="0">
            <a:noFill/>
            <a:prstDash val="solid"/>
          </a:ln>
        </p:spPr>
      </p:sp>
      <p:sp>
        <p:nvSpPr>
          <p:cNvPr id="12" name="html-shape-11">
            <a:extLst>
              <a:ext uri="{FF2B5EF4-FFF2-40B4-BE49-F238E27FC236}">
                <a16:creationId xmlns:a16="http://schemas.microsoft.com/office/drawing/2014/main" id="{51416B41-239D-45A5-ADE9-EBE61E61BED3}"/>
              </a:ext>
            </a:extLst>
          </p:cNvPr>
          <p:cNvSpPr>
            <a:spLocks noGrp="1"/>
          </p:cNvSpPr>
          <p:nvPr/>
        </p:nvSpPr>
        <p:spPr>
          <a:xfrm>
            <a:off x="13320522" y="6496050"/>
            <a:ext cx="3681603" cy="12001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" name="border-12">
            <a:extLst>
              <a:ext uri="{FF2B5EF4-FFF2-40B4-BE49-F238E27FC236}">
                <a16:creationId xmlns:a16="http://schemas.microsoft.com/office/drawing/2014/main" id="{0DD7243A-B286-4842-B66F-4ED620349338}"/>
              </a:ext>
            </a:extLst>
          </p:cNvPr>
          <p:cNvSpPr>
            <a:spLocks noGrp="1"/>
          </p:cNvSpPr>
          <p:nvPr/>
        </p:nvSpPr>
        <p:spPr>
          <a:xfrm>
            <a:off x="13320522" y="6496050"/>
            <a:ext cx="3681603" cy="9525"/>
          </a:xfrm>
          <a:prstGeom prst="rect">
            <a:avLst/>
          </a:prstGeom>
          <a:solidFill>
            <a:srgbClr val="D6E1DC"/>
          </a:solidFill>
          <a:ln w="0">
            <a:noFill/>
            <a:prstDash val="solid"/>
          </a:ln>
        </p:spPr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A702E62-5242-4F25-9E88-9266B32BD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95A8A3B-862C-435C-B124-5E7884F13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6" name="text-1">
            <a:extLst>
              <a:ext uri="{FF2B5EF4-FFF2-40B4-BE49-F238E27FC236}">
                <a16:creationId xmlns:a16="http://schemas.microsoft.com/office/drawing/2014/main" id="{33C00201-AE4D-499F-883F-6CD571591921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7" name="text-2">
            <a:extLst>
              <a:ext uri="{FF2B5EF4-FFF2-40B4-BE49-F238E27FC236}">
                <a16:creationId xmlns:a16="http://schemas.microsoft.com/office/drawing/2014/main" id="{584A32FE-E6C2-4F92-BE65-05716C941687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90674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第五章 · 跨机房异构 PD 实验</a:t>
            </a:r>
          </a:p>
        </p:txBody>
      </p:sp>
      <p:sp>
        <p:nvSpPr>
          <p:cNvPr id="18" name="text-3">
            <a:extLst>
              <a:ext uri="{FF2B5EF4-FFF2-40B4-BE49-F238E27FC236}">
                <a16:creationId xmlns:a16="http://schemas.microsoft.com/office/drawing/2014/main" id="{7D819E6F-71CC-494B-9443-082F77703B1A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916486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63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下一阶段验证更大规模的异构 PD 扩展</a:t>
            </a:r>
          </a:p>
        </p:txBody>
      </p:sp>
      <p:sp>
        <p:nvSpPr>
          <p:cNvPr id="19" name="text-4">
            <a:extLst>
              <a:ext uri="{FF2B5EF4-FFF2-40B4-BE49-F238E27FC236}">
                <a16:creationId xmlns:a16="http://schemas.microsoft.com/office/drawing/2014/main" id="{82E217F4-7069-4102-B5FD-060FE91829A8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993667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扩大 Prefill 与 Decode 资源池，验证聚合吞吐、资源配比与规模化服务质量。</a:t>
            </a:r>
          </a:p>
        </p:txBody>
      </p:sp>
      <p:sp>
        <p:nvSpPr>
          <p:cNvPr id="20" name="text-5">
            <a:extLst>
              <a:ext uri="{FF2B5EF4-FFF2-40B4-BE49-F238E27FC236}">
                <a16:creationId xmlns:a16="http://schemas.microsoft.com/office/drawing/2014/main" id="{960189DE-582F-4E5A-8E77-E7CB25896847}"/>
              </a:ext>
            </a:extLst>
          </p:cNvPr>
          <p:cNvSpPr>
            <a:spLocks noGrp="1"/>
          </p:cNvSpPr>
          <p:nvPr/>
        </p:nvSpPr>
        <p:spPr>
          <a:xfrm>
            <a:off x="1524000" y="3305175"/>
            <a:ext cx="293874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EXPERIMENT EXPANSION</a:t>
            </a:r>
          </a:p>
        </p:txBody>
      </p:sp>
      <p:sp>
        <p:nvSpPr>
          <p:cNvPr id="21" name="text-6">
            <a:extLst>
              <a:ext uri="{FF2B5EF4-FFF2-40B4-BE49-F238E27FC236}">
                <a16:creationId xmlns:a16="http://schemas.microsoft.com/office/drawing/2014/main" id="{0B845C69-AD65-4F4F-9C10-97A4E0675FFA}"/>
              </a:ext>
            </a:extLst>
          </p:cNvPr>
          <p:cNvSpPr>
            <a:spLocks noGrp="1"/>
          </p:cNvSpPr>
          <p:nvPr/>
        </p:nvSpPr>
        <p:spPr>
          <a:xfrm>
            <a:off x="1524000" y="4169093"/>
            <a:ext cx="21336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4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增大规模</a:t>
            </a:r>
          </a:p>
        </p:txBody>
      </p:sp>
      <p:sp>
        <p:nvSpPr>
          <p:cNvPr id="22" name="text-7">
            <a:extLst>
              <a:ext uri="{FF2B5EF4-FFF2-40B4-BE49-F238E27FC236}">
                <a16:creationId xmlns:a16="http://schemas.microsoft.com/office/drawing/2014/main" id="{AAFDD45C-89A8-4DEA-AC83-2371C6C43856}"/>
              </a:ext>
            </a:extLst>
          </p:cNvPr>
          <p:cNvSpPr>
            <a:spLocks noGrp="1"/>
          </p:cNvSpPr>
          <p:nvPr/>
        </p:nvSpPr>
        <p:spPr>
          <a:xfrm>
            <a:off x="1524000" y="4993958"/>
            <a:ext cx="437083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46546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46546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46546B"/>
                </a:solidFill>
                <a:latin typeface="PingFang SC"/>
                <a:ea typeface="PingFang SC"/>
                <a:cs typeface="Arial"/>
              </a:rPr>
              <a:t>从 3P1D 走向更大的异构 PD 集群</a:t>
            </a:r>
          </a:p>
        </p:txBody>
      </p:sp>
      <p:sp>
        <p:nvSpPr>
          <p:cNvPr id="23" name="text-8">
            <a:extLst>
              <a:ext uri="{FF2B5EF4-FFF2-40B4-BE49-F238E27FC236}">
                <a16:creationId xmlns:a16="http://schemas.microsoft.com/office/drawing/2014/main" id="{EBCC6800-B644-4B12-9AA4-94240CC8BA0F}"/>
              </a:ext>
            </a:extLst>
          </p:cNvPr>
          <p:cNvSpPr>
            <a:spLocks noGrp="1"/>
          </p:cNvSpPr>
          <p:nvPr/>
        </p:nvSpPr>
        <p:spPr>
          <a:xfrm>
            <a:off x="1524000" y="6502718"/>
            <a:ext cx="21336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4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0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调整配比</a:t>
            </a:r>
          </a:p>
        </p:txBody>
      </p:sp>
      <p:sp>
        <p:nvSpPr>
          <p:cNvPr id="24" name="text-9">
            <a:extLst>
              <a:ext uri="{FF2B5EF4-FFF2-40B4-BE49-F238E27FC236}">
                <a16:creationId xmlns:a16="http://schemas.microsoft.com/office/drawing/2014/main" id="{0A7519A5-C29E-4D43-B036-18902C95EB67}"/>
              </a:ext>
            </a:extLst>
          </p:cNvPr>
          <p:cNvSpPr>
            <a:spLocks noGrp="1"/>
          </p:cNvSpPr>
          <p:nvPr/>
        </p:nvSpPr>
        <p:spPr>
          <a:xfrm>
            <a:off x="1524000" y="7327583"/>
            <a:ext cx="624554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46546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46546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46546B"/>
                </a:solidFill>
                <a:latin typeface="PingFang SC"/>
                <a:ea typeface="PingFang SC"/>
                <a:cs typeface="Arial"/>
              </a:rPr>
              <a:t>验证不同 P:D 配比对 Input / Output 负载的适配</a:t>
            </a:r>
          </a:p>
        </p:txBody>
      </p:sp>
      <p:sp>
        <p:nvSpPr>
          <p:cNvPr id="25" name="text-10">
            <a:extLst>
              <a:ext uri="{FF2B5EF4-FFF2-40B4-BE49-F238E27FC236}">
                <a16:creationId xmlns:a16="http://schemas.microsoft.com/office/drawing/2014/main" id="{CA0B36BC-9164-4B74-8D05-98C48BA9C485}"/>
              </a:ext>
            </a:extLst>
          </p:cNvPr>
          <p:cNvSpPr>
            <a:spLocks noGrp="1"/>
          </p:cNvSpPr>
          <p:nvPr/>
        </p:nvSpPr>
        <p:spPr>
          <a:xfrm>
            <a:off x="13310997" y="3286125"/>
            <a:ext cx="157695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05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05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05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WHAT TO VALIDATE</a:t>
            </a:r>
          </a:p>
        </p:txBody>
      </p:sp>
      <p:sp>
        <p:nvSpPr>
          <p:cNvPr id="26" name="text-11">
            <a:extLst>
              <a:ext uri="{FF2B5EF4-FFF2-40B4-BE49-F238E27FC236}">
                <a16:creationId xmlns:a16="http://schemas.microsoft.com/office/drawing/2014/main" id="{29767590-65F2-443F-94B3-F4C3D0979FCF}"/>
              </a:ext>
            </a:extLst>
          </p:cNvPr>
          <p:cNvSpPr>
            <a:spLocks noGrp="1"/>
          </p:cNvSpPr>
          <p:nvPr/>
        </p:nvSpPr>
        <p:spPr>
          <a:xfrm>
            <a:off x="13310997" y="3562350"/>
            <a:ext cx="2695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2C38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2C38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2C384B"/>
                </a:solidFill>
                <a:latin typeface="PingFang SC"/>
                <a:ea typeface="PingFang SC"/>
                <a:cs typeface="Arial"/>
              </a:rPr>
              <a:t>验证更大规模的协同效率</a:t>
            </a:r>
          </a:p>
        </p:txBody>
      </p:sp>
      <p:sp>
        <p:nvSpPr>
          <p:cNvPr id="27" name="text-12">
            <a:extLst>
              <a:ext uri="{FF2B5EF4-FFF2-40B4-BE49-F238E27FC236}">
                <a16:creationId xmlns:a16="http://schemas.microsoft.com/office/drawing/2014/main" id="{1E0B58B9-FFD0-4F5E-AE9D-4F789AD2C44A}"/>
              </a:ext>
            </a:extLst>
          </p:cNvPr>
          <p:cNvSpPr>
            <a:spLocks noGrp="1"/>
          </p:cNvSpPr>
          <p:nvPr/>
        </p:nvSpPr>
        <p:spPr>
          <a:xfrm>
            <a:off x="13310997" y="4257675"/>
            <a:ext cx="34556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279965">
                    <a:alpha val="55000"/>
                  </a:srgbClr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279965">
                    <a:alpha val="55000"/>
                  </a:srgbClr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279965">
                    <a:alpha val="55000"/>
                  </a:srgbClr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28" name="text-13">
            <a:extLst>
              <a:ext uri="{FF2B5EF4-FFF2-40B4-BE49-F238E27FC236}">
                <a16:creationId xmlns:a16="http://schemas.microsoft.com/office/drawing/2014/main" id="{F19A4E8B-F0C7-4D42-9EF9-A7F50530FA10}"/>
              </a:ext>
            </a:extLst>
          </p:cNvPr>
          <p:cNvSpPr>
            <a:spLocks noGrp="1"/>
          </p:cNvSpPr>
          <p:nvPr/>
        </p:nvSpPr>
        <p:spPr>
          <a:xfrm>
            <a:off x="13863447" y="4276725"/>
            <a:ext cx="1873187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P:D 配比与负载适配</a:t>
            </a:r>
          </a:p>
        </p:txBody>
      </p:sp>
      <p:sp>
        <p:nvSpPr>
          <p:cNvPr id="29" name="text-14">
            <a:extLst>
              <a:ext uri="{FF2B5EF4-FFF2-40B4-BE49-F238E27FC236}">
                <a16:creationId xmlns:a16="http://schemas.microsoft.com/office/drawing/2014/main" id="{844B7977-E8FD-4A47-ADDA-A969B0F8BCB7}"/>
              </a:ext>
            </a:extLst>
          </p:cNvPr>
          <p:cNvSpPr>
            <a:spLocks noGrp="1"/>
          </p:cNvSpPr>
          <p:nvPr/>
        </p:nvSpPr>
        <p:spPr>
          <a:xfrm>
            <a:off x="13863447" y="4629055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rPr>
              <a:t>不同业务负载下，两侧容量能否独立配置并充</a:t>
            </a:r>
          </a:p>
        </p:txBody>
      </p:sp>
      <p:sp>
        <p:nvSpPr>
          <p:cNvPr id="30" name="text-15">
            <a:extLst>
              <a:ext uri="{FF2B5EF4-FFF2-40B4-BE49-F238E27FC236}">
                <a16:creationId xmlns:a16="http://schemas.microsoft.com/office/drawing/2014/main" id="{5AE8E272-B146-4024-B5BD-5063BE9586C8}"/>
              </a:ext>
            </a:extLst>
          </p:cNvPr>
          <p:cNvSpPr>
            <a:spLocks noGrp="1"/>
          </p:cNvSpPr>
          <p:nvPr/>
        </p:nvSpPr>
        <p:spPr>
          <a:xfrm>
            <a:off x="13863447" y="484232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rPr>
              <a:t>分利用</a:t>
            </a:r>
          </a:p>
        </p:txBody>
      </p:sp>
      <p:sp>
        <p:nvSpPr>
          <p:cNvPr id="31" name="text-16">
            <a:extLst>
              <a:ext uri="{FF2B5EF4-FFF2-40B4-BE49-F238E27FC236}">
                <a16:creationId xmlns:a16="http://schemas.microsoft.com/office/drawing/2014/main" id="{04C7F196-A80C-499A-BC72-97A9BDBAC86F}"/>
              </a:ext>
            </a:extLst>
          </p:cNvPr>
          <p:cNvSpPr>
            <a:spLocks noGrp="1"/>
          </p:cNvSpPr>
          <p:nvPr/>
        </p:nvSpPr>
        <p:spPr>
          <a:xfrm>
            <a:off x="13310997" y="5457825"/>
            <a:ext cx="39633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279965">
                    <a:alpha val="55000"/>
                  </a:srgbClr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279965">
                    <a:alpha val="55000"/>
                  </a:srgbClr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279965">
                    <a:alpha val="55000"/>
                  </a:srgbClr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32" name="text-17">
            <a:extLst>
              <a:ext uri="{FF2B5EF4-FFF2-40B4-BE49-F238E27FC236}">
                <a16:creationId xmlns:a16="http://schemas.microsoft.com/office/drawing/2014/main" id="{81E14354-58F5-41A1-A464-3C1CBC4D7083}"/>
              </a:ext>
            </a:extLst>
          </p:cNvPr>
          <p:cNvSpPr>
            <a:spLocks noGrp="1"/>
          </p:cNvSpPr>
          <p:nvPr/>
        </p:nvSpPr>
        <p:spPr>
          <a:xfrm>
            <a:off x="13863447" y="5476875"/>
            <a:ext cx="1276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资源扩展效率</a:t>
            </a:r>
          </a:p>
        </p:txBody>
      </p:sp>
      <p:sp>
        <p:nvSpPr>
          <p:cNvPr id="33" name="text-18">
            <a:extLst>
              <a:ext uri="{FF2B5EF4-FFF2-40B4-BE49-F238E27FC236}">
                <a16:creationId xmlns:a16="http://schemas.microsoft.com/office/drawing/2014/main" id="{8C482E35-1FF1-435A-B4DC-78BC6724BDAE}"/>
              </a:ext>
            </a:extLst>
          </p:cNvPr>
          <p:cNvSpPr>
            <a:spLocks noGrp="1"/>
          </p:cNvSpPr>
          <p:nvPr/>
        </p:nvSpPr>
        <p:spPr>
          <a:xfrm>
            <a:off x="13863447" y="5829205"/>
            <a:ext cx="3081528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rPr>
              <a:t>Input / Output TPS 是否随 P/D 资源池稳定</a:t>
            </a:r>
          </a:p>
        </p:txBody>
      </p:sp>
      <p:sp>
        <p:nvSpPr>
          <p:cNvPr id="34" name="text-19">
            <a:extLst>
              <a:ext uri="{FF2B5EF4-FFF2-40B4-BE49-F238E27FC236}">
                <a16:creationId xmlns:a16="http://schemas.microsoft.com/office/drawing/2014/main" id="{BB6E0CC7-B12A-47FA-AF5B-7821007E8F61}"/>
              </a:ext>
            </a:extLst>
          </p:cNvPr>
          <p:cNvSpPr>
            <a:spLocks noGrp="1"/>
          </p:cNvSpPr>
          <p:nvPr/>
        </p:nvSpPr>
        <p:spPr>
          <a:xfrm>
            <a:off x="13863447" y="604247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rPr>
              <a:t>增长</a:t>
            </a:r>
          </a:p>
        </p:txBody>
      </p:sp>
      <p:sp>
        <p:nvSpPr>
          <p:cNvPr id="35" name="text-20">
            <a:extLst>
              <a:ext uri="{FF2B5EF4-FFF2-40B4-BE49-F238E27FC236}">
                <a16:creationId xmlns:a16="http://schemas.microsoft.com/office/drawing/2014/main" id="{07895065-D415-4671-B602-0F772BC6C79F}"/>
              </a:ext>
            </a:extLst>
          </p:cNvPr>
          <p:cNvSpPr>
            <a:spLocks noGrp="1"/>
          </p:cNvSpPr>
          <p:nvPr/>
        </p:nvSpPr>
        <p:spPr>
          <a:xfrm>
            <a:off x="13310997" y="6657975"/>
            <a:ext cx="39633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00" b="1" i="0" noProof="1">
                <a:solidFill>
                  <a:srgbClr val="279965">
                    <a:alpha val="55000"/>
                  </a:srgbClr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00" b="1" i="0" noProof="1">
                <a:solidFill>
                  <a:srgbClr val="279965">
                    <a:alpha val="55000"/>
                  </a:srgbClr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00" b="1" i="0" noProof="1">
                <a:solidFill>
                  <a:srgbClr val="279965">
                    <a:alpha val="55000"/>
                  </a:srgbClr>
                </a:solidFill>
                <a:latin typeface="PingFang SC"/>
                <a:ea typeface="PingFang SC"/>
                <a:cs typeface="Arial"/>
              </a:rPr>
              <a:t>03</a:t>
            </a:r>
          </a:p>
        </p:txBody>
      </p:sp>
      <p:sp>
        <p:nvSpPr>
          <p:cNvPr id="36" name="text-21">
            <a:extLst>
              <a:ext uri="{FF2B5EF4-FFF2-40B4-BE49-F238E27FC236}">
                <a16:creationId xmlns:a16="http://schemas.microsoft.com/office/drawing/2014/main" id="{9B3D4D04-FDB3-40CC-B9B0-B9A156F0D24A}"/>
              </a:ext>
            </a:extLst>
          </p:cNvPr>
          <p:cNvSpPr>
            <a:spLocks noGrp="1"/>
          </p:cNvSpPr>
          <p:nvPr/>
        </p:nvSpPr>
        <p:spPr>
          <a:xfrm>
            <a:off x="13863447" y="6677025"/>
            <a:ext cx="1476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规模化服务质量</a:t>
            </a:r>
          </a:p>
        </p:txBody>
      </p:sp>
      <p:sp>
        <p:nvSpPr>
          <p:cNvPr id="37" name="text-22">
            <a:extLst>
              <a:ext uri="{FF2B5EF4-FFF2-40B4-BE49-F238E27FC236}">
                <a16:creationId xmlns:a16="http://schemas.microsoft.com/office/drawing/2014/main" id="{0F50D9DC-F2CD-4A55-B239-E4EB63774EFF}"/>
              </a:ext>
            </a:extLst>
          </p:cNvPr>
          <p:cNvSpPr>
            <a:spLocks noGrp="1"/>
          </p:cNvSpPr>
          <p:nvPr/>
        </p:nvSpPr>
        <p:spPr>
          <a:xfrm>
            <a:off x="13863447" y="7029355"/>
            <a:ext cx="3123152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rPr>
              <a:t>高并发下的 P90 / P99 TTFT 与 Interactivity</a:t>
            </a:r>
          </a:p>
        </p:txBody>
      </p:sp>
      <p:sp>
        <p:nvSpPr>
          <p:cNvPr id="38" name="text-23">
            <a:extLst>
              <a:ext uri="{FF2B5EF4-FFF2-40B4-BE49-F238E27FC236}">
                <a16:creationId xmlns:a16="http://schemas.microsoft.com/office/drawing/2014/main" id="{D10FD50A-CF24-476A-9757-08004D0E3985}"/>
              </a:ext>
            </a:extLst>
          </p:cNvPr>
          <p:cNvSpPr>
            <a:spLocks noGrp="1"/>
          </p:cNvSpPr>
          <p:nvPr/>
        </p:nvSpPr>
        <p:spPr>
          <a:xfrm>
            <a:off x="13863447" y="724262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667387"/>
                </a:solidFill>
                <a:latin typeface="PingFang SC"/>
                <a:ea typeface="PingFang SC"/>
                <a:cs typeface="Arial"/>
              </a:rPr>
              <a:t>是否稳定</a:t>
            </a:r>
          </a:p>
        </p:txBody>
      </p:sp>
      <p:sp>
        <p:nvSpPr>
          <p:cNvPr id="39" name="text-24">
            <a:extLst>
              <a:ext uri="{FF2B5EF4-FFF2-40B4-BE49-F238E27FC236}">
                <a16:creationId xmlns:a16="http://schemas.microsoft.com/office/drawing/2014/main" id="{7E93EC8D-D4E2-4E1E-9AAA-0FD2CEF6AC5D}"/>
              </a:ext>
            </a:extLst>
          </p:cNvPr>
          <p:cNvSpPr>
            <a:spLocks noGrp="1"/>
          </p:cNvSpPr>
          <p:nvPr/>
        </p:nvSpPr>
        <p:spPr>
          <a:xfrm>
            <a:off x="4944809" y="9072086"/>
            <a:ext cx="845553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验证更大的资源池能否持续转化为更高吞吐，并保持高质量 Token 服务。</a:t>
            </a:r>
          </a:p>
        </p:txBody>
      </p:sp>
      <p:sp>
        <p:nvSpPr>
          <p:cNvPr id="40" name="text-25">
            <a:extLst>
              <a:ext uri="{FF2B5EF4-FFF2-40B4-BE49-F238E27FC236}">
                <a16:creationId xmlns:a16="http://schemas.microsoft.com/office/drawing/2014/main" id="{322F215A-1345-4542-BC5A-55D73BB466DC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8446103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Plan: validate larger-scale heterogeneous PD with more Prefill and Decode resources and multiple capacity ratios.</a:t>
            </a:r>
          </a:p>
        </p:txBody>
      </p:sp>
      <p:sp>
        <p:nvSpPr>
          <p:cNvPr id="41" name="text-26">
            <a:extLst>
              <a:ext uri="{FF2B5EF4-FFF2-40B4-BE49-F238E27FC236}">
                <a16:creationId xmlns:a16="http://schemas.microsoft.com/office/drawing/2014/main" id="{0C4D322C-D237-4A83-A898-5B852C386495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36 / 43</a:t>
            </a:r>
          </a:p>
        </p:txBody>
      </p:sp>
    </p:spTree>
    <p:extLst>
      <p:ext uri="{BB962C8B-B14F-4D97-AF65-F5344CB8AC3E}">
        <p14:creationId xmlns:p14="http://schemas.microsoft.com/office/powerpoint/2010/main" val="10698953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html-shape-1">
            <a:extLst>
              <a:ext uri="{FF2B5EF4-FFF2-40B4-BE49-F238E27FC236}">
                <a16:creationId xmlns:a16="http://schemas.microsoft.com/office/drawing/2014/main" id="{BC8B7220-0840-47DB-9527-C1F5944E825A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14859000" cy="3476625"/>
          </a:xfrm>
          <a:prstGeom prst="roundRect">
            <a:avLst>
              <a:gd name="adj" fmla="val 8219"/>
            </a:avLst>
          </a:prstGeom>
          <a:solidFill>
            <a:srgbClr val="F9FAFD">
              <a:alpha val="94000"/>
            </a:srgbClr>
          </a:solidFill>
          <a:ln w="19050">
            <a:solidFill>
              <a:srgbClr val="E0E4ED"/>
            </a:solidFill>
            <a:prstDash val="solid"/>
          </a:ln>
        </p:spPr>
      </p:sp>
      <p:sp>
        <p:nvSpPr>
          <p:cNvPr id="2" name="html-shape-2">
            <a:extLst>
              <a:ext uri="{FF2B5EF4-FFF2-40B4-BE49-F238E27FC236}">
                <a16:creationId xmlns:a16="http://schemas.microsoft.com/office/drawing/2014/main" id="{8BED4BE6-A783-4D17-BAF2-4C450A3C63BF}"/>
              </a:ext>
            </a:extLst>
          </p:cNvPr>
          <p:cNvSpPr>
            <a:spLocks noGrp="1"/>
          </p:cNvSpPr>
          <p:nvPr/>
        </p:nvSpPr>
        <p:spPr>
          <a:xfrm>
            <a:off x="2152650" y="4919663"/>
            <a:ext cx="4953000" cy="2590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html-shape-38">
            <a:extLst>
              <a:ext uri="{FF2B5EF4-FFF2-40B4-BE49-F238E27FC236}">
                <a16:creationId xmlns:a16="http://schemas.microsoft.com/office/drawing/2014/main" id="{67AE8143-92F0-447A-B9A9-88E3CC74B2EE}"/>
              </a:ext>
            </a:extLst>
          </p:cNvPr>
          <p:cNvSpPr>
            <a:spLocks noGrp="1"/>
          </p:cNvSpPr>
          <p:nvPr/>
        </p:nvSpPr>
        <p:spPr>
          <a:xfrm>
            <a:off x="11182350" y="4919663"/>
            <a:ext cx="4953000" cy="2590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html-shape-68">
            <a:extLst>
              <a:ext uri="{FF2B5EF4-FFF2-40B4-BE49-F238E27FC236}">
                <a16:creationId xmlns:a16="http://schemas.microsoft.com/office/drawing/2014/main" id="{AB532E9A-D8EC-4E78-803D-33D5B2950871}"/>
              </a:ext>
            </a:extLst>
          </p:cNvPr>
          <p:cNvSpPr>
            <a:spLocks noGrp="1"/>
          </p:cNvSpPr>
          <p:nvPr/>
        </p:nvSpPr>
        <p:spPr>
          <a:xfrm>
            <a:off x="1714500" y="8724900"/>
            <a:ext cx="14859000" cy="685800"/>
          </a:xfrm>
          <a:prstGeom prst="rect">
            <a:avLst/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5" name="html-line-1">
            <a:extLst>
              <a:ext uri="{FF2B5EF4-FFF2-40B4-BE49-F238E27FC236}">
                <a16:creationId xmlns:a16="http://schemas.microsoft.com/office/drawing/2014/main" id="{1E26B993-6C13-4880-B88B-4DA97748A5E7}"/>
              </a:ext>
            </a:extLst>
          </p:cNvPr>
          <p:cNvSpPr>
            <a:spLocks noGrp="1"/>
          </p:cNvSpPr>
          <p:nvPr/>
        </p:nvSpPr>
        <p:spPr>
          <a:xfrm>
            <a:off x="7620000" y="6134100"/>
            <a:ext cx="3048000" cy="4763"/>
          </a:xfrm>
          <a:prstGeom prst="line">
            <a:avLst/>
          </a:prstGeom>
          <a:noFill/>
          <a:ln w="76200">
            <a:gradFill>
              <a:gsLst>
                <a:gs pos="0">
                  <a:srgbClr val="642AF0"/>
                </a:gs>
                <a:gs pos="100000">
                  <a:srgbClr val="0A9A62"/>
                </a:gs>
              </a:gsLst>
              <a:lin ang="5400000"/>
            </a:gradFill>
            <a:prstDash val="solid"/>
          </a:ln>
        </p:spPr>
      </p:sp>
      <p:sp>
        <p:nvSpPr>
          <p:cNvPr id="6" name="border-3">
            <a:extLst>
              <a:ext uri="{FF2B5EF4-FFF2-40B4-BE49-F238E27FC236}">
                <a16:creationId xmlns:a16="http://schemas.microsoft.com/office/drawing/2014/main" id="{AE19A140-FFF5-42FB-8E4F-711096276A4B}"/>
              </a:ext>
            </a:extLst>
          </p:cNvPr>
          <p:cNvSpPr>
            <a:spLocks noGrp="1"/>
          </p:cNvSpPr>
          <p:nvPr/>
        </p:nvSpPr>
        <p:spPr>
          <a:xfrm>
            <a:off x="2152650" y="4919663"/>
            <a:ext cx="4953000" cy="762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7" name="html-shape-4">
            <a:extLst>
              <a:ext uri="{FF2B5EF4-FFF2-40B4-BE49-F238E27FC236}">
                <a16:creationId xmlns:a16="http://schemas.microsoft.com/office/drawing/2014/main" id="{227CC376-EF03-4208-91F9-FDA036FD9CD2}"/>
              </a:ext>
            </a:extLst>
          </p:cNvPr>
          <p:cNvSpPr>
            <a:spLocks noGrp="1"/>
          </p:cNvSpPr>
          <p:nvPr/>
        </p:nvSpPr>
        <p:spPr>
          <a:xfrm>
            <a:off x="5772150" y="5300663"/>
            <a:ext cx="1009650" cy="361950"/>
          </a:xfrm>
          <a:prstGeom prst="roundRect">
            <a:avLst>
              <a:gd name="adj" fmla="val 23684"/>
            </a:avLst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8" name="html-shape-5">
            <a:extLst>
              <a:ext uri="{FF2B5EF4-FFF2-40B4-BE49-F238E27FC236}">
                <a16:creationId xmlns:a16="http://schemas.microsoft.com/office/drawing/2014/main" id="{4A637ED7-FA9D-4040-A32C-CB7029EEBD1E}"/>
              </a:ext>
            </a:extLst>
          </p:cNvPr>
          <p:cNvSpPr>
            <a:spLocks noGrp="1"/>
          </p:cNvSpPr>
          <p:nvPr/>
        </p:nvSpPr>
        <p:spPr>
          <a:xfrm>
            <a:off x="2476500" y="5986463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CABAFF"/>
            </a:solidFill>
            <a:prstDash val="solid"/>
          </a:ln>
        </p:spPr>
      </p:sp>
      <p:sp>
        <p:nvSpPr>
          <p:cNvPr id="9" name="html-shape-6">
            <a:extLst>
              <a:ext uri="{FF2B5EF4-FFF2-40B4-BE49-F238E27FC236}">
                <a16:creationId xmlns:a16="http://schemas.microsoft.com/office/drawing/2014/main" id="{4685F938-C538-4D8F-B84A-47F3777381DF}"/>
              </a:ext>
            </a:extLst>
          </p:cNvPr>
          <p:cNvSpPr>
            <a:spLocks noGrp="1"/>
          </p:cNvSpPr>
          <p:nvPr/>
        </p:nvSpPr>
        <p:spPr>
          <a:xfrm>
            <a:off x="2628900" y="61579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0" name="pseudo-7">
            <a:extLst>
              <a:ext uri="{FF2B5EF4-FFF2-40B4-BE49-F238E27FC236}">
                <a16:creationId xmlns:a16="http://schemas.microsoft.com/office/drawing/2014/main" id="{E910ED88-CB78-4679-ADE2-B15D22EF51CF}"/>
              </a:ext>
            </a:extLst>
          </p:cNvPr>
          <p:cNvSpPr>
            <a:spLocks noGrp="1"/>
          </p:cNvSpPr>
          <p:nvPr/>
        </p:nvSpPr>
        <p:spPr>
          <a:xfrm>
            <a:off x="3467100" y="62150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11" name="html-shape-8">
            <a:extLst>
              <a:ext uri="{FF2B5EF4-FFF2-40B4-BE49-F238E27FC236}">
                <a16:creationId xmlns:a16="http://schemas.microsoft.com/office/drawing/2014/main" id="{0874CC12-B652-4C79-B4FF-BB70726B8994}"/>
              </a:ext>
            </a:extLst>
          </p:cNvPr>
          <p:cNvSpPr>
            <a:spLocks noGrp="1"/>
          </p:cNvSpPr>
          <p:nvPr/>
        </p:nvSpPr>
        <p:spPr>
          <a:xfrm>
            <a:off x="2628900" y="63865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2" name="pseudo-9">
            <a:extLst>
              <a:ext uri="{FF2B5EF4-FFF2-40B4-BE49-F238E27FC236}">
                <a16:creationId xmlns:a16="http://schemas.microsoft.com/office/drawing/2014/main" id="{F24AC812-A037-491D-A845-64D50AED8C43}"/>
              </a:ext>
            </a:extLst>
          </p:cNvPr>
          <p:cNvSpPr>
            <a:spLocks noGrp="1"/>
          </p:cNvSpPr>
          <p:nvPr/>
        </p:nvSpPr>
        <p:spPr>
          <a:xfrm>
            <a:off x="3467100" y="64436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13" name="html-shape-10">
            <a:extLst>
              <a:ext uri="{FF2B5EF4-FFF2-40B4-BE49-F238E27FC236}">
                <a16:creationId xmlns:a16="http://schemas.microsoft.com/office/drawing/2014/main" id="{A17DCF0A-C51A-4438-B5B3-5EF9E7350AC6}"/>
              </a:ext>
            </a:extLst>
          </p:cNvPr>
          <p:cNvSpPr>
            <a:spLocks noGrp="1"/>
          </p:cNvSpPr>
          <p:nvPr/>
        </p:nvSpPr>
        <p:spPr>
          <a:xfrm>
            <a:off x="2628900" y="66151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4" name="pseudo-11">
            <a:extLst>
              <a:ext uri="{FF2B5EF4-FFF2-40B4-BE49-F238E27FC236}">
                <a16:creationId xmlns:a16="http://schemas.microsoft.com/office/drawing/2014/main" id="{0406D177-BE20-4D28-B6F7-09AE932C8F4A}"/>
              </a:ext>
            </a:extLst>
          </p:cNvPr>
          <p:cNvSpPr>
            <a:spLocks noGrp="1"/>
          </p:cNvSpPr>
          <p:nvPr/>
        </p:nvSpPr>
        <p:spPr>
          <a:xfrm>
            <a:off x="3467100" y="66722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15" name="html-shape-12">
            <a:extLst>
              <a:ext uri="{FF2B5EF4-FFF2-40B4-BE49-F238E27FC236}">
                <a16:creationId xmlns:a16="http://schemas.microsoft.com/office/drawing/2014/main" id="{4E3704E0-0024-45D8-8462-49C90C39A191}"/>
              </a:ext>
            </a:extLst>
          </p:cNvPr>
          <p:cNvSpPr>
            <a:spLocks noGrp="1"/>
          </p:cNvSpPr>
          <p:nvPr/>
        </p:nvSpPr>
        <p:spPr>
          <a:xfrm>
            <a:off x="2628900" y="68437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6" name="pseudo-13">
            <a:extLst>
              <a:ext uri="{FF2B5EF4-FFF2-40B4-BE49-F238E27FC236}">
                <a16:creationId xmlns:a16="http://schemas.microsoft.com/office/drawing/2014/main" id="{FC4D4342-E0F8-4F01-A459-12A1C6077563}"/>
              </a:ext>
            </a:extLst>
          </p:cNvPr>
          <p:cNvSpPr>
            <a:spLocks noGrp="1"/>
          </p:cNvSpPr>
          <p:nvPr/>
        </p:nvSpPr>
        <p:spPr>
          <a:xfrm>
            <a:off x="3467100" y="69008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17" name="html-shape-14">
            <a:extLst>
              <a:ext uri="{FF2B5EF4-FFF2-40B4-BE49-F238E27FC236}">
                <a16:creationId xmlns:a16="http://schemas.microsoft.com/office/drawing/2014/main" id="{3355B692-803F-409E-A95E-53121CECA756}"/>
              </a:ext>
            </a:extLst>
          </p:cNvPr>
          <p:cNvSpPr>
            <a:spLocks noGrp="1"/>
          </p:cNvSpPr>
          <p:nvPr/>
        </p:nvSpPr>
        <p:spPr>
          <a:xfrm>
            <a:off x="3962400" y="5986463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CABAFF"/>
            </a:solidFill>
            <a:prstDash val="solid"/>
          </a:ln>
        </p:spPr>
      </p:sp>
      <p:sp>
        <p:nvSpPr>
          <p:cNvPr id="18" name="html-shape-15">
            <a:extLst>
              <a:ext uri="{FF2B5EF4-FFF2-40B4-BE49-F238E27FC236}">
                <a16:creationId xmlns:a16="http://schemas.microsoft.com/office/drawing/2014/main" id="{E361308E-C443-4EEB-A697-02394BF4F770}"/>
              </a:ext>
            </a:extLst>
          </p:cNvPr>
          <p:cNvSpPr>
            <a:spLocks noGrp="1"/>
          </p:cNvSpPr>
          <p:nvPr/>
        </p:nvSpPr>
        <p:spPr>
          <a:xfrm>
            <a:off x="4114800" y="61579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9" name="pseudo-16">
            <a:extLst>
              <a:ext uri="{FF2B5EF4-FFF2-40B4-BE49-F238E27FC236}">
                <a16:creationId xmlns:a16="http://schemas.microsoft.com/office/drawing/2014/main" id="{C5F494CD-F18A-4392-98F5-226D5668D19F}"/>
              </a:ext>
            </a:extLst>
          </p:cNvPr>
          <p:cNvSpPr>
            <a:spLocks noGrp="1"/>
          </p:cNvSpPr>
          <p:nvPr/>
        </p:nvSpPr>
        <p:spPr>
          <a:xfrm>
            <a:off x="4953000" y="62150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20" name="html-shape-17">
            <a:extLst>
              <a:ext uri="{FF2B5EF4-FFF2-40B4-BE49-F238E27FC236}">
                <a16:creationId xmlns:a16="http://schemas.microsoft.com/office/drawing/2014/main" id="{C1A59F33-8ABC-4F4F-A20D-2F4135659A44}"/>
              </a:ext>
            </a:extLst>
          </p:cNvPr>
          <p:cNvSpPr>
            <a:spLocks noGrp="1"/>
          </p:cNvSpPr>
          <p:nvPr/>
        </p:nvSpPr>
        <p:spPr>
          <a:xfrm>
            <a:off x="4114800" y="63865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1" name="pseudo-18">
            <a:extLst>
              <a:ext uri="{FF2B5EF4-FFF2-40B4-BE49-F238E27FC236}">
                <a16:creationId xmlns:a16="http://schemas.microsoft.com/office/drawing/2014/main" id="{4907D983-3EE8-41CC-BFBF-2EEA393C0FC5}"/>
              </a:ext>
            </a:extLst>
          </p:cNvPr>
          <p:cNvSpPr>
            <a:spLocks noGrp="1"/>
          </p:cNvSpPr>
          <p:nvPr/>
        </p:nvSpPr>
        <p:spPr>
          <a:xfrm>
            <a:off x="4953000" y="64436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22" name="html-shape-19">
            <a:extLst>
              <a:ext uri="{FF2B5EF4-FFF2-40B4-BE49-F238E27FC236}">
                <a16:creationId xmlns:a16="http://schemas.microsoft.com/office/drawing/2014/main" id="{566D353D-03CA-4E18-921C-76C1949DE3E2}"/>
              </a:ext>
            </a:extLst>
          </p:cNvPr>
          <p:cNvSpPr>
            <a:spLocks noGrp="1"/>
          </p:cNvSpPr>
          <p:nvPr/>
        </p:nvSpPr>
        <p:spPr>
          <a:xfrm>
            <a:off x="4114800" y="66151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3" name="pseudo-20">
            <a:extLst>
              <a:ext uri="{FF2B5EF4-FFF2-40B4-BE49-F238E27FC236}">
                <a16:creationId xmlns:a16="http://schemas.microsoft.com/office/drawing/2014/main" id="{17557BB2-0256-40B5-9E04-96402D4B5689}"/>
              </a:ext>
            </a:extLst>
          </p:cNvPr>
          <p:cNvSpPr>
            <a:spLocks noGrp="1"/>
          </p:cNvSpPr>
          <p:nvPr/>
        </p:nvSpPr>
        <p:spPr>
          <a:xfrm>
            <a:off x="4953000" y="66722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24" name="html-shape-21">
            <a:extLst>
              <a:ext uri="{FF2B5EF4-FFF2-40B4-BE49-F238E27FC236}">
                <a16:creationId xmlns:a16="http://schemas.microsoft.com/office/drawing/2014/main" id="{0A47D082-70A1-49A7-A68E-F3514BE260AD}"/>
              </a:ext>
            </a:extLst>
          </p:cNvPr>
          <p:cNvSpPr>
            <a:spLocks noGrp="1"/>
          </p:cNvSpPr>
          <p:nvPr/>
        </p:nvSpPr>
        <p:spPr>
          <a:xfrm>
            <a:off x="4114800" y="68437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5" name="pseudo-22">
            <a:extLst>
              <a:ext uri="{FF2B5EF4-FFF2-40B4-BE49-F238E27FC236}">
                <a16:creationId xmlns:a16="http://schemas.microsoft.com/office/drawing/2014/main" id="{AE33C4F9-CDEC-4481-BF1E-71919ECB7FD4}"/>
              </a:ext>
            </a:extLst>
          </p:cNvPr>
          <p:cNvSpPr>
            <a:spLocks noGrp="1"/>
          </p:cNvSpPr>
          <p:nvPr/>
        </p:nvSpPr>
        <p:spPr>
          <a:xfrm>
            <a:off x="4953000" y="69008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26" name="html-shape-23">
            <a:extLst>
              <a:ext uri="{FF2B5EF4-FFF2-40B4-BE49-F238E27FC236}">
                <a16:creationId xmlns:a16="http://schemas.microsoft.com/office/drawing/2014/main" id="{C192B7D9-86CA-4014-9ADC-D2814A3B2DE1}"/>
              </a:ext>
            </a:extLst>
          </p:cNvPr>
          <p:cNvSpPr>
            <a:spLocks noGrp="1"/>
          </p:cNvSpPr>
          <p:nvPr/>
        </p:nvSpPr>
        <p:spPr>
          <a:xfrm>
            <a:off x="5448300" y="5986463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CABAFF"/>
            </a:solidFill>
            <a:prstDash val="solid"/>
          </a:ln>
        </p:spPr>
      </p:sp>
      <p:sp>
        <p:nvSpPr>
          <p:cNvPr id="27" name="html-shape-24">
            <a:extLst>
              <a:ext uri="{FF2B5EF4-FFF2-40B4-BE49-F238E27FC236}">
                <a16:creationId xmlns:a16="http://schemas.microsoft.com/office/drawing/2014/main" id="{D00EC08A-3429-4F7E-A143-A1F4595CC3ED}"/>
              </a:ext>
            </a:extLst>
          </p:cNvPr>
          <p:cNvSpPr>
            <a:spLocks noGrp="1"/>
          </p:cNvSpPr>
          <p:nvPr/>
        </p:nvSpPr>
        <p:spPr>
          <a:xfrm>
            <a:off x="5600700" y="61579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8" name="pseudo-25">
            <a:extLst>
              <a:ext uri="{FF2B5EF4-FFF2-40B4-BE49-F238E27FC236}">
                <a16:creationId xmlns:a16="http://schemas.microsoft.com/office/drawing/2014/main" id="{3D99A877-506E-43E9-AF0C-43C25F420C8E}"/>
              </a:ext>
            </a:extLst>
          </p:cNvPr>
          <p:cNvSpPr>
            <a:spLocks noGrp="1"/>
          </p:cNvSpPr>
          <p:nvPr/>
        </p:nvSpPr>
        <p:spPr>
          <a:xfrm>
            <a:off x="6438900" y="62150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29" name="html-shape-26">
            <a:extLst>
              <a:ext uri="{FF2B5EF4-FFF2-40B4-BE49-F238E27FC236}">
                <a16:creationId xmlns:a16="http://schemas.microsoft.com/office/drawing/2014/main" id="{FFBF47D6-692A-4C2C-ADE6-2E6565536BA8}"/>
              </a:ext>
            </a:extLst>
          </p:cNvPr>
          <p:cNvSpPr>
            <a:spLocks noGrp="1"/>
          </p:cNvSpPr>
          <p:nvPr/>
        </p:nvSpPr>
        <p:spPr>
          <a:xfrm>
            <a:off x="5600700" y="63865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0" name="pseudo-27">
            <a:extLst>
              <a:ext uri="{FF2B5EF4-FFF2-40B4-BE49-F238E27FC236}">
                <a16:creationId xmlns:a16="http://schemas.microsoft.com/office/drawing/2014/main" id="{29054A12-4E7E-4F3A-BE13-B95EE61771C7}"/>
              </a:ext>
            </a:extLst>
          </p:cNvPr>
          <p:cNvSpPr>
            <a:spLocks noGrp="1"/>
          </p:cNvSpPr>
          <p:nvPr/>
        </p:nvSpPr>
        <p:spPr>
          <a:xfrm>
            <a:off x="6438900" y="64436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31" name="html-shape-28">
            <a:extLst>
              <a:ext uri="{FF2B5EF4-FFF2-40B4-BE49-F238E27FC236}">
                <a16:creationId xmlns:a16="http://schemas.microsoft.com/office/drawing/2014/main" id="{6A622A9D-F561-419C-B059-8BAE8CB886AD}"/>
              </a:ext>
            </a:extLst>
          </p:cNvPr>
          <p:cNvSpPr>
            <a:spLocks noGrp="1"/>
          </p:cNvSpPr>
          <p:nvPr/>
        </p:nvSpPr>
        <p:spPr>
          <a:xfrm>
            <a:off x="5600700" y="66151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2" name="pseudo-29">
            <a:extLst>
              <a:ext uri="{FF2B5EF4-FFF2-40B4-BE49-F238E27FC236}">
                <a16:creationId xmlns:a16="http://schemas.microsoft.com/office/drawing/2014/main" id="{ABA7F9BA-A918-4B0A-95FC-B9458BEEB7E1}"/>
              </a:ext>
            </a:extLst>
          </p:cNvPr>
          <p:cNvSpPr>
            <a:spLocks noGrp="1"/>
          </p:cNvSpPr>
          <p:nvPr/>
        </p:nvSpPr>
        <p:spPr>
          <a:xfrm>
            <a:off x="6438900" y="66722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33" name="html-shape-30">
            <a:extLst>
              <a:ext uri="{FF2B5EF4-FFF2-40B4-BE49-F238E27FC236}">
                <a16:creationId xmlns:a16="http://schemas.microsoft.com/office/drawing/2014/main" id="{E9D78C32-6275-491F-A1D2-5D6F166C8F6A}"/>
              </a:ext>
            </a:extLst>
          </p:cNvPr>
          <p:cNvSpPr>
            <a:spLocks noGrp="1"/>
          </p:cNvSpPr>
          <p:nvPr/>
        </p:nvSpPr>
        <p:spPr>
          <a:xfrm>
            <a:off x="5600700" y="68437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4B139F"/>
              </a:gs>
              <a:gs pos="100000">
                <a:srgbClr val="8E68D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4" name="pseudo-31">
            <a:extLst>
              <a:ext uri="{FF2B5EF4-FFF2-40B4-BE49-F238E27FC236}">
                <a16:creationId xmlns:a16="http://schemas.microsoft.com/office/drawing/2014/main" id="{2AEBEB5F-639F-47F9-B489-FCA8F8F6D2DE}"/>
              </a:ext>
            </a:extLst>
          </p:cNvPr>
          <p:cNvSpPr>
            <a:spLocks noGrp="1"/>
          </p:cNvSpPr>
          <p:nvPr/>
        </p:nvSpPr>
        <p:spPr>
          <a:xfrm>
            <a:off x="6438900" y="69008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D7CAFF"/>
          </a:solidFill>
          <a:ln w="0">
            <a:noFill/>
            <a:prstDash val="solid"/>
          </a:ln>
        </p:spPr>
      </p:sp>
      <p:sp>
        <p:nvSpPr>
          <p:cNvPr id="35" name="html-shape-32">
            <a:extLst>
              <a:ext uri="{FF2B5EF4-FFF2-40B4-BE49-F238E27FC236}">
                <a16:creationId xmlns:a16="http://schemas.microsoft.com/office/drawing/2014/main" id="{61C8E398-869F-4039-92A9-C213D4325BCC}"/>
              </a:ext>
            </a:extLst>
          </p:cNvPr>
          <p:cNvSpPr>
            <a:spLocks noGrp="1"/>
          </p:cNvSpPr>
          <p:nvPr/>
        </p:nvSpPr>
        <p:spPr>
          <a:xfrm>
            <a:off x="8348663" y="5810250"/>
            <a:ext cx="219075" cy="219075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47625">
            <a:solidFill>
              <a:srgbClr val="315FD5"/>
            </a:solidFill>
            <a:prstDash val="solid"/>
          </a:ln>
        </p:spPr>
      </p:sp>
      <p:sp>
        <p:nvSpPr>
          <p:cNvPr id="36" name="html-shape-33">
            <a:extLst>
              <a:ext uri="{FF2B5EF4-FFF2-40B4-BE49-F238E27FC236}">
                <a16:creationId xmlns:a16="http://schemas.microsoft.com/office/drawing/2014/main" id="{0F41514C-8AA1-461A-8B5E-048DC2599818}"/>
              </a:ext>
            </a:extLst>
          </p:cNvPr>
          <p:cNvSpPr>
            <a:spLocks noGrp="1"/>
          </p:cNvSpPr>
          <p:nvPr/>
        </p:nvSpPr>
        <p:spPr>
          <a:xfrm>
            <a:off x="8691563" y="5810250"/>
            <a:ext cx="219075" cy="219075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47625">
            <a:solidFill>
              <a:srgbClr val="315FD5"/>
            </a:solidFill>
            <a:prstDash val="solid"/>
          </a:ln>
        </p:spPr>
      </p:sp>
      <p:sp>
        <p:nvSpPr>
          <p:cNvPr id="37" name="html-shape-34">
            <a:extLst>
              <a:ext uri="{FF2B5EF4-FFF2-40B4-BE49-F238E27FC236}">
                <a16:creationId xmlns:a16="http://schemas.microsoft.com/office/drawing/2014/main" id="{471BFA33-0DCC-499C-95B1-8FD5072CEE07}"/>
              </a:ext>
            </a:extLst>
          </p:cNvPr>
          <p:cNvSpPr>
            <a:spLocks noGrp="1"/>
          </p:cNvSpPr>
          <p:nvPr/>
        </p:nvSpPr>
        <p:spPr>
          <a:xfrm>
            <a:off x="9034463" y="5810250"/>
            <a:ext cx="219075" cy="219075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47625">
            <a:solidFill>
              <a:srgbClr val="315FD5"/>
            </a:solidFill>
            <a:prstDash val="solid"/>
          </a:ln>
        </p:spPr>
      </p:sp>
      <p:sp>
        <p:nvSpPr>
          <p:cNvPr id="38" name="html-shape-35">
            <a:extLst>
              <a:ext uri="{FF2B5EF4-FFF2-40B4-BE49-F238E27FC236}">
                <a16:creationId xmlns:a16="http://schemas.microsoft.com/office/drawing/2014/main" id="{C162E6C5-0B00-432B-BFB8-E73AB8C749D7}"/>
              </a:ext>
            </a:extLst>
          </p:cNvPr>
          <p:cNvSpPr>
            <a:spLocks noGrp="1"/>
          </p:cNvSpPr>
          <p:nvPr/>
        </p:nvSpPr>
        <p:spPr>
          <a:xfrm>
            <a:off x="9377363" y="5810250"/>
            <a:ext cx="219075" cy="219075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47625">
            <a:solidFill>
              <a:srgbClr val="315FD5"/>
            </a:solidFill>
            <a:prstDash val="solid"/>
          </a:ln>
        </p:spPr>
      </p:sp>
      <p:sp>
        <p:nvSpPr>
          <p:cNvPr id="39" name="html-shape-36">
            <a:extLst>
              <a:ext uri="{FF2B5EF4-FFF2-40B4-BE49-F238E27FC236}">
                <a16:creationId xmlns:a16="http://schemas.microsoft.com/office/drawing/2014/main" id="{47481EB2-F83B-4F35-BEE2-310466977A61}"/>
              </a:ext>
            </a:extLst>
          </p:cNvPr>
          <p:cNvSpPr>
            <a:spLocks noGrp="1"/>
          </p:cNvSpPr>
          <p:nvPr/>
        </p:nvSpPr>
        <p:spPr>
          <a:xfrm>
            <a:off x="9720263" y="5810250"/>
            <a:ext cx="219075" cy="219075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47625">
            <a:solidFill>
              <a:srgbClr val="315FD5"/>
            </a:solidFill>
            <a:prstDash val="solid"/>
          </a:ln>
        </p:spPr>
      </p:sp>
      <p:sp>
        <p:nvSpPr>
          <p:cNvPr id="40" name="pseudo-arrow-37">
            <a:extLst>
              <a:ext uri="{FF2B5EF4-FFF2-40B4-BE49-F238E27FC236}">
                <a16:creationId xmlns:a16="http://schemas.microsoft.com/office/drawing/2014/main" id="{01DCED3D-CB07-4403-A0DB-15CD4E66C2AF}"/>
              </a:ext>
            </a:extLst>
          </p:cNvPr>
          <p:cNvSpPr>
            <a:spLocks noGrp="1"/>
          </p:cNvSpPr>
          <p:nvPr/>
        </p:nvSpPr>
        <p:spPr>
          <a:xfrm rot="5400000">
            <a:off x="10477500" y="6010275"/>
            <a:ext cx="209550" cy="247650"/>
          </a:xfrm>
          <a:prstGeom prst="triangle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41" name="border-39">
            <a:extLst>
              <a:ext uri="{FF2B5EF4-FFF2-40B4-BE49-F238E27FC236}">
                <a16:creationId xmlns:a16="http://schemas.microsoft.com/office/drawing/2014/main" id="{425E09EA-1BCC-4E1C-AC1E-F1C35B6A8C17}"/>
              </a:ext>
            </a:extLst>
          </p:cNvPr>
          <p:cNvSpPr>
            <a:spLocks noGrp="1"/>
          </p:cNvSpPr>
          <p:nvPr/>
        </p:nvSpPr>
        <p:spPr>
          <a:xfrm>
            <a:off x="11182350" y="4919663"/>
            <a:ext cx="4953000" cy="762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42" name="html-shape-40">
            <a:extLst>
              <a:ext uri="{FF2B5EF4-FFF2-40B4-BE49-F238E27FC236}">
                <a16:creationId xmlns:a16="http://schemas.microsoft.com/office/drawing/2014/main" id="{228044D3-F64A-4EB6-BA9D-37919F6649A4}"/>
              </a:ext>
            </a:extLst>
          </p:cNvPr>
          <p:cNvSpPr>
            <a:spLocks noGrp="1"/>
          </p:cNvSpPr>
          <p:nvPr/>
        </p:nvSpPr>
        <p:spPr>
          <a:xfrm>
            <a:off x="14954250" y="5300663"/>
            <a:ext cx="857250" cy="361950"/>
          </a:xfrm>
          <a:prstGeom prst="roundRect">
            <a:avLst>
              <a:gd name="adj" fmla="val 23684"/>
            </a:avLst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43" name="html-shape-41">
            <a:extLst>
              <a:ext uri="{FF2B5EF4-FFF2-40B4-BE49-F238E27FC236}">
                <a16:creationId xmlns:a16="http://schemas.microsoft.com/office/drawing/2014/main" id="{F264D27D-032D-42CE-844C-50DE8CBF4493}"/>
              </a:ext>
            </a:extLst>
          </p:cNvPr>
          <p:cNvSpPr>
            <a:spLocks noGrp="1"/>
          </p:cNvSpPr>
          <p:nvPr/>
        </p:nvSpPr>
        <p:spPr>
          <a:xfrm>
            <a:off x="11506200" y="5986463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A9DFCA"/>
            </a:solidFill>
            <a:prstDash val="solid"/>
          </a:ln>
        </p:spPr>
      </p:sp>
      <p:sp>
        <p:nvSpPr>
          <p:cNvPr id="44" name="html-shape-42">
            <a:extLst>
              <a:ext uri="{FF2B5EF4-FFF2-40B4-BE49-F238E27FC236}">
                <a16:creationId xmlns:a16="http://schemas.microsoft.com/office/drawing/2014/main" id="{E5358E86-186C-43C6-9B2C-6D0EBD1DABE3}"/>
              </a:ext>
            </a:extLst>
          </p:cNvPr>
          <p:cNvSpPr>
            <a:spLocks noGrp="1"/>
          </p:cNvSpPr>
          <p:nvPr/>
        </p:nvSpPr>
        <p:spPr>
          <a:xfrm>
            <a:off x="11658600" y="61579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5" name="pseudo-43">
            <a:extLst>
              <a:ext uri="{FF2B5EF4-FFF2-40B4-BE49-F238E27FC236}">
                <a16:creationId xmlns:a16="http://schemas.microsoft.com/office/drawing/2014/main" id="{64C588EE-9896-41E2-B5A7-0DDBF6198FFE}"/>
              </a:ext>
            </a:extLst>
          </p:cNvPr>
          <p:cNvSpPr>
            <a:spLocks noGrp="1"/>
          </p:cNvSpPr>
          <p:nvPr/>
        </p:nvSpPr>
        <p:spPr>
          <a:xfrm>
            <a:off x="12496800" y="62150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46" name="html-shape-44">
            <a:extLst>
              <a:ext uri="{FF2B5EF4-FFF2-40B4-BE49-F238E27FC236}">
                <a16:creationId xmlns:a16="http://schemas.microsoft.com/office/drawing/2014/main" id="{B79397A1-3F5A-4056-9EA5-9B389824A378}"/>
              </a:ext>
            </a:extLst>
          </p:cNvPr>
          <p:cNvSpPr>
            <a:spLocks noGrp="1"/>
          </p:cNvSpPr>
          <p:nvPr/>
        </p:nvSpPr>
        <p:spPr>
          <a:xfrm>
            <a:off x="11658600" y="63865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7" name="pseudo-45">
            <a:extLst>
              <a:ext uri="{FF2B5EF4-FFF2-40B4-BE49-F238E27FC236}">
                <a16:creationId xmlns:a16="http://schemas.microsoft.com/office/drawing/2014/main" id="{E058C843-FBF0-40BB-90DA-E6BEC6C28726}"/>
              </a:ext>
            </a:extLst>
          </p:cNvPr>
          <p:cNvSpPr>
            <a:spLocks noGrp="1"/>
          </p:cNvSpPr>
          <p:nvPr/>
        </p:nvSpPr>
        <p:spPr>
          <a:xfrm>
            <a:off x="12496800" y="64436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48" name="html-shape-46">
            <a:extLst>
              <a:ext uri="{FF2B5EF4-FFF2-40B4-BE49-F238E27FC236}">
                <a16:creationId xmlns:a16="http://schemas.microsoft.com/office/drawing/2014/main" id="{0342DC75-FC12-4C8A-884D-4F5694149BF8}"/>
              </a:ext>
            </a:extLst>
          </p:cNvPr>
          <p:cNvSpPr>
            <a:spLocks noGrp="1"/>
          </p:cNvSpPr>
          <p:nvPr/>
        </p:nvSpPr>
        <p:spPr>
          <a:xfrm>
            <a:off x="11658600" y="66151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9" name="pseudo-47">
            <a:extLst>
              <a:ext uri="{FF2B5EF4-FFF2-40B4-BE49-F238E27FC236}">
                <a16:creationId xmlns:a16="http://schemas.microsoft.com/office/drawing/2014/main" id="{7A245C6A-1862-4483-9474-52BCC15EFFD4}"/>
              </a:ext>
            </a:extLst>
          </p:cNvPr>
          <p:cNvSpPr>
            <a:spLocks noGrp="1"/>
          </p:cNvSpPr>
          <p:nvPr/>
        </p:nvSpPr>
        <p:spPr>
          <a:xfrm>
            <a:off x="12496800" y="66722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50" name="html-shape-48">
            <a:extLst>
              <a:ext uri="{FF2B5EF4-FFF2-40B4-BE49-F238E27FC236}">
                <a16:creationId xmlns:a16="http://schemas.microsoft.com/office/drawing/2014/main" id="{ACB6DD8B-1B99-4B56-A136-C8462F011D78}"/>
              </a:ext>
            </a:extLst>
          </p:cNvPr>
          <p:cNvSpPr>
            <a:spLocks noGrp="1"/>
          </p:cNvSpPr>
          <p:nvPr/>
        </p:nvSpPr>
        <p:spPr>
          <a:xfrm>
            <a:off x="11658600" y="68437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1" name="pseudo-49">
            <a:extLst>
              <a:ext uri="{FF2B5EF4-FFF2-40B4-BE49-F238E27FC236}">
                <a16:creationId xmlns:a16="http://schemas.microsoft.com/office/drawing/2014/main" id="{F719756D-AF0B-4290-BC94-B589B887BB3C}"/>
              </a:ext>
            </a:extLst>
          </p:cNvPr>
          <p:cNvSpPr>
            <a:spLocks noGrp="1"/>
          </p:cNvSpPr>
          <p:nvPr/>
        </p:nvSpPr>
        <p:spPr>
          <a:xfrm>
            <a:off x="12496800" y="69008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52" name="html-shape-50">
            <a:extLst>
              <a:ext uri="{FF2B5EF4-FFF2-40B4-BE49-F238E27FC236}">
                <a16:creationId xmlns:a16="http://schemas.microsoft.com/office/drawing/2014/main" id="{1268B348-3192-4E74-9033-87EB077C5BE2}"/>
              </a:ext>
            </a:extLst>
          </p:cNvPr>
          <p:cNvSpPr>
            <a:spLocks noGrp="1"/>
          </p:cNvSpPr>
          <p:nvPr/>
        </p:nvSpPr>
        <p:spPr>
          <a:xfrm>
            <a:off x="12992100" y="5986463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A9DFCA"/>
            </a:solidFill>
            <a:prstDash val="solid"/>
          </a:ln>
        </p:spPr>
      </p:sp>
      <p:sp>
        <p:nvSpPr>
          <p:cNvPr id="53" name="html-shape-51">
            <a:extLst>
              <a:ext uri="{FF2B5EF4-FFF2-40B4-BE49-F238E27FC236}">
                <a16:creationId xmlns:a16="http://schemas.microsoft.com/office/drawing/2014/main" id="{22084974-F092-4E31-8754-F73AE8A29F41}"/>
              </a:ext>
            </a:extLst>
          </p:cNvPr>
          <p:cNvSpPr>
            <a:spLocks noGrp="1"/>
          </p:cNvSpPr>
          <p:nvPr/>
        </p:nvSpPr>
        <p:spPr>
          <a:xfrm>
            <a:off x="13144500" y="61579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4" name="pseudo-52">
            <a:extLst>
              <a:ext uri="{FF2B5EF4-FFF2-40B4-BE49-F238E27FC236}">
                <a16:creationId xmlns:a16="http://schemas.microsoft.com/office/drawing/2014/main" id="{055378D2-21A7-4343-828F-CD9CAAB0D7FB}"/>
              </a:ext>
            </a:extLst>
          </p:cNvPr>
          <p:cNvSpPr>
            <a:spLocks noGrp="1"/>
          </p:cNvSpPr>
          <p:nvPr/>
        </p:nvSpPr>
        <p:spPr>
          <a:xfrm>
            <a:off x="13982700" y="62150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55" name="html-shape-53">
            <a:extLst>
              <a:ext uri="{FF2B5EF4-FFF2-40B4-BE49-F238E27FC236}">
                <a16:creationId xmlns:a16="http://schemas.microsoft.com/office/drawing/2014/main" id="{D0F68C84-331C-48AF-8DED-BBA8C3725E6E}"/>
              </a:ext>
            </a:extLst>
          </p:cNvPr>
          <p:cNvSpPr>
            <a:spLocks noGrp="1"/>
          </p:cNvSpPr>
          <p:nvPr/>
        </p:nvSpPr>
        <p:spPr>
          <a:xfrm>
            <a:off x="13144500" y="63865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6" name="pseudo-54">
            <a:extLst>
              <a:ext uri="{FF2B5EF4-FFF2-40B4-BE49-F238E27FC236}">
                <a16:creationId xmlns:a16="http://schemas.microsoft.com/office/drawing/2014/main" id="{FB7BAEFD-47AF-4C47-B834-291E5F7161D3}"/>
              </a:ext>
            </a:extLst>
          </p:cNvPr>
          <p:cNvSpPr>
            <a:spLocks noGrp="1"/>
          </p:cNvSpPr>
          <p:nvPr/>
        </p:nvSpPr>
        <p:spPr>
          <a:xfrm>
            <a:off x="13982700" y="64436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57" name="html-shape-55">
            <a:extLst>
              <a:ext uri="{FF2B5EF4-FFF2-40B4-BE49-F238E27FC236}">
                <a16:creationId xmlns:a16="http://schemas.microsoft.com/office/drawing/2014/main" id="{BB0237C3-6C35-419D-A814-A77FCAB5397D}"/>
              </a:ext>
            </a:extLst>
          </p:cNvPr>
          <p:cNvSpPr>
            <a:spLocks noGrp="1"/>
          </p:cNvSpPr>
          <p:nvPr/>
        </p:nvSpPr>
        <p:spPr>
          <a:xfrm>
            <a:off x="13144500" y="66151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8" name="pseudo-56">
            <a:extLst>
              <a:ext uri="{FF2B5EF4-FFF2-40B4-BE49-F238E27FC236}">
                <a16:creationId xmlns:a16="http://schemas.microsoft.com/office/drawing/2014/main" id="{D781B9FE-509E-4712-803F-01E1BDA9C4BA}"/>
              </a:ext>
            </a:extLst>
          </p:cNvPr>
          <p:cNvSpPr>
            <a:spLocks noGrp="1"/>
          </p:cNvSpPr>
          <p:nvPr/>
        </p:nvSpPr>
        <p:spPr>
          <a:xfrm>
            <a:off x="13982700" y="66722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59" name="html-shape-57">
            <a:extLst>
              <a:ext uri="{FF2B5EF4-FFF2-40B4-BE49-F238E27FC236}">
                <a16:creationId xmlns:a16="http://schemas.microsoft.com/office/drawing/2014/main" id="{0EB44B7B-78B4-451C-9E7A-AFC259A0DD0B}"/>
              </a:ext>
            </a:extLst>
          </p:cNvPr>
          <p:cNvSpPr>
            <a:spLocks noGrp="1"/>
          </p:cNvSpPr>
          <p:nvPr/>
        </p:nvSpPr>
        <p:spPr>
          <a:xfrm>
            <a:off x="13144500" y="68437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0" name="pseudo-58">
            <a:extLst>
              <a:ext uri="{FF2B5EF4-FFF2-40B4-BE49-F238E27FC236}">
                <a16:creationId xmlns:a16="http://schemas.microsoft.com/office/drawing/2014/main" id="{0A6C81C9-6A2F-447E-8F76-D88BB730D797}"/>
              </a:ext>
            </a:extLst>
          </p:cNvPr>
          <p:cNvSpPr>
            <a:spLocks noGrp="1"/>
          </p:cNvSpPr>
          <p:nvPr/>
        </p:nvSpPr>
        <p:spPr>
          <a:xfrm>
            <a:off x="13982700" y="69008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61" name="html-shape-59">
            <a:extLst>
              <a:ext uri="{FF2B5EF4-FFF2-40B4-BE49-F238E27FC236}">
                <a16:creationId xmlns:a16="http://schemas.microsoft.com/office/drawing/2014/main" id="{39014AFE-6E4F-4BAC-9099-BDB3710E4A3E}"/>
              </a:ext>
            </a:extLst>
          </p:cNvPr>
          <p:cNvSpPr>
            <a:spLocks noGrp="1"/>
          </p:cNvSpPr>
          <p:nvPr/>
        </p:nvSpPr>
        <p:spPr>
          <a:xfrm>
            <a:off x="14478000" y="5986463"/>
            <a:ext cx="1257300" cy="1285875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28575">
            <a:solidFill>
              <a:srgbClr val="A9DFCA"/>
            </a:solidFill>
            <a:prstDash val="solid"/>
          </a:ln>
        </p:spPr>
      </p:sp>
      <p:sp>
        <p:nvSpPr>
          <p:cNvPr id="62" name="html-shape-60">
            <a:extLst>
              <a:ext uri="{FF2B5EF4-FFF2-40B4-BE49-F238E27FC236}">
                <a16:creationId xmlns:a16="http://schemas.microsoft.com/office/drawing/2014/main" id="{6E383DE4-28EE-4CAE-B9B0-3C19D113D8F5}"/>
              </a:ext>
            </a:extLst>
          </p:cNvPr>
          <p:cNvSpPr>
            <a:spLocks noGrp="1"/>
          </p:cNvSpPr>
          <p:nvPr/>
        </p:nvSpPr>
        <p:spPr>
          <a:xfrm>
            <a:off x="14630400" y="61579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3" name="pseudo-61">
            <a:extLst>
              <a:ext uri="{FF2B5EF4-FFF2-40B4-BE49-F238E27FC236}">
                <a16:creationId xmlns:a16="http://schemas.microsoft.com/office/drawing/2014/main" id="{C622659D-800D-46D1-9939-0F8FA8430A63}"/>
              </a:ext>
            </a:extLst>
          </p:cNvPr>
          <p:cNvSpPr>
            <a:spLocks noGrp="1"/>
          </p:cNvSpPr>
          <p:nvPr/>
        </p:nvSpPr>
        <p:spPr>
          <a:xfrm>
            <a:off x="15468600" y="62150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64" name="html-shape-62">
            <a:extLst>
              <a:ext uri="{FF2B5EF4-FFF2-40B4-BE49-F238E27FC236}">
                <a16:creationId xmlns:a16="http://schemas.microsoft.com/office/drawing/2014/main" id="{44F7544D-0DE2-40A1-9047-E9D640428C4F}"/>
              </a:ext>
            </a:extLst>
          </p:cNvPr>
          <p:cNvSpPr>
            <a:spLocks noGrp="1"/>
          </p:cNvSpPr>
          <p:nvPr/>
        </p:nvSpPr>
        <p:spPr>
          <a:xfrm>
            <a:off x="14630400" y="63865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5" name="pseudo-63">
            <a:extLst>
              <a:ext uri="{FF2B5EF4-FFF2-40B4-BE49-F238E27FC236}">
                <a16:creationId xmlns:a16="http://schemas.microsoft.com/office/drawing/2014/main" id="{56D714D4-9511-43CC-B60A-8FA59758DFE9}"/>
              </a:ext>
            </a:extLst>
          </p:cNvPr>
          <p:cNvSpPr>
            <a:spLocks noGrp="1"/>
          </p:cNvSpPr>
          <p:nvPr/>
        </p:nvSpPr>
        <p:spPr>
          <a:xfrm>
            <a:off x="15468600" y="64436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66" name="html-shape-64">
            <a:extLst>
              <a:ext uri="{FF2B5EF4-FFF2-40B4-BE49-F238E27FC236}">
                <a16:creationId xmlns:a16="http://schemas.microsoft.com/office/drawing/2014/main" id="{A0D91C26-BD3C-4176-AEC7-E06761B708EA}"/>
              </a:ext>
            </a:extLst>
          </p:cNvPr>
          <p:cNvSpPr>
            <a:spLocks noGrp="1"/>
          </p:cNvSpPr>
          <p:nvPr/>
        </p:nvSpPr>
        <p:spPr>
          <a:xfrm>
            <a:off x="14630400" y="66151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7" name="pseudo-65">
            <a:extLst>
              <a:ext uri="{FF2B5EF4-FFF2-40B4-BE49-F238E27FC236}">
                <a16:creationId xmlns:a16="http://schemas.microsoft.com/office/drawing/2014/main" id="{0165B9AB-F285-4BE0-BAC8-CD372E85A7C5}"/>
              </a:ext>
            </a:extLst>
          </p:cNvPr>
          <p:cNvSpPr>
            <a:spLocks noGrp="1"/>
          </p:cNvSpPr>
          <p:nvPr/>
        </p:nvSpPr>
        <p:spPr>
          <a:xfrm>
            <a:off x="15468600" y="66722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68" name="html-shape-66">
            <a:extLst>
              <a:ext uri="{FF2B5EF4-FFF2-40B4-BE49-F238E27FC236}">
                <a16:creationId xmlns:a16="http://schemas.microsoft.com/office/drawing/2014/main" id="{A07E0DDE-7081-4022-987D-08F2082B6494}"/>
              </a:ext>
            </a:extLst>
          </p:cNvPr>
          <p:cNvSpPr>
            <a:spLocks noGrp="1"/>
          </p:cNvSpPr>
          <p:nvPr/>
        </p:nvSpPr>
        <p:spPr>
          <a:xfrm>
            <a:off x="14630400" y="6843713"/>
            <a:ext cx="952500" cy="161925"/>
          </a:xfrm>
          <a:prstGeom prst="roundRect">
            <a:avLst>
              <a:gd name="adj" fmla="val 23529"/>
            </a:avLst>
          </a:prstGeom>
          <a:gradFill>
            <a:gsLst>
              <a:gs pos="0">
                <a:srgbClr val="08764C"/>
              </a:gs>
              <a:gs pos="100000">
                <a:srgbClr val="0A9A6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9" name="pseudo-67">
            <a:extLst>
              <a:ext uri="{FF2B5EF4-FFF2-40B4-BE49-F238E27FC236}">
                <a16:creationId xmlns:a16="http://schemas.microsoft.com/office/drawing/2014/main" id="{EC8F4C26-5C57-4B25-AB03-B959BB954914}"/>
              </a:ext>
            </a:extLst>
          </p:cNvPr>
          <p:cNvSpPr>
            <a:spLocks noGrp="1"/>
          </p:cNvSpPr>
          <p:nvPr/>
        </p:nvSpPr>
        <p:spPr>
          <a:xfrm>
            <a:off x="15468600" y="6900863"/>
            <a:ext cx="47625" cy="47625"/>
          </a:xfrm>
          <a:prstGeom prst="roundRect">
            <a:avLst>
              <a:gd name="adj" fmla="val 50000"/>
            </a:avLst>
          </a:prstGeom>
          <a:solidFill>
            <a:srgbClr val="C8EFDE"/>
          </a:solidFill>
          <a:ln w="0">
            <a:noFill/>
            <a:prstDash val="solid"/>
          </a:ln>
        </p:spPr>
      </p:sp>
      <p:sp>
        <p:nvSpPr>
          <p:cNvPr id="70" name="border-69">
            <a:extLst>
              <a:ext uri="{FF2B5EF4-FFF2-40B4-BE49-F238E27FC236}">
                <a16:creationId xmlns:a16="http://schemas.microsoft.com/office/drawing/2014/main" id="{F5BE87DA-87E1-4B17-B4FD-36FC2ADC0C61}"/>
              </a:ext>
            </a:extLst>
          </p:cNvPr>
          <p:cNvSpPr>
            <a:spLocks noGrp="1"/>
          </p:cNvSpPr>
          <p:nvPr/>
        </p:nvSpPr>
        <p:spPr>
          <a:xfrm>
            <a:off x="1714500" y="8724900"/>
            <a:ext cx="76200" cy="6858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B33F47F6-34FE-411E-967B-49F6B558C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91BEA24C-E1C9-415C-9DC3-735FD3BF8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73" name="text-1">
            <a:extLst>
              <a:ext uri="{FF2B5EF4-FFF2-40B4-BE49-F238E27FC236}">
                <a16:creationId xmlns:a16="http://schemas.microsoft.com/office/drawing/2014/main" id="{298116E1-CD9C-45DF-8C8F-B1CA8C7775EB}"/>
              </a:ext>
            </a:extLst>
          </p:cNvPr>
          <p:cNvSpPr>
            <a:spLocks noGrp="1"/>
          </p:cNvSpPr>
          <p:nvPr/>
        </p:nvSpPr>
        <p:spPr>
          <a:xfrm>
            <a:off x="1704975" y="1352550"/>
            <a:ext cx="1633728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950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CHAPTER 06</a:t>
            </a:r>
          </a:p>
        </p:txBody>
      </p:sp>
      <p:sp>
        <p:nvSpPr>
          <p:cNvPr id="74" name="text-2">
            <a:extLst>
              <a:ext uri="{FF2B5EF4-FFF2-40B4-BE49-F238E27FC236}">
                <a16:creationId xmlns:a16="http://schemas.microsoft.com/office/drawing/2014/main" id="{426CFAB1-2C7B-4BEA-B9CB-BF1DAFF5B2B7}"/>
              </a:ext>
            </a:extLst>
          </p:cNvPr>
          <p:cNvSpPr>
            <a:spLocks noGrp="1"/>
          </p:cNvSpPr>
          <p:nvPr/>
        </p:nvSpPr>
        <p:spPr>
          <a:xfrm>
            <a:off x="1704975" y="1876425"/>
            <a:ext cx="5001863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139"/>
          </a:bodyPr>
          <a:lstStyle>
            <a:def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5700" b="1" i="0" spc="-15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跨区域 PD 分析</a:t>
            </a:r>
          </a:p>
        </p:txBody>
      </p:sp>
      <p:sp>
        <p:nvSpPr>
          <p:cNvPr id="75" name="text-3">
            <a:extLst>
              <a:ext uri="{FF2B5EF4-FFF2-40B4-BE49-F238E27FC236}">
                <a16:creationId xmlns:a16="http://schemas.microsoft.com/office/drawing/2014/main" id="{628CE9A1-91D9-4E0D-9753-42A5491CCED8}"/>
              </a:ext>
            </a:extLst>
          </p:cNvPr>
          <p:cNvSpPr>
            <a:spLocks noGrp="1"/>
          </p:cNvSpPr>
          <p:nvPr/>
        </p:nvSpPr>
        <p:spPr>
          <a:xfrm>
            <a:off x="1724025" y="3133725"/>
            <a:ext cx="43434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从跨机房实验走向跨城算力网络</a:t>
            </a:r>
          </a:p>
        </p:txBody>
      </p:sp>
      <p:sp>
        <p:nvSpPr>
          <p:cNvPr id="76" name="text-4">
            <a:extLst>
              <a:ext uri="{FF2B5EF4-FFF2-40B4-BE49-F238E27FC236}">
                <a16:creationId xmlns:a16="http://schemas.microsoft.com/office/drawing/2014/main" id="{AB3D0188-5060-4265-BE18-6B1069434CD1}"/>
              </a:ext>
            </a:extLst>
          </p:cNvPr>
          <p:cNvSpPr>
            <a:spLocks noGrp="1"/>
          </p:cNvSpPr>
          <p:nvPr/>
        </p:nvSpPr>
        <p:spPr>
          <a:xfrm>
            <a:off x="2466975" y="5191125"/>
            <a:ext cx="648938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CITY A</a:t>
            </a:r>
          </a:p>
        </p:txBody>
      </p:sp>
      <p:sp>
        <p:nvSpPr>
          <p:cNvPr id="77" name="text-5">
            <a:extLst>
              <a:ext uri="{FF2B5EF4-FFF2-40B4-BE49-F238E27FC236}">
                <a16:creationId xmlns:a16="http://schemas.microsoft.com/office/drawing/2014/main" id="{2E60D765-69A7-4FA5-A3B8-062496AC8F45}"/>
              </a:ext>
            </a:extLst>
          </p:cNvPr>
          <p:cNvSpPr>
            <a:spLocks noGrp="1"/>
          </p:cNvSpPr>
          <p:nvPr/>
        </p:nvSpPr>
        <p:spPr>
          <a:xfrm>
            <a:off x="2466975" y="5408867"/>
            <a:ext cx="186509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Prefill 资源池</a:t>
            </a:r>
          </a:p>
        </p:txBody>
      </p:sp>
      <p:sp>
        <p:nvSpPr>
          <p:cNvPr id="78" name="text-6">
            <a:extLst>
              <a:ext uri="{FF2B5EF4-FFF2-40B4-BE49-F238E27FC236}">
                <a16:creationId xmlns:a16="http://schemas.microsoft.com/office/drawing/2014/main" id="{91162C72-07A2-4FBD-95C3-C9C2DF1CD89B}"/>
              </a:ext>
            </a:extLst>
          </p:cNvPr>
          <p:cNvSpPr>
            <a:spLocks noGrp="1"/>
          </p:cNvSpPr>
          <p:nvPr/>
        </p:nvSpPr>
        <p:spPr>
          <a:xfrm>
            <a:off x="5886450" y="5376863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规模化扩展</a:t>
            </a:r>
          </a:p>
        </p:txBody>
      </p:sp>
      <p:sp>
        <p:nvSpPr>
          <p:cNvPr id="79" name="text-7">
            <a:extLst>
              <a:ext uri="{FF2B5EF4-FFF2-40B4-BE49-F238E27FC236}">
                <a16:creationId xmlns:a16="http://schemas.microsoft.com/office/drawing/2014/main" id="{7E4A6FDB-7D1C-4B0A-8AD2-611D041BB6CD}"/>
              </a:ext>
            </a:extLst>
          </p:cNvPr>
          <p:cNvSpPr>
            <a:spLocks noGrp="1"/>
          </p:cNvSpPr>
          <p:nvPr/>
        </p:nvSpPr>
        <p:spPr>
          <a:xfrm>
            <a:off x="3005900" y="7043738"/>
            <a:ext cx="25555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P0</a:t>
            </a:r>
          </a:p>
        </p:txBody>
      </p:sp>
      <p:sp>
        <p:nvSpPr>
          <p:cNvPr id="80" name="text-8">
            <a:extLst>
              <a:ext uri="{FF2B5EF4-FFF2-40B4-BE49-F238E27FC236}">
                <a16:creationId xmlns:a16="http://schemas.microsoft.com/office/drawing/2014/main" id="{6359C315-29E6-4D14-9E16-25DA98FC08C5}"/>
              </a:ext>
            </a:extLst>
          </p:cNvPr>
          <p:cNvSpPr>
            <a:spLocks noGrp="1"/>
          </p:cNvSpPr>
          <p:nvPr/>
        </p:nvSpPr>
        <p:spPr>
          <a:xfrm>
            <a:off x="4505325" y="7043738"/>
            <a:ext cx="22841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P1</a:t>
            </a:r>
          </a:p>
        </p:txBody>
      </p:sp>
      <p:sp>
        <p:nvSpPr>
          <p:cNvPr id="81" name="text-9">
            <a:extLst>
              <a:ext uri="{FF2B5EF4-FFF2-40B4-BE49-F238E27FC236}">
                <a16:creationId xmlns:a16="http://schemas.microsoft.com/office/drawing/2014/main" id="{93A8CC1D-869D-4CDB-9469-2825B5D0242E}"/>
              </a:ext>
            </a:extLst>
          </p:cNvPr>
          <p:cNvSpPr>
            <a:spLocks noGrp="1"/>
          </p:cNvSpPr>
          <p:nvPr/>
        </p:nvSpPr>
        <p:spPr>
          <a:xfrm>
            <a:off x="5977700" y="7043738"/>
            <a:ext cx="25555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P2</a:t>
            </a:r>
          </a:p>
        </p:txBody>
      </p:sp>
      <p:sp>
        <p:nvSpPr>
          <p:cNvPr id="82" name="text-10">
            <a:extLst>
              <a:ext uri="{FF2B5EF4-FFF2-40B4-BE49-F238E27FC236}">
                <a16:creationId xmlns:a16="http://schemas.microsoft.com/office/drawing/2014/main" id="{64B65A3B-BC5A-4B07-BD04-6B5684B31390}"/>
              </a:ext>
            </a:extLst>
          </p:cNvPr>
          <p:cNvSpPr>
            <a:spLocks noGrp="1"/>
          </p:cNvSpPr>
          <p:nvPr/>
        </p:nvSpPr>
        <p:spPr>
          <a:xfrm>
            <a:off x="8311134" y="6305550"/>
            <a:ext cx="1722692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2E3E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2E3E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2E3E58"/>
                </a:solidFill>
                <a:latin typeface="PingFang SC"/>
                <a:ea typeface="PingFang SC"/>
                <a:cs typeface="Arial"/>
              </a:rPr>
              <a:t>KV Cache Blocks</a:t>
            </a:r>
          </a:p>
        </p:txBody>
      </p:sp>
      <p:sp>
        <p:nvSpPr>
          <p:cNvPr id="83" name="text-11">
            <a:extLst>
              <a:ext uri="{FF2B5EF4-FFF2-40B4-BE49-F238E27FC236}">
                <a16:creationId xmlns:a16="http://schemas.microsoft.com/office/drawing/2014/main" id="{773FD4C6-3439-43C8-B161-6EF35F23608E}"/>
              </a:ext>
            </a:extLst>
          </p:cNvPr>
          <p:cNvSpPr>
            <a:spLocks noGrp="1"/>
          </p:cNvSpPr>
          <p:nvPr/>
        </p:nvSpPr>
        <p:spPr>
          <a:xfrm>
            <a:off x="8031385" y="6648450"/>
            <a:ext cx="228247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45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45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45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Inter-city Computing Network</a:t>
            </a:r>
          </a:p>
        </p:txBody>
      </p:sp>
      <p:sp>
        <p:nvSpPr>
          <p:cNvPr id="84" name="text-12">
            <a:extLst>
              <a:ext uri="{FF2B5EF4-FFF2-40B4-BE49-F238E27FC236}">
                <a16:creationId xmlns:a16="http://schemas.microsoft.com/office/drawing/2014/main" id="{32F6C11D-9F68-4550-8F36-6D362C3AFA9E}"/>
              </a:ext>
            </a:extLst>
          </p:cNvPr>
          <p:cNvSpPr>
            <a:spLocks noGrp="1"/>
          </p:cNvSpPr>
          <p:nvPr/>
        </p:nvSpPr>
        <p:spPr>
          <a:xfrm>
            <a:off x="11496675" y="5191125"/>
            <a:ext cx="650558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9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CITY B</a:t>
            </a:r>
          </a:p>
        </p:txBody>
      </p:sp>
      <p:sp>
        <p:nvSpPr>
          <p:cNvPr id="85" name="text-13">
            <a:extLst>
              <a:ext uri="{FF2B5EF4-FFF2-40B4-BE49-F238E27FC236}">
                <a16:creationId xmlns:a16="http://schemas.microsoft.com/office/drawing/2014/main" id="{416F1694-40E6-46D4-BFD1-1AF01722947D}"/>
              </a:ext>
            </a:extLst>
          </p:cNvPr>
          <p:cNvSpPr>
            <a:spLocks noGrp="1"/>
          </p:cNvSpPr>
          <p:nvPr/>
        </p:nvSpPr>
        <p:spPr>
          <a:xfrm>
            <a:off x="11496675" y="5408867"/>
            <a:ext cx="2128361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Decode 资源池</a:t>
            </a:r>
          </a:p>
        </p:txBody>
      </p:sp>
      <p:sp>
        <p:nvSpPr>
          <p:cNvPr id="86" name="text-14">
            <a:extLst>
              <a:ext uri="{FF2B5EF4-FFF2-40B4-BE49-F238E27FC236}">
                <a16:creationId xmlns:a16="http://schemas.microsoft.com/office/drawing/2014/main" id="{98AE7B40-5104-4441-BBB0-5A70134929B7}"/>
              </a:ext>
            </a:extLst>
          </p:cNvPr>
          <p:cNvSpPr>
            <a:spLocks noGrp="1"/>
          </p:cNvSpPr>
          <p:nvPr/>
        </p:nvSpPr>
        <p:spPr>
          <a:xfrm>
            <a:off x="15068550" y="5376863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在线服务</a:t>
            </a:r>
          </a:p>
        </p:txBody>
      </p:sp>
      <p:sp>
        <p:nvSpPr>
          <p:cNvPr id="87" name="text-15">
            <a:extLst>
              <a:ext uri="{FF2B5EF4-FFF2-40B4-BE49-F238E27FC236}">
                <a16:creationId xmlns:a16="http://schemas.microsoft.com/office/drawing/2014/main" id="{ACF0A92D-8DF5-4A35-96EA-55B48F8037A2}"/>
              </a:ext>
            </a:extLst>
          </p:cNvPr>
          <p:cNvSpPr>
            <a:spLocks noGrp="1"/>
          </p:cNvSpPr>
          <p:nvPr/>
        </p:nvSpPr>
        <p:spPr>
          <a:xfrm>
            <a:off x="12030932" y="7043738"/>
            <a:ext cx="26489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D0</a:t>
            </a:r>
          </a:p>
        </p:txBody>
      </p:sp>
      <p:sp>
        <p:nvSpPr>
          <p:cNvPr id="88" name="text-16">
            <a:extLst>
              <a:ext uri="{FF2B5EF4-FFF2-40B4-BE49-F238E27FC236}">
                <a16:creationId xmlns:a16="http://schemas.microsoft.com/office/drawing/2014/main" id="{B614CC1F-269A-4CF3-A3A4-0867089AA72C}"/>
              </a:ext>
            </a:extLst>
          </p:cNvPr>
          <p:cNvSpPr>
            <a:spLocks noGrp="1"/>
          </p:cNvSpPr>
          <p:nvPr/>
        </p:nvSpPr>
        <p:spPr>
          <a:xfrm>
            <a:off x="13530453" y="7043738"/>
            <a:ext cx="237649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D1</a:t>
            </a:r>
          </a:p>
        </p:txBody>
      </p:sp>
      <p:sp>
        <p:nvSpPr>
          <p:cNvPr id="89" name="text-17">
            <a:extLst>
              <a:ext uri="{FF2B5EF4-FFF2-40B4-BE49-F238E27FC236}">
                <a16:creationId xmlns:a16="http://schemas.microsoft.com/office/drawing/2014/main" id="{1E75D670-04B1-4E06-88C8-C2F3BF92D175}"/>
              </a:ext>
            </a:extLst>
          </p:cNvPr>
          <p:cNvSpPr>
            <a:spLocks noGrp="1"/>
          </p:cNvSpPr>
          <p:nvPr/>
        </p:nvSpPr>
        <p:spPr>
          <a:xfrm>
            <a:off x="15002732" y="7043738"/>
            <a:ext cx="26489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D2</a:t>
            </a:r>
          </a:p>
        </p:txBody>
      </p:sp>
      <p:sp>
        <p:nvSpPr>
          <p:cNvPr id="90" name="text-18">
            <a:extLst>
              <a:ext uri="{FF2B5EF4-FFF2-40B4-BE49-F238E27FC236}">
                <a16:creationId xmlns:a16="http://schemas.microsoft.com/office/drawing/2014/main" id="{4E68488A-B3B0-4FB5-810F-9E15653C1EC1}"/>
              </a:ext>
            </a:extLst>
          </p:cNvPr>
          <p:cNvSpPr>
            <a:spLocks noGrp="1"/>
          </p:cNvSpPr>
          <p:nvPr/>
        </p:nvSpPr>
        <p:spPr>
          <a:xfrm>
            <a:off x="4109466" y="8881586"/>
            <a:ext cx="1020232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233044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233044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233044"/>
                </a:solidFill>
                <a:latin typeface="PingFang SC"/>
                <a:ea typeface="PingFang SC"/>
                <a:cs typeface="Arial"/>
              </a:rPr>
              <a:t>第三个问题：P 与 D 位于不同区域时，需要多大持续带宽，传输长尾应控制到什么程度？</a:t>
            </a:r>
          </a:p>
        </p:txBody>
      </p:sp>
      <p:sp>
        <p:nvSpPr>
          <p:cNvPr id="91" name="text-19">
            <a:extLst>
              <a:ext uri="{FF2B5EF4-FFF2-40B4-BE49-F238E27FC236}">
                <a16:creationId xmlns:a16="http://schemas.microsoft.com/office/drawing/2014/main" id="{87A32631-4986-43D5-B740-2C065287355A}"/>
              </a:ext>
            </a:extLst>
          </p:cNvPr>
          <p:cNvSpPr>
            <a:spLocks noGrp="1"/>
          </p:cNvSpPr>
          <p:nvPr/>
        </p:nvSpPr>
        <p:spPr>
          <a:xfrm>
            <a:off x="16903922" y="9848850"/>
            <a:ext cx="67922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37 / 43</a:t>
            </a:r>
          </a:p>
        </p:txBody>
      </p:sp>
    </p:spTree>
    <p:extLst>
      <p:ext uri="{BB962C8B-B14F-4D97-AF65-F5344CB8AC3E}">
        <p14:creationId xmlns:p14="http://schemas.microsoft.com/office/powerpoint/2010/main" val="379590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html-shape-1">
            <a:extLst>
              <a:ext uri="{FF2B5EF4-FFF2-40B4-BE49-F238E27FC236}">
                <a16:creationId xmlns:a16="http://schemas.microsoft.com/office/drawing/2014/main" id="{6BEBB5FE-46BD-4663-8F0B-87000A7D291B}"/>
              </a:ext>
            </a:extLst>
          </p:cNvPr>
          <p:cNvSpPr>
            <a:spLocks noGrp="1"/>
          </p:cNvSpPr>
          <p:nvPr/>
        </p:nvSpPr>
        <p:spPr>
          <a:xfrm>
            <a:off x="1238250" y="3786188"/>
            <a:ext cx="3333750" cy="3143250"/>
          </a:xfrm>
          <a:prstGeom prst="rect">
            <a:avLst/>
          </a:prstGeom>
          <a:solidFill>
            <a:srgbClr val="F7F5FF"/>
          </a:solidFill>
          <a:ln w="0">
            <a:noFill/>
            <a:prstDash val="solid"/>
          </a:ln>
        </p:spPr>
      </p:sp>
      <p:sp>
        <p:nvSpPr>
          <p:cNvPr id="2" name="html-shape-4">
            <a:extLst>
              <a:ext uri="{FF2B5EF4-FFF2-40B4-BE49-F238E27FC236}">
                <a16:creationId xmlns:a16="http://schemas.microsoft.com/office/drawing/2014/main" id="{CF2F47E9-F9E7-4260-BBB8-6BB247F69DFE}"/>
              </a:ext>
            </a:extLst>
          </p:cNvPr>
          <p:cNvSpPr>
            <a:spLocks noGrp="1"/>
          </p:cNvSpPr>
          <p:nvPr/>
        </p:nvSpPr>
        <p:spPr>
          <a:xfrm>
            <a:off x="5048250" y="3357563"/>
            <a:ext cx="7715250" cy="4000500"/>
          </a:xfrm>
          <a:prstGeom prst="rect">
            <a:avLst/>
          </a:prstGeom>
          <a:solidFill>
            <a:srgbClr val="F2F6FB"/>
          </a:solidFill>
          <a:ln w="0">
            <a:noFill/>
            <a:prstDash val="solid"/>
          </a:ln>
        </p:spPr>
      </p:sp>
      <p:sp>
        <p:nvSpPr>
          <p:cNvPr id="3" name="html-shape-6">
            <a:extLst>
              <a:ext uri="{FF2B5EF4-FFF2-40B4-BE49-F238E27FC236}">
                <a16:creationId xmlns:a16="http://schemas.microsoft.com/office/drawing/2014/main" id="{0FB2A706-6F1C-464F-AE83-65E5B31BA574}"/>
              </a:ext>
            </a:extLst>
          </p:cNvPr>
          <p:cNvSpPr>
            <a:spLocks noGrp="1"/>
          </p:cNvSpPr>
          <p:nvPr/>
        </p:nvSpPr>
        <p:spPr>
          <a:xfrm>
            <a:off x="5410200" y="4601432"/>
            <a:ext cx="699135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html-shape-12">
            <a:extLst>
              <a:ext uri="{FF2B5EF4-FFF2-40B4-BE49-F238E27FC236}">
                <a16:creationId xmlns:a16="http://schemas.microsoft.com/office/drawing/2014/main" id="{F3E1A036-6BFB-42C2-B85E-30CD0A9D191B}"/>
              </a:ext>
            </a:extLst>
          </p:cNvPr>
          <p:cNvSpPr>
            <a:spLocks noGrp="1"/>
          </p:cNvSpPr>
          <p:nvPr/>
        </p:nvSpPr>
        <p:spPr>
          <a:xfrm>
            <a:off x="5410200" y="5420582"/>
            <a:ext cx="699135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html-shape-18">
            <a:extLst>
              <a:ext uri="{FF2B5EF4-FFF2-40B4-BE49-F238E27FC236}">
                <a16:creationId xmlns:a16="http://schemas.microsoft.com/office/drawing/2014/main" id="{DD1630DB-6809-4E65-8BCB-1D5C26ECD2AE}"/>
              </a:ext>
            </a:extLst>
          </p:cNvPr>
          <p:cNvSpPr>
            <a:spLocks noGrp="1"/>
          </p:cNvSpPr>
          <p:nvPr/>
        </p:nvSpPr>
        <p:spPr>
          <a:xfrm>
            <a:off x="5410200" y="6239732"/>
            <a:ext cx="699135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html-shape-25">
            <a:extLst>
              <a:ext uri="{FF2B5EF4-FFF2-40B4-BE49-F238E27FC236}">
                <a16:creationId xmlns:a16="http://schemas.microsoft.com/office/drawing/2014/main" id="{7E37BEFA-9133-4023-906E-77C09A98BAEA}"/>
              </a:ext>
            </a:extLst>
          </p:cNvPr>
          <p:cNvSpPr>
            <a:spLocks noGrp="1"/>
          </p:cNvSpPr>
          <p:nvPr/>
        </p:nvSpPr>
        <p:spPr>
          <a:xfrm>
            <a:off x="13239750" y="3548063"/>
            <a:ext cx="3810000" cy="3619500"/>
          </a:xfrm>
          <a:prstGeom prst="rect">
            <a:avLst/>
          </a:prstGeom>
          <a:solidFill>
            <a:srgbClr val="F1FAF5"/>
          </a:solidFill>
          <a:ln w="0">
            <a:noFill/>
            <a:prstDash val="solid"/>
          </a:ln>
        </p:spPr>
      </p:sp>
      <p:sp>
        <p:nvSpPr>
          <p:cNvPr id="7" name="html-shape-33">
            <a:extLst>
              <a:ext uri="{FF2B5EF4-FFF2-40B4-BE49-F238E27FC236}">
                <a16:creationId xmlns:a16="http://schemas.microsoft.com/office/drawing/2014/main" id="{116D5AF6-440C-4EE5-8CB1-3ACE5C22D828}"/>
              </a:ext>
            </a:extLst>
          </p:cNvPr>
          <p:cNvSpPr>
            <a:spLocks noGrp="1"/>
          </p:cNvSpPr>
          <p:nvPr/>
        </p:nvSpPr>
        <p:spPr>
          <a:xfrm>
            <a:off x="3524250" y="7896225"/>
            <a:ext cx="11239500" cy="819150"/>
          </a:xfrm>
          <a:prstGeom prst="rect">
            <a:avLst/>
          </a:prstGeom>
          <a:solidFill>
            <a:srgbClr val="E9F0FF"/>
          </a:solidFill>
          <a:ln w="0">
            <a:noFill/>
            <a:prstDash val="solid"/>
          </a:ln>
        </p:spPr>
      </p:sp>
      <p:sp>
        <p:nvSpPr>
          <p:cNvPr id="8" name="html-line-1">
            <a:extLst>
              <a:ext uri="{FF2B5EF4-FFF2-40B4-BE49-F238E27FC236}">
                <a16:creationId xmlns:a16="http://schemas.microsoft.com/office/drawing/2014/main" id="{4B15C77E-EF47-4759-8D84-4862546185B7}"/>
              </a:ext>
            </a:extLst>
          </p:cNvPr>
          <p:cNvSpPr>
            <a:spLocks noGrp="1"/>
          </p:cNvSpPr>
          <p:nvPr/>
        </p:nvSpPr>
        <p:spPr>
          <a:xfrm>
            <a:off x="4572000" y="5357813"/>
            <a:ext cx="476250" cy="4763"/>
          </a:xfrm>
          <a:prstGeom prst="line">
            <a:avLst/>
          </a:prstGeom>
          <a:noFill/>
          <a:ln w="57150">
            <a:solidFill>
              <a:srgbClr val="315FD5"/>
            </a:solidFill>
            <a:prstDash val="solid"/>
          </a:ln>
        </p:spPr>
      </p:sp>
      <p:sp>
        <p:nvSpPr>
          <p:cNvPr id="9" name="html-line-2">
            <a:extLst>
              <a:ext uri="{FF2B5EF4-FFF2-40B4-BE49-F238E27FC236}">
                <a16:creationId xmlns:a16="http://schemas.microsoft.com/office/drawing/2014/main" id="{329A04CB-4FF2-4720-82F8-48D09EED181B}"/>
              </a:ext>
            </a:extLst>
          </p:cNvPr>
          <p:cNvSpPr>
            <a:spLocks noGrp="1"/>
          </p:cNvSpPr>
          <p:nvPr/>
        </p:nvSpPr>
        <p:spPr>
          <a:xfrm>
            <a:off x="12763500" y="5357813"/>
            <a:ext cx="476250" cy="4763"/>
          </a:xfrm>
          <a:prstGeom prst="line">
            <a:avLst/>
          </a:prstGeom>
          <a:noFill/>
          <a:ln w="57150">
            <a:solidFill>
              <a:srgbClr val="0A9A62"/>
            </a:solidFill>
            <a:prstDash val="solid"/>
          </a:ln>
        </p:spPr>
      </p:sp>
      <p:sp>
        <p:nvSpPr>
          <p:cNvPr id="10" name="border-2">
            <a:extLst>
              <a:ext uri="{FF2B5EF4-FFF2-40B4-BE49-F238E27FC236}">
                <a16:creationId xmlns:a16="http://schemas.microsoft.com/office/drawing/2014/main" id="{3C7BC46E-B086-469E-9495-4738FEF00A4F}"/>
              </a:ext>
            </a:extLst>
          </p:cNvPr>
          <p:cNvSpPr>
            <a:spLocks noGrp="1"/>
          </p:cNvSpPr>
          <p:nvPr/>
        </p:nvSpPr>
        <p:spPr>
          <a:xfrm>
            <a:off x="1238250" y="3786188"/>
            <a:ext cx="3333750" cy="762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1" name="pseudo-arrow-3">
            <a:extLst>
              <a:ext uri="{FF2B5EF4-FFF2-40B4-BE49-F238E27FC236}">
                <a16:creationId xmlns:a16="http://schemas.microsoft.com/office/drawing/2014/main" id="{8BC1A5E2-A5EE-46C0-AC23-62295CF32C92}"/>
              </a:ext>
            </a:extLst>
          </p:cNvPr>
          <p:cNvSpPr>
            <a:spLocks noGrp="1"/>
          </p:cNvSpPr>
          <p:nvPr/>
        </p:nvSpPr>
        <p:spPr>
          <a:xfrm rot="5400000">
            <a:off x="4886325" y="5253038"/>
            <a:ext cx="171450" cy="209550"/>
          </a:xfrm>
          <a:prstGeom prst="triangle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2" name="border-5">
            <a:extLst>
              <a:ext uri="{FF2B5EF4-FFF2-40B4-BE49-F238E27FC236}">
                <a16:creationId xmlns:a16="http://schemas.microsoft.com/office/drawing/2014/main" id="{71BA9FFC-6B84-43B3-9F58-E91B81449D59}"/>
              </a:ext>
            </a:extLst>
          </p:cNvPr>
          <p:cNvSpPr>
            <a:spLocks noGrp="1"/>
          </p:cNvSpPr>
          <p:nvPr/>
        </p:nvSpPr>
        <p:spPr>
          <a:xfrm>
            <a:off x="5048250" y="3357563"/>
            <a:ext cx="7715250" cy="76200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3" name="html-shape-7">
            <a:extLst>
              <a:ext uri="{FF2B5EF4-FFF2-40B4-BE49-F238E27FC236}">
                <a16:creationId xmlns:a16="http://schemas.microsoft.com/office/drawing/2014/main" id="{59E1DF6B-0925-4577-AB54-BB6BDEDF706F}"/>
              </a:ext>
            </a:extLst>
          </p:cNvPr>
          <p:cNvSpPr>
            <a:spLocks noGrp="1"/>
          </p:cNvSpPr>
          <p:nvPr/>
        </p:nvSpPr>
        <p:spPr>
          <a:xfrm>
            <a:off x="6705600" y="4734782"/>
            <a:ext cx="963835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4" name="html-shape-8">
            <a:extLst>
              <a:ext uri="{FF2B5EF4-FFF2-40B4-BE49-F238E27FC236}">
                <a16:creationId xmlns:a16="http://schemas.microsoft.com/office/drawing/2014/main" id="{C648C5D7-F459-4BE2-8A44-ECB63F4A534C}"/>
              </a:ext>
            </a:extLst>
          </p:cNvPr>
          <p:cNvSpPr>
            <a:spLocks noGrp="1"/>
          </p:cNvSpPr>
          <p:nvPr/>
        </p:nvSpPr>
        <p:spPr>
          <a:xfrm>
            <a:off x="7755160" y="4734782"/>
            <a:ext cx="963930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5" name="html-shape-9">
            <a:extLst>
              <a:ext uri="{FF2B5EF4-FFF2-40B4-BE49-F238E27FC236}">
                <a16:creationId xmlns:a16="http://schemas.microsoft.com/office/drawing/2014/main" id="{C9DD6669-5EDE-4069-86F4-7014407FB5DC}"/>
              </a:ext>
            </a:extLst>
          </p:cNvPr>
          <p:cNvSpPr>
            <a:spLocks noGrp="1"/>
          </p:cNvSpPr>
          <p:nvPr/>
        </p:nvSpPr>
        <p:spPr>
          <a:xfrm>
            <a:off x="8804815" y="4734782"/>
            <a:ext cx="963930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6" name="html-shape-10">
            <a:extLst>
              <a:ext uri="{FF2B5EF4-FFF2-40B4-BE49-F238E27FC236}">
                <a16:creationId xmlns:a16="http://schemas.microsoft.com/office/drawing/2014/main" id="{B5046BB8-7C50-4ECA-BDFE-8AEE03CDDD37}"/>
              </a:ext>
            </a:extLst>
          </p:cNvPr>
          <p:cNvSpPr>
            <a:spLocks noGrp="1"/>
          </p:cNvSpPr>
          <p:nvPr/>
        </p:nvSpPr>
        <p:spPr>
          <a:xfrm>
            <a:off x="9854470" y="4734782"/>
            <a:ext cx="963930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7" name="html-shape-11">
            <a:extLst>
              <a:ext uri="{FF2B5EF4-FFF2-40B4-BE49-F238E27FC236}">
                <a16:creationId xmlns:a16="http://schemas.microsoft.com/office/drawing/2014/main" id="{B92534BB-7270-4054-8B78-5A9CE6F431D4}"/>
              </a:ext>
            </a:extLst>
          </p:cNvPr>
          <p:cNvSpPr>
            <a:spLocks noGrp="1"/>
          </p:cNvSpPr>
          <p:nvPr/>
        </p:nvSpPr>
        <p:spPr>
          <a:xfrm>
            <a:off x="10904220" y="4734782"/>
            <a:ext cx="963835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8" name="html-shape-13">
            <a:extLst>
              <a:ext uri="{FF2B5EF4-FFF2-40B4-BE49-F238E27FC236}">
                <a16:creationId xmlns:a16="http://schemas.microsoft.com/office/drawing/2014/main" id="{5E1545D8-D9A1-42FF-897D-F07AB1DBDF89}"/>
              </a:ext>
            </a:extLst>
          </p:cNvPr>
          <p:cNvSpPr>
            <a:spLocks noGrp="1"/>
          </p:cNvSpPr>
          <p:nvPr/>
        </p:nvSpPr>
        <p:spPr>
          <a:xfrm>
            <a:off x="6705600" y="5553932"/>
            <a:ext cx="963835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9" name="html-shape-14">
            <a:extLst>
              <a:ext uri="{FF2B5EF4-FFF2-40B4-BE49-F238E27FC236}">
                <a16:creationId xmlns:a16="http://schemas.microsoft.com/office/drawing/2014/main" id="{11EA7DEE-180A-4F7A-A874-4E7274E40588}"/>
              </a:ext>
            </a:extLst>
          </p:cNvPr>
          <p:cNvSpPr>
            <a:spLocks noGrp="1"/>
          </p:cNvSpPr>
          <p:nvPr/>
        </p:nvSpPr>
        <p:spPr>
          <a:xfrm>
            <a:off x="7755160" y="5553932"/>
            <a:ext cx="963930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0" name="html-shape-15">
            <a:extLst>
              <a:ext uri="{FF2B5EF4-FFF2-40B4-BE49-F238E27FC236}">
                <a16:creationId xmlns:a16="http://schemas.microsoft.com/office/drawing/2014/main" id="{C32E03E1-1E64-448B-BFA0-2D0BAEF59C58}"/>
              </a:ext>
            </a:extLst>
          </p:cNvPr>
          <p:cNvSpPr>
            <a:spLocks noGrp="1"/>
          </p:cNvSpPr>
          <p:nvPr/>
        </p:nvSpPr>
        <p:spPr>
          <a:xfrm>
            <a:off x="8804815" y="5553932"/>
            <a:ext cx="963930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1" name="html-shape-16">
            <a:extLst>
              <a:ext uri="{FF2B5EF4-FFF2-40B4-BE49-F238E27FC236}">
                <a16:creationId xmlns:a16="http://schemas.microsoft.com/office/drawing/2014/main" id="{366CFF1E-EB99-480C-9169-61246E59AB16}"/>
              </a:ext>
            </a:extLst>
          </p:cNvPr>
          <p:cNvSpPr>
            <a:spLocks noGrp="1"/>
          </p:cNvSpPr>
          <p:nvPr/>
        </p:nvSpPr>
        <p:spPr>
          <a:xfrm>
            <a:off x="9854470" y="5553932"/>
            <a:ext cx="963930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2" name="html-shape-17">
            <a:extLst>
              <a:ext uri="{FF2B5EF4-FFF2-40B4-BE49-F238E27FC236}">
                <a16:creationId xmlns:a16="http://schemas.microsoft.com/office/drawing/2014/main" id="{E3147215-55BB-4333-B2F2-4E173932F7CD}"/>
              </a:ext>
            </a:extLst>
          </p:cNvPr>
          <p:cNvSpPr>
            <a:spLocks noGrp="1"/>
          </p:cNvSpPr>
          <p:nvPr/>
        </p:nvSpPr>
        <p:spPr>
          <a:xfrm>
            <a:off x="10904220" y="5553932"/>
            <a:ext cx="963835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3" name="html-shape-19">
            <a:extLst>
              <a:ext uri="{FF2B5EF4-FFF2-40B4-BE49-F238E27FC236}">
                <a16:creationId xmlns:a16="http://schemas.microsoft.com/office/drawing/2014/main" id="{6628519B-9C34-4E60-B58B-FC1AE3FCD760}"/>
              </a:ext>
            </a:extLst>
          </p:cNvPr>
          <p:cNvSpPr>
            <a:spLocks noGrp="1"/>
          </p:cNvSpPr>
          <p:nvPr/>
        </p:nvSpPr>
        <p:spPr>
          <a:xfrm>
            <a:off x="6705600" y="6373082"/>
            <a:ext cx="963835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4" name="html-shape-20">
            <a:extLst>
              <a:ext uri="{FF2B5EF4-FFF2-40B4-BE49-F238E27FC236}">
                <a16:creationId xmlns:a16="http://schemas.microsoft.com/office/drawing/2014/main" id="{550430D7-6A8C-4BDD-BEB2-5F4AE1104345}"/>
              </a:ext>
            </a:extLst>
          </p:cNvPr>
          <p:cNvSpPr>
            <a:spLocks noGrp="1"/>
          </p:cNvSpPr>
          <p:nvPr/>
        </p:nvSpPr>
        <p:spPr>
          <a:xfrm>
            <a:off x="7755160" y="6373082"/>
            <a:ext cx="963930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5" name="html-shape-21">
            <a:extLst>
              <a:ext uri="{FF2B5EF4-FFF2-40B4-BE49-F238E27FC236}">
                <a16:creationId xmlns:a16="http://schemas.microsoft.com/office/drawing/2014/main" id="{1F743FF8-D202-418D-B895-26B7DD1FF492}"/>
              </a:ext>
            </a:extLst>
          </p:cNvPr>
          <p:cNvSpPr>
            <a:spLocks noGrp="1"/>
          </p:cNvSpPr>
          <p:nvPr/>
        </p:nvSpPr>
        <p:spPr>
          <a:xfrm>
            <a:off x="8804815" y="6373082"/>
            <a:ext cx="963930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6" name="html-shape-22">
            <a:extLst>
              <a:ext uri="{FF2B5EF4-FFF2-40B4-BE49-F238E27FC236}">
                <a16:creationId xmlns:a16="http://schemas.microsoft.com/office/drawing/2014/main" id="{4DCF888C-DF85-4DED-839A-0FB7AD4C2567}"/>
              </a:ext>
            </a:extLst>
          </p:cNvPr>
          <p:cNvSpPr>
            <a:spLocks noGrp="1"/>
          </p:cNvSpPr>
          <p:nvPr/>
        </p:nvSpPr>
        <p:spPr>
          <a:xfrm>
            <a:off x="9854470" y="6373082"/>
            <a:ext cx="963930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7" name="html-shape-23">
            <a:extLst>
              <a:ext uri="{FF2B5EF4-FFF2-40B4-BE49-F238E27FC236}">
                <a16:creationId xmlns:a16="http://schemas.microsoft.com/office/drawing/2014/main" id="{98FE50F4-FDBA-4F7D-B256-35C7D75C62C0}"/>
              </a:ext>
            </a:extLst>
          </p:cNvPr>
          <p:cNvSpPr>
            <a:spLocks noGrp="1"/>
          </p:cNvSpPr>
          <p:nvPr/>
        </p:nvSpPr>
        <p:spPr>
          <a:xfrm>
            <a:off x="10904220" y="6373082"/>
            <a:ext cx="963835" cy="419100"/>
          </a:xfrm>
          <a:prstGeom prst="roundRect">
            <a:avLst>
              <a:gd name="adj" fmla="val 9091"/>
            </a:avLst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28" name="pseudo-arrow-24">
            <a:extLst>
              <a:ext uri="{FF2B5EF4-FFF2-40B4-BE49-F238E27FC236}">
                <a16:creationId xmlns:a16="http://schemas.microsoft.com/office/drawing/2014/main" id="{A802C1D9-5829-43F3-BF09-16EAE40A1FB3}"/>
              </a:ext>
            </a:extLst>
          </p:cNvPr>
          <p:cNvSpPr>
            <a:spLocks noGrp="1"/>
          </p:cNvSpPr>
          <p:nvPr/>
        </p:nvSpPr>
        <p:spPr>
          <a:xfrm rot="5400000">
            <a:off x="13077825" y="5253038"/>
            <a:ext cx="171450" cy="209550"/>
          </a:xfrm>
          <a:prstGeom prst="triangle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29" name="border-26">
            <a:extLst>
              <a:ext uri="{FF2B5EF4-FFF2-40B4-BE49-F238E27FC236}">
                <a16:creationId xmlns:a16="http://schemas.microsoft.com/office/drawing/2014/main" id="{912C8439-DCF1-46C2-898D-AA2B2508E1D8}"/>
              </a:ext>
            </a:extLst>
          </p:cNvPr>
          <p:cNvSpPr>
            <a:spLocks noGrp="1"/>
          </p:cNvSpPr>
          <p:nvPr/>
        </p:nvSpPr>
        <p:spPr>
          <a:xfrm>
            <a:off x="13239750" y="3548063"/>
            <a:ext cx="3810000" cy="762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0" name="html-shape-27">
            <a:extLst>
              <a:ext uri="{FF2B5EF4-FFF2-40B4-BE49-F238E27FC236}">
                <a16:creationId xmlns:a16="http://schemas.microsoft.com/office/drawing/2014/main" id="{9239AC95-2430-4E53-997D-34E20F690E90}"/>
              </a:ext>
            </a:extLst>
          </p:cNvPr>
          <p:cNvSpPr>
            <a:spLocks noGrp="1"/>
          </p:cNvSpPr>
          <p:nvPr/>
        </p:nvSpPr>
        <p:spPr>
          <a:xfrm>
            <a:off x="13563600" y="4839557"/>
            <a:ext cx="3162300" cy="457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1" name="border-28">
            <a:extLst>
              <a:ext uri="{FF2B5EF4-FFF2-40B4-BE49-F238E27FC236}">
                <a16:creationId xmlns:a16="http://schemas.microsoft.com/office/drawing/2014/main" id="{54A9BC3F-9C2E-43C4-9230-E84F8A0465E4}"/>
              </a:ext>
            </a:extLst>
          </p:cNvPr>
          <p:cNvSpPr>
            <a:spLocks noGrp="1"/>
          </p:cNvSpPr>
          <p:nvPr/>
        </p:nvSpPr>
        <p:spPr>
          <a:xfrm>
            <a:off x="13563600" y="4839557"/>
            <a:ext cx="47625" cy="4572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2" name="html-shape-29">
            <a:extLst>
              <a:ext uri="{FF2B5EF4-FFF2-40B4-BE49-F238E27FC236}">
                <a16:creationId xmlns:a16="http://schemas.microsoft.com/office/drawing/2014/main" id="{8E0A473C-D453-46C0-8941-4F2A22F47A45}"/>
              </a:ext>
            </a:extLst>
          </p:cNvPr>
          <p:cNvSpPr>
            <a:spLocks noGrp="1"/>
          </p:cNvSpPr>
          <p:nvPr/>
        </p:nvSpPr>
        <p:spPr>
          <a:xfrm>
            <a:off x="13563600" y="5392007"/>
            <a:ext cx="3162300" cy="457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3" name="border-30">
            <a:extLst>
              <a:ext uri="{FF2B5EF4-FFF2-40B4-BE49-F238E27FC236}">
                <a16:creationId xmlns:a16="http://schemas.microsoft.com/office/drawing/2014/main" id="{2F1113C1-6D13-4FB6-8600-02D4C2383405}"/>
              </a:ext>
            </a:extLst>
          </p:cNvPr>
          <p:cNvSpPr>
            <a:spLocks noGrp="1"/>
          </p:cNvSpPr>
          <p:nvPr/>
        </p:nvSpPr>
        <p:spPr>
          <a:xfrm>
            <a:off x="13563600" y="5392007"/>
            <a:ext cx="47625" cy="4572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4" name="html-shape-31">
            <a:extLst>
              <a:ext uri="{FF2B5EF4-FFF2-40B4-BE49-F238E27FC236}">
                <a16:creationId xmlns:a16="http://schemas.microsoft.com/office/drawing/2014/main" id="{C6190031-E24F-4265-AF4B-AB46EADE1234}"/>
              </a:ext>
            </a:extLst>
          </p:cNvPr>
          <p:cNvSpPr>
            <a:spLocks noGrp="1"/>
          </p:cNvSpPr>
          <p:nvPr/>
        </p:nvSpPr>
        <p:spPr>
          <a:xfrm>
            <a:off x="13563600" y="5944457"/>
            <a:ext cx="3162300" cy="457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border-32">
            <a:extLst>
              <a:ext uri="{FF2B5EF4-FFF2-40B4-BE49-F238E27FC236}">
                <a16:creationId xmlns:a16="http://schemas.microsoft.com/office/drawing/2014/main" id="{04065888-615E-4691-A029-E8B1E8300A77}"/>
              </a:ext>
            </a:extLst>
          </p:cNvPr>
          <p:cNvSpPr>
            <a:spLocks noGrp="1"/>
          </p:cNvSpPr>
          <p:nvPr/>
        </p:nvSpPr>
        <p:spPr>
          <a:xfrm>
            <a:off x="13563600" y="5944457"/>
            <a:ext cx="47625" cy="4572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D872E6E3-1539-4BD5-A922-7585499B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8E5BA008-32FC-4C03-820C-9043F28D4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38" name="text-1">
            <a:extLst>
              <a:ext uri="{FF2B5EF4-FFF2-40B4-BE49-F238E27FC236}">
                <a16:creationId xmlns:a16="http://schemas.microsoft.com/office/drawing/2014/main" id="{A8EF5B79-CF9E-4F39-B4F6-D7243E72A163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39" name="text-2">
            <a:extLst>
              <a:ext uri="{FF2B5EF4-FFF2-40B4-BE49-F238E27FC236}">
                <a16:creationId xmlns:a16="http://schemas.microsoft.com/office/drawing/2014/main" id="{7EFDFAB8-25B5-46A5-8F7C-AF1124616451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4781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第六章 · 跨区域 PD 分析</a:t>
            </a:r>
          </a:p>
        </p:txBody>
      </p:sp>
      <p:sp>
        <p:nvSpPr>
          <p:cNvPr id="40" name="text-3">
            <a:extLst>
              <a:ext uri="{FF2B5EF4-FFF2-40B4-BE49-F238E27FC236}">
                <a16:creationId xmlns:a16="http://schemas.microsoft.com/office/drawing/2014/main" id="{56EF9BEC-4E96-4C35-95E9-93FFB92F9D4B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085078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401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跨城网络承载多个请求的 KV Cache Block 流</a:t>
            </a:r>
          </a:p>
        </p:txBody>
      </p:sp>
      <p:sp>
        <p:nvSpPr>
          <p:cNvPr id="41" name="text-4">
            <a:extLst>
              <a:ext uri="{FF2B5EF4-FFF2-40B4-BE49-F238E27FC236}">
                <a16:creationId xmlns:a16="http://schemas.microsoft.com/office/drawing/2014/main" id="{E80FBDE6-770D-4CB6-B322-CF604D04FDDA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236554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每个 Request 对应一组 KV Cache Block；多个 Prefill Pool 的请求流在 P→D 链路上持续汇聚。</a:t>
            </a:r>
          </a:p>
        </p:txBody>
      </p:sp>
      <p:sp>
        <p:nvSpPr>
          <p:cNvPr id="42" name="text-5">
            <a:extLst>
              <a:ext uri="{FF2B5EF4-FFF2-40B4-BE49-F238E27FC236}">
                <a16:creationId xmlns:a16="http://schemas.microsoft.com/office/drawing/2014/main" id="{6DB28EA9-A26B-476E-9AE4-98722351AE97}"/>
              </a:ext>
            </a:extLst>
          </p:cNvPr>
          <p:cNvSpPr>
            <a:spLocks noGrp="1"/>
          </p:cNvSpPr>
          <p:nvPr/>
        </p:nvSpPr>
        <p:spPr>
          <a:xfrm>
            <a:off x="1666018" y="4400360"/>
            <a:ext cx="253546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MULTIPLE PREFILL POOLS</a:t>
            </a:r>
          </a:p>
        </p:txBody>
      </p:sp>
      <p:sp>
        <p:nvSpPr>
          <p:cNvPr id="43" name="text-6">
            <a:extLst>
              <a:ext uri="{FF2B5EF4-FFF2-40B4-BE49-F238E27FC236}">
                <a16:creationId xmlns:a16="http://schemas.microsoft.com/office/drawing/2014/main" id="{707A4230-B144-4D29-83E0-1AEFDB529B8A}"/>
              </a:ext>
            </a:extLst>
          </p:cNvPr>
          <p:cNvSpPr>
            <a:spLocks noGrp="1"/>
          </p:cNvSpPr>
          <p:nvPr/>
        </p:nvSpPr>
        <p:spPr>
          <a:xfrm>
            <a:off x="1856899" y="4729925"/>
            <a:ext cx="215350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700" b="1" i="0" noProof="1">
                <a:solidFill>
                  <a:srgbClr val="2932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700" b="1" i="0" noProof="1">
                <a:solidFill>
                  <a:srgbClr val="2932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700" b="1" i="0" noProof="1">
                <a:solidFill>
                  <a:srgbClr val="293247"/>
                </a:solidFill>
                <a:latin typeface="PingFang SC"/>
                <a:ea typeface="PingFang SC"/>
                <a:cs typeface="Arial"/>
              </a:rPr>
              <a:t>Prefill 资源池</a:t>
            </a:r>
          </a:p>
        </p:txBody>
      </p:sp>
      <p:sp>
        <p:nvSpPr>
          <p:cNvPr id="44" name="text-7">
            <a:extLst>
              <a:ext uri="{FF2B5EF4-FFF2-40B4-BE49-F238E27FC236}">
                <a16:creationId xmlns:a16="http://schemas.microsoft.com/office/drawing/2014/main" id="{845962B6-EB3A-4223-9F7B-981888FB8A5D}"/>
              </a:ext>
            </a:extLst>
          </p:cNvPr>
          <p:cNvSpPr>
            <a:spLocks noGrp="1"/>
          </p:cNvSpPr>
          <p:nvPr/>
        </p:nvSpPr>
        <p:spPr>
          <a:xfrm>
            <a:off x="1857375" y="5549075"/>
            <a:ext cx="21524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P0 · P1 · P2 · …</a:t>
            </a:r>
          </a:p>
        </p:txBody>
      </p:sp>
      <p:sp>
        <p:nvSpPr>
          <p:cNvPr id="45" name="text-8">
            <a:extLst>
              <a:ext uri="{FF2B5EF4-FFF2-40B4-BE49-F238E27FC236}">
                <a16:creationId xmlns:a16="http://schemas.microsoft.com/office/drawing/2014/main" id="{4536CC73-65D7-4C49-A6BF-E3C24FD507F8}"/>
              </a:ext>
            </a:extLst>
          </p:cNvPr>
          <p:cNvSpPr>
            <a:spLocks noGrp="1"/>
          </p:cNvSpPr>
          <p:nvPr/>
        </p:nvSpPr>
        <p:spPr>
          <a:xfrm>
            <a:off x="1664780" y="6075521"/>
            <a:ext cx="253784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0" i="0" noProof="1">
                <a:solidFill>
                  <a:srgbClr val="56647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0" i="0" noProof="1">
                <a:solidFill>
                  <a:srgbClr val="56647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0" i="0" noProof="1">
                <a:solidFill>
                  <a:srgbClr val="56647A"/>
                </a:solidFill>
                <a:latin typeface="PingFang SC"/>
                <a:ea typeface="PingFang SC"/>
                <a:cs typeface="Arial"/>
              </a:rPr>
              <a:t>持续完成请求的 Prefill 计算</a:t>
            </a:r>
          </a:p>
        </p:txBody>
      </p:sp>
      <p:sp>
        <p:nvSpPr>
          <p:cNvPr id="46" name="text-9">
            <a:extLst>
              <a:ext uri="{FF2B5EF4-FFF2-40B4-BE49-F238E27FC236}">
                <a16:creationId xmlns:a16="http://schemas.microsoft.com/office/drawing/2014/main" id="{5BD58A7D-F3CC-43C7-A189-11613C5BBCD5}"/>
              </a:ext>
            </a:extLst>
          </p:cNvPr>
          <p:cNvSpPr>
            <a:spLocks noGrp="1"/>
          </p:cNvSpPr>
          <p:nvPr/>
        </p:nvSpPr>
        <p:spPr>
          <a:xfrm>
            <a:off x="7398353" y="3671888"/>
            <a:ext cx="307200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spc="75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CROSS-REGION P→D NETWORK</a:t>
            </a:r>
          </a:p>
        </p:txBody>
      </p:sp>
      <p:sp>
        <p:nvSpPr>
          <p:cNvPr id="47" name="text-10">
            <a:extLst>
              <a:ext uri="{FF2B5EF4-FFF2-40B4-BE49-F238E27FC236}">
                <a16:creationId xmlns:a16="http://schemas.microsoft.com/office/drawing/2014/main" id="{0020E281-EA96-4E8A-8F16-3AC7B658EE6C}"/>
              </a:ext>
            </a:extLst>
          </p:cNvPr>
          <p:cNvSpPr>
            <a:spLocks noGrp="1"/>
          </p:cNvSpPr>
          <p:nvPr/>
        </p:nvSpPr>
        <p:spPr>
          <a:xfrm>
            <a:off x="5804440" y="3934682"/>
            <a:ext cx="6260021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1" i="0" noProof="1">
                <a:solidFill>
                  <a:srgbClr val="2936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1" i="0" noProof="1">
                <a:solidFill>
                  <a:srgbClr val="2936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1" i="0" noProof="1">
                <a:solidFill>
                  <a:srgbClr val="29364D"/>
                </a:solidFill>
                <a:latin typeface="PingFang SC"/>
                <a:ea typeface="PingFang SC"/>
                <a:cs typeface="Arial"/>
              </a:rPr>
              <a:t>Request-scoped KV Cache Block Flow</a:t>
            </a:r>
          </a:p>
        </p:txBody>
      </p:sp>
      <p:sp>
        <p:nvSpPr>
          <p:cNvPr id="48" name="text-11">
            <a:extLst>
              <a:ext uri="{FF2B5EF4-FFF2-40B4-BE49-F238E27FC236}">
                <a16:creationId xmlns:a16="http://schemas.microsoft.com/office/drawing/2014/main" id="{FA28C1D6-B90E-4004-8073-915B09508D45}"/>
              </a:ext>
            </a:extLst>
          </p:cNvPr>
          <p:cNvSpPr>
            <a:spLocks noGrp="1"/>
          </p:cNvSpPr>
          <p:nvPr/>
        </p:nvSpPr>
        <p:spPr>
          <a:xfrm>
            <a:off x="5534025" y="4801457"/>
            <a:ext cx="110594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rPr>
              <a:t>Request A</a:t>
            </a:r>
          </a:p>
        </p:txBody>
      </p:sp>
      <p:sp>
        <p:nvSpPr>
          <p:cNvPr id="49" name="text-12">
            <a:extLst>
              <a:ext uri="{FF2B5EF4-FFF2-40B4-BE49-F238E27FC236}">
                <a16:creationId xmlns:a16="http://schemas.microsoft.com/office/drawing/2014/main" id="{0165DA67-0826-4067-BC7B-3CC6B3D7B08E}"/>
              </a:ext>
            </a:extLst>
          </p:cNvPr>
          <p:cNvSpPr>
            <a:spLocks noGrp="1"/>
          </p:cNvSpPr>
          <p:nvPr/>
        </p:nvSpPr>
        <p:spPr>
          <a:xfrm>
            <a:off x="7068312" y="4820507"/>
            <a:ext cx="295561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A0</a:t>
            </a:r>
          </a:p>
        </p:txBody>
      </p:sp>
      <p:sp>
        <p:nvSpPr>
          <p:cNvPr id="50" name="text-13">
            <a:extLst>
              <a:ext uri="{FF2B5EF4-FFF2-40B4-BE49-F238E27FC236}">
                <a16:creationId xmlns:a16="http://schemas.microsoft.com/office/drawing/2014/main" id="{DA002AF4-AA7D-442D-B2E7-2EDC6417C1D5}"/>
              </a:ext>
            </a:extLst>
          </p:cNvPr>
          <p:cNvSpPr>
            <a:spLocks noGrp="1"/>
          </p:cNvSpPr>
          <p:nvPr/>
        </p:nvSpPr>
        <p:spPr>
          <a:xfrm>
            <a:off x="8134160" y="4820507"/>
            <a:ext cx="26298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A1</a:t>
            </a:r>
          </a:p>
        </p:txBody>
      </p:sp>
      <p:sp>
        <p:nvSpPr>
          <p:cNvPr id="51" name="text-14">
            <a:extLst>
              <a:ext uri="{FF2B5EF4-FFF2-40B4-BE49-F238E27FC236}">
                <a16:creationId xmlns:a16="http://schemas.microsoft.com/office/drawing/2014/main" id="{01C6E59C-D0F3-47BE-B5F3-5EFCF11623EE}"/>
              </a:ext>
            </a:extLst>
          </p:cNvPr>
          <p:cNvSpPr>
            <a:spLocks noGrp="1"/>
          </p:cNvSpPr>
          <p:nvPr/>
        </p:nvSpPr>
        <p:spPr>
          <a:xfrm>
            <a:off x="9167527" y="4820507"/>
            <a:ext cx="295561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A2</a:t>
            </a:r>
          </a:p>
        </p:txBody>
      </p:sp>
      <p:sp>
        <p:nvSpPr>
          <p:cNvPr id="52" name="text-15">
            <a:extLst>
              <a:ext uri="{FF2B5EF4-FFF2-40B4-BE49-F238E27FC236}">
                <a16:creationId xmlns:a16="http://schemas.microsoft.com/office/drawing/2014/main" id="{81FA96A1-83AC-464A-BCDC-4160E1812600}"/>
              </a:ext>
            </a:extLst>
          </p:cNvPr>
          <p:cNvSpPr>
            <a:spLocks noGrp="1"/>
          </p:cNvSpPr>
          <p:nvPr/>
        </p:nvSpPr>
        <p:spPr>
          <a:xfrm>
            <a:off x="10217182" y="4820507"/>
            <a:ext cx="295561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A3</a:t>
            </a:r>
          </a:p>
        </p:txBody>
      </p:sp>
      <p:sp>
        <p:nvSpPr>
          <p:cNvPr id="53" name="text-16">
            <a:extLst>
              <a:ext uri="{FF2B5EF4-FFF2-40B4-BE49-F238E27FC236}">
                <a16:creationId xmlns:a16="http://schemas.microsoft.com/office/drawing/2014/main" id="{1D74159C-5081-409B-AD9B-0D227534E833}"/>
              </a:ext>
            </a:extLst>
          </p:cNvPr>
          <p:cNvSpPr>
            <a:spLocks noGrp="1"/>
          </p:cNvSpPr>
          <p:nvPr/>
        </p:nvSpPr>
        <p:spPr>
          <a:xfrm>
            <a:off x="11266932" y="4820507"/>
            <a:ext cx="295561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A4</a:t>
            </a:r>
          </a:p>
        </p:txBody>
      </p:sp>
      <p:sp>
        <p:nvSpPr>
          <p:cNvPr id="54" name="text-17">
            <a:extLst>
              <a:ext uri="{FF2B5EF4-FFF2-40B4-BE49-F238E27FC236}">
                <a16:creationId xmlns:a16="http://schemas.microsoft.com/office/drawing/2014/main" id="{FF5F74C3-4851-46DE-8FCC-EE2AE0C0F826}"/>
              </a:ext>
            </a:extLst>
          </p:cNvPr>
          <p:cNvSpPr>
            <a:spLocks noGrp="1"/>
          </p:cNvSpPr>
          <p:nvPr/>
        </p:nvSpPr>
        <p:spPr>
          <a:xfrm>
            <a:off x="11925300" y="4710970"/>
            <a:ext cx="4095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0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0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0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55" name="text-18">
            <a:extLst>
              <a:ext uri="{FF2B5EF4-FFF2-40B4-BE49-F238E27FC236}">
                <a16:creationId xmlns:a16="http://schemas.microsoft.com/office/drawing/2014/main" id="{0FAF8942-51BC-4D47-8A14-E4AB90D9E0DB}"/>
              </a:ext>
            </a:extLst>
          </p:cNvPr>
          <p:cNvSpPr>
            <a:spLocks noGrp="1"/>
          </p:cNvSpPr>
          <p:nvPr/>
        </p:nvSpPr>
        <p:spPr>
          <a:xfrm>
            <a:off x="5534025" y="5620607"/>
            <a:ext cx="110832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rPr>
              <a:t>Request B</a:t>
            </a:r>
          </a:p>
        </p:txBody>
      </p:sp>
      <p:sp>
        <p:nvSpPr>
          <p:cNvPr id="56" name="text-19">
            <a:extLst>
              <a:ext uri="{FF2B5EF4-FFF2-40B4-BE49-F238E27FC236}">
                <a16:creationId xmlns:a16="http://schemas.microsoft.com/office/drawing/2014/main" id="{88D6CB21-E592-472E-ACDE-1BEEF4DE18CB}"/>
              </a:ext>
            </a:extLst>
          </p:cNvPr>
          <p:cNvSpPr>
            <a:spLocks noGrp="1"/>
          </p:cNvSpPr>
          <p:nvPr/>
        </p:nvSpPr>
        <p:spPr>
          <a:xfrm>
            <a:off x="7067264" y="5639657"/>
            <a:ext cx="29746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B0</a:t>
            </a:r>
          </a:p>
        </p:txBody>
      </p:sp>
      <p:sp>
        <p:nvSpPr>
          <p:cNvPr id="57" name="text-20">
            <a:extLst>
              <a:ext uri="{FF2B5EF4-FFF2-40B4-BE49-F238E27FC236}">
                <a16:creationId xmlns:a16="http://schemas.microsoft.com/office/drawing/2014/main" id="{DC793A79-E2C8-4F10-A97C-A32144069F0E}"/>
              </a:ext>
            </a:extLst>
          </p:cNvPr>
          <p:cNvSpPr>
            <a:spLocks noGrp="1"/>
          </p:cNvSpPr>
          <p:nvPr/>
        </p:nvSpPr>
        <p:spPr>
          <a:xfrm>
            <a:off x="8133207" y="5639657"/>
            <a:ext cx="26489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B1</a:t>
            </a:r>
          </a:p>
        </p:txBody>
      </p:sp>
      <p:sp>
        <p:nvSpPr>
          <p:cNvPr id="58" name="text-21">
            <a:extLst>
              <a:ext uri="{FF2B5EF4-FFF2-40B4-BE49-F238E27FC236}">
                <a16:creationId xmlns:a16="http://schemas.microsoft.com/office/drawing/2014/main" id="{43F357B5-CDE3-4F4F-814A-11021713B186}"/>
              </a:ext>
            </a:extLst>
          </p:cNvPr>
          <p:cNvSpPr>
            <a:spLocks noGrp="1"/>
          </p:cNvSpPr>
          <p:nvPr/>
        </p:nvSpPr>
        <p:spPr>
          <a:xfrm>
            <a:off x="9166670" y="5639657"/>
            <a:ext cx="29746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B2</a:t>
            </a:r>
          </a:p>
        </p:txBody>
      </p:sp>
      <p:sp>
        <p:nvSpPr>
          <p:cNvPr id="59" name="text-22">
            <a:extLst>
              <a:ext uri="{FF2B5EF4-FFF2-40B4-BE49-F238E27FC236}">
                <a16:creationId xmlns:a16="http://schemas.microsoft.com/office/drawing/2014/main" id="{4EE42864-F011-49AE-8417-F00D53B65DD7}"/>
              </a:ext>
            </a:extLst>
          </p:cNvPr>
          <p:cNvSpPr>
            <a:spLocks noGrp="1"/>
          </p:cNvSpPr>
          <p:nvPr/>
        </p:nvSpPr>
        <p:spPr>
          <a:xfrm>
            <a:off x="10216325" y="5639657"/>
            <a:ext cx="29746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B3</a:t>
            </a:r>
          </a:p>
        </p:txBody>
      </p:sp>
      <p:sp>
        <p:nvSpPr>
          <p:cNvPr id="60" name="text-23">
            <a:extLst>
              <a:ext uri="{FF2B5EF4-FFF2-40B4-BE49-F238E27FC236}">
                <a16:creationId xmlns:a16="http://schemas.microsoft.com/office/drawing/2014/main" id="{EA4DC70A-91BA-45C6-B1E3-9004E38D9A44}"/>
              </a:ext>
            </a:extLst>
          </p:cNvPr>
          <p:cNvSpPr>
            <a:spLocks noGrp="1"/>
          </p:cNvSpPr>
          <p:nvPr/>
        </p:nvSpPr>
        <p:spPr>
          <a:xfrm>
            <a:off x="11265884" y="5639657"/>
            <a:ext cx="29746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B4</a:t>
            </a:r>
          </a:p>
        </p:txBody>
      </p:sp>
      <p:sp>
        <p:nvSpPr>
          <p:cNvPr id="61" name="text-24">
            <a:extLst>
              <a:ext uri="{FF2B5EF4-FFF2-40B4-BE49-F238E27FC236}">
                <a16:creationId xmlns:a16="http://schemas.microsoft.com/office/drawing/2014/main" id="{07D4701F-EFC8-4627-9491-6507146B7AC5}"/>
              </a:ext>
            </a:extLst>
          </p:cNvPr>
          <p:cNvSpPr>
            <a:spLocks noGrp="1"/>
          </p:cNvSpPr>
          <p:nvPr/>
        </p:nvSpPr>
        <p:spPr>
          <a:xfrm>
            <a:off x="11925300" y="5530120"/>
            <a:ext cx="4095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0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0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0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62" name="text-25">
            <a:extLst>
              <a:ext uri="{FF2B5EF4-FFF2-40B4-BE49-F238E27FC236}">
                <a16:creationId xmlns:a16="http://schemas.microsoft.com/office/drawing/2014/main" id="{C0EC19FD-172C-4246-8662-115E39F8BCAB}"/>
              </a:ext>
            </a:extLst>
          </p:cNvPr>
          <p:cNvSpPr>
            <a:spLocks noGrp="1"/>
          </p:cNvSpPr>
          <p:nvPr/>
        </p:nvSpPr>
        <p:spPr>
          <a:xfrm>
            <a:off x="5534025" y="6439757"/>
            <a:ext cx="111709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rPr>
              <a:t>Request C</a:t>
            </a:r>
          </a:p>
        </p:txBody>
      </p:sp>
      <p:sp>
        <p:nvSpPr>
          <p:cNvPr id="63" name="text-26">
            <a:extLst>
              <a:ext uri="{FF2B5EF4-FFF2-40B4-BE49-F238E27FC236}">
                <a16:creationId xmlns:a16="http://schemas.microsoft.com/office/drawing/2014/main" id="{5556A8BB-9E17-4168-A478-97D7AF2286CD}"/>
              </a:ext>
            </a:extLst>
          </p:cNvPr>
          <p:cNvSpPr>
            <a:spLocks noGrp="1"/>
          </p:cNvSpPr>
          <p:nvPr/>
        </p:nvSpPr>
        <p:spPr>
          <a:xfrm>
            <a:off x="7063645" y="6458807"/>
            <a:ext cx="30461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C0</a:t>
            </a:r>
          </a:p>
        </p:txBody>
      </p:sp>
      <p:sp>
        <p:nvSpPr>
          <p:cNvPr id="64" name="text-27">
            <a:extLst>
              <a:ext uri="{FF2B5EF4-FFF2-40B4-BE49-F238E27FC236}">
                <a16:creationId xmlns:a16="http://schemas.microsoft.com/office/drawing/2014/main" id="{08E1B793-7B2C-4421-B3B8-41C4B66D2F79}"/>
              </a:ext>
            </a:extLst>
          </p:cNvPr>
          <p:cNvSpPr>
            <a:spLocks noGrp="1"/>
          </p:cNvSpPr>
          <p:nvPr/>
        </p:nvSpPr>
        <p:spPr>
          <a:xfrm>
            <a:off x="8129588" y="6458807"/>
            <a:ext cx="2720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C1</a:t>
            </a:r>
          </a:p>
        </p:txBody>
      </p:sp>
      <p:sp>
        <p:nvSpPr>
          <p:cNvPr id="65" name="text-28">
            <a:extLst>
              <a:ext uri="{FF2B5EF4-FFF2-40B4-BE49-F238E27FC236}">
                <a16:creationId xmlns:a16="http://schemas.microsoft.com/office/drawing/2014/main" id="{723CB28F-A62A-415F-921B-7A3A202EE99B}"/>
              </a:ext>
            </a:extLst>
          </p:cNvPr>
          <p:cNvSpPr>
            <a:spLocks noGrp="1"/>
          </p:cNvSpPr>
          <p:nvPr/>
        </p:nvSpPr>
        <p:spPr>
          <a:xfrm>
            <a:off x="9163050" y="6458807"/>
            <a:ext cx="30461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C2</a:t>
            </a:r>
          </a:p>
        </p:txBody>
      </p:sp>
      <p:sp>
        <p:nvSpPr>
          <p:cNvPr id="66" name="text-29">
            <a:extLst>
              <a:ext uri="{FF2B5EF4-FFF2-40B4-BE49-F238E27FC236}">
                <a16:creationId xmlns:a16="http://schemas.microsoft.com/office/drawing/2014/main" id="{1C0DF5A2-E2D6-4F32-91C4-5753971A4DAC}"/>
              </a:ext>
            </a:extLst>
          </p:cNvPr>
          <p:cNvSpPr>
            <a:spLocks noGrp="1"/>
          </p:cNvSpPr>
          <p:nvPr/>
        </p:nvSpPr>
        <p:spPr>
          <a:xfrm>
            <a:off x="10212705" y="6458807"/>
            <a:ext cx="30461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C3</a:t>
            </a:r>
          </a:p>
        </p:txBody>
      </p:sp>
      <p:sp>
        <p:nvSpPr>
          <p:cNvPr id="67" name="text-30">
            <a:extLst>
              <a:ext uri="{FF2B5EF4-FFF2-40B4-BE49-F238E27FC236}">
                <a16:creationId xmlns:a16="http://schemas.microsoft.com/office/drawing/2014/main" id="{8D9534A9-BA96-4C6F-92A0-6A27DCA36975}"/>
              </a:ext>
            </a:extLst>
          </p:cNvPr>
          <p:cNvSpPr>
            <a:spLocks noGrp="1"/>
          </p:cNvSpPr>
          <p:nvPr/>
        </p:nvSpPr>
        <p:spPr>
          <a:xfrm>
            <a:off x="11262265" y="6458807"/>
            <a:ext cx="30461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C4</a:t>
            </a:r>
          </a:p>
        </p:txBody>
      </p:sp>
      <p:sp>
        <p:nvSpPr>
          <p:cNvPr id="68" name="text-31">
            <a:extLst>
              <a:ext uri="{FF2B5EF4-FFF2-40B4-BE49-F238E27FC236}">
                <a16:creationId xmlns:a16="http://schemas.microsoft.com/office/drawing/2014/main" id="{EDAE9067-E101-4BF4-A345-74AA87622A75}"/>
              </a:ext>
            </a:extLst>
          </p:cNvPr>
          <p:cNvSpPr>
            <a:spLocks noGrp="1"/>
          </p:cNvSpPr>
          <p:nvPr/>
        </p:nvSpPr>
        <p:spPr>
          <a:xfrm>
            <a:off x="11925300" y="6349270"/>
            <a:ext cx="4095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0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0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0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→</a:t>
            </a:r>
          </a:p>
        </p:txBody>
      </p:sp>
      <p:sp>
        <p:nvSpPr>
          <p:cNvPr id="69" name="text-32">
            <a:extLst>
              <a:ext uri="{FF2B5EF4-FFF2-40B4-BE49-F238E27FC236}">
                <a16:creationId xmlns:a16="http://schemas.microsoft.com/office/drawing/2014/main" id="{DCCDBF70-B154-468A-9E98-6F1CB283DECD}"/>
              </a:ext>
            </a:extLst>
          </p:cNvPr>
          <p:cNvSpPr>
            <a:spLocks noGrp="1"/>
          </p:cNvSpPr>
          <p:nvPr/>
        </p:nvSpPr>
        <p:spPr>
          <a:xfrm>
            <a:off x="6250972" y="7087457"/>
            <a:ext cx="536705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53607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53607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536078"/>
                </a:solidFill>
                <a:latin typeface="PingFang SC"/>
                <a:ea typeface="PingFang SC"/>
                <a:cs typeface="Arial"/>
              </a:rPr>
              <a:t>示意图中 Block 大小一致；链路同时承载多个请求的 KV 数据流。</a:t>
            </a:r>
          </a:p>
        </p:txBody>
      </p:sp>
      <p:sp>
        <p:nvSpPr>
          <p:cNvPr id="70" name="text-33">
            <a:extLst>
              <a:ext uri="{FF2B5EF4-FFF2-40B4-BE49-F238E27FC236}">
                <a16:creationId xmlns:a16="http://schemas.microsoft.com/office/drawing/2014/main" id="{9637763E-F5A7-4A2F-8A21-50D91B1531F0}"/>
              </a:ext>
            </a:extLst>
          </p:cNvPr>
          <p:cNvSpPr>
            <a:spLocks noGrp="1"/>
          </p:cNvSpPr>
          <p:nvPr/>
        </p:nvSpPr>
        <p:spPr>
          <a:xfrm>
            <a:off x="14451806" y="3890963"/>
            <a:ext cx="14430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spc="7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DECODE POOL</a:t>
            </a:r>
          </a:p>
        </p:txBody>
      </p:sp>
      <p:sp>
        <p:nvSpPr>
          <p:cNvPr id="71" name="text-34">
            <a:extLst>
              <a:ext uri="{FF2B5EF4-FFF2-40B4-BE49-F238E27FC236}">
                <a16:creationId xmlns:a16="http://schemas.microsoft.com/office/drawing/2014/main" id="{B739773E-7BF3-4990-9061-15B58423A5F3}"/>
              </a:ext>
            </a:extLst>
          </p:cNvPr>
          <p:cNvSpPr>
            <a:spLocks noGrp="1"/>
          </p:cNvSpPr>
          <p:nvPr/>
        </p:nvSpPr>
        <p:spPr>
          <a:xfrm>
            <a:off x="14017371" y="4172807"/>
            <a:ext cx="2311908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625" b="1" i="0" noProof="1">
                <a:solidFill>
                  <a:srgbClr val="2932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625" b="1" i="0" noProof="1">
                <a:solidFill>
                  <a:srgbClr val="2932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625" b="1" i="0" noProof="1">
                <a:solidFill>
                  <a:srgbClr val="293247"/>
                </a:solidFill>
                <a:latin typeface="PingFang SC"/>
                <a:ea typeface="PingFang SC"/>
                <a:cs typeface="Arial"/>
              </a:rPr>
              <a:t>按请求接收 KV</a:t>
            </a:r>
          </a:p>
        </p:txBody>
      </p:sp>
      <p:sp>
        <p:nvSpPr>
          <p:cNvPr id="72" name="text-35">
            <a:extLst>
              <a:ext uri="{FF2B5EF4-FFF2-40B4-BE49-F238E27FC236}">
                <a16:creationId xmlns:a16="http://schemas.microsoft.com/office/drawing/2014/main" id="{A1126CF1-7F21-410C-946C-AB8E75A68C8D}"/>
              </a:ext>
            </a:extLst>
          </p:cNvPr>
          <p:cNvSpPr>
            <a:spLocks noGrp="1"/>
          </p:cNvSpPr>
          <p:nvPr/>
        </p:nvSpPr>
        <p:spPr>
          <a:xfrm>
            <a:off x="13754100" y="4934807"/>
            <a:ext cx="1012317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rPr>
              <a:t>Request A</a:t>
            </a:r>
          </a:p>
        </p:txBody>
      </p:sp>
      <p:sp>
        <p:nvSpPr>
          <p:cNvPr id="73" name="text-36">
            <a:extLst>
              <a:ext uri="{FF2B5EF4-FFF2-40B4-BE49-F238E27FC236}">
                <a16:creationId xmlns:a16="http://schemas.microsoft.com/office/drawing/2014/main" id="{A079099E-5870-43DE-A6DF-41190B13D37F}"/>
              </a:ext>
            </a:extLst>
          </p:cNvPr>
          <p:cNvSpPr>
            <a:spLocks noGrp="1"/>
          </p:cNvSpPr>
          <p:nvPr/>
        </p:nvSpPr>
        <p:spPr>
          <a:xfrm>
            <a:off x="15718822" y="4944332"/>
            <a:ext cx="9213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KV Ready</a:t>
            </a:r>
          </a:p>
        </p:txBody>
      </p:sp>
      <p:sp>
        <p:nvSpPr>
          <p:cNvPr id="74" name="text-37">
            <a:extLst>
              <a:ext uri="{FF2B5EF4-FFF2-40B4-BE49-F238E27FC236}">
                <a16:creationId xmlns:a16="http://schemas.microsoft.com/office/drawing/2014/main" id="{C3C1CBF1-9214-4032-ADC7-953DBC15E7B8}"/>
              </a:ext>
            </a:extLst>
          </p:cNvPr>
          <p:cNvSpPr>
            <a:spLocks noGrp="1"/>
          </p:cNvSpPr>
          <p:nvPr/>
        </p:nvSpPr>
        <p:spPr>
          <a:xfrm>
            <a:off x="13754100" y="5487257"/>
            <a:ext cx="101441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rPr>
              <a:t>Request B</a:t>
            </a:r>
          </a:p>
        </p:txBody>
      </p:sp>
      <p:sp>
        <p:nvSpPr>
          <p:cNvPr id="75" name="text-38">
            <a:extLst>
              <a:ext uri="{FF2B5EF4-FFF2-40B4-BE49-F238E27FC236}">
                <a16:creationId xmlns:a16="http://schemas.microsoft.com/office/drawing/2014/main" id="{1E3FDB91-4831-4B1C-97C9-B94DFE003689}"/>
              </a:ext>
            </a:extLst>
          </p:cNvPr>
          <p:cNvSpPr>
            <a:spLocks noGrp="1"/>
          </p:cNvSpPr>
          <p:nvPr/>
        </p:nvSpPr>
        <p:spPr>
          <a:xfrm>
            <a:off x="15718822" y="5496782"/>
            <a:ext cx="9213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KV Ready</a:t>
            </a:r>
          </a:p>
        </p:txBody>
      </p:sp>
      <p:sp>
        <p:nvSpPr>
          <p:cNvPr id="76" name="text-39">
            <a:extLst>
              <a:ext uri="{FF2B5EF4-FFF2-40B4-BE49-F238E27FC236}">
                <a16:creationId xmlns:a16="http://schemas.microsoft.com/office/drawing/2014/main" id="{24266481-6091-413F-982B-460389A8F005}"/>
              </a:ext>
            </a:extLst>
          </p:cNvPr>
          <p:cNvSpPr>
            <a:spLocks noGrp="1"/>
          </p:cNvSpPr>
          <p:nvPr/>
        </p:nvSpPr>
        <p:spPr>
          <a:xfrm>
            <a:off x="13754100" y="6039707"/>
            <a:ext cx="102241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354258"/>
                </a:solidFill>
                <a:latin typeface="PingFang SC"/>
                <a:ea typeface="PingFang SC"/>
                <a:cs typeface="Arial"/>
              </a:rPr>
              <a:t>Request C</a:t>
            </a:r>
          </a:p>
        </p:txBody>
      </p:sp>
      <p:sp>
        <p:nvSpPr>
          <p:cNvPr id="77" name="text-40">
            <a:extLst>
              <a:ext uri="{FF2B5EF4-FFF2-40B4-BE49-F238E27FC236}">
                <a16:creationId xmlns:a16="http://schemas.microsoft.com/office/drawing/2014/main" id="{30CD4F1B-D218-4F01-82C5-7C209469EB62}"/>
              </a:ext>
            </a:extLst>
          </p:cNvPr>
          <p:cNvSpPr>
            <a:spLocks noGrp="1"/>
          </p:cNvSpPr>
          <p:nvPr/>
        </p:nvSpPr>
        <p:spPr>
          <a:xfrm>
            <a:off x="15718822" y="6049232"/>
            <a:ext cx="9213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KV Ready</a:t>
            </a:r>
          </a:p>
        </p:txBody>
      </p:sp>
      <p:sp>
        <p:nvSpPr>
          <p:cNvPr id="78" name="text-41">
            <a:extLst>
              <a:ext uri="{FF2B5EF4-FFF2-40B4-BE49-F238E27FC236}">
                <a16:creationId xmlns:a16="http://schemas.microsoft.com/office/drawing/2014/main" id="{D7FC612E-F917-4F7A-9422-675E9CF75345}"/>
              </a:ext>
            </a:extLst>
          </p:cNvPr>
          <p:cNvSpPr>
            <a:spLocks noGrp="1"/>
          </p:cNvSpPr>
          <p:nvPr/>
        </p:nvSpPr>
        <p:spPr>
          <a:xfrm>
            <a:off x="13733716" y="6592157"/>
            <a:ext cx="287912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3607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3607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36078"/>
                </a:solidFill>
                <a:latin typeface="PingFang SC"/>
                <a:ea typeface="PingFang SC"/>
                <a:cs typeface="Arial"/>
              </a:rPr>
              <a:t>KV 到齐后启动 Decode；Output</a:t>
            </a:r>
          </a:p>
        </p:txBody>
      </p:sp>
      <p:sp>
        <p:nvSpPr>
          <p:cNvPr id="79" name="text-42">
            <a:extLst>
              <a:ext uri="{FF2B5EF4-FFF2-40B4-BE49-F238E27FC236}">
                <a16:creationId xmlns:a16="http://schemas.microsoft.com/office/drawing/2014/main" id="{D07341F0-B75D-4A9E-BA47-ABD5A965EE95}"/>
              </a:ext>
            </a:extLst>
          </p:cNvPr>
          <p:cNvSpPr>
            <a:spLocks noGrp="1"/>
          </p:cNvSpPr>
          <p:nvPr/>
        </p:nvSpPr>
        <p:spPr>
          <a:xfrm>
            <a:off x="14225302" y="6858857"/>
            <a:ext cx="1896047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3607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3607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36078"/>
                </a:solidFill>
                <a:latin typeface="PingFang SC"/>
                <a:ea typeface="PingFang SC"/>
                <a:cs typeface="Arial"/>
              </a:rPr>
              <a:t>Token 在 D 侧生成。</a:t>
            </a:r>
          </a:p>
        </p:txBody>
      </p:sp>
      <p:sp>
        <p:nvSpPr>
          <p:cNvPr id="80" name="text-43">
            <a:extLst>
              <a:ext uri="{FF2B5EF4-FFF2-40B4-BE49-F238E27FC236}">
                <a16:creationId xmlns:a16="http://schemas.microsoft.com/office/drawing/2014/main" id="{40A03C3E-F0AB-418B-B0CB-7F586D3D274C}"/>
              </a:ext>
            </a:extLst>
          </p:cNvPr>
          <p:cNvSpPr>
            <a:spLocks noGrp="1"/>
          </p:cNvSpPr>
          <p:nvPr/>
        </p:nvSpPr>
        <p:spPr>
          <a:xfrm>
            <a:off x="4581239" y="8191500"/>
            <a:ext cx="344138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spc="6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spc="6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spc="6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AGGREGATE P→D PAYLOAD GOODPUT</a:t>
            </a:r>
          </a:p>
        </p:txBody>
      </p:sp>
      <p:sp>
        <p:nvSpPr>
          <p:cNvPr id="81" name="text-44">
            <a:extLst>
              <a:ext uri="{FF2B5EF4-FFF2-40B4-BE49-F238E27FC236}">
                <a16:creationId xmlns:a16="http://schemas.microsoft.com/office/drawing/2014/main" id="{CE8EFFB4-A21F-4A0F-BCFA-3EF3D723DE7A}"/>
              </a:ext>
            </a:extLst>
          </p:cNvPr>
          <p:cNvSpPr>
            <a:spLocks noGrp="1"/>
          </p:cNvSpPr>
          <p:nvPr/>
        </p:nvSpPr>
        <p:spPr>
          <a:xfrm>
            <a:off x="8127397" y="8124825"/>
            <a:ext cx="229914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2936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2936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29364D"/>
                </a:solidFill>
                <a:latin typeface="PingFang SC"/>
                <a:ea typeface="PingFang SC"/>
                <a:cs typeface="Arial"/>
              </a:rPr>
              <a:t>Σ Prefill Input TPS</a:t>
            </a:r>
          </a:p>
        </p:txBody>
      </p:sp>
      <p:sp>
        <p:nvSpPr>
          <p:cNvPr id="82" name="text-45">
            <a:extLst>
              <a:ext uri="{FF2B5EF4-FFF2-40B4-BE49-F238E27FC236}">
                <a16:creationId xmlns:a16="http://schemas.microsoft.com/office/drawing/2014/main" id="{9AB2E9E2-FAD9-4041-BFFC-6BDF492C252A}"/>
              </a:ext>
            </a:extLst>
          </p:cNvPr>
          <p:cNvSpPr>
            <a:spLocks noGrp="1"/>
          </p:cNvSpPr>
          <p:nvPr/>
        </p:nvSpPr>
        <p:spPr>
          <a:xfrm>
            <a:off x="10531221" y="8091488"/>
            <a:ext cx="26079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×</a:t>
            </a:r>
          </a:p>
        </p:txBody>
      </p:sp>
      <p:sp>
        <p:nvSpPr>
          <p:cNvPr id="83" name="text-46">
            <a:extLst>
              <a:ext uri="{FF2B5EF4-FFF2-40B4-BE49-F238E27FC236}">
                <a16:creationId xmlns:a16="http://schemas.microsoft.com/office/drawing/2014/main" id="{8FE634AE-C4B7-4F3C-8492-95D0399C6FD5}"/>
              </a:ext>
            </a:extLst>
          </p:cNvPr>
          <p:cNvSpPr>
            <a:spLocks noGrp="1"/>
          </p:cNvSpPr>
          <p:nvPr/>
        </p:nvSpPr>
        <p:spPr>
          <a:xfrm>
            <a:off x="10896791" y="8124825"/>
            <a:ext cx="2867216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2936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2936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29364D"/>
                </a:solidFill>
                <a:latin typeface="PingFang SC"/>
                <a:ea typeface="PingFang SC"/>
                <a:cs typeface="Arial"/>
              </a:rPr>
              <a:t>KV bytes / input token</a:t>
            </a:r>
          </a:p>
        </p:txBody>
      </p:sp>
      <p:sp>
        <p:nvSpPr>
          <p:cNvPr id="84" name="text-47">
            <a:extLst>
              <a:ext uri="{FF2B5EF4-FFF2-40B4-BE49-F238E27FC236}">
                <a16:creationId xmlns:a16="http://schemas.microsoft.com/office/drawing/2014/main" id="{FEC74669-4D89-40C6-9EE4-A56F3D7C2DBC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6292596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Prefill-as-a-Service workload model; KVCache.AI KV Cache Size Calculator.</a:t>
            </a:r>
          </a:p>
        </p:txBody>
      </p:sp>
      <p:sp>
        <p:nvSpPr>
          <p:cNvPr id="85" name="text-48">
            <a:extLst>
              <a:ext uri="{FF2B5EF4-FFF2-40B4-BE49-F238E27FC236}">
                <a16:creationId xmlns:a16="http://schemas.microsoft.com/office/drawing/2014/main" id="{397A965C-86A9-444E-9E98-5CF86B82C1C1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38 / 43</a:t>
            </a:r>
          </a:p>
        </p:txBody>
      </p:sp>
    </p:spTree>
    <p:extLst>
      <p:ext uri="{BB962C8B-B14F-4D97-AF65-F5344CB8AC3E}">
        <p14:creationId xmlns:p14="http://schemas.microsoft.com/office/powerpoint/2010/main" val="280870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html-shape-1">
            <a:extLst>
              <a:ext uri="{FF2B5EF4-FFF2-40B4-BE49-F238E27FC236}">
                <a16:creationId xmlns:a16="http://schemas.microsoft.com/office/drawing/2014/main" id="{08E47460-05B4-4ECF-AC17-4442EC660748}"/>
              </a:ext>
            </a:extLst>
          </p:cNvPr>
          <p:cNvSpPr>
            <a:spLocks noGrp="1"/>
          </p:cNvSpPr>
          <p:nvPr/>
        </p:nvSpPr>
        <p:spPr>
          <a:xfrm>
            <a:off x="1000125" y="3000375"/>
            <a:ext cx="16287750" cy="542925"/>
          </a:xfrm>
          <a:prstGeom prst="rect">
            <a:avLst/>
          </a:prstGeom>
          <a:solidFill>
            <a:srgbClr val="F4F6FA"/>
          </a:solidFill>
          <a:ln w="0">
            <a:noFill/>
            <a:prstDash val="solid"/>
          </a:ln>
        </p:spPr>
      </p:sp>
      <p:sp>
        <p:nvSpPr>
          <p:cNvPr id="2" name="html-shape-4">
            <a:extLst>
              <a:ext uri="{FF2B5EF4-FFF2-40B4-BE49-F238E27FC236}">
                <a16:creationId xmlns:a16="http://schemas.microsoft.com/office/drawing/2014/main" id="{CE5EC91A-5700-48E1-84BF-F92BBD84FBE2}"/>
              </a:ext>
            </a:extLst>
          </p:cNvPr>
          <p:cNvSpPr>
            <a:spLocks noGrp="1"/>
          </p:cNvSpPr>
          <p:nvPr/>
        </p:nvSpPr>
        <p:spPr>
          <a:xfrm>
            <a:off x="1000125" y="3543300"/>
            <a:ext cx="16287750" cy="1257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" name="html-shape-7">
            <a:extLst>
              <a:ext uri="{FF2B5EF4-FFF2-40B4-BE49-F238E27FC236}">
                <a16:creationId xmlns:a16="http://schemas.microsoft.com/office/drawing/2014/main" id="{14B8B6C9-9C70-4017-8659-DEB393A304C9}"/>
              </a:ext>
            </a:extLst>
          </p:cNvPr>
          <p:cNvSpPr>
            <a:spLocks noGrp="1"/>
          </p:cNvSpPr>
          <p:nvPr/>
        </p:nvSpPr>
        <p:spPr>
          <a:xfrm>
            <a:off x="1000125" y="4800600"/>
            <a:ext cx="16287750" cy="125730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</p:sp>
      <p:sp>
        <p:nvSpPr>
          <p:cNvPr id="4" name="html-shape-10">
            <a:extLst>
              <a:ext uri="{FF2B5EF4-FFF2-40B4-BE49-F238E27FC236}">
                <a16:creationId xmlns:a16="http://schemas.microsoft.com/office/drawing/2014/main" id="{93B5FEB6-A5C4-468A-AB80-764B8B509048}"/>
              </a:ext>
            </a:extLst>
          </p:cNvPr>
          <p:cNvSpPr>
            <a:spLocks noGrp="1"/>
          </p:cNvSpPr>
          <p:nvPr/>
        </p:nvSpPr>
        <p:spPr>
          <a:xfrm>
            <a:off x="1000125" y="6057900"/>
            <a:ext cx="16287750" cy="1257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" name="html-shape-13">
            <a:extLst>
              <a:ext uri="{FF2B5EF4-FFF2-40B4-BE49-F238E27FC236}">
                <a16:creationId xmlns:a16="http://schemas.microsoft.com/office/drawing/2014/main" id="{B8CC97F1-A1E7-429E-89F5-EC406D2609B8}"/>
              </a:ext>
            </a:extLst>
          </p:cNvPr>
          <p:cNvSpPr>
            <a:spLocks noGrp="1"/>
          </p:cNvSpPr>
          <p:nvPr/>
        </p:nvSpPr>
        <p:spPr>
          <a:xfrm>
            <a:off x="1000125" y="7315200"/>
            <a:ext cx="16287750" cy="125730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</p:sp>
      <p:sp>
        <p:nvSpPr>
          <p:cNvPr id="6" name="border-2">
            <a:extLst>
              <a:ext uri="{FF2B5EF4-FFF2-40B4-BE49-F238E27FC236}">
                <a16:creationId xmlns:a16="http://schemas.microsoft.com/office/drawing/2014/main" id="{E209D018-E964-415B-9242-07A713DCDAB3}"/>
              </a:ext>
            </a:extLst>
          </p:cNvPr>
          <p:cNvSpPr>
            <a:spLocks noGrp="1"/>
          </p:cNvSpPr>
          <p:nvPr/>
        </p:nvSpPr>
        <p:spPr>
          <a:xfrm>
            <a:off x="1000125" y="3000375"/>
            <a:ext cx="16287750" cy="19050"/>
          </a:xfrm>
          <a:prstGeom prst="rect">
            <a:avLst/>
          </a:prstGeom>
          <a:solidFill>
            <a:srgbClr val="BFC8D8"/>
          </a:solidFill>
          <a:ln w="0">
            <a:noFill/>
            <a:prstDash val="solid"/>
          </a:ln>
        </p:spPr>
      </p:sp>
      <p:sp>
        <p:nvSpPr>
          <p:cNvPr id="7" name="border-3">
            <a:extLst>
              <a:ext uri="{FF2B5EF4-FFF2-40B4-BE49-F238E27FC236}">
                <a16:creationId xmlns:a16="http://schemas.microsoft.com/office/drawing/2014/main" id="{38FB8A7F-D926-4F0E-A60F-DF868556263B}"/>
              </a:ext>
            </a:extLst>
          </p:cNvPr>
          <p:cNvSpPr>
            <a:spLocks noGrp="1"/>
          </p:cNvSpPr>
          <p:nvPr/>
        </p:nvSpPr>
        <p:spPr>
          <a:xfrm>
            <a:off x="1000125" y="3524250"/>
            <a:ext cx="16287750" cy="19050"/>
          </a:xfrm>
          <a:prstGeom prst="rect">
            <a:avLst/>
          </a:prstGeom>
          <a:solidFill>
            <a:srgbClr val="BFC8D8"/>
          </a:solidFill>
          <a:ln w="0">
            <a:noFill/>
            <a:prstDash val="solid"/>
          </a:ln>
        </p:spPr>
      </p:sp>
      <p:sp>
        <p:nvSpPr>
          <p:cNvPr id="8" name="border-5">
            <a:extLst>
              <a:ext uri="{FF2B5EF4-FFF2-40B4-BE49-F238E27FC236}">
                <a16:creationId xmlns:a16="http://schemas.microsoft.com/office/drawing/2014/main" id="{67BA7E35-7721-4EC4-A5FB-F32AD4A5A12A}"/>
              </a:ext>
            </a:extLst>
          </p:cNvPr>
          <p:cNvSpPr>
            <a:spLocks noGrp="1"/>
          </p:cNvSpPr>
          <p:nvPr/>
        </p:nvSpPr>
        <p:spPr>
          <a:xfrm>
            <a:off x="1000125" y="4791075"/>
            <a:ext cx="16287750" cy="9525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sp>
        <p:nvSpPr>
          <p:cNvPr id="9" name="pseudo-6">
            <a:extLst>
              <a:ext uri="{FF2B5EF4-FFF2-40B4-BE49-F238E27FC236}">
                <a16:creationId xmlns:a16="http://schemas.microsoft.com/office/drawing/2014/main" id="{3C785626-AA32-4356-83FF-AD4B1CB4085C}"/>
              </a:ext>
            </a:extLst>
          </p:cNvPr>
          <p:cNvSpPr>
            <a:spLocks noGrp="1"/>
          </p:cNvSpPr>
          <p:nvPr/>
        </p:nvSpPr>
        <p:spPr>
          <a:xfrm>
            <a:off x="1000125" y="3705225"/>
            <a:ext cx="66675" cy="92392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10" name="border-8">
            <a:extLst>
              <a:ext uri="{FF2B5EF4-FFF2-40B4-BE49-F238E27FC236}">
                <a16:creationId xmlns:a16="http://schemas.microsoft.com/office/drawing/2014/main" id="{0AA80C5B-8803-4633-9E71-6B407BE3D7C9}"/>
              </a:ext>
            </a:extLst>
          </p:cNvPr>
          <p:cNvSpPr>
            <a:spLocks noGrp="1"/>
          </p:cNvSpPr>
          <p:nvPr/>
        </p:nvSpPr>
        <p:spPr>
          <a:xfrm>
            <a:off x="1000125" y="6048375"/>
            <a:ext cx="16287750" cy="9525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sp>
        <p:nvSpPr>
          <p:cNvPr id="11" name="pseudo-9">
            <a:extLst>
              <a:ext uri="{FF2B5EF4-FFF2-40B4-BE49-F238E27FC236}">
                <a16:creationId xmlns:a16="http://schemas.microsoft.com/office/drawing/2014/main" id="{9F526D49-DA11-45A7-8FF3-C9BA916304EB}"/>
              </a:ext>
            </a:extLst>
          </p:cNvPr>
          <p:cNvSpPr>
            <a:spLocks noGrp="1"/>
          </p:cNvSpPr>
          <p:nvPr/>
        </p:nvSpPr>
        <p:spPr>
          <a:xfrm>
            <a:off x="1000125" y="4962525"/>
            <a:ext cx="66675" cy="923925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2" name="border-11">
            <a:extLst>
              <a:ext uri="{FF2B5EF4-FFF2-40B4-BE49-F238E27FC236}">
                <a16:creationId xmlns:a16="http://schemas.microsoft.com/office/drawing/2014/main" id="{238054CE-197E-4F04-AEAD-57046AD6C20D}"/>
              </a:ext>
            </a:extLst>
          </p:cNvPr>
          <p:cNvSpPr>
            <a:spLocks noGrp="1"/>
          </p:cNvSpPr>
          <p:nvPr/>
        </p:nvSpPr>
        <p:spPr>
          <a:xfrm>
            <a:off x="1000125" y="7305675"/>
            <a:ext cx="16287750" cy="9525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sp>
        <p:nvSpPr>
          <p:cNvPr id="13" name="pseudo-12">
            <a:extLst>
              <a:ext uri="{FF2B5EF4-FFF2-40B4-BE49-F238E27FC236}">
                <a16:creationId xmlns:a16="http://schemas.microsoft.com/office/drawing/2014/main" id="{3E46914F-027B-490C-8896-666B08E500CA}"/>
              </a:ext>
            </a:extLst>
          </p:cNvPr>
          <p:cNvSpPr>
            <a:spLocks noGrp="1"/>
          </p:cNvSpPr>
          <p:nvPr/>
        </p:nvSpPr>
        <p:spPr>
          <a:xfrm>
            <a:off x="1000125" y="6219825"/>
            <a:ext cx="66675" cy="92392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4" name="border-14">
            <a:extLst>
              <a:ext uri="{FF2B5EF4-FFF2-40B4-BE49-F238E27FC236}">
                <a16:creationId xmlns:a16="http://schemas.microsoft.com/office/drawing/2014/main" id="{44EB83F4-E504-4D47-8CC4-EBA548E85D16}"/>
              </a:ext>
            </a:extLst>
          </p:cNvPr>
          <p:cNvSpPr>
            <a:spLocks noGrp="1"/>
          </p:cNvSpPr>
          <p:nvPr/>
        </p:nvSpPr>
        <p:spPr>
          <a:xfrm>
            <a:off x="1000125" y="8562975"/>
            <a:ext cx="16287750" cy="9525"/>
          </a:xfrm>
          <a:prstGeom prst="rect">
            <a:avLst/>
          </a:prstGeom>
          <a:solidFill>
            <a:srgbClr val="D6DCE7"/>
          </a:solidFill>
          <a:ln w="0">
            <a:noFill/>
            <a:prstDash val="solid"/>
          </a:ln>
        </p:spPr>
      </p:sp>
      <p:sp>
        <p:nvSpPr>
          <p:cNvPr id="15" name="pseudo-15">
            <a:extLst>
              <a:ext uri="{FF2B5EF4-FFF2-40B4-BE49-F238E27FC236}">
                <a16:creationId xmlns:a16="http://schemas.microsoft.com/office/drawing/2014/main" id="{62FDC221-5EB2-4C28-BEA1-2ACF40972498}"/>
              </a:ext>
            </a:extLst>
          </p:cNvPr>
          <p:cNvSpPr>
            <a:spLocks noGrp="1"/>
          </p:cNvSpPr>
          <p:nvPr/>
        </p:nvSpPr>
        <p:spPr>
          <a:xfrm>
            <a:off x="1000125" y="7477125"/>
            <a:ext cx="66675" cy="923925"/>
          </a:xfrm>
          <a:prstGeom prst="rect">
            <a:avLst/>
          </a:prstGeom>
          <a:solidFill>
            <a:srgbClr val="737F94"/>
          </a:solidFill>
          <a:ln w="0">
            <a:noFill/>
            <a:prstDash val="solid"/>
          </a:ln>
        </p:spPr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C2B6693-ADE4-49FF-B450-2380C6105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406869C-5D03-4E65-AF93-44470E90C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8" name="text-1">
            <a:extLst>
              <a:ext uri="{FF2B5EF4-FFF2-40B4-BE49-F238E27FC236}">
                <a16:creationId xmlns:a16="http://schemas.microsoft.com/office/drawing/2014/main" id="{E286A9F6-D91A-48E3-B7DB-9DAC2AC8BB54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9" name="text-2">
            <a:extLst>
              <a:ext uri="{FF2B5EF4-FFF2-40B4-BE49-F238E27FC236}">
                <a16:creationId xmlns:a16="http://schemas.microsoft.com/office/drawing/2014/main" id="{04E820D6-606C-4B10-91EE-654EEE09F731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4781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第六章 · 跨区域 PD 分析</a:t>
            </a:r>
          </a:p>
        </p:txBody>
      </p:sp>
      <p:sp>
        <p:nvSpPr>
          <p:cNvPr id="20" name="text-3">
            <a:extLst>
              <a:ext uri="{FF2B5EF4-FFF2-40B4-BE49-F238E27FC236}">
                <a16:creationId xmlns:a16="http://schemas.microsoft.com/office/drawing/2014/main" id="{2B758FE7-5378-4630-8914-6021FEC0517C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398251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63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跨城 PD 需要足够带宽和受控长尾，但不追求极低平均延迟</a:t>
            </a:r>
          </a:p>
        </p:txBody>
      </p:sp>
      <p:sp>
        <p:nvSpPr>
          <p:cNvPr id="21" name="text-4">
            <a:extLst>
              <a:ext uri="{FF2B5EF4-FFF2-40B4-BE49-F238E27FC236}">
                <a16:creationId xmlns:a16="http://schemas.microsoft.com/office/drawing/2014/main" id="{1908A977-B8B2-470B-A574-E97D741ED964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910237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满足带宽、平均延迟和传输长尾目标即可；底层无需提供 RDMA 语义。</a:t>
            </a:r>
          </a:p>
        </p:txBody>
      </p:sp>
      <p:sp>
        <p:nvSpPr>
          <p:cNvPr id="22" name="text-5">
            <a:extLst>
              <a:ext uri="{FF2B5EF4-FFF2-40B4-BE49-F238E27FC236}">
                <a16:creationId xmlns:a16="http://schemas.microsoft.com/office/drawing/2014/main" id="{C075F36E-E605-4535-8FF4-25D1F256D077}"/>
              </a:ext>
            </a:extLst>
          </p:cNvPr>
          <p:cNvSpPr>
            <a:spLocks noGrp="1"/>
          </p:cNvSpPr>
          <p:nvPr/>
        </p:nvSpPr>
        <p:spPr>
          <a:xfrm>
            <a:off x="1276350" y="3167063"/>
            <a:ext cx="1902047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6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6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6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NETWORK DIMENSION</a:t>
            </a:r>
          </a:p>
        </p:txBody>
      </p:sp>
      <p:sp>
        <p:nvSpPr>
          <p:cNvPr id="23" name="text-6">
            <a:extLst>
              <a:ext uri="{FF2B5EF4-FFF2-40B4-BE49-F238E27FC236}">
                <a16:creationId xmlns:a16="http://schemas.microsoft.com/office/drawing/2014/main" id="{C234BB76-62AF-49ED-830E-26F0A4105BE7}"/>
              </a:ext>
            </a:extLst>
          </p:cNvPr>
          <p:cNvSpPr>
            <a:spLocks noGrp="1"/>
          </p:cNvSpPr>
          <p:nvPr/>
        </p:nvSpPr>
        <p:spPr>
          <a:xfrm>
            <a:off x="4514850" y="3167063"/>
            <a:ext cx="71628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6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6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6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业务要求</a:t>
            </a:r>
          </a:p>
        </p:txBody>
      </p:sp>
      <p:sp>
        <p:nvSpPr>
          <p:cNvPr id="24" name="text-7">
            <a:extLst>
              <a:ext uri="{FF2B5EF4-FFF2-40B4-BE49-F238E27FC236}">
                <a16:creationId xmlns:a16="http://schemas.microsoft.com/office/drawing/2014/main" id="{EC1E8295-2B2E-4E6D-8622-3BDA43145AA7}"/>
              </a:ext>
            </a:extLst>
          </p:cNvPr>
          <p:cNvSpPr>
            <a:spLocks noGrp="1"/>
          </p:cNvSpPr>
          <p:nvPr/>
        </p:nvSpPr>
        <p:spPr>
          <a:xfrm>
            <a:off x="10420350" y="3167063"/>
            <a:ext cx="119643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6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6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6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实验依据与原理</a:t>
            </a:r>
          </a:p>
        </p:txBody>
      </p:sp>
      <p:sp>
        <p:nvSpPr>
          <p:cNvPr id="25" name="text-8">
            <a:extLst>
              <a:ext uri="{FF2B5EF4-FFF2-40B4-BE49-F238E27FC236}">
                <a16:creationId xmlns:a16="http://schemas.microsoft.com/office/drawing/2014/main" id="{BE79205E-DD11-4A43-A70C-54F7EB597F28}"/>
              </a:ext>
            </a:extLst>
          </p:cNvPr>
          <p:cNvSpPr>
            <a:spLocks noGrp="1"/>
          </p:cNvSpPr>
          <p:nvPr/>
        </p:nvSpPr>
        <p:spPr>
          <a:xfrm>
            <a:off x="1276350" y="4052697"/>
            <a:ext cx="23974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01</a:t>
            </a:r>
          </a:p>
        </p:txBody>
      </p:sp>
      <p:sp>
        <p:nvSpPr>
          <p:cNvPr id="26" name="text-9">
            <a:extLst>
              <a:ext uri="{FF2B5EF4-FFF2-40B4-BE49-F238E27FC236}">
                <a16:creationId xmlns:a16="http://schemas.microsoft.com/office/drawing/2014/main" id="{343D4DAC-EE8F-4603-AA1E-6EBC9FE17218}"/>
              </a:ext>
            </a:extLst>
          </p:cNvPr>
          <p:cNvSpPr>
            <a:spLocks noGrp="1"/>
          </p:cNvSpPr>
          <p:nvPr/>
        </p:nvSpPr>
        <p:spPr>
          <a:xfrm>
            <a:off x="1611344" y="4001357"/>
            <a:ext cx="1227963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rPr>
              <a:t>Bandwidth</a:t>
            </a:r>
          </a:p>
        </p:txBody>
      </p:sp>
      <p:sp>
        <p:nvSpPr>
          <p:cNvPr id="27" name="text-10">
            <a:extLst>
              <a:ext uri="{FF2B5EF4-FFF2-40B4-BE49-F238E27FC236}">
                <a16:creationId xmlns:a16="http://schemas.microsoft.com/office/drawing/2014/main" id="{45F2D87A-B0D2-4569-B635-0234A82917D4}"/>
              </a:ext>
            </a:extLst>
          </p:cNvPr>
          <p:cNvSpPr>
            <a:spLocks noGrp="1"/>
          </p:cNvSpPr>
          <p:nvPr/>
        </p:nvSpPr>
        <p:spPr>
          <a:xfrm>
            <a:off x="4514850" y="3830574"/>
            <a:ext cx="278977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rPr>
              <a:t>足够 Payload Goodput</a:t>
            </a:r>
          </a:p>
        </p:txBody>
      </p:sp>
      <p:sp>
        <p:nvSpPr>
          <p:cNvPr id="28" name="text-11">
            <a:extLst>
              <a:ext uri="{FF2B5EF4-FFF2-40B4-BE49-F238E27FC236}">
                <a16:creationId xmlns:a16="http://schemas.microsoft.com/office/drawing/2014/main" id="{D46A4A85-2010-4FD6-AA45-4DFD42322FD2}"/>
              </a:ext>
            </a:extLst>
          </p:cNvPr>
          <p:cNvSpPr>
            <a:spLocks noGrp="1"/>
          </p:cNvSpPr>
          <p:nvPr/>
        </p:nvSpPr>
        <p:spPr>
          <a:xfrm>
            <a:off x="4514850" y="4234339"/>
            <a:ext cx="536571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网络排出速度至少匹配聚合 KV 产生速度，避免排队封顶 Input TPS。</a:t>
            </a:r>
          </a:p>
        </p:txBody>
      </p:sp>
      <p:sp>
        <p:nvSpPr>
          <p:cNvPr id="29" name="text-12">
            <a:extLst>
              <a:ext uri="{FF2B5EF4-FFF2-40B4-BE49-F238E27FC236}">
                <a16:creationId xmlns:a16="http://schemas.microsoft.com/office/drawing/2014/main" id="{8B23BABE-31F3-47D2-BBB8-BCD571CCFB91}"/>
              </a:ext>
            </a:extLst>
          </p:cNvPr>
          <p:cNvSpPr>
            <a:spLocks noGrp="1"/>
          </p:cNvSpPr>
          <p:nvPr/>
        </p:nvSpPr>
        <p:spPr>
          <a:xfrm>
            <a:off x="10420350" y="3714750"/>
            <a:ext cx="3419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受限带宽实验：接近链路上限</a:t>
            </a:r>
          </a:p>
        </p:txBody>
      </p:sp>
      <p:sp>
        <p:nvSpPr>
          <p:cNvPr id="30" name="text-13">
            <a:extLst>
              <a:ext uri="{FF2B5EF4-FFF2-40B4-BE49-F238E27FC236}">
                <a16:creationId xmlns:a16="http://schemas.microsoft.com/office/drawing/2014/main" id="{9071D288-A2F6-4337-B2F3-9F7BCCA56D3C}"/>
              </a:ext>
            </a:extLst>
          </p:cNvPr>
          <p:cNvSpPr>
            <a:spLocks noGrp="1"/>
          </p:cNvSpPr>
          <p:nvPr/>
        </p:nvSpPr>
        <p:spPr>
          <a:xfrm>
            <a:off x="10420350" y="4118515"/>
            <a:ext cx="255879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18.8Gb/s 对应 33.4K Input TPS</a:t>
            </a:r>
          </a:p>
        </p:txBody>
      </p:sp>
      <p:sp>
        <p:nvSpPr>
          <p:cNvPr id="31" name="text-14">
            <a:extLst>
              <a:ext uri="{FF2B5EF4-FFF2-40B4-BE49-F238E27FC236}">
                <a16:creationId xmlns:a16="http://schemas.microsoft.com/office/drawing/2014/main" id="{7F2B0D6B-1CD5-4D50-91F1-BFE4AD485093}"/>
              </a:ext>
            </a:extLst>
          </p:cNvPr>
          <p:cNvSpPr>
            <a:spLocks noGrp="1"/>
          </p:cNvSpPr>
          <p:nvPr/>
        </p:nvSpPr>
        <p:spPr>
          <a:xfrm>
            <a:off x="10420350" y="4349972"/>
            <a:ext cx="2554319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实测 30.3K，达换算上限 90.6%</a:t>
            </a:r>
          </a:p>
        </p:txBody>
      </p:sp>
      <p:sp>
        <p:nvSpPr>
          <p:cNvPr id="32" name="text-15">
            <a:extLst>
              <a:ext uri="{FF2B5EF4-FFF2-40B4-BE49-F238E27FC236}">
                <a16:creationId xmlns:a16="http://schemas.microsoft.com/office/drawing/2014/main" id="{CBCA4DE5-408C-4B1B-A671-D0E1CA094F50}"/>
              </a:ext>
            </a:extLst>
          </p:cNvPr>
          <p:cNvSpPr>
            <a:spLocks noGrp="1"/>
          </p:cNvSpPr>
          <p:nvPr/>
        </p:nvSpPr>
        <p:spPr>
          <a:xfrm>
            <a:off x="1276350" y="5309997"/>
            <a:ext cx="27060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02</a:t>
            </a:r>
          </a:p>
        </p:txBody>
      </p:sp>
      <p:sp>
        <p:nvSpPr>
          <p:cNvPr id="33" name="text-16">
            <a:extLst>
              <a:ext uri="{FF2B5EF4-FFF2-40B4-BE49-F238E27FC236}">
                <a16:creationId xmlns:a16="http://schemas.microsoft.com/office/drawing/2014/main" id="{1D46542F-BEA5-4480-A6C2-F1E5762CB021}"/>
              </a:ext>
            </a:extLst>
          </p:cNvPr>
          <p:cNvSpPr>
            <a:spLocks noGrp="1"/>
          </p:cNvSpPr>
          <p:nvPr/>
        </p:nvSpPr>
        <p:spPr>
          <a:xfrm>
            <a:off x="1642205" y="5258657"/>
            <a:ext cx="1896237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rPr>
              <a:t>Average Latency</a:t>
            </a:r>
          </a:p>
        </p:txBody>
      </p:sp>
      <p:sp>
        <p:nvSpPr>
          <p:cNvPr id="34" name="text-17">
            <a:extLst>
              <a:ext uri="{FF2B5EF4-FFF2-40B4-BE49-F238E27FC236}">
                <a16:creationId xmlns:a16="http://schemas.microsoft.com/office/drawing/2014/main" id="{6FE302BE-619B-4AFF-B6E1-C7667822B9DB}"/>
              </a:ext>
            </a:extLst>
          </p:cNvPr>
          <p:cNvSpPr>
            <a:spLocks noGrp="1"/>
          </p:cNvSpPr>
          <p:nvPr/>
        </p:nvSpPr>
        <p:spPr>
          <a:xfrm>
            <a:off x="4514850" y="5087874"/>
            <a:ext cx="2905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rPr>
              <a:t>可容许较高平均传输延迟</a:t>
            </a:r>
          </a:p>
        </p:txBody>
      </p:sp>
      <p:sp>
        <p:nvSpPr>
          <p:cNvPr id="35" name="text-18">
            <a:extLst>
              <a:ext uri="{FF2B5EF4-FFF2-40B4-BE49-F238E27FC236}">
                <a16:creationId xmlns:a16="http://schemas.microsoft.com/office/drawing/2014/main" id="{E08F1037-391D-4832-8D24-404FF8D31160}"/>
              </a:ext>
            </a:extLst>
          </p:cNvPr>
          <p:cNvSpPr>
            <a:spLocks noGrp="1"/>
          </p:cNvSpPr>
          <p:nvPr/>
        </p:nvSpPr>
        <p:spPr>
          <a:xfrm>
            <a:off x="4514850" y="5491639"/>
            <a:ext cx="420824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计算与传输流水重叠；可容许范围由 TTFT 目标决定。</a:t>
            </a:r>
          </a:p>
        </p:txBody>
      </p:sp>
      <p:sp>
        <p:nvSpPr>
          <p:cNvPr id="36" name="text-19">
            <a:extLst>
              <a:ext uri="{FF2B5EF4-FFF2-40B4-BE49-F238E27FC236}">
                <a16:creationId xmlns:a16="http://schemas.microsoft.com/office/drawing/2014/main" id="{4AD9A01B-5B98-4DEE-936B-45F9C49AF356}"/>
              </a:ext>
            </a:extLst>
          </p:cNvPr>
          <p:cNvSpPr>
            <a:spLocks noGrp="1"/>
          </p:cNvSpPr>
          <p:nvPr/>
        </p:nvSpPr>
        <p:spPr>
          <a:xfrm>
            <a:off x="10420350" y="5087874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平均延迟不是首要约束</a:t>
            </a:r>
          </a:p>
        </p:txBody>
      </p:sp>
      <p:sp>
        <p:nvSpPr>
          <p:cNvPr id="37" name="text-20">
            <a:extLst>
              <a:ext uri="{FF2B5EF4-FFF2-40B4-BE49-F238E27FC236}">
                <a16:creationId xmlns:a16="http://schemas.microsoft.com/office/drawing/2014/main" id="{22AF991F-D427-4125-9DED-A6CE07E9F7DF}"/>
              </a:ext>
            </a:extLst>
          </p:cNvPr>
          <p:cNvSpPr>
            <a:spLocks noGrp="1"/>
          </p:cNvSpPr>
          <p:nvPr/>
        </p:nvSpPr>
        <p:spPr>
          <a:xfrm>
            <a:off x="10420350" y="5491639"/>
            <a:ext cx="346529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流水隐藏重复等待，但末批传输仍进入 TTFT</a:t>
            </a:r>
          </a:p>
        </p:txBody>
      </p:sp>
      <p:sp>
        <p:nvSpPr>
          <p:cNvPr id="38" name="text-21">
            <a:extLst>
              <a:ext uri="{FF2B5EF4-FFF2-40B4-BE49-F238E27FC236}">
                <a16:creationId xmlns:a16="http://schemas.microsoft.com/office/drawing/2014/main" id="{66C2A97F-2296-43FC-94A3-49366262F61C}"/>
              </a:ext>
            </a:extLst>
          </p:cNvPr>
          <p:cNvSpPr>
            <a:spLocks noGrp="1"/>
          </p:cNvSpPr>
          <p:nvPr/>
        </p:nvSpPr>
        <p:spPr>
          <a:xfrm>
            <a:off x="1276350" y="6567297"/>
            <a:ext cx="27060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03</a:t>
            </a:r>
          </a:p>
        </p:txBody>
      </p:sp>
      <p:sp>
        <p:nvSpPr>
          <p:cNvPr id="39" name="text-22">
            <a:extLst>
              <a:ext uri="{FF2B5EF4-FFF2-40B4-BE49-F238E27FC236}">
                <a16:creationId xmlns:a16="http://schemas.microsoft.com/office/drawing/2014/main" id="{BAAB9AE6-C98E-4124-91F8-82554C83AA63}"/>
              </a:ext>
            </a:extLst>
          </p:cNvPr>
          <p:cNvSpPr>
            <a:spLocks noGrp="1"/>
          </p:cNvSpPr>
          <p:nvPr/>
        </p:nvSpPr>
        <p:spPr>
          <a:xfrm>
            <a:off x="1642205" y="6515957"/>
            <a:ext cx="1792224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rPr>
              <a:t>Completion Tail</a:t>
            </a:r>
          </a:p>
        </p:txBody>
      </p:sp>
      <p:sp>
        <p:nvSpPr>
          <p:cNvPr id="40" name="text-23">
            <a:extLst>
              <a:ext uri="{FF2B5EF4-FFF2-40B4-BE49-F238E27FC236}">
                <a16:creationId xmlns:a16="http://schemas.microsoft.com/office/drawing/2014/main" id="{B86865A3-7040-481D-8F16-613CB75069AB}"/>
              </a:ext>
            </a:extLst>
          </p:cNvPr>
          <p:cNvSpPr>
            <a:spLocks noGrp="1"/>
          </p:cNvSpPr>
          <p:nvPr/>
        </p:nvSpPr>
        <p:spPr>
          <a:xfrm>
            <a:off x="4514850" y="6229350"/>
            <a:ext cx="214369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rPr>
              <a:t>控制 KV 传输长尾</a:t>
            </a:r>
          </a:p>
        </p:txBody>
      </p:sp>
      <p:sp>
        <p:nvSpPr>
          <p:cNvPr id="41" name="text-24">
            <a:extLst>
              <a:ext uri="{FF2B5EF4-FFF2-40B4-BE49-F238E27FC236}">
                <a16:creationId xmlns:a16="http://schemas.microsoft.com/office/drawing/2014/main" id="{F0A40388-9517-461B-A440-1B04BAABD71C}"/>
              </a:ext>
            </a:extLst>
          </p:cNvPr>
          <p:cNvSpPr>
            <a:spLocks noGrp="1"/>
          </p:cNvSpPr>
          <p:nvPr/>
        </p:nvSpPr>
        <p:spPr>
          <a:xfrm>
            <a:off x="4514850" y="6633115"/>
            <a:ext cx="528475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最后一批必要 KV 的到达时间决定 Decode 启动，并进入 P90 / P99</a:t>
            </a:r>
          </a:p>
        </p:txBody>
      </p:sp>
      <p:sp>
        <p:nvSpPr>
          <p:cNvPr id="42" name="text-25">
            <a:extLst>
              <a:ext uri="{FF2B5EF4-FFF2-40B4-BE49-F238E27FC236}">
                <a16:creationId xmlns:a16="http://schemas.microsoft.com/office/drawing/2014/main" id="{27E631D8-367E-4820-8F98-4855AA675C21}"/>
              </a:ext>
            </a:extLst>
          </p:cNvPr>
          <p:cNvSpPr>
            <a:spLocks noGrp="1"/>
          </p:cNvSpPr>
          <p:nvPr/>
        </p:nvSpPr>
        <p:spPr>
          <a:xfrm>
            <a:off x="4514850" y="6864572"/>
            <a:ext cx="66494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TTFT。</a:t>
            </a:r>
          </a:p>
        </p:txBody>
      </p:sp>
      <p:sp>
        <p:nvSpPr>
          <p:cNvPr id="43" name="text-26">
            <a:extLst>
              <a:ext uri="{FF2B5EF4-FFF2-40B4-BE49-F238E27FC236}">
                <a16:creationId xmlns:a16="http://schemas.microsoft.com/office/drawing/2014/main" id="{D0BEE868-E74F-4097-A8D6-E96C191A6F81}"/>
              </a:ext>
            </a:extLst>
          </p:cNvPr>
          <p:cNvSpPr>
            <a:spLocks noGrp="1"/>
          </p:cNvSpPr>
          <p:nvPr/>
        </p:nvSpPr>
        <p:spPr>
          <a:xfrm>
            <a:off x="10420350" y="6345174"/>
            <a:ext cx="345471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P90 TTFT：同构的 1.9–2.4×</a:t>
            </a:r>
          </a:p>
        </p:txBody>
      </p:sp>
      <p:sp>
        <p:nvSpPr>
          <p:cNvPr id="44" name="text-27">
            <a:extLst>
              <a:ext uri="{FF2B5EF4-FFF2-40B4-BE49-F238E27FC236}">
                <a16:creationId xmlns:a16="http://schemas.microsoft.com/office/drawing/2014/main" id="{1F5D4B3A-879A-4A4D-BC31-7FEEF5552A17}"/>
              </a:ext>
            </a:extLst>
          </p:cNvPr>
          <p:cNvSpPr>
            <a:spLocks noGrp="1"/>
          </p:cNvSpPr>
          <p:nvPr/>
        </p:nvSpPr>
        <p:spPr>
          <a:xfrm>
            <a:off x="10420350" y="6748939"/>
            <a:ext cx="2133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网络受限实验的端到端观察</a:t>
            </a:r>
          </a:p>
        </p:txBody>
      </p:sp>
      <p:sp>
        <p:nvSpPr>
          <p:cNvPr id="45" name="text-28">
            <a:extLst>
              <a:ext uri="{FF2B5EF4-FFF2-40B4-BE49-F238E27FC236}">
                <a16:creationId xmlns:a16="http://schemas.microsoft.com/office/drawing/2014/main" id="{5FAB12D2-59E8-48DA-B960-76D0413BE5BE}"/>
              </a:ext>
            </a:extLst>
          </p:cNvPr>
          <p:cNvSpPr>
            <a:spLocks noGrp="1"/>
          </p:cNvSpPr>
          <p:nvPr/>
        </p:nvSpPr>
        <p:spPr>
          <a:xfrm>
            <a:off x="1276350" y="7824597"/>
            <a:ext cx="27060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04</a:t>
            </a:r>
          </a:p>
        </p:txBody>
      </p:sp>
      <p:sp>
        <p:nvSpPr>
          <p:cNvPr id="46" name="text-29">
            <a:extLst>
              <a:ext uri="{FF2B5EF4-FFF2-40B4-BE49-F238E27FC236}">
                <a16:creationId xmlns:a16="http://schemas.microsoft.com/office/drawing/2014/main" id="{86DCC817-6F09-4088-A56C-4D5DBA59E403}"/>
              </a:ext>
            </a:extLst>
          </p:cNvPr>
          <p:cNvSpPr>
            <a:spLocks noGrp="1"/>
          </p:cNvSpPr>
          <p:nvPr/>
        </p:nvSpPr>
        <p:spPr>
          <a:xfrm>
            <a:off x="1642205" y="7773257"/>
            <a:ext cx="2196751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2B3548"/>
                </a:solidFill>
                <a:latin typeface="PingFang SC"/>
                <a:ea typeface="PingFang SC"/>
                <a:cs typeface="Arial"/>
              </a:rPr>
              <a:t>Network Semantics</a:t>
            </a:r>
          </a:p>
        </p:txBody>
      </p:sp>
      <p:sp>
        <p:nvSpPr>
          <p:cNvPr id="47" name="text-30">
            <a:extLst>
              <a:ext uri="{FF2B5EF4-FFF2-40B4-BE49-F238E27FC236}">
                <a16:creationId xmlns:a16="http://schemas.microsoft.com/office/drawing/2014/main" id="{0EC7D1BC-256D-4C33-A53B-31FAB4C573F9}"/>
              </a:ext>
            </a:extLst>
          </p:cNvPr>
          <p:cNvSpPr>
            <a:spLocks noGrp="1"/>
          </p:cNvSpPr>
          <p:nvPr/>
        </p:nvSpPr>
        <p:spPr>
          <a:xfrm>
            <a:off x="4514850" y="7602474"/>
            <a:ext cx="436216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273247"/>
                </a:solidFill>
                <a:latin typeface="PingFang SC"/>
                <a:ea typeface="PingFang SC"/>
                <a:cs typeface="Arial"/>
              </a:rPr>
              <a:t>满足性能目标即可，无需 RDMA 语义</a:t>
            </a:r>
          </a:p>
        </p:txBody>
      </p:sp>
      <p:sp>
        <p:nvSpPr>
          <p:cNvPr id="48" name="text-31">
            <a:extLst>
              <a:ext uri="{FF2B5EF4-FFF2-40B4-BE49-F238E27FC236}">
                <a16:creationId xmlns:a16="http://schemas.microsoft.com/office/drawing/2014/main" id="{1F31E173-FDE3-44D5-BA1D-D57A772AF3A9}"/>
              </a:ext>
            </a:extLst>
          </p:cNvPr>
          <p:cNvSpPr>
            <a:spLocks noGrp="1"/>
          </p:cNvSpPr>
          <p:nvPr/>
        </p:nvSpPr>
        <p:spPr>
          <a:xfrm>
            <a:off x="4514850" y="8006239"/>
            <a:ext cx="422195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传输接口只需稳定完成请求级 KV Cache Block 交付。</a:t>
            </a:r>
          </a:p>
        </p:txBody>
      </p:sp>
      <p:sp>
        <p:nvSpPr>
          <p:cNvPr id="49" name="text-32">
            <a:extLst>
              <a:ext uri="{FF2B5EF4-FFF2-40B4-BE49-F238E27FC236}">
                <a16:creationId xmlns:a16="http://schemas.microsoft.com/office/drawing/2014/main" id="{AF38A7AA-2F2A-4D5F-8368-4FADA0FFD0A1}"/>
              </a:ext>
            </a:extLst>
          </p:cNvPr>
          <p:cNvSpPr>
            <a:spLocks noGrp="1"/>
          </p:cNvSpPr>
          <p:nvPr/>
        </p:nvSpPr>
        <p:spPr>
          <a:xfrm>
            <a:off x="10420350" y="7602474"/>
            <a:ext cx="3334226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4F5B7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4F5B7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4F5B70"/>
                </a:solidFill>
                <a:latin typeface="PingFang SC"/>
                <a:ea typeface="PingFang SC"/>
                <a:cs typeface="Arial"/>
              </a:rPr>
              <a:t>两种网络条件均由 TCP 承载</a:t>
            </a:r>
          </a:p>
        </p:txBody>
      </p:sp>
      <p:sp>
        <p:nvSpPr>
          <p:cNvPr id="50" name="text-33">
            <a:extLst>
              <a:ext uri="{FF2B5EF4-FFF2-40B4-BE49-F238E27FC236}">
                <a16:creationId xmlns:a16="http://schemas.microsoft.com/office/drawing/2014/main" id="{C4542191-FFFC-4518-9465-9A8EC9128109}"/>
              </a:ext>
            </a:extLst>
          </p:cNvPr>
          <p:cNvSpPr>
            <a:spLocks noGrp="1"/>
          </p:cNvSpPr>
          <p:nvPr/>
        </p:nvSpPr>
        <p:spPr>
          <a:xfrm>
            <a:off x="10420350" y="8006239"/>
            <a:ext cx="331365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Mooncake TE TCP；长上下文 10/10 成功</a:t>
            </a:r>
          </a:p>
        </p:txBody>
      </p:sp>
      <p:sp>
        <p:nvSpPr>
          <p:cNvPr id="51" name="text-34">
            <a:extLst>
              <a:ext uri="{FF2B5EF4-FFF2-40B4-BE49-F238E27FC236}">
                <a16:creationId xmlns:a16="http://schemas.microsoft.com/office/drawing/2014/main" id="{45157E20-1C0B-4589-B6D3-A47A0C9422ED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809415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第五章实验。P90 倍数为网络受限条件的端到端观察，未分离纯网络贡献；平均延迟一行为流水原理推论。</a:t>
            </a:r>
          </a:p>
        </p:txBody>
      </p:sp>
      <p:sp>
        <p:nvSpPr>
          <p:cNvPr id="52" name="text-35">
            <a:extLst>
              <a:ext uri="{FF2B5EF4-FFF2-40B4-BE49-F238E27FC236}">
                <a16:creationId xmlns:a16="http://schemas.microsoft.com/office/drawing/2014/main" id="{0B54D220-4728-43E7-8FE6-B7D21F7C92BE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39 / 43</a:t>
            </a:r>
          </a:p>
        </p:txBody>
      </p:sp>
    </p:spTree>
    <p:extLst>
      <p:ext uri="{BB962C8B-B14F-4D97-AF65-F5344CB8AC3E}">
        <p14:creationId xmlns:p14="http://schemas.microsoft.com/office/powerpoint/2010/main" val="645854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html-shape-1">
            <a:extLst>
              <a:ext uri="{FF2B5EF4-FFF2-40B4-BE49-F238E27FC236}">
                <a16:creationId xmlns:a16="http://schemas.microsoft.com/office/drawing/2014/main" id="{5E7A1B2E-E434-47F1-99BF-0ECC729DC7F5}"/>
              </a:ext>
            </a:extLst>
          </p:cNvPr>
          <p:cNvSpPr>
            <a:spLocks noGrp="1"/>
          </p:cNvSpPr>
          <p:nvPr/>
        </p:nvSpPr>
        <p:spPr>
          <a:xfrm>
            <a:off x="1000125" y="2952750"/>
            <a:ext cx="16287750" cy="1219200"/>
          </a:xfrm>
          <a:prstGeom prst="rect">
            <a:avLst/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2" name="html-shape-3">
            <a:extLst>
              <a:ext uri="{FF2B5EF4-FFF2-40B4-BE49-F238E27FC236}">
                <a16:creationId xmlns:a16="http://schemas.microsoft.com/office/drawing/2014/main" id="{D92B2CF6-5D1E-44F9-9FE5-B6CC7640B760}"/>
              </a:ext>
            </a:extLst>
          </p:cNvPr>
          <p:cNvSpPr>
            <a:spLocks noGrp="1"/>
          </p:cNvSpPr>
          <p:nvPr/>
        </p:nvSpPr>
        <p:spPr>
          <a:xfrm>
            <a:off x="1000125" y="4305300"/>
            <a:ext cx="16287750" cy="394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3" name="html-shape-4">
            <a:extLst>
              <a:ext uri="{FF2B5EF4-FFF2-40B4-BE49-F238E27FC236}">
                <a16:creationId xmlns:a16="http://schemas.microsoft.com/office/drawing/2014/main" id="{A94929E1-B4A5-46B2-9558-D4B97616A349}"/>
              </a:ext>
            </a:extLst>
          </p:cNvPr>
          <p:cNvSpPr>
            <a:spLocks noGrp="1"/>
          </p:cNvSpPr>
          <p:nvPr/>
        </p:nvSpPr>
        <p:spPr>
          <a:xfrm>
            <a:off x="1019175" y="4324350"/>
            <a:ext cx="16249650" cy="571500"/>
          </a:xfrm>
          <a:prstGeom prst="rect">
            <a:avLst/>
          </a:prstGeom>
          <a:solidFill>
            <a:srgbClr val="344158"/>
          </a:solidFill>
          <a:ln w="0">
            <a:noFill/>
            <a:prstDash val="solid"/>
          </a:ln>
        </p:spPr>
      </p:sp>
      <p:sp>
        <p:nvSpPr>
          <p:cNvPr id="4" name="html-shape-5">
            <a:extLst>
              <a:ext uri="{FF2B5EF4-FFF2-40B4-BE49-F238E27FC236}">
                <a16:creationId xmlns:a16="http://schemas.microsoft.com/office/drawing/2014/main" id="{73A296B9-A3A7-4B08-85B0-3B641E75E01F}"/>
              </a:ext>
            </a:extLst>
          </p:cNvPr>
          <p:cNvSpPr>
            <a:spLocks noGrp="1"/>
          </p:cNvSpPr>
          <p:nvPr/>
        </p:nvSpPr>
        <p:spPr>
          <a:xfrm>
            <a:off x="1019175" y="4895850"/>
            <a:ext cx="16249650" cy="1123950"/>
          </a:xfrm>
          <a:prstGeom prst="rect">
            <a:avLst/>
          </a:prstGeom>
          <a:solidFill>
            <a:srgbClr val="FAF8FF"/>
          </a:solidFill>
          <a:ln w="0">
            <a:noFill/>
            <a:prstDash val="solid"/>
          </a:ln>
        </p:spPr>
      </p:sp>
      <p:sp>
        <p:nvSpPr>
          <p:cNvPr id="5" name="html-shape-8">
            <a:extLst>
              <a:ext uri="{FF2B5EF4-FFF2-40B4-BE49-F238E27FC236}">
                <a16:creationId xmlns:a16="http://schemas.microsoft.com/office/drawing/2014/main" id="{6D745FBC-C897-4842-824F-F8AEFA823ED9}"/>
              </a:ext>
            </a:extLst>
          </p:cNvPr>
          <p:cNvSpPr>
            <a:spLocks noGrp="1"/>
          </p:cNvSpPr>
          <p:nvPr/>
        </p:nvSpPr>
        <p:spPr>
          <a:xfrm>
            <a:off x="1019175" y="6019800"/>
            <a:ext cx="16249650" cy="1123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" name="html-shape-12">
            <a:extLst>
              <a:ext uri="{FF2B5EF4-FFF2-40B4-BE49-F238E27FC236}">
                <a16:creationId xmlns:a16="http://schemas.microsoft.com/office/drawing/2014/main" id="{7B6533D0-F63E-4B3B-82C1-D2CFFBCE27B8}"/>
              </a:ext>
            </a:extLst>
          </p:cNvPr>
          <p:cNvSpPr>
            <a:spLocks noGrp="1"/>
          </p:cNvSpPr>
          <p:nvPr/>
        </p:nvSpPr>
        <p:spPr>
          <a:xfrm>
            <a:off x="1000125" y="8439150"/>
            <a:ext cx="16287750" cy="685800"/>
          </a:xfrm>
          <a:prstGeom prst="rect">
            <a:avLst/>
          </a:prstGeom>
          <a:solidFill>
            <a:srgbClr val="F2F6FB"/>
          </a:solidFill>
          <a:ln w="0">
            <a:noFill/>
            <a:prstDash val="solid"/>
          </a:ln>
        </p:spPr>
      </p:sp>
      <p:sp>
        <p:nvSpPr>
          <p:cNvPr id="7" name="border-2">
            <a:extLst>
              <a:ext uri="{FF2B5EF4-FFF2-40B4-BE49-F238E27FC236}">
                <a16:creationId xmlns:a16="http://schemas.microsoft.com/office/drawing/2014/main" id="{83E7E580-3C36-4469-AD36-01F9467A290D}"/>
              </a:ext>
            </a:extLst>
          </p:cNvPr>
          <p:cNvSpPr>
            <a:spLocks noGrp="1"/>
          </p:cNvSpPr>
          <p:nvPr/>
        </p:nvSpPr>
        <p:spPr>
          <a:xfrm>
            <a:off x="1000125" y="2952750"/>
            <a:ext cx="85725" cy="12192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8" name="border-6">
            <a:extLst>
              <a:ext uri="{FF2B5EF4-FFF2-40B4-BE49-F238E27FC236}">
                <a16:creationId xmlns:a16="http://schemas.microsoft.com/office/drawing/2014/main" id="{F3112313-C19B-4E06-AEFC-F565F16F84B9}"/>
              </a:ext>
            </a:extLst>
          </p:cNvPr>
          <p:cNvSpPr>
            <a:spLocks noGrp="1"/>
          </p:cNvSpPr>
          <p:nvPr/>
        </p:nvSpPr>
        <p:spPr>
          <a:xfrm>
            <a:off x="1019175" y="6010275"/>
            <a:ext cx="162496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9" name="html-shape-7">
            <a:extLst>
              <a:ext uri="{FF2B5EF4-FFF2-40B4-BE49-F238E27FC236}">
                <a16:creationId xmlns:a16="http://schemas.microsoft.com/office/drawing/2014/main" id="{D5C20599-274A-47F6-8828-0ABB902775C2}"/>
              </a:ext>
            </a:extLst>
          </p:cNvPr>
          <p:cNvSpPr>
            <a:spLocks noGrp="1"/>
          </p:cNvSpPr>
          <p:nvPr/>
        </p:nvSpPr>
        <p:spPr>
          <a:xfrm>
            <a:off x="4695825" y="5595938"/>
            <a:ext cx="4476750" cy="114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42AF0"/>
              </a:gs>
              <a:gs pos="100000">
                <a:srgbClr val="8B6DE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0" name="border-9">
            <a:extLst>
              <a:ext uri="{FF2B5EF4-FFF2-40B4-BE49-F238E27FC236}">
                <a16:creationId xmlns:a16="http://schemas.microsoft.com/office/drawing/2014/main" id="{3B462790-48E9-48BF-8775-EC3A6310E536}"/>
              </a:ext>
            </a:extLst>
          </p:cNvPr>
          <p:cNvSpPr>
            <a:spLocks noGrp="1"/>
          </p:cNvSpPr>
          <p:nvPr/>
        </p:nvSpPr>
        <p:spPr>
          <a:xfrm>
            <a:off x="1019175" y="7134225"/>
            <a:ext cx="1624965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11" name="html-shape-10">
            <a:extLst>
              <a:ext uri="{FF2B5EF4-FFF2-40B4-BE49-F238E27FC236}">
                <a16:creationId xmlns:a16="http://schemas.microsoft.com/office/drawing/2014/main" id="{084D2E92-3BEA-45A1-9040-3B3CFFEE878C}"/>
              </a:ext>
            </a:extLst>
          </p:cNvPr>
          <p:cNvSpPr>
            <a:spLocks noGrp="1"/>
          </p:cNvSpPr>
          <p:nvPr/>
        </p:nvSpPr>
        <p:spPr>
          <a:xfrm>
            <a:off x="4695825" y="6719888"/>
            <a:ext cx="1978628" cy="114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42AF0"/>
              </a:gs>
              <a:gs pos="100000">
                <a:srgbClr val="8B6DE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2" name="html-shape-11">
            <a:extLst>
              <a:ext uri="{FF2B5EF4-FFF2-40B4-BE49-F238E27FC236}">
                <a16:creationId xmlns:a16="http://schemas.microsoft.com/office/drawing/2014/main" id="{59EE1C43-0B52-49AB-AC61-12D29CD416CD}"/>
              </a:ext>
            </a:extLst>
          </p:cNvPr>
          <p:cNvSpPr>
            <a:spLocks noGrp="1"/>
          </p:cNvSpPr>
          <p:nvPr/>
        </p:nvSpPr>
        <p:spPr>
          <a:xfrm>
            <a:off x="4695825" y="7848600"/>
            <a:ext cx="631222" cy="114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42AF0"/>
              </a:gs>
              <a:gs pos="100000">
                <a:srgbClr val="8B6DE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3" name="border-13">
            <a:extLst>
              <a:ext uri="{FF2B5EF4-FFF2-40B4-BE49-F238E27FC236}">
                <a16:creationId xmlns:a16="http://schemas.microsoft.com/office/drawing/2014/main" id="{C8D51936-50DB-4458-B9F1-E5CD40EFDDBB}"/>
              </a:ext>
            </a:extLst>
          </p:cNvPr>
          <p:cNvSpPr>
            <a:spLocks noGrp="1"/>
          </p:cNvSpPr>
          <p:nvPr/>
        </p:nvSpPr>
        <p:spPr>
          <a:xfrm>
            <a:off x="1000125" y="8439150"/>
            <a:ext cx="66675" cy="685800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2DADB74-3B8F-482D-99F6-D41CF7CAA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1F179B9-3363-4B4C-884D-B7DABFD34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6" name="text-1">
            <a:extLst>
              <a:ext uri="{FF2B5EF4-FFF2-40B4-BE49-F238E27FC236}">
                <a16:creationId xmlns:a16="http://schemas.microsoft.com/office/drawing/2014/main" id="{90C4DA5A-E3E4-4F4C-800D-70CC0A4DCFAE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7" name="text-2">
            <a:extLst>
              <a:ext uri="{FF2B5EF4-FFF2-40B4-BE49-F238E27FC236}">
                <a16:creationId xmlns:a16="http://schemas.microsoft.com/office/drawing/2014/main" id="{8F4B3CF0-FE7F-420B-AB98-8E5425E70EEE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4781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第六章 · 跨区域 PD 分析</a:t>
            </a:r>
          </a:p>
        </p:txBody>
      </p:sp>
      <p:sp>
        <p:nvSpPr>
          <p:cNvPr id="18" name="text-3">
            <a:extLst>
              <a:ext uri="{FF2B5EF4-FFF2-40B4-BE49-F238E27FC236}">
                <a16:creationId xmlns:a16="http://schemas.microsoft.com/office/drawing/2014/main" id="{E3F3AEA0-55D0-4FBE-B2EC-E92ACD9C7C7E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2519089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978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跨区域带宽需求可由 Prefill 产能和模型结构直接计算</a:t>
            </a:r>
          </a:p>
        </p:txBody>
      </p:sp>
      <p:sp>
        <p:nvSpPr>
          <p:cNvPr id="19" name="text-4">
            <a:extLst>
              <a:ext uri="{FF2B5EF4-FFF2-40B4-BE49-F238E27FC236}">
                <a16:creationId xmlns:a16="http://schemas.microsoft.com/office/drawing/2014/main" id="{94AAD77B-A939-428A-8E00-1499537D23D8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192425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Prefill TPS 决定流量规模，KV bytes/token 决定模型系数；所有 Prefill Pool 使用聚合产能。</a:t>
            </a:r>
          </a:p>
        </p:txBody>
      </p:sp>
      <p:sp>
        <p:nvSpPr>
          <p:cNvPr id="20" name="text-5">
            <a:extLst>
              <a:ext uri="{FF2B5EF4-FFF2-40B4-BE49-F238E27FC236}">
                <a16:creationId xmlns:a16="http://schemas.microsoft.com/office/drawing/2014/main" id="{9EC7639B-CD6B-4804-9FD1-E9BFE1CEB8EF}"/>
              </a:ext>
            </a:extLst>
          </p:cNvPr>
          <p:cNvSpPr>
            <a:spLocks noGrp="1"/>
          </p:cNvSpPr>
          <p:nvPr/>
        </p:nvSpPr>
        <p:spPr>
          <a:xfrm>
            <a:off x="4824413" y="3457575"/>
            <a:ext cx="211302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8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83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83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P→D PAYLOAD GOODPUT</a:t>
            </a:r>
          </a:p>
        </p:txBody>
      </p:sp>
      <p:sp>
        <p:nvSpPr>
          <p:cNvPr id="21" name="text-6">
            <a:extLst>
              <a:ext uri="{FF2B5EF4-FFF2-40B4-BE49-F238E27FC236}">
                <a16:creationId xmlns:a16="http://schemas.microsoft.com/office/drawing/2014/main" id="{0BC7DB1F-BE4B-4FEF-8A53-5C3B78D62D62}"/>
              </a:ext>
            </a:extLst>
          </p:cNvPr>
          <p:cNvSpPr>
            <a:spLocks noGrp="1"/>
          </p:cNvSpPr>
          <p:nvPr/>
        </p:nvSpPr>
        <p:spPr>
          <a:xfrm>
            <a:off x="7394639" y="3358420"/>
            <a:ext cx="246373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Σ Prefill Input TPS</a:t>
            </a:r>
          </a:p>
        </p:txBody>
      </p:sp>
      <p:sp>
        <p:nvSpPr>
          <p:cNvPr id="22" name="text-7">
            <a:extLst>
              <a:ext uri="{FF2B5EF4-FFF2-40B4-BE49-F238E27FC236}">
                <a16:creationId xmlns:a16="http://schemas.microsoft.com/office/drawing/2014/main" id="{545FD671-10A5-4177-BF58-CF225CF3D09F}"/>
              </a:ext>
            </a:extLst>
          </p:cNvPr>
          <p:cNvSpPr>
            <a:spLocks noGrp="1"/>
          </p:cNvSpPr>
          <p:nvPr/>
        </p:nvSpPr>
        <p:spPr>
          <a:xfrm>
            <a:off x="10067925" y="3348038"/>
            <a:ext cx="25498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×</a:t>
            </a:r>
          </a:p>
        </p:txBody>
      </p:sp>
      <p:sp>
        <p:nvSpPr>
          <p:cNvPr id="23" name="text-8">
            <a:extLst>
              <a:ext uri="{FF2B5EF4-FFF2-40B4-BE49-F238E27FC236}">
                <a16:creationId xmlns:a16="http://schemas.microsoft.com/office/drawing/2014/main" id="{44467CF5-9A78-40F6-ADE6-E347DBCA2226}"/>
              </a:ext>
            </a:extLst>
          </p:cNvPr>
          <p:cNvSpPr>
            <a:spLocks noGrp="1"/>
          </p:cNvSpPr>
          <p:nvPr/>
        </p:nvSpPr>
        <p:spPr>
          <a:xfrm>
            <a:off x="10532459" y="3358420"/>
            <a:ext cx="3073908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KV bytes / input token</a:t>
            </a:r>
          </a:p>
        </p:txBody>
      </p:sp>
      <p:sp>
        <p:nvSpPr>
          <p:cNvPr id="24" name="text-9">
            <a:extLst>
              <a:ext uri="{FF2B5EF4-FFF2-40B4-BE49-F238E27FC236}">
                <a16:creationId xmlns:a16="http://schemas.microsoft.com/office/drawing/2014/main" id="{107A3AB3-0833-461F-B92A-AEE76008D55A}"/>
              </a:ext>
            </a:extLst>
          </p:cNvPr>
          <p:cNvSpPr>
            <a:spLocks noGrp="1"/>
          </p:cNvSpPr>
          <p:nvPr/>
        </p:nvSpPr>
        <p:spPr>
          <a:xfrm>
            <a:off x="1295400" y="4491038"/>
            <a:ext cx="128301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模型与 KV 结构</a:t>
            </a:r>
          </a:p>
        </p:txBody>
      </p:sp>
      <p:sp>
        <p:nvSpPr>
          <p:cNvPr id="25" name="text-10">
            <a:extLst>
              <a:ext uri="{FF2B5EF4-FFF2-40B4-BE49-F238E27FC236}">
                <a16:creationId xmlns:a16="http://schemas.microsoft.com/office/drawing/2014/main" id="{2B401FE1-7A9A-4689-AFC5-455B51F4EB11}"/>
              </a:ext>
            </a:extLst>
          </p:cNvPr>
          <p:cNvSpPr>
            <a:spLocks noGrp="1"/>
          </p:cNvSpPr>
          <p:nvPr/>
        </p:nvSpPr>
        <p:spPr>
          <a:xfrm>
            <a:off x="4686300" y="4491038"/>
            <a:ext cx="193681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KV bytes / input token</a:t>
            </a:r>
          </a:p>
        </p:txBody>
      </p:sp>
      <p:sp>
        <p:nvSpPr>
          <p:cNvPr id="26" name="text-11">
            <a:extLst>
              <a:ext uri="{FF2B5EF4-FFF2-40B4-BE49-F238E27FC236}">
                <a16:creationId xmlns:a16="http://schemas.microsoft.com/office/drawing/2014/main" id="{D30372C1-C1B8-478A-9410-8CA8A492234A}"/>
              </a:ext>
            </a:extLst>
          </p:cNvPr>
          <p:cNvSpPr>
            <a:spLocks noGrp="1"/>
          </p:cNvSpPr>
          <p:nvPr/>
        </p:nvSpPr>
        <p:spPr>
          <a:xfrm>
            <a:off x="9410700" y="4491038"/>
            <a:ext cx="111156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相对 KV 强度</a:t>
            </a:r>
          </a:p>
        </p:txBody>
      </p:sp>
      <p:sp>
        <p:nvSpPr>
          <p:cNvPr id="27" name="text-12">
            <a:extLst>
              <a:ext uri="{FF2B5EF4-FFF2-40B4-BE49-F238E27FC236}">
                <a16:creationId xmlns:a16="http://schemas.microsoft.com/office/drawing/2014/main" id="{17C7BE79-E42E-4649-A02B-4BB95046EE0A}"/>
              </a:ext>
            </a:extLst>
          </p:cNvPr>
          <p:cNvSpPr>
            <a:spLocks noGrp="1"/>
          </p:cNvSpPr>
          <p:nvPr/>
        </p:nvSpPr>
        <p:spPr>
          <a:xfrm>
            <a:off x="12230100" y="4491038"/>
            <a:ext cx="312267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1" i="0" noProof="1">
                <a:solidFill>
                  <a:srgbClr val="FFFFFF"/>
                </a:solidFill>
                <a:latin typeface="PingFang SC"/>
                <a:ea typeface="PingFang SC"/>
                <a:cs typeface="Arial"/>
              </a:rPr>
              <a:t>30K Input TPS 对应 Payload Goodput</a:t>
            </a:r>
          </a:p>
        </p:txBody>
      </p:sp>
      <p:sp>
        <p:nvSpPr>
          <p:cNvPr id="28" name="text-13">
            <a:extLst>
              <a:ext uri="{FF2B5EF4-FFF2-40B4-BE49-F238E27FC236}">
                <a16:creationId xmlns:a16="http://schemas.microsoft.com/office/drawing/2014/main" id="{B52688F5-5344-4424-B89C-C4202158C1D2}"/>
              </a:ext>
            </a:extLst>
          </p:cNvPr>
          <p:cNvSpPr>
            <a:spLocks noGrp="1"/>
          </p:cNvSpPr>
          <p:nvPr/>
        </p:nvSpPr>
        <p:spPr>
          <a:xfrm>
            <a:off x="1295400" y="5119688"/>
            <a:ext cx="124253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38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38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38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MLA · 实验模型</a:t>
            </a:r>
          </a:p>
        </p:txBody>
      </p:sp>
      <p:sp>
        <p:nvSpPr>
          <p:cNvPr id="29" name="text-14">
            <a:extLst>
              <a:ext uri="{FF2B5EF4-FFF2-40B4-BE49-F238E27FC236}">
                <a16:creationId xmlns:a16="http://schemas.microsoft.com/office/drawing/2014/main" id="{EC55978B-329F-4398-B074-3CBA59B8750D}"/>
              </a:ext>
            </a:extLst>
          </p:cNvPr>
          <p:cNvSpPr>
            <a:spLocks noGrp="1"/>
          </p:cNvSpPr>
          <p:nvPr/>
        </p:nvSpPr>
        <p:spPr>
          <a:xfrm>
            <a:off x="1295400" y="5395913"/>
            <a:ext cx="1366266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531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531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53148"/>
                </a:solidFill>
                <a:latin typeface="PingFang SC"/>
                <a:ea typeface="PingFang SC"/>
                <a:cs typeface="Arial"/>
              </a:rPr>
              <a:t>Kimi K2.6</a:t>
            </a:r>
          </a:p>
        </p:txBody>
      </p:sp>
      <p:sp>
        <p:nvSpPr>
          <p:cNvPr id="30" name="text-15">
            <a:extLst>
              <a:ext uri="{FF2B5EF4-FFF2-40B4-BE49-F238E27FC236}">
                <a16:creationId xmlns:a16="http://schemas.microsoft.com/office/drawing/2014/main" id="{4A4ADFC9-CBDB-4AAA-8D42-B0347311E871}"/>
              </a:ext>
            </a:extLst>
          </p:cNvPr>
          <p:cNvSpPr>
            <a:spLocks noGrp="1"/>
          </p:cNvSpPr>
          <p:nvPr/>
        </p:nvSpPr>
        <p:spPr>
          <a:xfrm>
            <a:off x="4686300" y="5157788"/>
            <a:ext cx="183061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70,272 B/token</a:t>
            </a:r>
          </a:p>
        </p:txBody>
      </p:sp>
      <p:sp>
        <p:nvSpPr>
          <p:cNvPr id="31" name="text-16">
            <a:extLst>
              <a:ext uri="{FF2B5EF4-FFF2-40B4-BE49-F238E27FC236}">
                <a16:creationId xmlns:a16="http://schemas.microsoft.com/office/drawing/2014/main" id="{9345D4F6-6F47-463B-8BC8-1955F662D3AB}"/>
              </a:ext>
            </a:extLst>
          </p:cNvPr>
          <p:cNvSpPr>
            <a:spLocks noGrp="1"/>
          </p:cNvSpPr>
          <p:nvPr/>
        </p:nvSpPr>
        <p:spPr>
          <a:xfrm>
            <a:off x="9410700" y="5243513"/>
            <a:ext cx="81153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53617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53617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536176"/>
                </a:solidFill>
                <a:latin typeface="PingFang SC"/>
                <a:ea typeface="PingFang SC"/>
                <a:cs typeface="Arial"/>
              </a:rPr>
              <a:t>1.00×</a:t>
            </a:r>
          </a:p>
        </p:txBody>
      </p:sp>
      <p:sp>
        <p:nvSpPr>
          <p:cNvPr id="32" name="text-17">
            <a:extLst>
              <a:ext uri="{FF2B5EF4-FFF2-40B4-BE49-F238E27FC236}">
                <a16:creationId xmlns:a16="http://schemas.microsoft.com/office/drawing/2014/main" id="{9A66B357-5058-450E-B1EF-53B955C5846E}"/>
              </a:ext>
            </a:extLst>
          </p:cNvPr>
          <p:cNvSpPr>
            <a:spLocks noGrp="1"/>
          </p:cNvSpPr>
          <p:nvPr/>
        </p:nvSpPr>
        <p:spPr>
          <a:xfrm>
            <a:off x="12230100" y="5238750"/>
            <a:ext cx="1647254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16.87 Gb/s</a:t>
            </a:r>
          </a:p>
        </p:txBody>
      </p:sp>
      <p:sp>
        <p:nvSpPr>
          <p:cNvPr id="33" name="text-18">
            <a:extLst>
              <a:ext uri="{FF2B5EF4-FFF2-40B4-BE49-F238E27FC236}">
                <a16:creationId xmlns:a16="http://schemas.microsoft.com/office/drawing/2014/main" id="{4467D6B0-255D-48AB-8A05-659A74FB0ECB}"/>
              </a:ext>
            </a:extLst>
          </p:cNvPr>
          <p:cNvSpPr>
            <a:spLocks noGrp="1"/>
          </p:cNvSpPr>
          <p:nvPr/>
        </p:nvSpPr>
        <p:spPr>
          <a:xfrm>
            <a:off x="1295400" y="6243638"/>
            <a:ext cx="96621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38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38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38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KDA + MLA</a:t>
            </a:r>
          </a:p>
        </p:txBody>
      </p:sp>
      <p:sp>
        <p:nvSpPr>
          <p:cNvPr id="34" name="text-19">
            <a:extLst>
              <a:ext uri="{FF2B5EF4-FFF2-40B4-BE49-F238E27FC236}">
                <a16:creationId xmlns:a16="http://schemas.microsoft.com/office/drawing/2014/main" id="{06A448AE-484F-40AB-8484-471EB5571A7D}"/>
              </a:ext>
            </a:extLst>
          </p:cNvPr>
          <p:cNvSpPr>
            <a:spLocks noGrp="1"/>
          </p:cNvSpPr>
          <p:nvPr/>
        </p:nvSpPr>
        <p:spPr>
          <a:xfrm>
            <a:off x="1295400" y="6519863"/>
            <a:ext cx="1124522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531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531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53148"/>
                </a:solidFill>
                <a:latin typeface="PingFang SC"/>
                <a:ea typeface="PingFang SC"/>
                <a:cs typeface="Arial"/>
              </a:rPr>
              <a:t>Kimi K3</a:t>
            </a:r>
          </a:p>
        </p:txBody>
      </p:sp>
      <p:sp>
        <p:nvSpPr>
          <p:cNvPr id="35" name="text-20">
            <a:extLst>
              <a:ext uri="{FF2B5EF4-FFF2-40B4-BE49-F238E27FC236}">
                <a16:creationId xmlns:a16="http://schemas.microsoft.com/office/drawing/2014/main" id="{E534B9F9-8EFC-4EA5-997A-037315DD9D64}"/>
              </a:ext>
            </a:extLst>
          </p:cNvPr>
          <p:cNvSpPr>
            <a:spLocks noGrp="1"/>
          </p:cNvSpPr>
          <p:nvPr/>
        </p:nvSpPr>
        <p:spPr>
          <a:xfrm>
            <a:off x="4686300" y="6281738"/>
            <a:ext cx="179651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31,076 B/token</a:t>
            </a:r>
          </a:p>
        </p:txBody>
      </p:sp>
      <p:sp>
        <p:nvSpPr>
          <p:cNvPr id="36" name="text-21">
            <a:extLst>
              <a:ext uri="{FF2B5EF4-FFF2-40B4-BE49-F238E27FC236}">
                <a16:creationId xmlns:a16="http://schemas.microsoft.com/office/drawing/2014/main" id="{CB7DAD60-DFD1-44AA-AB63-6D77FB42925D}"/>
              </a:ext>
            </a:extLst>
          </p:cNvPr>
          <p:cNvSpPr>
            <a:spLocks noGrp="1"/>
          </p:cNvSpPr>
          <p:nvPr/>
        </p:nvSpPr>
        <p:spPr>
          <a:xfrm>
            <a:off x="9410700" y="6367463"/>
            <a:ext cx="86763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53617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53617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536176"/>
                </a:solidFill>
                <a:latin typeface="PingFang SC"/>
                <a:ea typeface="PingFang SC"/>
                <a:cs typeface="Arial"/>
              </a:rPr>
              <a:t>0.44×</a:t>
            </a:r>
          </a:p>
        </p:txBody>
      </p:sp>
      <p:sp>
        <p:nvSpPr>
          <p:cNvPr id="37" name="text-22">
            <a:extLst>
              <a:ext uri="{FF2B5EF4-FFF2-40B4-BE49-F238E27FC236}">
                <a16:creationId xmlns:a16="http://schemas.microsoft.com/office/drawing/2014/main" id="{28EB67F3-04EC-4727-8FEA-70D799AF180F}"/>
              </a:ext>
            </a:extLst>
          </p:cNvPr>
          <p:cNvSpPr>
            <a:spLocks noGrp="1"/>
          </p:cNvSpPr>
          <p:nvPr/>
        </p:nvSpPr>
        <p:spPr>
          <a:xfrm>
            <a:off x="12230100" y="6362700"/>
            <a:ext cx="152219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7.46 Gb/s</a:t>
            </a:r>
          </a:p>
        </p:txBody>
      </p:sp>
      <p:sp>
        <p:nvSpPr>
          <p:cNvPr id="38" name="text-23">
            <a:extLst>
              <a:ext uri="{FF2B5EF4-FFF2-40B4-BE49-F238E27FC236}">
                <a16:creationId xmlns:a16="http://schemas.microsoft.com/office/drawing/2014/main" id="{F1DD7A35-9D06-4617-9513-9E3B492CA7D3}"/>
              </a:ext>
            </a:extLst>
          </p:cNvPr>
          <p:cNvSpPr>
            <a:spLocks noGrp="1"/>
          </p:cNvSpPr>
          <p:nvPr/>
        </p:nvSpPr>
        <p:spPr>
          <a:xfrm>
            <a:off x="1295400" y="7372350"/>
            <a:ext cx="193138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38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38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38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HYBRID SPARSE · BF16</a:t>
            </a:r>
          </a:p>
        </p:txBody>
      </p:sp>
      <p:sp>
        <p:nvSpPr>
          <p:cNvPr id="39" name="text-24">
            <a:extLst>
              <a:ext uri="{FF2B5EF4-FFF2-40B4-BE49-F238E27FC236}">
                <a16:creationId xmlns:a16="http://schemas.microsoft.com/office/drawing/2014/main" id="{A2D3E9B3-1375-47AE-9996-D1C077C1F292}"/>
              </a:ext>
            </a:extLst>
          </p:cNvPr>
          <p:cNvSpPr>
            <a:spLocks noGrp="1"/>
          </p:cNvSpPr>
          <p:nvPr/>
        </p:nvSpPr>
        <p:spPr>
          <a:xfrm>
            <a:off x="1295400" y="7648575"/>
            <a:ext cx="238210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25314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25314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253148"/>
                </a:solidFill>
                <a:latin typeface="PingFang SC"/>
                <a:ea typeface="PingFang SC"/>
                <a:cs typeface="Arial"/>
              </a:rPr>
              <a:t>DeepSeek V4 Pro</a:t>
            </a:r>
          </a:p>
        </p:txBody>
      </p:sp>
      <p:sp>
        <p:nvSpPr>
          <p:cNvPr id="40" name="text-25">
            <a:extLst>
              <a:ext uri="{FF2B5EF4-FFF2-40B4-BE49-F238E27FC236}">
                <a16:creationId xmlns:a16="http://schemas.microsoft.com/office/drawing/2014/main" id="{0EEF206E-FF67-490A-BD64-D6364D5F236B}"/>
              </a:ext>
            </a:extLst>
          </p:cNvPr>
          <p:cNvSpPr>
            <a:spLocks noGrp="1"/>
          </p:cNvSpPr>
          <p:nvPr/>
        </p:nvSpPr>
        <p:spPr>
          <a:xfrm>
            <a:off x="4686300" y="7410450"/>
            <a:ext cx="171002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9,909 B/token</a:t>
            </a:r>
          </a:p>
        </p:txBody>
      </p:sp>
      <p:sp>
        <p:nvSpPr>
          <p:cNvPr id="41" name="text-26">
            <a:extLst>
              <a:ext uri="{FF2B5EF4-FFF2-40B4-BE49-F238E27FC236}">
                <a16:creationId xmlns:a16="http://schemas.microsoft.com/office/drawing/2014/main" id="{8B894DCD-5590-4DA0-ACE7-0C1908F4B997}"/>
              </a:ext>
            </a:extLst>
          </p:cNvPr>
          <p:cNvSpPr>
            <a:spLocks noGrp="1"/>
          </p:cNvSpPr>
          <p:nvPr/>
        </p:nvSpPr>
        <p:spPr>
          <a:xfrm>
            <a:off x="9410700" y="7496175"/>
            <a:ext cx="81153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1" i="0" noProof="1">
                <a:solidFill>
                  <a:srgbClr val="53617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1" i="0" noProof="1">
                <a:solidFill>
                  <a:srgbClr val="53617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1" i="0" noProof="1">
                <a:solidFill>
                  <a:srgbClr val="536176"/>
                </a:solidFill>
                <a:latin typeface="PingFang SC"/>
                <a:ea typeface="PingFang SC"/>
                <a:cs typeface="Arial"/>
              </a:rPr>
              <a:t>0.14×</a:t>
            </a:r>
          </a:p>
        </p:txBody>
      </p:sp>
      <p:sp>
        <p:nvSpPr>
          <p:cNvPr id="42" name="text-27">
            <a:extLst>
              <a:ext uri="{FF2B5EF4-FFF2-40B4-BE49-F238E27FC236}">
                <a16:creationId xmlns:a16="http://schemas.microsoft.com/office/drawing/2014/main" id="{B31B563C-E10F-419E-9361-B7FC9C175FB6}"/>
              </a:ext>
            </a:extLst>
          </p:cNvPr>
          <p:cNvSpPr>
            <a:spLocks noGrp="1"/>
          </p:cNvSpPr>
          <p:nvPr/>
        </p:nvSpPr>
        <p:spPr>
          <a:xfrm>
            <a:off x="12230100" y="7491413"/>
            <a:ext cx="1536478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400" b="1" i="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2.38 Gb/s</a:t>
            </a:r>
          </a:p>
        </p:txBody>
      </p:sp>
      <p:sp>
        <p:nvSpPr>
          <p:cNvPr id="43" name="text-28">
            <a:extLst>
              <a:ext uri="{FF2B5EF4-FFF2-40B4-BE49-F238E27FC236}">
                <a16:creationId xmlns:a16="http://schemas.microsoft.com/office/drawing/2014/main" id="{483305D2-0857-42A2-A5ED-353FE3BD0F06}"/>
              </a:ext>
            </a:extLst>
          </p:cNvPr>
          <p:cNvSpPr>
            <a:spLocks noGrp="1"/>
          </p:cNvSpPr>
          <p:nvPr/>
        </p:nvSpPr>
        <p:spPr>
          <a:xfrm>
            <a:off x="1343025" y="8601075"/>
            <a:ext cx="459000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02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02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02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rPr>
              <a:t>物理链路容量应高于 Payload Goodput</a:t>
            </a:r>
          </a:p>
        </p:txBody>
      </p:sp>
      <p:sp>
        <p:nvSpPr>
          <p:cNvPr id="44" name="text-29">
            <a:extLst>
              <a:ext uri="{FF2B5EF4-FFF2-40B4-BE49-F238E27FC236}">
                <a16:creationId xmlns:a16="http://schemas.microsoft.com/office/drawing/2014/main" id="{0C538D25-898A-459A-BE40-19D733BB04D8}"/>
              </a:ext>
            </a:extLst>
          </p:cNvPr>
          <p:cNvSpPr>
            <a:spLocks noGrp="1"/>
          </p:cNvSpPr>
          <p:nvPr/>
        </p:nvSpPr>
        <p:spPr>
          <a:xfrm>
            <a:off x="6123527" y="8648700"/>
            <a:ext cx="350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9667C"/>
                </a:solidFill>
                <a:latin typeface="PingFang SC"/>
                <a:ea typeface="PingFang SC"/>
                <a:cs typeface="Arial"/>
              </a:rPr>
              <a:t>为协议开销、重传和容量波动预留余量。</a:t>
            </a:r>
          </a:p>
        </p:txBody>
      </p:sp>
      <p:sp>
        <p:nvSpPr>
          <p:cNvPr id="45" name="text-30">
            <a:extLst>
              <a:ext uri="{FF2B5EF4-FFF2-40B4-BE49-F238E27FC236}">
                <a16:creationId xmlns:a16="http://schemas.microsoft.com/office/drawing/2014/main" id="{758F1F60-9C87-4EEB-8732-2E617C1122CD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9413939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KVCache.AI and official model configs; 128K context, BF16-normalized cache; Kimi K2.6 value verified by transfer logs.</a:t>
            </a:r>
          </a:p>
        </p:txBody>
      </p:sp>
      <p:sp>
        <p:nvSpPr>
          <p:cNvPr id="46" name="text-31">
            <a:extLst>
              <a:ext uri="{FF2B5EF4-FFF2-40B4-BE49-F238E27FC236}">
                <a16:creationId xmlns:a16="http://schemas.microsoft.com/office/drawing/2014/main" id="{05C65A14-D079-496D-ADA8-01F675ACE7E1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40 / 43</a:t>
            </a:r>
          </a:p>
        </p:txBody>
      </p:sp>
    </p:spTree>
    <p:extLst>
      <p:ext uri="{BB962C8B-B14F-4D97-AF65-F5344CB8AC3E}">
        <p14:creationId xmlns:p14="http://schemas.microsoft.com/office/powerpoint/2010/main" val="16535284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html-shape-4">
            <a:extLst>
              <a:ext uri="{FF2B5EF4-FFF2-40B4-BE49-F238E27FC236}">
                <a16:creationId xmlns:a16="http://schemas.microsoft.com/office/drawing/2014/main" id="{0C5F5624-116D-40B4-B0DB-25DCBD73D58A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16287750" cy="647700"/>
          </a:xfrm>
          <a:prstGeom prst="rect">
            <a:avLst/>
          </a:prstGeom>
          <a:solidFill>
            <a:srgbClr val="EEE8FF"/>
          </a:solidFill>
          <a:ln w="0">
            <a:noFill/>
            <a:prstDash val="solid"/>
          </a:ln>
        </p:spPr>
      </p:sp>
      <p:sp>
        <p:nvSpPr>
          <p:cNvPr id="2" name="html-shape-6">
            <a:extLst>
              <a:ext uri="{FF2B5EF4-FFF2-40B4-BE49-F238E27FC236}">
                <a16:creationId xmlns:a16="http://schemas.microsoft.com/office/drawing/2014/main" id="{6E153A35-60A4-4F61-9AC5-DFCF6752F967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12363450" cy="514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3" name="html-shape-7">
            <a:extLst>
              <a:ext uri="{FF2B5EF4-FFF2-40B4-BE49-F238E27FC236}">
                <a16:creationId xmlns:a16="http://schemas.microsoft.com/office/drawing/2014/main" id="{E8A0FD83-BECF-4821-9CB1-FC7AC14BF0E1}"/>
              </a:ext>
            </a:extLst>
          </p:cNvPr>
          <p:cNvSpPr>
            <a:spLocks noGrp="1"/>
          </p:cNvSpPr>
          <p:nvPr/>
        </p:nvSpPr>
        <p:spPr>
          <a:xfrm>
            <a:off x="800100" y="3733800"/>
            <a:ext cx="12325350" cy="457200"/>
          </a:xfrm>
          <a:prstGeom prst="rect">
            <a:avLst/>
          </a:prstGeom>
          <a:solidFill>
            <a:srgbClr val="F7F8FB"/>
          </a:solidFill>
          <a:ln w="0">
            <a:noFill/>
            <a:prstDash val="solid"/>
          </a:ln>
        </p:spPr>
      </p:sp>
      <p:sp>
        <p:nvSpPr>
          <p:cNvPr id="4" name="html-shape-8">
            <a:extLst>
              <a:ext uri="{FF2B5EF4-FFF2-40B4-BE49-F238E27FC236}">
                <a16:creationId xmlns:a16="http://schemas.microsoft.com/office/drawing/2014/main" id="{8642C124-CFB0-4AE7-839A-A0FEBFE6D652}"/>
              </a:ext>
            </a:extLst>
          </p:cNvPr>
          <p:cNvSpPr>
            <a:spLocks noGrp="1"/>
          </p:cNvSpPr>
          <p:nvPr/>
        </p:nvSpPr>
        <p:spPr>
          <a:xfrm>
            <a:off x="13411200" y="3714750"/>
            <a:ext cx="4095750" cy="5143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" name="html-shape-10">
            <a:extLst>
              <a:ext uri="{FF2B5EF4-FFF2-40B4-BE49-F238E27FC236}">
                <a16:creationId xmlns:a16="http://schemas.microsoft.com/office/drawing/2014/main" id="{4E9D2FB9-7DCD-47B0-A5BA-78EF16D3F447}"/>
              </a:ext>
            </a:extLst>
          </p:cNvPr>
          <p:cNvSpPr>
            <a:spLocks noGrp="1"/>
          </p:cNvSpPr>
          <p:nvPr/>
        </p:nvSpPr>
        <p:spPr>
          <a:xfrm>
            <a:off x="13696950" y="3714750"/>
            <a:ext cx="3810000" cy="13811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html-shape-12">
            <a:extLst>
              <a:ext uri="{FF2B5EF4-FFF2-40B4-BE49-F238E27FC236}">
                <a16:creationId xmlns:a16="http://schemas.microsoft.com/office/drawing/2014/main" id="{E0356041-5820-4434-BC50-CA67C71AA914}"/>
              </a:ext>
            </a:extLst>
          </p:cNvPr>
          <p:cNvSpPr>
            <a:spLocks noGrp="1"/>
          </p:cNvSpPr>
          <p:nvPr/>
        </p:nvSpPr>
        <p:spPr>
          <a:xfrm>
            <a:off x="13696950" y="5267325"/>
            <a:ext cx="3810000" cy="2038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html-shape-14">
            <a:extLst>
              <a:ext uri="{FF2B5EF4-FFF2-40B4-BE49-F238E27FC236}">
                <a16:creationId xmlns:a16="http://schemas.microsoft.com/office/drawing/2014/main" id="{733A0DC1-0385-4C07-A399-FD7444087AA6}"/>
              </a:ext>
            </a:extLst>
          </p:cNvPr>
          <p:cNvSpPr>
            <a:spLocks noGrp="1"/>
          </p:cNvSpPr>
          <p:nvPr/>
        </p:nvSpPr>
        <p:spPr>
          <a:xfrm>
            <a:off x="13696950" y="7477125"/>
            <a:ext cx="3810000" cy="13811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svg-line-1">
            <a:extLst>
              <a:ext uri="{FF2B5EF4-FFF2-40B4-BE49-F238E27FC236}">
                <a16:creationId xmlns:a16="http://schemas.microsoft.com/office/drawing/2014/main" id="{4886BA69-B4F2-4A95-B409-28E22A3ABB65}"/>
              </a:ext>
            </a:extLst>
          </p:cNvPr>
          <p:cNvSpPr>
            <a:spLocks noGrp="1"/>
          </p:cNvSpPr>
          <p:nvPr/>
        </p:nvSpPr>
        <p:spPr>
          <a:xfrm>
            <a:off x="1922717" y="7937659"/>
            <a:ext cx="10169366" cy="4763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9" name="svg-line-2">
            <a:extLst>
              <a:ext uri="{FF2B5EF4-FFF2-40B4-BE49-F238E27FC236}">
                <a16:creationId xmlns:a16="http://schemas.microsoft.com/office/drawing/2014/main" id="{D0599B6D-D635-4B4E-99F7-3761FD7505EF}"/>
              </a:ext>
            </a:extLst>
          </p:cNvPr>
          <p:cNvSpPr>
            <a:spLocks noGrp="1"/>
          </p:cNvSpPr>
          <p:nvPr/>
        </p:nvSpPr>
        <p:spPr>
          <a:xfrm>
            <a:off x="1922717" y="6804755"/>
            <a:ext cx="10169366" cy="4763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10" name="svg-line-3">
            <a:extLst>
              <a:ext uri="{FF2B5EF4-FFF2-40B4-BE49-F238E27FC236}">
                <a16:creationId xmlns:a16="http://schemas.microsoft.com/office/drawing/2014/main" id="{0D0E617F-A044-4238-98BE-E19DA8DA7055}"/>
              </a:ext>
            </a:extLst>
          </p:cNvPr>
          <p:cNvSpPr>
            <a:spLocks noGrp="1"/>
          </p:cNvSpPr>
          <p:nvPr/>
        </p:nvSpPr>
        <p:spPr>
          <a:xfrm>
            <a:off x="1922717" y="5680710"/>
            <a:ext cx="10169366" cy="4763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11" name="svg-line-4">
            <a:extLst>
              <a:ext uri="{FF2B5EF4-FFF2-40B4-BE49-F238E27FC236}">
                <a16:creationId xmlns:a16="http://schemas.microsoft.com/office/drawing/2014/main" id="{9B2E337A-94E3-46E1-AB47-A6C38970CAA3}"/>
              </a:ext>
            </a:extLst>
          </p:cNvPr>
          <p:cNvSpPr>
            <a:spLocks noGrp="1"/>
          </p:cNvSpPr>
          <p:nvPr/>
        </p:nvSpPr>
        <p:spPr>
          <a:xfrm>
            <a:off x="1922717" y="4547807"/>
            <a:ext cx="10169366" cy="4763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12" name="svg-line-5">
            <a:extLst>
              <a:ext uri="{FF2B5EF4-FFF2-40B4-BE49-F238E27FC236}">
                <a16:creationId xmlns:a16="http://schemas.microsoft.com/office/drawing/2014/main" id="{367D6CAC-14EC-4CC7-996C-045AA55B3069}"/>
              </a:ext>
            </a:extLst>
          </p:cNvPr>
          <p:cNvSpPr>
            <a:spLocks noGrp="1"/>
          </p:cNvSpPr>
          <p:nvPr/>
        </p:nvSpPr>
        <p:spPr>
          <a:xfrm>
            <a:off x="1922717" y="4547807"/>
            <a:ext cx="4763" cy="3389757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13" name="svg-line-6">
            <a:extLst>
              <a:ext uri="{FF2B5EF4-FFF2-40B4-BE49-F238E27FC236}">
                <a16:creationId xmlns:a16="http://schemas.microsoft.com/office/drawing/2014/main" id="{196C5B7C-B522-4960-BBD2-826E9CF8C8BC}"/>
              </a:ext>
            </a:extLst>
          </p:cNvPr>
          <p:cNvSpPr>
            <a:spLocks noGrp="1"/>
          </p:cNvSpPr>
          <p:nvPr/>
        </p:nvSpPr>
        <p:spPr>
          <a:xfrm>
            <a:off x="3956590" y="4547807"/>
            <a:ext cx="4763" cy="3389757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14" name="svg-line-7">
            <a:extLst>
              <a:ext uri="{FF2B5EF4-FFF2-40B4-BE49-F238E27FC236}">
                <a16:creationId xmlns:a16="http://schemas.microsoft.com/office/drawing/2014/main" id="{70FC3505-E9E3-4539-9B02-C453948D98D3}"/>
              </a:ext>
            </a:extLst>
          </p:cNvPr>
          <p:cNvSpPr>
            <a:spLocks noGrp="1"/>
          </p:cNvSpPr>
          <p:nvPr/>
        </p:nvSpPr>
        <p:spPr>
          <a:xfrm>
            <a:off x="5990463" y="4547807"/>
            <a:ext cx="4763" cy="3389757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15" name="svg-line-8">
            <a:extLst>
              <a:ext uri="{FF2B5EF4-FFF2-40B4-BE49-F238E27FC236}">
                <a16:creationId xmlns:a16="http://schemas.microsoft.com/office/drawing/2014/main" id="{E2850808-B5BC-4AD7-9923-6C35E5DC5DF5}"/>
              </a:ext>
            </a:extLst>
          </p:cNvPr>
          <p:cNvSpPr>
            <a:spLocks noGrp="1"/>
          </p:cNvSpPr>
          <p:nvPr/>
        </p:nvSpPr>
        <p:spPr>
          <a:xfrm>
            <a:off x="8024336" y="4547807"/>
            <a:ext cx="4763" cy="3389757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16" name="svg-line-9">
            <a:extLst>
              <a:ext uri="{FF2B5EF4-FFF2-40B4-BE49-F238E27FC236}">
                <a16:creationId xmlns:a16="http://schemas.microsoft.com/office/drawing/2014/main" id="{183C0D66-923A-46F0-A98E-1A80AFB3047D}"/>
              </a:ext>
            </a:extLst>
          </p:cNvPr>
          <p:cNvSpPr>
            <a:spLocks noGrp="1"/>
          </p:cNvSpPr>
          <p:nvPr/>
        </p:nvSpPr>
        <p:spPr>
          <a:xfrm>
            <a:off x="10058210" y="4547807"/>
            <a:ext cx="4763" cy="3389757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17" name="svg-line-10">
            <a:extLst>
              <a:ext uri="{FF2B5EF4-FFF2-40B4-BE49-F238E27FC236}">
                <a16:creationId xmlns:a16="http://schemas.microsoft.com/office/drawing/2014/main" id="{7E9E7195-05C4-43F2-B2BF-798244D21B47}"/>
              </a:ext>
            </a:extLst>
          </p:cNvPr>
          <p:cNvSpPr>
            <a:spLocks noGrp="1"/>
          </p:cNvSpPr>
          <p:nvPr/>
        </p:nvSpPr>
        <p:spPr>
          <a:xfrm>
            <a:off x="12092083" y="4547807"/>
            <a:ext cx="4763" cy="3389757"/>
          </a:xfrm>
          <a:prstGeom prst="line">
            <a:avLst/>
          </a:prstGeom>
          <a:noFill/>
          <a:ln w="13335">
            <a:solidFill>
              <a:srgbClr val="DFE5EE"/>
            </a:solidFill>
            <a:prstDash val="solid"/>
          </a:ln>
        </p:spPr>
      </p:sp>
      <p:sp>
        <p:nvSpPr>
          <p:cNvPr id="18" name="svg-line-11">
            <a:extLst>
              <a:ext uri="{FF2B5EF4-FFF2-40B4-BE49-F238E27FC236}">
                <a16:creationId xmlns:a16="http://schemas.microsoft.com/office/drawing/2014/main" id="{0B1F5EB2-00A9-43F1-AE23-20FAA3902DE9}"/>
              </a:ext>
            </a:extLst>
          </p:cNvPr>
          <p:cNvSpPr>
            <a:spLocks noGrp="1"/>
          </p:cNvSpPr>
          <p:nvPr/>
        </p:nvSpPr>
        <p:spPr>
          <a:xfrm>
            <a:off x="1922717" y="4895945"/>
            <a:ext cx="10169366" cy="4763"/>
          </a:xfrm>
          <a:prstGeom prst="line">
            <a:avLst/>
          </a:prstGeom>
          <a:noFill/>
          <a:ln w="38100">
            <a:solidFill>
              <a:srgbClr val="642AF0">
                <a:alpha val="85000"/>
              </a:srgbClr>
            </a:solidFill>
            <a:prstDash val="dash"/>
          </a:ln>
        </p:spPr>
      </p:sp>
      <p:sp>
        <p:nvSpPr>
          <p:cNvPr id="19" name="svg-line-12">
            <a:extLst>
              <a:ext uri="{FF2B5EF4-FFF2-40B4-BE49-F238E27FC236}">
                <a16:creationId xmlns:a16="http://schemas.microsoft.com/office/drawing/2014/main" id="{6ABCE99C-AF11-4BE4-9C1B-D4769AE672FB}"/>
              </a:ext>
            </a:extLst>
          </p:cNvPr>
          <p:cNvSpPr>
            <a:spLocks noGrp="1"/>
          </p:cNvSpPr>
          <p:nvPr/>
        </p:nvSpPr>
        <p:spPr>
          <a:xfrm>
            <a:off x="1922717" y="4547807"/>
            <a:ext cx="3430238" cy="3389757"/>
          </a:xfrm>
          <a:custGeom>
            <a:avLst/>
            <a:gdLst/>
            <a:ahLst/>
            <a:cxnLst/>
            <a:rect l="0" t="0" r="0" b="0"/>
            <a:pathLst>
              <a:path w="3430211" h="3389801">
                <a:moveTo>
                  <a:pt x="0" y="3389801"/>
                </a:moveTo>
                <a:lnTo>
                  <a:pt x="3430211" y="0"/>
                </a:lnTo>
              </a:path>
            </a:pathLst>
          </a:custGeom>
          <a:noFill/>
          <a:ln w="66675">
            <a:solidFill>
              <a:srgbClr val="315FD5"/>
            </a:solidFill>
            <a:prstDash val="solid"/>
          </a:ln>
        </p:spPr>
      </p:sp>
      <p:sp>
        <p:nvSpPr>
          <p:cNvPr id="20" name="svg-line-13">
            <a:extLst>
              <a:ext uri="{FF2B5EF4-FFF2-40B4-BE49-F238E27FC236}">
                <a16:creationId xmlns:a16="http://schemas.microsoft.com/office/drawing/2014/main" id="{830BE763-464A-4D8F-8103-FA2E9BA39D01}"/>
              </a:ext>
            </a:extLst>
          </p:cNvPr>
          <p:cNvSpPr>
            <a:spLocks noGrp="1"/>
          </p:cNvSpPr>
          <p:nvPr/>
        </p:nvSpPr>
        <p:spPr>
          <a:xfrm>
            <a:off x="5000720" y="4895945"/>
            <a:ext cx="4763" cy="2640330"/>
          </a:xfrm>
          <a:prstGeom prst="line">
            <a:avLst/>
          </a:prstGeom>
          <a:noFill/>
          <a:ln w="19050">
            <a:solidFill>
              <a:srgbClr val="8AA3CC"/>
            </a:solidFill>
            <a:prstDash val="dash"/>
          </a:ln>
        </p:spPr>
      </p:sp>
      <p:sp>
        <p:nvSpPr>
          <p:cNvPr id="21" name="svg-line-14">
            <a:extLst>
              <a:ext uri="{FF2B5EF4-FFF2-40B4-BE49-F238E27FC236}">
                <a16:creationId xmlns:a16="http://schemas.microsoft.com/office/drawing/2014/main" id="{163EF2BC-FB6F-4B4B-8A2C-6D5BEBF6D177}"/>
              </a:ext>
            </a:extLst>
          </p:cNvPr>
          <p:cNvSpPr>
            <a:spLocks noGrp="1"/>
          </p:cNvSpPr>
          <p:nvPr/>
        </p:nvSpPr>
        <p:spPr>
          <a:xfrm>
            <a:off x="3834479" y="6258496"/>
            <a:ext cx="4763" cy="1679067"/>
          </a:xfrm>
          <a:custGeom>
            <a:avLst/>
            <a:gdLst/>
            <a:ahLst/>
            <a:cxnLst/>
            <a:rect l="0" t="0" r="0" b="0"/>
            <a:pathLst>
              <a:path w="4763" h="1679111">
                <a:moveTo>
                  <a:pt x="0" y="1679111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F49A1D"/>
            </a:solidFill>
            <a:prstDash val="dash"/>
          </a:ln>
        </p:spPr>
      </p:sp>
      <p:sp>
        <p:nvSpPr>
          <p:cNvPr id="22" name="svg-segment-15">
            <a:extLst>
              <a:ext uri="{FF2B5EF4-FFF2-40B4-BE49-F238E27FC236}">
                <a16:creationId xmlns:a16="http://schemas.microsoft.com/office/drawing/2014/main" id="{8C347C2F-B048-4179-B935-7E521EAB9859}"/>
              </a:ext>
            </a:extLst>
          </p:cNvPr>
          <p:cNvSpPr>
            <a:spLocks noGrp="1"/>
          </p:cNvSpPr>
          <p:nvPr/>
        </p:nvSpPr>
        <p:spPr>
          <a:xfrm>
            <a:off x="3706749" y="6046470"/>
            <a:ext cx="127730" cy="212027"/>
          </a:xfrm>
          <a:custGeom>
            <a:avLst/>
            <a:gdLst/>
            <a:ahLst/>
            <a:cxnLst/>
            <a:rect l="0" t="0" r="0" b="0"/>
            <a:pathLst>
              <a:path w="127742" h="212041">
                <a:moveTo>
                  <a:pt x="127742" y="212041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F49A1D"/>
            </a:solidFill>
            <a:prstDash val="solid"/>
          </a:ln>
        </p:spPr>
      </p:sp>
      <p:sp>
        <p:nvSpPr>
          <p:cNvPr id="23" name="svg-segment-16">
            <a:extLst>
              <a:ext uri="{FF2B5EF4-FFF2-40B4-BE49-F238E27FC236}">
                <a16:creationId xmlns:a16="http://schemas.microsoft.com/office/drawing/2014/main" id="{B035D057-661F-4319-81AE-0F7F6502BA67}"/>
              </a:ext>
            </a:extLst>
          </p:cNvPr>
          <p:cNvSpPr>
            <a:spLocks noGrp="1"/>
          </p:cNvSpPr>
          <p:nvPr/>
        </p:nvSpPr>
        <p:spPr>
          <a:xfrm>
            <a:off x="3564065" y="6046470"/>
            <a:ext cx="142685" cy="4763"/>
          </a:xfrm>
          <a:custGeom>
            <a:avLst/>
            <a:gdLst/>
            <a:ahLst/>
            <a:cxnLst/>
            <a:rect l="0" t="0" r="0" b="0"/>
            <a:pathLst>
              <a:path w="142728" h="4763">
                <a:moveTo>
                  <a:pt x="142728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F49A1D"/>
            </a:solidFill>
            <a:prstDash val="solid"/>
          </a:ln>
        </p:spPr>
      </p:sp>
      <p:sp>
        <p:nvSpPr>
          <p:cNvPr id="24" name="svg-line-17">
            <a:extLst>
              <a:ext uri="{FF2B5EF4-FFF2-40B4-BE49-F238E27FC236}">
                <a16:creationId xmlns:a16="http://schemas.microsoft.com/office/drawing/2014/main" id="{55447119-FE26-4664-9045-910E4C2F4B61}"/>
              </a:ext>
            </a:extLst>
          </p:cNvPr>
          <p:cNvSpPr>
            <a:spLocks noGrp="1"/>
          </p:cNvSpPr>
          <p:nvPr/>
        </p:nvSpPr>
        <p:spPr>
          <a:xfrm>
            <a:off x="11171968" y="5141405"/>
            <a:ext cx="4763" cy="2796254"/>
          </a:xfrm>
          <a:custGeom>
            <a:avLst/>
            <a:gdLst/>
            <a:ahLst/>
            <a:cxnLst/>
            <a:rect l="0" t="0" r="0" b="0"/>
            <a:pathLst>
              <a:path w="4763" h="2796229">
                <a:moveTo>
                  <a:pt x="0" y="2796229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A9A62"/>
            </a:solidFill>
            <a:prstDash val="dash"/>
          </a:ln>
        </p:spPr>
      </p:sp>
      <p:sp>
        <p:nvSpPr>
          <p:cNvPr id="25" name="svg-segment-18">
            <a:extLst>
              <a:ext uri="{FF2B5EF4-FFF2-40B4-BE49-F238E27FC236}">
                <a16:creationId xmlns:a16="http://schemas.microsoft.com/office/drawing/2014/main" id="{B6611837-F00F-40F8-9FE4-FA3B5FF428C1}"/>
              </a:ext>
            </a:extLst>
          </p:cNvPr>
          <p:cNvSpPr>
            <a:spLocks noGrp="1"/>
          </p:cNvSpPr>
          <p:nvPr/>
        </p:nvSpPr>
        <p:spPr>
          <a:xfrm>
            <a:off x="10575608" y="5141405"/>
            <a:ext cx="596360" cy="343091"/>
          </a:xfrm>
          <a:custGeom>
            <a:avLst/>
            <a:gdLst/>
            <a:ahLst/>
            <a:cxnLst/>
            <a:rect l="0" t="0" r="0" b="0"/>
            <a:pathLst>
              <a:path w="596337" h="343084">
                <a:moveTo>
                  <a:pt x="596337" y="0"/>
                </a:moveTo>
                <a:lnTo>
                  <a:pt x="0" y="343084"/>
                </a:lnTo>
              </a:path>
            </a:pathLst>
          </a:custGeom>
          <a:noFill/>
          <a:ln w="19050">
            <a:solidFill>
              <a:srgbClr val="0A9A62"/>
            </a:solidFill>
            <a:prstDash val="solid"/>
          </a:ln>
        </p:spPr>
      </p:sp>
      <p:sp>
        <p:nvSpPr>
          <p:cNvPr id="26" name="svg-segment-19">
            <a:extLst>
              <a:ext uri="{FF2B5EF4-FFF2-40B4-BE49-F238E27FC236}">
                <a16:creationId xmlns:a16="http://schemas.microsoft.com/office/drawing/2014/main" id="{464C3C7F-3DFE-4DDF-9C01-A05150FCF548}"/>
              </a:ext>
            </a:extLst>
          </p:cNvPr>
          <p:cNvSpPr>
            <a:spLocks noGrp="1"/>
          </p:cNvSpPr>
          <p:nvPr/>
        </p:nvSpPr>
        <p:spPr>
          <a:xfrm>
            <a:off x="9924383" y="5484495"/>
            <a:ext cx="651224" cy="4763"/>
          </a:xfrm>
          <a:custGeom>
            <a:avLst/>
            <a:gdLst/>
            <a:ahLst/>
            <a:cxnLst/>
            <a:rect l="0" t="0" r="0" b="0"/>
            <a:pathLst>
              <a:path w="651199" h="4763">
                <a:moveTo>
                  <a:pt x="651199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A9A62"/>
            </a:solidFill>
            <a:prstDash val="solid"/>
          </a:ln>
        </p:spPr>
      </p:sp>
      <p:sp>
        <p:nvSpPr>
          <p:cNvPr id="27" name="svg-point-1">
            <a:extLst>
              <a:ext uri="{FF2B5EF4-FFF2-40B4-BE49-F238E27FC236}">
                <a16:creationId xmlns:a16="http://schemas.microsoft.com/office/drawing/2014/main" id="{4B9A88DD-7090-464B-8159-FA1F8F09326B}"/>
              </a:ext>
            </a:extLst>
          </p:cNvPr>
          <p:cNvSpPr>
            <a:spLocks noGrp="1"/>
          </p:cNvSpPr>
          <p:nvPr/>
        </p:nvSpPr>
        <p:spPr>
          <a:xfrm>
            <a:off x="4929378" y="4824508"/>
            <a:ext cx="142685" cy="14268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42AF0"/>
            </a:solidFill>
            <a:prstDash val="solid"/>
          </a:ln>
        </p:spPr>
      </p:sp>
      <p:sp>
        <p:nvSpPr>
          <p:cNvPr id="28" name="svg-point-2">
            <a:extLst>
              <a:ext uri="{FF2B5EF4-FFF2-40B4-BE49-F238E27FC236}">
                <a16:creationId xmlns:a16="http://schemas.microsoft.com/office/drawing/2014/main" id="{20F89BF8-AECF-48D6-8F80-7C3AAA81B261}"/>
              </a:ext>
            </a:extLst>
          </p:cNvPr>
          <p:cNvSpPr>
            <a:spLocks noGrp="1"/>
          </p:cNvSpPr>
          <p:nvPr/>
        </p:nvSpPr>
        <p:spPr>
          <a:xfrm>
            <a:off x="3736372" y="6160389"/>
            <a:ext cx="196215" cy="196310"/>
          </a:xfrm>
          <a:prstGeom prst="ellipse">
            <a:avLst/>
          </a:prstGeom>
          <a:solidFill>
            <a:srgbClr val="F49A1D"/>
          </a:solidFill>
          <a:ln w="47625">
            <a:solidFill>
              <a:srgbClr val="FFFFFF"/>
            </a:solidFill>
            <a:prstDash val="solid"/>
          </a:ln>
        </p:spPr>
      </p:sp>
      <p:sp>
        <p:nvSpPr>
          <p:cNvPr id="29" name="svg-point-3">
            <a:extLst>
              <a:ext uri="{FF2B5EF4-FFF2-40B4-BE49-F238E27FC236}">
                <a16:creationId xmlns:a16="http://schemas.microsoft.com/office/drawing/2014/main" id="{FB56054C-1AF7-46E7-9797-B787466684A1}"/>
              </a:ext>
            </a:extLst>
          </p:cNvPr>
          <p:cNvSpPr>
            <a:spLocks noGrp="1"/>
          </p:cNvSpPr>
          <p:nvPr/>
        </p:nvSpPr>
        <p:spPr>
          <a:xfrm>
            <a:off x="11073765" y="5043297"/>
            <a:ext cx="196215" cy="196310"/>
          </a:xfrm>
          <a:prstGeom prst="ellipse">
            <a:avLst/>
          </a:prstGeom>
          <a:solidFill>
            <a:srgbClr val="0A9A62"/>
          </a:solidFill>
          <a:ln w="47625">
            <a:solidFill>
              <a:srgbClr val="FFFFFF"/>
            </a:solidFill>
            <a:prstDash val="solid"/>
          </a:ln>
        </p:spPr>
      </p:sp>
      <p:sp>
        <p:nvSpPr>
          <p:cNvPr id="30" name="border-5">
            <a:extLst>
              <a:ext uri="{FF2B5EF4-FFF2-40B4-BE49-F238E27FC236}">
                <a16:creationId xmlns:a16="http://schemas.microsoft.com/office/drawing/2014/main" id="{DFED4B40-20A5-41C5-9608-376BA9FD1F8B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76200" cy="6477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31" name="border-9">
            <a:extLst>
              <a:ext uri="{FF2B5EF4-FFF2-40B4-BE49-F238E27FC236}">
                <a16:creationId xmlns:a16="http://schemas.microsoft.com/office/drawing/2014/main" id="{F0876783-4D71-401F-A2A9-C1EB2C2B4E61}"/>
              </a:ext>
            </a:extLst>
          </p:cNvPr>
          <p:cNvSpPr>
            <a:spLocks noGrp="1"/>
          </p:cNvSpPr>
          <p:nvPr/>
        </p:nvSpPr>
        <p:spPr>
          <a:xfrm>
            <a:off x="13411200" y="3714750"/>
            <a:ext cx="19050" cy="5143500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2" name="border-11">
            <a:extLst>
              <a:ext uri="{FF2B5EF4-FFF2-40B4-BE49-F238E27FC236}">
                <a16:creationId xmlns:a16="http://schemas.microsoft.com/office/drawing/2014/main" id="{9769788C-750E-42AB-8B24-F2D7F7297A28}"/>
              </a:ext>
            </a:extLst>
          </p:cNvPr>
          <p:cNvSpPr>
            <a:spLocks noGrp="1"/>
          </p:cNvSpPr>
          <p:nvPr/>
        </p:nvSpPr>
        <p:spPr>
          <a:xfrm>
            <a:off x="13696950" y="3714750"/>
            <a:ext cx="66675" cy="1381125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33" name="border-13">
            <a:extLst>
              <a:ext uri="{FF2B5EF4-FFF2-40B4-BE49-F238E27FC236}">
                <a16:creationId xmlns:a16="http://schemas.microsoft.com/office/drawing/2014/main" id="{959C6D3D-3B77-44E7-9834-09F310E60B16}"/>
              </a:ext>
            </a:extLst>
          </p:cNvPr>
          <p:cNvSpPr>
            <a:spLocks noGrp="1"/>
          </p:cNvSpPr>
          <p:nvPr/>
        </p:nvSpPr>
        <p:spPr>
          <a:xfrm>
            <a:off x="13696950" y="5267325"/>
            <a:ext cx="66675" cy="2038350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34" name="border-15">
            <a:extLst>
              <a:ext uri="{FF2B5EF4-FFF2-40B4-BE49-F238E27FC236}">
                <a16:creationId xmlns:a16="http://schemas.microsoft.com/office/drawing/2014/main" id="{EA8BDBD9-31D1-442E-B427-C6A17DDA9291}"/>
              </a:ext>
            </a:extLst>
          </p:cNvPr>
          <p:cNvSpPr>
            <a:spLocks noGrp="1"/>
          </p:cNvSpPr>
          <p:nvPr/>
        </p:nvSpPr>
        <p:spPr>
          <a:xfrm>
            <a:off x="13696950" y="7477125"/>
            <a:ext cx="66675" cy="1381125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435388E-F370-4905-B783-D9ABE551C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9A896CF2-D4A8-4758-BDE6-D67A82A7D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37" name="svg-text-1">
            <a:extLst>
              <a:ext uri="{FF2B5EF4-FFF2-40B4-BE49-F238E27FC236}">
                <a16:creationId xmlns:a16="http://schemas.microsoft.com/office/drawing/2014/main" id="{E816338F-CFBC-4EFE-9B76-286D90798477}"/>
              </a:ext>
            </a:extLst>
          </p:cNvPr>
          <p:cNvSpPr>
            <a:spLocks noGrp="1"/>
          </p:cNvSpPr>
          <p:nvPr/>
        </p:nvSpPr>
        <p:spPr>
          <a:xfrm>
            <a:off x="2206276" y="5425345"/>
            <a:ext cx="114281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689"/>
          </a:bodyPr>
          <a:lstStyle>
            <a:defPPr algn="l">
              <a:defRPr lang="zh-CN" altLang="en-US" sz="1650" b="1" i="0" noProof="1">
                <a:solidFill>
                  <a:srgbClr val="B5650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B5650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B56500"/>
                </a:solidFill>
                <a:latin typeface="PingFang SC"/>
                <a:ea typeface="PingFang SC"/>
                <a:cs typeface="Arial"/>
              </a:rPr>
              <a:t>20GbE 实测</a:t>
            </a:r>
          </a:p>
        </p:txBody>
      </p:sp>
      <p:sp>
        <p:nvSpPr>
          <p:cNvPr id="38" name="svg-text-2">
            <a:extLst>
              <a:ext uri="{FF2B5EF4-FFF2-40B4-BE49-F238E27FC236}">
                <a16:creationId xmlns:a16="http://schemas.microsoft.com/office/drawing/2014/main" id="{09FE6318-244C-4761-BA1B-29C29B291045}"/>
              </a:ext>
            </a:extLst>
          </p:cNvPr>
          <p:cNvSpPr>
            <a:spLocks noGrp="1"/>
          </p:cNvSpPr>
          <p:nvPr/>
        </p:nvSpPr>
        <p:spPr>
          <a:xfrm>
            <a:off x="2206276" y="5684044"/>
            <a:ext cx="1570577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116"/>
          </a:bodyPr>
          <a:lstStyle>
            <a:defPPr algn="l">
              <a:defRPr lang="zh-CN" altLang="en-US" sz="1650" b="1" i="0" noProof="1">
                <a:solidFill>
                  <a:srgbClr val="B5650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B5650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B56500"/>
                </a:solidFill>
                <a:latin typeface="PingFang SC"/>
                <a:ea typeface="PingFang SC"/>
                <a:cs typeface="Arial"/>
              </a:rPr>
              <a:t>29.7K Input TPS</a:t>
            </a:r>
          </a:p>
        </p:txBody>
      </p:sp>
      <p:sp>
        <p:nvSpPr>
          <p:cNvPr id="39" name="svg-text-3">
            <a:extLst>
              <a:ext uri="{FF2B5EF4-FFF2-40B4-BE49-F238E27FC236}">
                <a16:creationId xmlns:a16="http://schemas.microsoft.com/office/drawing/2014/main" id="{D09D59D9-AE7E-49F2-AB5F-509A39139DF5}"/>
              </a:ext>
            </a:extLst>
          </p:cNvPr>
          <p:cNvSpPr>
            <a:spLocks noGrp="1"/>
          </p:cNvSpPr>
          <p:nvPr/>
        </p:nvSpPr>
        <p:spPr>
          <a:xfrm>
            <a:off x="8415242" y="5398580"/>
            <a:ext cx="143065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329"/>
          </a:bodyPr>
          <a:lstStyle>
            <a:defPPr algn="l">
              <a:defRPr lang="zh-CN" altLang="en-US" sz="16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网络不受限实测</a:t>
            </a:r>
          </a:p>
        </p:txBody>
      </p:sp>
      <p:sp>
        <p:nvSpPr>
          <p:cNvPr id="40" name="svg-text-4">
            <a:extLst>
              <a:ext uri="{FF2B5EF4-FFF2-40B4-BE49-F238E27FC236}">
                <a16:creationId xmlns:a16="http://schemas.microsoft.com/office/drawing/2014/main" id="{05BBA576-38E8-4A26-AADF-3941ECE81637}"/>
              </a:ext>
            </a:extLst>
          </p:cNvPr>
          <p:cNvSpPr>
            <a:spLocks noGrp="1"/>
          </p:cNvSpPr>
          <p:nvPr/>
        </p:nvSpPr>
        <p:spPr>
          <a:xfrm>
            <a:off x="8266081" y="5657279"/>
            <a:ext cx="1579817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116"/>
          </a:bodyPr>
          <a:lstStyle>
            <a:defPPr algn="l">
              <a:defRPr lang="zh-CN" altLang="en-US" sz="16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49.5K Input TPS</a:t>
            </a:r>
          </a:p>
        </p:txBody>
      </p:sp>
      <p:sp>
        <p:nvSpPr>
          <p:cNvPr id="41" name="svg-text-5">
            <a:extLst>
              <a:ext uri="{FF2B5EF4-FFF2-40B4-BE49-F238E27FC236}">
                <a16:creationId xmlns:a16="http://schemas.microsoft.com/office/drawing/2014/main" id="{8475B361-F3D7-41D3-B59B-F3D345E0F4A9}"/>
              </a:ext>
            </a:extLst>
          </p:cNvPr>
          <p:cNvSpPr>
            <a:spLocks noGrp="1"/>
          </p:cNvSpPr>
          <p:nvPr/>
        </p:nvSpPr>
        <p:spPr>
          <a:xfrm>
            <a:off x="6175915" y="6906196"/>
            <a:ext cx="1616297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134"/>
          </a:bodyPr>
          <a:lstStyle>
            <a:defPPr algn="l">
              <a:defRPr lang="zh-CN" altLang="en-US" sz="1650" b="1" i="0" noProof="1">
                <a:solidFill>
                  <a:srgbClr val="285FD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285FD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285FD7"/>
                </a:solidFill>
                <a:latin typeface="PingFang SC"/>
                <a:ea typeface="PingFang SC"/>
                <a:cs typeface="Arial"/>
              </a:rPr>
              <a:t>KV Transfer TPS</a:t>
            </a:r>
          </a:p>
        </p:txBody>
      </p:sp>
      <p:sp>
        <p:nvSpPr>
          <p:cNvPr id="42" name="svg-text-6">
            <a:extLst>
              <a:ext uri="{FF2B5EF4-FFF2-40B4-BE49-F238E27FC236}">
                <a16:creationId xmlns:a16="http://schemas.microsoft.com/office/drawing/2014/main" id="{29CE0C3D-19D9-4C1D-97B0-5719B3CCAC74}"/>
              </a:ext>
            </a:extLst>
          </p:cNvPr>
          <p:cNvSpPr>
            <a:spLocks noGrp="1"/>
          </p:cNvSpPr>
          <p:nvPr/>
        </p:nvSpPr>
        <p:spPr>
          <a:xfrm>
            <a:off x="6265164" y="4533329"/>
            <a:ext cx="1557623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329"/>
          </a:bodyPr>
          <a:lstStyle>
            <a:def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8K 同构计算参考</a:t>
            </a:r>
          </a:p>
        </p:txBody>
      </p:sp>
      <p:sp>
        <p:nvSpPr>
          <p:cNvPr id="43" name="svg-text-7">
            <a:extLst>
              <a:ext uri="{FF2B5EF4-FFF2-40B4-BE49-F238E27FC236}">
                <a16:creationId xmlns:a16="http://schemas.microsoft.com/office/drawing/2014/main" id="{DAF07CA8-89E8-4F9C-A069-3C1E915E3A74}"/>
              </a:ext>
            </a:extLst>
          </p:cNvPr>
          <p:cNvSpPr>
            <a:spLocks noGrp="1"/>
          </p:cNvSpPr>
          <p:nvPr/>
        </p:nvSpPr>
        <p:spPr>
          <a:xfrm>
            <a:off x="6265164" y="5052536"/>
            <a:ext cx="137217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634"/>
          </a:bodyPr>
          <a:lstStyle>
            <a:defPPr algn="l">
              <a:defRPr lang="zh-CN" altLang="en-US" sz="14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53.8K Input TPS</a:t>
            </a:r>
          </a:p>
        </p:txBody>
      </p:sp>
      <p:sp>
        <p:nvSpPr>
          <p:cNvPr id="44" name="svg-text-8">
            <a:extLst>
              <a:ext uri="{FF2B5EF4-FFF2-40B4-BE49-F238E27FC236}">
                <a16:creationId xmlns:a16="http://schemas.microsoft.com/office/drawing/2014/main" id="{6E176FB5-5783-4B5F-9BB2-213CE40E294A}"/>
              </a:ext>
            </a:extLst>
          </p:cNvPr>
          <p:cNvSpPr>
            <a:spLocks noGrp="1"/>
          </p:cNvSpPr>
          <p:nvPr/>
        </p:nvSpPr>
        <p:spPr>
          <a:xfrm>
            <a:off x="6042184" y="7263003"/>
            <a:ext cx="10382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839"/>
          </a:bodyPr>
          <a:lstStyle>
            <a:defPPr algn="l">
              <a:defRPr lang="zh-CN" altLang="en-US" sz="1650" b="1" i="0" noProof="1">
                <a:solidFill>
                  <a:srgbClr val="375F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375F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375F9F"/>
                </a:solidFill>
                <a:latin typeface="PingFang SC"/>
                <a:ea typeface="PingFang SC"/>
                <a:cs typeface="Arial"/>
              </a:rPr>
              <a:t>计算转折点</a:t>
            </a:r>
          </a:p>
        </p:txBody>
      </p:sp>
      <p:sp>
        <p:nvSpPr>
          <p:cNvPr id="45" name="svg-text-9">
            <a:extLst>
              <a:ext uri="{FF2B5EF4-FFF2-40B4-BE49-F238E27FC236}">
                <a16:creationId xmlns:a16="http://schemas.microsoft.com/office/drawing/2014/main" id="{84D44F28-3BC4-44A4-B46D-1196CABEF298}"/>
              </a:ext>
            </a:extLst>
          </p:cNvPr>
          <p:cNvSpPr>
            <a:spLocks noGrp="1"/>
          </p:cNvSpPr>
          <p:nvPr/>
        </p:nvSpPr>
        <p:spPr>
          <a:xfrm>
            <a:off x="6042184" y="7512749"/>
            <a:ext cx="93192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50" b="1" i="0" noProof="1">
                <a:solidFill>
                  <a:srgbClr val="375F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375F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375F9F"/>
                </a:solidFill>
                <a:latin typeface="PingFang SC"/>
                <a:ea typeface="PingFang SC"/>
                <a:cs typeface="Arial"/>
              </a:rPr>
              <a:t>30.3Gb/s</a:t>
            </a:r>
          </a:p>
        </p:txBody>
      </p:sp>
      <p:sp>
        <p:nvSpPr>
          <p:cNvPr id="46" name="svg-text-10">
            <a:extLst>
              <a:ext uri="{FF2B5EF4-FFF2-40B4-BE49-F238E27FC236}">
                <a16:creationId xmlns:a16="http://schemas.microsoft.com/office/drawing/2014/main" id="{05502321-1684-4329-8277-4D9D786E2E48}"/>
              </a:ext>
            </a:extLst>
          </p:cNvPr>
          <p:cNvSpPr>
            <a:spLocks noGrp="1"/>
          </p:cNvSpPr>
          <p:nvPr/>
        </p:nvSpPr>
        <p:spPr>
          <a:xfrm>
            <a:off x="1671066" y="7791069"/>
            <a:ext cx="15897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47" name="svg-text-11">
            <a:extLst>
              <a:ext uri="{FF2B5EF4-FFF2-40B4-BE49-F238E27FC236}">
                <a16:creationId xmlns:a16="http://schemas.microsoft.com/office/drawing/2014/main" id="{C44F47F0-A28C-456B-B39D-0EE2B16B232D}"/>
              </a:ext>
            </a:extLst>
          </p:cNvPr>
          <p:cNvSpPr>
            <a:spLocks noGrp="1"/>
          </p:cNvSpPr>
          <p:nvPr/>
        </p:nvSpPr>
        <p:spPr>
          <a:xfrm>
            <a:off x="1465898" y="6658166"/>
            <a:ext cx="377381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20K</a:t>
            </a:r>
          </a:p>
        </p:txBody>
      </p:sp>
      <p:sp>
        <p:nvSpPr>
          <p:cNvPr id="48" name="svg-text-12">
            <a:extLst>
              <a:ext uri="{FF2B5EF4-FFF2-40B4-BE49-F238E27FC236}">
                <a16:creationId xmlns:a16="http://schemas.microsoft.com/office/drawing/2014/main" id="{2ACA76B1-E015-42B4-8AE6-004B47F1E3C5}"/>
              </a:ext>
            </a:extLst>
          </p:cNvPr>
          <p:cNvSpPr>
            <a:spLocks noGrp="1"/>
          </p:cNvSpPr>
          <p:nvPr/>
        </p:nvSpPr>
        <p:spPr>
          <a:xfrm>
            <a:off x="1465898" y="5534216"/>
            <a:ext cx="377381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40K</a:t>
            </a:r>
          </a:p>
        </p:txBody>
      </p:sp>
      <p:sp>
        <p:nvSpPr>
          <p:cNvPr id="49" name="svg-text-13">
            <a:extLst>
              <a:ext uri="{FF2B5EF4-FFF2-40B4-BE49-F238E27FC236}">
                <a16:creationId xmlns:a16="http://schemas.microsoft.com/office/drawing/2014/main" id="{D509A148-957D-4DFB-9EF0-63A61319379C}"/>
              </a:ext>
            </a:extLst>
          </p:cNvPr>
          <p:cNvSpPr>
            <a:spLocks noGrp="1"/>
          </p:cNvSpPr>
          <p:nvPr/>
        </p:nvSpPr>
        <p:spPr>
          <a:xfrm>
            <a:off x="1465898" y="4401312"/>
            <a:ext cx="377381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60K</a:t>
            </a:r>
          </a:p>
        </p:txBody>
      </p:sp>
      <p:sp>
        <p:nvSpPr>
          <p:cNvPr id="50" name="svg-text-14">
            <a:extLst>
              <a:ext uri="{FF2B5EF4-FFF2-40B4-BE49-F238E27FC236}">
                <a16:creationId xmlns:a16="http://schemas.microsoft.com/office/drawing/2014/main" id="{3E4E01A4-0338-4C2B-A160-2430407A7DDB}"/>
              </a:ext>
            </a:extLst>
          </p:cNvPr>
          <p:cNvSpPr>
            <a:spLocks noGrp="1"/>
          </p:cNvSpPr>
          <p:nvPr/>
        </p:nvSpPr>
        <p:spPr>
          <a:xfrm>
            <a:off x="1843183" y="8049863"/>
            <a:ext cx="15897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51" name="svg-text-15">
            <a:extLst>
              <a:ext uri="{FF2B5EF4-FFF2-40B4-BE49-F238E27FC236}">
                <a16:creationId xmlns:a16="http://schemas.microsoft.com/office/drawing/2014/main" id="{7472F33B-C8CF-4091-A8F8-70A2E58A9CC2}"/>
              </a:ext>
            </a:extLst>
          </p:cNvPr>
          <p:cNvSpPr>
            <a:spLocks noGrp="1"/>
          </p:cNvSpPr>
          <p:nvPr/>
        </p:nvSpPr>
        <p:spPr>
          <a:xfrm>
            <a:off x="3762947" y="8049863"/>
            <a:ext cx="38728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20G</a:t>
            </a:r>
          </a:p>
        </p:txBody>
      </p:sp>
      <p:sp>
        <p:nvSpPr>
          <p:cNvPr id="52" name="svg-text-16">
            <a:extLst>
              <a:ext uri="{FF2B5EF4-FFF2-40B4-BE49-F238E27FC236}">
                <a16:creationId xmlns:a16="http://schemas.microsoft.com/office/drawing/2014/main" id="{17508EDC-10FD-4012-9E1F-12AE0E963458}"/>
              </a:ext>
            </a:extLst>
          </p:cNvPr>
          <p:cNvSpPr>
            <a:spLocks noGrp="1"/>
          </p:cNvSpPr>
          <p:nvPr/>
        </p:nvSpPr>
        <p:spPr>
          <a:xfrm>
            <a:off x="5796820" y="8049863"/>
            <a:ext cx="38728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40G</a:t>
            </a:r>
          </a:p>
        </p:txBody>
      </p:sp>
      <p:sp>
        <p:nvSpPr>
          <p:cNvPr id="53" name="svg-text-17">
            <a:extLst>
              <a:ext uri="{FF2B5EF4-FFF2-40B4-BE49-F238E27FC236}">
                <a16:creationId xmlns:a16="http://schemas.microsoft.com/office/drawing/2014/main" id="{05DB2202-7996-45E8-A399-5724867193DA}"/>
              </a:ext>
            </a:extLst>
          </p:cNvPr>
          <p:cNvSpPr>
            <a:spLocks noGrp="1"/>
          </p:cNvSpPr>
          <p:nvPr/>
        </p:nvSpPr>
        <p:spPr>
          <a:xfrm>
            <a:off x="7830693" y="8049863"/>
            <a:ext cx="38728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60G</a:t>
            </a:r>
          </a:p>
        </p:txBody>
      </p:sp>
      <p:sp>
        <p:nvSpPr>
          <p:cNvPr id="54" name="svg-text-18">
            <a:extLst>
              <a:ext uri="{FF2B5EF4-FFF2-40B4-BE49-F238E27FC236}">
                <a16:creationId xmlns:a16="http://schemas.microsoft.com/office/drawing/2014/main" id="{BB885A76-F03E-48F1-A2DE-D5AA5CEF988C}"/>
              </a:ext>
            </a:extLst>
          </p:cNvPr>
          <p:cNvSpPr>
            <a:spLocks noGrp="1"/>
          </p:cNvSpPr>
          <p:nvPr/>
        </p:nvSpPr>
        <p:spPr>
          <a:xfrm>
            <a:off x="9864566" y="8049863"/>
            <a:ext cx="387286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80G</a:t>
            </a:r>
          </a:p>
        </p:txBody>
      </p:sp>
      <p:sp>
        <p:nvSpPr>
          <p:cNvPr id="55" name="svg-text-19">
            <a:extLst>
              <a:ext uri="{FF2B5EF4-FFF2-40B4-BE49-F238E27FC236}">
                <a16:creationId xmlns:a16="http://schemas.microsoft.com/office/drawing/2014/main" id="{4FE34137-236D-4995-99D0-B5D62EC1E407}"/>
              </a:ext>
            </a:extLst>
          </p:cNvPr>
          <p:cNvSpPr>
            <a:spLocks noGrp="1"/>
          </p:cNvSpPr>
          <p:nvPr/>
        </p:nvSpPr>
        <p:spPr>
          <a:xfrm>
            <a:off x="11864435" y="8049863"/>
            <a:ext cx="45529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0" i="0" noProof="1">
                <a:solidFill>
                  <a:srgbClr val="778397"/>
                </a:solidFill>
                <a:latin typeface="PingFang SC"/>
                <a:ea typeface="PingFang SC"/>
                <a:cs typeface="Arial"/>
              </a:rPr>
              <a:t>100G</a:t>
            </a:r>
          </a:p>
        </p:txBody>
      </p:sp>
      <p:sp>
        <p:nvSpPr>
          <p:cNvPr id="56" name="svg-text-20">
            <a:extLst>
              <a:ext uri="{FF2B5EF4-FFF2-40B4-BE49-F238E27FC236}">
                <a16:creationId xmlns:a16="http://schemas.microsoft.com/office/drawing/2014/main" id="{759CF314-11D9-4842-827E-D9C1A35AABF0}"/>
              </a:ext>
            </a:extLst>
          </p:cNvPr>
          <p:cNvSpPr>
            <a:spLocks noGrp="1"/>
          </p:cNvSpPr>
          <p:nvPr/>
        </p:nvSpPr>
        <p:spPr>
          <a:xfrm>
            <a:off x="4882515" y="8422672"/>
            <a:ext cx="332241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234"/>
          </a:bodyPr>
          <a:lstStyle>
            <a:defPPr algn="l">
              <a:defRPr lang="zh-CN" altLang="en-US" sz="16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可用 P→D Payload Goodput (Gb/s)</a:t>
            </a:r>
          </a:p>
        </p:txBody>
      </p:sp>
      <p:sp>
        <p:nvSpPr>
          <p:cNvPr id="57" name="svg-text-21">
            <a:extLst>
              <a:ext uri="{FF2B5EF4-FFF2-40B4-BE49-F238E27FC236}">
                <a16:creationId xmlns:a16="http://schemas.microsoft.com/office/drawing/2014/main" id="{4F87EBD1-0391-496D-89F4-B853F1591880}"/>
              </a:ext>
            </a:extLst>
          </p:cNvPr>
          <p:cNvSpPr>
            <a:spLocks noGrp="1"/>
          </p:cNvSpPr>
          <p:nvPr/>
        </p:nvSpPr>
        <p:spPr>
          <a:xfrm rot="-5400000">
            <a:off x="231839" y="6323457"/>
            <a:ext cx="172221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875"/>
          </a:bodyPr>
          <a:lstStyle>
            <a:defPPr algn="l">
              <a:defRPr lang="zh-CN" altLang="en-US" sz="16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50" b="1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System Input TPS</a:t>
            </a:r>
          </a:p>
        </p:txBody>
      </p:sp>
      <p:sp>
        <p:nvSpPr>
          <p:cNvPr id="58" name="text-22">
            <a:extLst>
              <a:ext uri="{FF2B5EF4-FFF2-40B4-BE49-F238E27FC236}">
                <a16:creationId xmlns:a16="http://schemas.microsoft.com/office/drawing/2014/main" id="{4AC25179-2386-475E-8D47-B4C39A4F059B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59" name="text-23">
            <a:extLst>
              <a:ext uri="{FF2B5EF4-FFF2-40B4-BE49-F238E27FC236}">
                <a16:creationId xmlns:a16="http://schemas.microsoft.com/office/drawing/2014/main" id="{CB48D105-27C5-4BC2-8003-B1ED971ED440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4781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第六章 · 跨区域 PD 分析</a:t>
            </a:r>
          </a:p>
        </p:txBody>
      </p:sp>
      <p:sp>
        <p:nvSpPr>
          <p:cNvPr id="60" name="text-24">
            <a:extLst>
              <a:ext uri="{FF2B5EF4-FFF2-40B4-BE49-F238E27FC236}">
                <a16:creationId xmlns:a16="http://schemas.microsoft.com/office/drawing/2014/main" id="{42A08AE5-4DD3-4176-BC12-B4B59EE92B4A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517123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401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跨区域 PD 吞吐由 Prefill 计算与 KV 传输两条容量上限共同决定</a:t>
            </a:r>
          </a:p>
        </p:txBody>
      </p:sp>
      <p:sp>
        <p:nvSpPr>
          <p:cNvPr id="61" name="text-25">
            <a:extLst>
              <a:ext uri="{FF2B5EF4-FFF2-40B4-BE49-F238E27FC236}">
                <a16:creationId xmlns:a16="http://schemas.microsoft.com/office/drawing/2014/main" id="{C585A11D-954F-4CC6-AC02-3F07673A222D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283646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随着 P→D Goodput 提升，系统先受 KV 传输限制；进入转折区后，吞吐逐步触及 Prefill 计算上限。</a:t>
            </a:r>
          </a:p>
        </p:txBody>
      </p:sp>
      <p:sp>
        <p:nvSpPr>
          <p:cNvPr id="62" name="text-26">
            <a:extLst>
              <a:ext uri="{FF2B5EF4-FFF2-40B4-BE49-F238E27FC236}">
                <a16:creationId xmlns:a16="http://schemas.microsoft.com/office/drawing/2014/main" id="{2F79208F-295A-4A48-B89E-4913A5E7DF89}"/>
              </a:ext>
            </a:extLst>
          </p:cNvPr>
          <p:cNvSpPr>
            <a:spLocks noGrp="1"/>
          </p:cNvSpPr>
          <p:nvPr/>
        </p:nvSpPr>
        <p:spPr>
          <a:xfrm>
            <a:off x="3707416" y="3081338"/>
            <a:ext cx="1801082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9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CAPACITY ENVELOPE</a:t>
            </a:r>
          </a:p>
        </p:txBody>
      </p:sp>
      <p:sp>
        <p:nvSpPr>
          <p:cNvPr id="63" name="text-27">
            <a:extLst>
              <a:ext uri="{FF2B5EF4-FFF2-40B4-BE49-F238E27FC236}">
                <a16:creationId xmlns:a16="http://schemas.microsoft.com/office/drawing/2014/main" id="{6264DFA3-60ED-4048-BE77-45EAE7C6D9ED}"/>
              </a:ext>
            </a:extLst>
          </p:cNvPr>
          <p:cNvSpPr>
            <a:spLocks noGrp="1"/>
          </p:cNvSpPr>
          <p:nvPr/>
        </p:nvSpPr>
        <p:spPr>
          <a:xfrm>
            <a:off x="5775293" y="2986088"/>
            <a:ext cx="8938641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System Input TPS = min（Prefill Compute TPS，KV Transfer TPS）</a:t>
            </a:r>
          </a:p>
        </p:txBody>
      </p:sp>
      <p:sp>
        <p:nvSpPr>
          <p:cNvPr id="64" name="text-28">
            <a:extLst>
              <a:ext uri="{FF2B5EF4-FFF2-40B4-BE49-F238E27FC236}">
                <a16:creationId xmlns:a16="http://schemas.microsoft.com/office/drawing/2014/main" id="{6A09BCD4-6D32-4CC0-B066-8FCFC13836D3}"/>
              </a:ext>
            </a:extLst>
          </p:cNvPr>
          <p:cNvSpPr>
            <a:spLocks noGrp="1"/>
          </p:cNvSpPr>
          <p:nvPr/>
        </p:nvSpPr>
        <p:spPr>
          <a:xfrm>
            <a:off x="1076325" y="3805238"/>
            <a:ext cx="387648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00" b="1" i="0" noProof="1">
                <a:solidFill>
                  <a:srgbClr val="2C37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00" b="1" i="0" noProof="1">
                <a:solidFill>
                  <a:srgbClr val="2C37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00" b="1" i="0" noProof="1">
                <a:solidFill>
                  <a:srgbClr val="2C374B"/>
                </a:solidFill>
                <a:latin typeface="PingFang SC"/>
                <a:ea typeface="PingFang SC"/>
                <a:cs typeface="Arial"/>
              </a:rPr>
              <a:t>Kimi K2.6 · 8K Input · 24 卡 Prefill</a:t>
            </a:r>
          </a:p>
        </p:txBody>
      </p:sp>
      <p:sp>
        <p:nvSpPr>
          <p:cNvPr id="65" name="text-29">
            <a:extLst>
              <a:ext uri="{FF2B5EF4-FFF2-40B4-BE49-F238E27FC236}">
                <a16:creationId xmlns:a16="http://schemas.microsoft.com/office/drawing/2014/main" id="{3B53AC77-FDCE-4FE3-9312-FE8DDBCD3DE9}"/>
              </a:ext>
            </a:extLst>
          </p:cNvPr>
          <p:cNvSpPr>
            <a:spLocks noGrp="1"/>
          </p:cNvSpPr>
          <p:nvPr/>
        </p:nvSpPr>
        <p:spPr>
          <a:xfrm>
            <a:off x="11241310" y="3829050"/>
            <a:ext cx="166506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链路可用 Goodput</a:t>
            </a:r>
          </a:p>
        </p:txBody>
      </p:sp>
      <p:sp>
        <p:nvSpPr>
          <p:cNvPr id="66" name="text-30">
            <a:extLst>
              <a:ext uri="{FF2B5EF4-FFF2-40B4-BE49-F238E27FC236}">
                <a16:creationId xmlns:a16="http://schemas.microsoft.com/office/drawing/2014/main" id="{BAAB946E-7EEC-46FF-880D-81C8AA41D76C}"/>
              </a:ext>
            </a:extLst>
          </p:cNvPr>
          <p:cNvSpPr>
            <a:spLocks noGrp="1"/>
          </p:cNvSpPr>
          <p:nvPr/>
        </p:nvSpPr>
        <p:spPr>
          <a:xfrm>
            <a:off x="13963650" y="3886200"/>
            <a:ext cx="1640491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6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PIPELINE OVERLAP</a:t>
            </a:r>
          </a:p>
        </p:txBody>
      </p:sp>
      <p:sp>
        <p:nvSpPr>
          <p:cNvPr id="67" name="text-31">
            <a:extLst>
              <a:ext uri="{FF2B5EF4-FFF2-40B4-BE49-F238E27FC236}">
                <a16:creationId xmlns:a16="http://schemas.microsoft.com/office/drawing/2014/main" id="{F8C7D6BD-E6BA-4148-AF38-E7333FB89D8B}"/>
              </a:ext>
            </a:extLst>
          </p:cNvPr>
          <p:cNvSpPr>
            <a:spLocks noGrp="1"/>
          </p:cNvSpPr>
          <p:nvPr/>
        </p:nvSpPr>
        <p:spPr>
          <a:xfrm>
            <a:off x="13963650" y="4124325"/>
            <a:ext cx="2219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rPr>
              <a:t>计算与传输流水重叠</a:t>
            </a:r>
          </a:p>
        </p:txBody>
      </p:sp>
      <p:sp>
        <p:nvSpPr>
          <p:cNvPr id="68" name="text-32">
            <a:extLst>
              <a:ext uri="{FF2B5EF4-FFF2-40B4-BE49-F238E27FC236}">
                <a16:creationId xmlns:a16="http://schemas.microsoft.com/office/drawing/2014/main" id="{B8C36679-2494-43F1-8538-5F42CB9BAFCC}"/>
              </a:ext>
            </a:extLst>
          </p:cNvPr>
          <p:cNvSpPr>
            <a:spLocks noGrp="1"/>
          </p:cNvSpPr>
          <p:nvPr/>
        </p:nvSpPr>
        <p:spPr>
          <a:xfrm>
            <a:off x="13963650" y="4485989"/>
            <a:ext cx="234972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Chunk 计算与 KV 传输重叠，</a:t>
            </a:r>
          </a:p>
        </p:txBody>
      </p:sp>
      <p:sp>
        <p:nvSpPr>
          <p:cNvPr id="69" name="text-33">
            <a:extLst>
              <a:ext uri="{FF2B5EF4-FFF2-40B4-BE49-F238E27FC236}">
                <a16:creationId xmlns:a16="http://schemas.microsoft.com/office/drawing/2014/main" id="{1D3AA775-CE7C-4E1B-8B8F-13EB20D56985}"/>
              </a:ext>
            </a:extLst>
          </p:cNvPr>
          <p:cNvSpPr>
            <a:spLocks noGrp="1"/>
          </p:cNvSpPr>
          <p:nvPr/>
        </p:nvSpPr>
        <p:spPr>
          <a:xfrm>
            <a:off x="13963650" y="4729353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端到端时间并非两者简单相加。</a:t>
            </a:r>
          </a:p>
        </p:txBody>
      </p:sp>
      <p:sp>
        <p:nvSpPr>
          <p:cNvPr id="70" name="text-34">
            <a:extLst>
              <a:ext uri="{FF2B5EF4-FFF2-40B4-BE49-F238E27FC236}">
                <a16:creationId xmlns:a16="http://schemas.microsoft.com/office/drawing/2014/main" id="{D2E0397E-AB64-4468-B222-E5CA8A953674}"/>
              </a:ext>
            </a:extLst>
          </p:cNvPr>
          <p:cNvSpPr>
            <a:spLocks noGrp="1"/>
          </p:cNvSpPr>
          <p:nvPr/>
        </p:nvSpPr>
        <p:spPr>
          <a:xfrm>
            <a:off x="13963650" y="5438775"/>
            <a:ext cx="1671828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6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60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60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NETWORK-LIMITED</a:t>
            </a:r>
          </a:p>
        </p:txBody>
      </p:sp>
      <p:sp>
        <p:nvSpPr>
          <p:cNvPr id="71" name="text-35">
            <a:extLst>
              <a:ext uri="{FF2B5EF4-FFF2-40B4-BE49-F238E27FC236}">
                <a16:creationId xmlns:a16="http://schemas.microsoft.com/office/drawing/2014/main" id="{75B7480D-50A1-4B7B-B8B1-3A02842990EC}"/>
              </a:ext>
            </a:extLst>
          </p:cNvPr>
          <p:cNvSpPr>
            <a:spLocks noGrp="1"/>
          </p:cNvSpPr>
          <p:nvPr/>
        </p:nvSpPr>
        <p:spPr>
          <a:xfrm>
            <a:off x="13963650" y="5676900"/>
            <a:ext cx="2695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rPr>
              <a:t>受限网络下接近传输上限</a:t>
            </a:r>
          </a:p>
        </p:txBody>
      </p:sp>
      <p:sp>
        <p:nvSpPr>
          <p:cNvPr id="72" name="text-36">
            <a:extLst>
              <a:ext uri="{FF2B5EF4-FFF2-40B4-BE49-F238E27FC236}">
                <a16:creationId xmlns:a16="http://schemas.microsoft.com/office/drawing/2014/main" id="{53192314-D973-43E5-880A-DB8D420C31AE}"/>
              </a:ext>
            </a:extLst>
          </p:cNvPr>
          <p:cNvSpPr>
            <a:spLocks noGrp="1"/>
          </p:cNvSpPr>
          <p:nvPr/>
        </p:nvSpPr>
        <p:spPr>
          <a:xfrm>
            <a:off x="13963650" y="6038564"/>
            <a:ext cx="208388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可用 Goodput · 18.8Gb/s</a:t>
            </a:r>
          </a:p>
        </p:txBody>
      </p:sp>
      <p:sp>
        <p:nvSpPr>
          <p:cNvPr id="73" name="text-37">
            <a:extLst>
              <a:ext uri="{FF2B5EF4-FFF2-40B4-BE49-F238E27FC236}">
                <a16:creationId xmlns:a16="http://schemas.microsoft.com/office/drawing/2014/main" id="{BE59B138-0522-4A1D-913E-F216286C36F4}"/>
              </a:ext>
            </a:extLst>
          </p:cNvPr>
          <p:cNvSpPr>
            <a:spLocks noGrp="1"/>
          </p:cNvSpPr>
          <p:nvPr/>
        </p:nvSpPr>
        <p:spPr>
          <a:xfrm>
            <a:off x="13963650" y="6281928"/>
            <a:ext cx="22666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换算上限 · 33.4K Input TPS</a:t>
            </a:r>
          </a:p>
        </p:txBody>
      </p:sp>
      <p:sp>
        <p:nvSpPr>
          <p:cNvPr id="74" name="text-38">
            <a:extLst>
              <a:ext uri="{FF2B5EF4-FFF2-40B4-BE49-F238E27FC236}">
                <a16:creationId xmlns:a16="http://schemas.microsoft.com/office/drawing/2014/main" id="{B5C3230D-F5C3-4533-A652-859F6E8A9C1A}"/>
              </a:ext>
            </a:extLst>
          </p:cNvPr>
          <p:cNvSpPr>
            <a:spLocks noGrp="1"/>
          </p:cNvSpPr>
          <p:nvPr/>
        </p:nvSpPr>
        <p:spPr>
          <a:xfrm>
            <a:off x="13963650" y="6594539"/>
            <a:ext cx="239048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B5650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B5650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B56500"/>
                </a:solidFill>
                <a:latin typeface="PingFang SC"/>
                <a:ea typeface="PingFang SC"/>
                <a:cs typeface="Arial"/>
              </a:rPr>
              <a:t>8K 实测 29.7K · 上限的 88.9%</a:t>
            </a:r>
          </a:p>
        </p:txBody>
      </p:sp>
      <p:sp>
        <p:nvSpPr>
          <p:cNvPr id="75" name="text-39">
            <a:extLst>
              <a:ext uri="{FF2B5EF4-FFF2-40B4-BE49-F238E27FC236}">
                <a16:creationId xmlns:a16="http://schemas.microsoft.com/office/drawing/2014/main" id="{3B5C3395-C6E5-4ABD-8014-F2CCBE8866B0}"/>
              </a:ext>
            </a:extLst>
          </p:cNvPr>
          <p:cNvSpPr>
            <a:spLocks noGrp="1"/>
          </p:cNvSpPr>
          <p:nvPr/>
        </p:nvSpPr>
        <p:spPr>
          <a:xfrm>
            <a:off x="13963650" y="7648575"/>
            <a:ext cx="1787557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60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COMPUTE CAPACITY</a:t>
            </a:r>
          </a:p>
        </p:txBody>
      </p:sp>
      <p:sp>
        <p:nvSpPr>
          <p:cNvPr id="76" name="text-40">
            <a:extLst>
              <a:ext uri="{FF2B5EF4-FFF2-40B4-BE49-F238E27FC236}">
                <a16:creationId xmlns:a16="http://schemas.microsoft.com/office/drawing/2014/main" id="{356F9A57-C2C4-47A7-8E76-F8EE1C3F86F5}"/>
              </a:ext>
            </a:extLst>
          </p:cNvPr>
          <p:cNvSpPr>
            <a:spLocks noGrp="1"/>
          </p:cNvSpPr>
          <p:nvPr/>
        </p:nvSpPr>
        <p:spPr>
          <a:xfrm>
            <a:off x="13963650" y="788670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2D384B"/>
                </a:solidFill>
                <a:latin typeface="PingFang SC"/>
                <a:ea typeface="PingFang SC"/>
                <a:cs typeface="Arial"/>
              </a:rPr>
              <a:t>网络不受限时接近计算产能</a:t>
            </a:r>
          </a:p>
        </p:txBody>
      </p:sp>
      <p:sp>
        <p:nvSpPr>
          <p:cNvPr id="77" name="text-41">
            <a:extLst>
              <a:ext uri="{FF2B5EF4-FFF2-40B4-BE49-F238E27FC236}">
                <a16:creationId xmlns:a16="http://schemas.microsoft.com/office/drawing/2014/main" id="{65B59E50-01D8-4D64-988B-ECDDDAE97248}"/>
              </a:ext>
            </a:extLst>
          </p:cNvPr>
          <p:cNvSpPr>
            <a:spLocks noGrp="1"/>
          </p:cNvSpPr>
          <p:nvPr/>
        </p:nvSpPr>
        <p:spPr>
          <a:xfrm>
            <a:off x="13963650" y="8248364"/>
            <a:ext cx="223075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8K 实测 49.5K Input TPS。</a:t>
            </a:r>
          </a:p>
        </p:txBody>
      </p:sp>
      <p:sp>
        <p:nvSpPr>
          <p:cNvPr id="78" name="text-42">
            <a:extLst>
              <a:ext uri="{FF2B5EF4-FFF2-40B4-BE49-F238E27FC236}">
                <a16:creationId xmlns:a16="http://schemas.microsoft.com/office/drawing/2014/main" id="{90CC74BB-B7D7-4CB0-8163-8D80B927A486}"/>
              </a:ext>
            </a:extLst>
          </p:cNvPr>
          <p:cNvSpPr>
            <a:spLocks noGrp="1"/>
          </p:cNvSpPr>
          <p:nvPr/>
        </p:nvSpPr>
        <p:spPr>
          <a:xfrm>
            <a:off x="13963650" y="8491728"/>
            <a:ext cx="275253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65738A"/>
                </a:solidFill>
                <a:latin typeface="PingFang SC"/>
                <a:ea typeface="PingFang SC"/>
                <a:cs typeface="Arial"/>
              </a:rPr>
              <a:t>同构计算参考：53.8K Input TPS。</a:t>
            </a:r>
          </a:p>
        </p:txBody>
      </p:sp>
      <p:sp>
        <p:nvSpPr>
          <p:cNvPr id="79" name="text-43">
            <a:extLst>
              <a:ext uri="{FF2B5EF4-FFF2-40B4-BE49-F238E27FC236}">
                <a16:creationId xmlns:a16="http://schemas.microsoft.com/office/drawing/2014/main" id="{F4AAA424-6F9D-4318-9A91-97AB4D931800}"/>
              </a:ext>
            </a:extLst>
          </p:cNvPr>
          <p:cNvSpPr>
            <a:spLocks noGrp="1"/>
          </p:cNvSpPr>
          <p:nvPr/>
        </p:nvSpPr>
        <p:spPr>
          <a:xfrm>
            <a:off x="771525" y="9560719"/>
            <a:ext cx="6777323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Kimi K2.6 · 8K Input · 异构实测与同构计算参考。两组为独立实验，统计口径有差异。</a:t>
            </a:r>
          </a:p>
        </p:txBody>
      </p:sp>
      <p:sp>
        <p:nvSpPr>
          <p:cNvPr id="80" name="text-44">
            <a:extLst>
              <a:ext uri="{FF2B5EF4-FFF2-40B4-BE49-F238E27FC236}">
                <a16:creationId xmlns:a16="http://schemas.microsoft.com/office/drawing/2014/main" id="{D0BF3DBE-BC37-45B6-A911-A8A9DF63F247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5839587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横轴为链路可用 Goodput；90.95Gb/s 来自链路测速，并非压测期间的 KV 流量。</a:t>
            </a:r>
          </a:p>
        </p:txBody>
      </p:sp>
      <p:sp>
        <p:nvSpPr>
          <p:cNvPr id="81" name="text-45">
            <a:extLst>
              <a:ext uri="{FF2B5EF4-FFF2-40B4-BE49-F238E27FC236}">
                <a16:creationId xmlns:a16="http://schemas.microsoft.com/office/drawing/2014/main" id="{AA688448-0C18-49BA-AA45-43979F30FE14}"/>
              </a:ext>
            </a:extLst>
          </p:cNvPr>
          <p:cNvSpPr>
            <a:spLocks noGrp="1"/>
          </p:cNvSpPr>
          <p:nvPr/>
        </p:nvSpPr>
        <p:spPr>
          <a:xfrm>
            <a:off x="16928497" y="9848850"/>
            <a:ext cx="65465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41 / 43</a:t>
            </a:r>
          </a:p>
        </p:txBody>
      </p:sp>
    </p:spTree>
    <p:extLst>
      <p:ext uri="{BB962C8B-B14F-4D97-AF65-F5344CB8AC3E}">
        <p14:creationId xmlns:p14="http://schemas.microsoft.com/office/powerpoint/2010/main" val="4048588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html-shape-12">
            <a:extLst>
              <a:ext uri="{FF2B5EF4-FFF2-40B4-BE49-F238E27FC236}">
                <a16:creationId xmlns:a16="http://schemas.microsoft.com/office/drawing/2014/main" id="{18C7C0B8-3302-43B4-99D8-3ECCCF10E308}"/>
              </a:ext>
            </a:extLst>
          </p:cNvPr>
          <p:cNvSpPr>
            <a:spLocks noGrp="1"/>
          </p:cNvSpPr>
          <p:nvPr/>
        </p:nvSpPr>
        <p:spPr>
          <a:xfrm>
            <a:off x="857250" y="3067050"/>
            <a:ext cx="12382500" cy="542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B"/>
            </a:solidFill>
            <a:prstDash val="solid"/>
          </a:ln>
        </p:spPr>
      </p:sp>
      <p:sp>
        <p:nvSpPr>
          <p:cNvPr id="2" name="html-shape-13">
            <a:extLst>
              <a:ext uri="{FF2B5EF4-FFF2-40B4-BE49-F238E27FC236}">
                <a16:creationId xmlns:a16="http://schemas.microsoft.com/office/drawing/2014/main" id="{4A5E288D-B6F8-4BEE-BCAE-D722F2C00F8A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12344400" cy="685800"/>
          </a:xfrm>
          <a:prstGeom prst="rect">
            <a:avLst/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3" name="html-shape-15">
            <a:extLst>
              <a:ext uri="{FF2B5EF4-FFF2-40B4-BE49-F238E27FC236}">
                <a16:creationId xmlns:a16="http://schemas.microsoft.com/office/drawing/2014/main" id="{CDB957D5-D4D6-46B0-9F88-CF1838158AFE}"/>
              </a:ext>
            </a:extLst>
          </p:cNvPr>
          <p:cNvSpPr>
            <a:spLocks noGrp="1"/>
          </p:cNvSpPr>
          <p:nvPr/>
        </p:nvSpPr>
        <p:spPr>
          <a:xfrm>
            <a:off x="13716000" y="3067050"/>
            <a:ext cx="3714750" cy="5429250"/>
          </a:xfrm>
          <a:prstGeom prst="rect">
            <a:avLst/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4" name="html-shape-25">
            <a:extLst>
              <a:ext uri="{FF2B5EF4-FFF2-40B4-BE49-F238E27FC236}">
                <a16:creationId xmlns:a16="http://schemas.microsoft.com/office/drawing/2014/main" id="{276BC3C0-002E-4756-B24F-FB71B0CFD393}"/>
              </a:ext>
            </a:extLst>
          </p:cNvPr>
          <p:cNvSpPr>
            <a:spLocks noGrp="1"/>
          </p:cNvSpPr>
          <p:nvPr/>
        </p:nvSpPr>
        <p:spPr>
          <a:xfrm>
            <a:off x="1600200" y="8872538"/>
            <a:ext cx="15087600" cy="8001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 w="0">
            <a:noFill/>
            <a:prstDash val="solid"/>
          </a:ln>
        </p:spPr>
      </p:sp>
      <p:sp>
        <p:nvSpPr>
          <p:cNvPr id="5" name="svg-line-1">
            <a:extLst>
              <a:ext uri="{FF2B5EF4-FFF2-40B4-BE49-F238E27FC236}">
                <a16:creationId xmlns:a16="http://schemas.microsoft.com/office/drawing/2014/main" id="{00554C70-F9ED-4682-88F2-F70EE297E114}"/>
              </a:ext>
            </a:extLst>
          </p:cNvPr>
          <p:cNvSpPr>
            <a:spLocks noGrp="1"/>
          </p:cNvSpPr>
          <p:nvPr/>
        </p:nvSpPr>
        <p:spPr>
          <a:xfrm>
            <a:off x="1802511" y="7676293"/>
            <a:ext cx="10752201" cy="4763"/>
          </a:xfrm>
          <a:prstGeom prst="line">
            <a:avLst/>
          </a:prstGeom>
          <a:noFill/>
          <a:ln w="13335">
            <a:solidFill>
              <a:srgbClr val="DFE4EE"/>
            </a:solidFill>
            <a:prstDash val="solid"/>
          </a:ln>
        </p:spPr>
      </p:sp>
      <p:sp>
        <p:nvSpPr>
          <p:cNvPr id="6" name="svg-line-2">
            <a:extLst>
              <a:ext uri="{FF2B5EF4-FFF2-40B4-BE49-F238E27FC236}">
                <a16:creationId xmlns:a16="http://schemas.microsoft.com/office/drawing/2014/main" id="{F38E3872-D90A-478F-BE6B-DFBD9CEC5D09}"/>
              </a:ext>
            </a:extLst>
          </p:cNvPr>
          <p:cNvSpPr>
            <a:spLocks noGrp="1"/>
          </p:cNvSpPr>
          <p:nvPr/>
        </p:nvSpPr>
        <p:spPr>
          <a:xfrm>
            <a:off x="1802511" y="6875431"/>
            <a:ext cx="10752201" cy="4763"/>
          </a:xfrm>
          <a:prstGeom prst="line">
            <a:avLst/>
          </a:prstGeom>
          <a:noFill/>
          <a:ln w="13335">
            <a:solidFill>
              <a:srgbClr val="DFE4EE"/>
            </a:solidFill>
            <a:prstDash val="solid"/>
          </a:ln>
        </p:spPr>
      </p:sp>
      <p:sp>
        <p:nvSpPr>
          <p:cNvPr id="7" name="svg-line-3">
            <a:extLst>
              <a:ext uri="{FF2B5EF4-FFF2-40B4-BE49-F238E27FC236}">
                <a16:creationId xmlns:a16="http://schemas.microsoft.com/office/drawing/2014/main" id="{5A1F2FAB-A32E-459F-B14D-E25A63E38CCF}"/>
              </a:ext>
            </a:extLst>
          </p:cNvPr>
          <p:cNvSpPr>
            <a:spLocks noGrp="1"/>
          </p:cNvSpPr>
          <p:nvPr/>
        </p:nvSpPr>
        <p:spPr>
          <a:xfrm>
            <a:off x="1802511" y="6074474"/>
            <a:ext cx="10752201" cy="4763"/>
          </a:xfrm>
          <a:prstGeom prst="line">
            <a:avLst/>
          </a:prstGeom>
          <a:noFill/>
          <a:ln w="13335">
            <a:solidFill>
              <a:srgbClr val="DFE4EE"/>
            </a:solidFill>
            <a:prstDash val="solid"/>
          </a:ln>
        </p:spPr>
      </p:sp>
      <p:sp>
        <p:nvSpPr>
          <p:cNvPr id="8" name="svg-line-4">
            <a:extLst>
              <a:ext uri="{FF2B5EF4-FFF2-40B4-BE49-F238E27FC236}">
                <a16:creationId xmlns:a16="http://schemas.microsoft.com/office/drawing/2014/main" id="{FAD7350E-8507-42E0-B3C5-64BD0901523E}"/>
              </a:ext>
            </a:extLst>
          </p:cNvPr>
          <p:cNvSpPr>
            <a:spLocks noGrp="1"/>
          </p:cNvSpPr>
          <p:nvPr/>
        </p:nvSpPr>
        <p:spPr>
          <a:xfrm>
            <a:off x="1802511" y="5273612"/>
            <a:ext cx="10752201" cy="4763"/>
          </a:xfrm>
          <a:prstGeom prst="line">
            <a:avLst/>
          </a:prstGeom>
          <a:noFill/>
          <a:ln w="13335">
            <a:solidFill>
              <a:srgbClr val="DFE4EE"/>
            </a:solidFill>
            <a:prstDash val="solid"/>
          </a:ln>
        </p:spPr>
      </p:sp>
      <p:sp>
        <p:nvSpPr>
          <p:cNvPr id="9" name="svg-line-5">
            <a:extLst>
              <a:ext uri="{FF2B5EF4-FFF2-40B4-BE49-F238E27FC236}">
                <a16:creationId xmlns:a16="http://schemas.microsoft.com/office/drawing/2014/main" id="{9AD4B341-1194-4B23-9009-E6F81FF166D2}"/>
              </a:ext>
            </a:extLst>
          </p:cNvPr>
          <p:cNvSpPr>
            <a:spLocks noGrp="1"/>
          </p:cNvSpPr>
          <p:nvPr/>
        </p:nvSpPr>
        <p:spPr>
          <a:xfrm>
            <a:off x="1802511" y="4472654"/>
            <a:ext cx="10752201" cy="4763"/>
          </a:xfrm>
          <a:prstGeom prst="line">
            <a:avLst/>
          </a:prstGeom>
          <a:noFill/>
          <a:ln w="13335">
            <a:solidFill>
              <a:srgbClr val="DFE4EE"/>
            </a:solidFill>
            <a:prstDash val="solid"/>
          </a:ln>
        </p:spPr>
      </p:sp>
      <p:sp>
        <p:nvSpPr>
          <p:cNvPr id="10" name="svg-line-6">
            <a:extLst>
              <a:ext uri="{FF2B5EF4-FFF2-40B4-BE49-F238E27FC236}">
                <a16:creationId xmlns:a16="http://schemas.microsoft.com/office/drawing/2014/main" id="{37D6C1B6-BB75-4B34-BEC5-0DD0C0C2A081}"/>
              </a:ext>
            </a:extLst>
          </p:cNvPr>
          <p:cNvSpPr>
            <a:spLocks noGrp="1"/>
          </p:cNvSpPr>
          <p:nvPr/>
        </p:nvSpPr>
        <p:spPr>
          <a:xfrm>
            <a:off x="1802511" y="4472654"/>
            <a:ext cx="4763" cy="3203638"/>
          </a:xfrm>
          <a:prstGeom prst="line">
            <a:avLst/>
          </a:prstGeom>
          <a:noFill/>
          <a:ln w="13335">
            <a:solidFill>
              <a:srgbClr val="DFE4EE"/>
            </a:solidFill>
            <a:prstDash val="solid"/>
          </a:ln>
        </p:spPr>
      </p:sp>
      <p:sp>
        <p:nvSpPr>
          <p:cNvPr id="11" name="svg-segment-7">
            <a:extLst>
              <a:ext uri="{FF2B5EF4-FFF2-40B4-BE49-F238E27FC236}">
                <a16:creationId xmlns:a16="http://schemas.microsoft.com/office/drawing/2014/main" id="{78469E92-8C17-4F00-9237-8CFAEC565DC7}"/>
              </a:ext>
            </a:extLst>
          </p:cNvPr>
          <p:cNvSpPr>
            <a:spLocks noGrp="1"/>
          </p:cNvSpPr>
          <p:nvPr/>
        </p:nvSpPr>
        <p:spPr>
          <a:xfrm>
            <a:off x="1842611" y="6144578"/>
            <a:ext cx="4174712" cy="4763"/>
          </a:xfrm>
          <a:prstGeom prst="line">
            <a:avLst/>
          </a:prstGeom>
          <a:noFill/>
          <a:ln w="47625">
            <a:solidFill>
              <a:srgbClr val="642AF0"/>
            </a:solidFill>
            <a:prstDash val="solid"/>
          </a:ln>
        </p:spPr>
      </p:sp>
      <p:sp>
        <p:nvSpPr>
          <p:cNvPr id="12" name="svg-segment-8">
            <a:extLst>
              <a:ext uri="{FF2B5EF4-FFF2-40B4-BE49-F238E27FC236}">
                <a16:creationId xmlns:a16="http://schemas.microsoft.com/office/drawing/2014/main" id="{A690588A-B2CA-4D60-8AF1-0599A818DF15}"/>
              </a:ext>
            </a:extLst>
          </p:cNvPr>
          <p:cNvSpPr>
            <a:spLocks noGrp="1"/>
          </p:cNvSpPr>
          <p:nvPr/>
        </p:nvSpPr>
        <p:spPr>
          <a:xfrm>
            <a:off x="6017324" y="6144578"/>
            <a:ext cx="2092357" cy="1061180"/>
          </a:xfrm>
          <a:prstGeom prst="line">
            <a:avLst/>
          </a:prstGeom>
          <a:noFill/>
          <a:ln w="47625">
            <a:solidFill>
              <a:srgbClr val="642AF0"/>
            </a:solidFill>
            <a:prstDash val="solid"/>
          </a:ln>
        </p:spPr>
      </p:sp>
      <p:sp>
        <p:nvSpPr>
          <p:cNvPr id="13" name="svg-segment-9">
            <a:extLst>
              <a:ext uri="{FF2B5EF4-FFF2-40B4-BE49-F238E27FC236}">
                <a16:creationId xmlns:a16="http://schemas.microsoft.com/office/drawing/2014/main" id="{13FBFB81-589F-4460-84ED-B1C163036D39}"/>
              </a:ext>
            </a:extLst>
          </p:cNvPr>
          <p:cNvSpPr>
            <a:spLocks noGrp="1"/>
          </p:cNvSpPr>
          <p:nvPr/>
        </p:nvSpPr>
        <p:spPr>
          <a:xfrm>
            <a:off x="8109680" y="4472654"/>
            <a:ext cx="2092357" cy="2733104"/>
          </a:xfrm>
          <a:custGeom>
            <a:avLst/>
            <a:gdLst/>
            <a:ahLst/>
            <a:cxnLst/>
            <a:rect l="0" t="0" r="0" b="0"/>
            <a:pathLst>
              <a:path w="2092379" h="2733108">
                <a:moveTo>
                  <a:pt x="0" y="2733108"/>
                </a:moveTo>
                <a:lnTo>
                  <a:pt x="2092379" y="0"/>
                </a:lnTo>
              </a:path>
            </a:pathLst>
          </a:custGeom>
          <a:noFill/>
          <a:ln w="47625">
            <a:solidFill>
              <a:srgbClr val="642AF0"/>
            </a:solidFill>
            <a:prstDash val="solid"/>
          </a:ln>
        </p:spPr>
      </p:sp>
      <p:sp>
        <p:nvSpPr>
          <p:cNvPr id="14" name="svg-segment-10">
            <a:extLst>
              <a:ext uri="{FF2B5EF4-FFF2-40B4-BE49-F238E27FC236}">
                <a16:creationId xmlns:a16="http://schemas.microsoft.com/office/drawing/2014/main" id="{8C30297E-C3BD-4832-8D64-3317AFB3451E}"/>
              </a:ext>
            </a:extLst>
          </p:cNvPr>
          <p:cNvSpPr>
            <a:spLocks noGrp="1"/>
          </p:cNvSpPr>
          <p:nvPr/>
        </p:nvSpPr>
        <p:spPr>
          <a:xfrm>
            <a:off x="5496782" y="6805327"/>
            <a:ext cx="3133535" cy="4763"/>
          </a:xfrm>
          <a:prstGeom prst="line">
            <a:avLst/>
          </a:prstGeom>
          <a:noFill/>
          <a:ln w="47625">
            <a:solidFill>
              <a:srgbClr val="0A9A62"/>
            </a:solidFill>
            <a:prstDash val="solid"/>
          </a:ln>
        </p:spPr>
      </p:sp>
      <p:sp>
        <p:nvSpPr>
          <p:cNvPr id="15" name="svg-segment-11">
            <a:extLst>
              <a:ext uri="{FF2B5EF4-FFF2-40B4-BE49-F238E27FC236}">
                <a16:creationId xmlns:a16="http://schemas.microsoft.com/office/drawing/2014/main" id="{03E88D09-AE5D-4227-B357-4C1FCE697ED5}"/>
              </a:ext>
            </a:extLst>
          </p:cNvPr>
          <p:cNvSpPr>
            <a:spLocks noGrp="1"/>
          </p:cNvSpPr>
          <p:nvPr/>
        </p:nvSpPr>
        <p:spPr>
          <a:xfrm>
            <a:off x="8630317" y="6805327"/>
            <a:ext cx="1571816" cy="4763"/>
          </a:xfrm>
          <a:prstGeom prst="line">
            <a:avLst/>
          </a:prstGeom>
          <a:noFill/>
          <a:ln w="47625">
            <a:solidFill>
              <a:srgbClr val="0A9A62"/>
            </a:solidFill>
            <a:prstDash val="solid"/>
          </a:ln>
        </p:spPr>
      </p:sp>
      <p:sp>
        <p:nvSpPr>
          <p:cNvPr id="16" name="svg-segment-12">
            <a:extLst>
              <a:ext uri="{FF2B5EF4-FFF2-40B4-BE49-F238E27FC236}">
                <a16:creationId xmlns:a16="http://schemas.microsoft.com/office/drawing/2014/main" id="{FC04B935-2EB8-4B27-B112-BDDD070D84CD}"/>
              </a:ext>
            </a:extLst>
          </p:cNvPr>
          <p:cNvSpPr>
            <a:spLocks noGrp="1"/>
          </p:cNvSpPr>
          <p:nvPr/>
        </p:nvSpPr>
        <p:spPr>
          <a:xfrm>
            <a:off x="10202132" y="5053394"/>
            <a:ext cx="1561814" cy="1752029"/>
          </a:xfrm>
          <a:custGeom>
            <a:avLst/>
            <a:gdLst/>
            <a:ahLst/>
            <a:cxnLst/>
            <a:rect l="0" t="0" r="0" b="0"/>
            <a:pathLst>
              <a:path w="1561776" h="1751992">
                <a:moveTo>
                  <a:pt x="0" y="1751992"/>
                </a:moveTo>
                <a:lnTo>
                  <a:pt x="1561776" y="0"/>
                </a:lnTo>
              </a:path>
            </a:pathLst>
          </a:custGeom>
          <a:noFill/>
          <a:ln w="47625">
            <a:solidFill>
              <a:srgbClr val="0A9A62"/>
            </a:solidFill>
            <a:prstDash val="solid"/>
          </a:ln>
        </p:spPr>
      </p:sp>
      <p:sp>
        <p:nvSpPr>
          <p:cNvPr id="17" name="svg-segment-13">
            <a:extLst>
              <a:ext uri="{FF2B5EF4-FFF2-40B4-BE49-F238E27FC236}">
                <a16:creationId xmlns:a16="http://schemas.microsoft.com/office/drawing/2014/main" id="{364F34CE-3C77-490A-AF8F-58EA0E54FCEC}"/>
              </a:ext>
            </a:extLst>
          </p:cNvPr>
          <p:cNvSpPr>
            <a:spLocks noGrp="1"/>
          </p:cNvSpPr>
          <p:nvPr/>
        </p:nvSpPr>
        <p:spPr>
          <a:xfrm>
            <a:off x="9150858" y="7355967"/>
            <a:ext cx="1051179" cy="4763"/>
          </a:xfrm>
          <a:prstGeom prst="line">
            <a:avLst/>
          </a:prstGeom>
          <a:noFill/>
          <a:ln w="47625">
            <a:solidFill>
              <a:srgbClr val="315FD5"/>
            </a:solidFill>
            <a:prstDash val="solid"/>
          </a:ln>
        </p:spPr>
      </p:sp>
      <p:sp>
        <p:nvSpPr>
          <p:cNvPr id="18" name="svg-segment-14">
            <a:extLst>
              <a:ext uri="{FF2B5EF4-FFF2-40B4-BE49-F238E27FC236}">
                <a16:creationId xmlns:a16="http://schemas.microsoft.com/office/drawing/2014/main" id="{A0C6851B-DC7B-46D4-BD5E-AAB15950CC71}"/>
              </a:ext>
            </a:extLst>
          </p:cNvPr>
          <p:cNvSpPr>
            <a:spLocks noGrp="1"/>
          </p:cNvSpPr>
          <p:nvPr/>
        </p:nvSpPr>
        <p:spPr>
          <a:xfrm>
            <a:off x="10202132" y="7355967"/>
            <a:ext cx="1041178" cy="30004"/>
          </a:xfrm>
          <a:prstGeom prst="line">
            <a:avLst/>
          </a:prstGeom>
          <a:noFill/>
          <a:ln w="47625">
            <a:solidFill>
              <a:srgbClr val="315FD5"/>
            </a:solidFill>
            <a:prstDash val="solid"/>
          </a:ln>
        </p:spPr>
      </p:sp>
      <p:sp>
        <p:nvSpPr>
          <p:cNvPr id="19" name="svg-line-15">
            <a:extLst>
              <a:ext uri="{FF2B5EF4-FFF2-40B4-BE49-F238E27FC236}">
                <a16:creationId xmlns:a16="http://schemas.microsoft.com/office/drawing/2014/main" id="{E0A312B5-4AC6-4976-A210-4C6B4E6F1721}"/>
              </a:ext>
            </a:extLst>
          </p:cNvPr>
          <p:cNvSpPr>
            <a:spLocks noGrp="1"/>
          </p:cNvSpPr>
          <p:nvPr/>
        </p:nvSpPr>
        <p:spPr>
          <a:xfrm>
            <a:off x="1842611" y="4012216"/>
            <a:ext cx="420434" cy="4763"/>
          </a:xfrm>
          <a:prstGeom prst="line">
            <a:avLst/>
          </a:prstGeom>
          <a:noFill/>
          <a:ln w="47625">
            <a:solidFill>
              <a:srgbClr val="642AF0"/>
            </a:solidFill>
            <a:prstDash val="solid"/>
          </a:ln>
        </p:spPr>
      </p:sp>
      <p:sp>
        <p:nvSpPr>
          <p:cNvPr id="20" name="svg-line-16">
            <a:extLst>
              <a:ext uri="{FF2B5EF4-FFF2-40B4-BE49-F238E27FC236}">
                <a16:creationId xmlns:a16="http://schemas.microsoft.com/office/drawing/2014/main" id="{9794B438-1152-4EE8-BF4C-52ED9D45BF3B}"/>
              </a:ext>
            </a:extLst>
          </p:cNvPr>
          <p:cNvSpPr>
            <a:spLocks noGrp="1"/>
          </p:cNvSpPr>
          <p:nvPr/>
        </p:nvSpPr>
        <p:spPr>
          <a:xfrm>
            <a:off x="3794760" y="4012216"/>
            <a:ext cx="420434" cy="4763"/>
          </a:xfrm>
          <a:prstGeom prst="line">
            <a:avLst/>
          </a:prstGeom>
          <a:noFill/>
          <a:ln w="47625">
            <a:solidFill>
              <a:srgbClr val="0A9A62"/>
            </a:solidFill>
            <a:prstDash val="solid"/>
          </a:ln>
        </p:spPr>
      </p:sp>
      <p:sp>
        <p:nvSpPr>
          <p:cNvPr id="21" name="svg-line-17">
            <a:extLst>
              <a:ext uri="{FF2B5EF4-FFF2-40B4-BE49-F238E27FC236}">
                <a16:creationId xmlns:a16="http://schemas.microsoft.com/office/drawing/2014/main" id="{8137FAFA-F82E-47FC-81D7-F6DC953A8DA9}"/>
              </a:ext>
            </a:extLst>
          </p:cNvPr>
          <p:cNvSpPr>
            <a:spLocks noGrp="1"/>
          </p:cNvSpPr>
          <p:nvPr/>
        </p:nvSpPr>
        <p:spPr>
          <a:xfrm>
            <a:off x="5496782" y="4012216"/>
            <a:ext cx="420434" cy="4763"/>
          </a:xfrm>
          <a:prstGeom prst="line">
            <a:avLst/>
          </a:prstGeom>
          <a:noFill/>
          <a:ln w="47625">
            <a:solidFill>
              <a:srgbClr val="315FD5"/>
            </a:solidFill>
            <a:prstDash val="solid"/>
          </a:ln>
        </p:spPr>
      </p:sp>
      <p:sp>
        <p:nvSpPr>
          <p:cNvPr id="22" name="svg-point-1">
            <a:extLst>
              <a:ext uri="{FF2B5EF4-FFF2-40B4-BE49-F238E27FC236}">
                <a16:creationId xmlns:a16="http://schemas.microsoft.com/office/drawing/2014/main" id="{F54B6AEA-6035-41DE-88CA-114BDD6E94DF}"/>
              </a:ext>
            </a:extLst>
          </p:cNvPr>
          <p:cNvSpPr>
            <a:spLocks noGrp="1"/>
          </p:cNvSpPr>
          <p:nvPr/>
        </p:nvSpPr>
        <p:spPr>
          <a:xfrm>
            <a:off x="1762506" y="6064568"/>
            <a:ext cx="160211" cy="160211"/>
          </a:xfrm>
          <a:prstGeom prst="ellipse">
            <a:avLst/>
          </a:prstGeom>
          <a:solidFill>
            <a:srgbClr val="642A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svg-point-2">
            <a:extLst>
              <a:ext uri="{FF2B5EF4-FFF2-40B4-BE49-F238E27FC236}">
                <a16:creationId xmlns:a16="http://schemas.microsoft.com/office/drawing/2014/main" id="{AA99B294-256C-4E7F-B569-D712A8E618C6}"/>
              </a:ext>
            </a:extLst>
          </p:cNvPr>
          <p:cNvSpPr>
            <a:spLocks noGrp="1"/>
          </p:cNvSpPr>
          <p:nvPr/>
        </p:nvSpPr>
        <p:spPr>
          <a:xfrm>
            <a:off x="5937218" y="6064568"/>
            <a:ext cx="160211" cy="160211"/>
          </a:xfrm>
          <a:prstGeom prst="ellipse">
            <a:avLst/>
          </a:prstGeom>
          <a:solidFill>
            <a:srgbClr val="642A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svg-point-3">
            <a:extLst>
              <a:ext uri="{FF2B5EF4-FFF2-40B4-BE49-F238E27FC236}">
                <a16:creationId xmlns:a16="http://schemas.microsoft.com/office/drawing/2014/main" id="{2B445254-1DB8-490C-85AC-62C2203392D0}"/>
              </a:ext>
            </a:extLst>
          </p:cNvPr>
          <p:cNvSpPr>
            <a:spLocks noGrp="1"/>
          </p:cNvSpPr>
          <p:nvPr/>
        </p:nvSpPr>
        <p:spPr>
          <a:xfrm>
            <a:off x="8029575" y="7125748"/>
            <a:ext cx="160211" cy="160211"/>
          </a:xfrm>
          <a:prstGeom prst="ellipse">
            <a:avLst/>
          </a:prstGeom>
          <a:solidFill>
            <a:srgbClr val="642A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svg-point-4">
            <a:extLst>
              <a:ext uri="{FF2B5EF4-FFF2-40B4-BE49-F238E27FC236}">
                <a16:creationId xmlns:a16="http://schemas.microsoft.com/office/drawing/2014/main" id="{C8FFD886-1F4B-4844-AB0F-10BDFDFD6C79}"/>
              </a:ext>
            </a:extLst>
          </p:cNvPr>
          <p:cNvSpPr>
            <a:spLocks noGrp="1"/>
          </p:cNvSpPr>
          <p:nvPr/>
        </p:nvSpPr>
        <p:spPr>
          <a:xfrm>
            <a:off x="10112026" y="4382548"/>
            <a:ext cx="180213" cy="180213"/>
          </a:xfrm>
          <a:prstGeom prst="ellipse">
            <a:avLst/>
          </a:prstGeom>
          <a:solidFill>
            <a:srgbClr val="642A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svg-point-5">
            <a:extLst>
              <a:ext uri="{FF2B5EF4-FFF2-40B4-BE49-F238E27FC236}">
                <a16:creationId xmlns:a16="http://schemas.microsoft.com/office/drawing/2014/main" id="{16421D71-83CD-47C0-BF9B-0C72A48455E9}"/>
              </a:ext>
            </a:extLst>
          </p:cNvPr>
          <p:cNvSpPr>
            <a:spLocks noGrp="1"/>
          </p:cNvSpPr>
          <p:nvPr/>
        </p:nvSpPr>
        <p:spPr>
          <a:xfrm>
            <a:off x="5416677" y="6725221"/>
            <a:ext cx="160211" cy="160211"/>
          </a:xfrm>
          <a:prstGeom prst="ellipse">
            <a:avLst/>
          </a:prstGeom>
          <a:solidFill>
            <a:srgbClr val="0A9A6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svg-point-6">
            <a:extLst>
              <a:ext uri="{FF2B5EF4-FFF2-40B4-BE49-F238E27FC236}">
                <a16:creationId xmlns:a16="http://schemas.microsoft.com/office/drawing/2014/main" id="{E85D0E48-F36E-4F74-BFA6-7F9C9960F1EE}"/>
              </a:ext>
            </a:extLst>
          </p:cNvPr>
          <p:cNvSpPr>
            <a:spLocks noGrp="1"/>
          </p:cNvSpPr>
          <p:nvPr/>
        </p:nvSpPr>
        <p:spPr>
          <a:xfrm>
            <a:off x="8550212" y="6725221"/>
            <a:ext cx="160211" cy="160211"/>
          </a:xfrm>
          <a:prstGeom prst="ellipse">
            <a:avLst/>
          </a:prstGeom>
          <a:solidFill>
            <a:srgbClr val="0A9A6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svg-point-7">
            <a:extLst>
              <a:ext uri="{FF2B5EF4-FFF2-40B4-BE49-F238E27FC236}">
                <a16:creationId xmlns:a16="http://schemas.microsoft.com/office/drawing/2014/main" id="{A5F6B860-4A13-41F7-9E40-FFF75F7E5800}"/>
              </a:ext>
            </a:extLst>
          </p:cNvPr>
          <p:cNvSpPr>
            <a:spLocks noGrp="1"/>
          </p:cNvSpPr>
          <p:nvPr/>
        </p:nvSpPr>
        <p:spPr>
          <a:xfrm>
            <a:off x="10122027" y="6725221"/>
            <a:ext cx="160211" cy="160211"/>
          </a:xfrm>
          <a:prstGeom prst="ellipse">
            <a:avLst/>
          </a:prstGeom>
          <a:solidFill>
            <a:srgbClr val="0A9A6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svg-point-8">
            <a:extLst>
              <a:ext uri="{FF2B5EF4-FFF2-40B4-BE49-F238E27FC236}">
                <a16:creationId xmlns:a16="http://schemas.microsoft.com/office/drawing/2014/main" id="{387D5616-C684-443C-96AA-BE88DC0B3A61}"/>
              </a:ext>
            </a:extLst>
          </p:cNvPr>
          <p:cNvSpPr>
            <a:spLocks noGrp="1"/>
          </p:cNvSpPr>
          <p:nvPr/>
        </p:nvSpPr>
        <p:spPr>
          <a:xfrm>
            <a:off x="11673745" y="4963287"/>
            <a:ext cx="180213" cy="180213"/>
          </a:xfrm>
          <a:prstGeom prst="ellipse">
            <a:avLst/>
          </a:prstGeom>
          <a:solidFill>
            <a:srgbClr val="0A9A6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svg-point-9">
            <a:extLst>
              <a:ext uri="{FF2B5EF4-FFF2-40B4-BE49-F238E27FC236}">
                <a16:creationId xmlns:a16="http://schemas.microsoft.com/office/drawing/2014/main" id="{19C1EEAC-FAEA-4BF5-BC64-BE20580ABFC0}"/>
              </a:ext>
            </a:extLst>
          </p:cNvPr>
          <p:cNvSpPr>
            <a:spLocks noGrp="1"/>
          </p:cNvSpPr>
          <p:nvPr/>
        </p:nvSpPr>
        <p:spPr>
          <a:xfrm>
            <a:off x="9070753" y="7275862"/>
            <a:ext cx="160211" cy="160211"/>
          </a:xfrm>
          <a:prstGeom prst="ellipse">
            <a:avLst/>
          </a:prstGeom>
          <a:solidFill>
            <a:srgbClr val="315FD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svg-point-10">
            <a:extLst>
              <a:ext uri="{FF2B5EF4-FFF2-40B4-BE49-F238E27FC236}">
                <a16:creationId xmlns:a16="http://schemas.microsoft.com/office/drawing/2014/main" id="{FD58D2D9-ABAA-45F8-9B95-7F971320A58C}"/>
              </a:ext>
            </a:extLst>
          </p:cNvPr>
          <p:cNvSpPr>
            <a:spLocks noGrp="1"/>
          </p:cNvSpPr>
          <p:nvPr/>
        </p:nvSpPr>
        <p:spPr>
          <a:xfrm>
            <a:off x="10122027" y="7275862"/>
            <a:ext cx="160211" cy="160211"/>
          </a:xfrm>
          <a:prstGeom prst="ellipse">
            <a:avLst/>
          </a:prstGeom>
          <a:solidFill>
            <a:srgbClr val="315FD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svg-point-11">
            <a:extLst>
              <a:ext uri="{FF2B5EF4-FFF2-40B4-BE49-F238E27FC236}">
                <a16:creationId xmlns:a16="http://schemas.microsoft.com/office/drawing/2014/main" id="{0544AED8-843D-4EB1-ACF6-2BCEFEC2DCA3}"/>
              </a:ext>
            </a:extLst>
          </p:cNvPr>
          <p:cNvSpPr>
            <a:spLocks noGrp="1"/>
          </p:cNvSpPr>
          <p:nvPr/>
        </p:nvSpPr>
        <p:spPr>
          <a:xfrm>
            <a:off x="11163205" y="7305961"/>
            <a:ext cx="160211" cy="160211"/>
          </a:xfrm>
          <a:prstGeom prst="ellipse">
            <a:avLst/>
          </a:prstGeom>
          <a:solidFill>
            <a:srgbClr val="315FD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3" name="border-14">
            <a:extLst>
              <a:ext uri="{FF2B5EF4-FFF2-40B4-BE49-F238E27FC236}">
                <a16:creationId xmlns:a16="http://schemas.microsoft.com/office/drawing/2014/main" id="{AEC545EA-EA2B-4FCF-88DC-8FB7BD476F37}"/>
              </a:ext>
            </a:extLst>
          </p:cNvPr>
          <p:cNvSpPr>
            <a:spLocks noGrp="1"/>
          </p:cNvSpPr>
          <p:nvPr/>
        </p:nvSpPr>
        <p:spPr>
          <a:xfrm>
            <a:off x="876300" y="3762375"/>
            <a:ext cx="12344400" cy="9525"/>
          </a:xfrm>
          <a:prstGeom prst="rect">
            <a:avLst/>
          </a:prstGeom>
          <a:solidFill>
            <a:srgbClr val="D9DFEB"/>
          </a:solidFill>
          <a:ln w="0">
            <a:noFill/>
            <a:prstDash val="solid"/>
          </a:ln>
        </p:spPr>
      </p:sp>
      <p:sp>
        <p:nvSpPr>
          <p:cNvPr id="34" name="border-16">
            <a:extLst>
              <a:ext uri="{FF2B5EF4-FFF2-40B4-BE49-F238E27FC236}">
                <a16:creationId xmlns:a16="http://schemas.microsoft.com/office/drawing/2014/main" id="{4BA251EB-9784-4AEC-9C97-082A461E2C3F}"/>
              </a:ext>
            </a:extLst>
          </p:cNvPr>
          <p:cNvSpPr>
            <a:spLocks noGrp="1"/>
          </p:cNvSpPr>
          <p:nvPr/>
        </p:nvSpPr>
        <p:spPr>
          <a:xfrm>
            <a:off x="13716000" y="3067050"/>
            <a:ext cx="3714750" cy="762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5" name="html-shape-17">
            <a:extLst>
              <a:ext uri="{FF2B5EF4-FFF2-40B4-BE49-F238E27FC236}">
                <a16:creationId xmlns:a16="http://schemas.microsoft.com/office/drawing/2014/main" id="{8ECD1EDA-7D9B-49B4-841E-C00B6FD7EE0C}"/>
              </a:ext>
            </a:extLst>
          </p:cNvPr>
          <p:cNvSpPr>
            <a:spLocks noGrp="1"/>
          </p:cNvSpPr>
          <p:nvPr/>
        </p:nvSpPr>
        <p:spPr>
          <a:xfrm>
            <a:off x="13982700" y="5183410"/>
            <a:ext cx="3181350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border-18">
            <a:extLst>
              <a:ext uri="{FF2B5EF4-FFF2-40B4-BE49-F238E27FC236}">
                <a16:creationId xmlns:a16="http://schemas.microsoft.com/office/drawing/2014/main" id="{F0A94896-1AD9-48AA-AB01-DD309545BB49}"/>
              </a:ext>
            </a:extLst>
          </p:cNvPr>
          <p:cNvSpPr>
            <a:spLocks noGrp="1"/>
          </p:cNvSpPr>
          <p:nvPr/>
        </p:nvSpPr>
        <p:spPr>
          <a:xfrm>
            <a:off x="13982700" y="5183410"/>
            <a:ext cx="47625" cy="4953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7" name="html-shape-19">
            <a:extLst>
              <a:ext uri="{FF2B5EF4-FFF2-40B4-BE49-F238E27FC236}">
                <a16:creationId xmlns:a16="http://schemas.microsoft.com/office/drawing/2014/main" id="{919DE1C3-7917-4F59-AB4C-DEAD98BC96D5}"/>
              </a:ext>
            </a:extLst>
          </p:cNvPr>
          <p:cNvSpPr>
            <a:spLocks noGrp="1"/>
          </p:cNvSpPr>
          <p:nvPr/>
        </p:nvSpPr>
        <p:spPr>
          <a:xfrm>
            <a:off x="13982700" y="5745385"/>
            <a:ext cx="3181350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8" name="border-20">
            <a:extLst>
              <a:ext uri="{FF2B5EF4-FFF2-40B4-BE49-F238E27FC236}">
                <a16:creationId xmlns:a16="http://schemas.microsoft.com/office/drawing/2014/main" id="{BD63B768-ADCE-4D52-9788-E33A264A0687}"/>
              </a:ext>
            </a:extLst>
          </p:cNvPr>
          <p:cNvSpPr>
            <a:spLocks noGrp="1"/>
          </p:cNvSpPr>
          <p:nvPr/>
        </p:nvSpPr>
        <p:spPr>
          <a:xfrm>
            <a:off x="13982700" y="5745385"/>
            <a:ext cx="47625" cy="4953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39" name="html-shape-21">
            <a:extLst>
              <a:ext uri="{FF2B5EF4-FFF2-40B4-BE49-F238E27FC236}">
                <a16:creationId xmlns:a16="http://schemas.microsoft.com/office/drawing/2014/main" id="{5F5F2B73-5C5F-4561-A809-8190335624AE}"/>
              </a:ext>
            </a:extLst>
          </p:cNvPr>
          <p:cNvSpPr>
            <a:spLocks noGrp="1"/>
          </p:cNvSpPr>
          <p:nvPr/>
        </p:nvSpPr>
        <p:spPr>
          <a:xfrm>
            <a:off x="13982700" y="6307360"/>
            <a:ext cx="3181350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0" name="border-22">
            <a:extLst>
              <a:ext uri="{FF2B5EF4-FFF2-40B4-BE49-F238E27FC236}">
                <a16:creationId xmlns:a16="http://schemas.microsoft.com/office/drawing/2014/main" id="{9FD1297C-DFB4-41DB-A8F3-C57DEACD8A46}"/>
              </a:ext>
            </a:extLst>
          </p:cNvPr>
          <p:cNvSpPr>
            <a:spLocks noGrp="1"/>
          </p:cNvSpPr>
          <p:nvPr/>
        </p:nvSpPr>
        <p:spPr>
          <a:xfrm>
            <a:off x="13982700" y="6307360"/>
            <a:ext cx="47625" cy="4953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41" name="html-shape-23">
            <a:extLst>
              <a:ext uri="{FF2B5EF4-FFF2-40B4-BE49-F238E27FC236}">
                <a16:creationId xmlns:a16="http://schemas.microsoft.com/office/drawing/2014/main" id="{38E88AEF-3E5F-4109-894C-E30A16108169}"/>
              </a:ext>
            </a:extLst>
          </p:cNvPr>
          <p:cNvSpPr>
            <a:spLocks noGrp="1"/>
          </p:cNvSpPr>
          <p:nvPr/>
        </p:nvSpPr>
        <p:spPr>
          <a:xfrm>
            <a:off x="13982700" y="6916960"/>
            <a:ext cx="3181350" cy="120577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2" name="border-24">
            <a:extLst>
              <a:ext uri="{FF2B5EF4-FFF2-40B4-BE49-F238E27FC236}">
                <a16:creationId xmlns:a16="http://schemas.microsoft.com/office/drawing/2014/main" id="{B1D8F90E-FBAB-45DC-85FD-AC5442274C5F}"/>
              </a:ext>
            </a:extLst>
          </p:cNvPr>
          <p:cNvSpPr>
            <a:spLocks noGrp="1"/>
          </p:cNvSpPr>
          <p:nvPr/>
        </p:nvSpPr>
        <p:spPr>
          <a:xfrm>
            <a:off x="13982700" y="6916960"/>
            <a:ext cx="3181350" cy="19050"/>
          </a:xfrm>
          <a:prstGeom prst="rect">
            <a:avLst/>
          </a:prstGeom>
          <a:solidFill>
            <a:srgbClr val="B9DFCD"/>
          </a:solidFill>
          <a:ln w="0">
            <a:noFill/>
            <a:prstDash val="solid"/>
          </a:ln>
        </p:spPr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CFB08A5A-1079-4904-A870-896FAA93A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C671A32B-B51B-4877-8FCB-317F06B30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45" name="svg-text-1">
            <a:extLst>
              <a:ext uri="{FF2B5EF4-FFF2-40B4-BE49-F238E27FC236}">
                <a16:creationId xmlns:a16="http://schemas.microsoft.com/office/drawing/2014/main" id="{93957E6A-59B4-43FB-B9C6-B60E66EB4BDB}"/>
              </a:ext>
            </a:extLst>
          </p:cNvPr>
          <p:cNvSpPr>
            <a:spLocks noGrp="1"/>
          </p:cNvSpPr>
          <p:nvPr/>
        </p:nvSpPr>
        <p:spPr>
          <a:xfrm>
            <a:off x="1413510" y="7517321"/>
            <a:ext cx="17126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0</a:t>
            </a:r>
          </a:p>
        </p:txBody>
      </p:sp>
      <p:sp>
        <p:nvSpPr>
          <p:cNvPr id="46" name="svg-text-2">
            <a:extLst>
              <a:ext uri="{FF2B5EF4-FFF2-40B4-BE49-F238E27FC236}">
                <a16:creationId xmlns:a16="http://schemas.microsoft.com/office/drawing/2014/main" id="{324430BD-2FD9-45C1-801F-0F350F81FCB8}"/>
              </a:ext>
            </a:extLst>
          </p:cNvPr>
          <p:cNvSpPr>
            <a:spLocks noGrp="1"/>
          </p:cNvSpPr>
          <p:nvPr/>
        </p:nvSpPr>
        <p:spPr>
          <a:xfrm>
            <a:off x="1413510" y="6716459"/>
            <a:ext cx="17126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3</a:t>
            </a:r>
          </a:p>
        </p:txBody>
      </p:sp>
      <p:sp>
        <p:nvSpPr>
          <p:cNvPr id="47" name="svg-text-3">
            <a:extLst>
              <a:ext uri="{FF2B5EF4-FFF2-40B4-BE49-F238E27FC236}">
                <a16:creationId xmlns:a16="http://schemas.microsoft.com/office/drawing/2014/main" id="{4D51F8C2-8F91-42DE-9EF9-DA97B550EE1D}"/>
              </a:ext>
            </a:extLst>
          </p:cNvPr>
          <p:cNvSpPr>
            <a:spLocks noGrp="1"/>
          </p:cNvSpPr>
          <p:nvPr/>
        </p:nvSpPr>
        <p:spPr>
          <a:xfrm>
            <a:off x="1413510" y="5915501"/>
            <a:ext cx="17126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6</a:t>
            </a:r>
          </a:p>
        </p:txBody>
      </p:sp>
      <p:sp>
        <p:nvSpPr>
          <p:cNvPr id="48" name="svg-text-4">
            <a:extLst>
              <a:ext uri="{FF2B5EF4-FFF2-40B4-BE49-F238E27FC236}">
                <a16:creationId xmlns:a16="http://schemas.microsoft.com/office/drawing/2014/main" id="{0696B255-4FD9-4D95-A58C-86B74249F0C0}"/>
              </a:ext>
            </a:extLst>
          </p:cNvPr>
          <p:cNvSpPr>
            <a:spLocks noGrp="1"/>
          </p:cNvSpPr>
          <p:nvPr/>
        </p:nvSpPr>
        <p:spPr>
          <a:xfrm>
            <a:off x="1413510" y="5114544"/>
            <a:ext cx="17126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9</a:t>
            </a:r>
          </a:p>
        </p:txBody>
      </p:sp>
      <p:sp>
        <p:nvSpPr>
          <p:cNvPr id="49" name="svg-text-5">
            <a:extLst>
              <a:ext uri="{FF2B5EF4-FFF2-40B4-BE49-F238E27FC236}">
                <a16:creationId xmlns:a16="http://schemas.microsoft.com/office/drawing/2014/main" id="{F4A3200E-3B9D-4ED8-AD19-A028B1315619}"/>
              </a:ext>
            </a:extLst>
          </p:cNvPr>
          <p:cNvSpPr>
            <a:spLocks noGrp="1"/>
          </p:cNvSpPr>
          <p:nvPr/>
        </p:nvSpPr>
        <p:spPr>
          <a:xfrm>
            <a:off x="1303401" y="4313682"/>
            <a:ext cx="24926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12</a:t>
            </a:r>
          </a:p>
        </p:txBody>
      </p:sp>
      <p:sp>
        <p:nvSpPr>
          <p:cNvPr id="50" name="svg-text-6">
            <a:extLst>
              <a:ext uri="{FF2B5EF4-FFF2-40B4-BE49-F238E27FC236}">
                <a16:creationId xmlns:a16="http://schemas.microsoft.com/office/drawing/2014/main" id="{2ED39883-4BCE-4008-AE29-E565B562B953}"/>
              </a:ext>
            </a:extLst>
          </p:cNvPr>
          <p:cNvSpPr>
            <a:spLocks noGrp="1"/>
          </p:cNvSpPr>
          <p:nvPr/>
        </p:nvSpPr>
        <p:spPr>
          <a:xfrm>
            <a:off x="1773936" y="7877746"/>
            <a:ext cx="75809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2024.12</a:t>
            </a:r>
          </a:p>
        </p:txBody>
      </p:sp>
      <p:sp>
        <p:nvSpPr>
          <p:cNvPr id="51" name="svg-text-7">
            <a:extLst>
              <a:ext uri="{FF2B5EF4-FFF2-40B4-BE49-F238E27FC236}">
                <a16:creationId xmlns:a16="http://schemas.microsoft.com/office/drawing/2014/main" id="{1E03697B-0AED-4CA8-94D0-627799ED1F7D}"/>
              </a:ext>
            </a:extLst>
          </p:cNvPr>
          <p:cNvSpPr>
            <a:spLocks noGrp="1"/>
          </p:cNvSpPr>
          <p:nvPr/>
        </p:nvSpPr>
        <p:spPr>
          <a:xfrm>
            <a:off x="5428107" y="7877746"/>
            <a:ext cx="78533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2025.07</a:t>
            </a:r>
          </a:p>
        </p:txBody>
      </p:sp>
      <p:sp>
        <p:nvSpPr>
          <p:cNvPr id="52" name="svg-text-8">
            <a:extLst>
              <a:ext uri="{FF2B5EF4-FFF2-40B4-BE49-F238E27FC236}">
                <a16:creationId xmlns:a16="http://schemas.microsoft.com/office/drawing/2014/main" id="{42B25EA4-4134-41FF-86D2-84389875DA5F}"/>
              </a:ext>
            </a:extLst>
          </p:cNvPr>
          <p:cNvSpPr>
            <a:spLocks noGrp="1"/>
          </p:cNvSpPr>
          <p:nvPr/>
        </p:nvSpPr>
        <p:spPr>
          <a:xfrm>
            <a:off x="7790783" y="7877746"/>
            <a:ext cx="75809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2025.12</a:t>
            </a:r>
          </a:p>
        </p:txBody>
      </p:sp>
      <p:sp>
        <p:nvSpPr>
          <p:cNvPr id="53" name="svg-text-9">
            <a:extLst>
              <a:ext uri="{FF2B5EF4-FFF2-40B4-BE49-F238E27FC236}">
                <a16:creationId xmlns:a16="http://schemas.microsoft.com/office/drawing/2014/main" id="{FE6BE503-93C6-4120-9C94-02F753E135E0}"/>
              </a:ext>
            </a:extLst>
          </p:cNvPr>
          <p:cNvSpPr>
            <a:spLocks noGrp="1"/>
          </p:cNvSpPr>
          <p:nvPr/>
        </p:nvSpPr>
        <p:spPr>
          <a:xfrm>
            <a:off x="9823133" y="7877746"/>
            <a:ext cx="7942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2026.04</a:t>
            </a:r>
          </a:p>
        </p:txBody>
      </p:sp>
      <p:sp>
        <p:nvSpPr>
          <p:cNvPr id="54" name="svg-text-10">
            <a:extLst>
              <a:ext uri="{FF2B5EF4-FFF2-40B4-BE49-F238E27FC236}">
                <a16:creationId xmlns:a16="http://schemas.microsoft.com/office/drawing/2014/main" id="{4EA50FDA-BBBE-4121-8699-7F518C05CE0A}"/>
              </a:ext>
            </a:extLst>
          </p:cNvPr>
          <p:cNvSpPr>
            <a:spLocks noGrp="1"/>
          </p:cNvSpPr>
          <p:nvPr/>
        </p:nvSpPr>
        <p:spPr>
          <a:xfrm>
            <a:off x="11625167" y="7877746"/>
            <a:ext cx="7942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2026.08</a:t>
            </a:r>
          </a:p>
        </p:txBody>
      </p:sp>
      <p:sp>
        <p:nvSpPr>
          <p:cNvPr id="55" name="svg-text-11">
            <a:extLst>
              <a:ext uri="{FF2B5EF4-FFF2-40B4-BE49-F238E27FC236}">
                <a16:creationId xmlns:a16="http://schemas.microsoft.com/office/drawing/2014/main" id="{A978C5F4-9EB9-4DD3-9B6F-0A276955E9EC}"/>
              </a:ext>
            </a:extLst>
          </p:cNvPr>
          <p:cNvSpPr>
            <a:spLocks noGrp="1"/>
          </p:cNvSpPr>
          <p:nvPr/>
        </p:nvSpPr>
        <p:spPr>
          <a:xfrm rot="-5400000">
            <a:off x="-594265" y="5942743"/>
            <a:ext cx="339785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30" noProof="1">
                <a:solidFill>
                  <a:srgbClr val="53617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30" noProof="1">
                <a:solidFill>
                  <a:srgbClr val="53617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30" noProof="1">
                <a:solidFill>
                  <a:srgbClr val="536177"/>
                </a:solidFill>
                <a:latin typeface="PingFang SC"/>
                <a:ea typeface="PingFang SC"/>
                <a:cs typeface="Arial"/>
              </a:rPr>
              <a:t>P→D Arithmetic Intensity · MFLOP / byte</a:t>
            </a:r>
          </a:p>
        </p:txBody>
      </p:sp>
      <p:sp>
        <p:nvSpPr>
          <p:cNvPr id="56" name="svg-text-12">
            <a:extLst>
              <a:ext uri="{FF2B5EF4-FFF2-40B4-BE49-F238E27FC236}">
                <a16:creationId xmlns:a16="http://schemas.microsoft.com/office/drawing/2014/main" id="{1A2DFAEA-4578-458D-A81E-3122C3651303}"/>
              </a:ext>
            </a:extLst>
          </p:cNvPr>
          <p:cNvSpPr>
            <a:spLocks noGrp="1"/>
          </p:cNvSpPr>
          <p:nvPr/>
        </p:nvSpPr>
        <p:spPr>
          <a:xfrm>
            <a:off x="1954149" y="5645658"/>
            <a:ext cx="828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V3 · 5.7</a:t>
            </a:r>
          </a:p>
        </p:txBody>
      </p:sp>
      <p:sp>
        <p:nvSpPr>
          <p:cNvPr id="57" name="svg-text-13">
            <a:extLst>
              <a:ext uri="{FF2B5EF4-FFF2-40B4-BE49-F238E27FC236}">
                <a16:creationId xmlns:a16="http://schemas.microsoft.com/office/drawing/2014/main" id="{DCFE57DF-1D6D-4719-AD9B-60CD97B13CE9}"/>
              </a:ext>
            </a:extLst>
          </p:cNvPr>
          <p:cNvSpPr>
            <a:spLocks noGrp="1"/>
          </p:cNvSpPr>
          <p:nvPr/>
        </p:nvSpPr>
        <p:spPr>
          <a:xfrm>
            <a:off x="6118860" y="5645658"/>
            <a:ext cx="96574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V3.1 · 5.7</a:t>
            </a:r>
          </a:p>
        </p:txBody>
      </p:sp>
      <p:sp>
        <p:nvSpPr>
          <p:cNvPr id="58" name="svg-text-14">
            <a:extLst>
              <a:ext uri="{FF2B5EF4-FFF2-40B4-BE49-F238E27FC236}">
                <a16:creationId xmlns:a16="http://schemas.microsoft.com/office/drawing/2014/main" id="{5704823B-A1DA-48E3-A54B-6B135303143C}"/>
              </a:ext>
            </a:extLst>
          </p:cNvPr>
          <p:cNvSpPr>
            <a:spLocks noGrp="1"/>
          </p:cNvSpPr>
          <p:nvPr/>
        </p:nvSpPr>
        <p:spPr>
          <a:xfrm>
            <a:off x="7270242" y="7327583"/>
            <a:ext cx="96574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V3.2 · 1.7</a:t>
            </a:r>
          </a:p>
        </p:txBody>
      </p:sp>
      <p:sp>
        <p:nvSpPr>
          <p:cNvPr id="59" name="svg-text-15">
            <a:extLst>
              <a:ext uri="{FF2B5EF4-FFF2-40B4-BE49-F238E27FC236}">
                <a16:creationId xmlns:a16="http://schemas.microsoft.com/office/drawing/2014/main" id="{37A55219-4CE2-4AA4-BDAB-705E0E4E5534}"/>
              </a:ext>
            </a:extLst>
          </p:cNvPr>
          <p:cNvSpPr>
            <a:spLocks noGrp="1"/>
          </p:cNvSpPr>
          <p:nvPr/>
        </p:nvSpPr>
        <p:spPr>
          <a:xfrm>
            <a:off x="10353675" y="4103942"/>
            <a:ext cx="131292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V4 Pro · 12.0</a:t>
            </a:r>
          </a:p>
        </p:txBody>
      </p:sp>
      <p:sp>
        <p:nvSpPr>
          <p:cNvPr id="60" name="svg-text-16">
            <a:extLst>
              <a:ext uri="{FF2B5EF4-FFF2-40B4-BE49-F238E27FC236}">
                <a16:creationId xmlns:a16="http://schemas.microsoft.com/office/drawing/2014/main" id="{197564D5-5818-4261-B354-B26B9F892FA9}"/>
              </a:ext>
            </a:extLst>
          </p:cNvPr>
          <p:cNvSpPr>
            <a:spLocks noGrp="1"/>
          </p:cNvSpPr>
          <p:nvPr/>
        </p:nvSpPr>
        <p:spPr>
          <a:xfrm>
            <a:off x="4767358" y="6366510"/>
            <a:ext cx="84905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K2 · 3.2</a:t>
            </a:r>
          </a:p>
        </p:txBody>
      </p:sp>
      <p:sp>
        <p:nvSpPr>
          <p:cNvPr id="61" name="svg-text-17">
            <a:extLst>
              <a:ext uri="{FF2B5EF4-FFF2-40B4-BE49-F238E27FC236}">
                <a16:creationId xmlns:a16="http://schemas.microsoft.com/office/drawing/2014/main" id="{AB4D49B8-6185-4A9C-AE98-C984ABAD68A5}"/>
              </a:ext>
            </a:extLst>
          </p:cNvPr>
          <p:cNvSpPr>
            <a:spLocks noGrp="1"/>
          </p:cNvSpPr>
          <p:nvPr/>
        </p:nvSpPr>
        <p:spPr>
          <a:xfrm>
            <a:off x="7570565" y="6266402"/>
            <a:ext cx="1024223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K2.5 · 3.2</a:t>
            </a:r>
          </a:p>
        </p:txBody>
      </p:sp>
      <p:sp>
        <p:nvSpPr>
          <p:cNvPr id="62" name="svg-text-18">
            <a:extLst>
              <a:ext uri="{FF2B5EF4-FFF2-40B4-BE49-F238E27FC236}">
                <a16:creationId xmlns:a16="http://schemas.microsoft.com/office/drawing/2014/main" id="{F526CFE9-D34E-486A-90A1-555F93E69679}"/>
              </a:ext>
            </a:extLst>
          </p:cNvPr>
          <p:cNvSpPr>
            <a:spLocks noGrp="1"/>
          </p:cNvSpPr>
          <p:nvPr/>
        </p:nvSpPr>
        <p:spPr>
          <a:xfrm>
            <a:off x="9042178" y="6366510"/>
            <a:ext cx="1024223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K2.6 · 3.2</a:t>
            </a:r>
          </a:p>
        </p:txBody>
      </p:sp>
      <p:sp>
        <p:nvSpPr>
          <p:cNvPr id="63" name="svg-text-19">
            <a:extLst>
              <a:ext uri="{FF2B5EF4-FFF2-40B4-BE49-F238E27FC236}">
                <a16:creationId xmlns:a16="http://schemas.microsoft.com/office/drawing/2014/main" id="{BA896887-FB98-4B18-86BE-4FD5AFF54028}"/>
              </a:ext>
            </a:extLst>
          </p:cNvPr>
          <p:cNvSpPr>
            <a:spLocks noGrp="1"/>
          </p:cNvSpPr>
          <p:nvPr/>
        </p:nvSpPr>
        <p:spPr>
          <a:xfrm>
            <a:off x="10944416" y="4624578"/>
            <a:ext cx="84905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K3 · 9.8</a:t>
            </a:r>
          </a:p>
        </p:txBody>
      </p:sp>
      <p:sp>
        <p:nvSpPr>
          <p:cNvPr id="64" name="svg-text-20">
            <a:extLst>
              <a:ext uri="{FF2B5EF4-FFF2-40B4-BE49-F238E27FC236}">
                <a16:creationId xmlns:a16="http://schemas.microsoft.com/office/drawing/2014/main" id="{397E61F7-AE84-4ED6-85A2-2DB24A7DEF73}"/>
              </a:ext>
            </a:extLst>
          </p:cNvPr>
          <p:cNvSpPr>
            <a:spLocks noGrp="1"/>
          </p:cNvSpPr>
          <p:nvPr/>
        </p:nvSpPr>
        <p:spPr>
          <a:xfrm>
            <a:off x="8501634" y="6927152"/>
            <a:ext cx="749237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74B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74B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74BA8"/>
                </a:solidFill>
                <a:latin typeface="PingFang SC"/>
                <a:ea typeface="PingFang SC"/>
                <a:cs typeface="Arial"/>
              </a:rPr>
              <a:t>GLM-5</a:t>
            </a:r>
          </a:p>
        </p:txBody>
      </p:sp>
      <p:sp>
        <p:nvSpPr>
          <p:cNvPr id="65" name="svg-text-21">
            <a:extLst>
              <a:ext uri="{FF2B5EF4-FFF2-40B4-BE49-F238E27FC236}">
                <a16:creationId xmlns:a16="http://schemas.microsoft.com/office/drawing/2014/main" id="{A4CB8588-430B-4DC9-9A20-FEC0A97A0CCD}"/>
              </a:ext>
            </a:extLst>
          </p:cNvPr>
          <p:cNvSpPr>
            <a:spLocks noGrp="1"/>
          </p:cNvSpPr>
          <p:nvPr/>
        </p:nvSpPr>
        <p:spPr>
          <a:xfrm>
            <a:off x="9763030" y="6927152"/>
            <a:ext cx="31451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74B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74B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74BA8"/>
                </a:solidFill>
                <a:latin typeface="PingFang SC"/>
                <a:ea typeface="PingFang SC"/>
                <a:cs typeface="Arial"/>
              </a:rPr>
              <a:t>5.1</a:t>
            </a:r>
          </a:p>
        </p:txBody>
      </p:sp>
      <p:sp>
        <p:nvSpPr>
          <p:cNvPr id="66" name="svg-text-22">
            <a:extLst>
              <a:ext uri="{FF2B5EF4-FFF2-40B4-BE49-F238E27FC236}">
                <a16:creationId xmlns:a16="http://schemas.microsoft.com/office/drawing/2014/main" id="{BBCA4DAA-5919-4BD7-B0A9-74BD1379ED17}"/>
              </a:ext>
            </a:extLst>
          </p:cNvPr>
          <p:cNvSpPr>
            <a:spLocks noGrp="1"/>
          </p:cNvSpPr>
          <p:nvPr/>
        </p:nvSpPr>
        <p:spPr>
          <a:xfrm>
            <a:off x="10964418" y="6957155"/>
            <a:ext cx="35261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74BA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74BA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74BA8"/>
                </a:solidFill>
                <a:latin typeface="PingFang SC"/>
                <a:ea typeface="PingFang SC"/>
                <a:cs typeface="Arial"/>
              </a:rPr>
              <a:t>5.2</a:t>
            </a:r>
          </a:p>
        </p:txBody>
      </p:sp>
      <p:sp>
        <p:nvSpPr>
          <p:cNvPr id="67" name="svg-text-23">
            <a:extLst>
              <a:ext uri="{FF2B5EF4-FFF2-40B4-BE49-F238E27FC236}">
                <a16:creationId xmlns:a16="http://schemas.microsoft.com/office/drawing/2014/main" id="{31BB2673-041D-4E65-807C-DEF01C101FB7}"/>
              </a:ext>
            </a:extLst>
          </p:cNvPr>
          <p:cNvSpPr>
            <a:spLocks noGrp="1"/>
          </p:cNvSpPr>
          <p:nvPr/>
        </p:nvSpPr>
        <p:spPr>
          <a:xfrm>
            <a:off x="2334578" y="3843623"/>
            <a:ext cx="1215581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3441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3441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344158"/>
                </a:solidFill>
                <a:latin typeface="PingFang SC"/>
                <a:ea typeface="PingFang SC"/>
                <a:cs typeface="Arial"/>
              </a:rPr>
              <a:t>DeepSeek V</a:t>
            </a:r>
          </a:p>
        </p:txBody>
      </p:sp>
      <p:sp>
        <p:nvSpPr>
          <p:cNvPr id="68" name="svg-text-24">
            <a:extLst>
              <a:ext uri="{FF2B5EF4-FFF2-40B4-BE49-F238E27FC236}">
                <a16:creationId xmlns:a16="http://schemas.microsoft.com/office/drawing/2014/main" id="{B4847612-7CE8-4858-BE45-D132D27637E9}"/>
              </a:ext>
            </a:extLst>
          </p:cNvPr>
          <p:cNvSpPr>
            <a:spLocks noGrp="1"/>
          </p:cNvSpPr>
          <p:nvPr/>
        </p:nvSpPr>
        <p:spPr>
          <a:xfrm>
            <a:off x="4286822" y="3843623"/>
            <a:ext cx="696944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3441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3441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344158"/>
                </a:solidFill>
                <a:latin typeface="PingFang SC"/>
                <a:ea typeface="PingFang SC"/>
                <a:cs typeface="Arial"/>
              </a:rPr>
              <a:t>Kimi K</a:t>
            </a:r>
          </a:p>
        </p:txBody>
      </p:sp>
      <p:sp>
        <p:nvSpPr>
          <p:cNvPr id="69" name="svg-text-25">
            <a:extLst>
              <a:ext uri="{FF2B5EF4-FFF2-40B4-BE49-F238E27FC236}">
                <a16:creationId xmlns:a16="http://schemas.microsoft.com/office/drawing/2014/main" id="{5E8D198D-13C3-481B-8231-809D7493E082}"/>
              </a:ext>
            </a:extLst>
          </p:cNvPr>
          <p:cNvSpPr>
            <a:spLocks noGrp="1"/>
          </p:cNvSpPr>
          <p:nvPr/>
        </p:nvSpPr>
        <p:spPr>
          <a:xfrm>
            <a:off x="5988749" y="3843623"/>
            <a:ext cx="694754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344158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344158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344158"/>
                </a:solidFill>
                <a:latin typeface="PingFang SC"/>
                <a:ea typeface="PingFang SC"/>
                <a:cs typeface="Arial"/>
              </a:rPr>
              <a:t>GLM 5</a:t>
            </a:r>
          </a:p>
        </p:txBody>
      </p:sp>
      <p:sp>
        <p:nvSpPr>
          <p:cNvPr id="70" name="text-26">
            <a:extLst>
              <a:ext uri="{FF2B5EF4-FFF2-40B4-BE49-F238E27FC236}">
                <a16:creationId xmlns:a16="http://schemas.microsoft.com/office/drawing/2014/main" id="{299C2566-D70B-4798-A08A-53535F8E13E1}"/>
              </a:ext>
            </a:extLst>
          </p:cNvPr>
          <p:cNvSpPr>
            <a:spLocks noGrp="1"/>
          </p:cNvSpPr>
          <p:nvPr/>
        </p:nvSpPr>
        <p:spPr>
          <a:xfrm>
            <a:off x="762000" y="385763"/>
            <a:ext cx="581110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26"/>
          </a:bodyPr>
          <a:lstStyle>
            <a:def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spc="-39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71" name="text-27">
            <a:extLst>
              <a:ext uri="{FF2B5EF4-FFF2-40B4-BE49-F238E27FC236}">
                <a16:creationId xmlns:a16="http://schemas.microsoft.com/office/drawing/2014/main" id="{FD1B84B6-5AB0-4A5E-B11E-256C7958CD90}"/>
              </a:ext>
            </a:extLst>
          </p:cNvPr>
          <p:cNvSpPr>
            <a:spLocks noGrp="1"/>
          </p:cNvSpPr>
          <p:nvPr/>
        </p:nvSpPr>
        <p:spPr>
          <a:xfrm>
            <a:off x="762000" y="785813"/>
            <a:ext cx="247811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688" b="1" i="0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第六章 · 跨区域 PD 分析</a:t>
            </a:r>
          </a:p>
        </p:txBody>
      </p:sp>
      <p:sp>
        <p:nvSpPr>
          <p:cNvPr id="72" name="text-28">
            <a:extLst>
              <a:ext uri="{FF2B5EF4-FFF2-40B4-BE49-F238E27FC236}">
                <a16:creationId xmlns:a16="http://schemas.microsoft.com/office/drawing/2014/main" id="{0DB69845-0D44-457D-A0E2-B447305697B7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12880753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840"/>
          </a:bodyPr>
          <a:lstStyle>
            <a:def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435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新模型提高 P→D Arithmetic Intensity，降低带宽需求</a:t>
            </a:r>
          </a:p>
        </p:txBody>
      </p:sp>
      <p:sp>
        <p:nvSpPr>
          <p:cNvPr id="73" name="text-29">
            <a:extLst>
              <a:ext uri="{FF2B5EF4-FFF2-40B4-BE49-F238E27FC236}">
                <a16:creationId xmlns:a16="http://schemas.microsoft.com/office/drawing/2014/main" id="{0F60E345-7A1C-4F25-BD39-D23594A6DDBF}"/>
              </a:ext>
            </a:extLst>
          </p:cNvPr>
          <p:cNvSpPr>
            <a:spLocks noGrp="1"/>
          </p:cNvSpPr>
          <p:nvPr/>
        </p:nvSpPr>
        <p:spPr>
          <a:xfrm>
            <a:off x="776288" y="2207419"/>
            <a:ext cx="1301591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P→D Arithmetic Intensity = Prefill FLOPs / P→D KV bytes；越高，同等 Prefill 算力所需带宽越低。</a:t>
            </a:r>
          </a:p>
        </p:txBody>
      </p:sp>
      <p:sp>
        <p:nvSpPr>
          <p:cNvPr id="74" name="text-30">
            <a:extLst>
              <a:ext uri="{FF2B5EF4-FFF2-40B4-BE49-F238E27FC236}">
                <a16:creationId xmlns:a16="http://schemas.microsoft.com/office/drawing/2014/main" id="{6E2CAD54-DC88-4F03-801A-60F49A03F738}"/>
              </a:ext>
            </a:extLst>
          </p:cNvPr>
          <p:cNvSpPr>
            <a:spLocks noGrp="1"/>
          </p:cNvSpPr>
          <p:nvPr/>
        </p:nvSpPr>
        <p:spPr>
          <a:xfrm>
            <a:off x="1152525" y="3357563"/>
            <a:ext cx="3728752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7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P→D ARITHMETIC INTENSITY · 128K CONTEXT</a:t>
            </a:r>
          </a:p>
        </p:txBody>
      </p:sp>
      <p:sp>
        <p:nvSpPr>
          <p:cNvPr id="75" name="text-31">
            <a:extLst>
              <a:ext uri="{FF2B5EF4-FFF2-40B4-BE49-F238E27FC236}">
                <a16:creationId xmlns:a16="http://schemas.microsoft.com/office/drawing/2014/main" id="{3C011123-FC3F-427C-80E3-2034618C53CE}"/>
              </a:ext>
            </a:extLst>
          </p:cNvPr>
          <p:cNvSpPr>
            <a:spLocks noGrp="1"/>
          </p:cNvSpPr>
          <p:nvPr/>
        </p:nvSpPr>
        <p:spPr>
          <a:xfrm>
            <a:off x="4995577" y="3252788"/>
            <a:ext cx="349310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875" b="1" i="0" noProof="1">
                <a:solidFill>
                  <a:srgbClr val="27344A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875" b="1" i="0" noProof="1">
                <a:solidFill>
                  <a:srgbClr val="27344A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875" b="1" i="0" noProof="1">
                <a:solidFill>
                  <a:srgbClr val="27344A"/>
                </a:solidFill>
                <a:latin typeface="PingFang SC"/>
                <a:ea typeface="PingFang SC"/>
                <a:cs typeface="Arial"/>
              </a:rPr>
              <a:t>Prefill FLOPs / P→D KV bytes</a:t>
            </a:r>
          </a:p>
        </p:txBody>
      </p:sp>
      <p:sp>
        <p:nvSpPr>
          <p:cNvPr id="76" name="text-32">
            <a:extLst>
              <a:ext uri="{FF2B5EF4-FFF2-40B4-BE49-F238E27FC236}">
                <a16:creationId xmlns:a16="http://schemas.microsoft.com/office/drawing/2014/main" id="{3C119FFA-C7C9-4394-A59B-A2CA00CD748F}"/>
              </a:ext>
            </a:extLst>
          </p:cNvPr>
          <p:cNvSpPr>
            <a:spLocks noGrp="1"/>
          </p:cNvSpPr>
          <p:nvPr/>
        </p:nvSpPr>
        <p:spPr>
          <a:xfrm>
            <a:off x="9222296" y="3309938"/>
            <a:ext cx="377932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越高，同等 Prefill 算力所需的 P→D Goodput 越低</a:t>
            </a:r>
          </a:p>
        </p:txBody>
      </p:sp>
      <p:sp>
        <p:nvSpPr>
          <p:cNvPr id="77" name="text-33">
            <a:extLst>
              <a:ext uri="{FF2B5EF4-FFF2-40B4-BE49-F238E27FC236}">
                <a16:creationId xmlns:a16="http://schemas.microsoft.com/office/drawing/2014/main" id="{ED0C7060-7AD4-4468-A093-E1044CB9513B}"/>
              </a:ext>
            </a:extLst>
          </p:cNvPr>
          <p:cNvSpPr>
            <a:spLocks noGrp="1"/>
          </p:cNvSpPr>
          <p:nvPr/>
        </p:nvSpPr>
        <p:spPr>
          <a:xfrm>
            <a:off x="13973175" y="3419475"/>
            <a:ext cx="222332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1" i="0" spc="8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1" i="0" spc="8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1" i="0" spc="83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OPEN-WEIGHT EXPANSION</a:t>
            </a:r>
          </a:p>
        </p:txBody>
      </p:sp>
      <p:sp>
        <p:nvSpPr>
          <p:cNvPr id="78" name="text-34">
            <a:extLst>
              <a:ext uri="{FF2B5EF4-FFF2-40B4-BE49-F238E27FC236}">
                <a16:creationId xmlns:a16="http://schemas.microsoft.com/office/drawing/2014/main" id="{158D1DF9-2C69-4436-9833-2469BD9E54F5}"/>
              </a:ext>
            </a:extLst>
          </p:cNvPr>
          <p:cNvSpPr>
            <a:spLocks noGrp="1"/>
          </p:cNvSpPr>
          <p:nvPr/>
        </p:nvSpPr>
        <p:spPr>
          <a:xfrm>
            <a:off x="13973175" y="3676650"/>
            <a:ext cx="310724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≥500B 开放权重继续扩</a:t>
            </a:r>
          </a:p>
        </p:txBody>
      </p:sp>
      <p:sp>
        <p:nvSpPr>
          <p:cNvPr id="79" name="text-35">
            <a:extLst>
              <a:ext uri="{FF2B5EF4-FFF2-40B4-BE49-F238E27FC236}">
                <a16:creationId xmlns:a16="http://schemas.microsoft.com/office/drawing/2014/main" id="{DF8235D2-E750-429C-B783-91E9598C1321}"/>
              </a:ext>
            </a:extLst>
          </p:cNvPr>
          <p:cNvSpPr>
            <a:spLocks noGrp="1"/>
          </p:cNvSpPr>
          <p:nvPr/>
        </p:nvSpPr>
        <p:spPr>
          <a:xfrm>
            <a:off x="13973175" y="4019550"/>
            <a:ext cx="361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围</a:t>
            </a:r>
          </a:p>
        </p:txBody>
      </p:sp>
      <p:sp>
        <p:nvSpPr>
          <p:cNvPr id="80" name="text-36">
            <a:extLst>
              <a:ext uri="{FF2B5EF4-FFF2-40B4-BE49-F238E27FC236}">
                <a16:creationId xmlns:a16="http://schemas.microsoft.com/office/drawing/2014/main" id="{05EEF965-7053-4B67-BB88-D5EF05175C1C}"/>
              </a:ext>
            </a:extLst>
          </p:cNvPr>
          <p:cNvSpPr>
            <a:spLocks noGrp="1"/>
          </p:cNvSpPr>
          <p:nvPr/>
        </p:nvSpPr>
        <p:spPr>
          <a:xfrm>
            <a:off x="13973175" y="4509611"/>
            <a:ext cx="2647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48566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48566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48566B"/>
                </a:solidFill>
                <a:latin typeface="PingFang SC"/>
                <a:ea typeface="PingFang SC"/>
                <a:cs typeface="Arial"/>
              </a:rPr>
              <a:t>这些系列目前只有一个旗舰点进入</a:t>
            </a:r>
          </a:p>
        </p:txBody>
      </p:sp>
      <p:sp>
        <p:nvSpPr>
          <p:cNvPr id="81" name="text-37">
            <a:extLst>
              <a:ext uri="{FF2B5EF4-FFF2-40B4-BE49-F238E27FC236}">
                <a16:creationId xmlns:a16="http://schemas.microsoft.com/office/drawing/2014/main" id="{F2255775-F6CB-4EF8-A13E-99C88008F544}"/>
              </a:ext>
            </a:extLst>
          </p:cNvPr>
          <p:cNvSpPr>
            <a:spLocks noGrp="1"/>
          </p:cNvSpPr>
          <p:nvPr/>
        </p:nvSpPr>
        <p:spPr>
          <a:xfrm>
            <a:off x="13973175" y="4758119"/>
            <a:ext cx="240763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48566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48566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48566B"/>
                </a:solidFill>
                <a:latin typeface="PingFang SC"/>
                <a:ea typeface="PingFang SC"/>
                <a:cs typeface="Arial"/>
              </a:rPr>
              <a:t>≥500B 区间，因此不做连线。</a:t>
            </a:r>
          </a:p>
        </p:txBody>
      </p:sp>
      <p:sp>
        <p:nvSpPr>
          <p:cNvPr id="82" name="text-38">
            <a:extLst>
              <a:ext uri="{FF2B5EF4-FFF2-40B4-BE49-F238E27FC236}">
                <a16:creationId xmlns:a16="http://schemas.microsoft.com/office/drawing/2014/main" id="{C849A519-F939-424C-B9B2-843DE3DB2410}"/>
              </a:ext>
            </a:extLst>
          </p:cNvPr>
          <p:cNvSpPr>
            <a:spLocks noGrp="1"/>
          </p:cNvSpPr>
          <p:nvPr/>
        </p:nvSpPr>
        <p:spPr>
          <a:xfrm>
            <a:off x="14163675" y="5207222"/>
            <a:ext cx="1989677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rPr>
              <a:t>Qwen3.8-2.4T-A95B</a:t>
            </a:r>
          </a:p>
        </p:txBody>
      </p:sp>
      <p:sp>
        <p:nvSpPr>
          <p:cNvPr id="83" name="text-39">
            <a:extLst>
              <a:ext uri="{FF2B5EF4-FFF2-40B4-BE49-F238E27FC236}">
                <a16:creationId xmlns:a16="http://schemas.microsoft.com/office/drawing/2014/main" id="{8E0559C7-4C82-4EE8-9108-F86913E36DE7}"/>
              </a:ext>
            </a:extLst>
          </p:cNvPr>
          <p:cNvSpPr>
            <a:spLocks noGrp="1"/>
          </p:cNvSpPr>
          <p:nvPr/>
        </p:nvSpPr>
        <p:spPr>
          <a:xfrm>
            <a:off x="14163675" y="5454872"/>
            <a:ext cx="134331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2.45T total params</a:t>
            </a:r>
          </a:p>
        </p:txBody>
      </p:sp>
      <p:sp>
        <p:nvSpPr>
          <p:cNvPr id="84" name="text-40">
            <a:extLst>
              <a:ext uri="{FF2B5EF4-FFF2-40B4-BE49-F238E27FC236}">
                <a16:creationId xmlns:a16="http://schemas.microsoft.com/office/drawing/2014/main" id="{7A058D8D-5C3F-4547-BE8D-73F0786498B8}"/>
              </a:ext>
            </a:extLst>
          </p:cNvPr>
          <p:cNvSpPr>
            <a:spLocks noGrp="1"/>
          </p:cNvSpPr>
          <p:nvPr/>
        </p:nvSpPr>
        <p:spPr>
          <a:xfrm>
            <a:off x="14163675" y="5769197"/>
            <a:ext cx="153438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rPr>
              <a:t>MiMo-V2.5-Pro</a:t>
            </a:r>
          </a:p>
        </p:txBody>
      </p:sp>
      <p:sp>
        <p:nvSpPr>
          <p:cNvPr id="85" name="text-41">
            <a:extLst>
              <a:ext uri="{FF2B5EF4-FFF2-40B4-BE49-F238E27FC236}">
                <a16:creationId xmlns:a16="http://schemas.microsoft.com/office/drawing/2014/main" id="{122645BD-B5A5-43F6-A3BA-F4A54673E8AC}"/>
              </a:ext>
            </a:extLst>
          </p:cNvPr>
          <p:cNvSpPr>
            <a:spLocks noGrp="1"/>
          </p:cNvSpPr>
          <p:nvPr/>
        </p:nvSpPr>
        <p:spPr>
          <a:xfrm>
            <a:off x="14163675" y="6016847"/>
            <a:ext cx="131492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1.02T total params</a:t>
            </a:r>
          </a:p>
        </p:txBody>
      </p:sp>
      <p:sp>
        <p:nvSpPr>
          <p:cNvPr id="86" name="text-42">
            <a:extLst>
              <a:ext uri="{FF2B5EF4-FFF2-40B4-BE49-F238E27FC236}">
                <a16:creationId xmlns:a16="http://schemas.microsoft.com/office/drawing/2014/main" id="{54029551-6E2C-4243-B064-4A1A1B16B860}"/>
              </a:ext>
            </a:extLst>
          </p:cNvPr>
          <p:cNvSpPr>
            <a:spLocks noGrp="1"/>
          </p:cNvSpPr>
          <p:nvPr/>
        </p:nvSpPr>
        <p:spPr>
          <a:xfrm>
            <a:off x="14163675" y="6331172"/>
            <a:ext cx="145513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rPr>
              <a:t>Mistral Large 3</a:t>
            </a:r>
          </a:p>
        </p:txBody>
      </p:sp>
      <p:sp>
        <p:nvSpPr>
          <p:cNvPr id="87" name="text-43">
            <a:extLst>
              <a:ext uri="{FF2B5EF4-FFF2-40B4-BE49-F238E27FC236}">
                <a16:creationId xmlns:a16="http://schemas.microsoft.com/office/drawing/2014/main" id="{F643E8C8-6C45-468D-B5B4-9F4A5BAA2529}"/>
              </a:ext>
            </a:extLst>
          </p:cNvPr>
          <p:cNvSpPr>
            <a:spLocks noGrp="1"/>
          </p:cNvSpPr>
          <p:nvPr/>
        </p:nvSpPr>
        <p:spPr>
          <a:xfrm>
            <a:off x="14163675" y="6578822"/>
            <a:ext cx="130625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1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675B total params</a:t>
            </a:r>
          </a:p>
        </p:txBody>
      </p:sp>
      <p:sp>
        <p:nvSpPr>
          <p:cNvPr id="88" name="text-44">
            <a:extLst>
              <a:ext uri="{FF2B5EF4-FFF2-40B4-BE49-F238E27FC236}">
                <a16:creationId xmlns:a16="http://schemas.microsoft.com/office/drawing/2014/main" id="{5D697228-1B2D-41E3-B696-CA4E6DADAAAF}"/>
              </a:ext>
            </a:extLst>
          </p:cNvPr>
          <p:cNvSpPr>
            <a:spLocks noGrp="1"/>
          </p:cNvSpPr>
          <p:nvPr/>
        </p:nvSpPr>
        <p:spPr>
          <a:xfrm>
            <a:off x="13973175" y="705031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两个明确跃迁</a:t>
            </a:r>
          </a:p>
        </p:txBody>
      </p:sp>
      <p:sp>
        <p:nvSpPr>
          <p:cNvPr id="89" name="text-45">
            <a:extLst>
              <a:ext uri="{FF2B5EF4-FFF2-40B4-BE49-F238E27FC236}">
                <a16:creationId xmlns:a16="http://schemas.microsoft.com/office/drawing/2014/main" id="{10FCB32E-73E7-4D5A-BFBA-E1F66EEF4E6E}"/>
              </a:ext>
            </a:extLst>
          </p:cNvPr>
          <p:cNvSpPr>
            <a:spLocks noGrp="1"/>
          </p:cNvSpPr>
          <p:nvPr/>
        </p:nvSpPr>
        <p:spPr>
          <a:xfrm>
            <a:off x="13973175" y="7326535"/>
            <a:ext cx="15335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rPr>
              <a:t>Kimi K2.6 → K3</a:t>
            </a:r>
          </a:p>
        </p:txBody>
      </p:sp>
      <p:sp>
        <p:nvSpPr>
          <p:cNvPr id="90" name="text-46">
            <a:extLst>
              <a:ext uri="{FF2B5EF4-FFF2-40B4-BE49-F238E27FC236}">
                <a16:creationId xmlns:a16="http://schemas.microsoft.com/office/drawing/2014/main" id="{54CE614C-4992-48A5-A561-0DED07003112}"/>
              </a:ext>
            </a:extLst>
          </p:cNvPr>
          <p:cNvSpPr>
            <a:spLocks noGrp="1"/>
          </p:cNvSpPr>
          <p:nvPr/>
        </p:nvSpPr>
        <p:spPr>
          <a:xfrm>
            <a:off x="13973175" y="7583710"/>
            <a:ext cx="239048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1" i="0" noProof="1">
                <a:solidFill>
                  <a:srgbClr val="26354D"/>
                </a:solidFill>
                <a:latin typeface="PingFang SC"/>
                <a:ea typeface="PingFang SC"/>
                <a:cs typeface="Arial"/>
              </a:rPr>
              <a:t>DeepSeek V3.2 → V4 Pro</a:t>
            </a:r>
          </a:p>
        </p:txBody>
      </p:sp>
      <p:sp>
        <p:nvSpPr>
          <p:cNvPr id="91" name="text-47">
            <a:extLst>
              <a:ext uri="{FF2B5EF4-FFF2-40B4-BE49-F238E27FC236}">
                <a16:creationId xmlns:a16="http://schemas.microsoft.com/office/drawing/2014/main" id="{BD8C2776-C35E-4795-B486-6AB17D1A15F7}"/>
              </a:ext>
            </a:extLst>
          </p:cNvPr>
          <p:cNvSpPr>
            <a:spLocks noGrp="1"/>
          </p:cNvSpPr>
          <p:nvPr/>
        </p:nvSpPr>
        <p:spPr>
          <a:xfrm>
            <a:off x="13973175" y="7907560"/>
            <a:ext cx="301780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0" i="0" noProof="1">
                <a:solidFill>
                  <a:srgbClr val="4F5E7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0" i="0" noProof="1">
                <a:solidFill>
                  <a:srgbClr val="4F5E7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0" i="0" noProof="1">
                <a:solidFill>
                  <a:srgbClr val="4F5E73"/>
                </a:solidFill>
                <a:latin typeface="PingFang SC"/>
                <a:ea typeface="PingFang SC"/>
                <a:cs typeface="Arial"/>
              </a:rPr>
              <a:t>新架构显著提高单位 KV 的 Prefill 计算强度</a:t>
            </a:r>
          </a:p>
        </p:txBody>
      </p:sp>
      <p:sp>
        <p:nvSpPr>
          <p:cNvPr id="92" name="text-48">
            <a:extLst>
              <a:ext uri="{FF2B5EF4-FFF2-40B4-BE49-F238E27FC236}">
                <a16:creationId xmlns:a16="http://schemas.microsoft.com/office/drawing/2014/main" id="{B8B9E8C6-1B91-4FDA-AE46-7A6836B1F866}"/>
              </a:ext>
            </a:extLst>
          </p:cNvPr>
          <p:cNvSpPr>
            <a:spLocks noGrp="1"/>
          </p:cNvSpPr>
          <p:nvPr/>
        </p:nvSpPr>
        <p:spPr>
          <a:xfrm>
            <a:off x="4063270" y="9074087"/>
            <a:ext cx="1021842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75" b="1" i="0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P→D Arithmetic Intensity 越高，支撑同等 Prefill 计算性能所需的网络带宽越低。</a:t>
            </a:r>
          </a:p>
        </p:txBody>
      </p:sp>
      <p:sp>
        <p:nvSpPr>
          <p:cNvPr id="93" name="text-49">
            <a:extLst>
              <a:ext uri="{FF2B5EF4-FFF2-40B4-BE49-F238E27FC236}">
                <a16:creationId xmlns:a16="http://schemas.microsoft.com/office/drawing/2014/main" id="{09538E92-CB6F-484F-A86B-10454CFBA4A6}"/>
              </a:ext>
            </a:extLst>
          </p:cNvPr>
          <p:cNvSpPr>
            <a:spLocks noGrp="1"/>
          </p:cNvSpPr>
          <p:nvPr/>
        </p:nvSpPr>
        <p:spPr>
          <a:xfrm>
            <a:off x="771525" y="9757220"/>
            <a:ext cx="1229468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38" b="0" i="0" noProof="1">
                <a:solidFill>
                  <a:srgbClr val="8A95A7"/>
                </a:solidFill>
                <a:latin typeface="PingFang SC"/>
                <a:ea typeface="PingFang SC"/>
                <a:cs typeface="Arial"/>
              </a:rPr>
              <a:t>Source: official Hugging Face model cards/configs; KVCache.AI; 128K estimates in references/recent-model-prefill-kv-128k.md. V4 Pro uses BF16-normalized cache.</a:t>
            </a:r>
          </a:p>
        </p:txBody>
      </p:sp>
      <p:sp>
        <p:nvSpPr>
          <p:cNvPr id="94" name="text-50">
            <a:extLst>
              <a:ext uri="{FF2B5EF4-FFF2-40B4-BE49-F238E27FC236}">
                <a16:creationId xmlns:a16="http://schemas.microsoft.com/office/drawing/2014/main" id="{39873734-8EA8-4268-B26F-1AB16932A1C9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42 / 43</a:t>
            </a:r>
          </a:p>
        </p:txBody>
      </p:sp>
    </p:spTree>
    <p:extLst>
      <p:ext uri="{BB962C8B-B14F-4D97-AF65-F5344CB8AC3E}">
        <p14:creationId xmlns:p14="http://schemas.microsoft.com/office/powerpoint/2010/main" val="13912172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html-shape-1">
            <a:extLst>
              <a:ext uri="{FF2B5EF4-FFF2-40B4-BE49-F238E27FC236}">
                <a16:creationId xmlns:a16="http://schemas.microsoft.com/office/drawing/2014/main" id="{B9DCACB4-94ED-4496-9853-0BB44A623EE9}"/>
              </a:ext>
            </a:extLst>
          </p:cNvPr>
          <p:cNvSpPr>
            <a:spLocks noGrp="1"/>
          </p:cNvSpPr>
          <p:nvPr/>
        </p:nvSpPr>
        <p:spPr>
          <a:xfrm>
            <a:off x="1428750" y="4191000"/>
            <a:ext cx="4381500" cy="2476500"/>
          </a:xfrm>
          <a:prstGeom prst="rect">
            <a:avLst/>
          </a:prstGeom>
          <a:solidFill>
            <a:srgbClr val="FFFFFF">
              <a:alpha val="90000"/>
            </a:srgbClr>
          </a:solidFill>
          <a:ln w="0">
            <a:noFill/>
            <a:prstDash val="solid"/>
          </a:ln>
        </p:spPr>
      </p:sp>
      <p:sp>
        <p:nvSpPr>
          <p:cNvPr id="2" name="html-shape-4">
            <a:extLst>
              <a:ext uri="{FF2B5EF4-FFF2-40B4-BE49-F238E27FC236}">
                <a16:creationId xmlns:a16="http://schemas.microsoft.com/office/drawing/2014/main" id="{269CBFBE-F811-4BDB-91EF-CC288E84E26B}"/>
              </a:ext>
            </a:extLst>
          </p:cNvPr>
          <p:cNvSpPr>
            <a:spLocks noGrp="1"/>
          </p:cNvSpPr>
          <p:nvPr/>
        </p:nvSpPr>
        <p:spPr>
          <a:xfrm>
            <a:off x="6953250" y="4191000"/>
            <a:ext cx="4381500" cy="2476500"/>
          </a:xfrm>
          <a:prstGeom prst="rect">
            <a:avLst/>
          </a:prstGeom>
          <a:solidFill>
            <a:srgbClr val="FFFFFF">
              <a:alpha val="90000"/>
            </a:srgbClr>
          </a:solidFill>
          <a:ln w="0">
            <a:noFill/>
            <a:prstDash val="solid"/>
          </a:ln>
        </p:spPr>
      </p:sp>
      <p:sp>
        <p:nvSpPr>
          <p:cNvPr id="3" name="html-shape-7">
            <a:extLst>
              <a:ext uri="{FF2B5EF4-FFF2-40B4-BE49-F238E27FC236}">
                <a16:creationId xmlns:a16="http://schemas.microsoft.com/office/drawing/2014/main" id="{7E3CA0F3-B752-4770-9CD0-4641CF3D6697}"/>
              </a:ext>
            </a:extLst>
          </p:cNvPr>
          <p:cNvSpPr>
            <a:spLocks noGrp="1"/>
          </p:cNvSpPr>
          <p:nvPr/>
        </p:nvSpPr>
        <p:spPr>
          <a:xfrm>
            <a:off x="12477750" y="4191000"/>
            <a:ext cx="4381500" cy="2476500"/>
          </a:xfrm>
          <a:prstGeom prst="rect">
            <a:avLst/>
          </a:prstGeom>
          <a:solidFill>
            <a:srgbClr val="FFFFFF">
              <a:alpha val="90000"/>
            </a:srgbClr>
          </a:solidFill>
          <a:ln w="0">
            <a:noFill/>
            <a:prstDash val="solid"/>
          </a:ln>
        </p:spPr>
      </p:sp>
      <p:sp>
        <p:nvSpPr>
          <p:cNvPr id="4" name="html-shape-9">
            <a:extLst>
              <a:ext uri="{FF2B5EF4-FFF2-40B4-BE49-F238E27FC236}">
                <a16:creationId xmlns:a16="http://schemas.microsoft.com/office/drawing/2014/main" id="{540479FD-0673-4A3C-94ED-3B8FCEB0079A}"/>
              </a:ext>
            </a:extLst>
          </p:cNvPr>
          <p:cNvSpPr>
            <a:spLocks noGrp="1"/>
          </p:cNvSpPr>
          <p:nvPr/>
        </p:nvSpPr>
        <p:spPr>
          <a:xfrm>
            <a:off x="2333625" y="7334250"/>
            <a:ext cx="13620750" cy="1562100"/>
          </a:xfrm>
          <a:prstGeom prst="rect">
            <a:avLst/>
          </a:prstGeom>
          <a:solidFill>
            <a:srgbClr val="E7F7F0"/>
          </a:solidFill>
          <a:ln w="0">
            <a:noFill/>
            <a:prstDash val="solid"/>
          </a:ln>
        </p:spPr>
      </p:sp>
      <p:sp>
        <p:nvSpPr>
          <p:cNvPr id="5" name="html-line-1">
            <a:extLst>
              <a:ext uri="{FF2B5EF4-FFF2-40B4-BE49-F238E27FC236}">
                <a16:creationId xmlns:a16="http://schemas.microsoft.com/office/drawing/2014/main" id="{C7AA0E6E-97D8-4E27-9F49-3A94F9FE8AD2}"/>
              </a:ext>
            </a:extLst>
          </p:cNvPr>
          <p:cNvSpPr>
            <a:spLocks noGrp="1"/>
          </p:cNvSpPr>
          <p:nvPr/>
        </p:nvSpPr>
        <p:spPr>
          <a:xfrm>
            <a:off x="5810250" y="5429250"/>
            <a:ext cx="1143000" cy="4763"/>
          </a:xfrm>
          <a:prstGeom prst="line">
            <a:avLst/>
          </a:prstGeom>
          <a:noFill/>
          <a:ln w="66675">
            <a:gradFill>
              <a:gsLst>
                <a:gs pos="0">
                  <a:srgbClr val="642AF0"/>
                </a:gs>
                <a:gs pos="100000">
                  <a:srgbClr val="315FD5"/>
                </a:gs>
              </a:gsLst>
              <a:lin ang="5400000"/>
            </a:gradFill>
            <a:prstDash val="solid"/>
          </a:ln>
        </p:spPr>
      </p:sp>
      <p:sp>
        <p:nvSpPr>
          <p:cNvPr id="6" name="html-line-2">
            <a:extLst>
              <a:ext uri="{FF2B5EF4-FFF2-40B4-BE49-F238E27FC236}">
                <a16:creationId xmlns:a16="http://schemas.microsoft.com/office/drawing/2014/main" id="{E0037C97-BE4F-42EA-8914-9E0BA3295685}"/>
              </a:ext>
            </a:extLst>
          </p:cNvPr>
          <p:cNvSpPr>
            <a:spLocks noGrp="1"/>
          </p:cNvSpPr>
          <p:nvPr/>
        </p:nvSpPr>
        <p:spPr>
          <a:xfrm>
            <a:off x="11334750" y="5429250"/>
            <a:ext cx="1143000" cy="4763"/>
          </a:xfrm>
          <a:prstGeom prst="line">
            <a:avLst/>
          </a:prstGeom>
          <a:noFill/>
          <a:ln w="66675">
            <a:gradFill>
              <a:gsLst>
                <a:gs pos="0">
                  <a:srgbClr val="315FD5"/>
                </a:gs>
                <a:gs pos="100000">
                  <a:srgbClr val="0A9A62"/>
                </a:gs>
              </a:gsLst>
              <a:lin ang="5400000"/>
            </a:gradFill>
            <a:prstDash val="solid"/>
          </a:ln>
        </p:spPr>
      </p:sp>
      <p:sp>
        <p:nvSpPr>
          <p:cNvPr id="7" name="border-2">
            <a:extLst>
              <a:ext uri="{FF2B5EF4-FFF2-40B4-BE49-F238E27FC236}">
                <a16:creationId xmlns:a16="http://schemas.microsoft.com/office/drawing/2014/main" id="{D30E8247-7095-463F-9B0B-0D6EC45E82E6}"/>
              </a:ext>
            </a:extLst>
          </p:cNvPr>
          <p:cNvSpPr>
            <a:spLocks noGrp="1"/>
          </p:cNvSpPr>
          <p:nvPr/>
        </p:nvSpPr>
        <p:spPr>
          <a:xfrm>
            <a:off x="1428750" y="4191000"/>
            <a:ext cx="4381500" cy="76200"/>
          </a:xfrm>
          <a:prstGeom prst="rect">
            <a:avLst/>
          </a:prstGeom>
          <a:solidFill>
            <a:srgbClr val="642AF0"/>
          </a:solidFill>
          <a:ln w="0">
            <a:noFill/>
            <a:prstDash val="solid"/>
          </a:ln>
        </p:spPr>
      </p:sp>
      <p:sp>
        <p:nvSpPr>
          <p:cNvPr id="8" name="pseudo-arrow-3">
            <a:extLst>
              <a:ext uri="{FF2B5EF4-FFF2-40B4-BE49-F238E27FC236}">
                <a16:creationId xmlns:a16="http://schemas.microsoft.com/office/drawing/2014/main" id="{80ABCBB5-774E-4A44-8385-417692CBB935}"/>
              </a:ext>
            </a:extLst>
          </p:cNvPr>
          <p:cNvSpPr>
            <a:spLocks noGrp="1"/>
          </p:cNvSpPr>
          <p:nvPr/>
        </p:nvSpPr>
        <p:spPr>
          <a:xfrm rot="5400000">
            <a:off x="6772275" y="5314950"/>
            <a:ext cx="190500" cy="228600"/>
          </a:xfrm>
          <a:prstGeom prst="triangle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9" name="border-5">
            <a:extLst>
              <a:ext uri="{FF2B5EF4-FFF2-40B4-BE49-F238E27FC236}">
                <a16:creationId xmlns:a16="http://schemas.microsoft.com/office/drawing/2014/main" id="{0B6287D8-8799-4AA0-A7E9-565B8F777E2D}"/>
              </a:ext>
            </a:extLst>
          </p:cNvPr>
          <p:cNvSpPr>
            <a:spLocks noGrp="1"/>
          </p:cNvSpPr>
          <p:nvPr/>
        </p:nvSpPr>
        <p:spPr>
          <a:xfrm>
            <a:off x="6953250" y="4191000"/>
            <a:ext cx="4381500" cy="76200"/>
          </a:xfrm>
          <a:prstGeom prst="rect">
            <a:avLst/>
          </a:prstGeom>
          <a:solidFill>
            <a:srgbClr val="315FD5"/>
          </a:solidFill>
          <a:ln w="0">
            <a:noFill/>
            <a:prstDash val="solid"/>
          </a:ln>
        </p:spPr>
      </p:sp>
      <p:sp>
        <p:nvSpPr>
          <p:cNvPr id="10" name="pseudo-arrow-6">
            <a:extLst>
              <a:ext uri="{FF2B5EF4-FFF2-40B4-BE49-F238E27FC236}">
                <a16:creationId xmlns:a16="http://schemas.microsoft.com/office/drawing/2014/main" id="{89BE1FE0-DA85-4954-9F95-B7458BDC6FBE}"/>
              </a:ext>
            </a:extLst>
          </p:cNvPr>
          <p:cNvSpPr>
            <a:spLocks noGrp="1"/>
          </p:cNvSpPr>
          <p:nvPr/>
        </p:nvSpPr>
        <p:spPr>
          <a:xfrm rot="5400000">
            <a:off x="12296775" y="5314950"/>
            <a:ext cx="190500" cy="228600"/>
          </a:xfrm>
          <a:prstGeom prst="triangle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1" name="border-8">
            <a:extLst>
              <a:ext uri="{FF2B5EF4-FFF2-40B4-BE49-F238E27FC236}">
                <a16:creationId xmlns:a16="http://schemas.microsoft.com/office/drawing/2014/main" id="{2D0E77DB-0EFA-4D74-8E63-7ECC1A0D3BE2}"/>
              </a:ext>
            </a:extLst>
          </p:cNvPr>
          <p:cNvSpPr>
            <a:spLocks noGrp="1"/>
          </p:cNvSpPr>
          <p:nvPr/>
        </p:nvSpPr>
        <p:spPr>
          <a:xfrm>
            <a:off x="12477750" y="4191000"/>
            <a:ext cx="4381500" cy="762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sp>
        <p:nvSpPr>
          <p:cNvPr id="12" name="border-10">
            <a:extLst>
              <a:ext uri="{FF2B5EF4-FFF2-40B4-BE49-F238E27FC236}">
                <a16:creationId xmlns:a16="http://schemas.microsoft.com/office/drawing/2014/main" id="{6100671B-198D-4317-8259-E2B2355E27B4}"/>
              </a:ext>
            </a:extLst>
          </p:cNvPr>
          <p:cNvSpPr>
            <a:spLocks noGrp="1"/>
          </p:cNvSpPr>
          <p:nvPr/>
        </p:nvSpPr>
        <p:spPr>
          <a:xfrm>
            <a:off x="2333625" y="7334250"/>
            <a:ext cx="95250" cy="1562100"/>
          </a:xfrm>
          <a:prstGeom prst="rect">
            <a:avLst/>
          </a:prstGeom>
          <a:solidFill>
            <a:srgbClr val="0A9A62"/>
          </a:solidFill>
          <a:ln w="0">
            <a:noFill/>
            <a:prstDash val="solid"/>
          </a:ln>
        </p:spPr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C509DE1-852F-4328-8669-90966E955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8936" y="285750"/>
            <a:ext cx="2469053" cy="75723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4450F88-E5FA-49A9-83A0-D1757649C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0" y="497308"/>
            <a:ext cx="2857500" cy="334788"/>
          </a:xfrm>
          <a:prstGeom prst="rect">
            <a:avLst/>
          </a:prstGeom>
        </p:spPr>
      </p:pic>
      <p:sp>
        <p:nvSpPr>
          <p:cNvPr id="15" name="text-1">
            <a:extLst>
              <a:ext uri="{FF2B5EF4-FFF2-40B4-BE49-F238E27FC236}">
                <a16:creationId xmlns:a16="http://schemas.microsoft.com/office/drawing/2014/main" id="{AF7AD93A-C2D5-4CC8-8B48-112C1890591B}"/>
              </a:ext>
            </a:extLst>
          </p:cNvPr>
          <p:cNvSpPr>
            <a:spLocks noGrp="1"/>
          </p:cNvSpPr>
          <p:nvPr/>
        </p:nvSpPr>
        <p:spPr>
          <a:xfrm>
            <a:off x="904875" y="485775"/>
            <a:ext cx="5946172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138" b="1" i="0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138" b="1" i="0" noProof="1">
                <a:solidFill>
                  <a:srgbClr val="323B4D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138" b="1" i="0" noProof="1">
                <a:solidFill>
                  <a:srgbClr val="323B4D"/>
                </a:solidFill>
                <a:latin typeface="PingFang SC"/>
                <a:ea typeface="PingFang SC"/>
                <a:cs typeface="Arial"/>
              </a:rPr>
              <a:t>高质量 Token 服务：从异构 PD 分离到算力网络</a:t>
            </a:r>
          </a:p>
        </p:txBody>
      </p:sp>
      <p:sp>
        <p:nvSpPr>
          <p:cNvPr id="16" name="text-2">
            <a:extLst>
              <a:ext uri="{FF2B5EF4-FFF2-40B4-BE49-F238E27FC236}">
                <a16:creationId xmlns:a16="http://schemas.microsoft.com/office/drawing/2014/main" id="{0F15935A-AF1B-4BB3-8915-46A3EA9C95E1}"/>
              </a:ext>
            </a:extLst>
          </p:cNvPr>
          <p:cNvSpPr>
            <a:spLocks noGrp="1"/>
          </p:cNvSpPr>
          <p:nvPr/>
        </p:nvSpPr>
        <p:spPr>
          <a:xfrm>
            <a:off x="1419225" y="1562100"/>
            <a:ext cx="329222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425" b="1" i="0" spc="16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425" b="1" i="0" spc="16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425" b="1" i="0" spc="16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SUMMARY · KEY TAKEAWAYS</a:t>
            </a:r>
          </a:p>
        </p:txBody>
      </p:sp>
      <p:sp>
        <p:nvSpPr>
          <p:cNvPr id="17" name="text-3">
            <a:extLst>
              <a:ext uri="{FF2B5EF4-FFF2-40B4-BE49-F238E27FC236}">
                <a16:creationId xmlns:a16="http://schemas.microsoft.com/office/drawing/2014/main" id="{6CF95D16-DA3B-4B48-99F2-EBC7028588AB}"/>
              </a:ext>
            </a:extLst>
          </p:cNvPr>
          <p:cNvSpPr>
            <a:spLocks noGrp="1"/>
          </p:cNvSpPr>
          <p:nvPr/>
        </p:nvSpPr>
        <p:spPr>
          <a:xfrm>
            <a:off x="1419225" y="1971675"/>
            <a:ext cx="14956917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630"/>
          </a:bodyPr>
          <a:lstStyle>
            <a:defPPr algn="l">
              <a:defRPr lang="zh-CN" altLang="en-US" sz="390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390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3900" b="1" i="0" spc="-135" noProof="1">
                <a:solidFill>
                  <a:srgbClr val="171923"/>
                </a:solidFill>
                <a:latin typeface="PingFang SC"/>
                <a:ea typeface="PingFang SC"/>
                <a:cs typeface="Arial"/>
              </a:rPr>
              <a:t>PD 分离让高质量 Token 服务走向设备异构、跨机房协同与跨区域部署</a:t>
            </a:r>
          </a:p>
        </p:txBody>
      </p:sp>
      <p:sp>
        <p:nvSpPr>
          <p:cNvPr id="18" name="text-4">
            <a:extLst>
              <a:ext uri="{FF2B5EF4-FFF2-40B4-BE49-F238E27FC236}">
                <a16:creationId xmlns:a16="http://schemas.microsoft.com/office/drawing/2014/main" id="{0FDF59A0-25C5-44E8-9220-FCB25CC1F0AA}"/>
              </a:ext>
            </a:extLst>
          </p:cNvPr>
          <p:cNvSpPr>
            <a:spLocks noGrp="1"/>
          </p:cNvSpPr>
          <p:nvPr/>
        </p:nvSpPr>
        <p:spPr>
          <a:xfrm>
            <a:off x="1438275" y="2933700"/>
            <a:ext cx="1189758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325" b="0" i="0" noProof="1">
                <a:solidFill>
                  <a:srgbClr val="6F7D96"/>
                </a:solidFill>
                <a:latin typeface="PingFang SC"/>
                <a:ea typeface="PingFang SC"/>
                <a:cs typeface="Arial"/>
              </a:rPr>
              <a:t>高质量 Token 服务 = 模型能力 + 交付质量；KV Cache handoff 解耦 Prefill 与 Decode。</a:t>
            </a:r>
          </a:p>
        </p:txBody>
      </p:sp>
      <p:sp>
        <p:nvSpPr>
          <p:cNvPr id="19" name="text-5">
            <a:extLst>
              <a:ext uri="{FF2B5EF4-FFF2-40B4-BE49-F238E27FC236}">
                <a16:creationId xmlns:a16="http://schemas.microsoft.com/office/drawing/2014/main" id="{8BAE404D-D702-446B-ACD7-8F858C08AF4E}"/>
              </a:ext>
            </a:extLst>
          </p:cNvPr>
          <p:cNvSpPr>
            <a:spLocks noGrp="1"/>
          </p:cNvSpPr>
          <p:nvPr/>
        </p:nvSpPr>
        <p:spPr>
          <a:xfrm>
            <a:off x="1704975" y="4533900"/>
            <a:ext cx="1427702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0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05" noProof="1">
                <a:solidFill>
                  <a:srgbClr val="642AF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05" noProof="1">
                <a:solidFill>
                  <a:srgbClr val="642AF0"/>
                </a:solidFill>
                <a:latin typeface="PingFang SC"/>
                <a:ea typeface="PingFang SC"/>
                <a:cs typeface="Arial"/>
              </a:rPr>
              <a:t>DEVICE · 已上线</a:t>
            </a:r>
          </a:p>
        </p:txBody>
      </p:sp>
      <p:sp>
        <p:nvSpPr>
          <p:cNvPr id="20" name="text-6">
            <a:extLst>
              <a:ext uri="{FF2B5EF4-FFF2-40B4-BE49-F238E27FC236}">
                <a16:creationId xmlns:a16="http://schemas.microsoft.com/office/drawing/2014/main" id="{0869C995-4638-444B-B8D3-2AC835ACBD8D}"/>
              </a:ext>
            </a:extLst>
          </p:cNvPr>
          <p:cNvSpPr>
            <a:spLocks noGrp="1"/>
          </p:cNvSpPr>
          <p:nvPr/>
        </p:nvSpPr>
        <p:spPr>
          <a:xfrm>
            <a:off x="1704975" y="4810125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2632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2632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263247"/>
                </a:solidFill>
                <a:latin typeface="PingFang SC"/>
                <a:ea typeface="PingFang SC"/>
                <a:cs typeface="Arial"/>
              </a:rPr>
              <a:t>设备异构</a:t>
            </a:r>
          </a:p>
        </p:txBody>
      </p:sp>
      <p:sp>
        <p:nvSpPr>
          <p:cNvPr id="21" name="text-7">
            <a:extLst>
              <a:ext uri="{FF2B5EF4-FFF2-40B4-BE49-F238E27FC236}">
                <a16:creationId xmlns:a16="http://schemas.microsoft.com/office/drawing/2014/main" id="{9AE27ACF-21FF-4865-87E8-0FD4D835E832}"/>
              </a:ext>
            </a:extLst>
          </p:cNvPr>
          <p:cNvSpPr>
            <a:spLocks noGrp="1"/>
          </p:cNvSpPr>
          <p:nvPr/>
        </p:nvSpPr>
        <p:spPr>
          <a:xfrm>
            <a:off x="1704975" y="5382482"/>
            <a:ext cx="3193066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4B139F"/>
                </a:solidFill>
                <a:latin typeface="PingFang SC"/>
                <a:ea typeface="PingFang SC"/>
                <a:cs typeface="Arial"/>
              </a:rPr>
              <a:t>高算力设备支撑高质量 Token 服务</a:t>
            </a:r>
          </a:p>
        </p:txBody>
      </p:sp>
      <p:sp>
        <p:nvSpPr>
          <p:cNvPr id="22" name="text-8">
            <a:extLst>
              <a:ext uri="{FF2B5EF4-FFF2-40B4-BE49-F238E27FC236}">
                <a16:creationId xmlns:a16="http://schemas.microsoft.com/office/drawing/2014/main" id="{4A5D9F3D-9AA7-4021-A061-F702F7D0D71E}"/>
              </a:ext>
            </a:extLst>
          </p:cNvPr>
          <p:cNvSpPr>
            <a:spLocks noGrp="1"/>
          </p:cNvSpPr>
          <p:nvPr/>
        </p:nvSpPr>
        <p:spPr>
          <a:xfrm>
            <a:off x="1704975" y="5851017"/>
            <a:ext cx="254765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高算力设备承担规模化 Prefill</a:t>
            </a:r>
          </a:p>
        </p:txBody>
      </p:sp>
      <p:sp>
        <p:nvSpPr>
          <p:cNvPr id="23" name="text-9">
            <a:extLst>
              <a:ext uri="{FF2B5EF4-FFF2-40B4-BE49-F238E27FC236}">
                <a16:creationId xmlns:a16="http://schemas.microsoft.com/office/drawing/2014/main" id="{25FC9A9E-A44E-4BA0-B790-9F54B6B8CFB3}"/>
              </a:ext>
            </a:extLst>
          </p:cNvPr>
          <p:cNvSpPr>
            <a:spLocks noGrp="1"/>
          </p:cNvSpPr>
          <p:nvPr/>
        </p:nvSpPr>
        <p:spPr>
          <a:xfrm>
            <a:off x="1704975" y="6136767"/>
            <a:ext cx="252774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高带宽设备集中保障 Decode</a:t>
            </a:r>
          </a:p>
        </p:txBody>
      </p:sp>
      <p:sp>
        <p:nvSpPr>
          <p:cNvPr id="24" name="text-10">
            <a:extLst>
              <a:ext uri="{FF2B5EF4-FFF2-40B4-BE49-F238E27FC236}">
                <a16:creationId xmlns:a16="http://schemas.microsoft.com/office/drawing/2014/main" id="{FBAF03F8-1AA4-457A-B65D-6E60A412B153}"/>
              </a:ext>
            </a:extLst>
          </p:cNvPr>
          <p:cNvSpPr>
            <a:spLocks noGrp="1"/>
          </p:cNvSpPr>
          <p:nvPr/>
        </p:nvSpPr>
        <p:spPr>
          <a:xfrm>
            <a:off x="7229475" y="4533900"/>
            <a:ext cx="1174433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0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05" noProof="1">
                <a:solidFill>
                  <a:srgbClr val="315FD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05" noProof="1">
                <a:solidFill>
                  <a:srgbClr val="315FD5"/>
                </a:solidFill>
                <a:latin typeface="PingFang SC"/>
                <a:ea typeface="PingFang SC"/>
                <a:cs typeface="Arial"/>
              </a:rPr>
              <a:t>SITE · 已实测</a:t>
            </a:r>
          </a:p>
        </p:txBody>
      </p:sp>
      <p:sp>
        <p:nvSpPr>
          <p:cNvPr id="25" name="text-11">
            <a:extLst>
              <a:ext uri="{FF2B5EF4-FFF2-40B4-BE49-F238E27FC236}">
                <a16:creationId xmlns:a16="http://schemas.microsoft.com/office/drawing/2014/main" id="{3B3BD09B-B754-4DBD-AD5B-E3B4B6F7A83E}"/>
              </a:ext>
            </a:extLst>
          </p:cNvPr>
          <p:cNvSpPr>
            <a:spLocks noGrp="1"/>
          </p:cNvSpPr>
          <p:nvPr/>
        </p:nvSpPr>
        <p:spPr>
          <a:xfrm>
            <a:off x="7229475" y="4810125"/>
            <a:ext cx="1695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2632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2632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263247"/>
                </a:solidFill>
                <a:latin typeface="PingFang SC"/>
                <a:ea typeface="PingFang SC"/>
                <a:cs typeface="Arial"/>
              </a:rPr>
              <a:t>跨机房协同</a:t>
            </a:r>
          </a:p>
        </p:txBody>
      </p:sp>
      <p:sp>
        <p:nvSpPr>
          <p:cNvPr id="26" name="text-12">
            <a:extLst>
              <a:ext uri="{FF2B5EF4-FFF2-40B4-BE49-F238E27FC236}">
                <a16:creationId xmlns:a16="http://schemas.microsoft.com/office/drawing/2014/main" id="{53597825-0DAA-4E5E-A10B-4C366BCD3870}"/>
              </a:ext>
            </a:extLst>
          </p:cNvPr>
          <p:cNvSpPr>
            <a:spLocks noGrp="1"/>
          </p:cNvSpPr>
          <p:nvPr/>
        </p:nvSpPr>
        <p:spPr>
          <a:xfrm>
            <a:off x="7229475" y="5382482"/>
            <a:ext cx="2476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244EB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244EB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244EB2"/>
                </a:solidFill>
                <a:latin typeface="PingFang SC"/>
                <a:ea typeface="PingFang SC"/>
                <a:cs typeface="Arial"/>
              </a:rPr>
              <a:t>同园区与跨园区均完成验证</a:t>
            </a:r>
          </a:p>
        </p:txBody>
      </p:sp>
      <p:sp>
        <p:nvSpPr>
          <p:cNvPr id="27" name="text-13">
            <a:extLst>
              <a:ext uri="{FF2B5EF4-FFF2-40B4-BE49-F238E27FC236}">
                <a16:creationId xmlns:a16="http://schemas.microsoft.com/office/drawing/2014/main" id="{C5173B10-C68F-423D-8F1D-91FD62CC5481}"/>
              </a:ext>
            </a:extLst>
          </p:cNvPr>
          <p:cNvSpPr>
            <a:spLocks noGrp="1"/>
          </p:cNvSpPr>
          <p:nvPr/>
        </p:nvSpPr>
        <p:spPr>
          <a:xfrm>
            <a:off x="7229475" y="5851017"/>
            <a:ext cx="218170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Prefill 约 50K Input TPS</a:t>
            </a:r>
          </a:p>
        </p:txBody>
      </p:sp>
      <p:sp>
        <p:nvSpPr>
          <p:cNvPr id="28" name="text-14">
            <a:extLst>
              <a:ext uri="{FF2B5EF4-FFF2-40B4-BE49-F238E27FC236}">
                <a16:creationId xmlns:a16="http://schemas.microsoft.com/office/drawing/2014/main" id="{64BB7D76-BFB1-49CF-8122-BADDC469E2DC}"/>
              </a:ext>
            </a:extLst>
          </p:cNvPr>
          <p:cNvSpPr>
            <a:spLocks noGrp="1"/>
          </p:cNvSpPr>
          <p:nvPr/>
        </p:nvSpPr>
        <p:spPr>
          <a:xfrm>
            <a:off x="7229475" y="6136767"/>
            <a:ext cx="300361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低带宽下达到链路换算上限 90.6%</a:t>
            </a:r>
          </a:p>
        </p:txBody>
      </p:sp>
      <p:sp>
        <p:nvSpPr>
          <p:cNvPr id="29" name="text-15">
            <a:extLst>
              <a:ext uri="{FF2B5EF4-FFF2-40B4-BE49-F238E27FC236}">
                <a16:creationId xmlns:a16="http://schemas.microsoft.com/office/drawing/2014/main" id="{CE820514-090A-48C9-B08F-07BD251A3CB8}"/>
              </a:ext>
            </a:extLst>
          </p:cNvPr>
          <p:cNvSpPr>
            <a:spLocks noGrp="1"/>
          </p:cNvSpPr>
          <p:nvPr/>
        </p:nvSpPr>
        <p:spPr>
          <a:xfrm>
            <a:off x="12753975" y="4533900"/>
            <a:ext cx="145923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0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05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05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REGION · 可规划</a:t>
            </a:r>
          </a:p>
        </p:txBody>
      </p:sp>
      <p:sp>
        <p:nvSpPr>
          <p:cNvPr id="30" name="text-16">
            <a:extLst>
              <a:ext uri="{FF2B5EF4-FFF2-40B4-BE49-F238E27FC236}">
                <a16:creationId xmlns:a16="http://schemas.microsoft.com/office/drawing/2014/main" id="{0E2B9793-D858-4C51-968A-74F2D8586F2D}"/>
              </a:ext>
            </a:extLst>
          </p:cNvPr>
          <p:cNvSpPr>
            <a:spLocks noGrp="1"/>
          </p:cNvSpPr>
          <p:nvPr/>
        </p:nvSpPr>
        <p:spPr>
          <a:xfrm>
            <a:off x="12753975" y="4810125"/>
            <a:ext cx="1695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550" b="1" i="0" noProof="1">
                <a:solidFill>
                  <a:srgbClr val="263247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550" b="1" i="0" noProof="1">
                <a:solidFill>
                  <a:srgbClr val="263247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550" b="1" i="0" noProof="1">
                <a:solidFill>
                  <a:srgbClr val="263247"/>
                </a:solidFill>
                <a:latin typeface="PingFang SC"/>
                <a:ea typeface="PingFang SC"/>
                <a:cs typeface="Arial"/>
              </a:rPr>
              <a:t>跨区域拓展</a:t>
            </a:r>
          </a:p>
        </p:txBody>
      </p:sp>
      <p:sp>
        <p:nvSpPr>
          <p:cNvPr id="31" name="text-17">
            <a:extLst>
              <a:ext uri="{FF2B5EF4-FFF2-40B4-BE49-F238E27FC236}">
                <a16:creationId xmlns:a16="http://schemas.microsoft.com/office/drawing/2014/main" id="{9958D52B-3D04-4EB5-B680-4A8DB75DAB19}"/>
              </a:ext>
            </a:extLst>
          </p:cNvPr>
          <p:cNvSpPr>
            <a:spLocks noGrp="1"/>
          </p:cNvSpPr>
          <p:nvPr/>
        </p:nvSpPr>
        <p:spPr>
          <a:xfrm>
            <a:off x="12753975" y="5382482"/>
            <a:ext cx="30765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75" b="1" i="0" noProof="1">
                <a:solidFill>
                  <a:srgbClr val="08764C"/>
                </a:solidFill>
                <a:latin typeface="PingFang SC"/>
                <a:ea typeface="PingFang SC"/>
                <a:cs typeface="Arial"/>
              </a:rPr>
              <a:t>网络容量与传输长尾可以定量设计</a:t>
            </a:r>
          </a:p>
        </p:txBody>
      </p:sp>
      <p:sp>
        <p:nvSpPr>
          <p:cNvPr id="32" name="text-18">
            <a:extLst>
              <a:ext uri="{FF2B5EF4-FFF2-40B4-BE49-F238E27FC236}">
                <a16:creationId xmlns:a16="http://schemas.microsoft.com/office/drawing/2014/main" id="{1D1AA12E-FCB1-400B-A7BE-40CEF3A206C6}"/>
              </a:ext>
            </a:extLst>
          </p:cNvPr>
          <p:cNvSpPr>
            <a:spLocks noGrp="1"/>
          </p:cNvSpPr>
          <p:nvPr/>
        </p:nvSpPr>
        <p:spPr>
          <a:xfrm>
            <a:off x="12753975" y="5851017"/>
            <a:ext cx="299208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带宽需求由模型与 Prefill 产能换算</a:t>
            </a:r>
          </a:p>
        </p:txBody>
      </p:sp>
      <p:sp>
        <p:nvSpPr>
          <p:cNvPr id="33" name="text-19">
            <a:extLst>
              <a:ext uri="{FF2B5EF4-FFF2-40B4-BE49-F238E27FC236}">
                <a16:creationId xmlns:a16="http://schemas.microsoft.com/office/drawing/2014/main" id="{8F4E8791-E222-4BC7-9953-77BFF9EAA401}"/>
              </a:ext>
            </a:extLst>
          </p:cNvPr>
          <p:cNvSpPr>
            <a:spLocks noGrp="1"/>
          </p:cNvSpPr>
          <p:nvPr/>
        </p:nvSpPr>
        <p:spPr>
          <a:xfrm>
            <a:off x="12753975" y="6136767"/>
            <a:ext cx="323611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50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满足性能需求即可，无需 RDMA 语义</a:t>
            </a:r>
          </a:p>
        </p:txBody>
      </p:sp>
      <p:sp>
        <p:nvSpPr>
          <p:cNvPr id="34" name="text-20">
            <a:extLst>
              <a:ext uri="{FF2B5EF4-FFF2-40B4-BE49-F238E27FC236}">
                <a16:creationId xmlns:a16="http://schemas.microsoft.com/office/drawing/2014/main" id="{141C3E6B-DDB2-4E73-B0B6-C8D7F5906303}"/>
              </a:ext>
            </a:extLst>
          </p:cNvPr>
          <p:cNvSpPr>
            <a:spLocks noGrp="1"/>
          </p:cNvSpPr>
          <p:nvPr/>
        </p:nvSpPr>
        <p:spPr>
          <a:xfrm>
            <a:off x="2800350" y="8004905"/>
            <a:ext cx="147608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200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200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200" b="1" i="0" spc="113" noProof="1">
                <a:solidFill>
                  <a:srgbClr val="0A9A62"/>
                </a:solidFill>
                <a:latin typeface="PingFang SC"/>
                <a:ea typeface="PingFang SC"/>
                <a:cs typeface="Arial"/>
              </a:rPr>
              <a:t>OUR DIRECTION</a:t>
            </a:r>
          </a:p>
        </p:txBody>
      </p:sp>
      <p:sp>
        <p:nvSpPr>
          <p:cNvPr id="35" name="text-21">
            <a:extLst>
              <a:ext uri="{FF2B5EF4-FFF2-40B4-BE49-F238E27FC236}">
                <a16:creationId xmlns:a16="http://schemas.microsoft.com/office/drawing/2014/main" id="{EC3CC4E5-DDA8-4C17-AB54-FD9E469F236A}"/>
              </a:ext>
            </a:extLst>
          </p:cNvPr>
          <p:cNvSpPr>
            <a:spLocks noGrp="1"/>
          </p:cNvSpPr>
          <p:nvPr/>
        </p:nvSpPr>
        <p:spPr>
          <a:xfrm>
            <a:off x="4895850" y="7729538"/>
            <a:ext cx="7386352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2250" b="1" i="0" noProof="1">
                <a:solidFill>
                  <a:srgbClr val="1F2E3F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2250" b="1" i="0" noProof="1">
                <a:solidFill>
                  <a:srgbClr val="1F2E3F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2250" b="1" i="0" noProof="1">
                <a:solidFill>
                  <a:srgbClr val="1F2E3F"/>
                </a:solidFill>
                <a:latin typeface="PingFang SC"/>
                <a:ea typeface="PingFang SC"/>
                <a:cs typeface="Arial"/>
              </a:rPr>
              <a:t>让合适的设备在合适的位置，共同提供高质量 Token 服务</a:t>
            </a:r>
          </a:p>
        </p:txBody>
      </p:sp>
      <p:sp>
        <p:nvSpPr>
          <p:cNvPr id="36" name="text-22">
            <a:extLst>
              <a:ext uri="{FF2B5EF4-FFF2-40B4-BE49-F238E27FC236}">
                <a16:creationId xmlns:a16="http://schemas.microsoft.com/office/drawing/2014/main" id="{BE7854D8-5428-418D-BED4-4F9939E389CB}"/>
              </a:ext>
            </a:extLst>
          </p:cNvPr>
          <p:cNvSpPr>
            <a:spLocks noGrp="1"/>
          </p:cNvSpPr>
          <p:nvPr/>
        </p:nvSpPr>
        <p:spPr>
          <a:xfrm>
            <a:off x="4895850" y="8191500"/>
            <a:ext cx="627383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536075"/>
                </a:solidFill>
                <a:latin typeface="PingFang SC"/>
                <a:ea typeface="PingFang SC"/>
                <a:cs typeface="Arial"/>
              </a:rPr>
              <a:t>Mooncake 基础设施 → 异构 PD 商业生产 → 跨机房实验验证 → 跨区域算力网络</a:t>
            </a:r>
          </a:p>
        </p:txBody>
      </p:sp>
      <p:sp>
        <p:nvSpPr>
          <p:cNvPr id="37" name="text-23">
            <a:extLst>
              <a:ext uri="{FF2B5EF4-FFF2-40B4-BE49-F238E27FC236}">
                <a16:creationId xmlns:a16="http://schemas.microsoft.com/office/drawing/2014/main" id="{D83D98E3-6E2B-482A-AC15-71F8A391B433}"/>
              </a:ext>
            </a:extLst>
          </p:cNvPr>
          <p:cNvSpPr>
            <a:spLocks noGrp="1"/>
          </p:cNvSpPr>
          <p:nvPr/>
        </p:nvSpPr>
        <p:spPr>
          <a:xfrm>
            <a:off x="904875" y="9715500"/>
            <a:ext cx="2133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E899B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E899B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E899B"/>
                </a:solidFill>
                <a:latin typeface="PingFang SC"/>
                <a:ea typeface="PingFang SC"/>
                <a:cs typeface="Arial"/>
              </a:rPr>
              <a:t>北京趋境科技有限责任公司</a:t>
            </a:r>
          </a:p>
        </p:txBody>
      </p:sp>
      <p:sp>
        <p:nvSpPr>
          <p:cNvPr id="38" name="text-24">
            <a:extLst>
              <a:ext uri="{FF2B5EF4-FFF2-40B4-BE49-F238E27FC236}">
                <a16:creationId xmlns:a16="http://schemas.microsoft.com/office/drawing/2014/main" id="{F80DA398-2714-4747-9789-C45D762143EE}"/>
              </a:ext>
            </a:extLst>
          </p:cNvPr>
          <p:cNvSpPr>
            <a:spLocks noGrp="1"/>
          </p:cNvSpPr>
          <p:nvPr/>
        </p:nvSpPr>
        <p:spPr>
          <a:xfrm>
            <a:off x="16895445" y="9848850"/>
            <a:ext cx="68770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defPPr>
          </a:lstStyle>
          <a:p>
            <a:pPr algn="l">
              <a:def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defRPr>
            </a:pPr>
            <a:r>
              <a:rPr lang="zh-CN" altLang="en-US" sz="1350" b="0" i="0" noProof="1">
                <a:solidFill>
                  <a:srgbClr val="7F8BA0"/>
                </a:solidFill>
                <a:latin typeface="PingFang SC"/>
                <a:ea typeface="PingFang SC"/>
                <a:cs typeface="Arial"/>
              </a:rPr>
              <a:t>43 / 43</a:t>
            </a:r>
          </a:p>
        </p:txBody>
      </p:sp>
    </p:spTree>
    <p:extLst>
      <p:ext uri="{BB962C8B-B14F-4D97-AF65-F5344CB8AC3E}">
        <p14:creationId xmlns:p14="http://schemas.microsoft.com/office/powerpoint/2010/main" val="15706033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20287</Words>
  <Application>Microsoft Office PowerPoint</Application>
  <DocSecurity>0</DocSecurity>
  <PresentationFormat>自定义</PresentationFormat>
  <Paragraphs>1674</Paragraphs>
  <Slides>43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6" baseType="lpstr">
      <vt:lpstr>PingFang SC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Hongbo Kang</cp:lastModifiedBy>
  <cp:revision>1</cp:revision>
  <dcterms:created xsi:type="dcterms:W3CDTF">2026-10-16T03:40:41Z</dcterms:created>
  <dcterms:modified xsi:type="dcterms:W3CDTF">2026-10-16T16:44:05Z</dcterms:modified>
</cp:coreProperties>
</file>