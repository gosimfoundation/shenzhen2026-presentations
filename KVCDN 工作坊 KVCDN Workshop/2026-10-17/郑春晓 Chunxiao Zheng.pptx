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6" r:id="rId2"/>
    <p:sldId id="292" r:id="rId3"/>
    <p:sldId id="257" r:id="rId4"/>
    <p:sldId id="286" r:id="rId5"/>
    <p:sldId id="258" r:id="rId6"/>
    <p:sldId id="259" r:id="rId7"/>
    <p:sldId id="260" r:id="rId8"/>
    <p:sldId id="287" r:id="rId9"/>
    <p:sldId id="261" r:id="rId10"/>
    <p:sldId id="262" r:id="rId11"/>
    <p:sldId id="294" r:id="rId12"/>
    <p:sldId id="293" r:id="rId13"/>
    <p:sldId id="263" r:id="rId14"/>
    <p:sldId id="264" r:id="rId15"/>
    <p:sldId id="265" r:id="rId16"/>
    <p:sldId id="288" r:id="rId17"/>
    <p:sldId id="266" r:id="rId18"/>
    <p:sldId id="267" r:id="rId19"/>
    <p:sldId id="268" r:id="rId20"/>
    <p:sldId id="269" r:id="rId21"/>
    <p:sldId id="270" r:id="rId22"/>
    <p:sldId id="289" r:id="rId23"/>
    <p:sldId id="271" r:id="rId24"/>
    <p:sldId id="297" r:id="rId25"/>
    <p:sldId id="273" r:id="rId26"/>
    <p:sldId id="275" r:id="rId27"/>
    <p:sldId id="291" r:id="rId28"/>
    <p:sldId id="281" r:id="rId29"/>
    <p:sldId id="283" r:id="rId30"/>
    <p:sldId id="282" r:id="rId31"/>
    <p:sldId id="285" r:id="rId32"/>
  </p:sldIdLst>
  <p:sldSz cx="12192000" cy="6858000"/>
  <p:notesSz cx="6858000" cy="9144000"/>
  <p:custDataLst>
    <p:tags r:id="rId3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74F"/>
    <a:srgbClr val="30AD80"/>
    <a:srgbClr val="FFFFFF"/>
    <a:srgbClr val="0A2540"/>
    <a:srgbClr val="FFF001"/>
    <a:srgbClr val="FFDA00"/>
    <a:srgbClr val="30AE82"/>
    <a:srgbClr val="FFF100"/>
    <a:srgbClr val="2B6CF1"/>
    <a:srgbClr val="79D7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64041"/>
  </p:normalViewPr>
  <p:slideViewPr>
    <p:cSldViewPr snapToGrid="0" showGuides="1">
      <p:cViewPr varScale="1">
        <p:scale>
          <a:sx n="79" d="100"/>
          <a:sy n="79" d="100"/>
        </p:scale>
        <p:origin x="305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思源黑体 CN" panose="020B0800000000000000" charset="-122"/>
                <a:cs typeface="思源黑体 CN" panose="020B0800000000000000" charset="-122"/>
              </a:rPr>
              <a:t>2026/10/15</a:t>
            </a:fld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思源黑体 CN" panose="020B0800000000000000" charset="-122"/>
                <a:cs typeface="思源黑体 CN" panose="020B0800000000000000" charset="-122"/>
              </a:rPr>
              <a:t>‹#›</a:t>
            </a:fld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大家好，我是郑春晓。今天和大家分享的是</a:t>
            </a:r>
            <a:r>
              <a:rPr sz="2000" dirty="0"/>
              <a:t> </a:t>
            </a:r>
            <a:r>
              <a:rPr sz="2000" dirty="0" err="1"/>
              <a:t>LMCache</a:t>
            </a:r>
            <a:r>
              <a:rPr sz="2000" dirty="0"/>
              <a:t> </a:t>
            </a:r>
            <a:r>
              <a:rPr sz="2000" dirty="0" err="1"/>
              <a:t>统一</a:t>
            </a:r>
            <a:r>
              <a:rPr sz="2000" dirty="0"/>
              <a:t> KV Cache </a:t>
            </a:r>
            <a:r>
              <a:rPr sz="2000" dirty="0" err="1"/>
              <a:t>管理层的架构演进与生产实践</a:t>
            </a:r>
            <a:r>
              <a:rPr sz="2000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09954-3CA5-AF30-8554-FA3B702A0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A98A65-F48D-6CBA-063D-CDB59280E5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71FEC-04CE-F69F-0882-B7A8CEC1ED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lang="zh-CN" altLang="en-US" sz="2000" dirty="0"/>
              <a:t>首先，做一个简单的自我介绍：</a:t>
            </a:r>
            <a:endParaRPr lang="en-US" altLang="zh-CN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zh-CN" altLang="en-US" sz="2000" dirty="0"/>
              <a:t>我毕业以来主要关注大数据存储和 </a:t>
            </a:r>
            <a:r>
              <a:rPr lang="en" altLang="zh-CN" sz="2000" dirty="0"/>
              <a:t>KV Cache </a:t>
            </a:r>
            <a:r>
              <a:rPr lang="zh-CN" altLang="en-US" sz="2000" dirty="0"/>
              <a:t>相关的存储问题，现在作为</a:t>
            </a:r>
            <a:r>
              <a:rPr sz="2000" dirty="0"/>
              <a:t> </a:t>
            </a:r>
            <a:r>
              <a:rPr sz="2000" dirty="0" err="1"/>
              <a:t>LMCache</a:t>
            </a:r>
            <a:r>
              <a:rPr lang="zh-CN" altLang="en-US" sz="2000" dirty="0"/>
              <a:t>项目</a:t>
            </a:r>
            <a:r>
              <a:rPr sz="2000" dirty="0" err="1"/>
              <a:t>的</a:t>
            </a:r>
            <a:r>
              <a:rPr lang="zh-CN" altLang="en-US" sz="2000" dirty="0"/>
              <a:t>维护者，在</a:t>
            </a:r>
            <a:r>
              <a:rPr lang="en-US" altLang="zh-CN" sz="2000" dirty="0" err="1"/>
              <a:t>LMCache</a:t>
            </a:r>
            <a:r>
              <a:rPr lang="zh-CN" altLang="en-US" sz="2000" dirty="0"/>
              <a:t>中主要开发了</a:t>
            </a:r>
            <a:r>
              <a:rPr lang="en-US" altLang="zh-CN" sz="2000" dirty="0"/>
              <a:t>MLA</a:t>
            </a:r>
            <a:r>
              <a:rPr lang="zh-CN" altLang="en-US" sz="2000" dirty="0"/>
              <a:t>、</a:t>
            </a:r>
            <a:r>
              <a:rPr lang="en-US" altLang="zh-CN" sz="2000" dirty="0"/>
              <a:t>L1</a:t>
            </a:r>
            <a:r>
              <a:rPr lang="zh-CN" altLang="en-US" sz="2000" dirty="0"/>
              <a:t>以及</a:t>
            </a:r>
            <a:r>
              <a:rPr lang="en-US" altLang="zh-CN" sz="2000" dirty="0"/>
              <a:t>L2</a:t>
            </a:r>
            <a:r>
              <a:rPr lang="zh-CN" altLang="en-US" sz="2000" dirty="0"/>
              <a:t> </a:t>
            </a:r>
            <a:r>
              <a:rPr lang="en-US" altLang="zh-CN" sz="2000" dirty="0"/>
              <a:t>offload</a:t>
            </a:r>
            <a:r>
              <a:rPr lang="zh-CN" altLang="en-US" sz="2000" dirty="0"/>
              <a:t>相关工作的支持和优化，最近也在支持</a:t>
            </a:r>
            <a:r>
              <a:rPr lang="en-US" altLang="zh-CN" sz="2000" dirty="0" err="1"/>
              <a:t>sglang</a:t>
            </a:r>
            <a:r>
              <a:rPr lang="zh-CN" altLang="en-US" sz="2000" dirty="0"/>
              <a:t>接入</a:t>
            </a:r>
            <a:r>
              <a:rPr lang="en-US" altLang="zh-CN" sz="2000" dirty="0" err="1"/>
              <a:t>lmcache</a:t>
            </a:r>
            <a:r>
              <a:rPr lang="zh-CN" altLang="en-US" sz="2000" dirty="0"/>
              <a:t>相关的工作</a:t>
            </a:r>
            <a:r>
              <a:rPr sz="2000" dirty="0"/>
              <a:t>。</a:t>
            </a:r>
            <a:endParaRPr lang="en-US" sz="2000" dirty="0"/>
          </a:p>
          <a:p>
            <a:pPr marL="0" indent="0" algn="l">
              <a:buNone/>
            </a:pPr>
            <a:endParaRPr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3B618-2042-C29A-F59D-B83F1F98732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66400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今天</a:t>
            </a:r>
            <a:r>
              <a:rPr lang="zh-CN" altLang="en-US" sz="2000" dirty="0"/>
              <a:t>的分享内容主要</a:t>
            </a:r>
            <a:r>
              <a:rPr sz="2000" dirty="0" err="1"/>
              <a:t>分成六部分</a:t>
            </a:r>
            <a:r>
              <a:rPr sz="2000" dirty="0"/>
              <a:t>。</a:t>
            </a:r>
            <a:r>
              <a:rPr lang="zh-CN" altLang="en-US" sz="2000" dirty="0"/>
              <a:t>首</a:t>
            </a:r>
            <a:r>
              <a:rPr sz="2000" dirty="0" err="1"/>
              <a:t>先</a:t>
            </a:r>
            <a:r>
              <a:rPr lang="zh-CN" altLang="en-US" sz="2000" dirty="0"/>
              <a:t>是</a:t>
            </a:r>
            <a:r>
              <a:rPr sz="2000" dirty="0" err="1"/>
              <a:t>架构演进，解释为什么从</a:t>
            </a:r>
            <a:r>
              <a:rPr lang="en-US" altLang="zh-CN" sz="2000" dirty="0" err="1"/>
              <a:t>in</a:t>
            </a:r>
            <a:r>
              <a:rPr lang="zh-CN" altLang="en-US" sz="2000" dirty="0"/>
              <a:t> </a:t>
            </a:r>
            <a:r>
              <a:rPr lang="en-US" altLang="zh-CN" sz="2000" dirty="0"/>
              <a:t>process</a:t>
            </a:r>
            <a:r>
              <a:rPr lang="zh-CN" altLang="en-US" sz="2000" dirty="0"/>
              <a:t>模式</a:t>
            </a:r>
            <a:r>
              <a:rPr sz="2000" dirty="0" err="1"/>
              <a:t>走向独立缓存服务</a:t>
            </a:r>
            <a:r>
              <a:rPr lang="zh-CN" altLang="en-US" sz="2000" dirty="0"/>
              <a:t>，也就是</a:t>
            </a:r>
            <a:r>
              <a:rPr lang="en-US" altLang="zh-CN" sz="2000" dirty="0"/>
              <a:t>Multi-Process</a:t>
            </a:r>
            <a:r>
              <a:rPr lang="zh-CN" altLang="en-US" sz="2000" dirty="0"/>
              <a:t>模式</a:t>
            </a:r>
            <a:r>
              <a:rPr sz="2000" dirty="0"/>
              <a:t>；</a:t>
            </a:r>
            <a:r>
              <a:rPr sz="2000" dirty="0" err="1"/>
              <a:t>第二部分</a:t>
            </a:r>
            <a:r>
              <a:rPr lang="zh-CN" altLang="en-US" sz="2000" dirty="0"/>
              <a:t>和第三部分会</a:t>
            </a:r>
            <a:r>
              <a:rPr sz="2000" dirty="0" err="1"/>
              <a:t>深入</a:t>
            </a:r>
            <a:r>
              <a:rPr sz="2000" dirty="0"/>
              <a:t> MP </a:t>
            </a:r>
            <a:r>
              <a:rPr sz="2000" dirty="0" err="1"/>
              <a:t>模式</a:t>
            </a:r>
            <a:r>
              <a:rPr sz="2000" dirty="0"/>
              <a:t>，</a:t>
            </a:r>
            <a:r>
              <a:rPr lang="zh-CN" altLang="en-US" sz="2000" dirty="0"/>
              <a:t>分别介绍</a:t>
            </a:r>
            <a:r>
              <a:rPr lang="en-US" altLang="zh-CN" sz="2000" dirty="0"/>
              <a:t>MP</a:t>
            </a:r>
            <a:r>
              <a:rPr lang="zh-CN" altLang="en-US" sz="2000" dirty="0"/>
              <a:t>模式的架构、通信、架构收益以及性能优势</a:t>
            </a:r>
            <a:r>
              <a:rPr sz="2000" dirty="0"/>
              <a:t>。</a:t>
            </a:r>
          </a:p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之后介绍</a:t>
            </a:r>
            <a:r>
              <a:rPr lang="zh-CN" altLang="en-US" sz="2000" dirty="0"/>
              <a:t>推理</a:t>
            </a:r>
            <a:r>
              <a:rPr sz="2000" dirty="0" err="1"/>
              <a:t>引擎、存储</a:t>
            </a:r>
            <a:r>
              <a:rPr sz="2000" dirty="0"/>
              <a:t>、</a:t>
            </a:r>
            <a:r>
              <a:rPr lang="zh-CN" altLang="en-US" sz="2000" dirty="0"/>
              <a:t>硬件平台</a:t>
            </a:r>
            <a:r>
              <a:rPr sz="2000" dirty="0" err="1"/>
              <a:t>这几个扩展边界，再讨论部署、监控和故障处理。最后谈社区协作，以及</a:t>
            </a:r>
            <a:r>
              <a:rPr sz="2000" dirty="0"/>
              <a:t> KV Cache </a:t>
            </a:r>
            <a:r>
              <a:rPr sz="2000" dirty="0" err="1"/>
              <a:t>管理还能往哪些方向发展</a:t>
            </a:r>
            <a:r>
              <a:rPr sz="2000" dirty="0"/>
              <a:t>。</a:t>
            </a:r>
            <a:endParaRPr lang="en-US" sz="2000" dirty="0"/>
          </a:p>
          <a:p>
            <a:pPr marL="0" indent="0" algn="l">
              <a:buNone/>
            </a:pPr>
            <a:endParaRPr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D33EE-E759-09CC-CD60-78BAA1459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2FA2BE-FDBB-73AE-F72E-2F2C5EF82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5A6766-6527-4792-3B76-B658227CD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我们先从最直观的</a:t>
            </a:r>
            <a:r>
              <a:rPr sz="2000" dirty="0"/>
              <a:t> In-process </a:t>
            </a:r>
            <a:r>
              <a:rPr sz="2000" dirty="0" err="1"/>
              <a:t>模式讲起。理解了它的运行边界，后面就容易看清楚，MP</a:t>
            </a:r>
            <a:r>
              <a:rPr sz="2000" dirty="0"/>
              <a:t> </a:t>
            </a:r>
            <a:r>
              <a:rPr sz="2000" dirty="0" err="1"/>
              <a:t>到底改变了什么</a:t>
            </a:r>
            <a:r>
              <a:rPr sz="2000" dirty="0"/>
              <a:t>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A13F1-AB6E-C09A-FDE1-67254F327615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35114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lang="en-US" altLang="zh-CN" sz="2000" dirty="0" err="1"/>
              <a:t>LMCache</a:t>
            </a:r>
            <a:r>
              <a:rPr lang="zh-CN" altLang="en-US" sz="2000" dirty="0"/>
              <a:t>最初的实现就是</a:t>
            </a:r>
            <a:r>
              <a:rPr lang="en-US" altLang="zh-CN" sz="2000" dirty="0"/>
              <a:t>in-process</a:t>
            </a:r>
            <a:r>
              <a:rPr lang="zh-CN" altLang="en-US" sz="2000" dirty="0"/>
              <a:t>模式，在</a:t>
            </a:r>
            <a:r>
              <a:rPr lang="en-US" altLang="zh-CN" sz="2000" dirty="0"/>
              <a:t>in-process</a:t>
            </a:r>
            <a:r>
              <a:rPr lang="zh-CN" altLang="en-US" sz="2000" dirty="0"/>
              <a:t>模式中，</a:t>
            </a:r>
            <a:r>
              <a:rPr sz="2000" dirty="0" err="1"/>
              <a:t>每个</a:t>
            </a:r>
            <a:r>
              <a:rPr sz="2000" dirty="0"/>
              <a:t> </a:t>
            </a:r>
            <a:r>
              <a:rPr lang="zh-CN" altLang="en-US" sz="2000" dirty="0"/>
              <a:t>推理</a:t>
            </a:r>
            <a:r>
              <a:rPr sz="2000" dirty="0"/>
              <a:t> </a:t>
            </a:r>
            <a:r>
              <a:rPr lang="zh-CN" altLang="en-US" sz="2000" dirty="0"/>
              <a:t>子</a:t>
            </a:r>
            <a:r>
              <a:rPr sz="2000" dirty="0" err="1"/>
              <a:t>进程里都有</a:t>
            </a:r>
            <a:r>
              <a:rPr lang="en-US" altLang="zh-CN" sz="2000" dirty="0" err="1"/>
              <a:t>LMCache</a:t>
            </a:r>
            <a:r>
              <a:rPr lang="zh-CN" altLang="en-US" sz="2000" dirty="0"/>
              <a:t> </a:t>
            </a:r>
            <a:r>
              <a:rPr sz="2000" dirty="0" err="1"/>
              <a:t>Connector，以及</a:t>
            </a:r>
            <a:r>
              <a:rPr sz="2000" dirty="0"/>
              <a:t> </a:t>
            </a:r>
            <a:r>
              <a:rPr sz="2000" dirty="0" err="1"/>
              <a:t>LMCache</a:t>
            </a:r>
            <a:r>
              <a:rPr sz="2000" dirty="0"/>
              <a:t> </a:t>
            </a:r>
            <a:r>
              <a:rPr lang="en-US" altLang="zh-CN" sz="2000" dirty="0" err="1"/>
              <a:t>library</a:t>
            </a:r>
            <a:r>
              <a:rPr sz="2000" dirty="0" err="1"/>
              <a:t>库</a:t>
            </a:r>
            <a:r>
              <a:rPr lang="zh-CN" altLang="en-US" sz="2000" dirty="0"/>
              <a:t>，推理子进程</a:t>
            </a:r>
            <a:r>
              <a:rPr sz="2000" dirty="0" err="1"/>
              <a:t>通过</a:t>
            </a:r>
            <a:r>
              <a:rPr sz="2000" dirty="0"/>
              <a:t> Connector </a:t>
            </a:r>
            <a:r>
              <a:rPr sz="2000" dirty="0" err="1"/>
              <a:t>调用</a:t>
            </a:r>
            <a:r>
              <a:rPr lang="en-US" altLang="zh-CN" sz="2000" dirty="0" err="1"/>
              <a:t>KV</a:t>
            </a:r>
            <a:r>
              <a:rPr lang="zh-CN" altLang="en-US" sz="2000" dirty="0"/>
              <a:t> </a:t>
            </a:r>
            <a:r>
              <a:rPr lang="en-US" altLang="zh-CN" sz="2000" dirty="0"/>
              <a:t>Cache</a:t>
            </a:r>
            <a:r>
              <a:rPr lang="zh-CN" altLang="en-US" sz="2000" dirty="0"/>
              <a:t>的</a:t>
            </a:r>
            <a:r>
              <a:rPr sz="2000" dirty="0" err="1"/>
              <a:t>缓存</a:t>
            </a:r>
            <a:r>
              <a:rPr lang="zh-CN" altLang="en-US" sz="2000" dirty="0"/>
              <a:t>能力</a:t>
            </a:r>
            <a:r>
              <a:rPr sz="2000" dirty="0"/>
              <a:t>，KV</a:t>
            </a:r>
            <a:r>
              <a:rPr lang="zh-CN" altLang="en-US" sz="2000" dirty="0"/>
              <a:t> </a:t>
            </a:r>
            <a:r>
              <a:rPr lang="en-US" altLang="zh-CN" sz="2000" dirty="0"/>
              <a:t>Cache</a:t>
            </a:r>
            <a:r>
              <a:rPr sz="2000" dirty="0"/>
              <a:t> </a:t>
            </a:r>
            <a:r>
              <a:rPr sz="2000" dirty="0" err="1"/>
              <a:t>管理和后端</a:t>
            </a:r>
            <a:r>
              <a:rPr sz="2000" dirty="0"/>
              <a:t> I/O </a:t>
            </a:r>
            <a:r>
              <a:rPr sz="2000" dirty="0" err="1"/>
              <a:t>都由</a:t>
            </a:r>
            <a:r>
              <a:rPr lang="zh-CN" altLang="en-US" sz="2000" dirty="0"/>
              <a:t>推理</a:t>
            </a:r>
            <a:r>
              <a:rPr sz="2000" dirty="0" err="1"/>
              <a:t>进程内的</a:t>
            </a:r>
            <a:r>
              <a:rPr lang="en-US" altLang="zh-CN" sz="2000" dirty="0" err="1"/>
              <a:t>LMCache</a:t>
            </a:r>
            <a:r>
              <a:rPr lang="zh-CN" altLang="en-US" sz="2000" dirty="0"/>
              <a:t> </a:t>
            </a:r>
            <a:r>
              <a:rPr sz="2000" dirty="0" err="1"/>
              <a:t>库来组织</a:t>
            </a:r>
            <a:r>
              <a:rPr sz="2000" dirty="0"/>
              <a:t>。</a:t>
            </a:r>
          </a:p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右侧的存储后端可以是本地，也可以是远端</a:t>
            </a:r>
            <a:r>
              <a:rPr sz="2000" dirty="0"/>
              <a:t>。</a:t>
            </a:r>
            <a:r>
              <a:rPr lang="zh-CN" altLang="en-US" sz="2000" dirty="0"/>
              <a:t>但是</a:t>
            </a:r>
            <a:r>
              <a:rPr sz="2000" dirty="0"/>
              <a:t>，</a:t>
            </a:r>
            <a:r>
              <a:rPr sz="2000" dirty="0" err="1"/>
              <a:t>连接了远端存储，并不意味着缓存管理本身已经变成了独立服务</a:t>
            </a:r>
            <a:r>
              <a:rPr sz="2000" dirty="0"/>
              <a:t>。 In-process </a:t>
            </a:r>
            <a:r>
              <a:rPr lang="zh-CN" altLang="en-US" sz="2000" dirty="0"/>
              <a:t>模式</a:t>
            </a:r>
            <a:r>
              <a:rPr sz="2000" dirty="0" err="1"/>
              <a:t>的关键，是这部分管理逻辑仍然</a:t>
            </a:r>
            <a:r>
              <a:rPr lang="zh-CN" altLang="en-US" sz="2000" dirty="0"/>
              <a:t>内嵌</a:t>
            </a:r>
            <a:r>
              <a:rPr sz="2000" dirty="0" err="1"/>
              <a:t>在</a:t>
            </a:r>
            <a:r>
              <a:rPr lang="zh-CN" altLang="en-US" sz="2000" dirty="0"/>
              <a:t>推理</a:t>
            </a:r>
            <a:r>
              <a:rPr sz="2000" dirty="0" err="1"/>
              <a:t>进程里</a:t>
            </a:r>
            <a:r>
              <a:rPr sz="2000" dirty="0"/>
              <a:t>。</a:t>
            </a:r>
          </a:p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lang="zh-CN" altLang="en-US" sz="2000" dirty="0"/>
              <a:t>所以说，</a:t>
            </a:r>
            <a:r>
              <a:rPr lang="en-US" altLang="zh-CN" sz="2000" dirty="0"/>
              <a:t>in-process</a:t>
            </a:r>
            <a:r>
              <a:rPr lang="zh-CN" altLang="en-US" sz="2000" dirty="0"/>
              <a:t>模式</a:t>
            </a:r>
            <a:r>
              <a:rPr sz="2000" dirty="0" err="1"/>
              <a:t>这样的接入方式比较直接</a:t>
            </a:r>
            <a:r>
              <a:rPr lang="zh-CN" altLang="en-US" sz="2000" dirty="0"/>
              <a:t>和简单</a:t>
            </a:r>
            <a:r>
              <a:rPr sz="2000" dirty="0"/>
              <a:t>，</a:t>
            </a:r>
            <a:r>
              <a:rPr sz="2000" dirty="0" err="1"/>
              <a:t>但缓存管理也跟随</a:t>
            </a:r>
            <a:r>
              <a:rPr lang="zh-CN" altLang="en-US" sz="2000" dirty="0"/>
              <a:t>着推理子</a:t>
            </a:r>
            <a:r>
              <a:rPr sz="2000" dirty="0" err="1"/>
              <a:t>进程</a:t>
            </a:r>
            <a:r>
              <a:rPr lang="zh-CN" altLang="en-US" sz="2000" dirty="0"/>
              <a:t>的</a:t>
            </a:r>
            <a:r>
              <a:rPr sz="2000" dirty="0" err="1"/>
              <a:t>生命周期</a:t>
            </a:r>
            <a:r>
              <a:rPr lang="zh-CN" altLang="en-US" sz="2000" dirty="0"/>
              <a:t>，一旦推理子进程结束，缓存管理也随之结束</a:t>
            </a:r>
            <a:r>
              <a:rPr sz="2000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000" dirty="0"/>
              <a:t>了解了</a:t>
            </a:r>
            <a:r>
              <a:rPr lang="en" altLang="zh-CN" sz="2000" dirty="0"/>
              <a:t>In-process </a:t>
            </a:r>
            <a:r>
              <a:rPr lang="zh-CN" altLang="en" sz="2000" dirty="0"/>
              <a:t>模式</a:t>
            </a:r>
            <a:r>
              <a:rPr lang="zh-CN" altLang="en-US" sz="2000" dirty="0"/>
              <a:t>的架构，我们来看一下它在实际部署场景中需要面对的工程问题：</a:t>
            </a:r>
            <a:endParaRPr lang="en-US" altLang="zh-CN" sz="2000" dirty="0"/>
          </a:p>
          <a:p>
            <a:endParaRPr lang="zh-CN" altLang="en-US" sz="2000" dirty="0"/>
          </a:p>
          <a:p>
            <a:r>
              <a:rPr lang="zh-CN" altLang="en-US" sz="2000" dirty="0"/>
              <a:t>首先是状态分散。各子进程分别管理</a:t>
            </a:r>
            <a:r>
              <a:rPr lang="en-US" altLang="zh-CN" sz="2000" dirty="0"/>
              <a:t>KV</a:t>
            </a:r>
            <a:r>
              <a:rPr lang="zh-CN" altLang="en-US" sz="2000" dirty="0"/>
              <a:t> </a:t>
            </a:r>
            <a:r>
              <a:rPr lang="en-US" altLang="zh-CN" sz="2000" dirty="0"/>
              <a:t>Cache</a:t>
            </a:r>
            <a:r>
              <a:rPr lang="zh-CN" altLang="en-US" sz="2000" dirty="0"/>
              <a:t>缓存，在一些 </a:t>
            </a:r>
            <a:r>
              <a:rPr lang="en" altLang="zh-CN" sz="2000" dirty="0"/>
              <a:t>MLA </a:t>
            </a:r>
            <a:r>
              <a:rPr lang="zh-CN" altLang="en-US" sz="2000" dirty="0"/>
              <a:t>场景中，相同的 </a:t>
            </a:r>
            <a:r>
              <a:rPr lang="en" altLang="zh-CN" sz="2000" dirty="0"/>
              <a:t>KV </a:t>
            </a:r>
            <a:r>
              <a:rPr lang="zh-CN" altLang="en-US" sz="2000" dirty="0"/>
              <a:t>可能被多次 </a:t>
            </a:r>
            <a:r>
              <a:rPr lang="en" altLang="zh-CN" sz="2000" dirty="0"/>
              <a:t>offload </a:t>
            </a:r>
            <a:r>
              <a:rPr lang="zh-CN" altLang="en-US" sz="2000" dirty="0"/>
              <a:t>到 </a:t>
            </a:r>
            <a:r>
              <a:rPr lang="en" altLang="zh-CN" sz="2000" dirty="0"/>
              <a:t>CPU</a:t>
            </a:r>
            <a:r>
              <a:rPr lang="zh-CN" altLang="en-US" sz="2000" dirty="0"/>
              <a:t>，这会增加容量开销或传输开销。</a:t>
            </a:r>
            <a:endParaRPr lang="en-US" altLang="zh-CN" sz="2000" dirty="0"/>
          </a:p>
          <a:p>
            <a:endParaRPr lang="zh-CN" altLang="en-US" sz="2000" dirty="0"/>
          </a:p>
          <a:p>
            <a:r>
              <a:rPr lang="zh-CN" altLang="en-US" sz="2000" dirty="0"/>
              <a:t>第二是运行时耦合。</a:t>
            </a:r>
            <a:r>
              <a:rPr lang="en" altLang="zh-CN" sz="2000" dirty="0"/>
              <a:t> </a:t>
            </a:r>
            <a:r>
              <a:rPr lang="zh-CN" altLang="en-US" sz="2000" dirty="0"/>
              <a:t>推理服务和缓存管理服务在同一个</a:t>
            </a:r>
            <a:r>
              <a:rPr lang="en-US" altLang="zh-CN" sz="2000" dirty="0"/>
              <a:t>python</a:t>
            </a:r>
            <a:r>
              <a:rPr lang="zh-CN" altLang="en-US" sz="2000" dirty="0"/>
              <a:t>进程中，会竞争同一个 </a:t>
            </a:r>
            <a:r>
              <a:rPr lang="en" altLang="zh-CN" sz="2000" dirty="0"/>
              <a:t>GIL</a:t>
            </a:r>
            <a:r>
              <a:rPr lang="zh-CN" altLang="en" sz="2000" dirty="0"/>
              <a:t>，</a:t>
            </a:r>
            <a:r>
              <a:rPr lang="en" altLang="zh-CN" sz="2000" dirty="0"/>
              <a:t>I/O </a:t>
            </a:r>
            <a:r>
              <a:rPr lang="zh-CN" altLang="en-US" sz="2000" dirty="0"/>
              <a:t>提交、回调和同步也可能影响请求关键路径。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第三是生命周期和管理边界。推理进程退出后，缓存管理也随之结束，重启后，缓存的状态需要重新建立，后端数据是否还存在，要看具体存储方式，不能简单等同于所有 </a:t>
            </a:r>
            <a:r>
              <a:rPr lang="en" altLang="zh-CN" sz="2000" dirty="0"/>
              <a:t>KV </a:t>
            </a:r>
            <a:r>
              <a:rPr lang="zh-CN" altLang="en-US" sz="2000" dirty="0"/>
              <a:t>丢失。</a:t>
            </a:r>
          </a:p>
          <a:p>
            <a:pPr marL="0" indent="0" algn="l">
              <a:buNone/>
            </a:pPr>
            <a:endParaRPr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2000" dirty="0"/>
              <a:t>针对上一页说的问题，我们希望从三个方面优化。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第一，同一节点的各子进程共享当前节点 的</a:t>
            </a:r>
            <a:r>
              <a:rPr lang="en" altLang="zh-CN" sz="2000" dirty="0"/>
              <a:t>CPU </a:t>
            </a:r>
            <a:r>
              <a:rPr lang="zh-CN" altLang="en-US" sz="2000" dirty="0"/>
              <a:t>内存，统一规划，减少重复驻留和不必要的分发。</a:t>
            </a:r>
            <a:endParaRPr lang="en-US" altLang="zh-CN" sz="2000" dirty="0"/>
          </a:p>
          <a:p>
            <a:endParaRPr lang="zh-CN" altLang="en-US" sz="2000" dirty="0"/>
          </a:p>
          <a:p>
            <a:r>
              <a:rPr lang="zh-CN" altLang="en-US" sz="2000" dirty="0"/>
              <a:t>第二，让缓存管理有独立运行时。推理进程侧保留接入逻辑，通过 </a:t>
            </a:r>
            <a:r>
              <a:rPr lang="en" altLang="zh-CN" sz="2000" dirty="0"/>
              <a:t>IPC </a:t>
            </a:r>
            <a:r>
              <a:rPr lang="zh-CN" altLang="en-US" sz="2000" dirty="0"/>
              <a:t>发出操作请求；缓存侧独立推进 </a:t>
            </a:r>
            <a:r>
              <a:rPr lang="en" altLang="zh-CN" sz="2000" dirty="0"/>
              <a:t>I/O</a:t>
            </a:r>
            <a:r>
              <a:rPr lang="zh-CN" altLang="en" sz="2000" dirty="0"/>
              <a:t>，</a:t>
            </a:r>
            <a:r>
              <a:rPr lang="zh-CN" altLang="en-US" sz="2000" dirty="0"/>
              <a:t>并通过完成状态与推理进程协作。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第三，把缓存管理作为可以单独部署、监控和恢复的服务。注册、重连、降级和故障恢复都有明确的验证边界。</a:t>
            </a:r>
            <a:endParaRPr lang="en-US" altLang="zh-CN" sz="2000" dirty="0"/>
          </a:p>
          <a:p>
            <a:endParaRPr lang="zh-CN" altLang="en-US" sz="2000" dirty="0"/>
          </a:p>
          <a:p>
            <a:r>
              <a:rPr lang="zh-CN" altLang="en-US" sz="2000" dirty="0"/>
              <a:t>这三个方向共同引出下一章的 </a:t>
            </a:r>
            <a:r>
              <a:rPr lang="en" altLang="zh-CN" sz="2000" dirty="0"/>
              <a:t>MP </a:t>
            </a:r>
            <a:r>
              <a:rPr lang="zh-CN" altLang="en-US" sz="2000" dirty="0"/>
              <a:t>模式。</a:t>
            </a:r>
            <a:endParaRPr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BD99B0-A2F4-5EAD-0061-9BA9F24E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C2981-8AAD-C437-4800-E28F3F670E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FB991-5B8A-316A-0DE7-E44B8CBBD0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接下来</a:t>
            </a:r>
            <a:r>
              <a:rPr lang="zh-CN" altLang="en-US" sz="2000" dirty="0"/>
              <a:t>我们</a:t>
            </a:r>
            <a:r>
              <a:rPr sz="2000" dirty="0" err="1"/>
              <a:t>进入</a:t>
            </a:r>
            <a:r>
              <a:rPr sz="2000" dirty="0"/>
              <a:t> </a:t>
            </a:r>
            <a:r>
              <a:rPr lang="zh-CN" altLang="en-US" sz="2000" dirty="0"/>
              <a:t>第二章，</a:t>
            </a:r>
            <a:r>
              <a:rPr sz="2000" dirty="0"/>
              <a:t>MP </a:t>
            </a:r>
            <a:r>
              <a:rPr sz="2000" dirty="0" err="1"/>
              <a:t>模式</a:t>
            </a:r>
            <a:r>
              <a:rPr lang="zh-CN" altLang="en-US" sz="2000" dirty="0"/>
              <a:t>架构的相关介绍</a:t>
            </a:r>
            <a:r>
              <a:rPr sz="2000" dirty="0"/>
              <a:t>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CE7782-B02E-37A1-2F94-AC20FBD7D1E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92072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lang="en-US" altLang="zh-CN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lnSpc>
                <a:spcPct val="100000"/>
              </a:lnSpc>
            </a:pP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在上一章中，我们介绍了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in-process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模式的架构，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KV cache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管理能力 以 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Library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的形式，跑在每个推理内部。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</a:pPr>
            <a:endParaRPr lang="zh-CN" altLang="en-US" sz="2000" b="0" i="0" u="none" strike="noStrik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en-US" altLang="zh-CN" sz="2000" dirty="0" err="1"/>
              <a:t>MP模式的部署架构如图所示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，这也是 </a:t>
            </a:r>
            <a:r>
              <a:rPr lang="en-US" altLang="zh-CN" sz="2000" b="0" i="0" u="none" strike="noStrike" dirty="0" err="1">
                <a:solidFill>
                  <a:srgbClr val="000000">
                    <a:alpha val="100000"/>
                  </a:srgbClr>
                </a:solidFill>
              </a:rPr>
              <a:t>LMCache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独有的架构：多个 </a:t>
            </a:r>
            <a:r>
              <a:rPr lang="en-US" altLang="zh-CN" sz="2000" b="0" i="0" u="none" strike="noStrike" dirty="0" err="1">
                <a:solidFill>
                  <a:srgbClr val="000000">
                    <a:alpha val="100000"/>
                  </a:srgbClr>
                </a:solidFill>
              </a:rPr>
              <a:t>vLLM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子进程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都连到同一个 </a:t>
            </a:r>
            <a:r>
              <a:rPr lang="en-US" altLang="zh-CN" sz="2000" b="0" i="0" u="none" strike="noStrike" dirty="0" err="1">
                <a:solidFill>
                  <a:srgbClr val="000000">
                    <a:alpha val="100000"/>
                  </a:srgbClr>
                </a:solidFill>
              </a:rPr>
              <a:t>LMCache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MP Server——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每个节点一个统一的 </a:t>
            </a:r>
            <a:r>
              <a:rPr lang="en-US" altLang="zh-CN" sz="2000" b="0" i="0" u="none" strike="noStrike" dirty="0" err="1">
                <a:solidFill>
                  <a:srgbClr val="000000">
                    <a:alpha val="100000"/>
                  </a:srgbClr>
                </a:solidFill>
              </a:rPr>
              <a:t>LMCache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Server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进程，通过 </a:t>
            </a:r>
            <a:r>
              <a:rPr lang="en-US" altLang="zh-CN" sz="2000" b="0" i="0" u="none" strike="noStrike" dirty="0" err="1">
                <a:solidFill>
                  <a:srgbClr val="000000">
                    <a:alpha val="100000"/>
                  </a:srgbClr>
                </a:solidFill>
              </a:rPr>
              <a:t>CudaIPC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直接共享 </a:t>
            </a:r>
            <a:r>
              <a:rPr lang="en-US" altLang="zh-CN" sz="2000" b="0" i="0" u="none" strike="noStrike" dirty="0" err="1">
                <a:solidFill>
                  <a:srgbClr val="000000">
                    <a:alpha val="100000"/>
                  </a:srgbClr>
                </a:solidFill>
              </a:rPr>
              <a:t>vLLM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的 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GPU buffer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，同时</a:t>
            </a:r>
            <a:r>
              <a:rPr lang="zh-CN" altLang="en-US" sz="2000" dirty="0"/>
              <a:t>作为独立进程管理 </a:t>
            </a:r>
            <a:r>
              <a:rPr lang="en" altLang="zh-CN" sz="2000" dirty="0"/>
              <a:t>CPU L1</a:t>
            </a:r>
            <a:r>
              <a:rPr lang="zh-CN" altLang="en" sz="2000" dirty="0"/>
              <a:t>，</a:t>
            </a:r>
            <a:r>
              <a:rPr lang="zh-CN" altLang="en-US" sz="2000" dirty="0"/>
              <a:t>并通过 </a:t>
            </a:r>
            <a:r>
              <a:rPr lang="en" altLang="zh-CN" sz="2000" dirty="0"/>
              <a:t>L2 Adapter </a:t>
            </a:r>
            <a:r>
              <a:rPr lang="zh-CN" altLang="en-US" sz="2000" dirty="0"/>
              <a:t>接入更低层的存储</a:t>
            </a:r>
            <a:endParaRPr lang="en-US" altLang="zh-CN" sz="2000" dirty="0"/>
          </a:p>
          <a:p>
            <a:pPr marL="0" indent="0" algn="l">
              <a:lnSpc>
                <a:spcPct val="100000"/>
              </a:lnSpc>
            </a:pPr>
            <a:endParaRPr lang="en-US" altLang="zh-CN" sz="2000" b="0" i="0" u="none" strike="noStrik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这样带来三个好处：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</a:pP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第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1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是 无干扰，不打扰 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model forward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，也没有 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GIL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竞争；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</a:pP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第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2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是 全局视野，能掌握所有 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KV cache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和 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CPU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内存的情况；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</a:pP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第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3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是 可被管理，可以直接向用户暴露 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KV Cache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管理接口。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</a:pPr>
            <a:endParaRPr lang="en-US" altLang="zh-CN" sz="2000" b="0" i="0" u="none" strike="noStrik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2000" dirty="0">
                <a:solidFill>
                  <a:srgbClr val="000000">
                    <a:alpha val="100000"/>
                  </a:srgbClr>
                </a:solidFill>
              </a:rPr>
              <a:t>所以说，将 </a:t>
            </a:r>
            <a:r>
              <a:rPr lang="en-US" altLang="zh-CN" sz="2000" dirty="0">
                <a:solidFill>
                  <a:srgbClr val="000000">
                    <a:alpha val="100000"/>
                  </a:srgbClr>
                </a:solidFill>
              </a:rPr>
              <a:t>KV Cache </a:t>
            </a:r>
            <a:r>
              <a:rPr lang="zh-CN" altLang="en-US" sz="2000" dirty="0">
                <a:solidFill>
                  <a:srgbClr val="000000">
                    <a:alpha val="100000"/>
                  </a:srgbClr>
                </a:solidFill>
              </a:rPr>
              <a:t>管理从推理引擎中解耦，是提升大模型推理服务性能和稳定性的核心设计思想。</a:t>
            </a:r>
            <a:endParaRPr lang="zh-CN" altLang="en-US" sz="2000" dirty="0"/>
          </a:p>
          <a:p>
            <a:pPr marL="0" indent="0" algn="l">
              <a:buNone/>
            </a:pPr>
            <a:endParaRPr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lang="en-US" sz="2000" dirty="0"/>
          </a:p>
          <a:p>
            <a:pPr marL="0" indent="0" algn="l">
              <a:lnSpc>
                <a:spcPct val="100000"/>
              </a:lnSpc>
            </a:pP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那推理引擎 具体是怎么跟</a:t>
            </a:r>
            <a:r>
              <a:rPr lang="en" altLang="zh-CN" sz="2000" b="0" i="0" u="none" strike="noStrike" dirty="0" err="1">
                <a:solidFill>
                  <a:srgbClr val="000000">
                    <a:alpha val="100000"/>
                  </a:srgbClr>
                </a:solidFill>
              </a:rPr>
              <a:t>LMCache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连接起来的呢？</a:t>
            </a:r>
          </a:p>
          <a:p>
            <a:pPr marL="0" indent="0" algn="l">
              <a:lnSpc>
                <a:spcPct val="100000"/>
              </a:lnSpc>
            </a:pPr>
            <a:endParaRPr lang="zh-CN" altLang="en-US" sz="2000" b="0" i="0" u="none" strike="noStrik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看上面这张架构图，左边是 </a:t>
            </a:r>
            <a:r>
              <a:rPr lang="zh-CN" altLang="e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推理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进程，它们可能跑着不同的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TP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配置，这些 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Worker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并不直接管理缓存，而是通过 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ZMQ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建立的长连接，跟右边的 </a:t>
            </a:r>
            <a:r>
              <a:rPr lang="en" altLang="zh-CN" sz="2000" b="0" i="0" u="none" strike="noStrike" dirty="0" err="1">
                <a:solidFill>
                  <a:srgbClr val="000000">
                    <a:alpha val="100000"/>
                  </a:srgbClr>
                </a:solidFill>
              </a:rPr>
              <a:t>LMCache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Daemon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守护进程通信。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</a:pPr>
            <a:endParaRPr lang="zh-CN" altLang="en-US" sz="2000" b="0" i="0" u="none" strike="noStrik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这里有个很关键的问题：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KV Cache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的数据量本来就大，如果跨进程传输，会不会产生很大的开销，反而拖慢速度？这正是 </a:t>
            </a:r>
            <a:r>
              <a:rPr lang="en" altLang="zh-CN" sz="2000" b="0" i="0" u="none" strike="noStrike" dirty="0" err="1">
                <a:solidFill>
                  <a:srgbClr val="000000">
                    <a:alpha val="100000"/>
                  </a:srgbClr>
                </a:solidFill>
              </a:rPr>
              <a:t>LMCache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设计比较巧妙的地方，主要靠下面三点：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</a:pPr>
            <a:endParaRPr lang="zh-CN" altLang="en-US" sz="2000" b="0" i="0" u="none" strike="noStrik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第一，零拷贝共享。初始化的时候，通过注册 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IPC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指针，让 </a:t>
            </a:r>
            <a:r>
              <a:rPr lang="en" altLang="zh-CN" sz="2000" b="0" i="0" u="none" strike="noStrike" dirty="0" err="1">
                <a:solidFill>
                  <a:srgbClr val="000000">
                    <a:alpha val="100000"/>
                  </a:srgbClr>
                </a:solidFill>
              </a:rPr>
              <a:t>LMCache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进程能直接访问 </a:t>
            </a:r>
            <a:r>
              <a:rPr lang="en" altLang="zh-CN" sz="2000" b="0" i="0" u="none" strike="noStrike" dirty="0" err="1">
                <a:solidFill>
                  <a:srgbClr val="000000">
                    <a:alpha val="100000"/>
                  </a:srgbClr>
                </a:solidFill>
              </a:rPr>
              <a:t>vLLM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worker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管理的 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GPU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显存，这样就省掉了进程间数据复制这一步。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</a:pPr>
            <a:endParaRPr lang="zh-CN" altLang="en-US" sz="2000" b="0" i="0" u="none" strike="noStrik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第二，通信非常轻量。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Worker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和 </a:t>
            </a:r>
            <a:r>
              <a:rPr lang="en" altLang="zh-CN" sz="2000" b="0" i="0" u="none" strike="noStrike" dirty="0" err="1">
                <a:solidFill>
                  <a:srgbClr val="000000">
                    <a:alpha val="100000"/>
                  </a:srgbClr>
                </a:solidFill>
              </a:rPr>
              <a:t>LMCache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之间只传递 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Block ID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这种元数据，就像只传个快递单号，而不是把整个包裹搬来搬去。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</a:pPr>
            <a:endParaRPr lang="zh-CN" altLang="en-US" sz="2000" b="0" i="0" u="none" strike="noStrik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第三，真正的数据搬运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——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比如内存到显存这种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——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全部限制在 </a:t>
            </a:r>
            <a:r>
              <a:rPr lang="en" altLang="zh-CN" sz="2000" b="0" i="0" u="none" strike="noStrike" dirty="0" err="1">
                <a:solidFill>
                  <a:srgbClr val="000000">
                    <a:alpha val="100000"/>
                  </a:srgbClr>
                </a:solidFill>
              </a:rPr>
              <a:t>LMCache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进程内部完成，减少了跨进程切换的开销。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</a:pPr>
            <a:endParaRPr lang="zh-CN" altLang="en-US" sz="2000" b="0" i="0" u="none" strike="noStrik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这三点加在一起，就实现了计算和缓存管理之间，比较彻底的解耦，同时也不增加数据拷贝。</a:t>
            </a:r>
            <a:endParaRPr lang="zh-CN" altLang="en-US" sz="2000" dirty="0"/>
          </a:p>
          <a:p>
            <a:pPr marL="0" indent="0" algn="l">
              <a:buNone/>
            </a:pPr>
            <a:endParaRPr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9F846-5B72-2577-8AD4-6DC1A9277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144268-188A-92AB-37B1-396048A41C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BB12B8-6097-E2B2-23D1-314C80917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</a:pP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把这套架构理清楚之后，我们来看看 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MP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模式具体带来了哪些收益。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</a:pPr>
            <a:endParaRPr lang="zh-CN" altLang="en-US" sz="2000" b="0" i="0" u="none" strike="noStrik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第一个收益，是更优的性能。</a:t>
            </a:r>
            <a:endParaRPr lang="zh-CN" altLang="en-US" sz="2000" dirty="0"/>
          </a:p>
          <a:p>
            <a:pPr marL="342900" indent="-342900" algn="l">
              <a:lnSpc>
                <a:spcPct val="100000"/>
              </a:lnSpc>
              <a:buFontTx/>
              <a:buChar char="-"/>
            </a:pP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独立进程之后，多个 </a:t>
            </a:r>
            <a:r>
              <a:rPr lang="en" altLang="zh-CN" sz="2000" b="0" i="0" u="none" strike="noStrike" dirty="0" err="1">
                <a:solidFill>
                  <a:srgbClr val="000000">
                    <a:alpha val="100000"/>
                  </a:srgbClr>
                </a:solidFill>
              </a:rPr>
              <a:t>vLLM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进程共享一份 </a:t>
            </a:r>
            <a:r>
              <a:rPr lang="en" altLang="zh-CN" sz="2000" b="0" i="0" u="none" strike="noStrike" dirty="0" err="1">
                <a:solidFill>
                  <a:srgbClr val="000000">
                    <a:alpha val="100000"/>
                  </a:srgbClr>
                </a:solidFill>
              </a:rPr>
              <a:t>LMCache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Server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提供的缓存，大幅减少冗余存储量，并且支持｜同时｜向多个 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GPU </a:t>
            </a:r>
            <a:r>
              <a:rPr lang="zh-CN" altLang="e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｜ 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load </a:t>
            </a:r>
            <a:r>
              <a:rPr lang="en" altLang="zh-CN" sz="2000" dirty="0">
                <a:solidFill>
                  <a:srgbClr val="000000">
                    <a:alpha val="100000"/>
                  </a:srgbClr>
                </a:solidFill>
              </a:rPr>
              <a:t>KV Cache.</a:t>
            </a:r>
            <a:endParaRPr lang="en" altLang="zh-CN" sz="2000" b="0" i="0" u="none" strike="noStrike" dirty="0">
              <a:solidFill>
                <a:sysClr val="windowText" lastClr="000000"/>
              </a:solidFill>
            </a:endParaRPr>
          </a:p>
          <a:p>
            <a:pPr marL="342900" indent="-342900" algn="l">
              <a:lnSpc>
                <a:spcPct val="100000"/>
              </a:lnSpc>
              <a:buFontTx/>
              <a:buChar char="-"/>
            </a:pP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还是因为独立了 </a:t>
            </a:r>
            <a:r>
              <a:rPr lang="en" altLang="zh-CN" sz="2000" b="0" i="0" u="none" strike="noStrike" dirty="0" err="1">
                <a:solidFill>
                  <a:srgbClr val="000000">
                    <a:alpha val="100000"/>
                  </a:srgbClr>
                </a:solidFill>
              </a:rPr>
              <a:t>LMCache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Server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进程，我们彻底消除了 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Python GIL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锁｜带来的并发瓶颈，推理计算｜不会再被 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I/O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操作阻塞；</a:t>
            </a:r>
            <a:endParaRPr lang="en-US" altLang="zh-CN" sz="2000" b="0" i="0" u="none" strike="noStrike" dirty="0">
              <a:solidFill>
                <a:srgbClr val="000000">
                  <a:alpha val="100000"/>
                </a:srgbClr>
              </a:solidFill>
            </a:endParaRPr>
          </a:p>
          <a:p>
            <a:pPr marL="342900" indent="-342900" algn="l">
              <a:lnSpc>
                <a:spcPct val="100000"/>
              </a:lnSpc>
              <a:buFontTx/>
              <a:buChar char="-"/>
            </a:pPr>
            <a:endParaRPr lang="en-US" altLang="zh-CN" sz="2000" b="0" i="0" u="none" strike="noStrike" dirty="0">
              <a:solidFill>
                <a:srgbClr val="000000">
                  <a:alpha val="100000"/>
                </a:srgbClr>
              </a:solidFill>
            </a:endParaRPr>
          </a:p>
          <a:p>
            <a:pPr marL="342900" indent="-342900" algn="l">
              <a:lnSpc>
                <a:spcPct val="100000"/>
              </a:lnSpc>
              <a:buFontTx/>
              <a:buChar char="-"/>
            </a:pPr>
            <a:endParaRPr lang="zh-CN" altLang="en-US" sz="2000" b="0" i="0" u="none" strike="noStrik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2000" dirty="0">
                <a:solidFill>
                  <a:srgbClr val="000000">
                    <a:alpha val="100000"/>
                  </a:srgbClr>
                </a:solidFill>
                <a:sym typeface="Arial"/>
              </a:rPr>
              <a:t>第二，是更可管理运维。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</a:pPr>
            <a:r>
              <a:rPr lang="en-US" altLang="zh-CN" sz="2000" dirty="0">
                <a:solidFill>
                  <a:srgbClr val="000000">
                    <a:alpha val="100000"/>
                  </a:srgbClr>
                </a:solidFill>
                <a:sym typeface="Arial"/>
              </a:rPr>
              <a:t>- </a:t>
            </a:r>
            <a:r>
              <a:rPr lang="zh-CN" altLang="en-US" sz="2000" dirty="0">
                <a:solidFill>
                  <a:srgbClr val="000000">
                    <a:alpha val="100000"/>
                  </a:srgbClr>
                </a:solidFill>
                <a:sym typeface="Arial"/>
              </a:rPr>
              <a:t>进程级隔离意味着｜缓存服务出故障，不会直接｜把推理引擎带崩，这就做到了｜故障隔离；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</a:pPr>
            <a:r>
              <a:rPr lang="en-US" altLang="zh-CN" sz="2000" dirty="0">
                <a:solidFill>
                  <a:srgbClr val="000000">
                    <a:alpha val="100000"/>
                  </a:srgbClr>
                </a:solidFill>
                <a:sym typeface="Arial"/>
              </a:rPr>
              <a:t>- </a:t>
            </a:r>
            <a:r>
              <a:rPr lang="zh-CN" altLang="en-US" sz="2000" dirty="0">
                <a:solidFill>
                  <a:srgbClr val="000000">
                    <a:alpha val="100000"/>
                  </a:srgbClr>
                </a:solidFill>
                <a:sym typeface="Arial"/>
              </a:rPr>
              <a:t>同时，我们可以对缓存进程｜单独做监控和运维，整个系统的｜稳定性｜和可观测性｜都上了一个台阶。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</a:pPr>
            <a:endParaRPr lang="zh-CN" altLang="en-US" sz="2000" b="0" i="0" u="none" strike="noStrik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第三，是更易扩展。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</a:pPr>
            <a:r>
              <a:rPr lang="en" altLang="zh-CN" sz="2000" b="0" i="0" u="none" strike="noStrike" dirty="0" err="1">
                <a:solidFill>
                  <a:srgbClr val="000000">
                    <a:alpha val="100000"/>
                  </a:srgbClr>
                </a:solidFill>
              </a:rPr>
              <a:t>KVCache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管理逻辑做成了插件化，这意味着｜开发新的缓存后端｜或者｜适配新模型、新加速硬件的时候，都不需要去改内核代码，这大大降低了开发风险，也加快了新功能落地验证的速度。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</a:pPr>
            <a:endParaRPr lang="zh-CN" altLang="en-US" sz="2000" b="0" i="0" u="none" strike="noStrik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</a:pP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其实从架构层面讲：把 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KV Cache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管理从推理进程里独立出来，单独形成一个 </a:t>
            </a:r>
            <a:r>
              <a:rPr lang="en" altLang="zh-CN" sz="2000" b="0" i="0" u="none" strike="noStrike" dirty="0" err="1">
                <a:solidFill>
                  <a:srgbClr val="000000">
                    <a:alpha val="100000"/>
                  </a:srgbClr>
                </a:solidFill>
              </a:rPr>
              <a:t>LMCache</a:t>
            </a:r>
            <a:r>
              <a:rPr lang="e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zh-CN" altLang="en-US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进程，这种物理隔离，其实是前面这些收益的基础。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</a:pPr>
            <a:endParaRPr lang="zh-CN" altLang="en-US" sz="2000" b="0" i="0" u="none" strike="noStrik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</a:pPr>
            <a:endParaRPr lang="zh-CN" altLang="en-US" sz="2000" b="0" i="0" u="none" strike="noStrike" dirty="0">
              <a:solidFill>
                <a:srgbClr val="000000">
                  <a:alpha val="100000"/>
                </a:srgb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C1D314-96CE-0B54-049A-80385FADC4D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687176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39FEB-04A3-DB34-732C-2749E3529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FD7041-7051-A296-72E6-F8BBF1D8F1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D98883-B58F-2C7B-0A5B-09C1192E3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讲完了 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MP </a:t>
            </a:r>
            <a:r>
              <a:rPr lang="zh-C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模式的整体设计优势，我们进入第三部分，具体看看 </a:t>
            </a:r>
            <a:r>
              <a:rPr lang="en-US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MP </a:t>
            </a:r>
            <a:r>
              <a:rPr lang="zh-CN" altLang="zh-CN" sz="2000" b="0" i="0" u="none" strike="noStrike" dirty="0">
                <a:solidFill>
                  <a:srgbClr val="000000">
                    <a:alpha val="100000"/>
                  </a:srgbClr>
                </a:solidFill>
              </a:rPr>
              <a:t>模式，在实际场景下带来的性能收益。</a:t>
            </a:r>
            <a:endParaRPr lang="en-US" altLang="zh-CN" sz="2000" b="0" i="0" u="none" strike="noStrik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buNone/>
            </a:pPr>
            <a:endParaRPr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7C4DF5-173C-6F22-C45D-FA467D26051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1527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先看一个具体场景：这是单机 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CPU 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共享，在 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MLA 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场景下的对比。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  <a:buNone/>
            </a:pPr>
            <a:endParaRPr lang="zh-CN" altLang="en-US" sz="2000" b="0" i="0" u="non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左边是早期 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In-process 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模式下的缓存情况：每个 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TP 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的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Worker 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各自内嵌了一份 </a:t>
            </a:r>
            <a:r>
              <a:rPr lang="en" altLang="zh-CN" sz="2000" b="0" i="0" u="none" dirty="0" err="1">
                <a:solidFill>
                  <a:srgbClr val="000000">
                    <a:alpha val="100000"/>
                  </a:srgbClr>
                </a:solidFill>
              </a:rPr>
              <a:t>LMCache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 KV 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库，相同前缀的</a:t>
            </a:r>
            <a:r>
              <a:rPr lang="en-US" altLang="zh-CN" sz="2000" b="0" i="0" u="none" dirty="0" err="1">
                <a:solidFill>
                  <a:srgbClr val="000000">
                    <a:alpha val="100000"/>
                  </a:srgbClr>
                </a:solidFill>
              </a:rPr>
              <a:t>kv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en-US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cache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在各子进程内存里都保留了一份，好几份副本挤占着同一节点的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CPU 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内存。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  <a:buNone/>
            </a:pPr>
            <a:endParaRPr lang="zh-CN" altLang="en-US" sz="2000" b="0" i="0" u="non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中间是 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In-process 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模式下的改进版本，只有</a:t>
            </a:r>
            <a:r>
              <a:rPr lang="en-US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Rank0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保存一份，</a:t>
            </a:r>
            <a:r>
              <a:rPr lang="en-US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load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的时候再通过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Rank0 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广播到到其它 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Rank 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，这样确实减少冗余存储，但是需要经过 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GPU 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之间的广播和拷贝，这就占用了额外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GPU 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带宽，也拖慢推理速度。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  <a:buNone/>
            </a:pPr>
            <a:endParaRPr lang="zh-CN" altLang="en-US" sz="2000" b="0" i="0" u="non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右边是 </a:t>
            </a:r>
            <a:r>
              <a:rPr lang="en" altLang="zh-CN" sz="2000" b="0" i="0" u="none" dirty="0" err="1">
                <a:solidFill>
                  <a:srgbClr val="000000">
                    <a:alpha val="100000"/>
                  </a:srgbClr>
                </a:solidFill>
              </a:rPr>
              <a:t>LMCache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 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的 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MP 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模式：独立进程｜在本机维护一个｜统一的｜共享 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CPU KV 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池，各个 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Worker 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直接访问这个共享池，不需要重复冗余 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offload</a:t>
            </a:r>
            <a:r>
              <a:rPr lang="zh-CN" altLang="en" sz="2000" b="0" i="0" u="none" dirty="0">
                <a:solidFill>
                  <a:srgbClr val="000000">
                    <a:alpha val="100000"/>
                  </a:srgbClr>
                </a:solidFill>
              </a:rPr>
              <a:t>，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也不需要 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GPU 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广播同步。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  <a:buNone/>
            </a:pPr>
            <a:endParaRPr lang="zh-CN" altLang="en-US" sz="2000" b="0" i="0" u="non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核心结论就是：</a:t>
            </a:r>
            <a:r>
              <a:rPr lang="zh-CN" altLang="en-US" sz="3200" dirty="0"/>
              <a:t>在 </a:t>
            </a:r>
            <a:r>
              <a:rPr lang="en" altLang="zh-CN" sz="3200" dirty="0"/>
              <a:t>MLA </a:t>
            </a:r>
            <a:r>
              <a:rPr lang="zh-CN" altLang="en-US" sz="3200" dirty="0"/>
              <a:t>场景下，</a:t>
            </a:r>
            <a:r>
              <a:rPr lang="en" altLang="zh-CN" sz="3200" dirty="0"/>
              <a:t>MP </a:t>
            </a:r>
            <a:r>
              <a:rPr lang="zh-CN" altLang="en-US" sz="3200" dirty="0"/>
              <a:t>模式通过｜单机共享的｜</a:t>
            </a:r>
            <a:r>
              <a:rPr lang="en" altLang="zh-CN" sz="3200" dirty="0"/>
              <a:t>CPU KV </a:t>
            </a:r>
            <a:r>
              <a:rPr lang="zh-CN" altLang="en-US" sz="3200" dirty="0"/>
              <a:t>池，替代各 </a:t>
            </a:r>
            <a:r>
              <a:rPr lang="en" altLang="zh-CN" sz="3200" dirty="0"/>
              <a:t>TP Worker </a:t>
            </a:r>
            <a:r>
              <a:rPr lang="zh-CN" altLang="en-US" sz="3200" dirty="0"/>
              <a:t>独立维护的｜进程内缓存，既减少了 </a:t>
            </a:r>
            <a:r>
              <a:rPr lang="en" altLang="zh-CN" sz="3200" dirty="0"/>
              <a:t>KV </a:t>
            </a:r>
            <a:r>
              <a:rPr lang="zh-CN" altLang="en-US" sz="3200" dirty="0"/>
              <a:t>数据的重复存储，也省去了跨 </a:t>
            </a:r>
            <a:r>
              <a:rPr lang="en" altLang="zh-CN" sz="3200" dirty="0"/>
              <a:t>GPU </a:t>
            </a:r>
            <a:r>
              <a:rPr lang="zh-CN" altLang="en-US" sz="3200" dirty="0"/>
              <a:t>广播的开销。</a:t>
            </a:r>
            <a:endParaRPr lang="zh-CN" alt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/>
                </a:solidFill>
              </a:rPr>
              <a:t>再看另一个关键性能收益点就是消除 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GIL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开销。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  <a:buNone/>
            </a:pPr>
            <a:endParaRPr lang="zh-CN" altLang="en-US" sz="2000" b="0" i="0" u="none" dirty="0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/>
                </a:solidFill>
              </a:rPr>
              <a:t>在</a:t>
            </a:r>
            <a:r>
              <a:rPr lang="en-US" altLang="zh-CN" sz="2000" b="0" i="0" u="none" dirty="0">
                <a:solidFill>
                  <a:srgbClr val="000000"/>
                </a:solidFill>
              </a:rPr>
              <a:t>in-process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介绍的传统方案中，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KV Cache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的管理逻辑｜内嵌在 推理进程内。这样会有个明显问题：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Python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的 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GIL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锁，会成为性能瓶颈。同一个进程里，计算和 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I/O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操作｜会去抢 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GIL</a:t>
            </a:r>
            <a:r>
              <a:rPr lang="zh-CN" altLang="en" sz="2000" b="0" i="0" u="none" dirty="0">
                <a:solidFill>
                  <a:srgbClr val="000000"/>
                </a:solidFill>
              </a:rPr>
              <a:t>，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导致两者｜没法真正并行，高并发场景下会导致推理性能下降。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  <a:buNone/>
            </a:pPr>
            <a:endParaRPr lang="zh-CN" altLang="en-US" sz="2000" b="0" i="0" u="none" dirty="0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/>
                </a:solidFill>
              </a:rPr>
              <a:t>而图中的</a:t>
            </a:r>
            <a:r>
              <a:rPr lang="en" altLang="zh-CN" sz="2000" b="0" i="0" u="none" dirty="0" err="1">
                <a:solidFill>
                  <a:srgbClr val="000000"/>
                </a:solidFill>
              </a:rPr>
              <a:t>LMCache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的 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MP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多进程模式。这里｜做了一个｜关键的架构调整：把 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KV Cache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的管理剥离出来，放到一个｜独立的 </a:t>
            </a:r>
            <a:r>
              <a:rPr lang="en" altLang="zh-CN" sz="2000" b="0" i="0" u="none" dirty="0" err="1">
                <a:solidFill>
                  <a:srgbClr val="000000"/>
                </a:solidFill>
              </a:rPr>
              <a:t>LMCache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进程里。这样带来两个好处：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/>
                </a:solidFill>
              </a:rPr>
              <a:t>第一，彻底消除了 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GIL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争用，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Serving Engine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专心做推理，</a:t>
            </a:r>
            <a:r>
              <a:rPr lang="en" altLang="zh-CN" sz="2000" b="0" i="0" u="none" dirty="0" err="1">
                <a:solidFill>
                  <a:srgbClr val="000000"/>
                </a:solidFill>
              </a:rPr>
              <a:t>LMCache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进程专心处理 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I/O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和缓存管理，两边互不干扰；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/>
                </a:solidFill>
              </a:rPr>
              <a:t>第二，实现了更极致的 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I/O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并发，因为独立进程可以充分利用操作系统的调度能力，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SSD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的读写性能可以更好的释放。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  <a:buNone/>
            </a:pPr>
            <a:endParaRPr lang="zh-CN" altLang="en-US" sz="2000" b="0" i="0" u="none" dirty="0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/>
                </a:solidFill>
              </a:rPr>
              <a:t>总的来说，这种架构上的解耦，是突破 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Python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性能天花板、实现｜大模型推理服务｜高吞吐的关键一步。</a:t>
            </a:r>
            <a:endParaRPr lang="zh-CN" altLang="en-US" sz="2000" dirty="0"/>
          </a:p>
          <a:p>
            <a:pPr marL="0" indent="0" algn="l">
              <a:buNone/>
            </a:pPr>
            <a:endParaRPr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/>
              <a:t>最后，再看一下｜多级缓存和｜并行拼接这块。</a:t>
            </a:r>
            <a:r>
              <a:rPr lang="en" altLang="zh-CN" sz="2000" dirty="0"/>
              <a:t>KV Cache </a:t>
            </a:r>
            <a:r>
              <a:rPr lang="zh-CN" altLang="en-US" sz="2000" dirty="0"/>
              <a:t>其实可以放在好几个地方：有 </a:t>
            </a:r>
            <a:r>
              <a:rPr lang="en" altLang="zh-CN" sz="2000" dirty="0"/>
              <a:t>GPU</a:t>
            </a:r>
            <a:r>
              <a:rPr lang="zh-CN" altLang="en" sz="2000" dirty="0"/>
              <a:t>、</a:t>
            </a:r>
            <a:r>
              <a:rPr lang="zh-CN" altLang="en-US" sz="2000" dirty="0"/>
              <a:t>本地 </a:t>
            </a:r>
            <a:r>
              <a:rPr lang="en" altLang="zh-CN" sz="2000" dirty="0"/>
              <a:t>CPU</a:t>
            </a:r>
            <a:r>
              <a:rPr lang="zh-CN" altLang="en" sz="2000" dirty="0"/>
              <a:t>、</a:t>
            </a:r>
            <a:r>
              <a:rPr lang="zh-CN" altLang="en-US" sz="2000" dirty="0"/>
              <a:t>本地 </a:t>
            </a:r>
            <a:r>
              <a:rPr lang="en" altLang="zh-CN" sz="2000" dirty="0"/>
              <a:t>SSD</a:t>
            </a:r>
            <a:r>
              <a:rPr lang="zh-CN" altLang="en" sz="2000" dirty="0"/>
              <a:t>，</a:t>
            </a:r>
            <a:r>
              <a:rPr lang="zh-CN" altLang="en-US" sz="2000" dirty="0"/>
              <a:t>还有远端 </a:t>
            </a:r>
            <a:r>
              <a:rPr lang="en" altLang="zh-CN" sz="2000" dirty="0"/>
              <a:t>CPU</a:t>
            </a:r>
            <a:r>
              <a:rPr lang="zh-CN" altLang="en" sz="2000" dirty="0"/>
              <a:t>、</a:t>
            </a:r>
            <a:r>
              <a:rPr lang="zh-CN" altLang="en-US" sz="2000" dirty="0"/>
              <a:t>远端存储。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/>
              <a:t>-</a:t>
            </a:r>
            <a:r>
              <a:rPr lang="zh-CN" altLang="en-US" sz="2000" dirty="0"/>
              <a:t>   如果用最长匹配｜去检索，命中率高，但加载速度｜会比较慢；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/>
              <a:t>-</a:t>
            </a:r>
            <a:r>
              <a:rPr lang="zh-CN" altLang="en-US" sz="2000" dirty="0"/>
              <a:t>   如果用本地匹配，加载速度快，但命中率又比较低，这本身就是个 </a:t>
            </a:r>
            <a:r>
              <a:rPr lang="en" altLang="zh-CN" sz="2000" dirty="0"/>
              <a:t>tradeoff</a:t>
            </a:r>
            <a:r>
              <a:rPr lang="zh-CN" altLang="en" sz="2000" dirty="0"/>
              <a:t>。</a:t>
            </a:r>
            <a:endParaRPr lang="en" altLang="zh-CN" sz="2000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altLang="zh-CN" sz="2000" dirty="0"/>
              <a:t>- </a:t>
            </a:r>
            <a:r>
              <a:rPr lang="zh-CN" altLang="en-US" sz="2000" dirty="0"/>
              <a:t>  而 </a:t>
            </a:r>
            <a:r>
              <a:rPr lang="en" altLang="zh-CN" sz="2000" dirty="0" err="1"/>
              <a:t>LMCache</a:t>
            </a:r>
            <a:r>
              <a:rPr lang="en" altLang="zh-CN" sz="2000" dirty="0"/>
              <a:t> </a:t>
            </a:r>
            <a:r>
              <a:rPr lang="zh-CN" altLang="en-US" sz="2000" dirty="0"/>
              <a:t>的 </a:t>
            </a:r>
            <a:r>
              <a:rPr lang="en" altLang="zh-CN" sz="2000" dirty="0"/>
              <a:t>MP </a:t>
            </a:r>
            <a:r>
              <a:rPr lang="zh-CN" altLang="en-US" sz="2000" dirty="0"/>
              <a:t>模式，做的事情是｜同时从多个位置｜并行加载，这样既能保持比较高的命中率，加载速度也不会被拖慢，相当于把两边的优点都占了。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lang="zh-CN" altLang="en-US" sz="2000" dirty="0"/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dirty="0"/>
              <a:t>这也是我们在这一部分想强调的最后一点：</a:t>
            </a:r>
            <a:r>
              <a:rPr lang="en" altLang="zh-CN" sz="2000" dirty="0"/>
              <a:t>MP </a:t>
            </a:r>
            <a:r>
              <a:rPr lang="zh-CN" altLang="en-US" sz="2000" dirty="0"/>
              <a:t>架构｜不仅仅是把缓存管理｜独立出来，更重要的｜是让这些多级存储、异步传输的能力，真正｜在生产环境里｜发挥出效果。</a:t>
            </a:r>
          </a:p>
          <a:p>
            <a:pPr marL="0" indent="0" algn="l">
              <a:buNone/>
            </a:pPr>
            <a:endParaRPr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B27F7-DB4A-BCC0-D864-3016D573B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F5852E-3A6F-FC08-CB89-B5B5AD3935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899711-E58A-E2A7-C6BA-D83713FB8D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zh-CN" altLang="en-US" sz="2000" dirty="0"/>
              <a:t>接下来，我们再看一下</a:t>
            </a:r>
            <a:r>
              <a:rPr lang="en-US" altLang="zh-CN" sz="2000" dirty="0" err="1"/>
              <a:t>lmcache</a:t>
            </a:r>
            <a:r>
              <a:rPr lang="zh-CN" altLang="en-US" sz="2000" dirty="0"/>
              <a:t>的扩展能力</a:t>
            </a:r>
            <a:endParaRPr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2762C-F10C-B169-5A44-8029EE7A1BA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897697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LMCache</a:t>
            </a:r>
            <a:r>
              <a:rPr sz="2000" dirty="0"/>
              <a:t> </a:t>
            </a:r>
            <a:r>
              <a:rPr lang="zh-CN" altLang="en-US" sz="2000" dirty="0"/>
              <a:t>的</a:t>
            </a:r>
            <a:r>
              <a:rPr sz="2000" dirty="0" err="1"/>
              <a:t>扩展</a:t>
            </a:r>
            <a:r>
              <a:rPr lang="zh-CN" altLang="en-US" sz="2000" dirty="0"/>
              <a:t>能力</a:t>
            </a:r>
            <a:r>
              <a:rPr sz="2000" dirty="0" err="1"/>
              <a:t>主要放在三个边界上</a:t>
            </a:r>
            <a:r>
              <a:rPr sz="2000" dirty="0"/>
              <a:t>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sz="2000" dirty="0"/>
              <a:t>Connector </a:t>
            </a:r>
            <a:r>
              <a:rPr sz="2000" dirty="0" err="1"/>
              <a:t>面向</a:t>
            </a:r>
            <a:r>
              <a:rPr lang="zh-CN" altLang="en-US" sz="2000" dirty="0"/>
              <a:t>推理</a:t>
            </a:r>
            <a:r>
              <a:rPr sz="2000" dirty="0" err="1"/>
              <a:t>引擎，负责对接调度、</a:t>
            </a:r>
            <a:r>
              <a:rPr lang="en-US" altLang="zh-CN" sz="2000" dirty="0" err="1"/>
              <a:t>lookup</a:t>
            </a:r>
            <a:r>
              <a:rPr sz="2000" dirty="0" err="1"/>
              <a:t>、</a:t>
            </a:r>
            <a:r>
              <a:rPr lang="en-US" altLang="zh-CN" sz="2000" dirty="0" err="1"/>
              <a:t>load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store</a:t>
            </a:r>
            <a:r>
              <a:rPr sz="2000" dirty="0" err="1"/>
              <a:t>，并处理异步完成与失败</a:t>
            </a:r>
            <a:r>
              <a:rPr sz="2000" dirty="0"/>
              <a:t>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sz="2000" dirty="0"/>
              <a:t>L2 Adapter </a:t>
            </a:r>
            <a:r>
              <a:rPr sz="2000" dirty="0" err="1"/>
              <a:t>面向存储后端，通过统一的异步</a:t>
            </a:r>
            <a:r>
              <a:rPr sz="2000" dirty="0"/>
              <a:t> I/O </a:t>
            </a:r>
            <a:r>
              <a:rPr sz="2000" dirty="0" err="1"/>
              <a:t>接口组织调用</a:t>
            </a:r>
            <a:r>
              <a:rPr sz="2000" dirty="0"/>
              <a:t>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sz="2000" dirty="0"/>
              <a:t>Device Platform </a:t>
            </a:r>
            <a:r>
              <a:rPr lang="zh-CN" altLang="en-US" sz="2000" dirty="0"/>
              <a:t>面向加速硬件，</a:t>
            </a:r>
            <a:r>
              <a:rPr sz="2000" dirty="0" err="1"/>
              <a:t>描述设备能力，封装内存操作、同步和可用的传输路径</a:t>
            </a:r>
            <a:r>
              <a:rPr sz="2000" dirty="0"/>
              <a:t>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zh-CN" altLang="en-US" sz="2000" dirty="0"/>
              <a:t>这些扩展边界既可以维护在</a:t>
            </a:r>
            <a:r>
              <a:rPr lang="en-US" altLang="zh-CN" sz="2000" dirty="0" err="1"/>
              <a:t>lmcache</a:t>
            </a:r>
            <a:r>
              <a:rPr lang="zh-CN" altLang="en-US" sz="2000" dirty="0"/>
              <a:t>代码仓库中，也可以维护在私有的代码仓库中，接入非常方便</a:t>
            </a:r>
            <a:endParaRPr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这里</a:t>
            </a:r>
            <a:r>
              <a:rPr lang="zh-CN" altLang="en-US" sz="2000" dirty="0"/>
              <a:t>列举</a:t>
            </a:r>
            <a:r>
              <a:rPr sz="2000" dirty="0" err="1"/>
              <a:t>了</a:t>
            </a:r>
            <a:r>
              <a:rPr sz="2000" dirty="0"/>
              <a:t> </a:t>
            </a:r>
            <a:r>
              <a:rPr sz="2000" dirty="0" err="1"/>
              <a:t>vLLM、SGLang</a:t>
            </a:r>
            <a:r>
              <a:rPr sz="2000" dirty="0"/>
              <a:t> </a:t>
            </a:r>
            <a:r>
              <a:rPr sz="2000" dirty="0" err="1"/>
              <a:t>和</a:t>
            </a:r>
            <a:r>
              <a:rPr sz="2000" dirty="0"/>
              <a:t> TRT-LLM </a:t>
            </a:r>
            <a:r>
              <a:rPr sz="2000" dirty="0" err="1"/>
              <a:t>的接入方向</a:t>
            </a:r>
            <a:r>
              <a:rPr sz="2000" dirty="0"/>
              <a:t>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sz="2000" dirty="0" err="1"/>
              <a:t>对于</a:t>
            </a:r>
            <a:r>
              <a:rPr sz="2000" dirty="0"/>
              <a:t> </a:t>
            </a:r>
            <a:r>
              <a:rPr sz="2000" dirty="0" err="1"/>
              <a:t>Connector，核心工作是把引擎调度与实际的数据操作接起来：什么时候</a:t>
            </a:r>
            <a:r>
              <a:rPr sz="2000" dirty="0"/>
              <a:t> </a:t>
            </a:r>
            <a:r>
              <a:rPr sz="2000" dirty="0" err="1"/>
              <a:t>lookup，什么时候</a:t>
            </a:r>
            <a:r>
              <a:rPr sz="2000" dirty="0"/>
              <a:t> store </a:t>
            </a:r>
            <a:r>
              <a:rPr sz="2000" dirty="0" err="1"/>
              <a:t>或</a:t>
            </a:r>
            <a:r>
              <a:rPr sz="2000" dirty="0"/>
              <a:t> </a:t>
            </a:r>
            <a:r>
              <a:rPr sz="2000" dirty="0" err="1"/>
              <a:t>load，完成事件又怎样通知</a:t>
            </a:r>
            <a:r>
              <a:rPr sz="2000" dirty="0"/>
              <a:t> Worker。</a:t>
            </a:r>
          </a:p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另一个维度是模型布局。即使都叫</a:t>
            </a:r>
            <a:r>
              <a:rPr sz="2000" dirty="0"/>
              <a:t> KV </a:t>
            </a:r>
            <a:r>
              <a:rPr sz="2000" dirty="0" err="1"/>
              <a:t>Cache，不同模型、精度、KV</a:t>
            </a:r>
            <a:r>
              <a:rPr sz="2000" dirty="0"/>
              <a:t> groups </a:t>
            </a:r>
            <a:r>
              <a:rPr sz="2000" dirty="0" err="1"/>
              <a:t>和分片方式，也可能对应不同的数据组织</a:t>
            </a:r>
            <a:r>
              <a:rPr sz="2000" dirty="0"/>
              <a:t>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lang="zh-CN" altLang="en-US" sz="2000" dirty="0"/>
              <a:t>这些都是</a:t>
            </a:r>
            <a:r>
              <a:rPr lang="en-US" altLang="zh-CN" sz="2000" dirty="0"/>
              <a:t>connector</a:t>
            </a:r>
            <a:r>
              <a:rPr lang="zh-CN" altLang="en-US" sz="2000" dirty="0"/>
              <a:t>适配过程中需要关注的事项</a:t>
            </a:r>
            <a:endParaRPr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这页从缓存层次转到存储实现。左边是更接近推理的热数据层，右边是不同的</a:t>
            </a:r>
            <a:r>
              <a:rPr sz="2000" dirty="0"/>
              <a:t> L2 </a:t>
            </a:r>
            <a:r>
              <a:rPr sz="2000" dirty="0" err="1"/>
              <a:t>后端，中间通过</a:t>
            </a:r>
            <a:r>
              <a:rPr sz="2000" dirty="0"/>
              <a:t> Adapter </a:t>
            </a:r>
            <a:r>
              <a:rPr sz="2000" dirty="0" err="1"/>
              <a:t>的异步接口衔接</a:t>
            </a:r>
            <a:r>
              <a:rPr sz="2000" dirty="0"/>
              <a:t> </a:t>
            </a:r>
            <a:r>
              <a:rPr sz="2000" dirty="0" err="1"/>
              <a:t>store、prefetch</a:t>
            </a:r>
            <a:r>
              <a:rPr sz="2000" dirty="0"/>
              <a:t> </a:t>
            </a:r>
            <a:r>
              <a:rPr sz="2000" dirty="0" err="1"/>
              <a:t>和</a:t>
            </a:r>
            <a:r>
              <a:rPr sz="2000" dirty="0"/>
              <a:t> load。</a:t>
            </a:r>
          </a:p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图中列出了对象存储、文件系统、NIXL</a:t>
            </a:r>
            <a:r>
              <a:rPr sz="2000" dirty="0"/>
              <a:t> </a:t>
            </a:r>
            <a:r>
              <a:rPr sz="2000" dirty="0" err="1"/>
              <a:t>Storage，以及</a:t>
            </a:r>
            <a:r>
              <a:rPr sz="2000" dirty="0"/>
              <a:t> Native Connector </a:t>
            </a:r>
            <a:r>
              <a:rPr sz="2000" dirty="0" err="1"/>
              <a:t>下的若干后端实现。它们可以有各自的数据路径和部署条件，核心层不需要把所有后端细节都揉在一起</a:t>
            </a:r>
            <a:r>
              <a:rPr sz="2000" dirty="0"/>
              <a:t>。</a:t>
            </a:r>
          </a:p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这里的价值是，扩展边界比较明确</a:t>
            </a:r>
            <a:r>
              <a:rPr lang="zh-CN" altLang="en-US" sz="2000" dirty="0"/>
              <a:t>，仅需实现一套固定的接口就可以，插件可也以独立维护</a:t>
            </a:r>
            <a:r>
              <a:rPr sz="2000" dirty="0"/>
              <a:t>。</a:t>
            </a:r>
            <a:endParaRPr lang="en-US" altLang="zh-CN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sz="2000" dirty="0" err="1"/>
              <a:t>不过，统一接口不会抹平存储性能差异。选后端时，还是要结合</a:t>
            </a:r>
            <a:r>
              <a:rPr lang="zh-CN" altLang="en-US" sz="2000" dirty="0"/>
              <a:t>场景</a:t>
            </a:r>
            <a:r>
              <a:rPr sz="2000" dirty="0"/>
              <a:t>、</a:t>
            </a:r>
            <a:r>
              <a:rPr sz="2000" dirty="0" err="1"/>
              <a:t>读取延迟和吞吐要求</a:t>
            </a:r>
            <a:r>
              <a:rPr lang="zh-CN" altLang="en-US" sz="2000" dirty="0"/>
              <a:t>等</a:t>
            </a:r>
            <a:r>
              <a:rPr sz="2000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lang="zh-CN" altLang="en-US" sz="2000" dirty="0"/>
              <a:t>接下来进一步看，</a:t>
            </a:r>
            <a:r>
              <a:rPr lang="en" altLang="zh-CN" sz="2000" dirty="0"/>
              <a:t>Native Adapter </a:t>
            </a:r>
            <a:r>
              <a:rPr lang="zh-CN" altLang="en-US" sz="2000" dirty="0"/>
              <a:t>怎样把不同类型的操作组织起来。</a:t>
            </a:r>
            <a:endParaRPr lang="en-US" altLang="zh-CN" sz="2000" dirty="0"/>
          </a:p>
          <a:p>
            <a:pPr marL="0" indent="0" algn="l">
              <a:buNone/>
            </a:pPr>
            <a:endParaRPr lang="en-US" altLang="zh-CN" sz="2000" dirty="0"/>
          </a:p>
          <a:p>
            <a:pPr marL="0" indent="0" algn="l">
              <a:buNone/>
            </a:pPr>
            <a:r>
              <a:rPr lang="zh-CN" altLang="en-US" sz="2000" dirty="0"/>
              <a:t>可</a:t>
            </a:r>
            <a:r>
              <a:rPr sz="2000" dirty="0" err="1"/>
              <a:t>以把四条通道分开看。Lookup</a:t>
            </a:r>
            <a:r>
              <a:rPr sz="2000" dirty="0"/>
              <a:t> </a:t>
            </a:r>
            <a:r>
              <a:rPr sz="2000" dirty="0" err="1"/>
              <a:t>快速判断是否命中；retrieve</a:t>
            </a:r>
            <a:r>
              <a:rPr sz="2000" dirty="0"/>
              <a:t> </a:t>
            </a:r>
            <a:r>
              <a:rPr sz="2000" dirty="0" err="1"/>
              <a:t>读取命中的</a:t>
            </a:r>
            <a:r>
              <a:rPr sz="2000" dirty="0"/>
              <a:t> </a:t>
            </a:r>
            <a:r>
              <a:rPr sz="2000" dirty="0" err="1"/>
              <a:t>KV；store</a:t>
            </a:r>
            <a:r>
              <a:rPr sz="2000" dirty="0"/>
              <a:t> </a:t>
            </a:r>
            <a:r>
              <a:rPr sz="2000" dirty="0" err="1"/>
              <a:t>把数据写入</a:t>
            </a:r>
            <a:r>
              <a:rPr sz="2000" dirty="0"/>
              <a:t> L2；delete </a:t>
            </a:r>
            <a:r>
              <a:rPr sz="2000" dirty="0" err="1"/>
              <a:t>处理删除和容量回收</a:t>
            </a:r>
            <a:r>
              <a:rPr sz="2000" dirty="0"/>
              <a:t>。</a:t>
            </a:r>
          </a:p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如果这些操作都在同一条拥挤的队列里，慢写入就可能拖住本来很短的命中判断。按操作类型配置线程池和队列，就是为了降低这种干扰</a:t>
            </a:r>
            <a:r>
              <a:rPr sz="2000" dirty="0"/>
              <a:t>。</a:t>
            </a:r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sz="2000" dirty="0" err="1"/>
              <a:t>调优时不能只增加线程数，还要看线程是在工作还是在等待，以及后端能否承受更多并发</a:t>
            </a:r>
            <a:r>
              <a:rPr sz="2000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lang="zh-CN" altLang="en-US" sz="2000" dirty="0"/>
              <a:t>最后，介绍多硬件平台的适配。</a:t>
            </a:r>
            <a:endParaRPr lang="en-US" altLang="zh-CN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sz="2000" dirty="0" err="1"/>
              <a:t>多</a:t>
            </a:r>
            <a:r>
              <a:rPr lang="zh-CN" altLang="en-US" sz="2000" dirty="0"/>
              <a:t>硬件</a:t>
            </a:r>
            <a:r>
              <a:rPr sz="2000" dirty="0" err="1"/>
              <a:t>平台适配也遵循相同思路。上层仍然管理统一的缓存生命周期，下层通过</a:t>
            </a:r>
            <a:r>
              <a:rPr sz="2000" dirty="0"/>
              <a:t> Device Platform </a:t>
            </a:r>
            <a:r>
              <a:rPr sz="2000" dirty="0" err="1"/>
              <a:t>插件表达硬件差异</a:t>
            </a:r>
            <a:r>
              <a:rPr sz="2000" dirty="0"/>
              <a:t>。</a:t>
            </a:r>
          </a:p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图中这四个边界分别对应：DeviceSpec</a:t>
            </a:r>
            <a:r>
              <a:rPr sz="2000" dirty="0"/>
              <a:t> </a:t>
            </a:r>
            <a:r>
              <a:rPr sz="2000" dirty="0" err="1"/>
              <a:t>描述设备和内存布局，DeviceOps</a:t>
            </a:r>
            <a:r>
              <a:rPr sz="2000" dirty="0"/>
              <a:t> </a:t>
            </a:r>
            <a:r>
              <a:rPr sz="2000" dirty="0" err="1"/>
              <a:t>处理分配、拷贝与同步，CacheContext</a:t>
            </a:r>
            <a:r>
              <a:rPr sz="2000" dirty="0"/>
              <a:t> </a:t>
            </a:r>
            <a:r>
              <a:rPr sz="2000" dirty="0" err="1"/>
              <a:t>维护运行上下文，IPC</a:t>
            </a:r>
            <a:r>
              <a:rPr sz="2000" dirty="0"/>
              <a:t> </a:t>
            </a:r>
            <a:r>
              <a:rPr sz="2000" dirty="0" err="1"/>
              <a:t>和</a:t>
            </a:r>
            <a:r>
              <a:rPr sz="2000" dirty="0"/>
              <a:t> Transfer </a:t>
            </a:r>
            <a:r>
              <a:rPr sz="2000" dirty="0" err="1"/>
              <a:t>决定当前平台能走哪些数据路径</a:t>
            </a:r>
            <a:r>
              <a:rPr sz="2000" dirty="0"/>
              <a:t>。</a:t>
            </a:r>
          </a:p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下方列了</a:t>
            </a:r>
            <a:r>
              <a:rPr sz="2000" dirty="0"/>
              <a:t> </a:t>
            </a:r>
            <a:r>
              <a:rPr sz="2000" dirty="0" err="1"/>
              <a:t>CUDA、ROCm、XPU，以及</a:t>
            </a:r>
            <a:r>
              <a:rPr sz="2000" dirty="0"/>
              <a:t> </a:t>
            </a:r>
            <a:r>
              <a:rPr sz="2000" dirty="0" err="1"/>
              <a:t>Ascend、MUSA、MACA</a:t>
            </a:r>
            <a:r>
              <a:rPr sz="2000" dirty="0"/>
              <a:t> </a:t>
            </a:r>
            <a:r>
              <a:rPr sz="2000" dirty="0" err="1"/>
              <a:t>等平台方向</a:t>
            </a:r>
            <a:r>
              <a:rPr lang="zh-CN" altLang="en-US" sz="2000" dirty="0"/>
              <a:t>，目前</a:t>
            </a:r>
            <a:r>
              <a:rPr lang="en-US" altLang="zh-CN" sz="2000" dirty="0" err="1"/>
              <a:t>lmcache</a:t>
            </a:r>
            <a:r>
              <a:rPr lang="zh-CN" altLang="en-US" sz="2000" dirty="0"/>
              <a:t>均已支持</a:t>
            </a:r>
            <a:r>
              <a:rPr sz="2000" dirty="0"/>
              <a:t>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sz="2000" dirty="0" err="1"/>
              <a:t>这里要强调，抽象层统一，不代表每个平台拥有完全相同的</a:t>
            </a:r>
            <a:r>
              <a:rPr sz="2000" dirty="0"/>
              <a:t> IPC </a:t>
            </a:r>
            <a:r>
              <a:rPr sz="2000" dirty="0" err="1"/>
              <a:t>或传输能力。适配时要分别验证内存、跨进程访问、数据搬运和同步行为，再决定采用哪条路径</a:t>
            </a:r>
            <a:r>
              <a:rPr sz="2000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4FBCF-CE53-A310-5D37-10D85E97C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7C89AE-92C3-2F4A-4131-FDCC1646B6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B94DB9-203C-210E-3B06-ACE8D5883E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服务能运行之后，还需要能部署、能观察、能恢复。第</a:t>
            </a:r>
            <a:r>
              <a:rPr lang="zh-CN" altLang="en-US" sz="2000" dirty="0"/>
              <a:t>五</a:t>
            </a:r>
            <a:r>
              <a:rPr sz="2000" dirty="0" err="1"/>
              <a:t>部分从生产环境的角度，把这些配套能力串起来</a:t>
            </a:r>
            <a:r>
              <a:rPr sz="2000" dirty="0"/>
              <a:t>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5B4E14-A3E0-B44C-42D6-961C4CBBD064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399289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这张图</a:t>
            </a:r>
            <a:r>
              <a:rPr lang="zh-CN" altLang="en-US" sz="2000" dirty="0"/>
              <a:t>从</a:t>
            </a:r>
            <a:r>
              <a:rPr sz="2000" dirty="0" err="1"/>
              <a:t>左到右</a:t>
            </a:r>
            <a:r>
              <a:rPr lang="zh-CN" altLang="en-US" sz="2000" dirty="0"/>
              <a:t>描述了</a:t>
            </a:r>
            <a:r>
              <a:rPr sz="2000" dirty="0" err="1"/>
              <a:t>声明配置、持续收敛和部署输出</a:t>
            </a:r>
            <a:r>
              <a:rPr sz="2000" dirty="0"/>
              <a:t>。</a:t>
            </a:r>
            <a:endParaRPr lang="en-US" sz="2000" dirty="0"/>
          </a:p>
          <a:p>
            <a:pPr marL="0" indent="0" algn="l">
              <a:buNone/>
            </a:pPr>
            <a:endParaRPr lang="en-US" sz="2000" dirty="0"/>
          </a:p>
          <a:p>
            <a:pPr marL="0" indent="0" algn="l">
              <a:buNone/>
            </a:pPr>
            <a:r>
              <a:rPr sz="2000" dirty="0" err="1"/>
              <a:t>我们通过</a:t>
            </a:r>
            <a:r>
              <a:rPr sz="2000" dirty="0"/>
              <a:t> </a:t>
            </a:r>
            <a:r>
              <a:rPr sz="2000" dirty="0" err="1"/>
              <a:t>LMCacheEngine</a:t>
            </a:r>
            <a:r>
              <a:rPr sz="2000" dirty="0"/>
              <a:t> 这样的自定义资源描述期望状态，包括容量、端口、L2 </a:t>
            </a:r>
            <a:r>
              <a:rPr sz="2000" dirty="0" err="1"/>
              <a:t>后端和监控配置。Operator</a:t>
            </a:r>
            <a:r>
              <a:rPr sz="2000" dirty="0"/>
              <a:t> </a:t>
            </a:r>
            <a:r>
              <a:rPr sz="2000" dirty="0" err="1"/>
              <a:t>读取这些声明，再协调实际的部署对象</a:t>
            </a:r>
            <a:r>
              <a:rPr sz="2000" dirty="0"/>
              <a:t>。</a:t>
            </a:r>
            <a:endParaRPr lang="en-US" sz="2000" dirty="0"/>
          </a:p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但配置对象创建成功，只是第一步。还需要检查</a:t>
            </a:r>
            <a:r>
              <a:rPr sz="2000" dirty="0"/>
              <a:t> </a:t>
            </a:r>
            <a:r>
              <a:rPr lang="en-US" altLang="zh-CN" sz="2000" dirty="0" err="1"/>
              <a:t>LMCache</a:t>
            </a:r>
            <a:r>
              <a:rPr lang="zh-CN" altLang="en-US" sz="2000" dirty="0"/>
              <a:t> </a:t>
            </a:r>
            <a:r>
              <a:rPr sz="2000" dirty="0"/>
              <a:t>Server </a:t>
            </a:r>
            <a:r>
              <a:rPr sz="2000" dirty="0" err="1"/>
              <a:t>与推理实例的节点关系、实际资源配额和连接地址。尤其要确认</a:t>
            </a:r>
            <a:r>
              <a:rPr lang="zh-CN" altLang="en-US" sz="2000" dirty="0"/>
              <a:t>推理进程</a:t>
            </a:r>
            <a:r>
              <a:rPr sz="2000" dirty="0" err="1"/>
              <a:t>到底连到了哪个缓存服务，避免部署看起来正常，实际请求却没有走到预期的数据路径</a:t>
            </a:r>
            <a:r>
              <a:rPr sz="2000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F9836-79D4-852F-15F5-A42034C35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931574-DB31-B51D-93DD-E667612D80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C5DBEF-8A66-EC50-587B-91D241D19B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接下来，我们介绍在生产环境下的可观测性支持体系。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  <a:buNone/>
            </a:pPr>
            <a:endParaRPr lang="zh-CN" altLang="en-US" sz="2000" b="0" i="0" u="non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左侧展示了在生产洞察方面的能力，涵盖了从基础的健康状态监控、多层级缓存用量的实时透视，到关键的读写失败监控以及服务引擎拓扑的可视化，确保我们对系统的运行状态有全方位的感知。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  <a:buNone/>
            </a:pPr>
            <a:endParaRPr lang="zh-CN" altLang="en-US" sz="2000" b="0" i="0" u="non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右侧则聚焦于性能调试，我们主要关注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KV Cache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的命中率、全生命周期的追踪、淘汰与复用的时间间隔分析，以及底层的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IOPS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和延迟指标，这些都是定位性能瓶颈、优化缓存策略的关键依据。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  <a:buNone/>
            </a:pPr>
            <a:endParaRPr lang="zh-CN" altLang="en-US" sz="2000" b="0" i="0" u="none" dirty="0">
              <a:solidFill>
                <a:srgbClr val="000000">
                  <a:alpha val="100000"/>
                </a:srgbClr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最后，我们所有的可观测性支持都是建立在标准化的技术底座之上，利用</a:t>
            </a:r>
            <a:r>
              <a:rPr lang="en" altLang="zh-CN" sz="2000" b="0" i="0" u="none" dirty="0">
                <a:solidFill>
                  <a:srgbClr val="000000">
                    <a:alpha val="100000"/>
                  </a:srgbClr>
                </a:solidFill>
              </a:rPr>
              <a:t>Prometheus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和</a:t>
            </a:r>
            <a:r>
              <a:rPr lang="en" altLang="zh-CN" sz="2000" b="0" i="0" u="none" dirty="0" err="1">
                <a:solidFill>
                  <a:srgbClr val="000000">
                    <a:alpha val="100000"/>
                  </a:srgbClr>
                </a:solidFill>
              </a:rPr>
              <a:t>OpenTelemetry</a:t>
            </a: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等技术实现了可观测性数据的统一采集与分析，为系统的稳定运行提供了坚实的保障。</a:t>
            </a:r>
            <a:endParaRPr lang="zh-CN" altLang="en-US" sz="2000" dirty="0"/>
          </a:p>
          <a:p>
            <a:pPr marL="0" indent="0" algn="l">
              <a:buNone/>
            </a:pPr>
            <a:endParaRPr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6D5937-A157-631C-98BA-0D69F8E7BB4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553077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b="0" i="0" u="none" dirty="0">
                <a:solidFill>
                  <a:srgbClr val="000000">
                    <a:alpha val="100000"/>
                  </a:srgbClr>
                </a:solidFill>
              </a:rPr>
              <a:t>如图所示，这是我们监控体系中的部分截图，从图中可以很清晰的看到命中率等信息，这在我们实际的生产环境中都是至关重要的数据</a:t>
            </a:r>
            <a:endParaRPr lang="zh-CN" altLang="en-US" sz="2000" dirty="0"/>
          </a:p>
          <a:p>
            <a:pPr marL="0" indent="0" algn="l">
              <a:buNone/>
            </a:pPr>
            <a:endParaRPr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/>
                </a:solidFill>
              </a:rPr>
              <a:t>这一章的最后，我们重点讨论生产环境中的故障容错机制，这是保证服务高可用的关键。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  <a:buNone/>
            </a:pPr>
            <a:endParaRPr lang="zh-CN" altLang="en-US" sz="2000" b="0" i="0" u="none" dirty="0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/>
                </a:solidFill>
              </a:rPr>
              <a:t>在这里，我们主要讨论两种情况，首先看左边的情况，当 </a:t>
            </a:r>
            <a:r>
              <a:rPr lang="en" altLang="zh-CN" sz="2000" b="0" i="0" u="none" dirty="0" err="1">
                <a:solidFill>
                  <a:srgbClr val="000000"/>
                </a:solidFill>
              </a:rPr>
              <a:t>vLLM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主进程因为某种原因崩溃时，由于 </a:t>
            </a:r>
            <a:r>
              <a:rPr lang="en" altLang="zh-CN" sz="2000" b="0" i="0" u="none" dirty="0" err="1">
                <a:solidFill>
                  <a:srgbClr val="000000"/>
                </a:solidFill>
              </a:rPr>
              <a:t>LMCache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 MP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是独立的守护进程，它依然存活，并且保留着 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CPU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和存储上的 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KV Cache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数据。这意味着超长上下文缓存也不会丢失，</a:t>
            </a:r>
            <a:r>
              <a:rPr lang="en" altLang="zh-CN" sz="2000" b="0" i="0" u="none" dirty="0" err="1">
                <a:solidFill>
                  <a:srgbClr val="000000"/>
                </a:solidFill>
              </a:rPr>
              <a:t>vLLM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重启后可以直接复用这些缓存，避免了耗时的重建过程，极大地缩短了服务恢复时间。</a:t>
            </a:r>
          </a:p>
          <a:p>
            <a:pPr marL="0" indent="0" algn="l">
              <a:lnSpc>
                <a:spcPct val="100000"/>
              </a:lnSpc>
              <a:buNone/>
            </a:pPr>
            <a:endParaRPr lang="zh-CN" altLang="en-US" sz="2000" b="0" i="0" u="none" dirty="0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/>
                </a:solidFill>
              </a:rPr>
              <a:t>再看右边的情况，如果 </a:t>
            </a:r>
            <a:r>
              <a:rPr lang="en" altLang="zh-CN" sz="2000" b="0" i="0" u="none" dirty="0" err="1">
                <a:solidFill>
                  <a:srgbClr val="000000"/>
                </a:solidFill>
              </a:rPr>
              <a:t>LMCache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服务宕机，</a:t>
            </a:r>
            <a:r>
              <a:rPr lang="en" altLang="zh-CN" sz="2000" b="0" i="0" u="none" dirty="0" err="1">
                <a:solidFill>
                  <a:srgbClr val="000000"/>
                </a:solidFill>
              </a:rPr>
              <a:t>vLLM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不会因此挂掉，而是会自动进入“降级模式”，使用本地缓存继续处理请求，确保服务不中断。一旦 </a:t>
            </a:r>
            <a:r>
              <a:rPr lang="en" altLang="zh-CN" sz="2000" b="0" i="0" u="none" dirty="0" err="1">
                <a:solidFill>
                  <a:srgbClr val="000000"/>
                </a:solidFill>
              </a:rPr>
              <a:t>LMCache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恢复，系统会自动检测并重连，无缝切换回共享缓存模式。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/>
                </a:solidFill>
              </a:rPr>
              <a:t>总结来说，这种进程级的隔离加上自动降级的设计，是我们实现生产环境服务高可用性的核心保障。</a:t>
            </a:r>
            <a:endParaRPr lang="zh-CN" altLang="en-US" sz="2000" dirty="0"/>
          </a:p>
          <a:p>
            <a:pPr marL="0" indent="0" algn="l">
              <a:buNone/>
            </a:pPr>
            <a:endParaRPr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32B6A-518A-F933-BDBD-6BD29B9B1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0B89F-119C-323B-B497-0151547E6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1B4A4-6F0A-D602-6B0F-213481B1F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最后一部分谈社区和未来方向</a:t>
            </a:r>
            <a:r>
              <a:rPr lang="zh-CN" altLang="en-US" sz="2000" dirty="0"/>
              <a:t>。</a:t>
            </a:r>
            <a:endParaRPr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80954-6728-22A9-A322-06DE673047C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2723366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lang="en-US" sz="2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400" b="0" i="0" u="none" dirty="0">
                <a:solidFill>
                  <a:srgbClr val="000000">
                    <a:alpha val="100000"/>
                  </a:srgbClr>
                </a:solidFill>
              </a:rPr>
              <a:t>从想法到实现，从最早的</a:t>
            </a:r>
            <a:r>
              <a:rPr lang="en" altLang="zh-CN" sz="2400" b="0" i="0" u="none" dirty="0">
                <a:solidFill>
                  <a:srgbClr val="000000">
                    <a:alpha val="100000"/>
                  </a:srgbClr>
                </a:solidFill>
              </a:rPr>
              <a:t>Paged Attention</a:t>
            </a:r>
            <a:r>
              <a:rPr lang="zh-CN" altLang="en" sz="2400" b="0" i="0" u="none" dirty="0">
                <a:solidFill>
                  <a:srgbClr val="000000">
                    <a:alpha val="100000"/>
                  </a:srgbClr>
                </a:solidFill>
              </a:rPr>
              <a:t>、</a:t>
            </a:r>
            <a:r>
              <a:rPr lang="zh-CN" altLang="en-US" sz="2400" b="0" i="0" u="none" dirty="0">
                <a:solidFill>
                  <a:srgbClr val="000000">
                    <a:alpha val="100000"/>
                  </a:srgbClr>
                </a:solidFill>
              </a:rPr>
              <a:t>本地 </a:t>
            </a:r>
            <a:r>
              <a:rPr lang="en" altLang="zh-CN" sz="2400" b="0" i="0" u="none" dirty="0">
                <a:solidFill>
                  <a:srgbClr val="000000">
                    <a:alpha val="100000"/>
                  </a:srgbClr>
                </a:solidFill>
              </a:rPr>
              <a:t>CPU </a:t>
            </a:r>
            <a:r>
              <a:rPr lang="zh-CN" altLang="en-US" sz="2400" b="0" i="0" u="none" dirty="0">
                <a:solidFill>
                  <a:srgbClr val="000000">
                    <a:alpha val="100000"/>
                  </a:srgbClr>
                </a:solidFill>
              </a:rPr>
              <a:t>卸载，一路发展到跨机远程缓存、语义复用、跨模型共享等，</a:t>
            </a:r>
            <a:r>
              <a:rPr lang="en" altLang="zh-CN" sz="2000" dirty="0"/>
              <a:t>KV Cache </a:t>
            </a:r>
            <a:r>
              <a:rPr lang="zh-CN" altLang="en-US" sz="2000" dirty="0"/>
              <a:t>的价值不再局限于单个实例，而是向压缩、跨模型复用、语义复用以及检索增强等方向发展。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en" altLang="zh-CN" sz="2000" dirty="0" err="1"/>
              <a:t>LMCache</a:t>
            </a:r>
            <a:r>
              <a:rPr lang="en" altLang="zh-CN" sz="2000" dirty="0"/>
              <a:t> </a:t>
            </a:r>
            <a:r>
              <a:rPr lang="zh-CN" altLang="en-US" sz="2000" dirty="0"/>
              <a:t>承接了其中面向推理系统的关键能力，把分散在 </a:t>
            </a:r>
            <a:r>
              <a:rPr lang="en" altLang="zh-CN" sz="2000" dirty="0"/>
              <a:t>GPU</a:t>
            </a:r>
            <a:r>
              <a:rPr lang="zh-CN" altLang="en" sz="2000" dirty="0"/>
              <a:t>、</a:t>
            </a:r>
            <a:r>
              <a:rPr lang="en" altLang="zh-CN" sz="2000" dirty="0"/>
              <a:t>CPU</a:t>
            </a:r>
            <a:r>
              <a:rPr lang="zh-CN" altLang="en" sz="2000" dirty="0"/>
              <a:t>、</a:t>
            </a:r>
            <a:r>
              <a:rPr lang="zh-CN" altLang="en-US" sz="2000" dirty="0"/>
              <a:t>本地磁盘和远端存储中的 </a:t>
            </a:r>
            <a:r>
              <a:rPr lang="en" altLang="zh-CN" sz="2000" dirty="0"/>
              <a:t>KV Cache </a:t>
            </a:r>
            <a:r>
              <a:rPr lang="zh-CN" altLang="en-US" sz="2000" dirty="0"/>
              <a:t>整合起来，组织成统一缓存层。</a:t>
            </a: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dirty="0"/>
              <a:t>所以，</a:t>
            </a:r>
            <a:r>
              <a:rPr lang="en" altLang="zh-CN" sz="2000" dirty="0" err="1"/>
              <a:t>LMCache</a:t>
            </a:r>
            <a:r>
              <a:rPr lang="en" altLang="zh-CN" sz="2000" dirty="0"/>
              <a:t> </a:t>
            </a:r>
            <a:r>
              <a:rPr lang="zh-CN" altLang="en-US" sz="2000" dirty="0"/>
              <a:t>的意义不只是“缓存得更多”，而是让 </a:t>
            </a:r>
            <a:r>
              <a:rPr lang="en" altLang="zh-CN" sz="2000" dirty="0"/>
              <a:t>KV Cache </a:t>
            </a:r>
            <a:r>
              <a:rPr lang="zh-CN" altLang="en-US" sz="2000" dirty="0"/>
              <a:t>能够跨实例、跨节点流动和复用，逐步成为大模型推理基础设施的一部分。</a:t>
            </a:r>
          </a:p>
          <a:p>
            <a:pPr marL="0" indent="0" algn="l">
              <a:buNone/>
            </a:pPr>
            <a:endParaRPr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/>
                </a:solidFill>
              </a:rPr>
              <a:t>该页展示了</a:t>
            </a:r>
            <a:r>
              <a:rPr lang="en" altLang="zh-CN" sz="2000" b="0" i="0" u="none" dirty="0" err="1">
                <a:solidFill>
                  <a:srgbClr val="000000"/>
                </a:solidFill>
              </a:rPr>
              <a:t>LMCache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项目的开源生态现状，社区目前正处于蓬勃发展状态，目前 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GitHub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星标超 </a:t>
            </a:r>
            <a:r>
              <a:rPr lang="en-US" altLang="zh-CN" sz="2000" b="0" i="0" u="none" dirty="0">
                <a:solidFill>
                  <a:srgbClr val="000000"/>
                </a:solidFill>
              </a:rPr>
              <a:t>11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K</a:t>
            </a:r>
            <a:r>
              <a:rPr lang="zh-CN" altLang="en" sz="2000" b="0" i="0" u="none" dirty="0">
                <a:solidFill>
                  <a:srgbClr val="000000"/>
                </a:solidFill>
              </a:rPr>
              <a:t>、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300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多位开发者参与共建，</a:t>
            </a:r>
            <a:r>
              <a:rPr lang="en" altLang="zh-CN" sz="2000" b="0" i="0" u="none" dirty="0" err="1">
                <a:solidFill>
                  <a:srgbClr val="000000"/>
                </a:solidFill>
              </a:rPr>
              <a:t>PyPI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累计下载 </a:t>
            </a:r>
            <a:r>
              <a:rPr lang="en-US" altLang="zh-CN" sz="2000" b="0" i="0" u="none" dirty="0">
                <a:solidFill>
                  <a:srgbClr val="000000"/>
                </a:solidFill>
              </a:rPr>
              <a:t>11 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万</a:t>
            </a:r>
            <a:r>
              <a:rPr lang="en-US" altLang="zh-CN" sz="2000" b="0" i="0" u="none" dirty="0">
                <a:solidFill>
                  <a:srgbClr val="000000"/>
                </a:solidFill>
              </a:rPr>
              <a:t>+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，社区规模持续快速增长。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  <a:buNone/>
            </a:pPr>
            <a:endParaRPr lang="zh-CN" altLang="en-US" sz="2000" b="0" i="0" u="none" dirty="0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/>
                </a:solidFill>
              </a:rPr>
              <a:t>左下角的图可以看到，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star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的趋势上升的也很快速，其中有两次明显的加速发展，一次是</a:t>
            </a:r>
            <a:r>
              <a:rPr lang="en" altLang="zh-CN" sz="2000" b="0" i="0" u="none" dirty="0" err="1">
                <a:solidFill>
                  <a:srgbClr val="000000"/>
                </a:solidFill>
              </a:rPr>
              <a:t>vLLM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中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V1 connector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刚发布，</a:t>
            </a:r>
            <a:r>
              <a:rPr lang="en" altLang="zh-CN" sz="2000" b="0" i="0" u="none" dirty="0" err="1">
                <a:solidFill>
                  <a:srgbClr val="000000"/>
                </a:solidFill>
              </a:rPr>
              <a:t>LMCache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是第一个适配，另一次是</a:t>
            </a:r>
            <a:r>
              <a:rPr lang="en" altLang="zh-CN" sz="2000" b="0" i="0" u="none" dirty="0" err="1">
                <a:solidFill>
                  <a:srgbClr val="000000"/>
                </a:solidFill>
              </a:rPr>
              <a:t>LMCache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 MP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模式刚发布，都刺激了一波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star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快速增长。</a:t>
            </a:r>
          </a:p>
          <a:p>
            <a:pPr marL="0" indent="0" algn="l">
              <a:lnSpc>
                <a:spcPct val="100000"/>
              </a:lnSpc>
              <a:buNone/>
            </a:pPr>
            <a:endParaRPr lang="zh-CN" altLang="en-US" sz="2000" b="0" i="0" u="none" dirty="0">
              <a:solidFill>
                <a:srgbClr val="000000"/>
              </a:solidFill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zh-CN" altLang="en-US" sz="2000" b="0" i="0" u="none" dirty="0">
                <a:solidFill>
                  <a:srgbClr val="000000"/>
                </a:solidFill>
              </a:rPr>
              <a:t>我们也给大家展示了项目的地址，会后欢迎大家 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Star</a:t>
            </a:r>
            <a:r>
              <a:rPr lang="zh-CN" altLang="en" sz="2000" b="0" i="0" u="none" dirty="0">
                <a:solidFill>
                  <a:srgbClr val="000000"/>
                </a:solidFill>
              </a:rPr>
              <a:t>、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提 </a:t>
            </a:r>
            <a:r>
              <a:rPr lang="en" altLang="zh-CN" sz="2000" b="0" i="0" u="none" dirty="0">
                <a:solidFill>
                  <a:srgbClr val="000000"/>
                </a:solidFill>
              </a:rPr>
              <a:t>PR</a:t>
            </a:r>
            <a:r>
              <a:rPr lang="zh-CN" altLang="en" sz="2000" b="0" i="0" u="none" dirty="0">
                <a:solidFill>
                  <a:srgbClr val="000000"/>
                </a:solidFill>
              </a:rPr>
              <a:t>，</a:t>
            </a:r>
            <a:r>
              <a:rPr lang="zh-CN" altLang="en-US" sz="2000" b="0" i="0" u="none" dirty="0">
                <a:solidFill>
                  <a:srgbClr val="000000"/>
                </a:solidFill>
              </a:rPr>
              <a:t>一起参与下一代推理缓存基础设施共建。</a:t>
            </a:r>
            <a:endParaRPr lang="zh-CN" altLang="en-US" sz="2000" dirty="0"/>
          </a:p>
          <a:p>
            <a:pPr marL="0" indent="0" algn="l">
              <a:lnSpc>
                <a:spcPct val="100000"/>
              </a:lnSpc>
              <a:buNone/>
            </a:pPr>
            <a:endParaRPr lang="zh-CN" altLang="en-US" sz="2000" dirty="0"/>
          </a:p>
          <a:p>
            <a:pPr marL="0" indent="0" algn="l">
              <a:buNone/>
            </a:pPr>
            <a:endParaRPr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可以从这三类贡献入手。修复和文档，最好带上版本、配置、最小复现、预期行为，以及别人能够重复执行的验证步骤</a:t>
            </a:r>
            <a:r>
              <a:rPr sz="2000" dirty="0"/>
              <a:t>。</a:t>
            </a:r>
          </a:p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/>
              <a:t>插件和集成，需要说清楚接口与兼容边界，提供真实模型测试和使用示例。性能或架构改进，则需要给出负载、对照基线、资源开销，以及尾延迟是否出现回归。</a:t>
            </a:r>
          </a:p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/>
              <a:t>这些材料共同服务于一件事：让评审者能够复现问题、理解方案并验证结果。一个清晰的小问题，配上完整的复现和测试，往往就是非常有价值的贡献。大家可以从仓库的 Issues </a:t>
            </a:r>
            <a:r>
              <a:rPr sz="2000" dirty="0" err="1"/>
              <a:t>和贡献说明开始</a:t>
            </a:r>
            <a:r>
              <a:rPr sz="2000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今天分享的主线，是</a:t>
            </a:r>
            <a:r>
              <a:rPr sz="2000" dirty="0"/>
              <a:t> </a:t>
            </a:r>
            <a:r>
              <a:rPr sz="2000" dirty="0" err="1"/>
              <a:t>LMCache</a:t>
            </a:r>
            <a:r>
              <a:rPr sz="2000" dirty="0"/>
              <a:t> </a:t>
            </a:r>
            <a:r>
              <a:rPr sz="2000" dirty="0" err="1"/>
              <a:t>从进程内的</a:t>
            </a:r>
            <a:r>
              <a:rPr sz="2000" dirty="0"/>
              <a:t> KV </a:t>
            </a:r>
            <a:r>
              <a:rPr sz="2000" dirty="0" err="1"/>
              <a:t>管理库，进一步发展为具有独立运行边界、可插拔后端和生产配套能力的缓存管理层</a:t>
            </a:r>
            <a:r>
              <a:rPr sz="2000" dirty="0"/>
              <a:t>。</a:t>
            </a:r>
          </a:p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落到实际使用时，我们需要把架构上的共享机会，与具体负载下的收益对应起来，并通过正确性、性能和故障测试完成验证</a:t>
            </a:r>
            <a:r>
              <a:rPr sz="2000" dirty="0"/>
              <a:t>。</a:t>
            </a:r>
          </a:p>
          <a:p>
            <a:pPr marL="0" indent="0" algn="l">
              <a:buNone/>
            </a:pPr>
            <a:endParaRPr sz="2000" dirty="0"/>
          </a:p>
          <a:p>
            <a:pPr marL="0" indent="0" algn="l">
              <a:buNone/>
            </a:pPr>
            <a:r>
              <a:rPr sz="2000" dirty="0" err="1"/>
              <a:t>屏幕上是项目仓库和文档地址。感谢大家，也欢迎交流你们正在遇到的模型适配、存储后端和生产部署问题。接下来把时间留给提问</a:t>
            </a:r>
            <a:r>
              <a:rPr sz="2000"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6.xml"/><Relationship Id="rId7" Type="http://schemas.openxmlformats.org/officeDocument/2006/relationships/image" Target="../media/image3.jpeg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9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tags" Target="../tags/tag11.xml"/><Relationship Id="rId7" Type="http://schemas.openxmlformats.org/officeDocument/2006/relationships/slideMaster" Target="../slideMasters/slideMaster1.xml"/><Relationship Id="rId12" Type="http://schemas.openxmlformats.org/officeDocument/2006/relationships/image" Target="../media/image8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image" Target="../media/image7.png"/><Relationship Id="rId5" Type="http://schemas.openxmlformats.org/officeDocument/2006/relationships/tags" Target="../tags/tag13.xml"/><Relationship Id="rId10" Type="http://schemas.openxmlformats.org/officeDocument/2006/relationships/image" Target="../media/image4.png"/><Relationship Id="rId4" Type="http://schemas.openxmlformats.org/officeDocument/2006/relationships/tags" Target="../tags/tag12.xml"/><Relationship Id="rId9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17.xml"/><Relationship Id="rId7" Type="http://schemas.openxmlformats.org/officeDocument/2006/relationships/image" Target="../media/image3.jpe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9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image" Target="../media/image2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image" Target="../media/image8.png"/><Relationship Id="rId5" Type="http://schemas.openxmlformats.org/officeDocument/2006/relationships/tags" Target="../tags/tag24.xml"/><Relationship Id="rId10" Type="http://schemas.openxmlformats.org/officeDocument/2006/relationships/image" Target="../media/image4.png"/><Relationship Id="rId4" Type="http://schemas.openxmlformats.org/officeDocument/2006/relationships/tags" Target="../tags/tag23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image" Target="../media/image2.png"/><Relationship Id="rId5" Type="http://schemas.openxmlformats.org/officeDocument/2006/relationships/tags" Target="../tags/tag32.xml"/><Relationship Id="rId10" Type="http://schemas.openxmlformats.org/officeDocument/2006/relationships/image" Target="../media/image8.png"/><Relationship Id="rId4" Type="http://schemas.openxmlformats.org/officeDocument/2006/relationships/tags" Target="../tags/tag31.xml"/><Relationship Id="rId9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image" Target="../media/image2.png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image" Target="../media/image8.png"/><Relationship Id="rId2" Type="http://schemas.openxmlformats.org/officeDocument/2006/relationships/tags" Target="../tags/tag36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image" Target="../media/image4.png"/><Relationship Id="rId5" Type="http://schemas.openxmlformats.org/officeDocument/2006/relationships/tags" Target="../tags/tag39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38.xml"/><Relationship Id="rId9" Type="http://schemas.openxmlformats.org/officeDocument/2006/relationships/tags" Target="../tags/tag43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46.xml"/><Relationship Id="rId7" Type="http://schemas.openxmlformats.org/officeDocument/2006/relationships/image" Target="../media/image2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1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.jpgGOSIM-Shenzhen-2026KV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图片 5" descr="组 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554355" y="580390"/>
            <a:ext cx="1892300" cy="4800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1.jpgGOSIM-Shenzhen-2026KV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GOSIM Shenzhen 202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8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  <p:custDataLst>
              <p:tags r:id="rId3"/>
            </p:custDataLst>
          </p:nvPr>
        </p:nvSpPr>
        <p:spPr>
          <a:xfrm>
            <a:off x="405130" y="1818640"/>
            <a:ext cx="8556625" cy="2002155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6" name="文本占位符 2"/>
          <p:cNvSpPr>
            <a:spLocks noGrp="1"/>
          </p:cNvSpPr>
          <p:nvPr>
            <p:ph type="body" idx="13" hasCustomPrompt="1"/>
            <p:custDataLst>
              <p:tags r:id="rId4"/>
            </p:custDataLst>
          </p:nvPr>
        </p:nvSpPr>
        <p:spPr>
          <a:xfrm>
            <a:off x="405130" y="3820795"/>
            <a:ext cx="8556625" cy="79883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dirty="0" err="1"/>
              <a:t>姓名</a:t>
            </a:r>
          </a:p>
        </p:txBody>
      </p:sp>
      <p:pic>
        <p:nvPicPr>
          <p:cNvPr id="8" name="图片 7" descr="组 3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enson/Downloads/GOSIM-Shenzhen-2026KV.jpgGOSIM-Shenzhen-2026KV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 descr="CONTENTS_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9">
            <a:alphaModFix amt="60000"/>
          </a:blip>
          <a:stretch>
            <a:fillRect/>
          </a:stretch>
        </p:blipFill>
        <p:spPr>
          <a:xfrm>
            <a:off x="431165" y="507365"/>
            <a:ext cx="5179060" cy="1228090"/>
          </a:xfrm>
          <a:prstGeom prst="rect">
            <a:avLst/>
          </a:prstGeom>
          <a:effectLst/>
        </p:spPr>
      </p:pic>
      <p:pic>
        <p:nvPicPr>
          <p:cNvPr id="6" name="图片 5" descr="GOSIM Shenzhen 202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10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5" name="矩形 4"/>
          <p:cNvSpPr/>
          <p:nvPr userDrawn="1">
            <p:custDataLst>
              <p:tags r:id="rId4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pic>
        <p:nvPicPr>
          <p:cNvPr id="7" name="图片 1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1">
            <a:biLevel thresh="50000"/>
            <a:lum bright="100000"/>
          </a:blip>
          <a:stretch>
            <a:fillRect/>
          </a:stretch>
        </p:blipFill>
        <p:spPr>
          <a:xfrm>
            <a:off x="11124565" y="6570663"/>
            <a:ext cx="832485" cy="212090"/>
          </a:xfrm>
          <a:prstGeom prst="rect">
            <a:avLst/>
          </a:prstGeom>
        </p:spPr>
      </p:pic>
      <p:pic>
        <p:nvPicPr>
          <p:cNvPr id="8" name="图片 7" descr="/Users/enson/Downloads/组 2.png组 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2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Users/enson/Downloads/GOSIM-Shenzhen-2026KV1.jpgGOSIM-Shenzhen-2026KV1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图片 6" descr="GOSIM Shenzhen 202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8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10" name="标题 1"/>
          <p:cNvSpPr>
            <a:spLocks noGrp="1"/>
          </p:cNvSpPr>
          <p:nvPr>
            <p:ph type="ctrTitle" hasCustomPrompt="1"/>
            <p:custDataLst>
              <p:tags r:id="rId3"/>
            </p:custDataLst>
          </p:nvPr>
        </p:nvSpPr>
        <p:spPr>
          <a:xfrm>
            <a:off x="421005" y="825500"/>
            <a:ext cx="3550920" cy="2812415"/>
          </a:xfrm>
          <a:prstGeom prst="rect">
            <a:avLst/>
          </a:prstGeom>
        </p:spPr>
        <p:txBody>
          <a:bodyPr lIns="90000" tIns="46800" rIns="90000" bIns="46800" anchor="t" anchorCtr="0">
            <a:noAutofit/>
          </a:bodyPr>
          <a:lstStyle>
            <a:lvl1pPr algn="ctr">
              <a:lnSpc>
                <a:spcPct val="100000"/>
              </a:lnSpc>
              <a:defRPr sz="20000" b="1" i="0">
                <a:gradFill>
                  <a:gsLst>
                    <a:gs pos="23000">
                      <a:schemeClr val="bg1"/>
                    </a:gs>
                    <a:gs pos="71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effectLst/>
                <a:latin typeface="Source Han Sans CN Bold" panose="020B0800000000000000" charset="-122"/>
                <a:ea typeface="Source Han Sans CN Bold" panose="020B0800000000000000" charset="-122"/>
              </a:defRPr>
            </a:lvl1pPr>
          </a:lstStyle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5" hasCustomPrompt="1"/>
            <p:custDataLst>
              <p:tags r:id="rId4"/>
            </p:custDataLst>
          </p:nvPr>
        </p:nvSpPr>
        <p:spPr>
          <a:xfrm>
            <a:off x="569209" y="2821715"/>
            <a:ext cx="8887193" cy="860046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t" anchorCtr="0">
            <a:noAutofit/>
          </a:bodyPr>
          <a:lstStyle>
            <a:lvl1pPr marL="0" indent="0" algn="l">
              <a:buNone/>
              <a:defRPr lang="zh-CN" altLang="en-US" sz="4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pic>
        <p:nvPicPr>
          <p:cNvPr id="8" name="图片 7" descr="组 3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54355" y="469900"/>
            <a:ext cx="1404620" cy="3562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2"/>
          <p:cNvSpPr>
            <a:spLocks noGrp="1"/>
          </p:cNvSpPr>
          <p:nvPr>
            <p:ph type="body" idx="15" hasCustomPrompt="1"/>
            <p:custDataLst>
              <p:tags r:id="rId1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1" name="矩形 40"/>
          <p:cNvSpPr/>
          <p:nvPr userDrawn="1">
            <p:custDataLst>
              <p:tags r:id="rId2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3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4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1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sp>
        <p:nvSpPr>
          <p:cNvPr id="11" name="标题 9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518160" y="1094105"/>
            <a:ext cx="11160000" cy="5040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000" b="0">
                <a:solidFill>
                  <a:srgbClr val="0A2540"/>
                </a:solidFill>
                <a:effectLst/>
                <a:latin typeface="+mj-lt"/>
                <a:ea typeface="+mj-lt"/>
              </a:defRPr>
            </a:lvl1pPr>
          </a:lstStyle>
          <a:p>
            <a:endParaRPr lang="zh-CN" altLang="en-US" dirty="0"/>
          </a:p>
        </p:txBody>
      </p:sp>
      <p:pic>
        <p:nvPicPr>
          <p:cNvPr id="14" name="图片 12" descr="/Users/enson/Downloads/组 3.png组 3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12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节标题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518296" y="1449867"/>
            <a:ext cx="5441813" cy="4351338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0A2540"/>
                </a:solidFill>
                <a:latin typeface="+mj-lt"/>
                <a:ea typeface="+mj-lt"/>
              </a:defRPr>
            </a:lvl1pPr>
            <a:lvl2pPr>
              <a:defRPr sz="1800" b="0" i="0">
                <a:solidFill>
                  <a:srgbClr val="0A2540"/>
                </a:solidFill>
                <a:latin typeface="+mj-lt"/>
                <a:ea typeface="+mj-lt"/>
              </a:defRPr>
            </a:lvl2pPr>
            <a:lvl3pPr>
              <a:defRPr sz="1600" b="0" i="0">
                <a:solidFill>
                  <a:srgbClr val="0A2540"/>
                </a:solidFill>
                <a:latin typeface="+mj-lt"/>
                <a:ea typeface="+mj-lt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单击此处添加内容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56350" y="1430655"/>
            <a:ext cx="5283200" cy="4351655"/>
          </a:xfrm>
          <a:prstGeom prst="rect">
            <a:avLst/>
          </a:prstGeom>
        </p:spPr>
        <p:txBody>
          <a:bodyPr/>
          <a:lstStyle>
            <a:lvl1pPr>
              <a:defRPr sz="2000" b="0" i="0">
                <a:solidFill>
                  <a:srgbClr val="0A2540"/>
                </a:solidFill>
                <a:latin typeface="+mj-lt"/>
                <a:ea typeface="+mj-lt"/>
              </a:defRPr>
            </a:lvl1pPr>
            <a:lvl2pPr>
              <a:defRPr sz="1800" b="0" i="0">
                <a:solidFill>
                  <a:srgbClr val="0A2540"/>
                </a:solidFill>
                <a:latin typeface="+mj-lt"/>
                <a:ea typeface="+mj-lt"/>
              </a:defRPr>
            </a:lvl2pPr>
            <a:lvl3pPr>
              <a:defRPr sz="1600" b="0" i="0">
                <a:solidFill>
                  <a:srgbClr val="0A2540"/>
                </a:solidFill>
                <a:latin typeface="+mj-lt"/>
                <a:ea typeface="+mj-lt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单击此处添加内容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5" hasCustomPrompt="1"/>
            <p:custDataLst>
              <p:tags r:id="rId1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1" name="矩形 40"/>
          <p:cNvSpPr/>
          <p:nvPr userDrawn="1">
            <p:custDataLst>
              <p:tags r:id="rId2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3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4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0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14" name="图片 12" descr="/Users/enson/Downloads/组 3.png组 3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11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节标题">
    <p:bg>
      <p:bgPr>
        <a:solidFill>
          <a:schemeClr val="bg1"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5457190" y="1449705"/>
            <a:ext cx="6172200" cy="46793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rgbClr val="0A2540"/>
                </a:solidFill>
                <a:latin typeface="+mj-lt"/>
                <a:ea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20" name="标题 9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518160" y="1449705"/>
            <a:ext cx="4698365" cy="467995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defRPr sz="2000" b="0">
                <a:solidFill>
                  <a:srgbClr val="0A2540"/>
                </a:solidFill>
                <a:effectLst/>
                <a:latin typeface="+mj-lt"/>
                <a:ea typeface="+mj-lt"/>
              </a:defRPr>
            </a:lvl1pPr>
          </a:lstStyle>
          <a:p>
            <a:r>
              <a:rPr lang="zh-CN" altLang="en-US" dirty="0"/>
              <a:t>单击此处添加内容</a:t>
            </a:r>
          </a:p>
        </p:txBody>
      </p:sp>
      <p:sp>
        <p:nvSpPr>
          <p:cNvPr id="10" name="文本占位符 2"/>
          <p:cNvSpPr>
            <a:spLocks noGrp="1"/>
          </p:cNvSpPr>
          <p:nvPr>
            <p:ph type="body" idx="15" hasCustomPrompt="1"/>
            <p:custDataLst>
              <p:tags r:id="rId3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  <p:sp>
        <p:nvSpPr>
          <p:cNvPr id="41" name="矩形 40"/>
          <p:cNvSpPr/>
          <p:nvPr userDrawn="1">
            <p:custDataLst>
              <p:tags r:id="rId4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93655"/>
              </a:gs>
              <a:gs pos="50000">
                <a:srgbClr val="456E95"/>
              </a:gs>
              <a:gs pos="15000">
                <a:srgbClr val="F7DB8F">
                  <a:alpha val="100000"/>
                </a:srgbClr>
              </a:gs>
              <a:gs pos="0">
                <a:srgbClr val="CEAA5B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cxnSp>
        <p:nvCxnSpPr>
          <p:cNvPr id="44" name="直接连接符 8"/>
          <p:cNvCxnSpPr/>
          <p:nvPr userDrawn="1">
            <p:custDataLst>
              <p:tags r:id="rId5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 cap="flat" cmpd="sng">
            <a:solidFill>
              <a:srgbClr val="285091"/>
            </a:solidFill>
            <a:prstDash val="solid"/>
            <a:miter lim="800000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11"/>
          <p:cNvCxnSpPr/>
          <p:nvPr userDrawn="1">
            <p:custDataLst>
              <p:tags r:id="rId6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FFD9D0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6" name="图片 45" descr="GOSIM Shenzhen 2026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9439910" y="326390"/>
            <a:ext cx="2517140" cy="295275"/>
          </a:xfrm>
          <a:prstGeom prst="rect">
            <a:avLst/>
          </a:prstGeom>
        </p:spPr>
      </p:pic>
      <p:pic>
        <p:nvPicPr>
          <p:cNvPr id="47" name="图片 46" descr="/Users/enson/Downloads/组 2.png组 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12"/>
          <a:srcRect l="24" r="24"/>
          <a:stretch>
            <a:fillRect/>
          </a:stretch>
        </p:blipFill>
        <p:spPr>
          <a:xfrm flipH="1">
            <a:off x="635" y="5525770"/>
            <a:ext cx="2955290" cy="1331595"/>
          </a:xfrm>
          <a:prstGeom prst="rect">
            <a:avLst/>
          </a:prstGeom>
        </p:spPr>
      </p:pic>
      <p:pic>
        <p:nvPicPr>
          <p:cNvPr id="8" name="图片 12" descr="/Users/enson/Downloads/组 3.png组 3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3"/>
          <a:srcRect l="-636" r="268"/>
          <a:stretch>
            <a:fillRect/>
          </a:stretch>
        </p:blipFill>
        <p:spPr>
          <a:xfrm>
            <a:off x="11123930" y="6571615"/>
            <a:ext cx="833120" cy="2101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GOSIM-Shenzhen-2026KV.jpgGOSIM-Shenzhen-2026KV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图片 12" descr="/Users/enson/Downloads/组 3.png组 3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7"/>
          <a:srcRect l="-636" r="268"/>
          <a:stretch>
            <a:fillRect/>
          </a:stretch>
        </p:blipFill>
        <p:spPr>
          <a:xfrm>
            <a:off x="541655" y="469900"/>
            <a:ext cx="1409700" cy="355600"/>
          </a:xfrm>
          <a:prstGeom prst="rect">
            <a:avLst/>
          </a:prstGeom>
        </p:spPr>
      </p:pic>
      <p:pic>
        <p:nvPicPr>
          <p:cNvPr id="6" name="图片 5" descr="GOSIM Shenzhen 2026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8">
            <a:biLevel thresh="50000"/>
          </a:blip>
          <a:stretch>
            <a:fillRect/>
          </a:stretch>
        </p:blipFill>
        <p:spPr>
          <a:xfrm>
            <a:off x="8785860" y="507365"/>
            <a:ext cx="3030855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  <p:custDataLst>
              <p:tags r:id="rId4"/>
            </p:custDataLst>
          </p:nvPr>
        </p:nvSpPr>
        <p:spPr>
          <a:xfrm>
            <a:off x="405130" y="2157095"/>
            <a:ext cx="8556625" cy="200215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单击此处添加标题</a:t>
            </a:r>
            <a:endParaRPr kumimoji="1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svg"/><Relationship Id="rId12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1.svg"/><Relationship Id="rId11" Type="http://schemas.openxmlformats.org/officeDocument/2006/relationships/image" Target="../media/image26.jpeg"/><Relationship Id="rId5" Type="http://schemas.openxmlformats.org/officeDocument/2006/relationships/image" Target="../media/image18.svg"/><Relationship Id="rId10" Type="http://schemas.openxmlformats.org/officeDocument/2006/relationships/image" Target="../media/image25.png"/><Relationship Id="rId4" Type="http://schemas.openxmlformats.org/officeDocument/2006/relationships/image" Target="../media/image20.svg"/><Relationship Id="rId9" Type="http://schemas.openxmlformats.org/officeDocument/2006/relationships/image" Target="../media/image24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13.sv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svg"/><Relationship Id="rId5" Type="http://schemas.openxmlformats.org/officeDocument/2006/relationships/image" Target="../media/image28.svg"/><Relationship Id="rId10" Type="http://schemas.openxmlformats.org/officeDocument/2006/relationships/image" Target="../media/image32.svg"/><Relationship Id="rId4" Type="http://schemas.openxmlformats.org/officeDocument/2006/relationships/image" Target="../media/image14.svg"/><Relationship Id="rId9" Type="http://schemas.openxmlformats.org/officeDocument/2006/relationships/image" Target="../media/image31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405130" y="1818640"/>
            <a:ext cx="8556625" cy="2002155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indent="0" algn="l">
              <a:buNone/>
            </a:pPr>
            <a:r>
              <a:rPr lang="zh-CN" altLang="en-US" sz="5200" b="1" i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rPr>
              <a:t>LMCache</a:t>
            </a:r>
          </a:p>
          <a:p>
            <a:pPr marL="0" indent="0" algn="l">
              <a:buNone/>
            </a:pPr>
            <a:r>
              <a:rPr lang="zh-CN" altLang="en-US" sz="5200" b="1" i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rPr>
              <a:t>统一 KV Cache 管理层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3" hasCustomPrompt="1"/>
          </p:nvPr>
        </p:nvSpPr>
        <p:spPr>
          <a:xfrm>
            <a:off x="405130" y="3820795"/>
            <a:ext cx="8556625" cy="79883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rPr>
              <a:t>架构演进与生产实践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267C8-104D-EB28-D171-C80F10085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2">
            <a:extLst>
              <a:ext uri="{FF2B5EF4-FFF2-40B4-BE49-F238E27FC236}">
                <a16:creationId xmlns:a16="http://schemas.microsoft.com/office/drawing/2014/main" id="{5B3636C7-4AC5-EE84-4C85-1D2564441D5D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 dirty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关于讲者</a:t>
            </a:r>
          </a:p>
        </p:txBody>
      </p:sp>
      <p:pic>
        <p:nvPicPr>
          <p:cNvPr id="6" name="Picture 58">
            <a:extLst>
              <a:ext uri="{FF2B5EF4-FFF2-40B4-BE49-F238E27FC236}">
                <a16:creationId xmlns:a16="http://schemas.microsoft.com/office/drawing/2014/main" id="{2CD1E362-F135-25AD-714D-09AF5D8BC7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738868" y="1525550"/>
            <a:ext cx="2597003" cy="2597003"/>
          </a:xfrm>
          <a:prstGeom prst="rect">
            <a:avLst/>
          </a:prstGeom>
        </p:spPr>
      </p:pic>
      <p:sp>
        <p:nvSpPr>
          <p:cNvPr id="13" name="Rectangle 46">
            <a:extLst>
              <a:ext uri="{FF2B5EF4-FFF2-40B4-BE49-F238E27FC236}">
                <a16:creationId xmlns:a16="http://schemas.microsoft.com/office/drawing/2014/main" id="{DA1C7785-2E31-80AB-BA83-500EC300D999}"/>
              </a:ext>
            </a:extLst>
          </p:cNvPr>
          <p:cNvSpPr>
            <a:spLocks noGrp="1"/>
          </p:cNvSpPr>
          <p:nvPr/>
        </p:nvSpPr>
        <p:spPr>
          <a:xfrm>
            <a:off x="4852433" y="1525550"/>
            <a:ext cx="4095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3000" b="1" kern="0" spc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3000" b="1" kern="0" dirty="0">
                <a:solidFill>
                  <a:schemeClr val="tx2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郑春晓</a:t>
            </a:r>
            <a:endParaRPr sz="3000" b="1" kern="0" spc="0" dirty="0">
              <a:solidFill>
                <a:schemeClr val="tx2">
                  <a:lumMod val="75000"/>
                </a:scheme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Rectangle 48">
            <a:extLst>
              <a:ext uri="{FF2B5EF4-FFF2-40B4-BE49-F238E27FC236}">
                <a16:creationId xmlns:a16="http://schemas.microsoft.com/office/drawing/2014/main" id="{9D1C054E-1A8C-44B9-BD71-546C22294989}"/>
              </a:ext>
            </a:extLst>
          </p:cNvPr>
          <p:cNvSpPr>
            <a:spLocks noGrp="1"/>
          </p:cNvSpPr>
          <p:nvPr/>
        </p:nvSpPr>
        <p:spPr>
          <a:xfrm>
            <a:off x="4852432" y="2192300"/>
            <a:ext cx="4482953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950" b="1" kern="0" spc="0">
                <a:solidFill>
                  <a:srgbClr val="FF9D2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 kern="0" spc="0" dirty="0" err="1">
                <a:solidFill>
                  <a:srgbClr val="FF9D2B"/>
                </a:solidFill>
                <a:latin typeface="微软雅黑"/>
                <a:ea typeface="微软雅黑"/>
                <a:cs typeface="微软雅黑"/>
              </a:rPr>
              <a:t>LMCache</a:t>
            </a:r>
            <a:r>
              <a:rPr sz="1950" b="1" kern="0" spc="0" dirty="0">
                <a:solidFill>
                  <a:srgbClr val="FF9D2B"/>
                </a:solidFill>
                <a:latin typeface="微软雅黑"/>
                <a:ea typeface="微软雅黑"/>
                <a:cs typeface="微软雅黑"/>
              </a:rPr>
              <a:t> Maintainer</a:t>
            </a:r>
            <a:r>
              <a:rPr lang="en-US" altLang="zh-CN" sz="1950" b="1" kern="0" spc="0" dirty="0">
                <a:solidFill>
                  <a:srgbClr val="FF9D2B"/>
                </a:solidFill>
                <a:latin typeface="微软雅黑"/>
                <a:ea typeface="微软雅黑"/>
                <a:cs typeface="微软雅黑"/>
              </a:rPr>
              <a:t> &amp;</a:t>
            </a:r>
            <a:r>
              <a:rPr lang="zh-CN" altLang="en-US" sz="1950" b="1" kern="0" spc="0" dirty="0">
                <a:solidFill>
                  <a:srgbClr val="FF9D2B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1950" kern="0" spc="0" dirty="0">
                <a:solidFill>
                  <a:srgbClr val="E8743B"/>
                </a:solidFill>
                <a:latin typeface="微软雅黑"/>
                <a:ea typeface="微软雅黑"/>
                <a:cs typeface="微软雅黑"/>
              </a:rPr>
              <a:t>核心架构师</a:t>
            </a:r>
            <a:endParaRPr sz="1950" b="1" kern="0" spc="0" dirty="0">
              <a:solidFill>
                <a:srgbClr val="FF9D2B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Rectangle 50">
            <a:extLst>
              <a:ext uri="{FF2B5EF4-FFF2-40B4-BE49-F238E27FC236}">
                <a16:creationId xmlns:a16="http://schemas.microsoft.com/office/drawing/2014/main" id="{2BE3A066-501A-0152-15AE-3C5B9C9F7200}"/>
              </a:ext>
            </a:extLst>
          </p:cNvPr>
          <p:cNvSpPr>
            <a:spLocks noGrp="1"/>
          </p:cNvSpPr>
          <p:nvPr/>
        </p:nvSpPr>
        <p:spPr>
          <a:xfrm>
            <a:off x="4852432" y="3149452"/>
            <a:ext cx="5600700" cy="2667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950" kern="0" spc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950" kern="0" spc="0" dirty="0">
                <a:solidFill>
                  <a:schemeClr val="tx2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项目第五大贡献者，累计合并 </a:t>
            </a:r>
            <a:r>
              <a:rPr lang="en-US" altLang="zh-CN" sz="1950" kern="0" spc="0" dirty="0">
                <a:solidFill>
                  <a:schemeClr val="tx2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130+ PR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kern="0" spc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950" kern="0" spc="0" dirty="0" err="1">
                <a:solidFill>
                  <a:schemeClr val="tx2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LMCache</a:t>
            </a:r>
            <a:r>
              <a:rPr lang="en-US" altLang="zh-CN" sz="1950" kern="0" spc="0" dirty="0">
                <a:solidFill>
                  <a:schemeClr val="tx2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1950" kern="0" spc="0" dirty="0">
                <a:solidFill>
                  <a:schemeClr val="tx2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核心 </a:t>
            </a:r>
            <a:r>
              <a:rPr lang="en-US" altLang="zh-CN" sz="1950" kern="0" spc="0" dirty="0">
                <a:solidFill>
                  <a:schemeClr val="tx2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Maintainer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kern="0" spc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950" kern="0" spc="0" dirty="0" err="1">
                <a:solidFill>
                  <a:schemeClr val="tx2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vLLM</a:t>
            </a:r>
            <a:r>
              <a:rPr lang="en-US" altLang="zh-CN" sz="1950" kern="0" spc="0" dirty="0">
                <a:solidFill>
                  <a:schemeClr val="tx2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 Contributor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kern="0" spc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1950" kern="0" dirty="0" err="1">
                <a:solidFill>
                  <a:schemeClr val="tx2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SGLang</a:t>
            </a:r>
            <a:r>
              <a:rPr lang="zh-CN" altLang="en-US" sz="1950" kern="0" dirty="0">
                <a:solidFill>
                  <a:schemeClr val="tx2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sz="1950" kern="0" dirty="0">
                <a:solidFill>
                  <a:schemeClr val="tx2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Contributor</a:t>
            </a:r>
          </a:p>
          <a:p>
            <a:pPr marL="342900" indent="-342900">
              <a:buFont typeface="Arial" panose="020B0604020202020204" pitchFamily="34" charset="0"/>
              <a:buChar char="•"/>
              <a:defRPr sz="1950" kern="0" spc="0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950" kern="0" spc="0" dirty="0">
                <a:solidFill>
                  <a:schemeClr val="tx2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毕业以来专注于大数据存储和</a:t>
            </a:r>
            <a:r>
              <a:rPr lang="en-US" altLang="zh-CN" sz="1950" kern="0" spc="0" dirty="0">
                <a:solidFill>
                  <a:schemeClr val="tx2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KV Cache</a:t>
            </a:r>
            <a:r>
              <a:rPr lang="zh-CN" altLang="en-US" sz="1950" kern="0" spc="0" dirty="0">
                <a:solidFill>
                  <a:schemeClr val="tx2">
                    <a:lumMod val="75000"/>
                  </a:schemeClr>
                </a:solidFill>
                <a:latin typeface="微软雅黑"/>
                <a:ea typeface="微软雅黑"/>
                <a:cs typeface="微软雅黑"/>
              </a:rPr>
              <a:t>相关存储</a:t>
            </a:r>
          </a:p>
        </p:txBody>
      </p:sp>
    </p:spTree>
    <p:extLst>
      <p:ext uri="{BB962C8B-B14F-4D97-AF65-F5344CB8AC3E}">
        <p14:creationId xmlns:p14="http://schemas.microsoft.com/office/powerpoint/2010/main" val="3018194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3"/>
          <p:cNvGrpSpPr/>
          <p:nvPr/>
        </p:nvGrpSpPr>
        <p:grpSpPr>
          <a:xfrm>
            <a:off x="419100" y="2343150"/>
            <a:ext cx="1733550" cy="514350"/>
            <a:chOff x="657" y="7220"/>
            <a:chExt cx="2721" cy="794"/>
          </a:xfrm>
        </p:grpSpPr>
        <p:sp>
          <p:nvSpPr>
            <p:cNvPr id="3" name="矩形 64"/>
            <p:cNvSpPr/>
            <p:nvPr userDrawn="1"/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4" name="单圆角矩形 65"/>
            <p:cNvSpPr/>
            <p:nvPr userDrawn="1"/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indent="0" algn="l">
                <a:buNone/>
              </a:pPr>
              <a:r>
                <a:rPr kumimoji="1" lang="en-US" altLang="zh-CN" sz="26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01</a:t>
              </a:r>
            </a:p>
          </p:txBody>
        </p:sp>
      </p:grpSp>
      <p:sp>
        <p:nvSpPr>
          <p:cNvPr id="5" name="文本占位符 2"/>
          <p:cNvSpPr>
            <a:spLocks noGrp="1"/>
          </p:cNvSpPr>
          <p:nvPr/>
        </p:nvSpPr>
        <p:spPr>
          <a:xfrm>
            <a:off x="2428875" y="2381250"/>
            <a:ext cx="3429000" cy="619125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zh-CN" sz="2000" b="0" i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rPr>
              <a:t>LMCache</a:t>
            </a:r>
            <a:r>
              <a:rPr lang="zh-CN" altLang="en-US" sz="2000" dirty="0">
                <a:solidFill>
                  <a:srgbClr val="FFFFFF"/>
                </a:solidFill>
              </a:rPr>
              <a:t> 架构演进</a:t>
            </a:r>
            <a:endParaRPr lang="zh-CN" altLang="en-US" sz="2000" b="0" i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urce Han Sans CN" panose="020B0604020202090204" pitchFamily="34" charset="0"/>
              <a:ea typeface="Source Han Sans CN" panose="020B0502040204020203" charset="-122"/>
              <a:cs typeface="Source Han Sans CN" panose="020B0604020202090204" pitchFamily="34" charset="0"/>
            </a:endParaRPr>
          </a:p>
        </p:txBody>
      </p:sp>
      <p:grpSp>
        <p:nvGrpSpPr>
          <p:cNvPr id="6" name="组合 63"/>
          <p:cNvGrpSpPr/>
          <p:nvPr/>
        </p:nvGrpSpPr>
        <p:grpSpPr>
          <a:xfrm>
            <a:off x="419100" y="3343275"/>
            <a:ext cx="1733550" cy="514350"/>
            <a:chOff x="657" y="7220"/>
            <a:chExt cx="2721" cy="794"/>
          </a:xfrm>
        </p:grpSpPr>
        <p:sp>
          <p:nvSpPr>
            <p:cNvPr id="7" name="矩形 64"/>
            <p:cNvSpPr/>
            <p:nvPr userDrawn="1"/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8" name="单圆角矩形 65"/>
            <p:cNvSpPr/>
            <p:nvPr userDrawn="1"/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indent="0" algn="l">
                <a:buNone/>
              </a:pPr>
              <a:r>
                <a:rPr kumimoji="1" lang="en-US" altLang="zh-CN" sz="26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02</a:t>
              </a:r>
            </a:p>
          </p:txBody>
        </p:sp>
      </p:grpSp>
      <p:sp>
        <p:nvSpPr>
          <p:cNvPr id="9" name="文本占位符 2"/>
          <p:cNvSpPr>
            <a:spLocks noGrp="1"/>
          </p:cNvSpPr>
          <p:nvPr/>
        </p:nvSpPr>
        <p:spPr>
          <a:xfrm>
            <a:off x="2428874" y="3381375"/>
            <a:ext cx="3667125" cy="619125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zh-CN" sz="2000" b="0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rPr>
              <a:t>Multi-Process</a:t>
            </a:r>
            <a:r>
              <a:rPr lang="zh-CN" altLang="en-US" sz="2000" b="0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rPr>
              <a:t> 模式架构</a:t>
            </a:r>
          </a:p>
        </p:txBody>
      </p:sp>
      <p:grpSp>
        <p:nvGrpSpPr>
          <p:cNvPr id="10" name="组合 63"/>
          <p:cNvGrpSpPr/>
          <p:nvPr/>
        </p:nvGrpSpPr>
        <p:grpSpPr>
          <a:xfrm>
            <a:off x="419100" y="4343400"/>
            <a:ext cx="1733550" cy="514350"/>
            <a:chOff x="657" y="7220"/>
            <a:chExt cx="2721" cy="794"/>
          </a:xfrm>
        </p:grpSpPr>
        <p:sp>
          <p:nvSpPr>
            <p:cNvPr id="11" name="矩形 64"/>
            <p:cNvSpPr/>
            <p:nvPr userDrawn="1"/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12" name="单圆角矩形 65"/>
            <p:cNvSpPr/>
            <p:nvPr userDrawn="1"/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indent="0" algn="l">
                <a:buNone/>
              </a:pPr>
              <a:r>
                <a:rPr kumimoji="1" lang="en-US" altLang="zh-CN" sz="26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03</a:t>
              </a:r>
            </a:p>
          </p:txBody>
        </p:sp>
      </p:grpSp>
      <p:sp>
        <p:nvSpPr>
          <p:cNvPr id="13" name="文本占位符 2"/>
          <p:cNvSpPr>
            <a:spLocks noGrp="1"/>
          </p:cNvSpPr>
          <p:nvPr/>
        </p:nvSpPr>
        <p:spPr>
          <a:xfrm>
            <a:off x="8343900" y="2290762"/>
            <a:ext cx="3429000" cy="619125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defRPr>
            </a:lvl1pPr>
          </a:lstStyle>
          <a:p>
            <a:pPr marL="0" indent="0" algn="l">
              <a:buNone/>
            </a:pPr>
            <a:r>
              <a:rPr lang="zh-CN" altLang="en-US" sz="2000" b="0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rPr>
              <a:t>可插拔扩展与多平台</a:t>
            </a:r>
          </a:p>
        </p:txBody>
      </p:sp>
      <p:grpSp>
        <p:nvGrpSpPr>
          <p:cNvPr id="14" name="组合 63"/>
          <p:cNvGrpSpPr/>
          <p:nvPr/>
        </p:nvGrpSpPr>
        <p:grpSpPr>
          <a:xfrm>
            <a:off x="6334125" y="2343150"/>
            <a:ext cx="1733550" cy="514350"/>
            <a:chOff x="657" y="7220"/>
            <a:chExt cx="2721" cy="794"/>
          </a:xfrm>
        </p:grpSpPr>
        <p:sp>
          <p:nvSpPr>
            <p:cNvPr id="15" name="矩形 64"/>
            <p:cNvSpPr/>
            <p:nvPr userDrawn="1"/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16" name="单圆角矩形 65"/>
            <p:cNvSpPr/>
            <p:nvPr userDrawn="1"/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indent="0" algn="l">
                <a:buNone/>
              </a:pPr>
              <a:r>
                <a:rPr kumimoji="1" lang="en-US" altLang="zh-CN" sz="26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04</a:t>
              </a:r>
            </a:p>
          </p:txBody>
        </p:sp>
      </p:grpSp>
      <p:sp>
        <p:nvSpPr>
          <p:cNvPr id="17" name="文本占位符 2"/>
          <p:cNvSpPr>
            <a:spLocks noGrp="1"/>
          </p:cNvSpPr>
          <p:nvPr/>
        </p:nvSpPr>
        <p:spPr>
          <a:xfrm>
            <a:off x="8305801" y="3290887"/>
            <a:ext cx="3429000" cy="619125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defRPr>
            </a:lvl1pPr>
          </a:lstStyle>
          <a:p>
            <a:pPr marL="0" indent="0" algn="l">
              <a:buNone/>
            </a:pPr>
            <a:r>
              <a:rPr lang="zh-CN" altLang="en-US" sz="2000" b="0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rPr>
              <a:t>生产部署与可观测性</a:t>
            </a:r>
          </a:p>
        </p:txBody>
      </p:sp>
      <p:grpSp>
        <p:nvGrpSpPr>
          <p:cNvPr id="18" name="组合 63"/>
          <p:cNvGrpSpPr/>
          <p:nvPr/>
        </p:nvGrpSpPr>
        <p:grpSpPr>
          <a:xfrm>
            <a:off x="6334125" y="3343275"/>
            <a:ext cx="1733550" cy="514350"/>
            <a:chOff x="657" y="7220"/>
            <a:chExt cx="2721" cy="794"/>
          </a:xfrm>
        </p:grpSpPr>
        <p:sp>
          <p:nvSpPr>
            <p:cNvPr id="19" name="矩形 64"/>
            <p:cNvSpPr/>
            <p:nvPr userDrawn="1"/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20" name="单圆角矩形 65"/>
            <p:cNvSpPr/>
            <p:nvPr userDrawn="1"/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indent="0" algn="l">
                <a:buNone/>
              </a:pPr>
              <a:r>
                <a:rPr kumimoji="1" lang="en-US" altLang="zh-CN" sz="26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05</a:t>
              </a:r>
            </a:p>
          </p:txBody>
        </p:sp>
      </p:grpSp>
      <p:grpSp>
        <p:nvGrpSpPr>
          <p:cNvPr id="22" name="组合 63"/>
          <p:cNvGrpSpPr/>
          <p:nvPr/>
        </p:nvGrpSpPr>
        <p:grpSpPr>
          <a:xfrm>
            <a:off x="6334125" y="4343400"/>
            <a:ext cx="1733550" cy="514350"/>
            <a:chOff x="657" y="7220"/>
            <a:chExt cx="2721" cy="794"/>
          </a:xfrm>
        </p:grpSpPr>
        <p:sp>
          <p:nvSpPr>
            <p:cNvPr id="23" name="矩形 64"/>
            <p:cNvSpPr/>
            <p:nvPr userDrawn="1"/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24" name="单圆角矩形 65"/>
            <p:cNvSpPr/>
            <p:nvPr userDrawn="1"/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indent="0" algn="l">
                <a:buNone/>
              </a:pPr>
              <a:r>
                <a:rPr kumimoji="1" lang="en-US" altLang="zh-CN" sz="26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Part 06</a:t>
              </a:r>
            </a:p>
          </p:txBody>
        </p:sp>
      </p:grpSp>
      <p:sp>
        <p:nvSpPr>
          <p:cNvPr id="25" name="文本占位符 2"/>
          <p:cNvSpPr>
            <a:spLocks noGrp="1"/>
          </p:cNvSpPr>
          <p:nvPr/>
        </p:nvSpPr>
        <p:spPr>
          <a:xfrm>
            <a:off x="8343900" y="4381500"/>
            <a:ext cx="3429000" cy="619125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defRPr>
            </a:lvl1pPr>
          </a:lstStyle>
          <a:p>
            <a:pPr marL="0" indent="0" algn="l">
              <a:buNone/>
            </a:pPr>
            <a:r>
              <a:rPr lang="zh-CN" altLang="en-US" sz="2000" b="0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rPr>
              <a:t>社区与未来方向</a:t>
            </a:r>
          </a:p>
        </p:txBody>
      </p:sp>
      <p:sp>
        <p:nvSpPr>
          <p:cNvPr id="26" name="文本占位符 2">
            <a:extLst>
              <a:ext uri="{FF2B5EF4-FFF2-40B4-BE49-F238E27FC236}">
                <a16:creationId xmlns:a16="http://schemas.microsoft.com/office/drawing/2014/main" id="{69409937-FC81-8BC8-7DD2-CAAE6F3D6E88}"/>
              </a:ext>
            </a:extLst>
          </p:cNvPr>
          <p:cNvSpPr>
            <a:spLocks noGrp="1"/>
          </p:cNvSpPr>
          <p:nvPr/>
        </p:nvSpPr>
        <p:spPr>
          <a:xfrm>
            <a:off x="2428873" y="4291012"/>
            <a:ext cx="3667125" cy="619125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defRPr>
            </a:lvl1pPr>
          </a:lstStyle>
          <a:p>
            <a:pPr marL="0" indent="0" algn="l">
              <a:buNone/>
            </a:pPr>
            <a:r>
              <a:rPr lang="en-US" altLang="zh-CN" sz="2000" b="0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rPr>
              <a:t>Multi-Process</a:t>
            </a:r>
            <a:r>
              <a:rPr lang="zh-CN" altLang="en-US" sz="2000" b="0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rPr>
              <a:t> 模式</a:t>
            </a:r>
            <a:r>
              <a:rPr lang="zh-CN" altLang="en-US" sz="2000" dirty="0">
                <a:solidFill>
                  <a:srgbClr val="FFFFFF"/>
                </a:solidFill>
              </a:rPr>
              <a:t>性能优势</a:t>
            </a:r>
            <a:endParaRPr lang="zh-CN" altLang="en-US" sz="2000" b="0" i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urce Han Sans CN" panose="020B0604020202090204" pitchFamily="34" charset="0"/>
              <a:ea typeface="Source Han Sans CN" panose="020B0502040204020203" charset="-122"/>
              <a:cs typeface="Source Han Sans CN" panose="020B060402020209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6A328-E545-CC84-539C-C249E7E69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3">
            <a:extLst>
              <a:ext uri="{FF2B5EF4-FFF2-40B4-BE49-F238E27FC236}">
                <a16:creationId xmlns:a16="http://schemas.microsoft.com/office/drawing/2014/main" id="{0C22AAA9-969B-F7C2-DDDA-4B27C6A72D82}"/>
              </a:ext>
            </a:extLst>
          </p:cNvPr>
          <p:cNvGrpSpPr/>
          <p:nvPr/>
        </p:nvGrpSpPr>
        <p:grpSpPr>
          <a:xfrm>
            <a:off x="1748367" y="2996671"/>
            <a:ext cx="2120900" cy="864658"/>
            <a:chOff x="657" y="7220"/>
            <a:chExt cx="2721" cy="794"/>
          </a:xfrm>
        </p:grpSpPr>
        <p:sp>
          <p:nvSpPr>
            <p:cNvPr id="3" name="矩形 64">
              <a:extLst>
                <a:ext uri="{FF2B5EF4-FFF2-40B4-BE49-F238E27FC236}">
                  <a16:creationId xmlns:a16="http://schemas.microsoft.com/office/drawing/2014/main" id="{CBCD68A4-7684-3A87-039B-5A955B624240}"/>
                </a:ext>
              </a:extLst>
            </p:cNvPr>
            <p:cNvSpPr/>
            <p:nvPr userDrawn="1"/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4" name="单圆角矩形 65">
              <a:extLst>
                <a:ext uri="{FF2B5EF4-FFF2-40B4-BE49-F238E27FC236}">
                  <a16:creationId xmlns:a16="http://schemas.microsoft.com/office/drawing/2014/main" id="{B13103E2-435D-702B-1086-05EDCF65A2E8}"/>
                </a:ext>
              </a:extLst>
            </p:cNvPr>
            <p:cNvSpPr/>
            <p:nvPr userDrawn="1"/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indent="0" algn="l">
                <a:buNone/>
              </a:pPr>
              <a:r>
                <a:rPr kumimoji="1" lang="zh-CN" altLang="en-US" sz="26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      </a:t>
              </a:r>
              <a:r>
                <a:rPr kumimoji="1" lang="en-US" altLang="zh-CN" sz="5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01</a:t>
              </a:r>
            </a:p>
          </p:txBody>
        </p:sp>
      </p:grp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33D68A94-CBD5-82B1-AD61-C5B114385EEF}"/>
              </a:ext>
            </a:extLst>
          </p:cNvPr>
          <p:cNvSpPr>
            <a:spLocks noGrp="1"/>
          </p:cNvSpPr>
          <p:nvPr/>
        </p:nvSpPr>
        <p:spPr>
          <a:xfrm>
            <a:off x="4593265" y="2714403"/>
            <a:ext cx="7000875" cy="1429193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defRPr>
            </a:lvl1pPr>
          </a:lstStyle>
          <a:p>
            <a:pPr algn="l"/>
            <a:r>
              <a:rPr lang="en-US" altLang="zh-CN" sz="4000" b="0" i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rPr>
              <a:t>LMCache</a:t>
            </a:r>
            <a:r>
              <a:rPr lang="zh-CN" altLang="en-US" sz="4000" b="0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rPr>
              <a:t> </a:t>
            </a:r>
            <a:r>
              <a:rPr lang="en-US" altLang="zh-CN" sz="4000" b="0" i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rPr>
              <a:t>架构演进</a:t>
            </a:r>
            <a:endParaRPr lang="en-US" altLang="zh-CN" sz="4000" b="0" i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urce Han Sans CN" panose="020B0604020202090204" pitchFamily="34" charset="0"/>
              <a:ea typeface="Source Han Sans CN" panose="020B0502040204020203" charset="-122"/>
              <a:cs typeface="Source Han Sans CN" panose="020B0604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267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845CCB47-3946-6E00-D250-E781930BF6D4}"/>
              </a:ext>
            </a:extLst>
          </p:cNvPr>
          <p:cNvSpPr>
            <a:spLocks noGrp="1"/>
          </p:cNvSpPr>
          <p:nvPr/>
        </p:nvSpPr>
        <p:spPr>
          <a:xfrm>
            <a:off x="2009400" y="5703521"/>
            <a:ext cx="8582025" cy="409575"/>
          </a:xfrm>
          <a:prstGeom prst="roundRect">
            <a:avLst>
              <a:gd name="adj" fmla="val 27907"/>
            </a:avLst>
          </a:prstGeom>
          <a:solidFill>
            <a:srgbClr val="F1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 dirty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In-process：缓存管理运行在推理进程内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BAD5EF22-4CFE-4C00-8068-4871BCD661F0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01    </a:t>
            </a:r>
            <a:r>
              <a:rPr sz="120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LMCache</a:t>
            </a:r>
            <a:r>
              <a:rPr sz="1200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sz="120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架构演进</a:t>
            </a:r>
            <a:endParaRPr sz="1200" b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4" name="Google Shape;490;p16"/>
          <p:cNvSpPr/>
          <p:nvPr/>
        </p:nvSpPr>
        <p:spPr>
          <a:xfrm>
            <a:off x="547687" y="1233287"/>
            <a:ext cx="5667375" cy="387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zh-CN" altLang="en-US" sz="2517" b="1" dirty="0">
                <a:solidFill>
                  <a:srgbClr val="0A2540"/>
                </a:solidFill>
                <a:latin typeface="Source Han Sans CN" panose="020B0604020202090204"/>
                <a:ea typeface="Source Han Sans CN" panose="020B0604020202090204"/>
                <a:cs typeface="Source Han Sans CN" panose="020B0604020202090204"/>
                <a:sym typeface="Arial" panose="020B0604020202090204"/>
              </a:rPr>
              <a:t>In-process / Library 模式</a:t>
            </a:r>
          </a:p>
        </p:txBody>
      </p:sp>
      <p:sp>
        <p:nvSpPr>
          <p:cNvPr id="23" name="Google Shape;499;p16"/>
          <p:cNvSpPr/>
          <p:nvPr/>
        </p:nvSpPr>
        <p:spPr>
          <a:xfrm>
            <a:off x="4124324" y="5723749"/>
            <a:ext cx="5667375" cy="359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l">
              <a:buNone/>
            </a:pPr>
            <a:r>
              <a:rPr lang="en-US" dirty="0">
                <a:solidFill>
                  <a:srgbClr val="0A2540"/>
                </a:solidFill>
                <a:latin typeface="Source Han Sans CN" panose="020B0604020202090204"/>
                <a:ea typeface="Source Han Sans CN" panose="020B0604020202090204"/>
                <a:cs typeface="Source Han Sans CN" panose="020B0604020202090204"/>
                <a:sym typeface="Arial" panose="020B0604020202090204"/>
              </a:rPr>
              <a:t>KV </a:t>
            </a:r>
            <a:r>
              <a:rPr lang="en-US" dirty="0" err="1">
                <a:solidFill>
                  <a:srgbClr val="0A2540"/>
                </a:solidFill>
                <a:latin typeface="Source Han Sans CN" panose="020B0604020202090204"/>
                <a:ea typeface="Source Han Sans CN" panose="020B0604020202090204"/>
                <a:cs typeface="Source Han Sans CN" panose="020B0604020202090204"/>
                <a:sym typeface="Arial" panose="020B0604020202090204"/>
              </a:rPr>
              <a:t>管理库与推理引擎位于同一进程</a:t>
            </a:r>
            <a:endParaRPr lang="en-US" dirty="0">
              <a:solidFill>
                <a:srgbClr val="0A2540"/>
              </a:solidFill>
              <a:latin typeface="Source Han Sans CN" panose="020B0604020202090204"/>
              <a:ea typeface="Source Han Sans CN" panose="020B0604020202090204"/>
              <a:cs typeface="Source Han Sans CN" panose="020B0604020202090204"/>
              <a:sym typeface="Arial" panose="020B0604020202090204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58C71462-739B-E648-6926-705894E3DBF1}"/>
              </a:ext>
            </a:extLst>
          </p:cNvPr>
          <p:cNvSpPr>
            <a:spLocks noGrp="1"/>
          </p:cNvSpPr>
          <p:nvPr/>
        </p:nvSpPr>
        <p:spPr>
          <a:xfrm>
            <a:off x="457200" y="1762125"/>
            <a:ext cx="7896225" cy="1666875"/>
          </a:xfrm>
          <a:prstGeom prst="roundRect">
            <a:avLst>
              <a:gd name="adj" fmla="val 6857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2C08A95-9AAB-E7AC-5D9D-28BE38ADC829}"/>
              </a:ext>
            </a:extLst>
          </p:cNvPr>
          <p:cNvSpPr>
            <a:spLocks noGrp="1"/>
          </p:cNvSpPr>
          <p:nvPr/>
        </p:nvSpPr>
        <p:spPr>
          <a:xfrm>
            <a:off x="647700" y="1857375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vLLM 进程 1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772D6BCE-14B0-61A2-C370-A23D185CAFD1}"/>
              </a:ext>
            </a:extLst>
          </p:cNvPr>
          <p:cNvSpPr>
            <a:spLocks noGrp="1"/>
          </p:cNvSpPr>
          <p:nvPr/>
        </p:nvSpPr>
        <p:spPr>
          <a:xfrm>
            <a:off x="666750" y="2409825"/>
            <a:ext cx="1971675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408CB68-2B3D-A502-F223-5E4D576EA45B}"/>
              </a:ext>
            </a:extLst>
          </p:cNvPr>
          <p:cNvSpPr>
            <a:spLocks noGrp="1"/>
          </p:cNvSpPr>
          <p:nvPr/>
        </p:nvSpPr>
        <p:spPr>
          <a:xfrm>
            <a:off x="1014412" y="2552700"/>
            <a:ext cx="17049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推理</a:t>
            </a:r>
            <a:r>
              <a:rPr lang="zh-CN" altLang="en-US" sz="2025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引擎</a:t>
            </a:r>
            <a:endParaRPr sz="2025" b="1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6" name="右箭头 25">
            <a:extLst>
              <a:ext uri="{FF2B5EF4-FFF2-40B4-BE49-F238E27FC236}">
                <a16:creationId xmlns:a16="http://schemas.microsoft.com/office/drawing/2014/main" id="{580A567D-E673-EEC2-BD6E-B548AB8E7D7F}"/>
              </a:ext>
            </a:extLst>
          </p:cNvPr>
          <p:cNvSpPr>
            <a:spLocks noGrp="1"/>
          </p:cNvSpPr>
          <p:nvPr/>
        </p:nvSpPr>
        <p:spPr>
          <a:xfrm>
            <a:off x="2752725" y="2657475"/>
            <a:ext cx="314325" cy="200025"/>
          </a:xfrm>
          <a:prstGeom prst="rightArrow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3A0C8149-FB3F-4D43-156B-19A616DABB2B}"/>
              </a:ext>
            </a:extLst>
          </p:cNvPr>
          <p:cNvSpPr>
            <a:spLocks noGrp="1"/>
          </p:cNvSpPr>
          <p:nvPr/>
        </p:nvSpPr>
        <p:spPr>
          <a:xfrm>
            <a:off x="3181350" y="2409825"/>
            <a:ext cx="2066925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4416491-3DDC-944D-6E91-CB5CB9575487}"/>
              </a:ext>
            </a:extLst>
          </p:cNvPr>
          <p:cNvSpPr>
            <a:spLocks noGrp="1"/>
          </p:cNvSpPr>
          <p:nvPr/>
        </p:nvSpPr>
        <p:spPr>
          <a:xfrm>
            <a:off x="3543300" y="2542399"/>
            <a:ext cx="18669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Connector</a:t>
            </a:r>
          </a:p>
        </p:txBody>
      </p:sp>
      <p:sp>
        <p:nvSpPr>
          <p:cNvPr id="29" name="右箭头 28">
            <a:extLst>
              <a:ext uri="{FF2B5EF4-FFF2-40B4-BE49-F238E27FC236}">
                <a16:creationId xmlns:a16="http://schemas.microsoft.com/office/drawing/2014/main" id="{3977AB8E-88EC-E486-BC95-F0DE092CAE58}"/>
              </a:ext>
            </a:extLst>
          </p:cNvPr>
          <p:cNvSpPr>
            <a:spLocks noGrp="1"/>
          </p:cNvSpPr>
          <p:nvPr/>
        </p:nvSpPr>
        <p:spPr>
          <a:xfrm>
            <a:off x="5362575" y="2657475"/>
            <a:ext cx="314325" cy="200025"/>
          </a:xfrm>
          <a:prstGeom prst="rightArrow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753BBDB2-9809-56F9-17DB-D7286CC57BE5}"/>
              </a:ext>
            </a:extLst>
          </p:cNvPr>
          <p:cNvSpPr>
            <a:spLocks noGrp="1"/>
          </p:cNvSpPr>
          <p:nvPr/>
        </p:nvSpPr>
        <p:spPr>
          <a:xfrm>
            <a:off x="5791200" y="2343150"/>
            <a:ext cx="2333625" cy="800100"/>
          </a:xfrm>
          <a:prstGeom prst="roundRect">
            <a:avLst>
              <a:gd name="adj" fmla="val 14286"/>
            </a:avLst>
          </a:prstGeom>
          <a:solidFill>
            <a:srgbClr val="FFF9EC"/>
          </a:solidFill>
          <a:ln w="14288">
            <a:solidFill>
              <a:srgbClr val="E4D5B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A26DF7B-C873-B393-A0FB-822A950A8FFB}"/>
              </a:ext>
            </a:extLst>
          </p:cNvPr>
          <p:cNvSpPr>
            <a:spLocks noGrp="1"/>
          </p:cNvSpPr>
          <p:nvPr/>
        </p:nvSpPr>
        <p:spPr>
          <a:xfrm>
            <a:off x="6157913" y="2415126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 dirty="0" err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LMCache</a:t>
            </a:r>
            <a:r>
              <a:rPr sz="2025" b="1" dirty="0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sz="2025" b="1" dirty="0" err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库</a:t>
            </a:r>
            <a:endParaRPr sz="2025" b="1" dirty="0">
              <a:solidFill>
                <a:srgbClr val="B18B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CCC62E7B-7EFF-344B-4575-FA7451EEF049}"/>
              </a:ext>
            </a:extLst>
          </p:cNvPr>
          <p:cNvSpPr>
            <a:spLocks noGrp="1"/>
          </p:cNvSpPr>
          <p:nvPr/>
        </p:nvSpPr>
        <p:spPr>
          <a:xfrm>
            <a:off x="6072188" y="2838395"/>
            <a:ext cx="220027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KV </a:t>
            </a:r>
            <a:r>
              <a:rPr sz="1575" b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管理</a:t>
            </a:r>
            <a:r>
              <a:rPr sz="1575" b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/ </a:t>
            </a:r>
            <a:r>
              <a:rPr sz="1575" b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后端</a:t>
            </a:r>
            <a:r>
              <a:rPr sz="1575" b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I/O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A18686F-1AD2-1076-4494-DC505585EF78}"/>
              </a:ext>
            </a:extLst>
          </p:cNvPr>
          <p:cNvSpPr>
            <a:spLocks noGrp="1"/>
          </p:cNvSpPr>
          <p:nvPr/>
        </p:nvSpPr>
        <p:spPr>
          <a:xfrm>
            <a:off x="8353425" y="2724150"/>
            <a:ext cx="495300" cy="2857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6121A5C6-E1C8-1FDA-3FB5-6C245E2C53E4}"/>
              </a:ext>
            </a:extLst>
          </p:cNvPr>
          <p:cNvSpPr>
            <a:spLocks noGrp="1"/>
          </p:cNvSpPr>
          <p:nvPr/>
        </p:nvSpPr>
        <p:spPr>
          <a:xfrm>
            <a:off x="457200" y="3733800"/>
            <a:ext cx="7896225" cy="1666875"/>
          </a:xfrm>
          <a:prstGeom prst="roundRect">
            <a:avLst>
              <a:gd name="adj" fmla="val 6857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5254F9E-32BB-3CF4-0127-CE3C17002137}"/>
              </a:ext>
            </a:extLst>
          </p:cNvPr>
          <p:cNvSpPr>
            <a:spLocks noGrp="1"/>
          </p:cNvSpPr>
          <p:nvPr/>
        </p:nvSpPr>
        <p:spPr>
          <a:xfrm>
            <a:off x="647700" y="3829050"/>
            <a:ext cx="40005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vLLM 进程 2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054B0445-9E75-B54E-FFAE-970634682A20}"/>
              </a:ext>
            </a:extLst>
          </p:cNvPr>
          <p:cNvSpPr>
            <a:spLocks noGrp="1"/>
          </p:cNvSpPr>
          <p:nvPr/>
        </p:nvSpPr>
        <p:spPr>
          <a:xfrm>
            <a:off x="666750" y="4381500"/>
            <a:ext cx="1971675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4456ACD-A1A8-D573-CBA5-238CD0E92EF1}"/>
              </a:ext>
            </a:extLst>
          </p:cNvPr>
          <p:cNvSpPr>
            <a:spLocks noGrp="1"/>
          </p:cNvSpPr>
          <p:nvPr/>
        </p:nvSpPr>
        <p:spPr>
          <a:xfrm>
            <a:off x="1007269" y="4510087"/>
            <a:ext cx="170497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推理引擎</a:t>
            </a:r>
            <a:endParaRPr sz="2025" b="1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8" name="右箭头 37">
            <a:extLst>
              <a:ext uri="{FF2B5EF4-FFF2-40B4-BE49-F238E27FC236}">
                <a16:creationId xmlns:a16="http://schemas.microsoft.com/office/drawing/2014/main" id="{A365CECB-60CA-8809-8474-8B3D790ABB22}"/>
              </a:ext>
            </a:extLst>
          </p:cNvPr>
          <p:cNvSpPr>
            <a:spLocks noGrp="1"/>
          </p:cNvSpPr>
          <p:nvPr/>
        </p:nvSpPr>
        <p:spPr>
          <a:xfrm>
            <a:off x="2752725" y="4629150"/>
            <a:ext cx="314325" cy="200025"/>
          </a:xfrm>
          <a:prstGeom prst="rightArrow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6484D59B-01F6-DB75-A683-57A46C10E034}"/>
              </a:ext>
            </a:extLst>
          </p:cNvPr>
          <p:cNvSpPr>
            <a:spLocks noGrp="1"/>
          </p:cNvSpPr>
          <p:nvPr/>
        </p:nvSpPr>
        <p:spPr>
          <a:xfrm>
            <a:off x="3181350" y="4381500"/>
            <a:ext cx="2066925" cy="66675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2BB89B4-D071-D37B-3ECC-142AEEBA26B5}"/>
              </a:ext>
            </a:extLst>
          </p:cNvPr>
          <p:cNvSpPr>
            <a:spLocks noGrp="1"/>
          </p:cNvSpPr>
          <p:nvPr/>
        </p:nvSpPr>
        <p:spPr>
          <a:xfrm>
            <a:off x="3543300" y="4538662"/>
            <a:ext cx="18669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Connector</a:t>
            </a:r>
          </a:p>
        </p:txBody>
      </p:sp>
      <p:sp>
        <p:nvSpPr>
          <p:cNvPr id="41" name="右箭头 40">
            <a:extLst>
              <a:ext uri="{FF2B5EF4-FFF2-40B4-BE49-F238E27FC236}">
                <a16:creationId xmlns:a16="http://schemas.microsoft.com/office/drawing/2014/main" id="{FEAC9489-780E-16E1-CB12-BD839D9540FC}"/>
              </a:ext>
            </a:extLst>
          </p:cNvPr>
          <p:cNvSpPr>
            <a:spLocks noGrp="1"/>
          </p:cNvSpPr>
          <p:nvPr/>
        </p:nvSpPr>
        <p:spPr>
          <a:xfrm>
            <a:off x="5362575" y="4629150"/>
            <a:ext cx="314325" cy="200025"/>
          </a:xfrm>
          <a:prstGeom prst="rightArrow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A7BEC070-FD26-8F8A-1120-98DC304A8B69}"/>
              </a:ext>
            </a:extLst>
          </p:cNvPr>
          <p:cNvSpPr>
            <a:spLocks noGrp="1"/>
          </p:cNvSpPr>
          <p:nvPr/>
        </p:nvSpPr>
        <p:spPr>
          <a:xfrm>
            <a:off x="5791200" y="4314825"/>
            <a:ext cx="2333625" cy="800100"/>
          </a:xfrm>
          <a:prstGeom prst="roundRect">
            <a:avLst>
              <a:gd name="adj" fmla="val 14286"/>
            </a:avLst>
          </a:prstGeom>
          <a:solidFill>
            <a:srgbClr val="FFF9EC"/>
          </a:solidFill>
          <a:ln w="14288">
            <a:solidFill>
              <a:srgbClr val="E4D5B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B8AA0767-F355-9C50-66F2-F8CF494A92CC}"/>
              </a:ext>
            </a:extLst>
          </p:cNvPr>
          <p:cNvSpPr>
            <a:spLocks noGrp="1"/>
          </p:cNvSpPr>
          <p:nvPr/>
        </p:nvSpPr>
        <p:spPr>
          <a:xfrm>
            <a:off x="6157913" y="4367212"/>
            <a:ext cx="209550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 dirty="0" err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LMCache</a:t>
            </a:r>
            <a:r>
              <a:rPr sz="2025" b="1" dirty="0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sz="2025" b="1" dirty="0" err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库</a:t>
            </a:r>
            <a:endParaRPr sz="2025" b="1" dirty="0">
              <a:solidFill>
                <a:srgbClr val="B18B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03333EF-DDE3-0A1E-B584-F0978857E612}"/>
              </a:ext>
            </a:extLst>
          </p:cNvPr>
          <p:cNvSpPr>
            <a:spLocks noGrp="1"/>
          </p:cNvSpPr>
          <p:nvPr/>
        </p:nvSpPr>
        <p:spPr>
          <a:xfrm>
            <a:off x="6072188" y="4811731"/>
            <a:ext cx="220027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KV </a:t>
            </a:r>
            <a:r>
              <a:rPr sz="1575" b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管理</a:t>
            </a:r>
            <a:r>
              <a:rPr sz="1575" b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/ </a:t>
            </a:r>
            <a:r>
              <a:rPr sz="1575" b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后端</a:t>
            </a:r>
            <a:r>
              <a:rPr sz="1575" b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I/O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C66BDD3-C6CF-FA29-A4BA-7E55D6B60B79}"/>
              </a:ext>
            </a:extLst>
          </p:cNvPr>
          <p:cNvSpPr>
            <a:spLocks noGrp="1"/>
          </p:cNvSpPr>
          <p:nvPr/>
        </p:nvSpPr>
        <p:spPr>
          <a:xfrm>
            <a:off x="8353425" y="4695825"/>
            <a:ext cx="495300" cy="2857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81286E09-3A72-7222-4D9A-4433F9407FE1}"/>
              </a:ext>
            </a:extLst>
          </p:cNvPr>
          <p:cNvSpPr>
            <a:spLocks noGrp="1"/>
          </p:cNvSpPr>
          <p:nvPr/>
        </p:nvSpPr>
        <p:spPr>
          <a:xfrm>
            <a:off x="8829675" y="2724150"/>
            <a:ext cx="28575" cy="2000250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右箭头 46">
            <a:extLst>
              <a:ext uri="{FF2B5EF4-FFF2-40B4-BE49-F238E27FC236}">
                <a16:creationId xmlns:a16="http://schemas.microsoft.com/office/drawing/2014/main" id="{3A53E64B-B136-F9A4-7C97-0F79049A2AAC}"/>
              </a:ext>
            </a:extLst>
          </p:cNvPr>
          <p:cNvSpPr>
            <a:spLocks noGrp="1"/>
          </p:cNvSpPr>
          <p:nvPr/>
        </p:nvSpPr>
        <p:spPr>
          <a:xfrm>
            <a:off x="8858250" y="3638550"/>
            <a:ext cx="447675" cy="219075"/>
          </a:xfrm>
          <a:prstGeom prst="rightArrow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AB2E4E40-AEC1-A013-591A-1CF867692F7C}"/>
              </a:ext>
            </a:extLst>
          </p:cNvPr>
          <p:cNvSpPr>
            <a:spLocks noGrp="1"/>
          </p:cNvSpPr>
          <p:nvPr/>
        </p:nvSpPr>
        <p:spPr>
          <a:xfrm>
            <a:off x="8877300" y="3333750"/>
            <a:ext cx="66675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417AA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1">
                <a:solidFill>
                  <a:srgbClr val="417AAB"/>
                </a:solidFill>
                <a:latin typeface="Source Han Sans CN"/>
                <a:ea typeface="Source Han Sans CN"/>
                <a:cs typeface="Source Han Sans CN"/>
              </a:rPr>
              <a:t>I/O</a:t>
            </a:r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D46D8530-F558-F405-C7EF-2185E824B310}"/>
              </a:ext>
            </a:extLst>
          </p:cNvPr>
          <p:cNvSpPr>
            <a:spLocks noGrp="1"/>
          </p:cNvSpPr>
          <p:nvPr/>
        </p:nvSpPr>
        <p:spPr>
          <a:xfrm>
            <a:off x="9439275" y="2409825"/>
            <a:ext cx="2200275" cy="2619375"/>
          </a:xfrm>
          <a:prstGeom prst="roundRect">
            <a:avLst>
              <a:gd name="adj" fmla="val 5195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381169FE-2BA4-BD5D-0734-1991760CB7D5}"/>
              </a:ext>
            </a:extLst>
          </p:cNvPr>
          <p:cNvSpPr>
            <a:spLocks noGrp="1"/>
          </p:cNvSpPr>
          <p:nvPr/>
        </p:nvSpPr>
        <p:spPr>
          <a:xfrm>
            <a:off x="9639300" y="2552700"/>
            <a:ext cx="191452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存储后端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EDA880E2-7C23-B483-86C8-B3B7FDD08CFF}"/>
              </a:ext>
            </a:extLst>
          </p:cNvPr>
          <p:cNvSpPr>
            <a:spLocks noGrp="1"/>
          </p:cNvSpPr>
          <p:nvPr/>
        </p:nvSpPr>
        <p:spPr>
          <a:xfrm>
            <a:off x="9629775" y="3181350"/>
            <a:ext cx="1819275" cy="619125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083628FD-0C0C-E544-34D0-2109B6945EB7}"/>
              </a:ext>
            </a:extLst>
          </p:cNvPr>
          <p:cNvSpPr>
            <a:spLocks noGrp="1"/>
          </p:cNvSpPr>
          <p:nvPr/>
        </p:nvSpPr>
        <p:spPr>
          <a:xfrm>
            <a:off x="9906000" y="3343275"/>
            <a:ext cx="14954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本地存储</a:t>
            </a:r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93F4AC30-EFEB-C078-BBA6-E8D2CBD4CE02}"/>
              </a:ext>
            </a:extLst>
          </p:cNvPr>
          <p:cNvSpPr>
            <a:spLocks noGrp="1"/>
          </p:cNvSpPr>
          <p:nvPr/>
        </p:nvSpPr>
        <p:spPr>
          <a:xfrm>
            <a:off x="9629775" y="4124325"/>
            <a:ext cx="1819275" cy="619125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2BB3F15-FB81-B787-9B1D-0E9C1545C57C}"/>
              </a:ext>
            </a:extLst>
          </p:cNvPr>
          <p:cNvSpPr>
            <a:spLocks noGrp="1"/>
          </p:cNvSpPr>
          <p:nvPr/>
        </p:nvSpPr>
        <p:spPr>
          <a:xfrm>
            <a:off x="9906000" y="4286250"/>
            <a:ext cx="1495425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远端存储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r>
              <a:rPr lang="zh-CN" altLang="en-US" dirty="0"/>
              <a:t>In-process：多实例下的工程问题</a:t>
            </a:r>
          </a:p>
        </p:txBody>
      </p:sp>
      <p:sp>
        <p:nvSpPr>
          <p:cNvPr id="10" name="矩形 27">
            <a:extLst>
              <a:ext uri="{FF2B5EF4-FFF2-40B4-BE49-F238E27FC236}">
                <a16:creationId xmlns:a16="http://schemas.microsoft.com/office/drawing/2014/main" id="{31FF895F-BDB8-4DA9-8F04-BACDAE0D7EC2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01    LMCache 架构演进</a:t>
            </a: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76EDE7A0-33B1-91A4-92FE-FB304DE283A8}"/>
              </a:ext>
            </a:extLst>
          </p:cNvPr>
          <p:cNvSpPr>
            <a:spLocks noGrp="1"/>
          </p:cNvSpPr>
          <p:nvPr/>
        </p:nvSpPr>
        <p:spPr>
          <a:xfrm>
            <a:off x="495300" y="1438275"/>
            <a:ext cx="11182350" cy="1257300"/>
          </a:xfrm>
          <a:prstGeom prst="roundRect">
            <a:avLst>
              <a:gd name="adj" fmla="val 9091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48DBF6A-8426-EDDB-23E0-E32FC859E031}"/>
              </a:ext>
            </a:extLst>
          </p:cNvPr>
          <p:cNvSpPr>
            <a:spLocks noGrp="1"/>
          </p:cNvSpPr>
          <p:nvPr/>
        </p:nvSpPr>
        <p:spPr>
          <a:xfrm>
            <a:off x="4724400" y="1533525"/>
            <a:ext cx="67627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01  </a:t>
            </a:r>
            <a:r>
              <a:rPr sz="2100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多实例状态分散，存在冗余开销</a:t>
            </a:r>
            <a:endParaRPr sz="2100" b="1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54106E-7B4F-B717-410A-B59F43BCC018}"/>
              </a:ext>
            </a:extLst>
          </p:cNvPr>
          <p:cNvSpPr>
            <a:spLocks noGrp="1"/>
          </p:cNvSpPr>
          <p:nvPr/>
        </p:nvSpPr>
        <p:spPr>
          <a:xfrm>
            <a:off x="4724400" y="1981200"/>
            <a:ext cx="67627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相同</a:t>
            </a:r>
            <a:r>
              <a:rPr sz="1725" b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KV </a:t>
            </a:r>
            <a:r>
              <a:rPr sz="1725" b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可能重复</a:t>
            </a:r>
            <a:r>
              <a:rPr sz="1725" b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sz="1725" b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offload，CPU</a:t>
            </a:r>
            <a:r>
              <a:rPr sz="1725" b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sz="1725" b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容量按进程占用</a:t>
            </a:r>
            <a:endParaRPr sz="1725" b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C526D81-8FB4-FE9A-12F0-E35974FAF073}"/>
              </a:ext>
            </a:extLst>
          </p:cNvPr>
          <p:cNvSpPr>
            <a:spLocks noGrp="1"/>
          </p:cNvSpPr>
          <p:nvPr/>
        </p:nvSpPr>
        <p:spPr>
          <a:xfrm>
            <a:off x="4724400" y="2333625"/>
            <a:ext cx="676275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26B89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 dirty="0" err="1">
                <a:solidFill>
                  <a:srgbClr val="526B89"/>
                </a:solidFill>
                <a:latin typeface="Source Han Sans CN"/>
                <a:ea typeface="Source Han Sans CN"/>
                <a:cs typeface="Source Han Sans CN"/>
              </a:rPr>
              <a:t>部分路径还需跨</a:t>
            </a:r>
            <a:r>
              <a:rPr sz="1500" b="0" dirty="0">
                <a:solidFill>
                  <a:srgbClr val="526B89"/>
                </a:solidFill>
                <a:latin typeface="Source Han Sans CN"/>
                <a:ea typeface="Source Han Sans CN"/>
                <a:cs typeface="Source Han Sans CN"/>
              </a:rPr>
              <a:t> rank </a:t>
            </a:r>
            <a:r>
              <a:rPr sz="1500" b="0" dirty="0" err="1">
                <a:solidFill>
                  <a:srgbClr val="526B89"/>
                </a:solidFill>
                <a:latin typeface="Source Han Sans CN"/>
                <a:ea typeface="Source Han Sans CN"/>
                <a:cs typeface="Source Han Sans CN"/>
              </a:rPr>
              <a:t>分发，占用额外传输带宽</a:t>
            </a:r>
            <a:endParaRPr sz="1500" b="0" dirty="0">
              <a:solidFill>
                <a:srgbClr val="526B89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9E88BA88-61ED-2C2C-76D6-56E76B7206BD}"/>
              </a:ext>
            </a:extLst>
          </p:cNvPr>
          <p:cNvSpPr>
            <a:spLocks noGrp="1"/>
          </p:cNvSpPr>
          <p:nvPr/>
        </p:nvSpPr>
        <p:spPr>
          <a:xfrm>
            <a:off x="704850" y="1619250"/>
            <a:ext cx="1104900" cy="371475"/>
          </a:xfrm>
          <a:prstGeom prst="roundRect">
            <a:avLst>
              <a:gd name="adj" fmla="val 30769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664745-DDBD-CF9D-3E8E-C59DB4ECB17E}"/>
              </a:ext>
            </a:extLst>
          </p:cNvPr>
          <p:cNvSpPr>
            <a:spLocks noGrp="1"/>
          </p:cNvSpPr>
          <p:nvPr/>
        </p:nvSpPr>
        <p:spPr>
          <a:xfrm>
            <a:off x="800100" y="1666875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rank 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9FE7DB3-DCB9-A94D-FA5C-5FFD80B7FA58}"/>
              </a:ext>
            </a:extLst>
          </p:cNvPr>
          <p:cNvSpPr>
            <a:spLocks noGrp="1"/>
          </p:cNvSpPr>
          <p:nvPr/>
        </p:nvSpPr>
        <p:spPr>
          <a:xfrm>
            <a:off x="1247775" y="1990725"/>
            <a:ext cx="28575" cy="161925"/>
          </a:xfrm>
          <a:prstGeom prst="rect">
            <a:avLst/>
          </a:prstGeom>
          <a:solidFill>
            <a:srgbClr val="D9E3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圆角矩形 11">
            <a:extLst>
              <a:ext uri="{FF2B5EF4-FFF2-40B4-BE49-F238E27FC236}">
                <a16:creationId xmlns:a16="http://schemas.microsoft.com/office/drawing/2014/main" id="{CDA12A03-E2CC-36BD-60EA-4F4AE484CC9B}"/>
              </a:ext>
            </a:extLst>
          </p:cNvPr>
          <p:cNvSpPr>
            <a:spLocks noGrp="1"/>
          </p:cNvSpPr>
          <p:nvPr/>
        </p:nvSpPr>
        <p:spPr>
          <a:xfrm>
            <a:off x="704850" y="2162175"/>
            <a:ext cx="1104900" cy="361950"/>
          </a:xfrm>
          <a:prstGeom prst="roundRect">
            <a:avLst>
              <a:gd name="adj" fmla="val 31579"/>
            </a:avLst>
          </a:prstGeom>
          <a:solidFill>
            <a:srgbClr val="FFF9EC"/>
          </a:solidFill>
          <a:ln w="14288">
            <a:solidFill>
              <a:srgbClr val="E4D5B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C94FFD-2856-EEB8-66C7-489AEC52F2DA}"/>
              </a:ext>
            </a:extLst>
          </p:cNvPr>
          <p:cNvSpPr>
            <a:spLocks noGrp="1"/>
          </p:cNvSpPr>
          <p:nvPr/>
        </p:nvSpPr>
        <p:spPr>
          <a:xfrm>
            <a:off x="819150" y="2219325"/>
            <a:ext cx="101917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KV 副本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AAE14A40-C006-4CA9-6D6A-ABCE4CE3564D}"/>
              </a:ext>
            </a:extLst>
          </p:cNvPr>
          <p:cNvSpPr>
            <a:spLocks noGrp="1"/>
          </p:cNvSpPr>
          <p:nvPr/>
        </p:nvSpPr>
        <p:spPr>
          <a:xfrm>
            <a:off x="1943100" y="1619250"/>
            <a:ext cx="1104900" cy="371475"/>
          </a:xfrm>
          <a:prstGeom prst="roundRect">
            <a:avLst>
              <a:gd name="adj" fmla="val 30769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EDBF80D-25B4-2035-CA7F-36B9AB92A5F0}"/>
              </a:ext>
            </a:extLst>
          </p:cNvPr>
          <p:cNvSpPr>
            <a:spLocks noGrp="1"/>
          </p:cNvSpPr>
          <p:nvPr/>
        </p:nvSpPr>
        <p:spPr>
          <a:xfrm>
            <a:off x="2038350" y="1666875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rank 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DD92C55-C457-483B-C31F-C2B28EAC0B3B}"/>
              </a:ext>
            </a:extLst>
          </p:cNvPr>
          <p:cNvSpPr>
            <a:spLocks noGrp="1"/>
          </p:cNvSpPr>
          <p:nvPr/>
        </p:nvSpPr>
        <p:spPr>
          <a:xfrm>
            <a:off x="2486025" y="1990725"/>
            <a:ext cx="28575" cy="161925"/>
          </a:xfrm>
          <a:prstGeom prst="rect">
            <a:avLst/>
          </a:prstGeom>
          <a:solidFill>
            <a:srgbClr val="D9E3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A38EB6BF-D5AC-0CF6-03DE-9D1642AB3A86}"/>
              </a:ext>
            </a:extLst>
          </p:cNvPr>
          <p:cNvSpPr>
            <a:spLocks noGrp="1"/>
          </p:cNvSpPr>
          <p:nvPr/>
        </p:nvSpPr>
        <p:spPr>
          <a:xfrm>
            <a:off x="1943100" y="2162175"/>
            <a:ext cx="1104900" cy="361950"/>
          </a:xfrm>
          <a:prstGeom prst="roundRect">
            <a:avLst>
              <a:gd name="adj" fmla="val 31579"/>
            </a:avLst>
          </a:prstGeom>
          <a:solidFill>
            <a:srgbClr val="FFF9EC"/>
          </a:solidFill>
          <a:ln w="14288">
            <a:solidFill>
              <a:srgbClr val="E4D5B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2778E5C-2D94-FB25-94BA-01F75CEBD7AE}"/>
              </a:ext>
            </a:extLst>
          </p:cNvPr>
          <p:cNvSpPr>
            <a:spLocks noGrp="1"/>
          </p:cNvSpPr>
          <p:nvPr/>
        </p:nvSpPr>
        <p:spPr>
          <a:xfrm>
            <a:off x="2057400" y="2219325"/>
            <a:ext cx="101917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KV 副本</a:t>
            </a:r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27ECAD26-1BCF-0BB3-ADCF-1A5EE47CD22A}"/>
              </a:ext>
            </a:extLst>
          </p:cNvPr>
          <p:cNvSpPr>
            <a:spLocks noGrp="1"/>
          </p:cNvSpPr>
          <p:nvPr/>
        </p:nvSpPr>
        <p:spPr>
          <a:xfrm>
            <a:off x="3181350" y="1619250"/>
            <a:ext cx="1104900" cy="371475"/>
          </a:xfrm>
          <a:prstGeom prst="roundRect">
            <a:avLst>
              <a:gd name="adj" fmla="val 30769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3587FB5E-74DF-95D0-AADF-E0AA1B850325}"/>
              </a:ext>
            </a:extLst>
          </p:cNvPr>
          <p:cNvSpPr>
            <a:spLocks noGrp="1"/>
          </p:cNvSpPr>
          <p:nvPr/>
        </p:nvSpPr>
        <p:spPr>
          <a:xfrm>
            <a:off x="3276600" y="1666875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rank 2</a:t>
            </a: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A45220D-090C-3907-9AF9-30532635D8D3}"/>
              </a:ext>
            </a:extLst>
          </p:cNvPr>
          <p:cNvSpPr>
            <a:spLocks noGrp="1"/>
          </p:cNvSpPr>
          <p:nvPr/>
        </p:nvSpPr>
        <p:spPr>
          <a:xfrm>
            <a:off x="3724275" y="1990725"/>
            <a:ext cx="28575" cy="161925"/>
          </a:xfrm>
          <a:prstGeom prst="rect">
            <a:avLst/>
          </a:prstGeom>
          <a:solidFill>
            <a:srgbClr val="D9E3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B1C98AF5-0CE6-A3DD-A038-30838A239E0D}"/>
              </a:ext>
            </a:extLst>
          </p:cNvPr>
          <p:cNvSpPr>
            <a:spLocks noGrp="1"/>
          </p:cNvSpPr>
          <p:nvPr/>
        </p:nvSpPr>
        <p:spPr>
          <a:xfrm>
            <a:off x="3181350" y="2162175"/>
            <a:ext cx="1104900" cy="361950"/>
          </a:xfrm>
          <a:prstGeom prst="roundRect">
            <a:avLst>
              <a:gd name="adj" fmla="val 31579"/>
            </a:avLst>
          </a:prstGeom>
          <a:solidFill>
            <a:srgbClr val="FFF9EC"/>
          </a:solidFill>
          <a:ln w="14288">
            <a:solidFill>
              <a:srgbClr val="E4D5B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1C05CF5-4FB7-CED8-D71F-BAB6D14D6079}"/>
              </a:ext>
            </a:extLst>
          </p:cNvPr>
          <p:cNvSpPr>
            <a:spLocks noGrp="1"/>
          </p:cNvSpPr>
          <p:nvPr/>
        </p:nvSpPr>
        <p:spPr>
          <a:xfrm>
            <a:off x="3295650" y="2219325"/>
            <a:ext cx="101917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KV 副本</a:t>
            </a:r>
          </a:p>
        </p:txBody>
      </p:sp>
      <p:sp>
        <p:nvSpPr>
          <p:cNvPr id="57" name="圆角矩形 56">
            <a:extLst>
              <a:ext uri="{FF2B5EF4-FFF2-40B4-BE49-F238E27FC236}">
                <a16:creationId xmlns:a16="http://schemas.microsoft.com/office/drawing/2014/main" id="{378BD755-A723-F40C-7702-2610342E782B}"/>
              </a:ext>
            </a:extLst>
          </p:cNvPr>
          <p:cNvSpPr>
            <a:spLocks noGrp="1"/>
          </p:cNvSpPr>
          <p:nvPr/>
        </p:nvSpPr>
        <p:spPr>
          <a:xfrm>
            <a:off x="495300" y="2828925"/>
            <a:ext cx="11182350" cy="1257300"/>
          </a:xfrm>
          <a:prstGeom prst="roundRect">
            <a:avLst>
              <a:gd name="adj" fmla="val 9091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08745919-FB92-6EC9-F589-D5FDF336DEA1}"/>
              </a:ext>
            </a:extLst>
          </p:cNvPr>
          <p:cNvSpPr>
            <a:spLocks noGrp="1"/>
          </p:cNvSpPr>
          <p:nvPr/>
        </p:nvSpPr>
        <p:spPr>
          <a:xfrm>
            <a:off x="4724400" y="2924175"/>
            <a:ext cx="67627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02  运行时耦合，缓存工作可能干扰推理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BEDC3E4F-45D6-6B18-B273-CA8CBC51D222}"/>
              </a:ext>
            </a:extLst>
          </p:cNvPr>
          <p:cNvSpPr>
            <a:spLocks noGrp="1"/>
          </p:cNvSpPr>
          <p:nvPr/>
        </p:nvSpPr>
        <p:spPr>
          <a:xfrm>
            <a:off x="4724400" y="3371850"/>
            <a:ext cx="67627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Python </a:t>
            </a:r>
            <a:r>
              <a:rPr sz="1725" b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缓存逻辑可能与引擎争用同一</a:t>
            </a:r>
            <a:r>
              <a:rPr sz="1725" b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GIL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862ECEB-7171-BE77-5C16-79F60F171F9D}"/>
              </a:ext>
            </a:extLst>
          </p:cNvPr>
          <p:cNvSpPr>
            <a:spLocks noGrp="1"/>
          </p:cNvSpPr>
          <p:nvPr/>
        </p:nvSpPr>
        <p:spPr>
          <a:xfrm>
            <a:off x="4724400" y="3724275"/>
            <a:ext cx="676275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26B89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526B89"/>
                </a:solidFill>
                <a:latin typeface="Source Han Sans CN"/>
                <a:ea typeface="Source Han Sans CN"/>
                <a:cs typeface="Source Han Sans CN"/>
              </a:rPr>
              <a:t>I/O 提交、回调与同步等待，可能进入请求关键路径</a:t>
            </a:r>
          </a:p>
        </p:txBody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F4BDA9B7-D436-FEC3-8736-AACBF009B116}"/>
              </a:ext>
            </a:extLst>
          </p:cNvPr>
          <p:cNvSpPr>
            <a:spLocks noGrp="1"/>
          </p:cNvSpPr>
          <p:nvPr/>
        </p:nvSpPr>
        <p:spPr>
          <a:xfrm>
            <a:off x="704850" y="3000375"/>
            <a:ext cx="3581400" cy="923925"/>
          </a:xfrm>
          <a:prstGeom prst="roundRect">
            <a:avLst>
              <a:gd name="adj" fmla="val 12371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1F1B72DC-82DC-8D54-7D89-A42358B8CF32}"/>
              </a:ext>
            </a:extLst>
          </p:cNvPr>
          <p:cNvSpPr>
            <a:spLocks noGrp="1"/>
          </p:cNvSpPr>
          <p:nvPr/>
        </p:nvSpPr>
        <p:spPr>
          <a:xfrm>
            <a:off x="847725" y="3057525"/>
            <a:ext cx="32385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同一</a:t>
            </a:r>
            <a:r>
              <a:rPr lang="en-US" sz="1650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推理</a:t>
            </a:r>
            <a:r>
              <a:rPr sz="1650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进程</a:t>
            </a:r>
            <a:endParaRPr sz="1650" b="1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8CEAF087-D110-99A4-CFE6-D92113D973B0}"/>
              </a:ext>
            </a:extLst>
          </p:cNvPr>
          <p:cNvSpPr>
            <a:spLocks noGrp="1"/>
          </p:cNvSpPr>
          <p:nvPr/>
        </p:nvSpPr>
        <p:spPr>
          <a:xfrm>
            <a:off x="847725" y="3457575"/>
            <a:ext cx="1438275" cy="371475"/>
          </a:xfrm>
          <a:prstGeom prst="roundRect">
            <a:avLst>
              <a:gd name="adj" fmla="val 30769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818DDF9A-7E9C-5FF9-027F-FA437D35020C}"/>
              </a:ext>
            </a:extLst>
          </p:cNvPr>
          <p:cNvSpPr>
            <a:spLocks noGrp="1"/>
          </p:cNvSpPr>
          <p:nvPr/>
        </p:nvSpPr>
        <p:spPr>
          <a:xfrm>
            <a:off x="942975" y="3505200"/>
            <a:ext cx="13430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推理调度</a:t>
            </a:r>
          </a:p>
        </p:txBody>
      </p:sp>
      <p:sp>
        <p:nvSpPr>
          <p:cNvPr id="65" name="圆角矩形 64">
            <a:extLst>
              <a:ext uri="{FF2B5EF4-FFF2-40B4-BE49-F238E27FC236}">
                <a16:creationId xmlns:a16="http://schemas.microsoft.com/office/drawing/2014/main" id="{C33E2A71-3D90-5F82-63AD-A199790C30D7}"/>
              </a:ext>
            </a:extLst>
          </p:cNvPr>
          <p:cNvSpPr>
            <a:spLocks noGrp="1"/>
          </p:cNvSpPr>
          <p:nvPr/>
        </p:nvSpPr>
        <p:spPr>
          <a:xfrm>
            <a:off x="2609850" y="3457575"/>
            <a:ext cx="1504950" cy="371475"/>
          </a:xfrm>
          <a:prstGeom prst="roundRect">
            <a:avLst>
              <a:gd name="adj" fmla="val 30769"/>
            </a:avLst>
          </a:prstGeom>
          <a:solidFill>
            <a:srgbClr val="B18B4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228DA5D-1D98-2176-68A6-5A7EF817B5F9}"/>
              </a:ext>
            </a:extLst>
          </p:cNvPr>
          <p:cNvSpPr>
            <a:spLocks noGrp="1"/>
          </p:cNvSpPr>
          <p:nvPr/>
        </p:nvSpPr>
        <p:spPr>
          <a:xfrm>
            <a:off x="2705100" y="3505200"/>
            <a:ext cx="14097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缓存管理</a:t>
            </a:r>
          </a:p>
        </p:txBody>
      </p:sp>
      <p:sp>
        <p:nvSpPr>
          <p:cNvPr id="67" name="右箭头 66">
            <a:extLst>
              <a:ext uri="{FF2B5EF4-FFF2-40B4-BE49-F238E27FC236}">
                <a16:creationId xmlns:a16="http://schemas.microsoft.com/office/drawing/2014/main" id="{6D6D6C1D-1FC7-C92F-3576-B71C93A0A4F5}"/>
              </a:ext>
            </a:extLst>
          </p:cNvPr>
          <p:cNvSpPr>
            <a:spLocks noGrp="1"/>
          </p:cNvSpPr>
          <p:nvPr/>
        </p:nvSpPr>
        <p:spPr>
          <a:xfrm>
            <a:off x="2352675" y="3571875"/>
            <a:ext cx="190500" cy="142875"/>
          </a:xfrm>
          <a:prstGeom prst="rightArrow">
            <a:avLst/>
          </a:prstGeom>
          <a:solidFill>
            <a:srgbClr val="B18B4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圆角矩形 67">
            <a:extLst>
              <a:ext uri="{FF2B5EF4-FFF2-40B4-BE49-F238E27FC236}">
                <a16:creationId xmlns:a16="http://schemas.microsoft.com/office/drawing/2014/main" id="{7DC039B2-703F-9A93-51A9-49534C8E3473}"/>
              </a:ext>
            </a:extLst>
          </p:cNvPr>
          <p:cNvSpPr>
            <a:spLocks noGrp="1"/>
          </p:cNvSpPr>
          <p:nvPr/>
        </p:nvSpPr>
        <p:spPr>
          <a:xfrm>
            <a:off x="495300" y="4219575"/>
            <a:ext cx="11182350" cy="1257300"/>
          </a:xfrm>
          <a:prstGeom prst="roundRect">
            <a:avLst>
              <a:gd name="adj" fmla="val 9091"/>
            </a:avLst>
          </a:prstGeom>
          <a:solidFill>
            <a:srgbClr val="FFF9EC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9491A09C-DF7D-C2FE-183F-1241F1501B63}"/>
              </a:ext>
            </a:extLst>
          </p:cNvPr>
          <p:cNvSpPr>
            <a:spLocks noGrp="1"/>
          </p:cNvSpPr>
          <p:nvPr/>
        </p:nvSpPr>
        <p:spPr>
          <a:xfrm>
            <a:off x="4724400" y="4314825"/>
            <a:ext cx="67627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03  生命周期耦合，管理边界不清晰</a:t>
            </a: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439A369A-532F-1F7E-5547-033770118D8B}"/>
              </a:ext>
            </a:extLst>
          </p:cNvPr>
          <p:cNvSpPr>
            <a:spLocks noGrp="1"/>
          </p:cNvSpPr>
          <p:nvPr/>
        </p:nvSpPr>
        <p:spPr>
          <a:xfrm>
            <a:off x="4724400" y="4762500"/>
            <a:ext cx="67627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引擎退出后，进程内缓存状态与句柄需要重建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999082B7-2878-97BC-DA99-09759811D64D}"/>
              </a:ext>
            </a:extLst>
          </p:cNvPr>
          <p:cNvSpPr>
            <a:spLocks noGrp="1"/>
          </p:cNvSpPr>
          <p:nvPr/>
        </p:nvSpPr>
        <p:spPr>
          <a:xfrm>
            <a:off x="4724400" y="5114925"/>
            <a:ext cx="676275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26B89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526B89"/>
                </a:solidFill>
                <a:latin typeface="Source Han Sans CN"/>
                <a:ea typeface="Source Han Sans CN"/>
                <a:cs typeface="Source Han Sans CN"/>
              </a:rPr>
              <a:t>容量规划、监控和故障定位分散在各推理实例中</a:t>
            </a: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id="{0AC56766-8E59-F4A4-6408-DAF8FA861964}"/>
              </a:ext>
            </a:extLst>
          </p:cNvPr>
          <p:cNvSpPr>
            <a:spLocks noGrp="1"/>
          </p:cNvSpPr>
          <p:nvPr/>
        </p:nvSpPr>
        <p:spPr>
          <a:xfrm>
            <a:off x="752475" y="4552950"/>
            <a:ext cx="1457325" cy="371475"/>
          </a:xfrm>
          <a:prstGeom prst="roundRect">
            <a:avLst>
              <a:gd name="adj" fmla="val 30769"/>
            </a:avLst>
          </a:prstGeom>
          <a:solidFill>
            <a:srgbClr val="66788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F1F97D9A-EC5B-692A-0BDE-85093EA3501E}"/>
              </a:ext>
            </a:extLst>
          </p:cNvPr>
          <p:cNvSpPr>
            <a:spLocks noGrp="1"/>
          </p:cNvSpPr>
          <p:nvPr/>
        </p:nvSpPr>
        <p:spPr>
          <a:xfrm>
            <a:off x="847725" y="4600575"/>
            <a:ext cx="13620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引擎退出</a:t>
            </a:r>
          </a:p>
        </p:txBody>
      </p:sp>
      <p:sp>
        <p:nvSpPr>
          <p:cNvPr id="74" name="右箭头 73">
            <a:extLst>
              <a:ext uri="{FF2B5EF4-FFF2-40B4-BE49-F238E27FC236}">
                <a16:creationId xmlns:a16="http://schemas.microsoft.com/office/drawing/2014/main" id="{839EF886-3D46-5E0A-D962-159583FD62AA}"/>
              </a:ext>
            </a:extLst>
          </p:cNvPr>
          <p:cNvSpPr>
            <a:spLocks noGrp="1"/>
          </p:cNvSpPr>
          <p:nvPr/>
        </p:nvSpPr>
        <p:spPr>
          <a:xfrm>
            <a:off x="2324100" y="4667250"/>
            <a:ext cx="304800" cy="161925"/>
          </a:xfrm>
          <a:prstGeom prst="rightArrow">
            <a:avLst/>
          </a:prstGeom>
          <a:solidFill>
            <a:srgbClr val="B18B4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5" name="圆角矩形 74">
            <a:extLst>
              <a:ext uri="{FF2B5EF4-FFF2-40B4-BE49-F238E27FC236}">
                <a16:creationId xmlns:a16="http://schemas.microsoft.com/office/drawing/2014/main" id="{C1EBA5BD-4572-DBEB-33C6-F05888A4073D}"/>
              </a:ext>
            </a:extLst>
          </p:cNvPr>
          <p:cNvSpPr>
            <a:spLocks noGrp="1"/>
          </p:cNvSpPr>
          <p:nvPr/>
        </p:nvSpPr>
        <p:spPr>
          <a:xfrm>
            <a:off x="2752725" y="4552950"/>
            <a:ext cx="1457325" cy="371475"/>
          </a:xfrm>
          <a:prstGeom prst="roundRect">
            <a:avLst>
              <a:gd name="adj" fmla="val 30769"/>
            </a:avLst>
          </a:prstGeom>
          <a:solidFill>
            <a:srgbClr val="B18B4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69A11D41-43BC-10B8-83C7-5D17A668EC1D}"/>
              </a:ext>
            </a:extLst>
          </p:cNvPr>
          <p:cNvSpPr>
            <a:spLocks noGrp="1"/>
          </p:cNvSpPr>
          <p:nvPr/>
        </p:nvSpPr>
        <p:spPr>
          <a:xfrm>
            <a:off x="2847975" y="4600575"/>
            <a:ext cx="13620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状态重建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r>
              <a:rPr lang="zh-CN" altLang="en-US" dirty="0"/>
              <a:t>优化方向：共享缓存与独立服务</a:t>
            </a:r>
          </a:p>
        </p:txBody>
      </p:sp>
      <p:sp>
        <p:nvSpPr>
          <p:cNvPr id="17" name="矩形 6">
            <a:extLst>
              <a:ext uri="{FF2B5EF4-FFF2-40B4-BE49-F238E27FC236}">
                <a16:creationId xmlns:a16="http://schemas.microsoft.com/office/drawing/2014/main" id="{6788D028-BD37-4633-952C-ADC7A2941A89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01    LMCache 架构演进</a:t>
            </a: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ACB7D2EE-8501-2BAE-AB6C-6046469F72B8}"/>
              </a:ext>
            </a:extLst>
          </p:cNvPr>
          <p:cNvSpPr>
            <a:spLocks noGrp="1"/>
          </p:cNvSpPr>
          <p:nvPr/>
        </p:nvSpPr>
        <p:spPr>
          <a:xfrm>
            <a:off x="495300" y="1438275"/>
            <a:ext cx="11182350" cy="1257300"/>
          </a:xfrm>
          <a:prstGeom prst="roundRect">
            <a:avLst>
              <a:gd name="adj" fmla="val 9091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684B6A5-862D-B6ED-AE3C-E68F76E72FF8}"/>
              </a:ext>
            </a:extLst>
          </p:cNvPr>
          <p:cNvSpPr>
            <a:spLocks noGrp="1"/>
          </p:cNvSpPr>
          <p:nvPr/>
        </p:nvSpPr>
        <p:spPr>
          <a:xfrm>
            <a:off x="4724400" y="1533525"/>
            <a:ext cx="67627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01  集中管理节点内的共享 KV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61814B2-AC75-8A84-803B-2D7721795167}"/>
              </a:ext>
            </a:extLst>
          </p:cNvPr>
          <p:cNvSpPr>
            <a:spLocks noGrp="1"/>
          </p:cNvSpPr>
          <p:nvPr/>
        </p:nvSpPr>
        <p:spPr>
          <a:xfrm>
            <a:off x="4724400" y="1981200"/>
            <a:ext cx="67627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以共享 CPU 池统一规划容量，减少兼容 KV 的重复驻留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3F225F3-8113-D260-6DCF-950E7EB9CCB7}"/>
              </a:ext>
            </a:extLst>
          </p:cNvPr>
          <p:cNvSpPr>
            <a:spLocks noGrp="1"/>
          </p:cNvSpPr>
          <p:nvPr/>
        </p:nvSpPr>
        <p:spPr>
          <a:xfrm>
            <a:off x="4724400" y="2333625"/>
            <a:ext cx="676275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26B89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526B89"/>
                </a:solidFill>
                <a:latin typeface="Source Han Sans CN"/>
                <a:ea typeface="Source Han Sans CN"/>
                <a:cs typeface="Source Han Sans CN"/>
              </a:rPr>
              <a:t>统一组织加载与分发，避免不必要的重复搬运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67F86654-E14E-B0BD-782E-D0E62FC36394}"/>
              </a:ext>
            </a:extLst>
          </p:cNvPr>
          <p:cNvSpPr>
            <a:spLocks noGrp="1"/>
          </p:cNvSpPr>
          <p:nvPr/>
        </p:nvSpPr>
        <p:spPr>
          <a:xfrm>
            <a:off x="704850" y="1571625"/>
            <a:ext cx="1104900" cy="371475"/>
          </a:xfrm>
          <a:prstGeom prst="roundRect">
            <a:avLst>
              <a:gd name="adj" fmla="val 30769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EAF67DD-16EB-85C6-A421-FB0802B31C26}"/>
              </a:ext>
            </a:extLst>
          </p:cNvPr>
          <p:cNvSpPr>
            <a:spLocks noGrp="1"/>
          </p:cNvSpPr>
          <p:nvPr/>
        </p:nvSpPr>
        <p:spPr>
          <a:xfrm>
            <a:off x="876300" y="1593850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rank 0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5D22E88-B8E9-DC43-C5DB-04640E5C0155}"/>
              </a:ext>
            </a:extLst>
          </p:cNvPr>
          <p:cNvSpPr>
            <a:spLocks noGrp="1"/>
          </p:cNvSpPr>
          <p:nvPr/>
        </p:nvSpPr>
        <p:spPr>
          <a:xfrm>
            <a:off x="1247775" y="1943100"/>
            <a:ext cx="28575" cy="14287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F9E11B33-2A62-9082-671D-989CA4E0390B}"/>
              </a:ext>
            </a:extLst>
          </p:cNvPr>
          <p:cNvSpPr>
            <a:spLocks noGrp="1"/>
          </p:cNvSpPr>
          <p:nvPr/>
        </p:nvSpPr>
        <p:spPr>
          <a:xfrm>
            <a:off x="1943100" y="1571625"/>
            <a:ext cx="1104900" cy="371475"/>
          </a:xfrm>
          <a:prstGeom prst="roundRect">
            <a:avLst>
              <a:gd name="adj" fmla="val 30769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30E5656-E1DA-3D34-A4C8-F70DDE5B2BEA}"/>
              </a:ext>
            </a:extLst>
          </p:cNvPr>
          <p:cNvSpPr>
            <a:spLocks noGrp="1"/>
          </p:cNvSpPr>
          <p:nvPr/>
        </p:nvSpPr>
        <p:spPr>
          <a:xfrm>
            <a:off x="2114550" y="1593850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dirty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rank 1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D6BA3E4-D5C4-1366-6BC8-DED3D749637F}"/>
              </a:ext>
            </a:extLst>
          </p:cNvPr>
          <p:cNvSpPr>
            <a:spLocks noGrp="1"/>
          </p:cNvSpPr>
          <p:nvPr/>
        </p:nvSpPr>
        <p:spPr>
          <a:xfrm>
            <a:off x="2486025" y="1943100"/>
            <a:ext cx="28575" cy="14287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68515764-BF57-B525-2611-D9D491B999DB}"/>
              </a:ext>
            </a:extLst>
          </p:cNvPr>
          <p:cNvSpPr>
            <a:spLocks noGrp="1"/>
          </p:cNvSpPr>
          <p:nvPr/>
        </p:nvSpPr>
        <p:spPr>
          <a:xfrm>
            <a:off x="3181350" y="1571625"/>
            <a:ext cx="1104900" cy="371475"/>
          </a:xfrm>
          <a:prstGeom prst="roundRect">
            <a:avLst>
              <a:gd name="adj" fmla="val 30769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5017364-EFCE-23BD-5E26-E0E11C3BC727}"/>
              </a:ext>
            </a:extLst>
          </p:cNvPr>
          <p:cNvSpPr>
            <a:spLocks noGrp="1"/>
          </p:cNvSpPr>
          <p:nvPr/>
        </p:nvSpPr>
        <p:spPr>
          <a:xfrm>
            <a:off x="3352800" y="1593850"/>
            <a:ext cx="10096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dirty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rank 2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7B3AD2C-146F-F4E5-861A-C6E1E76EDBAD}"/>
              </a:ext>
            </a:extLst>
          </p:cNvPr>
          <p:cNvSpPr>
            <a:spLocks noGrp="1"/>
          </p:cNvSpPr>
          <p:nvPr/>
        </p:nvSpPr>
        <p:spPr>
          <a:xfrm>
            <a:off x="3724275" y="1943100"/>
            <a:ext cx="28575" cy="14287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1C2848D-ED1E-ECEB-3EAC-A7913A4146F8}"/>
              </a:ext>
            </a:extLst>
          </p:cNvPr>
          <p:cNvSpPr>
            <a:spLocks noGrp="1"/>
          </p:cNvSpPr>
          <p:nvPr/>
        </p:nvSpPr>
        <p:spPr>
          <a:xfrm>
            <a:off x="1247775" y="2066925"/>
            <a:ext cx="2505075" cy="2857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F8E6C42-D220-2B9E-9586-6C182F84F582}"/>
              </a:ext>
            </a:extLst>
          </p:cNvPr>
          <p:cNvSpPr>
            <a:spLocks noGrp="1"/>
          </p:cNvSpPr>
          <p:nvPr/>
        </p:nvSpPr>
        <p:spPr>
          <a:xfrm>
            <a:off x="2486025" y="2085975"/>
            <a:ext cx="28575" cy="95250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061FA6B0-D706-FE44-5026-685A4F27DF1E}"/>
              </a:ext>
            </a:extLst>
          </p:cNvPr>
          <p:cNvSpPr>
            <a:spLocks noGrp="1"/>
          </p:cNvSpPr>
          <p:nvPr/>
        </p:nvSpPr>
        <p:spPr>
          <a:xfrm>
            <a:off x="1114425" y="2219325"/>
            <a:ext cx="2743200" cy="371475"/>
          </a:xfrm>
          <a:prstGeom prst="roundRect">
            <a:avLst>
              <a:gd name="adj" fmla="val 30769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89978BE9-6955-572C-1AC5-F6C1DDB60D21}"/>
              </a:ext>
            </a:extLst>
          </p:cNvPr>
          <p:cNvSpPr>
            <a:spLocks noGrp="1"/>
          </p:cNvSpPr>
          <p:nvPr/>
        </p:nvSpPr>
        <p:spPr>
          <a:xfrm>
            <a:off x="1660525" y="2252662"/>
            <a:ext cx="26479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dirty="0" err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共享</a:t>
            </a:r>
            <a:r>
              <a:rPr sz="1500" b="1" dirty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 CPU KV </a:t>
            </a:r>
            <a:r>
              <a:rPr sz="1500" b="1" dirty="0" err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池</a:t>
            </a:r>
            <a:endParaRPr sz="1500" b="1" dirty="0">
              <a:solidFill>
                <a:srgbClr val="FFFFFF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F9B0F289-EE87-C056-EFBC-6F0C5AC77C50}"/>
              </a:ext>
            </a:extLst>
          </p:cNvPr>
          <p:cNvSpPr>
            <a:spLocks noGrp="1"/>
          </p:cNvSpPr>
          <p:nvPr/>
        </p:nvSpPr>
        <p:spPr>
          <a:xfrm>
            <a:off x="495300" y="2828925"/>
            <a:ext cx="11182350" cy="1257300"/>
          </a:xfrm>
          <a:prstGeom prst="roundRect">
            <a:avLst>
              <a:gd name="adj" fmla="val 9091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9D186DC-8312-E55A-506B-075BB6AF25AF}"/>
              </a:ext>
            </a:extLst>
          </p:cNvPr>
          <p:cNvSpPr>
            <a:spLocks noGrp="1"/>
          </p:cNvSpPr>
          <p:nvPr/>
        </p:nvSpPr>
        <p:spPr>
          <a:xfrm>
            <a:off x="4724400" y="2924175"/>
            <a:ext cx="67627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02  分离缓存运行时，独立推进 I/O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593CA5F-3242-A958-949B-43FEE7BF0722}"/>
              </a:ext>
            </a:extLst>
          </p:cNvPr>
          <p:cNvSpPr>
            <a:spLocks noGrp="1"/>
          </p:cNvSpPr>
          <p:nvPr/>
        </p:nvSpPr>
        <p:spPr>
          <a:xfrm>
            <a:off x="4724400" y="3371850"/>
            <a:ext cx="67627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引擎与缓存服务分进程，通过 IPC 协作并同步完成状态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59539086-B96F-C47E-732E-0B7741EAE919}"/>
              </a:ext>
            </a:extLst>
          </p:cNvPr>
          <p:cNvSpPr>
            <a:spLocks noGrp="1"/>
          </p:cNvSpPr>
          <p:nvPr/>
        </p:nvSpPr>
        <p:spPr>
          <a:xfrm>
            <a:off x="4724400" y="3724275"/>
            <a:ext cx="676275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26B89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526B89"/>
                </a:solidFill>
                <a:latin typeface="Source Han Sans CN"/>
                <a:ea typeface="Source Han Sans CN"/>
                <a:cs typeface="Source Han Sans CN"/>
              </a:rPr>
              <a:t>按操作隔离队列，降低慢 I/O 对关键读取路径的干扰</a:t>
            </a: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367456EF-433B-FFF6-7383-A12DF16B44F2}"/>
              </a:ext>
            </a:extLst>
          </p:cNvPr>
          <p:cNvSpPr>
            <a:spLocks noGrp="1"/>
          </p:cNvSpPr>
          <p:nvPr/>
        </p:nvSpPr>
        <p:spPr>
          <a:xfrm>
            <a:off x="704850" y="3000375"/>
            <a:ext cx="1552575" cy="371475"/>
          </a:xfrm>
          <a:prstGeom prst="roundRect">
            <a:avLst>
              <a:gd name="adj" fmla="val 30769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15F11C7A-2899-1B3C-E1B4-45E555FC7F58}"/>
              </a:ext>
            </a:extLst>
          </p:cNvPr>
          <p:cNvSpPr>
            <a:spLocks noGrp="1"/>
          </p:cNvSpPr>
          <p:nvPr/>
        </p:nvSpPr>
        <p:spPr>
          <a:xfrm>
            <a:off x="800100" y="3048000"/>
            <a:ext cx="14573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lang="zh-CN" altLang="en-US" sz="1500" b="1" dirty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推理</a:t>
            </a:r>
            <a:r>
              <a:rPr sz="1500" b="1" dirty="0" err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进程</a:t>
            </a:r>
            <a:endParaRPr sz="1500" b="1" dirty="0">
              <a:solidFill>
                <a:srgbClr val="FFFFFF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6234B661-59A9-72A0-CB72-AB98C79C48E8}"/>
              </a:ext>
            </a:extLst>
          </p:cNvPr>
          <p:cNvSpPr>
            <a:spLocks noGrp="1"/>
          </p:cNvSpPr>
          <p:nvPr/>
        </p:nvSpPr>
        <p:spPr>
          <a:xfrm>
            <a:off x="2714625" y="3000375"/>
            <a:ext cx="1571625" cy="371475"/>
          </a:xfrm>
          <a:prstGeom prst="roundRect">
            <a:avLst>
              <a:gd name="adj" fmla="val 30769"/>
            </a:avLst>
          </a:prstGeom>
          <a:solidFill>
            <a:srgbClr val="B18B4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03EF95E-A38F-4005-DCCD-A3C8C453AB5B}"/>
              </a:ext>
            </a:extLst>
          </p:cNvPr>
          <p:cNvSpPr>
            <a:spLocks noGrp="1"/>
          </p:cNvSpPr>
          <p:nvPr/>
        </p:nvSpPr>
        <p:spPr>
          <a:xfrm>
            <a:off x="2809875" y="3048000"/>
            <a:ext cx="14763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dirty="0" err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缓存进程</a:t>
            </a:r>
            <a:endParaRPr sz="1500" b="1" dirty="0">
              <a:solidFill>
                <a:srgbClr val="FFFFFF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52" name="右箭头 51">
            <a:extLst>
              <a:ext uri="{FF2B5EF4-FFF2-40B4-BE49-F238E27FC236}">
                <a16:creationId xmlns:a16="http://schemas.microsoft.com/office/drawing/2014/main" id="{F32E83CB-CBDA-B238-8325-B92501907756}"/>
              </a:ext>
            </a:extLst>
          </p:cNvPr>
          <p:cNvSpPr>
            <a:spLocks noGrp="1"/>
          </p:cNvSpPr>
          <p:nvPr/>
        </p:nvSpPr>
        <p:spPr>
          <a:xfrm>
            <a:off x="2343150" y="3114675"/>
            <a:ext cx="276225" cy="152400"/>
          </a:xfrm>
          <a:prstGeom prst="rightArrow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980F2A34-7F27-C177-E822-6C3A967F0EF3}"/>
              </a:ext>
            </a:extLst>
          </p:cNvPr>
          <p:cNvSpPr>
            <a:spLocks noGrp="1"/>
          </p:cNvSpPr>
          <p:nvPr/>
        </p:nvSpPr>
        <p:spPr>
          <a:xfrm>
            <a:off x="847725" y="3524250"/>
            <a:ext cx="170497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调度</a:t>
            </a:r>
            <a:r>
              <a:rPr lang="zh-CN" altLang="en-US" sz="1650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与计算</a:t>
            </a:r>
            <a:endParaRPr sz="1650" b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AAA7999A-A453-DD1A-29CE-24E79914C775}"/>
              </a:ext>
            </a:extLst>
          </p:cNvPr>
          <p:cNvSpPr>
            <a:spLocks noGrp="1"/>
          </p:cNvSpPr>
          <p:nvPr/>
        </p:nvSpPr>
        <p:spPr>
          <a:xfrm>
            <a:off x="2886075" y="3524250"/>
            <a:ext cx="16097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0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缓存 I/O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60A26F45-C17D-158F-BAB1-E990511093BE}"/>
              </a:ext>
            </a:extLst>
          </p:cNvPr>
          <p:cNvSpPr>
            <a:spLocks noGrp="1"/>
          </p:cNvSpPr>
          <p:nvPr/>
        </p:nvSpPr>
        <p:spPr>
          <a:xfrm>
            <a:off x="495300" y="4219575"/>
            <a:ext cx="11182350" cy="1257300"/>
          </a:xfrm>
          <a:prstGeom prst="roundRect">
            <a:avLst>
              <a:gd name="adj" fmla="val 9091"/>
            </a:avLst>
          </a:prstGeom>
          <a:solidFill>
            <a:srgbClr val="FFF9EC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62D867E6-F506-1B3A-555F-AAA347C2E7C8}"/>
              </a:ext>
            </a:extLst>
          </p:cNvPr>
          <p:cNvSpPr>
            <a:spLocks noGrp="1"/>
          </p:cNvSpPr>
          <p:nvPr/>
        </p:nvSpPr>
        <p:spPr>
          <a:xfrm>
            <a:off x="4724400" y="4314825"/>
            <a:ext cx="67627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03  建立独立服务的部署与恢复边界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B6DBE20-9906-D729-8E6D-D38797FD7B91}"/>
              </a:ext>
            </a:extLst>
          </p:cNvPr>
          <p:cNvSpPr>
            <a:spLocks noGrp="1"/>
          </p:cNvSpPr>
          <p:nvPr/>
        </p:nvSpPr>
        <p:spPr>
          <a:xfrm>
            <a:off x="4724400" y="4762500"/>
            <a:ext cx="67627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缓存容量与引擎副本分别规划，集中暴露监控与管理接口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D836C83-4D01-7131-B023-E38A5FD22B1C}"/>
              </a:ext>
            </a:extLst>
          </p:cNvPr>
          <p:cNvSpPr>
            <a:spLocks noGrp="1"/>
          </p:cNvSpPr>
          <p:nvPr/>
        </p:nvSpPr>
        <p:spPr>
          <a:xfrm>
            <a:off x="4724400" y="5114925"/>
            <a:ext cx="676275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26B89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526B89"/>
                </a:solidFill>
                <a:latin typeface="Source Han Sans CN"/>
                <a:ea typeface="Source Han Sans CN"/>
                <a:cs typeface="Source Han Sans CN"/>
              </a:rPr>
              <a:t>明确注册、重连、降级及恢复验证流程</a:t>
            </a:r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E38AFBF8-1A2A-9F2E-412D-A4FEB5B22DD4}"/>
              </a:ext>
            </a:extLst>
          </p:cNvPr>
          <p:cNvSpPr>
            <a:spLocks noGrp="1"/>
          </p:cNvSpPr>
          <p:nvPr/>
        </p:nvSpPr>
        <p:spPr>
          <a:xfrm>
            <a:off x="704850" y="4543425"/>
            <a:ext cx="1552575" cy="371475"/>
          </a:xfrm>
          <a:prstGeom prst="roundRect">
            <a:avLst>
              <a:gd name="adj" fmla="val 30769"/>
            </a:avLst>
          </a:prstGeom>
          <a:solidFill>
            <a:srgbClr val="B18B4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80C6A2B-E82E-7885-E482-6DF51829020C}"/>
              </a:ext>
            </a:extLst>
          </p:cNvPr>
          <p:cNvSpPr>
            <a:spLocks noGrp="1"/>
          </p:cNvSpPr>
          <p:nvPr/>
        </p:nvSpPr>
        <p:spPr>
          <a:xfrm>
            <a:off x="800100" y="4591050"/>
            <a:ext cx="1457325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缓存服务</a:t>
            </a:r>
          </a:p>
        </p:txBody>
      </p:sp>
      <p:sp>
        <p:nvSpPr>
          <p:cNvPr id="61" name="右箭头 60">
            <a:extLst>
              <a:ext uri="{FF2B5EF4-FFF2-40B4-BE49-F238E27FC236}">
                <a16:creationId xmlns:a16="http://schemas.microsoft.com/office/drawing/2014/main" id="{657B9677-F40F-AE9A-9576-F5F41C1CDE5D}"/>
              </a:ext>
            </a:extLst>
          </p:cNvPr>
          <p:cNvSpPr>
            <a:spLocks noGrp="1"/>
          </p:cNvSpPr>
          <p:nvPr/>
        </p:nvSpPr>
        <p:spPr>
          <a:xfrm>
            <a:off x="2343150" y="4648200"/>
            <a:ext cx="276225" cy="152400"/>
          </a:xfrm>
          <a:prstGeom prst="rightArrow">
            <a:avLst/>
          </a:prstGeom>
          <a:solidFill>
            <a:srgbClr val="B18B4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6C038F29-29AD-890B-2ABD-C4FAED2FF9C4}"/>
              </a:ext>
            </a:extLst>
          </p:cNvPr>
          <p:cNvSpPr>
            <a:spLocks noGrp="1"/>
          </p:cNvSpPr>
          <p:nvPr/>
        </p:nvSpPr>
        <p:spPr>
          <a:xfrm>
            <a:off x="2714625" y="4410075"/>
            <a:ext cx="1571625" cy="847725"/>
          </a:xfrm>
          <a:prstGeom prst="roundRect">
            <a:avLst>
              <a:gd name="adj" fmla="val 13483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778C48DB-536D-E017-FC3E-25AE340F8D46}"/>
              </a:ext>
            </a:extLst>
          </p:cNvPr>
          <p:cNvSpPr>
            <a:spLocks noGrp="1"/>
          </p:cNvSpPr>
          <p:nvPr/>
        </p:nvSpPr>
        <p:spPr>
          <a:xfrm>
            <a:off x="2790825" y="4505325"/>
            <a:ext cx="15240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部署 / 观测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67896F8B-4DE6-A6A8-D623-5A74463E14E8}"/>
              </a:ext>
            </a:extLst>
          </p:cNvPr>
          <p:cNvSpPr>
            <a:spLocks noGrp="1"/>
          </p:cNvSpPr>
          <p:nvPr/>
        </p:nvSpPr>
        <p:spPr>
          <a:xfrm>
            <a:off x="2886075" y="4867275"/>
            <a:ext cx="143827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故障恢复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2F024-BC1B-2421-BD20-CC3B07697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3">
            <a:extLst>
              <a:ext uri="{FF2B5EF4-FFF2-40B4-BE49-F238E27FC236}">
                <a16:creationId xmlns:a16="http://schemas.microsoft.com/office/drawing/2014/main" id="{97F8A586-A167-763E-C91B-D2C14CAF2397}"/>
              </a:ext>
            </a:extLst>
          </p:cNvPr>
          <p:cNvGrpSpPr/>
          <p:nvPr/>
        </p:nvGrpSpPr>
        <p:grpSpPr>
          <a:xfrm>
            <a:off x="1748367" y="2996671"/>
            <a:ext cx="2120900" cy="864658"/>
            <a:chOff x="657" y="7220"/>
            <a:chExt cx="2721" cy="794"/>
          </a:xfrm>
        </p:grpSpPr>
        <p:sp>
          <p:nvSpPr>
            <p:cNvPr id="3" name="矩形 64">
              <a:extLst>
                <a:ext uri="{FF2B5EF4-FFF2-40B4-BE49-F238E27FC236}">
                  <a16:creationId xmlns:a16="http://schemas.microsoft.com/office/drawing/2014/main" id="{7D2F0E74-BDFC-1DE7-C869-D66919DF527F}"/>
                </a:ext>
              </a:extLst>
            </p:cNvPr>
            <p:cNvSpPr/>
            <p:nvPr userDrawn="1"/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4" name="单圆角矩形 65">
              <a:extLst>
                <a:ext uri="{FF2B5EF4-FFF2-40B4-BE49-F238E27FC236}">
                  <a16:creationId xmlns:a16="http://schemas.microsoft.com/office/drawing/2014/main" id="{6E80C00F-0B21-F24D-40D0-35EDBBF4D825}"/>
                </a:ext>
              </a:extLst>
            </p:cNvPr>
            <p:cNvSpPr/>
            <p:nvPr userDrawn="1"/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indent="0" algn="l">
                <a:buNone/>
              </a:pPr>
              <a:r>
                <a:rPr kumimoji="1" lang="zh-CN" altLang="en-US" sz="26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      </a:t>
              </a:r>
              <a:r>
                <a:rPr kumimoji="1" lang="en-US" altLang="zh-CN" sz="5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02</a:t>
              </a:r>
            </a:p>
          </p:txBody>
        </p:sp>
      </p:grp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4FB04EC5-D45A-3B1A-6E8D-8B6EEECA1C76}"/>
              </a:ext>
            </a:extLst>
          </p:cNvPr>
          <p:cNvSpPr>
            <a:spLocks noGrp="1"/>
          </p:cNvSpPr>
          <p:nvPr/>
        </p:nvSpPr>
        <p:spPr>
          <a:xfrm>
            <a:off x="4497572" y="2571750"/>
            <a:ext cx="7343329" cy="171450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defRPr>
            </a:lvl1pPr>
          </a:lstStyle>
          <a:p>
            <a:pPr algn="l"/>
            <a:r>
              <a:rPr lang="en-US" altLang="zh-CN" sz="4000" b="0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rPr>
              <a:t>Multi-Process </a:t>
            </a:r>
            <a:r>
              <a:rPr lang="en-US" altLang="zh-CN" sz="4000" b="0" i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rPr>
              <a:t>模式架构</a:t>
            </a:r>
            <a:endParaRPr lang="en-US" altLang="zh-CN" sz="4000" b="0" i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ource Han Sans CN" panose="020B0604020202090204" pitchFamily="34" charset="0"/>
              <a:ea typeface="Source Han Sans CN" panose="020B0502040204020203" charset="-122"/>
              <a:cs typeface="Source Han Sans CN" panose="020B060402020209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1133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圆角矩形 11">
            <a:extLst>
              <a:ext uri="{FF2B5EF4-FFF2-40B4-BE49-F238E27FC236}">
                <a16:creationId xmlns:a16="http://schemas.microsoft.com/office/drawing/2014/main" id="{9C56A181-A4CE-7246-FFE0-42037D2D22D8}"/>
              </a:ext>
            </a:extLst>
          </p:cNvPr>
          <p:cNvSpPr>
            <a:spLocks noGrp="1"/>
          </p:cNvSpPr>
          <p:nvPr/>
        </p:nvSpPr>
        <p:spPr>
          <a:xfrm>
            <a:off x="2022128" y="5949709"/>
            <a:ext cx="8582025" cy="409575"/>
          </a:xfrm>
          <a:prstGeom prst="roundRect">
            <a:avLst>
              <a:gd name="adj" fmla="val 27907"/>
            </a:avLst>
          </a:prstGeom>
          <a:solidFill>
            <a:srgbClr val="F1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Rounded Rectangle 44"/>
          <p:cNvSpPr>
            <a:spLocks noGrp="1"/>
          </p:cNvSpPr>
          <p:nvPr/>
        </p:nvSpPr>
        <p:spPr>
          <a:xfrm>
            <a:off x="617782" y="1931684"/>
            <a:ext cx="2678490" cy="1079739"/>
          </a:xfrm>
          <a:prstGeom prst="roundRect">
            <a:avLst>
              <a:gd name="adj" fmla="val 8000"/>
            </a:avLst>
          </a:prstGeom>
          <a:solidFill>
            <a:srgbClr val="F0F5FA"/>
          </a:solidFill>
          <a:ln w="11430"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28A27F71-8D7B-FD51-53DD-7105D5248E91}"/>
              </a:ext>
            </a:extLst>
          </p:cNvPr>
          <p:cNvSpPr/>
          <p:nvPr/>
        </p:nvSpPr>
        <p:spPr>
          <a:xfrm>
            <a:off x="767279" y="2534192"/>
            <a:ext cx="2187765" cy="3021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 dirty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MP 模式</a:t>
            </a:r>
            <a:r>
              <a:rPr lang="zh-CN" altLang="en-US" dirty="0"/>
              <a:t>架构</a:t>
            </a:r>
            <a:endParaRPr lang="zh-CN" altLang="en-US" sz="2800" b="1" i="0" dirty="0">
              <a:gradFill>
                <a:gsLst>
                  <a:gs pos="0">
                    <a:srgbClr val="91D2DD"/>
                  </a:gs>
                  <a:gs pos="45000">
                    <a:srgbClr val="6292BF"/>
                  </a:gs>
                  <a:gs pos="100000">
                    <a:srgbClr val="285091"/>
                  </a:gs>
                </a:gsLst>
                <a:lin ang="10800000" scaled="0"/>
              </a:gradFill>
              <a:latin typeface="Source Han Sans CN Bold" panose="020B0800000000000000" charset="-122"/>
              <a:ea typeface="Source Han Sans CN Bold" panose="020B0800000000000000" charset="-122"/>
              <a:cs typeface="思源黑体 CN" panose="020B08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C132573-D5EC-4163-9BBD-38690FB2B20C}"/>
              </a:ext>
            </a:extLst>
          </p:cNvPr>
          <p:cNvSpPr>
            <a:spLocks noGrp="1"/>
          </p:cNvSpPr>
          <p:nvPr/>
        </p:nvSpPr>
        <p:spPr>
          <a:xfrm>
            <a:off x="2218666" y="5976108"/>
            <a:ext cx="8884055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lang="zh-CN" altLang="en-US" sz="1600" dirty="0">
                <a:solidFill>
                  <a:srgbClr val="285091"/>
                </a:solidFill>
                <a:latin typeface="Source Han Sans CN"/>
              </a:rPr>
              <a:t>将 </a:t>
            </a:r>
            <a:r>
              <a:rPr lang="en-US" altLang="zh-CN" sz="1600" dirty="0">
                <a:solidFill>
                  <a:srgbClr val="285091"/>
                </a:solidFill>
                <a:latin typeface="Source Han Sans CN"/>
              </a:rPr>
              <a:t>KV Cache </a:t>
            </a:r>
            <a:r>
              <a:rPr lang="zh-CN" altLang="en-US" sz="1600" dirty="0">
                <a:solidFill>
                  <a:srgbClr val="285091"/>
                </a:solidFill>
                <a:latin typeface="Source Han Sans CN"/>
              </a:rPr>
              <a:t>管理从推理引擎中解耦，是提升大模型推理服务性能和稳定性的核心设计思想</a:t>
            </a:r>
            <a:endParaRPr sz="1600" dirty="0">
              <a:solidFill>
                <a:srgbClr val="285091"/>
              </a:solidFill>
              <a:latin typeface="Source Han Sans CN"/>
            </a:endParaRPr>
          </a:p>
        </p:txBody>
      </p:sp>
      <p:sp>
        <p:nvSpPr>
          <p:cNvPr id="4" name="Rectangle 43"/>
          <p:cNvSpPr>
            <a:spLocks noGrp="1"/>
          </p:cNvSpPr>
          <p:nvPr/>
        </p:nvSpPr>
        <p:spPr>
          <a:xfrm>
            <a:off x="1153480" y="1333504"/>
            <a:ext cx="2927652" cy="2737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568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00" b="1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推理实例</a:t>
            </a:r>
            <a:endParaRPr sz="2200"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6" name="Rectangle 45"/>
          <p:cNvSpPr>
            <a:spLocks noGrp="1"/>
          </p:cNvSpPr>
          <p:nvPr/>
        </p:nvSpPr>
        <p:spPr>
          <a:xfrm>
            <a:off x="767279" y="2068568"/>
            <a:ext cx="386201" cy="43554"/>
          </a:xfrm>
          <a:prstGeom prst="rect">
            <a:avLst/>
          </a:prstGeom>
          <a:solidFill>
            <a:srgbClr val="D6E5F4"/>
          </a:solidFill>
          <a:ln w="11430"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7" name="Rectangle 46"/>
          <p:cNvSpPr>
            <a:spLocks noGrp="1"/>
          </p:cNvSpPr>
          <p:nvPr/>
        </p:nvSpPr>
        <p:spPr>
          <a:xfrm>
            <a:off x="767279" y="2208863"/>
            <a:ext cx="2379496" cy="2862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568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lang="en" b="1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vLLM</a:t>
            </a:r>
            <a:r>
              <a:rPr lang="zh-CN" altLang="en-US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lang="en-US" altLang="zh-CN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Scheduler</a:t>
            </a:r>
            <a:endParaRPr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8" name="Rectangle 47"/>
          <p:cNvSpPr>
            <a:spLocks noGrp="1"/>
          </p:cNvSpPr>
          <p:nvPr/>
        </p:nvSpPr>
        <p:spPr>
          <a:xfrm>
            <a:off x="767279" y="2529667"/>
            <a:ext cx="2379496" cy="2045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176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LMCacheMPConnector</a:t>
            </a:r>
            <a:endParaRPr sz="1500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7" name="Right Arrow 56"/>
          <p:cNvSpPr>
            <a:spLocks noGrp="1"/>
          </p:cNvSpPr>
          <p:nvPr/>
        </p:nvSpPr>
        <p:spPr>
          <a:xfrm>
            <a:off x="3589037" y="3014681"/>
            <a:ext cx="1669385" cy="808111"/>
          </a:xfrm>
          <a:prstGeom prst="rightArrow">
            <a:avLst/>
          </a:prstGeom>
          <a:solidFill>
            <a:srgbClr val="D7ECF1"/>
          </a:solidFill>
          <a:ln w="11430"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9" name="Rounded Rectangle 58"/>
          <p:cNvSpPr>
            <a:spLocks noGrp="1"/>
          </p:cNvSpPr>
          <p:nvPr/>
        </p:nvSpPr>
        <p:spPr>
          <a:xfrm>
            <a:off x="5501194" y="1931684"/>
            <a:ext cx="4559663" cy="3666719"/>
          </a:xfrm>
          <a:prstGeom prst="roundRect">
            <a:avLst>
              <a:gd name="adj" fmla="val 2308"/>
            </a:avLst>
          </a:prstGeom>
          <a:solidFill>
            <a:srgbClr val="F0F5FA"/>
          </a:solidFill>
          <a:ln w="11430"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0" name="Rectangle 59"/>
          <p:cNvSpPr>
            <a:spLocks noGrp="1"/>
          </p:cNvSpPr>
          <p:nvPr/>
        </p:nvSpPr>
        <p:spPr>
          <a:xfrm>
            <a:off x="5650691" y="2142294"/>
            <a:ext cx="386201" cy="43554"/>
          </a:xfrm>
          <a:prstGeom prst="rect">
            <a:avLst/>
          </a:prstGeom>
          <a:solidFill>
            <a:srgbClr val="F8E5C6"/>
          </a:solidFill>
          <a:ln w="11430"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1" name="Rectangle 60"/>
          <p:cNvSpPr>
            <a:spLocks noGrp="1"/>
          </p:cNvSpPr>
          <p:nvPr/>
        </p:nvSpPr>
        <p:spPr>
          <a:xfrm>
            <a:off x="5650691" y="2304065"/>
            <a:ext cx="4559663" cy="2862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568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68" b="1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LMCache</a:t>
            </a:r>
            <a:r>
              <a:rPr sz="1568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Server</a:t>
            </a:r>
          </a:p>
        </p:txBody>
      </p:sp>
      <p:sp>
        <p:nvSpPr>
          <p:cNvPr id="22" name="Rectangle 61"/>
          <p:cNvSpPr>
            <a:spLocks noGrp="1"/>
          </p:cNvSpPr>
          <p:nvPr/>
        </p:nvSpPr>
        <p:spPr>
          <a:xfrm>
            <a:off x="5650691" y="2708493"/>
            <a:ext cx="4559663" cy="25998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176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独立进程</a:t>
            </a:r>
            <a:r>
              <a:rPr sz="1500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/ </a:t>
            </a:r>
            <a:r>
              <a:rPr sz="150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独立生命周期</a:t>
            </a:r>
            <a:endParaRPr sz="1500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3" name="Rounded Rectangle 63"/>
          <p:cNvSpPr>
            <a:spLocks noGrp="1"/>
          </p:cNvSpPr>
          <p:nvPr/>
        </p:nvSpPr>
        <p:spPr>
          <a:xfrm>
            <a:off x="5682589" y="3099076"/>
            <a:ext cx="1962150" cy="648487"/>
          </a:xfrm>
          <a:prstGeom prst="roundRect">
            <a:avLst>
              <a:gd name="adj" fmla="val 23077"/>
            </a:avLst>
          </a:prstGeom>
          <a:solidFill>
            <a:schemeClr val="accent6">
              <a:lumMod val="40000"/>
              <a:lumOff val="60000"/>
            </a:schemeClr>
          </a:solidFill>
          <a:ln w="11430">
            <a:prstDash val="solid"/>
          </a:ln>
        </p:spPr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4" name="Rectangle 64"/>
          <p:cNvSpPr>
            <a:spLocks noGrp="1"/>
          </p:cNvSpPr>
          <p:nvPr/>
        </p:nvSpPr>
        <p:spPr>
          <a:xfrm>
            <a:off x="5918541" y="3224465"/>
            <a:ext cx="1533098" cy="49186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80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CPU L1</a:t>
            </a:r>
          </a:p>
        </p:txBody>
      </p:sp>
      <p:sp>
        <p:nvSpPr>
          <p:cNvPr id="25" name="Rounded Rectangle 65"/>
          <p:cNvSpPr>
            <a:spLocks noGrp="1"/>
          </p:cNvSpPr>
          <p:nvPr/>
        </p:nvSpPr>
        <p:spPr>
          <a:xfrm>
            <a:off x="7949209" y="3099076"/>
            <a:ext cx="1962149" cy="680384"/>
          </a:xfrm>
          <a:prstGeom prst="roundRect">
            <a:avLst>
              <a:gd name="adj" fmla="val 23077"/>
            </a:avLst>
          </a:prstGeom>
          <a:solidFill>
            <a:schemeClr val="accent6">
              <a:lumMod val="40000"/>
              <a:lumOff val="60000"/>
            </a:schemeClr>
          </a:solidFill>
          <a:ln w="11430"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6" name="Rectangle 66"/>
          <p:cNvSpPr>
            <a:spLocks noGrp="1"/>
          </p:cNvSpPr>
          <p:nvPr/>
        </p:nvSpPr>
        <p:spPr>
          <a:xfrm>
            <a:off x="8087804" y="3236846"/>
            <a:ext cx="1684958" cy="3656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80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L2 Adapters</a:t>
            </a:r>
          </a:p>
        </p:txBody>
      </p:sp>
      <p:sp>
        <p:nvSpPr>
          <p:cNvPr id="27" name="Rounded Rectangle 67"/>
          <p:cNvSpPr>
            <a:spLocks noGrp="1"/>
          </p:cNvSpPr>
          <p:nvPr/>
        </p:nvSpPr>
        <p:spPr>
          <a:xfrm>
            <a:off x="5682588" y="3949928"/>
            <a:ext cx="1962149" cy="648487"/>
          </a:xfrm>
          <a:prstGeom prst="roundRect">
            <a:avLst>
              <a:gd name="adj" fmla="val 23077"/>
            </a:avLst>
          </a:prstGeom>
          <a:solidFill>
            <a:schemeClr val="accent6">
              <a:lumMod val="40000"/>
              <a:lumOff val="60000"/>
            </a:schemeClr>
          </a:solidFill>
          <a:ln w="11430"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8" name="Rectangle 68"/>
          <p:cNvSpPr>
            <a:spLocks noGrp="1"/>
          </p:cNvSpPr>
          <p:nvPr/>
        </p:nvSpPr>
        <p:spPr>
          <a:xfrm>
            <a:off x="5823819" y="4048149"/>
            <a:ext cx="1679686" cy="3359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80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Prometheus</a:t>
            </a:r>
          </a:p>
        </p:txBody>
      </p:sp>
      <p:sp>
        <p:nvSpPr>
          <p:cNvPr id="29" name="Rounded Rectangle 69"/>
          <p:cNvSpPr>
            <a:spLocks noGrp="1"/>
          </p:cNvSpPr>
          <p:nvPr/>
        </p:nvSpPr>
        <p:spPr>
          <a:xfrm>
            <a:off x="7930521" y="3949470"/>
            <a:ext cx="1962149" cy="648487"/>
          </a:xfrm>
          <a:prstGeom prst="roundRect">
            <a:avLst>
              <a:gd name="adj" fmla="val 23077"/>
            </a:avLst>
          </a:prstGeom>
          <a:solidFill>
            <a:schemeClr val="accent6">
              <a:lumMod val="40000"/>
              <a:lumOff val="60000"/>
            </a:schemeClr>
          </a:solidFill>
          <a:ln w="11430">
            <a:prstDash val="solid"/>
          </a:ln>
        </p:spPr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0" name="Rectangle 70"/>
          <p:cNvSpPr>
            <a:spLocks noGrp="1"/>
          </p:cNvSpPr>
          <p:nvPr/>
        </p:nvSpPr>
        <p:spPr>
          <a:xfrm>
            <a:off x="8185563" y="4085371"/>
            <a:ext cx="1407765" cy="4490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80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HTTP / CLI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A25D858-24D8-4679-B826-9DA81ACF13B3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02    Multi-process </a:t>
            </a:r>
            <a:r>
              <a:rPr sz="120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模式架构</a:t>
            </a:r>
            <a:endParaRPr sz="1200" b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3" name="Rounded Rectangle 44">
            <a:extLst>
              <a:ext uri="{FF2B5EF4-FFF2-40B4-BE49-F238E27FC236}">
                <a16:creationId xmlns:a16="http://schemas.microsoft.com/office/drawing/2014/main" id="{C4E10FD1-25A7-D320-96DD-8A3DA273DF9E}"/>
              </a:ext>
            </a:extLst>
          </p:cNvPr>
          <p:cNvSpPr>
            <a:spLocks noGrp="1"/>
          </p:cNvSpPr>
          <p:nvPr/>
        </p:nvSpPr>
        <p:spPr>
          <a:xfrm>
            <a:off x="617782" y="3146865"/>
            <a:ext cx="2678490" cy="1079738"/>
          </a:xfrm>
          <a:prstGeom prst="roundRect">
            <a:avLst>
              <a:gd name="adj" fmla="val 8000"/>
            </a:avLst>
          </a:prstGeom>
          <a:solidFill>
            <a:srgbClr val="F0F5FA"/>
          </a:solidFill>
          <a:ln w="11430"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67558B45-4DF7-171A-20C6-D0E9D5FF13E5}"/>
              </a:ext>
            </a:extLst>
          </p:cNvPr>
          <p:cNvSpPr/>
          <p:nvPr/>
        </p:nvSpPr>
        <p:spPr>
          <a:xfrm>
            <a:off x="767279" y="3749372"/>
            <a:ext cx="2187765" cy="3021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Rectangle 45">
            <a:extLst>
              <a:ext uri="{FF2B5EF4-FFF2-40B4-BE49-F238E27FC236}">
                <a16:creationId xmlns:a16="http://schemas.microsoft.com/office/drawing/2014/main" id="{27BE81D5-3D22-0DD1-E485-7FEE0C9FDE45}"/>
              </a:ext>
            </a:extLst>
          </p:cNvPr>
          <p:cNvSpPr>
            <a:spLocks noGrp="1"/>
          </p:cNvSpPr>
          <p:nvPr/>
        </p:nvSpPr>
        <p:spPr>
          <a:xfrm>
            <a:off x="767279" y="3283748"/>
            <a:ext cx="386201" cy="43554"/>
          </a:xfrm>
          <a:prstGeom prst="rect">
            <a:avLst/>
          </a:prstGeom>
          <a:solidFill>
            <a:srgbClr val="D6E5F4"/>
          </a:solidFill>
          <a:ln w="11430"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6" name="Rectangle 46">
            <a:extLst>
              <a:ext uri="{FF2B5EF4-FFF2-40B4-BE49-F238E27FC236}">
                <a16:creationId xmlns:a16="http://schemas.microsoft.com/office/drawing/2014/main" id="{C9767F69-5F85-DA1A-2D1E-5425EC024BB5}"/>
              </a:ext>
            </a:extLst>
          </p:cNvPr>
          <p:cNvSpPr>
            <a:spLocks noGrp="1"/>
          </p:cNvSpPr>
          <p:nvPr/>
        </p:nvSpPr>
        <p:spPr>
          <a:xfrm>
            <a:off x="767279" y="3424043"/>
            <a:ext cx="2379496" cy="2862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568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lang="en-US" altLang="zh-CN" b="1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vLLM</a:t>
            </a:r>
            <a:r>
              <a:rPr lang="zh-CN" altLang="en-US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lang="en-US" altLang="zh-CN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Worker</a:t>
            </a:r>
            <a:r>
              <a:rPr lang="zh-CN" altLang="en-US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lang="en-US" altLang="zh-CN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0</a:t>
            </a:r>
            <a:endParaRPr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7" name="Rectangle 47">
            <a:extLst>
              <a:ext uri="{FF2B5EF4-FFF2-40B4-BE49-F238E27FC236}">
                <a16:creationId xmlns:a16="http://schemas.microsoft.com/office/drawing/2014/main" id="{5BCE673E-6A13-8875-98B6-4A7C5A6BD466}"/>
              </a:ext>
            </a:extLst>
          </p:cNvPr>
          <p:cNvSpPr>
            <a:spLocks noGrp="1"/>
          </p:cNvSpPr>
          <p:nvPr/>
        </p:nvSpPr>
        <p:spPr>
          <a:xfrm>
            <a:off x="767279" y="3744847"/>
            <a:ext cx="2379496" cy="2045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176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LMCacheMPConnector</a:t>
            </a:r>
            <a:endParaRPr sz="1500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8" name="Rounded Rectangle 44">
            <a:extLst>
              <a:ext uri="{FF2B5EF4-FFF2-40B4-BE49-F238E27FC236}">
                <a16:creationId xmlns:a16="http://schemas.microsoft.com/office/drawing/2014/main" id="{117B2DF8-0B8F-BF9B-51F9-D672718A4D96}"/>
              </a:ext>
            </a:extLst>
          </p:cNvPr>
          <p:cNvSpPr>
            <a:spLocks noGrp="1"/>
          </p:cNvSpPr>
          <p:nvPr/>
        </p:nvSpPr>
        <p:spPr>
          <a:xfrm>
            <a:off x="585884" y="4408866"/>
            <a:ext cx="2678490" cy="1061843"/>
          </a:xfrm>
          <a:prstGeom prst="roundRect">
            <a:avLst>
              <a:gd name="adj" fmla="val 8000"/>
            </a:avLst>
          </a:prstGeom>
          <a:solidFill>
            <a:srgbClr val="F0F5FA"/>
          </a:solidFill>
          <a:ln w="11430"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88DBCEC0-46C8-67AD-F4A4-CEA5F69797BB}"/>
              </a:ext>
            </a:extLst>
          </p:cNvPr>
          <p:cNvSpPr/>
          <p:nvPr/>
        </p:nvSpPr>
        <p:spPr>
          <a:xfrm>
            <a:off x="735381" y="5011374"/>
            <a:ext cx="2187765" cy="302150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Rectangle 45">
            <a:extLst>
              <a:ext uri="{FF2B5EF4-FFF2-40B4-BE49-F238E27FC236}">
                <a16:creationId xmlns:a16="http://schemas.microsoft.com/office/drawing/2014/main" id="{1F79529A-28D8-80AF-0711-92EDBA6A326F}"/>
              </a:ext>
            </a:extLst>
          </p:cNvPr>
          <p:cNvSpPr>
            <a:spLocks noGrp="1"/>
          </p:cNvSpPr>
          <p:nvPr/>
        </p:nvSpPr>
        <p:spPr>
          <a:xfrm>
            <a:off x="735381" y="4545750"/>
            <a:ext cx="386201" cy="43554"/>
          </a:xfrm>
          <a:prstGeom prst="rect">
            <a:avLst/>
          </a:prstGeom>
          <a:solidFill>
            <a:srgbClr val="D6E5F4"/>
          </a:solidFill>
          <a:ln w="11430"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1" name="Rectangle 46">
            <a:extLst>
              <a:ext uri="{FF2B5EF4-FFF2-40B4-BE49-F238E27FC236}">
                <a16:creationId xmlns:a16="http://schemas.microsoft.com/office/drawing/2014/main" id="{1040445B-DFDF-87A3-8755-C07BA6467296}"/>
              </a:ext>
            </a:extLst>
          </p:cNvPr>
          <p:cNvSpPr>
            <a:spLocks noGrp="1"/>
          </p:cNvSpPr>
          <p:nvPr/>
        </p:nvSpPr>
        <p:spPr>
          <a:xfrm>
            <a:off x="735381" y="4686045"/>
            <a:ext cx="2379496" cy="28621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568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lang="en-US" altLang="zh-CN" b="1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vLLM</a:t>
            </a:r>
            <a:r>
              <a:rPr lang="zh-CN" altLang="en-US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lang="en-US" altLang="zh-CN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Worker</a:t>
            </a:r>
            <a:r>
              <a:rPr lang="zh-CN" altLang="en-US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lang="en-US" altLang="zh-CN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1</a:t>
            </a:r>
            <a:endParaRPr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2" name="Rectangle 47">
            <a:extLst>
              <a:ext uri="{FF2B5EF4-FFF2-40B4-BE49-F238E27FC236}">
                <a16:creationId xmlns:a16="http://schemas.microsoft.com/office/drawing/2014/main" id="{D059899D-7BF1-433D-9F59-9CE86F4F2678}"/>
              </a:ext>
            </a:extLst>
          </p:cNvPr>
          <p:cNvSpPr>
            <a:spLocks noGrp="1"/>
          </p:cNvSpPr>
          <p:nvPr/>
        </p:nvSpPr>
        <p:spPr>
          <a:xfrm>
            <a:off x="735381" y="5006849"/>
            <a:ext cx="2379496" cy="2045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176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LMCacheMPConnector</a:t>
            </a:r>
            <a:endParaRPr sz="1500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9" name="Rectangle 43">
            <a:extLst>
              <a:ext uri="{FF2B5EF4-FFF2-40B4-BE49-F238E27FC236}">
                <a16:creationId xmlns:a16="http://schemas.microsoft.com/office/drawing/2014/main" id="{A1890278-B243-F9BF-F8D4-56D46AB2D7FB}"/>
              </a:ext>
            </a:extLst>
          </p:cNvPr>
          <p:cNvSpPr>
            <a:spLocks noGrp="1"/>
          </p:cNvSpPr>
          <p:nvPr/>
        </p:nvSpPr>
        <p:spPr>
          <a:xfrm>
            <a:off x="6983706" y="1326271"/>
            <a:ext cx="2927652" cy="27376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>
              <a:buNone/>
              <a:defRPr sz="1568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lang="en-US" altLang="zh-CN" sz="2200" b="1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LMCache</a:t>
            </a:r>
            <a:r>
              <a:rPr lang="zh-CN" altLang="en-US" sz="22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实例</a:t>
            </a:r>
            <a:endParaRPr sz="2200"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0" name="Google Shape;511;p16">
            <a:extLst>
              <a:ext uri="{FF2B5EF4-FFF2-40B4-BE49-F238E27FC236}">
                <a16:creationId xmlns:a16="http://schemas.microsoft.com/office/drawing/2014/main" id="{0F72E034-4F38-21ED-C0D1-F4A683B0E625}"/>
              </a:ext>
            </a:extLst>
          </p:cNvPr>
          <p:cNvSpPr/>
          <p:nvPr/>
        </p:nvSpPr>
        <p:spPr>
          <a:xfrm>
            <a:off x="5699314" y="4818455"/>
            <a:ext cx="4511040" cy="682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6E73"/>
              </a:buClr>
              <a:buSzPts val="950"/>
              <a:buFont typeface="Arial" panose="020B0604020202090204"/>
              <a:buNone/>
            </a:pPr>
            <a:r>
              <a:rPr lang="en-US" sz="1300" dirty="0" err="1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独立的</a:t>
            </a:r>
            <a:r>
              <a:rPr lang="en-US" sz="1300" dirty="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KV cache </a:t>
            </a:r>
            <a:r>
              <a:rPr lang="en-US" sz="1300" dirty="0" err="1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管理服务</a:t>
            </a:r>
            <a:r>
              <a:rPr lang="en-US" sz="1300" dirty="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: </a:t>
            </a:r>
            <a:r>
              <a:rPr lang="en-US" sz="1300" dirty="0" err="1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每节点一个</a:t>
            </a:r>
            <a:r>
              <a:rPr lang="en-US" sz="1300" dirty="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daemon, </a:t>
            </a:r>
            <a:br>
              <a:rPr lang="en-US" sz="1300" dirty="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</a:br>
            <a:r>
              <a:rPr lang="en-US" sz="1300" dirty="0" err="1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通过</a:t>
            </a:r>
            <a:r>
              <a:rPr lang="en-US" sz="1300" dirty="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r>
              <a:rPr lang="en-US" sz="1300" dirty="0" err="1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CudaIPC</a:t>
            </a:r>
            <a:r>
              <a:rPr lang="en-US" sz="1300" dirty="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r>
              <a:rPr lang="en-US" sz="1300" dirty="0" err="1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共享</a:t>
            </a:r>
            <a:r>
              <a:rPr lang="en-US" sz="1300" dirty="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</a:t>
            </a:r>
            <a:r>
              <a:rPr lang="en-US" sz="1300" dirty="0" err="1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vLLM</a:t>
            </a:r>
            <a:r>
              <a:rPr lang="en-US" sz="1300" dirty="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GPU buffer</a:t>
            </a:r>
            <a:endParaRPr sz="1300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" name="Google Shape;517;p16">
            <a:extLst>
              <a:ext uri="{FF2B5EF4-FFF2-40B4-BE49-F238E27FC236}">
                <a16:creationId xmlns:a16="http://schemas.microsoft.com/office/drawing/2014/main" id="{653F8B83-C4FF-B74C-A259-82462AED767B}"/>
              </a:ext>
            </a:extLst>
          </p:cNvPr>
          <p:cNvGrpSpPr/>
          <p:nvPr/>
        </p:nvGrpSpPr>
        <p:grpSpPr>
          <a:xfrm>
            <a:off x="10466699" y="2351968"/>
            <a:ext cx="1483167" cy="559871"/>
            <a:chOff x="7857706" y="1990678"/>
            <a:chExt cx="1112375" cy="419903"/>
          </a:xfrm>
        </p:grpSpPr>
        <p:sp>
          <p:nvSpPr>
            <p:cNvPr id="13" name="Google Shape;519;p16">
              <a:extLst>
                <a:ext uri="{FF2B5EF4-FFF2-40B4-BE49-F238E27FC236}">
                  <a16:creationId xmlns:a16="http://schemas.microsoft.com/office/drawing/2014/main" id="{1B30DF1F-14F2-7D1A-DCBE-1B88B3762D69}"/>
                </a:ext>
              </a:extLst>
            </p:cNvPr>
            <p:cNvSpPr/>
            <p:nvPr/>
          </p:nvSpPr>
          <p:spPr>
            <a:xfrm>
              <a:off x="7857706" y="2008245"/>
              <a:ext cx="402336" cy="402336"/>
            </a:xfrm>
            <a:prstGeom prst="ellipse">
              <a:avLst/>
            </a:prstGeom>
            <a:solidFill>
              <a:srgbClr val="CCFBF1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4" name="Google Shape;520;p16" descr="preencoded.png">
              <a:extLst>
                <a:ext uri="{FF2B5EF4-FFF2-40B4-BE49-F238E27FC236}">
                  <a16:creationId xmlns:a16="http://schemas.microsoft.com/office/drawing/2014/main" id="{711B00F2-2DA1-72CF-6315-CC8BC0B05350}"/>
                </a:ext>
              </a:extLst>
            </p:cNvPr>
            <p:cNvPicPr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7958290" y="2108829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" name="Google Shape;521;p16">
              <a:extLst>
                <a:ext uri="{FF2B5EF4-FFF2-40B4-BE49-F238E27FC236}">
                  <a16:creationId xmlns:a16="http://schemas.microsoft.com/office/drawing/2014/main" id="{33C23A0D-7C89-F5B5-EE8B-51FFC57B8843}"/>
                </a:ext>
              </a:extLst>
            </p:cNvPr>
            <p:cNvSpPr/>
            <p:nvPr/>
          </p:nvSpPr>
          <p:spPr>
            <a:xfrm>
              <a:off x="8360626" y="1990678"/>
              <a:ext cx="609455" cy="4086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1200"/>
                <a:buFont typeface="Arial" panose="020B0604020202090204"/>
                <a:buNone/>
              </a:pPr>
              <a:r>
                <a:rPr lang="en-US" sz="1600" b="1" dirty="0" err="1">
                  <a:solidFill>
                    <a:srgbClr val="1D1D1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无干扰</a:t>
              </a:r>
              <a:endParaRPr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" name="Google Shape;522;p16">
            <a:extLst>
              <a:ext uri="{FF2B5EF4-FFF2-40B4-BE49-F238E27FC236}">
                <a16:creationId xmlns:a16="http://schemas.microsoft.com/office/drawing/2014/main" id="{6247FDA2-7CF4-674A-BE11-226A7F963387}"/>
              </a:ext>
            </a:extLst>
          </p:cNvPr>
          <p:cNvGrpSpPr/>
          <p:nvPr/>
        </p:nvGrpSpPr>
        <p:grpSpPr>
          <a:xfrm>
            <a:off x="10457313" y="3289544"/>
            <a:ext cx="1625171" cy="536448"/>
            <a:chOff x="7886118" y="2925456"/>
            <a:chExt cx="1218878" cy="402336"/>
          </a:xfrm>
        </p:grpSpPr>
        <p:sp>
          <p:nvSpPr>
            <p:cNvPr id="44" name="Google Shape;524;p16">
              <a:extLst>
                <a:ext uri="{FF2B5EF4-FFF2-40B4-BE49-F238E27FC236}">
                  <a16:creationId xmlns:a16="http://schemas.microsoft.com/office/drawing/2014/main" id="{01F11967-CD0E-17B0-87B8-106743059888}"/>
                </a:ext>
              </a:extLst>
            </p:cNvPr>
            <p:cNvSpPr/>
            <p:nvPr/>
          </p:nvSpPr>
          <p:spPr>
            <a:xfrm>
              <a:off x="7886118" y="2925456"/>
              <a:ext cx="402336" cy="402336"/>
            </a:xfrm>
            <a:prstGeom prst="ellipse">
              <a:avLst/>
            </a:prstGeom>
            <a:solidFill>
              <a:srgbClr val="E0E7FF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45" name="Google Shape;525;p16" descr="preencoded.png">
              <a:extLst>
                <a:ext uri="{FF2B5EF4-FFF2-40B4-BE49-F238E27FC236}">
                  <a16:creationId xmlns:a16="http://schemas.microsoft.com/office/drawing/2014/main" id="{3A5EAE7A-B275-97BE-B1E2-4C6E627B8BC8}"/>
                </a:ext>
              </a:extLst>
            </p:cNvPr>
            <p:cNvPicPr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7986702" y="3026040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" name="Google Shape;526;p16">
              <a:extLst>
                <a:ext uri="{FF2B5EF4-FFF2-40B4-BE49-F238E27FC236}">
                  <a16:creationId xmlns:a16="http://schemas.microsoft.com/office/drawing/2014/main" id="{A1004070-1355-0B85-E550-32CE083EB189}"/>
                </a:ext>
              </a:extLst>
            </p:cNvPr>
            <p:cNvSpPr/>
            <p:nvPr/>
          </p:nvSpPr>
          <p:spPr>
            <a:xfrm>
              <a:off x="8360628" y="2943586"/>
              <a:ext cx="744368" cy="32263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1200"/>
                <a:buFont typeface="Arial" panose="020B0604020202090204"/>
                <a:buNone/>
              </a:pPr>
              <a:r>
                <a:rPr lang="en-US" sz="1600" b="1" dirty="0" err="1">
                  <a:solidFill>
                    <a:srgbClr val="1D1D1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全局视野</a:t>
              </a:r>
              <a:endParaRPr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" name="Google Shape;527;p16">
            <a:extLst>
              <a:ext uri="{FF2B5EF4-FFF2-40B4-BE49-F238E27FC236}">
                <a16:creationId xmlns:a16="http://schemas.microsoft.com/office/drawing/2014/main" id="{D68EB303-6270-81A6-6241-A3ECE9F1D06E}"/>
              </a:ext>
            </a:extLst>
          </p:cNvPr>
          <p:cNvGrpSpPr/>
          <p:nvPr/>
        </p:nvGrpSpPr>
        <p:grpSpPr>
          <a:xfrm>
            <a:off x="10465396" y="4160744"/>
            <a:ext cx="1773493" cy="536448"/>
            <a:chOff x="7925395" y="3674928"/>
            <a:chExt cx="1330120" cy="402336"/>
          </a:xfrm>
        </p:grpSpPr>
        <p:sp>
          <p:nvSpPr>
            <p:cNvPr id="49" name="Google Shape;529;p16">
              <a:extLst>
                <a:ext uri="{FF2B5EF4-FFF2-40B4-BE49-F238E27FC236}">
                  <a16:creationId xmlns:a16="http://schemas.microsoft.com/office/drawing/2014/main" id="{34C8012F-F150-D69A-BE3E-29C74F7CEB73}"/>
                </a:ext>
              </a:extLst>
            </p:cNvPr>
            <p:cNvSpPr/>
            <p:nvPr/>
          </p:nvSpPr>
          <p:spPr>
            <a:xfrm>
              <a:off x="7925395" y="3674928"/>
              <a:ext cx="402336" cy="402336"/>
            </a:xfrm>
            <a:prstGeom prst="ellipse">
              <a:avLst/>
            </a:prstGeom>
            <a:solidFill>
              <a:srgbClr val="FEF3C7"/>
            </a:solidFill>
            <a:ln>
              <a:noFill/>
            </a:ln>
          </p:spPr>
          <p:txBody>
            <a:bodyPr spcFirstLastPara="1" wrap="square" lIns="121900" tIns="60933" rIns="121900" bIns="60933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50" name="Google Shape;530;p16" descr="preencoded.png">
              <a:extLst>
                <a:ext uri="{FF2B5EF4-FFF2-40B4-BE49-F238E27FC236}">
                  <a16:creationId xmlns:a16="http://schemas.microsoft.com/office/drawing/2014/main" id="{4A31447E-7BDE-C152-7B5A-BEE5054A5FB3}"/>
                </a:ext>
              </a:extLst>
            </p:cNvPr>
            <p:cNvPicPr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8025979" y="3775512"/>
              <a:ext cx="201168" cy="20116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" name="Google Shape;531;p16">
              <a:extLst>
                <a:ext uri="{FF2B5EF4-FFF2-40B4-BE49-F238E27FC236}">
                  <a16:creationId xmlns:a16="http://schemas.microsoft.com/office/drawing/2014/main" id="{3A244D19-41F0-F899-1AF5-9C339F4695FE}"/>
                </a:ext>
              </a:extLst>
            </p:cNvPr>
            <p:cNvSpPr/>
            <p:nvPr/>
          </p:nvSpPr>
          <p:spPr>
            <a:xfrm>
              <a:off x="8403389" y="3691219"/>
              <a:ext cx="852126" cy="3254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1D1F"/>
                </a:buClr>
                <a:buSzPts val="1200"/>
                <a:buFont typeface="Arial" panose="020B0604020202090204"/>
                <a:buNone/>
              </a:pPr>
              <a:r>
                <a:rPr lang="en-US" sz="1600" b="1" dirty="0" err="1">
                  <a:solidFill>
                    <a:srgbClr val="1D1D1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可被管理</a:t>
              </a:r>
              <a:endParaRPr lang="en-US" sz="1600" b="1" dirty="0">
                <a:solidFill>
                  <a:srgbClr val="1D1D1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5F4E9395-8A7B-443A-0832-D3BF644F7276}"/>
              </a:ext>
            </a:extLst>
          </p:cNvPr>
          <p:cNvSpPr>
            <a:spLocks noGrp="1"/>
          </p:cNvSpPr>
          <p:nvPr/>
        </p:nvSpPr>
        <p:spPr>
          <a:xfrm>
            <a:off x="666750" y="5513684"/>
            <a:ext cx="10858500" cy="385762"/>
          </a:xfrm>
          <a:prstGeom prst="roundRect">
            <a:avLst>
              <a:gd name="adj" fmla="val 27907"/>
            </a:avLst>
          </a:prstGeom>
          <a:solidFill>
            <a:srgbClr val="F1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 dirty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MP </a:t>
            </a:r>
            <a:r>
              <a:rPr lang="zh-CN" altLang="en-US" dirty="0"/>
              <a:t>模式</a:t>
            </a:r>
            <a:r>
              <a:rPr lang="zh-CN" altLang="en-US" sz="2800" b="1" i="0" dirty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通信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CF68A7E-4FB2-49F4-B1F8-2D7B2C045167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02    Multi-process </a:t>
            </a:r>
            <a:r>
              <a:rPr sz="120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模式架构</a:t>
            </a:r>
            <a:endParaRPr sz="1200" b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C8B59B39-2EC6-5E51-AC2C-C3F61DA9791E}"/>
              </a:ext>
            </a:extLst>
          </p:cNvPr>
          <p:cNvSpPr>
            <a:spLocks noGrp="1"/>
          </p:cNvSpPr>
          <p:nvPr/>
        </p:nvSpPr>
        <p:spPr>
          <a:xfrm>
            <a:off x="457200" y="1564727"/>
            <a:ext cx="2876550" cy="3591769"/>
          </a:xfrm>
          <a:prstGeom prst="roundRect">
            <a:avLst>
              <a:gd name="adj" fmla="val 3974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89290280-C789-765C-E09C-3E39D40E78CA}"/>
              </a:ext>
            </a:extLst>
          </p:cNvPr>
          <p:cNvSpPr>
            <a:spLocks noGrp="1"/>
          </p:cNvSpPr>
          <p:nvPr/>
        </p:nvSpPr>
        <p:spPr>
          <a:xfrm>
            <a:off x="8629650" y="1564727"/>
            <a:ext cx="3009900" cy="3591769"/>
          </a:xfrm>
          <a:prstGeom prst="roundRect">
            <a:avLst>
              <a:gd name="adj" fmla="val 3797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FCA1343-BE77-20A2-A3E3-B257DDC2E589}"/>
              </a:ext>
            </a:extLst>
          </p:cNvPr>
          <p:cNvSpPr>
            <a:spLocks noGrp="1"/>
          </p:cNvSpPr>
          <p:nvPr/>
        </p:nvSpPr>
        <p:spPr>
          <a:xfrm>
            <a:off x="793905" y="1713208"/>
            <a:ext cx="2533650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lang="zh-CN" altLang="en-US" sz="2175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推理</a:t>
            </a:r>
            <a:r>
              <a:rPr sz="2175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进程</a:t>
            </a:r>
            <a:endParaRPr sz="2175" b="1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92C1E103-E92C-F249-CDBE-431C5D277E6F}"/>
              </a:ext>
            </a:extLst>
          </p:cNvPr>
          <p:cNvSpPr>
            <a:spLocks noGrp="1"/>
          </p:cNvSpPr>
          <p:nvPr/>
        </p:nvSpPr>
        <p:spPr>
          <a:xfrm>
            <a:off x="8810625" y="1708446"/>
            <a:ext cx="2762250" cy="3905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LMCache</a:t>
            </a:r>
            <a:r>
              <a:rPr sz="2100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 Server</a:t>
            </a:r>
          </a:p>
        </p:txBody>
      </p:sp>
      <p:sp>
        <p:nvSpPr>
          <p:cNvPr id="25" name="圆角矩形 24">
            <a:extLst>
              <a:ext uri="{FF2B5EF4-FFF2-40B4-BE49-F238E27FC236}">
                <a16:creationId xmlns:a16="http://schemas.microsoft.com/office/drawing/2014/main" id="{284604AD-8C68-731E-0137-61E84F710765}"/>
              </a:ext>
            </a:extLst>
          </p:cNvPr>
          <p:cNvSpPr>
            <a:spLocks noGrp="1"/>
          </p:cNvSpPr>
          <p:nvPr/>
        </p:nvSpPr>
        <p:spPr>
          <a:xfrm>
            <a:off x="666750" y="2460921"/>
            <a:ext cx="2457450" cy="752475"/>
          </a:xfrm>
          <a:prstGeom prst="roundRect">
            <a:avLst>
              <a:gd name="adj" fmla="val 15190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D0BCC02-658F-9AA0-5C3A-E102B0562A34}"/>
              </a:ext>
            </a:extLst>
          </p:cNvPr>
          <p:cNvSpPr>
            <a:spLocks noGrp="1"/>
          </p:cNvSpPr>
          <p:nvPr/>
        </p:nvSpPr>
        <p:spPr>
          <a:xfrm>
            <a:off x="1019175" y="2660946"/>
            <a:ext cx="22098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lang="en-US" altLang="zh-CN" sz="2100" b="1" dirty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GPU</a:t>
            </a:r>
            <a:r>
              <a:rPr lang="zh-CN" altLang="en-US" sz="2100" b="1" dirty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lang="en-US" altLang="zh-CN" sz="2100" b="1" dirty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Buffer</a:t>
            </a:r>
            <a:endParaRPr sz="2100" b="1" dirty="0">
              <a:solidFill>
                <a:srgbClr val="FFFFFF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8C6FCAB9-C9B5-6BFB-6420-A2BE97A5417C}"/>
              </a:ext>
            </a:extLst>
          </p:cNvPr>
          <p:cNvSpPr>
            <a:spLocks noGrp="1"/>
          </p:cNvSpPr>
          <p:nvPr/>
        </p:nvSpPr>
        <p:spPr>
          <a:xfrm>
            <a:off x="8839200" y="2460921"/>
            <a:ext cx="2590800" cy="752475"/>
          </a:xfrm>
          <a:prstGeom prst="roundRect">
            <a:avLst>
              <a:gd name="adj" fmla="val 15190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16DD1EE-F6F3-4E55-94CE-7A088306AAFB}"/>
              </a:ext>
            </a:extLst>
          </p:cNvPr>
          <p:cNvSpPr>
            <a:spLocks noGrp="1"/>
          </p:cNvSpPr>
          <p:nvPr/>
        </p:nvSpPr>
        <p:spPr>
          <a:xfrm>
            <a:off x="9286875" y="2660946"/>
            <a:ext cx="214312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映射与调度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9546B75-6CCA-9020-397E-0BE81CF9048B}"/>
              </a:ext>
            </a:extLst>
          </p:cNvPr>
          <p:cNvSpPr>
            <a:spLocks noGrp="1"/>
          </p:cNvSpPr>
          <p:nvPr/>
        </p:nvSpPr>
        <p:spPr>
          <a:xfrm>
            <a:off x="4206875" y="1784646"/>
            <a:ext cx="410527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① </a:t>
            </a:r>
            <a:r>
              <a:rPr sz="1800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注册</a:t>
            </a:r>
            <a:r>
              <a:rPr sz="1800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 IPC handle</a:t>
            </a:r>
          </a:p>
        </p:txBody>
      </p:sp>
      <p:sp>
        <p:nvSpPr>
          <p:cNvPr id="30" name="右箭头 29">
            <a:extLst>
              <a:ext uri="{FF2B5EF4-FFF2-40B4-BE49-F238E27FC236}">
                <a16:creationId xmlns:a16="http://schemas.microsoft.com/office/drawing/2014/main" id="{1D294E50-5FF6-0469-B1E2-5B8B3D8CB34E}"/>
              </a:ext>
            </a:extLst>
          </p:cNvPr>
          <p:cNvSpPr>
            <a:spLocks noGrp="1"/>
          </p:cNvSpPr>
          <p:nvPr/>
        </p:nvSpPr>
        <p:spPr>
          <a:xfrm>
            <a:off x="3438525" y="2279946"/>
            <a:ext cx="5067300" cy="142875"/>
          </a:xfrm>
          <a:prstGeom prst="rightArrow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9ED8331-4EFA-9471-D6FE-CE1481A2985B}"/>
              </a:ext>
            </a:extLst>
          </p:cNvPr>
          <p:cNvSpPr>
            <a:spLocks noGrp="1"/>
          </p:cNvSpPr>
          <p:nvPr/>
        </p:nvSpPr>
        <p:spPr>
          <a:xfrm>
            <a:off x="4210050" y="2622846"/>
            <a:ext cx="42291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② ZMQ 控制消息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56AFBE8-98D5-8876-8A0A-F80147133F59}"/>
              </a:ext>
            </a:extLst>
          </p:cNvPr>
          <p:cNvSpPr>
            <a:spLocks noGrp="1"/>
          </p:cNvSpPr>
          <p:nvPr/>
        </p:nvSpPr>
        <p:spPr>
          <a:xfrm>
            <a:off x="4438650" y="2946696"/>
            <a:ext cx="39243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块标识 / 操作元数据</a:t>
            </a:r>
          </a:p>
        </p:txBody>
      </p:sp>
      <p:sp>
        <p:nvSpPr>
          <p:cNvPr id="33" name="右箭头 32">
            <a:extLst>
              <a:ext uri="{FF2B5EF4-FFF2-40B4-BE49-F238E27FC236}">
                <a16:creationId xmlns:a16="http://schemas.microsoft.com/office/drawing/2014/main" id="{0C55AD6E-7783-F735-014C-FC5152D97C13}"/>
              </a:ext>
            </a:extLst>
          </p:cNvPr>
          <p:cNvSpPr>
            <a:spLocks noGrp="1"/>
          </p:cNvSpPr>
          <p:nvPr/>
        </p:nvSpPr>
        <p:spPr>
          <a:xfrm>
            <a:off x="3438525" y="3327696"/>
            <a:ext cx="5067300" cy="142875"/>
          </a:xfrm>
          <a:prstGeom prst="rightArrow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AA247DDD-3AE5-B0FA-F582-6F32B526C583}"/>
              </a:ext>
            </a:extLst>
          </p:cNvPr>
          <p:cNvSpPr>
            <a:spLocks noGrp="1"/>
          </p:cNvSpPr>
          <p:nvPr/>
        </p:nvSpPr>
        <p:spPr>
          <a:xfrm>
            <a:off x="666750" y="4137321"/>
            <a:ext cx="2457450" cy="809625"/>
          </a:xfrm>
          <a:prstGeom prst="roundRect">
            <a:avLst>
              <a:gd name="adj" fmla="val 14118"/>
            </a:avLst>
          </a:prstGeom>
          <a:solidFill>
            <a:srgbClr val="FFF9EC"/>
          </a:solidFill>
          <a:ln w="14288">
            <a:solidFill>
              <a:srgbClr val="E4D5B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54B949C-47F0-2D13-D5CD-0183B6B1441F}"/>
              </a:ext>
            </a:extLst>
          </p:cNvPr>
          <p:cNvSpPr>
            <a:spLocks noGrp="1"/>
          </p:cNvSpPr>
          <p:nvPr/>
        </p:nvSpPr>
        <p:spPr>
          <a:xfrm>
            <a:off x="1057275" y="4356396"/>
            <a:ext cx="20859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lang="en-US" altLang="zh-CN" sz="2175" b="1" dirty="0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Connector</a:t>
            </a:r>
            <a:endParaRPr sz="2175" b="1" dirty="0">
              <a:solidFill>
                <a:srgbClr val="B18B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76022778-5E1E-5DFA-05E9-7AF8967A0241}"/>
              </a:ext>
            </a:extLst>
          </p:cNvPr>
          <p:cNvSpPr>
            <a:spLocks noGrp="1"/>
          </p:cNvSpPr>
          <p:nvPr/>
        </p:nvSpPr>
        <p:spPr>
          <a:xfrm>
            <a:off x="8839200" y="4137321"/>
            <a:ext cx="2590800" cy="809625"/>
          </a:xfrm>
          <a:prstGeom prst="roundRect">
            <a:avLst>
              <a:gd name="adj" fmla="val 14118"/>
            </a:avLst>
          </a:prstGeom>
          <a:solidFill>
            <a:srgbClr val="FFF9EC"/>
          </a:solidFill>
          <a:ln w="14288">
            <a:solidFill>
              <a:srgbClr val="E4D5B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26F8F47-8C39-8FE9-47FF-E16FE3372A8C}"/>
              </a:ext>
            </a:extLst>
          </p:cNvPr>
          <p:cNvSpPr>
            <a:spLocks noGrp="1"/>
          </p:cNvSpPr>
          <p:nvPr/>
        </p:nvSpPr>
        <p:spPr>
          <a:xfrm>
            <a:off x="9534525" y="4280196"/>
            <a:ext cx="168592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CPU KV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EC3004F-B166-B6E6-4F9E-F279B3857019}"/>
              </a:ext>
            </a:extLst>
          </p:cNvPr>
          <p:cNvSpPr>
            <a:spLocks noGrp="1"/>
          </p:cNvSpPr>
          <p:nvPr/>
        </p:nvSpPr>
        <p:spPr>
          <a:xfrm>
            <a:off x="9610725" y="4642146"/>
            <a:ext cx="16383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0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后端 I/O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5FCEF8A-4A87-A623-75E0-A19E6084C33B}"/>
              </a:ext>
            </a:extLst>
          </p:cNvPr>
          <p:cNvSpPr>
            <a:spLocks noGrp="1"/>
          </p:cNvSpPr>
          <p:nvPr/>
        </p:nvSpPr>
        <p:spPr>
          <a:xfrm>
            <a:off x="4214812" y="3899196"/>
            <a:ext cx="402907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1" dirty="0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③ KV </a:t>
            </a:r>
            <a:r>
              <a:rPr sz="1950" b="1" dirty="0" err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张量搬运</a:t>
            </a:r>
            <a:endParaRPr sz="1950" b="1" dirty="0">
              <a:solidFill>
                <a:srgbClr val="B18B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0" name="右箭头 39">
            <a:extLst>
              <a:ext uri="{FF2B5EF4-FFF2-40B4-BE49-F238E27FC236}">
                <a16:creationId xmlns:a16="http://schemas.microsoft.com/office/drawing/2014/main" id="{8DFF5ECB-AAA2-152F-A983-15F009B04A2F}"/>
              </a:ext>
            </a:extLst>
          </p:cNvPr>
          <p:cNvSpPr>
            <a:spLocks noGrp="1"/>
          </p:cNvSpPr>
          <p:nvPr/>
        </p:nvSpPr>
        <p:spPr>
          <a:xfrm>
            <a:off x="3438525" y="4337346"/>
            <a:ext cx="5067300" cy="152400"/>
          </a:xfrm>
          <a:prstGeom prst="rightArrow">
            <a:avLst/>
          </a:prstGeom>
          <a:solidFill>
            <a:srgbClr val="B18B4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左箭头 40">
            <a:extLst>
              <a:ext uri="{FF2B5EF4-FFF2-40B4-BE49-F238E27FC236}">
                <a16:creationId xmlns:a16="http://schemas.microsoft.com/office/drawing/2014/main" id="{86F9E684-A91B-3CC7-B539-3032EC8DF0D8}"/>
              </a:ext>
            </a:extLst>
          </p:cNvPr>
          <p:cNvSpPr>
            <a:spLocks noGrp="1"/>
          </p:cNvSpPr>
          <p:nvPr/>
        </p:nvSpPr>
        <p:spPr>
          <a:xfrm>
            <a:off x="3438525" y="4613571"/>
            <a:ext cx="5067300" cy="152400"/>
          </a:xfrm>
          <a:prstGeom prst="leftArrow">
            <a:avLst/>
          </a:prstGeom>
          <a:solidFill>
            <a:srgbClr val="B18B4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9C09123-97D5-4F52-C83E-F5DC4E34074E}"/>
              </a:ext>
            </a:extLst>
          </p:cNvPr>
          <p:cNvSpPr>
            <a:spLocks noGrp="1"/>
          </p:cNvSpPr>
          <p:nvPr/>
        </p:nvSpPr>
        <p:spPr>
          <a:xfrm>
            <a:off x="4204016" y="4733019"/>
            <a:ext cx="3168333" cy="30441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0" dirty="0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D2H / H2D</a:t>
            </a:r>
            <a:r>
              <a:rPr lang="zh-CN" altLang="en-US" sz="1650" b="0" dirty="0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在</a:t>
            </a:r>
            <a:r>
              <a:rPr lang="en-US" altLang="zh-CN" sz="1650" b="0" dirty="0" err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LMCache</a:t>
            </a:r>
            <a:r>
              <a:rPr lang="zh-CN" altLang="en-US" sz="1650" b="0" dirty="0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中完成</a:t>
            </a:r>
            <a:endParaRPr sz="1650" b="0" dirty="0">
              <a:solidFill>
                <a:srgbClr val="B18B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3" name="左箭头 42">
            <a:extLst>
              <a:ext uri="{FF2B5EF4-FFF2-40B4-BE49-F238E27FC236}">
                <a16:creationId xmlns:a16="http://schemas.microsoft.com/office/drawing/2014/main" id="{A5B08F0E-C5C8-5FF8-60EA-44DB2605CE20}"/>
              </a:ext>
            </a:extLst>
          </p:cNvPr>
          <p:cNvSpPr>
            <a:spLocks noGrp="1"/>
          </p:cNvSpPr>
          <p:nvPr/>
        </p:nvSpPr>
        <p:spPr>
          <a:xfrm>
            <a:off x="3438525" y="3670596"/>
            <a:ext cx="5067300" cy="114300"/>
          </a:xfrm>
          <a:prstGeom prst="leftArrow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E7BDA3C-F76B-F4F4-FCC3-4AE5F8A1056A}"/>
              </a:ext>
            </a:extLst>
          </p:cNvPr>
          <p:cNvSpPr>
            <a:spLocks noGrp="1"/>
          </p:cNvSpPr>
          <p:nvPr/>
        </p:nvSpPr>
        <p:spPr>
          <a:xfrm>
            <a:off x="5086350" y="3422946"/>
            <a:ext cx="22860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完成通知</a:t>
            </a:r>
          </a:p>
        </p:txBody>
      </p:sp>
      <p:sp>
        <p:nvSpPr>
          <p:cNvPr id="3" name="AutoShape 18">
            <a:extLst>
              <a:ext uri="{FF2B5EF4-FFF2-40B4-BE49-F238E27FC236}">
                <a16:creationId xmlns:a16="http://schemas.microsoft.com/office/drawing/2014/main" id="{75101E0D-CCDA-0CBC-E90A-1B6BCD0E0D56}"/>
              </a:ext>
            </a:extLst>
          </p:cNvPr>
          <p:cNvSpPr/>
          <p:nvPr/>
        </p:nvSpPr>
        <p:spPr>
          <a:xfrm>
            <a:off x="1279801" y="5521282"/>
            <a:ext cx="2470150" cy="404812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零拷贝共享</a:t>
            </a:r>
            <a:r>
              <a:rPr 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 (Zero-Copy)</a:t>
            </a:r>
            <a:endParaRPr lang="en-US" sz="1200" dirty="0"/>
          </a:p>
        </p:txBody>
      </p:sp>
      <p:sp>
        <p:nvSpPr>
          <p:cNvPr id="5" name="AutoShape 21">
            <a:extLst>
              <a:ext uri="{FF2B5EF4-FFF2-40B4-BE49-F238E27FC236}">
                <a16:creationId xmlns:a16="http://schemas.microsoft.com/office/drawing/2014/main" id="{16511135-2D07-5DDC-7086-BAF2D674A3A9}"/>
              </a:ext>
            </a:extLst>
          </p:cNvPr>
          <p:cNvSpPr/>
          <p:nvPr/>
        </p:nvSpPr>
        <p:spPr>
          <a:xfrm>
            <a:off x="4869513" y="5521282"/>
            <a:ext cx="2039159" cy="3492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轻量元数据通信</a:t>
            </a:r>
            <a:endParaRPr lang="en-US" sz="1200" dirty="0"/>
          </a:p>
        </p:txBody>
      </p:sp>
      <p:sp>
        <p:nvSpPr>
          <p:cNvPr id="7" name="AutoShape 24">
            <a:extLst>
              <a:ext uri="{FF2B5EF4-FFF2-40B4-BE49-F238E27FC236}">
                <a16:creationId xmlns:a16="http://schemas.microsoft.com/office/drawing/2014/main" id="{C53D660C-641B-360B-C0E5-0EE0B37BD07D}"/>
              </a:ext>
            </a:extLst>
          </p:cNvPr>
          <p:cNvSpPr/>
          <p:nvPr/>
        </p:nvSpPr>
        <p:spPr>
          <a:xfrm>
            <a:off x="8718984" y="5521282"/>
            <a:ext cx="1796734" cy="349207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en-US" sz="1600" b="1" i="0" u="none" strike="noStrike" dirty="0" err="1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本地化高效传输</a:t>
            </a:r>
            <a:endParaRPr lang="en-US" sz="1200" dirty="0"/>
          </a:p>
        </p:txBody>
      </p:sp>
      <p:pic>
        <p:nvPicPr>
          <p:cNvPr id="8" name="Graphic 438">
            <a:extLst>
              <a:ext uri="{FF2B5EF4-FFF2-40B4-BE49-F238E27FC236}">
                <a16:creationId xmlns:a16="http://schemas.microsoft.com/office/drawing/2014/main" id="{13F5D10E-B9D4-0EB8-7DB0-91F4BED655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7863" y="5578224"/>
            <a:ext cx="304800" cy="304800"/>
          </a:xfrm>
          <a:prstGeom prst="rect">
            <a:avLst/>
          </a:prstGeom>
        </p:spPr>
      </p:pic>
      <p:pic>
        <p:nvPicPr>
          <p:cNvPr id="11" name="Graphic 439">
            <a:extLst>
              <a:ext uri="{FF2B5EF4-FFF2-40B4-BE49-F238E27FC236}">
                <a16:creationId xmlns:a16="http://schemas.microsoft.com/office/drawing/2014/main" id="{A8B93B5C-897F-612B-CC83-CBBBFFD56E0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1934" y="5594958"/>
            <a:ext cx="304800" cy="304800"/>
          </a:xfrm>
          <a:prstGeom prst="rect">
            <a:avLst/>
          </a:prstGeom>
        </p:spPr>
      </p:pic>
      <p:pic>
        <p:nvPicPr>
          <p:cNvPr id="12" name="Graphic 441">
            <a:extLst>
              <a:ext uri="{FF2B5EF4-FFF2-40B4-BE49-F238E27FC236}">
                <a16:creationId xmlns:a16="http://schemas.microsoft.com/office/drawing/2014/main" id="{83E68CBB-44CD-C4B5-6712-86DDD81E2B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0531" y="5611026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0035B-3378-C739-1E89-A1251979A3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圆角矩形 34">
            <a:extLst>
              <a:ext uri="{FF2B5EF4-FFF2-40B4-BE49-F238E27FC236}">
                <a16:creationId xmlns:a16="http://schemas.microsoft.com/office/drawing/2014/main" id="{22502DD6-6A8A-BA6B-31C4-CD00DB8430CA}"/>
              </a:ext>
            </a:extLst>
          </p:cNvPr>
          <p:cNvSpPr>
            <a:spLocks noGrp="1"/>
          </p:cNvSpPr>
          <p:nvPr/>
        </p:nvSpPr>
        <p:spPr>
          <a:xfrm>
            <a:off x="1933173" y="5899150"/>
            <a:ext cx="8582025" cy="409575"/>
          </a:xfrm>
          <a:prstGeom prst="roundRect">
            <a:avLst>
              <a:gd name="adj" fmla="val 27907"/>
            </a:avLst>
          </a:prstGeom>
          <a:solidFill>
            <a:srgbClr val="F2F6F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A6ABB527-E419-5027-E023-3A8AA6EDAD4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 dirty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MP 模式架构收益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F02FD2-6559-F562-2B72-A9116447A942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02    Multi-process </a:t>
            </a:r>
            <a:r>
              <a:rPr sz="120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模式架</a:t>
            </a:r>
            <a:r>
              <a:rPr lang="zh-CN" altLang="en-US" sz="1200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构</a:t>
            </a:r>
            <a:endParaRPr sz="1200" b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67" name="AutoShape 12">
            <a:extLst>
              <a:ext uri="{FF2B5EF4-FFF2-40B4-BE49-F238E27FC236}">
                <a16:creationId xmlns:a16="http://schemas.microsoft.com/office/drawing/2014/main" id="{6AB09EAF-FCBB-3180-A48C-75A8C8183E29}"/>
              </a:ext>
            </a:extLst>
          </p:cNvPr>
          <p:cNvSpPr/>
          <p:nvPr/>
        </p:nvSpPr>
        <p:spPr>
          <a:xfrm>
            <a:off x="2192204" y="58293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25000"/>
              </a:lnSpc>
              <a:defRPr sz="1425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lang="en-US" sz="1425" dirty="0" err="1">
                <a:solidFill>
                  <a:srgbClr val="285091"/>
                </a:solidFill>
                <a:ea typeface="Source Han Sans CN"/>
                <a:sym typeface="Noto Sans SC"/>
              </a:rPr>
              <a:t>架构革新：将</a:t>
            </a:r>
            <a:r>
              <a:rPr lang="en-US" sz="1425" dirty="0">
                <a:solidFill>
                  <a:srgbClr val="285091"/>
                </a:solidFill>
                <a:ea typeface="Source Han Sans CN"/>
                <a:sym typeface="Noto Sans SC"/>
              </a:rPr>
              <a:t> </a:t>
            </a:r>
            <a:r>
              <a:rPr lang="en-US" sz="1425" dirty="0" err="1">
                <a:solidFill>
                  <a:srgbClr val="285091"/>
                </a:solidFill>
                <a:ea typeface="Source Han Sans CN"/>
                <a:sym typeface="Noto Sans SC"/>
              </a:rPr>
              <a:t>KVCache</a:t>
            </a:r>
            <a:r>
              <a:rPr lang="en-US" sz="1425" dirty="0">
                <a:solidFill>
                  <a:srgbClr val="285091"/>
                </a:solidFill>
                <a:ea typeface="Source Han Sans CN"/>
                <a:sym typeface="Noto Sans SC"/>
              </a:rPr>
              <a:t> </a:t>
            </a:r>
            <a:r>
              <a:rPr lang="en-US" sz="1425" dirty="0" err="1">
                <a:solidFill>
                  <a:srgbClr val="285091"/>
                </a:solidFill>
                <a:ea typeface="Source Han Sans CN"/>
                <a:sym typeface="Noto Sans SC"/>
              </a:rPr>
              <a:t>管理从推理进程中剥离，实现计算与存储的物理隔离，彻底解决资源争抢问题</a:t>
            </a:r>
            <a:r>
              <a:rPr lang="en-US" sz="1425" dirty="0">
                <a:solidFill>
                  <a:srgbClr val="285091"/>
                </a:solidFill>
                <a:ea typeface="Source Han Sans CN"/>
                <a:sym typeface="Noto Sans SC"/>
              </a:rPr>
              <a:t>。</a:t>
            </a:r>
            <a:endParaRPr lang="en-US" sz="1425" dirty="0">
              <a:solidFill>
                <a:srgbClr val="285091"/>
              </a:solidFill>
              <a:ea typeface="Source Han Sans CN"/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7A19FF8C-5AC4-9130-22F3-1E0A1743724B}"/>
              </a:ext>
            </a:extLst>
          </p:cNvPr>
          <p:cNvSpPr>
            <a:spLocks noGrp="1"/>
          </p:cNvSpPr>
          <p:nvPr/>
        </p:nvSpPr>
        <p:spPr>
          <a:xfrm>
            <a:off x="3057525" y="1457325"/>
            <a:ext cx="2619375" cy="695325"/>
          </a:xfrm>
          <a:prstGeom prst="roundRect">
            <a:avLst>
              <a:gd name="adj" fmla="val 16438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98D8201-6F5C-76EC-3A6B-08025B890437}"/>
              </a:ext>
            </a:extLst>
          </p:cNvPr>
          <p:cNvSpPr>
            <a:spLocks noGrp="1"/>
          </p:cNvSpPr>
          <p:nvPr/>
        </p:nvSpPr>
        <p:spPr>
          <a:xfrm>
            <a:off x="3271837" y="1472216"/>
            <a:ext cx="261937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lang="en-US" altLang="zh-CN" sz="2100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vLLM</a:t>
            </a:r>
            <a:r>
              <a:rPr lang="zh-CN" altLang="en-US" sz="2100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sz="2100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Worker 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0621B96-9A5B-0AF5-404D-45FD94A09504}"/>
              </a:ext>
            </a:extLst>
          </p:cNvPr>
          <p:cNvSpPr>
            <a:spLocks noGrp="1"/>
          </p:cNvSpPr>
          <p:nvPr/>
        </p:nvSpPr>
        <p:spPr>
          <a:xfrm>
            <a:off x="3998085" y="1861668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350" b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进程</a:t>
            </a:r>
            <a:r>
              <a:rPr sz="1350" b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A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F78581-4AD6-D7F6-2F12-9BCB3821C27A}"/>
              </a:ext>
            </a:extLst>
          </p:cNvPr>
          <p:cNvSpPr>
            <a:spLocks noGrp="1"/>
          </p:cNvSpPr>
          <p:nvPr/>
        </p:nvSpPr>
        <p:spPr>
          <a:xfrm>
            <a:off x="4352925" y="2152650"/>
            <a:ext cx="28575" cy="27622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75250EB2-F4D5-927B-ED37-669570A5E575}"/>
              </a:ext>
            </a:extLst>
          </p:cNvPr>
          <p:cNvSpPr>
            <a:spLocks noGrp="1"/>
          </p:cNvSpPr>
          <p:nvPr/>
        </p:nvSpPr>
        <p:spPr>
          <a:xfrm>
            <a:off x="6534150" y="1457325"/>
            <a:ext cx="2619375" cy="695325"/>
          </a:xfrm>
          <a:prstGeom prst="roundRect">
            <a:avLst>
              <a:gd name="adj" fmla="val 16438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D63CA7-5377-5A56-2034-8ECF2F788895}"/>
              </a:ext>
            </a:extLst>
          </p:cNvPr>
          <p:cNvSpPr>
            <a:spLocks noGrp="1"/>
          </p:cNvSpPr>
          <p:nvPr/>
        </p:nvSpPr>
        <p:spPr>
          <a:xfrm>
            <a:off x="6734175" y="1466850"/>
            <a:ext cx="24574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lang="en-US" altLang="zh-CN" sz="2100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vLLM</a:t>
            </a:r>
            <a:r>
              <a:rPr lang="zh-CN" altLang="en-US" sz="2100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sz="2100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Worker 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7410C2-27A9-0FD4-49E7-3AFF03DD9826}"/>
              </a:ext>
            </a:extLst>
          </p:cNvPr>
          <p:cNvSpPr>
            <a:spLocks noGrp="1"/>
          </p:cNvSpPr>
          <p:nvPr/>
        </p:nvSpPr>
        <p:spPr>
          <a:xfrm>
            <a:off x="7519670" y="1849662"/>
            <a:ext cx="13335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350" b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进程</a:t>
            </a:r>
            <a:r>
              <a:rPr sz="1350" b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B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924E770-D9E6-71CD-C999-73DBE13D5EFD}"/>
              </a:ext>
            </a:extLst>
          </p:cNvPr>
          <p:cNvSpPr>
            <a:spLocks noGrp="1"/>
          </p:cNvSpPr>
          <p:nvPr/>
        </p:nvSpPr>
        <p:spPr>
          <a:xfrm>
            <a:off x="7829550" y="2152650"/>
            <a:ext cx="28575" cy="27622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8ED400-4C3C-8B22-F942-42AD62687F21}"/>
              </a:ext>
            </a:extLst>
          </p:cNvPr>
          <p:cNvSpPr>
            <a:spLocks noGrp="1"/>
          </p:cNvSpPr>
          <p:nvPr/>
        </p:nvSpPr>
        <p:spPr>
          <a:xfrm>
            <a:off x="4352925" y="2409825"/>
            <a:ext cx="3514725" cy="2857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0022FE9-2482-27E6-F218-06E225AB6565}"/>
              </a:ext>
            </a:extLst>
          </p:cNvPr>
          <p:cNvSpPr>
            <a:spLocks noGrp="1"/>
          </p:cNvSpPr>
          <p:nvPr/>
        </p:nvSpPr>
        <p:spPr>
          <a:xfrm>
            <a:off x="6096000" y="2428875"/>
            <a:ext cx="28575" cy="29527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3B577BB-7DF6-FD26-6AB8-2CECD490D0B1}"/>
              </a:ext>
            </a:extLst>
          </p:cNvPr>
          <p:cNvSpPr>
            <a:spLocks noGrp="1"/>
          </p:cNvSpPr>
          <p:nvPr/>
        </p:nvSpPr>
        <p:spPr>
          <a:xfrm>
            <a:off x="6315075" y="2447925"/>
            <a:ext cx="3228975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417AA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417AAB"/>
                </a:solidFill>
                <a:latin typeface="Source Han Sans CN"/>
                <a:ea typeface="Source Han Sans CN"/>
                <a:cs typeface="Source Han Sans CN"/>
              </a:rPr>
              <a:t>ZMQ 控制通信</a:t>
            </a:r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EAEEF711-8512-2768-497C-6BFB2C92D143}"/>
              </a:ext>
            </a:extLst>
          </p:cNvPr>
          <p:cNvSpPr>
            <a:spLocks noGrp="1"/>
          </p:cNvSpPr>
          <p:nvPr/>
        </p:nvSpPr>
        <p:spPr>
          <a:xfrm>
            <a:off x="3057525" y="2743200"/>
            <a:ext cx="6096000" cy="1028700"/>
          </a:xfrm>
          <a:prstGeom prst="roundRect">
            <a:avLst>
              <a:gd name="adj" fmla="val 11111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A8D9E68-434A-D558-8678-694E4A24FC8D}"/>
              </a:ext>
            </a:extLst>
          </p:cNvPr>
          <p:cNvSpPr>
            <a:spLocks noGrp="1"/>
          </p:cNvSpPr>
          <p:nvPr/>
        </p:nvSpPr>
        <p:spPr>
          <a:xfrm>
            <a:off x="4581525" y="2857500"/>
            <a:ext cx="444817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7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LMCache MP Server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8268AFE-52EF-1091-8DC3-18883A9BAF45}"/>
              </a:ext>
            </a:extLst>
          </p:cNvPr>
          <p:cNvSpPr>
            <a:spLocks noGrp="1"/>
          </p:cNvSpPr>
          <p:nvPr/>
        </p:nvSpPr>
        <p:spPr>
          <a:xfrm>
            <a:off x="4400550" y="3362325"/>
            <a:ext cx="46672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集中式 KV 管理 / 跨进程共享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94DE510-5ECB-0451-CF04-FCC129F41A50}"/>
              </a:ext>
            </a:extLst>
          </p:cNvPr>
          <p:cNvSpPr>
            <a:spLocks noGrp="1"/>
          </p:cNvSpPr>
          <p:nvPr/>
        </p:nvSpPr>
        <p:spPr>
          <a:xfrm>
            <a:off x="6096000" y="3771900"/>
            <a:ext cx="28575" cy="228600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0AE15DC-0218-D974-3247-6F937D369636}"/>
              </a:ext>
            </a:extLst>
          </p:cNvPr>
          <p:cNvSpPr>
            <a:spLocks noGrp="1"/>
          </p:cNvSpPr>
          <p:nvPr/>
        </p:nvSpPr>
        <p:spPr>
          <a:xfrm>
            <a:off x="2247900" y="3981450"/>
            <a:ext cx="7667625" cy="2857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AFE059-9246-0992-13BE-1AEDC4D325F9}"/>
              </a:ext>
            </a:extLst>
          </p:cNvPr>
          <p:cNvSpPr>
            <a:spLocks noGrp="1"/>
          </p:cNvSpPr>
          <p:nvPr/>
        </p:nvSpPr>
        <p:spPr>
          <a:xfrm>
            <a:off x="2238375" y="4000500"/>
            <a:ext cx="28575" cy="190500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DAD1D4DD-18BE-19A0-51E2-5BED5460D1B1}"/>
              </a:ext>
            </a:extLst>
          </p:cNvPr>
          <p:cNvSpPr>
            <a:spLocks noGrp="1"/>
          </p:cNvSpPr>
          <p:nvPr/>
        </p:nvSpPr>
        <p:spPr>
          <a:xfrm>
            <a:off x="495300" y="4200525"/>
            <a:ext cx="3524250" cy="1323975"/>
          </a:xfrm>
          <a:prstGeom prst="roundRect">
            <a:avLst>
              <a:gd name="adj" fmla="val 8633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EE24980-A224-DFCE-3829-7CBD829AEFBF}"/>
              </a:ext>
            </a:extLst>
          </p:cNvPr>
          <p:cNvSpPr>
            <a:spLocks noGrp="1"/>
          </p:cNvSpPr>
          <p:nvPr/>
        </p:nvSpPr>
        <p:spPr>
          <a:xfrm>
            <a:off x="695325" y="4305300"/>
            <a:ext cx="324802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01  性能与复用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EFD26E-CD42-F6E3-86A5-D6C13BBD37AF}"/>
              </a:ext>
            </a:extLst>
          </p:cNvPr>
          <p:cNvSpPr>
            <a:spLocks noGrp="1"/>
          </p:cNvSpPr>
          <p:nvPr/>
        </p:nvSpPr>
        <p:spPr>
          <a:xfrm>
            <a:off x="695325" y="4762500"/>
            <a:ext cx="32004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节点内共享，隔离 Python 运行时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DB763D1-237B-2509-C5BF-2DB512D0F8D3}"/>
              </a:ext>
            </a:extLst>
          </p:cNvPr>
          <p:cNvSpPr>
            <a:spLocks noGrp="1"/>
          </p:cNvSpPr>
          <p:nvPr/>
        </p:nvSpPr>
        <p:spPr>
          <a:xfrm>
            <a:off x="695325" y="5162550"/>
            <a:ext cx="32004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多级缓存并行加载与拼接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587B6A3-B6A6-E644-A9E8-5B5E72A4B0F1}"/>
              </a:ext>
            </a:extLst>
          </p:cNvPr>
          <p:cNvSpPr>
            <a:spLocks noGrp="1"/>
          </p:cNvSpPr>
          <p:nvPr/>
        </p:nvSpPr>
        <p:spPr>
          <a:xfrm>
            <a:off x="6096000" y="3990975"/>
            <a:ext cx="28575" cy="190500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9DBBBFA5-449D-2CF9-A345-0813A034CEEC}"/>
              </a:ext>
            </a:extLst>
          </p:cNvPr>
          <p:cNvSpPr>
            <a:spLocks noGrp="1"/>
          </p:cNvSpPr>
          <p:nvPr/>
        </p:nvSpPr>
        <p:spPr>
          <a:xfrm>
            <a:off x="4324350" y="4200525"/>
            <a:ext cx="3524250" cy="1323975"/>
          </a:xfrm>
          <a:prstGeom prst="roundRect">
            <a:avLst>
              <a:gd name="adj" fmla="val 8633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BA187D2-1B0A-2C4A-5A63-F547C2430CE5}"/>
              </a:ext>
            </a:extLst>
          </p:cNvPr>
          <p:cNvSpPr>
            <a:spLocks noGrp="1"/>
          </p:cNvSpPr>
          <p:nvPr/>
        </p:nvSpPr>
        <p:spPr>
          <a:xfrm>
            <a:off x="4524375" y="4305300"/>
            <a:ext cx="324802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02  管理与运维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8D5E638-05D8-B2A5-5A9A-C11782339322}"/>
              </a:ext>
            </a:extLst>
          </p:cNvPr>
          <p:cNvSpPr>
            <a:spLocks noGrp="1"/>
          </p:cNvSpPr>
          <p:nvPr/>
        </p:nvSpPr>
        <p:spPr>
          <a:xfrm>
            <a:off x="4524375" y="4762500"/>
            <a:ext cx="32004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集中监控与管理接口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42A1937-9773-C91A-DA44-9626043C179A}"/>
              </a:ext>
            </a:extLst>
          </p:cNvPr>
          <p:cNvSpPr>
            <a:spLocks noGrp="1"/>
          </p:cNvSpPr>
          <p:nvPr/>
        </p:nvSpPr>
        <p:spPr>
          <a:xfrm>
            <a:off x="4524375" y="5162550"/>
            <a:ext cx="32004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独立故障边界与恢复验证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D821FEF-F7DD-FFC3-C1B1-4BD44770597A}"/>
              </a:ext>
            </a:extLst>
          </p:cNvPr>
          <p:cNvSpPr>
            <a:spLocks noGrp="1"/>
          </p:cNvSpPr>
          <p:nvPr/>
        </p:nvSpPr>
        <p:spPr>
          <a:xfrm>
            <a:off x="9896475" y="4000500"/>
            <a:ext cx="28575" cy="190500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AE5441C1-4FFD-B79F-0380-1E1C446D6F5A}"/>
              </a:ext>
            </a:extLst>
          </p:cNvPr>
          <p:cNvSpPr>
            <a:spLocks noGrp="1"/>
          </p:cNvSpPr>
          <p:nvPr/>
        </p:nvSpPr>
        <p:spPr>
          <a:xfrm>
            <a:off x="8153400" y="4200525"/>
            <a:ext cx="3524250" cy="1323975"/>
          </a:xfrm>
          <a:prstGeom prst="roundRect">
            <a:avLst>
              <a:gd name="adj" fmla="val 8633"/>
            </a:avLst>
          </a:prstGeom>
          <a:solidFill>
            <a:srgbClr val="FFF9EC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DBB06AF-5B3D-FA49-AF39-223516BFE602}"/>
              </a:ext>
            </a:extLst>
          </p:cNvPr>
          <p:cNvSpPr>
            <a:spLocks noGrp="1"/>
          </p:cNvSpPr>
          <p:nvPr/>
        </p:nvSpPr>
        <p:spPr>
          <a:xfrm>
            <a:off x="8353425" y="4305300"/>
            <a:ext cx="324802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03  扩展与集成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FA2333D-9B03-8126-0B73-6D39C6223845}"/>
              </a:ext>
            </a:extLst>
          </p:cNvPr>
          <p:cNvSpPr>
            <a:spLocks noGrp="1"/>
          </p:cNvSpPr>
          <p:nvPr/>
        </p:nvSpPr>
        <p:spPr>
          <a:xfrm>
            <a:off x="8353425" y="4762500"/>
            <a:ext cx="320040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引擎 / 存储 / 设备插件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664BEC7-B49A-2E60-B886-7DE864505032}"/>
              </a:ext>
            </a:extLst>
          </p:cNvPr>
          <p:cNvSpPr>
            <a:spLocks noGrp="1"/>
          </p:cNvSpPr>
          <p:nvPr/>
        </p:nvSpPr>
        <p:spPr>
          <a:xfrm>
            <a:off x="8353425" y="5162550"/>
            <a:ext cx="320040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沿接口边界独立演进</a:t>
            </a:r>
          </a:p>
        </p:txBody>
      </p:sp>
    </p:spTree>
    <p:extLst>
      <p:ext uri="{BB962C8B-B14F-4D97-AF65-F5344CB8AC3E}">
        <p14:creationId xmlns:p14="http://schemas.microsoft.com/office/powerpoint/2010/main" val="1919394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48A16-2875-8D3F-D04E-E83D104A7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3">
            <a:extLst>
              <a:ext uri="{FF2B5EF4-FFF2-40B4-BE49-F238E27FC236}">
                <a16:creationId xmlns:a16="http://schemas.microsoft.com/office/drawing/2014/main" id="{28B00946-53B5-7647-9EB1-A1090B4503F0}"/>
              </a:ext>
            </a:extLst>
          </p:cNvPr>
          <p:cNvGrpSpPr/>
          <p:nvPr/>
        </p:nvGrpSpPr>
        <p:grpSpPr>
          <a:xfrm>
            <a:off x="1748367" y="2996671"/>
            <a:ext cx="2120900" cy="864658"/>
            <a:chOff x="657" y="7220"/>
            <a:chExt cx="2721" cy="794"/>
          </a:xfrm>
        </p:grpSpPr>
        <p:sp>
          <p:nvSpPr>
            <p:cNvPr id="3" name="矩形 64">
              <a:extLst>
                <a:ext uri="{FF2B5EF4-FFF2-40B4-BE49-F238E27FC236}">
                  <a16:creationId xmlns:a16="http://schemas.microsoft.com/office/drawing/2014/main" id="{64A9CFAB-000E-F2A0-E68C-EFA47C73152E}"/>
                </a:ext>
              </a:extLst>
            </p:cNvPr>
            <p:cNvSpPr/>
            <p:nvPr userDrawn="1"/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4" name="单圆角矩形 65">
              <a:extLst>
                <a:ext uri="{FF2B5EF4-FFF2-40B4-BE49-F238E27FC236}">
                  <a16:creationId xmlns:a16="http://schemas.microsoft.com/office/drawing/2014/main" id="{D9093334-B247-2C15-BF51-B07FAD0D82E1}"/>
                </a:ext>
              </a:extLst>
            </p:cNvPr>
            <p:cNvSpPr/>
            <p:nvPr userDrawn="1"/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indent="0" algn="l">
                <a:buNone/>
              </a:pPr>
              <a:r>
                <a:rPr kumimoji="1" lang="zh-CN" altLang="en-US" sz="26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      </a:t>
              </a:r>
              <a:r>
                <a:rPr kumimoji="1" lang="en-US" altLang="zh-CN" sz="5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03</a:t>
              </a:r>
            </a:p>
          </p:txBody>
        </p:sp>
      </p:grp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BEC6193C-2A36-CDE5-7732-1F61B500D73A}"/>
              </a:ext>
            </a:extLst>
          </p:cNvPr>
          <p:cNvSpPr>
            <a:spLocks noGrp="1"/>
          </p:cNvSpPr>
          <p:nvPr/>
        </p:nvSpPr>
        <p:spPr>
          <a:xfrm>
            <a:off x="4540102" y="2571750"/>
            <a:ext cx="7000875" cy="171450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defRPr>
            </a:lvl1pPr>
          </a:lstStyle>
          <a:p>
            <a:r>
              <a:rPr lang="en-US" altLang="zh-CN" sz="4000" dirty="0">
                <a:solidFill>
                  <a:srgbClr val="FFFFFF"/>
                </a:solidFill>
              </a:rPr>
              <a:t>Multi-Process </a:t>
            </a:r>
            <a:r>
              <a:rPr lang="en-US" altLang="zh-CN" sz="4000" dirty="0" err="1">
                <a:solidFill>
                  <a:srgbClr val="FFFFFF"/>
                </a:solidFill>
              </a:rPr>
              <a:t>模式</a:t>
            </a:r>
            <a:r>
              <a:rPr lang="zh-CN" altLang="en-US" sz="4000" dirty="0">
                <a:solidFill>
                  <a:srgbClr val="FFFFFF"/>
                </a:solidFill>
              </a:rPr>
              <a:t>性能优势</a:t>
            </a:r>
            <a:endParaRPr lang="en-US" altLang="zh-CN" sz="4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2984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anel-1">
            <a:extLst>
              <a:ext uri="{FF2B5EF4-FFF2-40B4-BE49-F238E27FC236}">
                <a16:creationId xmlns:a16="http://schemas.microsoft.com/office/drawing/2014/main" id="{396BCA62-2FAB-28A5-D037-EC9FD235B0F0}"/>
              </a:ext>
            </a:extLst>
          </p:cNvPr>
          <p:cNvSpPr>
            <a:spLocks noGrp="1"/>
          </p:cNvSpPr>
          <p:nvPr/>
        </p:nvSpPr>
        <p:spPr>
          <a:xfrm>
            <a:off x="4181475" y="1391494"/>
            <a:ext cx="3781425" cy="4686300"/>
          </a:xfrm>
          <a:prstGeom prst="roundRect">
            <a:avLst>
              <a:gd name="adj" fmla="val 2015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 dirty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节点内 CPU KV 共享：以 MLA 为例</a:t>
            </a:r>
          </a:p>
        </p:txBody>
      </p:sp>
      <p:sp>
        <p:nvSpPr>
          <p:cNvPr id="29" name="矩形 25">
            <a:extLst>
              <a:ext uri="{FF2B5EF4-FFF2-40B4-BE49-F238E27FC236}">
                <a16:creationId xmlns:a16="http://schemas.microsoft.com/office/drawing/2014/main" id="{AFF5D67E-E908-4CC1-B766-C204E02122AC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02    Multi-process </a:t>
            </a:r>
            <a:r>
              <a:rPr sz="120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模式</a:t>
            </a:r>
            <a:r>
              <a:rPr lang="zh-CN" altLang="en-US" sz="1200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性能</a:t>
            </a:r>
            <a:r>
              <a:rPr sz="120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优势</a:t>
            </a:r>
            <a:endParaRPr sz="1200" b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94E4A883-243E-B2C1-4649-3DA6F2A47633}"/>
              </a:ext>
            </a:extLst>
          </p:cNvPr>
          <p:cNvCxnSpPr>
            <a:cxnSpLocks/>
            <a:stCxn id="78" idx="0"/>
            <a:endCxn id="76" idx="2"/>
          </p:cNvCxnSpPr>
          <p:nvPr/>
        </p:nvCxnSpPr>
        <p:spPr>
          <a:xfrm flipV="1">
            <a:off x="10128748" y="3800489"/>
            <a:ext cx="1104900" cy="590564"/>
          </a:xfrm>
          <a:prstGeom prst="straightConnector1">
            <a:avLst/>
          </a:prstGeom>
          <a:ln w="13335">
            <a:solidFill>
              <a:srgbClr val="07966A"/>
            </a:solidFill>
            <a:prstDash val="solid"/>
            <a:tailEnd type="triangle" w="sm" len="sm"/>
          </a:ln>
        </p:spPr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D2444AC0-4A9F-ED40-BE5E-D83CD5AA3D2A}"/>
              </a:ext>
            </a:extLst>
          </p:cNvPr>
          <p:cNvCxnSpPr>
            <a:cxnSpLocks/>
            <a:stCxn id="78" idx="0"/>
            <a:endCxn id="75" idx="2"/>
          </p:cNvCxnSpPr>
          <p:nvPr/>
        </p:nvCxnSpPr>
        <p:spPr>
          <a:xfrm flipV="1">
            <a:off x="10128748" y="3800489"/>
            <a:ext cx="0" cy="590564"/>
          </a:xfrm>
          <a:prstGeom prst="straightConnector1">
            <a:avLst/>
          </a:prstGeom>
          <a:ln w="13335">
            <a:solidFill>
              <a:srgbClr val="07966A"/>
            </a:solidFill>
            <a:prstDash val="solid"/>
            <a:tailEnd type="triangle" w="sm" len="sm"/>
          </a:ln>
        </p:spPr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7A2814B0-97BF-C8B7-2917-D3CD0DBEC72E}"/>
              </a:ext>
            </a:extLst>
          </p:cNvPr>
          <p:cNvCxnSpPr>
            <a:cxnSpLocks/>
            <a:stCxn id="78" idx="0"/>
            <a:endCxn id="74" idx="2"/>
          </p:cNvCxnSpPr>
          <p:nvPr/>
        </p:nvCxnSpPr>
        <p:spPr>
          <a:xfrm flipH="1" flipV="1">
            <a:off x="9023848" y="3800489"/>
            <a:ext cx="1104900" cy="590564"/>
          </a:xfrm>
          <a:prstGeom prst="straightConnector1">
            <a:avLst/>
          </a:prstGeom>
          <a:ln w="13335">
            <a:solidFill>
              <a:srgbClr val="07966A"/>
            </a:solidFill>
            <a:prstDash val="solid"/>
            <a:tailEnd type="triangle" w="sm" len="sm"/>
          </a:ln>
        </p:spPr>
      </p:cxnSp>
      <p:cxnSp>
        <p:nvCxnSpPr>
          <p:cNvPr id="33" name="直线箭头连接符 32">
            <a:extLst>
              <a:ext uri="{FF2B5EF4-FFF2-40B4-BE49-F238E27FC236}">
                <a16:creationId xmlns:a16="http://schemas.microsoft.com/office/drawing/2014/main" id="{9782EF86-3AB4-1D51-C5E9-B0B33834DA82}"/>
              </a:ext>
            </a:extLst>
          </p:cNvPr>
          <p:cNvCxnSpPr>
            <a:stCxn id="61" idx="3"/>
            <a:endCxn id="63" idx="1"/>
          </p:cNvCxnSpPr>
          <p:nvPr/>
        </p:nvCxnSpPr>
        <p:spPr>
          <a:xfrm>
            <a:off x="5407274" y="3684588"/>
            <a:ext cx="1066800" cy="361950"/>
          </a:xfrm>
          <a:prstGeom prst="straightConnector1">
            <a:avLst/>
          </a:prstGeom>
          <a:ln w="13335"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 w="sm" len="sm"/>
          </a:ln>
        </p:spPr>
      </p:cxnSp>
      <p:cxnSp>
        <p:nvCxnSpPr>
          <p:cNvPr id="34" name="直线箭头连接符 33">
            <a:extLst>
              <a:ext uri="{FF2B5EF4-FFF2-40B4-BE49-F238E27FC236}">
                <a16:creationId xmlns:a16="http://schemas.microsoft.com/office/drawing/2014/main" id="{5462E771-1AFC-B82E-75F7-7803930DA9D0}"/>
              </a:ext>
            </a:extLst>
          </p:cNvPr>
          <p:cNvCxnSpPr>
            <a:stCxn id="61" idx="3"/>
            <a:endCxn id="62" idx="1"/>
          </p:cNvCxnSpPr>
          <p:nvPr/>
        </p:nvCxnSpPr>
        <p:spPr>
          <a:xfrm flipV="1">
            <a:off x="5407274" y="3417888"/>
            <a:ext cx="1009650" cy="266700"/>
          </a:xfrm>
          <a:prstGeom prst="straightConnector1">
            <a:avLst/>
          </a:prstGeom>
          <a:ln w="13335">
            <a:solidFill>
              <a:schemeClr val="accent1">
                <a:lumMod val="40000"/>
                <a:lumOff val="60000"/>
              </a:schemeClr>
            </a:solidFill>
            <a:prstDash val="solid"/>
            <a:tailEnd type="triangle" w="sm" len="sm"/>
          </a:ln>
        </p:spPr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FA70B5D8-1A7E-BEEA-7D3E-D0C0B59AC0E9}"/>
              </a:ext>
            </a:extLst>
          </p:cNvPr>
          <p:cNvCxnSpPr>
            <a:cxnSpLocks/>
            <a:stCxn id="64" idx="0"/>
            <a:endCxn id="61" idx="2"/>
          </p:cNvCxnSpPr>
          <p:nvPr/>
        </p:nvCxnSpPr>
        <p:spPr>
          <a:xfrm flipV="1">
            <a:off x="5007224" y="3832225"/>
            <a:ext cx="0" cy="584200"/>
          </a:xfrm>
          <a:prstGeom prst="straightConnector1">
            <a:avLst/>
          </a:prstGeom>
          <a:ln w="22225">
            <a:solidFill>
              <a:srgbClr val="8299B2"/>
            </a:solidFill>
            <a:prstDash val="solid"/>
            <a:headEnd type="triangle"/>
            <a:tailEnd type="triangle" w="sm" len="sm"/>
          </a:ln>
        </p:spPr>
      </p:cxnSp>
      <p:cxnSp>
        <p:nvCxnSpPr>
          <p:cNvPr id="36" name="直线箭头连接符 35">
            <a:extLst>
              <a:ext uri="{FF2B5EF4-FFF2-40B4-BE49-F238E27FC236}">
                <a16:creationId xmlns:a16="http://schemas.microsoft.com/office/drawing/2014/main" id="{8CFA1216-8ECA-69AF-9B7F-5885F8B9DFA7}"/>
              </a:ext>
            </a:extLst>
          </p:cNvPr>
          <p:cNvCxnSpPr>
            <a:stCxn id="51" idx="0"/>
            <a:endCxn id="48" idx="2"/>
          </p:cNvCxnSpPr>
          <p:nvPr/>
        </p:nvCxnSpPr>
        <p:spPr>
          <a:xfrm flipV="1">
            <a:off x="3105150" y="3854464"/>
            <a:ext cx="0" cy="333375"/>
          </a:xfrm>
          <a:prstGeom prst="straightConnector1">
            <a:avLst/>
          </a:prstGeom>
          <a:ln w="13335">
            <a:solidFill>
              <a:srgbClr val="8299B2"/>
            </a:solidFill>
            <a:prstDash val="solid"/>
            <a:tailEnd type="triangle" w="sm" len="sm"/>
          </a:ln>
        </p:spPr>
      </p:cxnSp>
      <p:cxnSp>
        <p:nvCxnSpPr>
          <p:cNvPr id="37" name="直线箭头连接符 36">
            <a:extLst>
              <a:ext uri="{FF2B5EF4-FFF2-40B4-BE49-F238E27FC236}">
                <a16:creationId xmlns:a16="http://schemas.microsoft.com/office/drawing/2014/main" id="{CF1BFA25-E873-C5AB-A9C2-7BB27D154848}"/>
              </a:ext>
            </a:extLst>
          </p:cNvPr>
          <p:cNvCxnSpPr>
            <a:stCxn id="50" idx="0"/>
            <a:endCxn id="47" idx="2"/>
          </p:cNvCxnSpPr>
          <p:nvPr/>
        </p:nvCxnSpPr>
        <p:spPr>
          <a:xfrm flipV="1">
            <a:off x="2000250" y="3854464"/>
            <a:ext cx="0" cy="333375"/>
          </a:xfrm>
          <a:prstGeom prst="straightConnector1">
            <a:avLst/>
          </a:prstGeom>
          <a:ln w="13335">
            <a:solidFill>
              <a:srgbClr val="8299B2"/>
            </a:solidFill>
            <a:prstDash val="solid"/>
            <a:tailEnd type="triangle" w="sm" len="sm"/>
          </a:ln>
        </p:spPr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009FEED4-1729-F46A-9A5A-81681145D893}"/>
              </a:ext>
            </a:extLst>
          </p:cNvPr>
          <p:cNvCxnSpPr>
            <a:stCxn id="49" idx="0"/>
            <a:endCxn id="46" idx="2"/>
          </p:cNvCxnSpPr>
          <p:nvPr/>
        </p:nvCxnSpPr>
        <p:spPr>
          <a:xfrm flipV="1">
            <a:off x="895350" y="3854464"/>
            <a:ext cx="0" cy="333375"/>
          </a:xfrm>
          <a:prstGeom prst="straightConnector1">
            <a:avLst/>
          </a:prstGeom>
          <a:ln w="13335">
            <a:solidFill>
              <a:srgbClr val="8299B2"/>
            </a:solidFill>
            <a:prstDash val="solid"/>
            <a:tailEnd type="triangle" w="sm" len="sm"/>
          </a:ln>
        </p:spPr>
      </p:cxnSp>
      <p:sp>
        <p:nvSpPr>
          <p:cNvPr id="39" name="panel-1">
            <a:extLst>
              <a:ext uri="{FF2B5EF4-FFF2-40B4-BE49-F238E27FC236}">
                <a16:creationId xmlns:a16="http://schemas.microsoft.com/office/drawing/2014/main" id="{AE743920-C0C2-2082-DDCD-93C095EC62D3}"/>
              </a:ext>
            </a:extLst>
          </p:cNvPr>
          <p:cNvSpPr>
            <a:spLocks noGrp="1"/>
          </p:cNvSpPr>
          <p:nvPr/>
        </p:nvSpPr>
        <p:spPr>
          <a:xfrm>
            <a:off x="171450" y="1390650"/>
            <a:ext cx="3781425" cy="4686300"/>
          </a:xfrm>
          <a:prstGeom prst="roundRect">
            <a:avLst>
              <a:gd name="adj" fmla="val 2015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41" name="panel-3">
            <a:extLst>
              <a:ext uri="{FF2B5EF4-FFF2-40B4-BE49-F238E27FC236}">
                <a16:creationId xmlns:a16="http://schemas.microsoft.com/office/drawing/2014/main" id="{CE99FA6B-9156-E544-01A7-84CC717B8195}"/>
              </a:ext>
            </a:extLst>
          </p:cNvPr>
          <p:cNvSpPr>
            <a:spLocks noGrp="1"/>
          </p:cNvSpPr>
          <p:nvPr/>
        </p:nvSpPr>
        <p:spPr>
          <a:xfrm>
            <a:off x="8229600" y="1390650"/>
            <a:ext cx="3781425" cy="4686300"/>
          </a:xfrm>
          <a:prstGeom prst="roundRect">
            <a:avLst>
              <a:gd name="adj" fmla="val 2015"/>
            </a:avLst>
          </a:prstGeom>
          <a:solidFill>
            <a:srgbClr val="FFF9EC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132D4EE-833E-DD8B-F338-47593E54BA97}"/>
              </a:ext>
            </a:extLst>
          </p:cNvPr>
          <p:cNvSpPr>
            <a:spLocks noGrp="1"/>
          </p:cNvSpPr>
          <p:nvPr/>
        </p:nvSpPr>
        <p:spPr>
          <a:xfrm>
            <a:off x="323850" y="1543050"/>
            <a:ext cx="3476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 dirty="0">
                <a:solidFill>
                  <a:srgbClr val="285091"/>
                </a:solidFill>
                <a:latin typeface="Source Han Sans CN"/>
                <a:ea typeface="Source Han Sans CN"/>
              </a:rPr>
              <a:t>01  </a:t>
            </a:r>
            <a:r>
              <a:rPr sz="2100" b="1" dirty="0" err="1">
                <a:solidFill>
                  <a:srgbClr val="285091"/>
                </a:solidFill>
                <a:latin typeface="Source Han Sans CN"/>
                <a:ea typeface="Source Han Sans CN"/>
              </a:rPr>
              <a:t>In-process：进程内缓存</a:t>
            </a:r>
            <a:endParaRPr sz="2100" b="1" dirty="0">
              <a:solidFill>
                <a:srgbClr val="285091"/>
              </a:solidFill>
              <a:latin typeface="Source Han Sans CN"/>
              <a:ea typeface="Source Han Sans CN"/>
            </a:endParaRPr>
          </a:p>
        </p:txBody>
      </p:sp>
      <p:sp>
        <p:nvSpPr>
          <p:cNvPr id="43" name="直线连接符 42">
            <a:extLst>
              <a:ext uri="{FF2B5EF4-FFF2-40B4-BE49-F238E27FC236}">
                <a16:creationId xmlns:a16="http://schemas.microsoft.com/office/drawing/2014/main" id="{02A91E20-EA79-3857-F312-68111A405F04}"/>
              </a:ext>
            </a:extLst>
          </p:cNvPr>
          <p:cNvSpPr>
            <a:spLocks noGrp="1"/>
          </p:cNvSpPr>
          <p:nvPr/>
        </p:nvSpPr>
        <p:spPr>
          <a:xfrm>
            <a:off x="323850" y="2076450"/>
            <a:ext cx="3476625" cy="0"/>
          </a:xfrm>
          <a:prstGeom prst="line">
            <a:avLst/>
          </a:prstGeom>
          <a:noFill/>
          <a:ln w="9525">
            <a:solidFill>
              <a:srgbClr val="F2DA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71B38803-AEB4-03CE-FCAF-4035DD5388E3}"/>
              </a:ext>
            </a:extLst>
          </p:cNvPr>
          <p:cNvSpPr>
            <a:spLocks noGrp="1"/>
          </p:cNvSpPr>
          <p:nvPr/>
        </p:nvSpPr>
        <p:spPr>
          <a:xfrm>
            <a:off x="495300" y="2190750"/>
            <a:ext cx="31337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 dirty="0" err="1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每个</a:t>
            </a:r>
            <a:r>
              <a:rPr sz="1275" b="0" dirty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 TP Worker </a:t>
            </a:r>
            <a:r>
              <a:rPr sz="1275" b="0" dirty="0" err="1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内嵌</a:t>
            </a:r>
            <a:r>
              <a:rPr sz="1275" b="0" dirty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 KV </a:t>
            </a:r>
            <a:r>
              <a:rPr sz="1275" b="0" dirty="0" err="1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库</a:t>
            </a:r>
            <a:endParaRPr sz="1275" b="0" dirty="0">
              <a:solidFill>
                <a:srgbClr val="43566F"/>
              </a:solidFill>
              <a:latin typeface="Source Han Sans CN"/>
              <a:ea typeface="Source Han Sans CN"/>
              <a:cs typeface="Source Han Sans CN"/>
            </a:endParaRPr>
          </a:p>
          <a:p>
            <a:pPr algn="l">
              <a:defRPr sz="1275" b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 dirty="0" err="1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相同</a:t>
            </a:r>
            <a:r>
              <a:rPr sz="1275" b="0" dirty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 KV </a:t>
            </a:r>
            <a:r>
              <a:rPr sz="1275" b="0" dirty="0" err="1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在</a:t>
            </a:r>
            <a:r>
              <a:rPr sz="1275" b="0" dirty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 CPU </a:t>
            </a:r>
            <a:r>
              <a:rPr sz="1275" b="0" dirty="0" err="1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内存重复</a:t>
            </a:r>
            <a:r>
              <a:rPr sz="1275" b="0" dirty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 offload</a:t>
            </a:r>
          </a:p>
          <a:p>
            <a:pPr algn="l">
              <a:defRPr sz="1275" b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 dirty="0" err="1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每个</a:t>
            </a:r>
            <a:r>
              <a:rPr sz="1275" b="0" dirty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 rank </a:t>
            </a:r>
            <a:r>
              <a:rPr sz="1275" b="0" dirty="0" err="1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保留一份副本</a:t>
            </a:r>
            <a:endParaRPr sz="1275" b="0" dirty="0">
              <a:solidFill>
                <a:srgbClr val="43566F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5913FE45-7781-F646-222E-FBF840C0A071}"/>
              </a:ext>
            </a:extLst>
          </p:cNvPr>
          <p:cNvSpPr>
            <a:spLocks noGrp="1"/>
          </p:cNvSpPr>
          <p:nvPr/>
        </p:nvSpPr>
        <p:spPr>
          <a:xfrm>
            <a:off x="439737" y="3152789"/>
            <a:ext cx="1590675" cy="2762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00" b="1">
                <a:solidFill>
                  <a:srgbClr val="A54A22"/>
                </a:solidFill>
                <a:latin typeface="Source Han Sans CN Bold"/>
                <a:ea typeface="Source Han Sans CN Bold"/>
                <a:cs typeface="Source Han Sans CN Bold"/>
              </a:defRPr>
            </a:pPr>
            <a:r>
              <a:rPr sz="1500" b="1" dirty="0">
                <a:solidFill>
                  <a:srgbClr val="A54A22"/>
                </a:solidFill>
                <a:latin typeface="Source Han Sans CN Bold"/>
                <a:ea typeface="Source Han Sans CN Bold"/>
                <a:cs typeface="Source Han Sans CN Bold"/>
              </a:rPr>
              <a:t>GPU / HBM</a:t>
            </a: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28D2C4F4-F5FC-CBF7-EA9D-3FAD8D87A2F5}"/>
              </a:ext>
            </a:extLst>
          </p:cNvPr>
          <p:cNvSpPr>
            <a:spLocks noGrp="1"/>
          </p:cNvSpPr>
          <p:nvPr/>
        </p:nvSpPr>
        <p:spPr>
          <a:xfrm>
            <a:off x="504825" y="3559189"/>
            <a:ext cx="781050" cy="295275"/>
          </a:xfrm>
          <a:prstGeom prst="roundRect">
            <a:avLst>
              <a:gd name="adj" fmla="val 45161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defRPr>
            </a:pPr>
            <a:r>
              <a:rPr sz="1200" b="1" dirty="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rank0</a:t>
            </a:r>
            <a:endParaRPr sz="975" b="1" dirty="0">
              <a:solidFill>
                <a:srgbClr val="FFFFFF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22430FA0-E4D8-B143-8A99-1F5CA5CCF840}"/>
              </a:ext>
            </a:extLst>
          </p:cNvPr>
          <p:cNvSpPr>
            <a:spLocks noGrp="1"/>
          </p:cNvSpPr>
          <p:nvPr/>
        </p:nvSpPr>
        <p:spPr>
          <a:xfrm>
            <a:off x="1609725" y="3559189"/>
            <a:ext cx="781050" cy="295275"/>
          </a:xfrm>
          <a:prstGeom prst="roundRect">
            <a:avLst>
              <a:gd name="adj" fmla="val 45161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 anchor="ctr">
            <a:no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ea typeface="Source Han Sans CN Bold"/>
              </a:rPr>
              <a:t>rank1</a:t>
            </a: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3BD7FB4C-8CD9-8B4A-CDBC-B173D91A1B89}"/>
              </a:ext>
            </a:extLst>
          </p:cNvPr>
          <p:cNvSpPr>
            <a:spLocks noGrp="1"/>
          </p:cNvSpPr>
          <p:nvPr/>
        </p:nvSpPr>
        <p:spPr>
          <a:xfrm>
            <a:off x="2714625" y="3559189"/>
            <a:ext cx="781050" cy="295275"/>
          </a:xfrm>
          <a:prstGeom prst="roundRect">
            <a:avLst>
              <a:gd name="adj" fmla="val 45161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 anchor="ctr">
            <a:noAutofit/>
          </a:bodyPr>
          <a:lstStyle/>
          <a:p>
            <a:pPr algn="ctr"/>
            <a:r>
              <a:rPr sz="1200" b="1" dirty="0" err="1">
                <a:solidFill>
                  <a:srgbClr val="FFFFFF"/>
                </a:solidFill>
                <a:ea typeface="Source Han Sans CN Bold"/>
              </a:rPr>
              <a:t>rankN</a:t>
            </a:r>
            <a:endParaRPr sz="1200" b="1" dirty="0">
              <a:solidFill>
                <a:srgbClr val="FFFFFF"/>
              </a:solidFill>
              <a:ea typeface="Source Han Sans CN Bold"/>
            </a:endParaRPr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37CA72BF-2EAC-A4E6-40DF-F3A5E1602EFF}"/>
              </a:ext>
            </a:extLst>
          </p:cNvPr>
          <p:cNvSpPr>
            <a:spLocks noGrp="1"/>
          </p:cNvSpPr>
          <p:nvPr/>
        </p:nvSpPr>
        <p:spPr>
          <a:xfrm>
            <a:off x="542925" y="4187839"/>
            <a:ext cx="704850" cy="304800"/>
          </a:xfrm>
          <a:prstGeom prst="roundRect">
            <a:avLst>
              <a:gd name="adj" fmla="val 43750"/>
            </a:avLst>
          </a:prstGeom>
          <a:solidFill>
            <a:srgbClr val="E5F0FD"/>
          </a:solidFill>
          <a:ln w="9525">
            <a:solidFill>
              <a:srgbClr val="8CB5E5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173D7A"/>
                </a:solidFill>
                <a:latin typeface="Source Han Sans CN Bold"/>
                <a:ea typeface="Source Han Sans CN Bold"/>
                <a:cs typeface="Source Han Sans CN Bold"/>
              </a:defRPr>
            </a:pPr>
            <a:r>
              <a:rPr sz="1200" b="1">
                <a:solidFill>
                  <a:srgbClr val="173D7A"/>
                </a:solidFill>
                <a:latin typeface="Source Han Sans CN Bold"/>
                <a:ea typeface="Source Han Sans CN Bold"/>
                <a:cs typeface="Source Han Sans CN Bold"/>
              </a:rPr>
              <a:t>KV0</a:t>
            </a: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5720B5EE-C1E9-3782-F3F5-69550A4D7FB4}"/>
              </a:ext>
            </a:extLst>
          </p:cNvPr>
          <p:cNvSpPr>
            <a:spLocks noGrp="1"/>
          </p:cNvSpPr>
          <p:nvPr/>
        </p:nvSpPr>
        <p:spPr>
          <a:xfrm>
            <a:off x="1647825" y="4187839"/>
            <a:ext cx="704850" cy="304800"/>
          </a:xfrm>
          <a:prstGeom prst="roundRect">
            <a:avLst>
              <a:gd name="adj" fmla="val 43750"/>
            </a:avLst>
          </a:prstGeom>
          <a:solidFill>
            <a:srgbClr val="E5F0FD"/>
          </a:solidFill>
          <a:ln w="9525">
            <a:solidFill>
              <a:srgbClr val="8CB5E5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173D7A"/>
                </a:solidFill>
                <a:latin typeface="Source Han Sans CN Bold"/>
                <a:ea typeface="Source Han Sans CN Bold"/>
                <a:cs typeface="Source Han Sans CN Bold"/>
              </a:defRPr>
            </a:pPr>
            <a:r>
              <a:rPr sz="1200" b="1">
                <a:solidFill>
                  <a:srgbClr val="173D7A"/>
                </a:solidFill>
                <a:latin typeface="Source Han Sans CN Bold"/>
                <a:ea typeface="Source Han Sans CN Bold"/>
                <a:cs typeface="Source Han Sans CN Bold"/>
              </a:rPr>
              <a:t>KV1</a:t>
            </a: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C8111BD3-C0A0-4AC9-A59C-34C46B5C934C}"/>
              </a:ext>
            </a:extLst>
          </p:cNvPr>
          <p:cNvSpPr>
            <a:spLocks noGrp="1"/>
          </p:cNvSpPr>
          <p:nvPr/>
        </p:nvSpPr>
        <p:spPr>
          <a:xfrm>
            <a:off x="2752725" y="4187839"/>
            <a:ext cx="704850" cy="304800"/>
          </a:xfrm>
          <a:prstGeom prst="roundRect">
            <a:avLst>
              <a:gd name="adj" fmla="val 43750"/>
            </a:avLst>
          </a:prstGeom>
          <a:solidFill>
            <a:srgbClr val="E5F0FD"/>
          </a:solidFill>
          <a:ln w="9525">
            <a:solidFill>
              <a:srgbClr val="8CB5E5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173D7A"/>
                </a:solidFill>
                <a:latin typeface="Source Han Sans CN Bold"/>
                <a:ea typeface="Source Han Sans CN Bold"/>
                <a:cs typeface="Source Han Sans CN Bold"/>
              </a:defRPr>
            </a:pPr>
            <a:r>
              <a:rPr sz="1200" b="1">
                <a:solidFill>
                  <a:srgbClr val="173D7A"/>
                </a:solidFill>
                <a:latin typeface="Source Han Sans CN Bold"/>
                <a:ea typeface="Source Han Sans CN Bold"/>
                <a:cs typeface="Source Han Sans CN Bold"/>
              </a:rPr>
              <a:t>KVN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F6724E4-D2D5-E41E-AA88-25B949870FF7}"/>
              </a:ext>
            </a:extLst>
          </p:cNvPr>
          <p:cNvSpPr>
            <a:spLocks noGrp="1"/>
          </p:cNvSpPr>
          <p:nvPr/>
        </p:nvSpPr>
        <p:spPr>
          <a:xfrm>
            <a:off x="428625" y="4597414"/>
            <a:ext cx="1676400" cy="29527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00" b="1">
                <a:solidFill>
                  <a:srgbClr val="285091"/>
                </a:solidFill>
                <a:latin typeface="Source Han Sans CN Bold"/>
                <a:ea typeface="Source Han Sans CN Bold"/>
                <a:cs typeface="Source Han Sans CN Bold"/>
              </a:defRPr>
            </a:pPr>
            <a:r>
              <a:rPr sz="1500" b="1" dirty="0">
                <a:solidFill>
                  <a:srgbClr val="285091"/>
                </a:solidFill>
                <a:latin typeface="Source Han Sans CN Bold"/>
                <a:ea typeface="Source Han Sans CN Bold"/>
                <a:cs typeface="Source Han Sans CN Bold"/>
              </a:rPr>
              <a:t>CPU / DRAM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57516C7-2C96-4579-F653-2B1745171C74}"/>
              </a:ext>
            </a:extLst>
          </p:cNvPr>
          <p:cNvSpPr>
            <a:spLocks noGrp="1"/>
          </p:cNvSpPr>
          <p:nvPr/>
        </p:nvSpPr>
        <p:spPr>
          <a:xfrm>
            <a:off x="304800" y="5334000"/>
            <a:ext cx="3514725" cy="552450"/>
          </a:xfrm>
          <a:prstGeom prst="rect">
            <a:avLst/>
          </a:prstGeom>
          <a:solidFill>
            <a:srgbClr val="FDE8E6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D92D2D"/>
                </a:solidFill>
                <a:latin typeface="Source Han Sans CN Bold"/>
                <a:ea typeface="Source Han Sans CN Bold"/>
                <a:cs typeface="Source Han Sans CN Bold"/>
              </a:defRPr>
            </a:pPr>
            <a:r>
              <a:rPr sz="1500" b="1">
                <a:solidFill>
                  <a:srgbClr val="D92D2D"/>
                </a:solidFill>
                <a:latin typeface="Source Han Sans CN Bold"/>
                <a:ea typeface="Source Han Sans CN Bold"/>
                <a:cs typeface="Source Han Sans CN Bold"/>
              </a:rPr>
              <a:t>⚠  数据冗余存储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492BEBD-D1EC-A16B-353A-AA9E54585772}"/>
              </a:ext>
            </a:extLst>
          </p:cNvPr>
          <p:cNvSpPr>
            <a:spLocks noGrp="1"/>
          </p:cNvSpPr>
          <p:nvPr/>
        </p:nvSpPr>
        <p:spPr>
          <a:xfrm>
            <a:off x="4352925" y="1543050"/>
            <a:ext cx="3476625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 dirty="0">
                <a:solidFill>
                  <a:srgbClr val="285091"/>
                </a:solidFill>
                <a:latin typeface="Source Han Sans CN"/>
                <a:ea typeface="Source Han Sans CN"/>
              </a:rPr>
              <a:t>02  </a:t>
            </a:r>
            <a:r>
              <a:rPr sz="2100" b="1" dirty="0" err="1">
                <a:solidFill>
                  <a:srgbClr val="285091"/>
                </a:solidFill>
                <a:latin typeface="Source Han Sans CN"/>
                <a:ea typeface="Source Han Sans CN"/>
              </a:rPr>
              <a:t>In-process：跨</a:t>
            </a:r>
            <a:r>
              <a:rPr sz="2100" b="1" dirty="0">
                <a:solidFill>
                  <a:srgbClr val="285091"/>
                </a:solidFill>
                <a:latin typeface="Source Han Sans CN"/>
                <a:ea typeface="Source Han Sans CN"/>
              </a:rPr>
              <a:t> Rank </a:t>
            </a:r>
            <a:r>
              <a:rPr sz="2100" b="1" dirty="0" err="1">
                <a:solidFill>
                  <a:srgbClr val="285091"/>
                </a:solidFill>
                <a:latin typeface="Source Han Sans CN"/>
                <a:ea typeface="Source Han Sans CN"/>
              </a:rPr>
              <a:t>分发</a:t>
            </a:r>
            <a:endParaRPr sz="2100" b="1" dirty="0">
              <a:solidFill>
                <a:srgbClr val="285091"/>
              </a:solidFill>
              <a:latin typeface="Source Han Sans CN"/>
              <a:ea typeface="Source Han Sans CN"/>
            </a:endParaRPr>
          </a:p>
        </p:txBody>
      </p:sp>
      <p:sp>
        <p:nvSpPr>
          <p:cNvPr id="58" name="直线连接符 57">
            <a:extLst>
              <a:ext uri="{FF2B5EF4-FFF2-40B4-BE49-F238E27FC236}">
                <a16:creationId xmlns:a16="http://schemas.microsoft.com/office/drawing/2014/main" id="{4C81233B-B899-0A37-A226-BF8B85AE2875}"/>
              </a:ext>
            </a:extLst>
          </p:cNvPr>
          <p:cNvSpPr>
            <a:spLocks noGrp="1"/>
          </p:cNvSpPr>
          <p:nvPr/>
        </p:nvSpPr>
        <p:spPr>
          <a:xfrm>
            <a:off x="4352925" y="2076450"/>
            <a:ext cx="3476625" cy="0"/>
          </a:xfrm>
          <a:prstGeom prst="line">
            <a:avLst/>
          </a:prstGeom>
          <a:noFill/>
          <a:ln w="9525">
            <a:solidFill>
              <a:srgbClr val="F3E2C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EC66E24E-CF34-A700-C2A3-D48BCD31D61A}"/>
              </a:ext>
            </a:extLst>
          </p:cNvPr>
          <p:cNvSpPr>
            <a:spLocks noGrp="1"/>
          </p:cNvSpPr>
          <p:nvPr/>
        </p:nvSpPr>
        <p:spPr>
          <a:xfrm>
            <a:off x="4695825" y="2190750"/>
            <a:ext cx="27908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某个 Worker 先 load KV</a:t>
            </a:r>
          </a:p>
          <a:p>
            <a:pPr algn="l">
              <a:defRPr sz="1275" b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再经 rank0 向其它 rank 广播</a:t>
            </a:r>
          </a:p>
          <a:p>
            <a:pPr algn="l">
              <a:defRPr sz="1275" b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额外占用 GPU 带宽与计算流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AE748014-E9B7-794E-07E1-4F2F248FA0C2}"/>
              </a:ext>
            </a:extLst>
          </p:cNvPr>
          <p:cNvSpPr>
            <a:spLocks noGrp="1"/>
          </p:cNvSpPr>
          <p:nvPr/>
        </p:nvSpPr>
        <p:spPr>
          <a:xfrm>
            <a:off x="4451235" y="3110307"/>
            <a:ext cx="1400175" cy="27727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00" b="1">
                <a:solidFill>
                  <a:srgbClr val="A54A22"/>
                </a:solidFill>
                <a:latin typeface="Source Han Sans CN Bold"/>
                <a:ea typeface="Source Han Sans CN Bold"/>
                <a:cs typeface="Source Han Sans CN Bold"/>
              </a:defRPr>
            </a:pPr>
            <a:r>
              <a:rPr sz="1500" b="1" dirty="0">
                <a:solidFill>
                  <a:srgbClr val="A54A22"/>
                </a:solidFill>
                <a:latin typeface="Source Han Sans CN Bold"/>
                <a:ea typeface="Source Han Sans CN Bold"/>
                <a:cs typeface="Source Han Sans CN Bold"/>
              </a:rPr>
              <a:t>GPU / HBM</a:t>
            </a:r>
          </a:p>
        </p:txBody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FFD081B4-3765-B332-E3D3-0CFC4F6BED50}"/>
              </a:ext>
            </a:extLst>
          </p:cNvPr>
          <p:cNvSpPr>
            <a:spLocks noGrp="1"/>
          </p:cNvSpPr>
          <p:nvPr/>
        </p:nvSpPr>
        <p:spPr>
          <a:xfrm>
            <a:off x="4607174" y="3536950"/>
            <a:ext cx="800100" cy="295275"/>
          </a:xfrm>
          <a:prstGeom prst="roundRect">
            <a:avLst>
              <a:gd name="adj" fmla="val 45161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 anchor="ctr">
            <a:no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ea typeface="Source Han Sans CN Bold"/>
              </a:rPr>
              <a:t>rank0</a:t>
            </a:r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A3DDC84E-9B15-D661-609C-3DA19062FA1C}"/>
              </a:ext>
            </a:extLst>
          </p:cNvPr>
          <p:cNvSpPr>
            <a:spLocks noGrp="1"/>
          </p:cNvSpPr>
          <p:nvPr/>
        </p:nvSpPr>
        <p:spPr>
          <a:xfrm>
            <a:off x="6416924" y="3270250"/>
            <a:ext cx="800100" cy="295275"/>
          </a:xfrm>
          <a:prstGeom prst="roundRect">
            <a:avLst>
              <a:gd name="adj" fmla="val 45161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 anchor="ctr">
            <a:noAutofit/>
          </a:bodyPr>
          <a:lstStyle/>
          <a:p>
            <a:pPr algn="ctr"/>
            <a:r>
              <a:rPr sz="1200" b="1" dirty="0">
                <a:solidFill>
                  <a:srgbClr val="FFFFFF"/>
                </a:solidFill>
                <a:ea typeface="Source Han Sans CN Bold"/>
              </a:rPr>
              <a:t>rank1</a:t>
            </a:r>
          </a:p>
        </p:txBody>
      </p:sp>
      <p:sp>
        <p:nvSpPr>
          <p:cNvPr id="63" name="圆角矩形 62">
            <a:extLst>
              <a:ext uri="{FF2B5EF4-FFF2-40B4-BE49-F238E27FC236}">
                <a16:creationId xmlns:a16="http://schemas.microsoft.com/office/drawing/2014/main" id="{BEA7EC26-4A00-83FE-5F97-6B81A8E26E81}"/>
              </a:ext>
            </a:extLst>
          </p:cNvPr>
          <p:cNvSpPr>
            <a:spLocks noGrp="1"/>
          </p:cNvSpPr>
          <p:nvPr/>
        </p:nvSpPr>
        <p:spPr>
          <a:xfrm>
            <a:off x="6474074" y="3898900"/>
            <a:ext cx="800100" cy="295275"/>
          </a:xfrm>
          <a:prstGeom prst="roundRect">
            <a:avLst>
              <a:gd name="adj" fmla="val 45161"/>
            </a:avLst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1">
                <a:lumMod val="40000"/>
                <a:lumOff val="60000"/>
              </a:schemeClr>
            </a:solidFill>
            <a:prstDash val="solid"/>
          </a:ln>
        </p:spPr>
        <p:txBody>
          <a:bodyPr anchor="ctr">
            <a:noAutofit/>
          </a:bodyPr>
          <a:lstStyle/>
          <a:p>
            <a:pPr algn="ctr"/>
            <a:r>
              <a:rPr sz="1200" b="1" dirty="0" err="1">
                <a:solidFill>
                  <a:srgbClr val="FFFFFF"/>
                </a:solidFill>
                <a:ea typeface="Source Han Sans CN Bold"/>
              </a:rPr>
              <a:t>rankN</a:t>
            </a:r>
            <a:endParaRPr sz="1200" b="1" dirty="0">
              <a:solidFill>
                <a:srgbClr val="FFFFFF"/>
              </a:solidFill>
              <a:ea typeface="Source Han Sans CN Bold"/>
            </a:endParaRPr>
          </a:p>
        </p:txBody>
      </p:sp>
      <p:sp>
        <p:nvSpPr>
          <p:cNvPr id="64" name="圆角矩形 63">
            <a:extLst>
              <a:ext uri="{FF2B5EF4-FFF2-40B4-BE49-F238E27FC236}">
                <a16:creationId xmlns:a16="http://schemas.microsoft.com/office/drawing/2014/main" id="{222AC745-2549-AE14-18C1-2F74B0BAD31F}"/>
              </a:ext>
            </a:extLst>
          </p:cNvPr>
          <p:cNvSpPr>
            <a:spLocks noGrp="1"/>
          </p:cNvSpPr>
          <p:nvPr/>
        </p:nvSpPr>
        <p:spPr>
          <a:xfrm>
            <a:off x="4416674" y="4416425"/>
            <a:ext cx="1181100" cy="333375"/>
          </a:xfrm>
          <a:prstGeom prst="roundRect">
            <a:avLst>
              <a:gd name="adj" fmla="val 40000"/>
            </a:avLst>
          </a:prstGeom>
          <a:solidFill>
            <a:srgbClr val="E5F0FD"/>
          </a:solidFill>
          <a:ln w="9525">
            <a:solidFill>
              <a:srgbClr val="8CB5E5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00" b="1">
                <a:solidFill>
                  <a:srgbClr val="173D7A"/>
                </a:solidFill>
                <a:latin typeface="Source Han Sans CN Bold"/>
                <a:ea typeface="Source Han Sans CN Bold"/>
                <a:cs typeface="Source Han Sans CN Bold"/>
              </a:defRPr>
            </a:pPr>
            <a:r>
              <a:rPr sz="1200" b="1" dirty="0">
                <a:solidFill>
                  <a:srgbClr val="173D7A"/>
                </a:solidFill>
                <a:latin typeface="Source Han Sans CN Bold"/>
                <a:ea typeface="Source Han Sans CN Bold"/>
                <a:cs typeface="Source Han Sans CN Bold"/>
              </a:rPr>
              <a:t>KV ready</a:t>
            </a:r>
          </a:p>
        </p:txBody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6EF63901-F6F9-D6DA-4D05-908ACA69C741}"/>
              </a:ext>
            </a:extLst>
          </p:cNvPr>
          <p:cNvSpPr>
            <a:spLocks noGrp="1"/>
          </p:cNvSpPr>
          <p:nvPr/>
        </p:nvSpPr>
        <p:spPr>
          <a:xfrm>
            <a:off x="5279910" y="3990975"/>
            <a:ext cx="1143000" cy="247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825" b="1">
                <a:solidFill>
                  <a:srgbClr val="D97706"/>
                </a:solidFill>
                <a:latin typeface="Source Han Sans CN Bold"/>
                <a:ea typeface="Source Han Sans CN Bold"/>
                <a:cs typeface="Source Han Sans CN Bold"/>
              </a:defRPr>
            </a:pPr>
            <a:r>
              <a:rPr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Han Sans CN Bold"/>
                <a:ea typeface="Source Han Sans CN Bold"/>
                <a:cs typeface="Source Han Sans CN Bold"/>
              </a:rPr>
              <a:t>rank0 broadcast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D9FB6602-2938-82C3-A560-D2BD184A8DEF}"/>
              </a:ext>
            </a:extLst>
          </p:cNvPr>
          <p:cNvSpPr>
            <a:spLocks noGrp="1"/>
          </p:cNvSpPr>
          <p:nvPr/>
        </p:nvSpPr>
        <p:spPr>
          <a:xfrm>
            <a:off x="4333875" y="5334000"/>
            <a:ext cx="3514725" cy="552450"/>
          </a:xfrm>
          <a:prstGeom prst="rect">
            <a:avLst/>
          </a:prstGeom>
          <a:solidFill>
            <a:srgbClr val="FFF1DC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D97706"/>
                </a:solidFill>
                <a:latin typeface="Source Han Sans CN Bold"/>
                <a:ea typeface="Source Han Sans CN Bold"/>
                <a:cs typeface="Source Han Sans CN Bold"/>
              </a:defRPr>
            </a:pPr>
            <a:r>
              <a:rPr sz="1500" b="1" dirty="0">
                <a:solidFill>
                  <a:srgbClr val="D97706"/>
                </a:solidFill>
                <a:latin typeface="Source Han Sans CN Bold"/>
                <a:ea typeface="Source Han Sans CN Bold"/>
                <a:cs typeface="Source Han Sans CN Bold"/>
              </a:rPr>
              <a:t>⚠  GPU </a:t>
            </a:r>
            <a:r>
              <a:rPr sz="1500" b="1" dirty="0" err="1">
                <a:solidFill>
                  <a:srgbClr val="D97706"/>
                </a:solidFill>
                <a:latin typeface="Source Han Sans CN Bold"/>
                <a:ea typeface="Source Han Sans CN Bold"/>
                <a:cs typeface="Source Han Sans CN Bold"/>
              </a:rPr>
              <a:t>广播性能损失</a:t>
            </a:r>
            <a:endParaRPr sz="1500" b="1" dirty="0">
              <a:solidFill>
                <a:srgbClr val="D97706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DE7FD381-A4FD-4BBE-1077-4D9D6E44DB95}"/>
              </a:ext>
            </a:extLst>
          </p:cNvPr>
          <p:cNvSpPr>
            <a:spLocks noGrp="1"/>
          </p:cNvSpPr>
          <p:nvPr/>
        </p:nvSpPr>
        <p:spPr>
          <a:xfrm>
            <a:off x="8382000" y="1543050"/>
            <a:ext cx="3638550" cy="4000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10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 dirty="0">
                <a:solidFill>
                  <a:srgbClr val="B18B40"/>
                </a:solidFill>
                <a:latin typeface="Source Han Sans CN"/>
                <a:ea typeface="Source Han Sans CN"/>
              </a:rPr>
              <a:t>03  </a:t>
            </a:r>
            <a:r>
              <a:rPr sz="2100" b="1" dirty="0" err="1">
                <a:solidFill>
                  <a:srgbClr val="B18B40"/>
                </a:solidFill>
                <a:latin typeface="Source Han Sans CN"/>
                <a:ea typeface="Source Han Sans CN"/>
              </a:rPr>
              <a:t>LMCache</a:t>
            </a:r>
            <a:r>
              <a:rPr sz="2100" b="1" dirty="0">
                <a:solidFill>
                  <a:srgbClr val="B18B40"/>
                </a:solidFill>
                <a:latin typeface="Source Han Sans CN"/>
                <a:ea typeface="Source Han Sans CN"/>
              </a:rPr>
              <a:t> </a:t>
            </a:r>
            <a:r>
              <a:rPr sz="2100" b="1" dirty="0" err="1">
                <a:solidFill>
                  <a:srgbClr val="B18B40"/>
                </a:solidFill>
                <a:latin typeface="Source Han Sans CN"/>
                <a:ea typeface="Source Han Sans CN"/>
              </a:rPr>
              <a:t>MP：单机共享池</a:t>
            </a:r>
            <a:endParaRPr sz="2100" b="1" dirty="0">
              <a:solidFill>
                <a:srgbClr val="B18B40"/>
              </a:solidFill>
              <a:latin typeface="Source Han Sans CN"/>
              <a:ea typeface="Source Han Sans CN"/>
            </a:endParaRPr>
          </a:p>
        </p:txBody>
      </p:sp>
      <p:sp>
        <p:nvSpPr>
          <p:cNvPr id="71" name="直线连接符 70">
            <a:extLst>
              <a:ext uri="{FF2B5EF4-FFF2-40B4-BE49-F238E27FC236}">
                <a16:creationId xmlns:a16="http://schemas.microsoft.com/office/drawing/2014/main" id="{86C25DE1-32E5-8C12-E58F-7D5230B7D005}"/>
              </a:ext>
            </a:extLst>
          </p:cNvPr>
          <p:cNvSpPr>
            <a:spLocks noGrp="1"/>
          </p:cNvSpPr>
          <p:nvPr/>
        </p:nvSpPr>
        <p:spPr>
          <a:xfrm>
            <a:off x="8382000" y="2076450"/>
            <a:ext cx="3476625" cy="0"/>
          </a:xfrm>
          <a:prstGeom prst="line">
            <a:avLst/>
          </a:prstGeom>
          <a:noFill/>
          <a:ln w="9525">
            <a:solidFill>
              <a:srgbClr val="D4EEE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D86C007-DB8D-28AC-D13C-28FFA369E256}"/>
              </a:ext>
            </a:extLst>
          </p:cNvPr>
          <p:cNvSpPr>
            <a:spLocks noGrp="1"/>
          </p:cNvSpPr>
          <p:nvPr/>
        </p:nvSpPr>
        <p:spPr>
          <a:xfrm>
            <a:off x="8686800" y="2190750"/>
            <a:ext cx="2867025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275" b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独立 LMCache 进程维护共享池</a:t>
            </a:r>
          </a:p>
          <a:p>
            <a:pPr algn="l">
              <a:defRPr sz="1275" b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所有 Worker 访问同一份 CPU KV</a:t>
            </a:r>
          </a:p>
          <a:p>
            <a:pPr algn="l">
              <a:defRPr sz="1275" b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75" b="0">
                <a:solidFill>
                  <a:srgbClr val="43566F"/>
                </a:solidFill>
                <a:latin typeface="Source Han Sans CN"/>
                <a:ea typeface="Source Han Sans CN"/>
                <a:cs typeface="Source Han Sans CN"/>
              </a:rPr>
              <a:t>无需重复 offload 与 GPU 广播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9CA8220B-625F-2646-5004-8520AC03D9BE}"/>
              </a:ext>
            </a:extLst>
          </p:cNvPr>
          <p:cNvSpPr>
            <a:spLocks noGrp="1"/>
          </p:cNvSpPr>
          <p:nvPr/>
        </p:nvSpPr>
        <p:spPr>
          <a:xfrm>
            <a:off x="8563970" y="3089335"/>
            <a:ext cx="1418229" cy="273004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00" b="1">
                <a:solidFill>
                  <a:srgbClr val="A54A22"/>
                </a:solidFill>
                <a:latin typeface="Source Han Sans CN Bold"/>
                <a:ea typeface="Source Han Sans CN Bold"/>
                <a:cs typeface="Source Han Sans CN Bold"/>
              </a:defRPr>
            </a:pPr>
            <a:r>
              <a:rPr sz="1500" b="1" dirty="0">
                <a:solidFill>
                  <a:srgbClr val="A54A22"/>
                </a:solidFill>
                <a:latin typeface="Source Han Sans CN Bold"/>
                <a:ea typeface="Source Han Sans CN Bold"/>
                <a:cs typeface="Source Han Sans CN Bold"/>
              </a:rPr>
              <a:t>GPU / HBM</a:t>
            </a:r>
          </a:p>
        </p:txBody>
      </p:sp>
      <p:sp>
        <p:nvSpPr>
          <p:cNvPr id="74" name="圆角矩形 73">
            <a:extLst>
              <a:ext uri="{FF2B5EF4-FFF2-40B4-BE49-F238E27FC236}">
                <a16:creationId xmlns:a16="http://schemas.microsoft.com/office/drawing/2014/main" id="{B96F6B20-58A7-C0BA-2263-A9BB8C16F0E8}"/>
              </a:ext>
            </a:extLst>
          </p:cNvPr>
          <p:cNvSpPr>
            <a:spLocks noGrp="1"/>
          </p:cNvSpPr>
          <p:nvPr/>
        </p:nvSpPr>
        <p:spPr>
          <a:xfrm>
            <a:off x="8633323" y="3505214"/>
            <a:ext cx="781050" cy="295275"/>
          </a:xfrm>
          <a:prstGeom prst="roundRect">
            <a:avLst>
              <a:gd name="adj" fmla="val 45161"/>
            </a:avLst>
          </a:prstGeom>
          <a:solidFill>
            <a:srgbClr val="EF9147"/>
          </a:solidFill>
          <a:ln w="9525">
            <a:solidFill>
              <a:srgbClr val="DB792B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defRPr>
            </a:pPr>
            <a:r>
              <a:rPr sz="1200" b="1" dirty="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rank0</a:t>
            </a:r>
          </a:p>
        </p:txBody>
      </p:sp>
      <p:sp>
        <p:nvSpPr>
          <p:cNvPr id="75" name="圆角矩形 74">
            <a:extLst>
              <a:ext uri="{FF2B5EF4-FFF2-40B4-BE49-F238E27FC236}">
                <a16:creationId xmlns:a16="http://schemas.microsoft.com/office/drawing/2014/main" id="{1AD58DE0-9C65-58EA-FA3F-85C96CB83A99}"/>
              </a:ext>
            </a:extLst>
          </p:cNvPr>
          <p:cNvSpPr>
            <a:spLocks noGrp="1"/>
          </p:cNvSpPr>
          <p:nvPr/>
        </p:nvSpPr>
        <p:spPr>
          <a:xfrm>
            <a:off x="9738223" y="3505214"/>
            <a:ext cx="781050" cy="295275"/>
          </a:xfrm>
          <a:prstGeom prst="roundRect">
            <a:avLst>
              <a:gd name="adj" fmla="val 45161"/>
            </a:avLst>
          </a:prstGeom>
          <a:solidFill>
            <a:srgbClr val="EF9147"/>
          </a:solidFill>
          <a:ln w="9525">
            <a:solidFill>
              <a:srgbClr val="DB792B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defRPr>
            </a:pPr>
            <a:r>
              <a:rPr sz="1200" b="1" dirty="0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rank1</a:t>
            </a:r>
          </a:p>
        </p:txBody>
      </p:sp>
      <p:sp>
        <p:nvSpPr>
          <p:cNvPr id="76" name="圆角矩形 75">
            <a:extLst>
              <a:ext uri="{FF2B5EF4-FFF2-40B4-BE49-F238E27FC236}">
                <a16:creationId xmlns:a16="http://schemas.microsoft.com/office/drawing/2014/main" id="{8E9B416E-1BFC-EAE6-6E81-BA0F31E94C60}"/>
              </a:ext>
            </a:extLst>
          </p:cNvPr>
          <p:cNvSpPr>
            <a:spLocks noGrp="1"/>
          </p:cNvSpPr>
          <p:nvPr/>
        </p:nvSpPr>
        <p:spPr>
          <a:xfrm>
            <a:off x="10843123" y="3505214"/>
            <a:ext cx="781050" cy="295275"/>
          </a:xfrm>
          <a:prstGeom prst="roundRect">
            <a:avLst>
              <a:gd name="adj" fmla="val 45161"/>
            </a:avLst>
          </a:prstGeom>
          <a:solidFill>
            <a:srgbClr val="EF9147"/>
          </a:solidFill>
          <a:ln w="9525">
            <a:solidFill>
              <a:srgbClr val="DB792B"/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975" b="1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defRPr>
            </a:pPr>
            <a:r>
              <a:rPr sz="1200" b="1" dirty="0" err="1">
                <a:solidFill>
                  <a:srgbClr val="FFFFFF"/>
                </a:solidFill>
                <a:latin typeface="Source Han Sans CN Bold"/>
                <a:ea typeface="Source Han Sans CN Bold"/>
                <a:cs typeface="Source Han Sans CN Bold"/>
              </a:rPr>
              <a:t>rankN</a:t>
            </a:r>
            <a:endParaRPr sz="1200" b="1" dirty="0">
              <a:solidFill>
                <a:srgbClr val="FFFFFF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3D75E2B6-D3D7-0661-1911-4383BC9FB105}"/>
              </a:ext>
            </a:extLst>
          </p:cNvPr>
          <p:cNvSpPr>
            <a:spLocks noGrp="1"/>
          </p:cNvSpPr>
          <p:nvPr/>
        </p:nvSpPr>
        <p:spPr>
          <a:xfrm>
            <a:off x="9376152" y="4972077"/>
            <a:ext cx="1703139" cy="2571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900" b="1">
                <a:solidFill>
                  <a:srgbClr val="07966A"/>
                </a:solidFill>
                <a:latin typeface="Source Han Sans CN Bold"/>
                <a:ea typeface="Source Han Sans CN Bold"/>
                <a:cs typeface="Source Han Sans CN Bold"/>
              </a:defRPr>
            </a:pPr>
            <a:r>
              <a:rPr sz="1200" b="1" dirty="0">
                <a:solidFill>
                  <a:srgbClr val="07966A"/>
                </a:solidFill>
                <a:latin typeface="Source Han Sans CN Bold"/>
                <a:ea typeface="Source Han Sans CN Bold"/>
                <a:cs typeface="Source Han Sans CN Bold"/>
              </a:rPr>
              <a:t>CPU / DRAM </a:t>
            </a:r>
            <a:r>
              <a:rPr sz="1200" b="1" dirty="0" err="1">
                <a:solidFill>
                  <a:srgbClr val="07966A"/>
                </a:solidFill>
                <a:latin typeface="Source Han Sans CN Bold"/>
                <a:ea typeface="Source Han Sans CN Bold"/>
                <a:cs typeface="Source Han Sans CN Bold"/>
              </a:rPr>
              <a:t>共享池</a:t>
            </a:r>
            <a:endParaRPr sz="1200" b="1" dirty="0">
              <a:solidFill>
                <a:srgbClr val="07966A"/>
              </a:solidFill>
              <a:latin typeface="Source Han Sans CN Bold"/>
              <a:ea typeface="Source Han Sans CN Bold"/>
              <a:cs typeface="Source Han Sans CN Bold"/>
            </a:endParaRPr>
          </a:p>
        </p:txBody>
      </p:sp>
      <p:sp>
        <p:nvSpPr>
          <p:cNvPr id="78" name="圆角矩形 77">
            <a:extLst>
              <a:ext uri="{FF2B5EF4-FFF2-40B4-BE49-F238E27FC236}">
                <a16:creationId xmlns:a16="http://schemas.microsoft.com/office/drawing/2014/main" id="{B32FC97A-E32D-1E5B-19EE-1917C218792B}"/>
              </a:ext>
            </a:extLst>
          </p:cNvPr>
          <p:cNvSpPr>
            <a:spLocks noGrp="1"/>
          </p:cNvSpPr>
          <p:nvPr/>
        </p:nvSpPr>
        <p:spPr>
          <a:xfrm>
            <a:off x="8695235" y="4391053"/>
            <a:ext cx="2867025" cy="506278"/>
          </a:xfrm>
          <a:prstGeom prst="roundRect">
            <a:avLst>
              <a:gd name="adj" fmla="val 36842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accent4">
                <a:lumMod val="20000"/>
                <a:lumOff val="80000"/>
              </a:schemeClr>
            </a:solidFill>
            <a:prstDash val="solid"/>
          </a:ln>
        </p:spPr>
        <p:txBody>
          <a:bodyPr anchor="ctr">
            <a:noAutofit/>
          </a:bodyPr>
          <a:lstStyle/>
          <a:p>
            <a:pPr algn="ctr">
              <a:defRPr sz="1050" b="1">
                <a:solidFill>
                  <a:srgbClr val="087A59"/>
                </a:solidFill>
                <a:latin typeface="Source Han Sans CN Bold"/>
                <a:ea typeface="Source Han Sans CN Bold"/>
                <a:cs typeface="Source Han Sans CN Bold"/>
              </a:defRPr>
            </a:pPr>
            <a:r>
              <a:rPr sz="1200" b="1">
                <a:solidFill>
                  <a:srgbClr val="087A59"/>
                </a:solidFill>
                <a:latin typeface="Source Han Sans CN Bold"/>
                <a:ea typeface="Source Han Sans CN Bold"/>
                <a:cs typeface="Source Han Sans CN Bold"/>
              </a:rPr>
              <a:t>Shared CPU KV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2CB90255-6B1B-4C45-F03E-EF3FA994EFBE}"/>
              </a:ext>
            </a:extLst>
          </p:cNvPr>
          <p:cNvSpPr>
            <a:spLocks noGrp="1"/>
          </p:cNvSpPr>
          <p:nvPr/>
        </p:nvSpPr>
        <p:spPr>
          <a:xfrm>
            <a:off x="8362950" y="5334000"/>
            <a:ext cx="3514725" cy="552450"/>
          </a:xfrm>
          <a:prstGeom prst="rect">
            <a:avLst/>
          </a:prstGeom>
          <a:solidFill>
            <a:srgbClr val="E2F6EF"/>
          </a:solidFill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1500" b="1">
                <a:solidFill>
                  <a:srgbClr val="07966A"/>
                </a:solidFill>
                <a:latin typeface="Source Han Sans CN Bold"/>
                <a:ea typeface="Source Han Sans CN Bold"/>
                <a:cs typeface="Source Han Sans CN Bold"/>
              </a:defRPr>
            </a:pPr>
            <a:r>
              <a:rPr sz="1500" b="1">
                <a:solidFill>
                  <a:srgbClr val="07966A"/>
                </a:solidFill>
                <a:latin typeface="Source Han Sans CN Bold"/>
                <a:ea typeface="Source Han Sans CN Bold"/>
                <a:cs typeface="Source Han Sans CN Bold"/>
              </a:rPr>
              <a:t>✓  单份共享，免 GPU 广播</a:t>
            </a:r>
          </a:p>
        </p:txBody>
      </p:sp>
      <p:cxnSp>
        <p:nvCxnSpPr>
          <p:cNvPr id="92" name="直线箭头连接符 91">
            <a:extLst>
              <a:ext uri="{FF2B5EF4-FFF2-40B4-BE49-F238E27FC236}">
                <a16:creationId xmlns:a16="http://schemas.microsoft.com/office/drawing/2014/main" id="{50635706-C448-BF38-0410-79BC4395ADCF}"/>
              </a:ext>
            </a:extLst>
          </p:cNvPr>
          <p:cNvCxnSpPr>
            <a:cxnSpLocks/>
            <a:stCxn id="51" idx="0"/>
          </p:cNvCxnSpPr>
          <p:nvPr/>
        </p:nvCxnSpPr>
        <p:spPr>
          <a:xfrm flipV="1">
            <a:off x="3105150" y="3854464"/>
            <a:ext cx="0" cy="333375"/>
          </a:xfrm>
          <a:prstGeom prst="straightConnector1">
            <a:avLst/>
          </a:prstGeom>
          <a:ln w="22225">
            <a:solidFill>
              <a:srgbClr val="8299B2"/>
            </a:solidFill>
            <a:prstDash val="solid"/>
            <a:headEnd type="triangle"/>
            <a:tailEnd type="triangle" w="sm" len="sm"/>
          </a:ln>
        </p:spPr>
      </p:cxnSp>
      <p:cxnSp>
        <p:nvCxnSpPr>
          <p:cNvPr id="94" name="直线箭头连接符 93">
            <a:extLst>
              <a:ext uri="{FF2B5EF4-FFF2-40B4-BE49-F238E27FC236}">
                <a16:creationId xmlns:a16="http://schemas.microsoft.com/office/drawing/2014/main" id="{23F1EAAE-3BD7-63B1-8A86-F88DACE1DB66}"/>
              </a:ext>
            </a:extLst>
          </p:cNvPr>
          <p:cNvCxnSpPr>
            <a:cxnSpLocks/>
          </p:cNvCxnSpPr>
          <p:nvPr/>
        </p:nvCxnSpPr>
        <p:spPr>
          <a:xfrm flipV="1">
            <a:off x="887186" y="3848205"/>
            <a:ext cx="0" cy="333375"/>
          </a:xfrm>
          <a:prstGeom prst="straightConnector1">
            <a:avLst/>
          </a:prstGeom>
          <a:ln w="22225">
            <a:solidFill>
              <a:srgbClr val="8299B2"/>
            </a:solidFill>
            <a:prstDash val="solid"/>
            <a:headEnd type="triangle"/>
            <a:tailEnd type="triangle" w="sm" len="sm"/>
          </a:ln>
        </p:spPr>
      </p:cxnSp>
      <p:cxnSp>
        <p:nvCxnSpPr>
          <p:cNvPr id="95" name="直线箭头连接符 94">
            <a:extLst>
              <a:ext uri="{FF2B5EF4-FFF2-40B4-BE49-F238E27FC236}">
                <a16:creationId xmlns:a16="http://schemas.microsoft.com/office/drawing/2014/main" id="{5043A623-A003-26E6-0D18-7FFE10AC04B8}"/>
              </a:ext>
            </a:extLst>
          </p:cNvPr>
          <p:cNvCxnSpPr>
            <a:cxnSpLocks/>
          </p:cNvCxnSpPr>
          <p:nvPr/>
        </p:nvCxnSpPr>
        <p:spPr>
          <a:xfrm flipV="1">
            <a:off x="2005149" y="3848205"/>
            <a:ext cx="0" cy="333375"/>
          </a:xfrm>
          <a:prstGeom prst="straightConnector1">
            <a:avLst/>
          </a:prstGeom>
          <a:ln w="22225">
            <a:solidFill>
              <a:srgbClr val="8299B2"/>
            </a:solidFill>
            <a:prstDash val="solid"/>
            <a:headEnd type="triangle"/>
            <a:tailEnd type="triangle" w="sm" len="sm"/>
          </a:ln>
        </p:spPr>
      </p:cxnSp>
      <p:cxnSp>
        <p:nvCxnSpPr>
          <p:cNvPr id="96" name="直线箭头连接符 95">
            <a:extLst>
              <a:ext uri="{FF2B5EF4-FFF2-40B4-BE49-F238E27FC236}">
                <a16:creationId xmlns:a16="http://schemas.microsoft.com/office/drawing/2014/main" id="{A9EE7938-66A1-A73E-9C5F-C92D9797218F}"/>
              </a:ext>
            </a:extLst>
          </p:cNvPr>
          <p:cNvCxnSpPr>
            <a:cxnSpLocks/>
            <a:stCxn id="78" idx="0"/>
            <a:endCxn id="74" idx="2"/>
          </p:cNvCxnSpPr>
          <p:nvPr/>
        </p:nvCxnSpPr>
        <p:spPr>
          <a:xfrm flipH="1" flipV="1">
            <a:off x="9023848" y="3800489"/>
            <a:ext cx="1104900" cy="590564"/>
          </a:xfrm>
          <a:prstGeom prst="straightConnector1">
            <a:avLst/>
          </a:prstGeom>
          <a:ln w="22225">
            <a:solidFill>
              <a:srgbClr val="8299B2"/>
            </a:solidFill>
            <a:prstDash val="solid"/>
            <a:headEnd type="triangle"/>
            <a:tailEnd type="triangle" w="sm" len="sm"/>
          </a:ln>
        </p:spPr>
      </p:cxnSp>
      <p:cxnSp>
        <p:nvCxnSpPr>
          <p:cNvPr id="102" name="直线箭头连接符 101">
            <a:extLst>
              <a:ext uri="{FF2B5EF4-FFF2-40B4-BE49-F238E27FC236}">
                <a16:creationId xmlns:a16="http://schemas.microsoft.com/office/drawing/2014/main" id="{3B1B2538-55D7-8603-3B52-35CEE6D4B8AB}"/>
              </a:ext>
            </a:extLst>
          </p:cNvPr>
          <p:cNvCxnSpPr>
            <a:cxnSpLocks/>
            <a:stCxn id="78" idx="0"/>
            <a:endCxn id="75" idx="2"/>
          </p:cNvCxnSpPr>
          <p:nvPr/>
        </p:nvCxnSpPr>
        <p:spPr>
          <a:xfrm flipV="1">
            <a:off x="10128748" y="3800489"/>
            <a:ext cx="0" cy="590564"/>
          </a:xfrm>
          <a:prstGeom prst="straightConnector1">
            <a:avLst/>
          </a:prstGeom>
          <a:ln w="22225">
            <a:solidFill>
              <a:srgbClr val="8299B2"/>
            </a:solidFill>
            <a:prstDash val="solid"/>
            <a:headEnd type="triangle"/>
            <a:tailEnd type="triangle" w="sm" len="sm"/>
          </a:ln>
        </p:spPr>
      </p:cxnSp>
      <p:cxnSp>
        <p:nvCxnSpPr>
          <p:cNvPr id="104" name="直线箭头连接符 103">
            <a:extLst>
              <a:ext uri="{FF2B5EF4-FFF2-40B4-BE49-F238E27FC236}">
                <a16:creationId xmlns:a16="http://schemas.microsoft.com/office/drawing/2014/main" id="{E5B05080-5FBD-04FA-C5F2-B72B503E2899}"/>
              </a:ext>
            </a:extLst>
          </p:cNvPr>
          <p:cNvCxnSpPr>
            <a:cxnSpLocks/>
            <a:stCxn id="78" idx="0"/>
            <a:endCxn id="76" idx="2"/>
          </p:cNvCxnSpPr>
          <p:nvPr/>
        </p:nvCxnSpPr>
        <p:spPr>
          <a:xfrm flipV="1">
            <a:off x="10128748" y="3800489"/>
            <a:ext cx="1104900" cy="590564"/>
          </a:xfrm>
          <a:prstGeom prst="straightConnector1">
            <a:avLst/>
          </a:prstGeom>
          <a:ln w="22225">
            <a:solidFill>
              <a:srgbClr val="8299B2"/>
            </a:solidFill>
            <a:prstDash val="solid"/>
            <a:headEnd type="triangle"/>
            <a:tailEnd type="triangl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 dirty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进程隔离：消除</a:t>
            </a:r>
            <a:r>
              <a:rPr lang="en-US" altLang="zh-CN" sz="2800" b="1" i="0" dirty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GIL</a:t>
            </a:r>
            <a:r>
              <a:rPr lang="zh-CN" altLang="en-US" sz="2800" b="1" i="0" dirty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开销</a:t>
            </a: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57A6D-C168-44B7-B106-A1DFF14AE26B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02    Multi-process </a:t>
            </a:r>
            <a:r>
              <a:rPr sz="120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模式</a:t>
            </a:r>
            <a:r>
              <a:rPr lang="zh-CN" altLang="en-US" sz="1200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性能</a:t>
            </a:r>
            <a:r>
              <a:rPr sz="120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优势</a:t>
            </a:r>
            <a:endParaRPr sz="1200" b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C5A3D08F-A5CD-3E56-EE7C-505848443392}"/>
              </a:ext>
            </a:extLst>
          </p:cNvPr>
          <p:cNvSpPr>
            <a:spLocks noGrp="1"/>
          </p:cNvSpPr>
          <p:nvPr/>
        </p:nvSpPr>
        <p:spPr>
          <a:xfrm>
            <a:off x="495300" y="1524000"/>
            <a:ext cx="2952750" cy="3409950"/>
          </a:xfrm>
          <a:prstGeom prst="roundRect">
            <a:avLst>
              <a:gd name="adj" fmla="val 3871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16161C7E-2268-1177-2E18-D96636B84CD0}"/>
              </a:ext>
            </a:extLst>
          </p:cNvPr>
          <p:cNvSpPr>
            <a:spLocks noGrp="1"/>
          </p:cNvSpPr>
          <p:nvPr/>
        </p:nvSpPr>
        <p:spPr>
          <a:xfrm>
            <a:off x="4305300" y="1524000"/>
            <a:ext cx="7372350" cy="3409950"/>
          </a:xfrm>
          <a:prstGeom prst="roundRect">
            <a:avLst>
              <a:gd name="adj" fmla="val 3352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7E6A85-05D3-2710-2DC1-72DA2273199B}"/>
              </a:ext>
            </a:extLst>
          </p:cNvPr>
          <p:cNvSpPr>
            <a:spLocks noGrp="1"/>
          </p:cNvSpPr>
          <p:nvPr/>
        </p:nvSpPr>
        <p:spPr>
          <a:xfrm>
            <a:off x="695325" y="1714500"/>
            <a:ext cx="25717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推理引擎进程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A7DEB15-FCF7-FD09-0536-01C636AF3F5C}"/>
              </a:ext>
            </a:extLst>
          </p:cNvPr>
          <p:cNvSpPr>
            <a:spLocks noGrp="1"/>
          </p:cNvSpPr>
          <p:nvPr/>
        </p:nvSpPr>
        <p:spPr>
          <a:xfrm>
            <a:off x="4543425" y="1714500"/>
            <a:ext cx="619125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LMCache MP 进程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DC93D8B6-3EE5-D2A3-175E-F010E0F46B54}"/>
              </a:ext>
            </a:extLst>
          </p:cNvPr>
          <p:cNvSpPr>
            <a:spLocks noGrp="1"/>
          </p:cNvSpPr>
          <p:nvPr/>
        </p:nvSpPr>
        <p:spPr>
          <a:xfrm>
            <a:off x="752475" y="2438400"/>
            <a:ext cx="2447925" cy="657225"/>
          </a:xfrm>
          <a:prstGeom prst="roundRect">
            <a:avLst>
              <a:gd name="adj" fmla="val 17391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F1C82A99-32E8-8E3E-F143-A502145CB29A}"/>
              </a:ext>
            </a:extLst>
          </p:cNvPr>
          <p:cNvSpPr>
            <a:spLocks noGrp="1"/>
          </p:cNvSpPr>
          <p:nvPr/>
        </p:nvSpPr>
        <p:spPr>
          <a:xfrm>
            <a:off x="1362075" y="2581275"/>
            <a:ext cx="15811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模型计算</a:t>
            </a:r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46FF5CB6-5799-35A3-219E-AF514EEF1F7E}"/>
              </a:ext>
            </a:extLst>
          </p:cNvPr>
          <p:cNvSpPr>
            <a:spLocks noGrp="1"/>
          </p:cNvSpPr>
          <p:nvPr/>
        </p:nvSpPr>
        <p:spPr>
          <a:xfrm>
            <a:off x="752475" y="3438525"/>
            <a:ext cx="2447925" cy="657225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EDFD331-822A-5641-28C6-6019AE247E19}"/>
              </a:ext>
            </a:extLst>
          </p:cNvPr>
          <p:cNvSpPr>
            <a:spLocks noGrp="1"/>
          </p:cNvSpPr>
          <p:nvPr/>
        </p:nvSpPr>
        <p:spPr>
          <a:xfrm>
            <a:off x="1038225" y="3619500"/>
            <a:ext cx="212407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Python / GIL A</a:t>
            </a:r>
          </a:p>
        </p:txBody>
      </p:sp>
      <p:sp>
        <p:nvSpPr>
          <p:cNvPr id="22" name="右箭头 21">
            <a:extLst>
              <a:ext uri="{FF2B5EF4-FFF2-40B4-BE49-F238E27FC236}">
                <a16:creationId xmlns:a16="http://schemas.microsoft.com/office/drawing/2014/main" id="{D1D0D2C5-573E-1C91-8C2E-2CA4B11C9B29}"/>
              </a:ext>
            </a:extLst>
          </p:cNvPr>
          <p:cNvSpPr>
            <a:spLocks noGrp="1"/>
          </p:cNvSpPr>
          <p:nvPr/>
        </p:nvSpPr>
        <p:spPr>
          <a:xfrm>
            <a:off x="3543300" y="2857500"/>
            <a:ext cx="647700" cy="228600"/>
          </a:xfrm>
          <a:prstGeom prst="rightArrow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875FA28-0886-56B7-FD08-6E56424F17BC}"/>
              </a:ext>
            </a:extLst>
          </p:cNvPr>
          <p:cNvSpPr>
            <a:spLocks noGrp="1"/>
          </p:cNvSpPr>
          <p:nvPr/>
        </p:nvSpPr>
        <p:spPr>
          <a:xfrm>
            <a:off x="3657600" y="2486025"/>
            <a:ext cx="581025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1">
                <a:solidFill>
                  <a:srgbClr val="417AA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1">
                <a:solidFill>
                  <a:srgbClr val="417AAB"/>
                </a:solidFill>
                <a:latin typeface="Source Han Sans CN"/>
                <a:ea typeface="Source Han Sans CN"/>
                <a:cs typeface="Source Han Sans CN"/>
              </a:rPr>
              <a:t>IPC</a:t>
            </a:r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52EFD497-2C1F-9100-B8CD-F7ECFEACF177}"/>
              </a:ext>
            </a:extLst>
          </p:cNvPr>
          <p:cNvSpPr>
            <a:spLocks noGrp="1"/>
          </p:cNvSpPr>
          <p:nvPr/>
        </p:nvSpPr>
        <p:spPr>
          <a:xfrm>
            <a:off x="4543425" y="2419350"/>
            <a:ext cx="2047875" cy="2000250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6578702-BAA3-DCD0-DD0B-49EE9D11FC8A}"/>
              </a:ext>
            </a:extLst>
          </p:cNvPr>
          <p:cNvSpPr>
            <a:spLocks noGrp="1"/>
          </p:cNvSpPr>
          <p:nvPr/>
        </p:nvSpPr>
        <p:spPr>
          <a:xfrm>
            <a:off x="4762500" y="2609850"/>
            <a:ext cx="16764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缓存调度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5253F74-9DC0-1BB8-1635-4C8383BF6F50}"/>
              </a:ext>
            </a:extLst>
          </p:cNvPr>
          <p:cNvSpPr>
            <a:spLocks noGrp="1"/>
          </p:cNvSpPr>
          <p:nvPr/>
        </p:nvSpPr>
        <p:spPr>
          <a:xfrm>
            <a:off x="4762500" y="3600449"/>
            <a:ext cx="193357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Python / GIL B</a:t>
            </a:r>
          </a:p>
        </p:txBody>
      </p:sp>
      <p:sp>
        <p:nvSpPr>
          <p:cNvPr id="27" name="右箭头 26">
            <a:extLst>
              <a:ext uri="{FF2B5EF4-FFF2-40B4-BE49-F238E27FC236}">
                <a16:creationId xmlns:a16="http://schemas.microsoft.com/office/drawing/2014/main" id="{AD799045-8AF5-54D2-52D2-A9B89AFC0622}"/>
              </a:ext>
            </a:extLst>
          </p:cNvPr>
          <p:cNvSpPr>
            <a:spLocks noGrp="1"/>
          </p:cNvSpPr>
          <p:nvPr/>
        </p:nvSpPr>
        <p:spPr>
          <a:xfrm>
            <a:off x="6715125" y="3152775"/>
            <a:ext cx="314325" cy="190500"/>
          </a:xfrm>
          <a:prstGeom prst="rightArrow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19DEA648-2C8B-E7EF-0135-061B51B148A6}"/>
              </a:ext>
            </a:extLst>
          </p:cNvPr>
          <p:cNvSpPr>
            <a:spLocks noGrp="1"/>
          </p:cNvSpPr>
          <p:nvPr/>
        </p:nvSpPr>
        <p:spPr>
          <a:xfrm>
            <a:off x="7124700" y="2305050"/>
            <a:ext cx="4295775" cy="2257425"/>
          </a:xfrm>
          <a:prstGeom prst="roundRect">
            <a:avLst>
              <a:gd name="adj" fmla="val 5063"/>
            </a:avLst>
          </a:prstGeom>
          <a:solidFill>
            <a:srgbClr val="FFF9EC"/>
          </a:solidFill>
          <a:ln w="14288">
            <a:solidFill>
              <a:srgbClr val="E4D5B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1D16550C-4439-2EF5-A334-E69F59330B65}"/>
              </a:ext>
            </a:extLst>
          </p:cNvPr>
          <p:cNvSpPr>
            <a:spLocks noGrp="1"/>
          </p:cNvSpPr>
          <p:nvPr/>
        </p:nvSpPr>
        <p:spPr>
          <a:xfrm>
            <a:off x="7305675" y="2457450"/>
            <a:ext cx="3905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Native Adapter · C++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D76E955-F3B8-4748-718B-A9204F123770}"/>
              </a:ext>
            </a:extLst>
          </p:cNvPr>
          <p:cNvSpPr>
            <a:spLocks noGrp="1"/>
          </p:cNvSpPr>
          <p:nvPr/>
        </p:nvSpPr>
        <p:spPr>
          <a:xfrm>
            <a:off x="7191375" y="3067050"/>
            <a:ext cx="12668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读取队列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B68E4747-B3AA-2101-BDE9-BA8721C589EB}"/>
              </a:ext>
            </a:extLst>
          </p:cNvPr>
          <p:cNvSpPr>
            <a:spLocks noGrp="1"/>
          </p:cNvSpPr>
          <p:nvPr/>
        </p:nvSpPr>
        <p:spPr>
          <a:xfrm>
            <a:off x="8458200" y="3105150"/>
            <a:ext cx="200025" cy="257175"/>
          </a:xfrm>
          <a:prstGeom prst="roundRect">
            <a:avLst>
              <a:gd name="adj" fmla="val 50000"/>
            </a:avLst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圆角矩形 31">
            <a:extLst>
              <a:ext uri="{FF2B5EF4-FFF2-40B4-BE49-F238E27FC236}">
                <a16:creationId xmlns:a16="http://schemas.microsoft.com/office/drawing/2014/main" id="{1D10FEB8-8C0E-5A6F-09E4-0B6CE16667A1}"/>
              </a:ext>
            </a:extLst>
          </p:cNvPr>
          <p:cNvSpPr>
            <a:spLocks noGrp="1"/>
          </p:cNvSpPr>
          <p:nvPr/>
        </p:nvSpPr>
        <p:spPr>
          <a:xfrm>
            <a:off x="8734425" y="3105150"/>
            <a:ext cx="200025" cy="257175"/>
          </a:xfrm>
          <a:prstGeom prst="roundRect">
            <a:avLst>
              <a:gd name="adj" fmla="val 50000"/>
            </a:avLst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9D4B56FE-BF33-7201-61E5-DBC220F31EF0}"/>
              </a:ext>
            </a:extLst>
          </p:cNvPr>
          <p:cNvSpPr>
            <a:spLocks noGrp="1"/>
          </p:cNvSpPr>
          <p:nvPr/>
        </p:nvSpPr>
        <p:spPr>
          <a:xfrm>
            <a:off x="9010650" y="3105150"/>
            <a:ext cx="200025" cy="257175"/>
          </a:xfrm>
          <a:prstGeom prst="roundRect">
            <a:avLst>
              <a:gd name="adj" fmla="val 50000"/>
            </a:avLst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右箭头 33">
            <a:extLst>
              <a:ext uri="{FF2B5EF4-FFF2-40B4-BE49-F238E27FC236}">
                <a16:creationId xmlns:a16="http://schemas.microsoft.com/office/drawing/2014/main" id="{611CAAD9-467E-4F1B-A421-541387A172C8}"/>
              </a:ext>
            </a:extLst>
          </p:cNvPr>
          <p:cNvSpPr>
            <a:spLocks noGrp="1"/>
          </p:cNvSpPr>
          <p:nvPr/>
        </p:nvSpPr>
        <p:spPr>
          <a:xfrm>
            <a:off x="9401175" y="3152775"/>
            <a:ext cx="266700" cy="161925"/>
          </a:xfrm>
          <a:prstGeom prst="rightArrow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F09398EE-EB46-B623-6AD1-A744A67CEBD2}"/>
              </a:ext>
            </a:extLst>
          </p:cNvPr>
          <p:cNvSpPr>
            <a:spLocks noGrp="1"/>
          </p:cNvSpPr>
          <p:nvPr/>
        </p:nvSpPr>
        <p:spPr>
          <a:xfrm>
            <a:off x="9782175" y="3009900"/>
            <a:ext cx="142875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204CAA2-88C1-F77B-C11C-E66EC62876E0}"/>
              </a:ext>
            </a:extLst>
          </p:cNvPr>
          <p:cNvSpPr>
            <a:spLocks noGrp="1"/>
          </p:cNvSpPr>
          <p:nvPr/>
        </p:nvSpPr>
        <p:spPr>
          <a:xfrm>
            <a:off x="10039350" y="3095625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读线程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C9433EC-D426-71CE-A34E-BC92D90AB64E}"/>
              </a:ext>
            </a:extLst>
          </p:cNvPr>
          <p:cNvSpPr>
            <a:spLocks noGrp="1"/>
          </p:cNvSpPr>
          <p:nvPr/>
        </p:nvSpPr>
        <p:spPr>
          <a:xfrm>
            <a:off x="7191375" y="3800475"/>
            <a:ext cx="126682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写入队列</a:t>
            </a: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606D60BE-CED9-7B34-2FD2-106351EB7BEF}"/>
              </a:ext>
            </a:extLst>
          </p:cNvPr>
          <p:cNvSpPr>
            <a:spLocks noGrp="1"/>
          </p:cNvSpPr>
          <p:nvPr/>
        </p:nvSpPr>
        <p:spPr>
          <a:xfrm>
            <a:off x="8458200" y="3838575"/>
            <a:ext cx="200025" cy="257175"/>
          </a:xfrm>
          <a:prstGeom prst="roundRect">
            <a:avLst>
              <a:gd name="adj" fmla="val 50000"/>
            </a:avLst>
          </a:prstGeom>
          <a:solidFill>
            <a:srgbClr val="B18B4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4A73CEDF-3366-0289-FD7C-906A130F7296}"/>
              </a:ext>
            </a:extLst>
          </p:cNvPr>
          <p:cNvSpPr>
            <a:spLocks noGrp="1"/>
          </p:cNvSpPr>
          <p:nvPr/>
        </p:nvSpPr>
        <p:spPr>
          <a:xfrm>
            <a:off x="8734425" y="3838575"/>
            <a:ext cx="200025" cy="257175"/>
          </a:xfrm>
          <a:prstGeom prst="roundRect">
            <a:avLst>
              <a:gd name="adj" fmla="val 50000"/>
            </a:avLst>
          </a:prstGeom>
          <a:solidFill>
            <a:srgbClr val="B18B4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5B918B10-E3C4-A4C6-0DCC-45E8537658BC}"/>
              </a:ext>
            </a:extLst>
          </p:cNvPr>
          <p:cNvSpPr>
            <a:spLocks noGrp="1"/>
          </p:cNvSpPr>
          <p:nvPr/>
        </p:nvSpPr>
        <p:spPr>
          <a:xfrm>
            <a:off x="9010650" y="3838575"/>
            <a:ext cx="200025" cy="257175"/>
          </a:xfrm>
          <a:prstGeom prst="roundRect">
            <a:avLst>
              <a:gd name="adj" fmla="val 50000"/>
            </a:avLst>
          </a:prstGeom>
          <a:solidFill>
            <a:srgbClr val="B18B4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右箭头 40">
            <a:extLst>
              <a:ext uri="{FF2B5EF4-FFF2-40B4-BE49-F238E27FC236}">
                <a16:creationId xmlns:a16="http://schemas.microsoft.com/office/drawing/2014/main" id="{F03A86E2-ABED-008F-ECBF-A2999DA5BE61}"/>
              </a:ext>
            </a:extLst>
          </p:cNvPr>
          <p:cNvSpPr>
            <a:spLocks noGrp="1"/>
          </p:cNvSpPr>
          <p:nvPr/>
        </p:nvSpPr>
        <p:spPr>
          <a:xfrm>
            <a:off x="9401175" y="3886200"/>
            <a:ext cx="266700" cy="161925"/>
          </a:xfrm>
          <a:prstGeom prst="rightArrow">
            <a:avLst/>
          </a:prstGeom>
          <a:solidFill>
            <a:srgbClr val="B18B4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40B8B854-E0EB-BD18-9FDA-2AB6C6335EFB}"/>
              </a:ext>
            </a:extLst>
          </p:cNvPr>
          <p:cNvSpPr>
            <a:spLocks noGrp="1"/>
          </p:cNvSpPr>
          <p:nvPr/>
        </p:nvSpPr>
        <p:spPr>
          <a:xfrm>
            <a:off x="9782175" y="3743325"/>
            <a:ext cx="1428750" cy="438150"/>
          </a:xfrm>
          <a:prstGeom prst="roundRect">
            <a:avLst>
              <a:gd name="adj" fmla="val 26087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F170EE4A-FDEA-0EC1-AD41-464CE11D3AA8}"/>
              </a:ext>
            </a:extLst>
          </p:cNvPr>
          <p:cNvSpPr>
            <a:spLocks noGrp="1"/>
          </p:cNvSpPr>
          <p:nvPr/>
        </p:nvSpPr>
        <p:spPr>
          <a:xfrm>
            <a:off x="10039350" y="3829050"/>
            <a:ext cx="11049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写线程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CED90748-F18F-5D3C-4432-2DF1EB77A59A}"/>
              </a:ext>
            </a:extLst>
          </p:cNvPr>
          <p:cNvSpPr>
            <a:spLocks noGrp="1"/>
          </p:cNvSpPr>
          <p:nvPr/>
        </p:nvSpPr>
        <p:spPr>
          <a:xfrm>
            <a:off x="3314700" y="4419600"/>
            <a:ext cx="13335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各自运行</a:t>
            </a:r>
            <a:endParaRPr sz="1725" b="1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6F4C0F0-E24E-0C6C-825F-010686E1F0D6}"/>
              </a:ext>
            </a:extLst>
          </p:cNvPr>
          <p:cNvSpPr>
            <a:spLocks noGrp="1"/>
          </p:cNvSpPr>
          <p:nvPr/>
        </p:nvSpPr>
        <p:spPr>
          <a:xfrm>
            <a:off x="8262937" y="4583575"/>
            <a:ext cx="3552825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0" dirty="0" err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按操作类型独立排队</a:t>
            </a:r>
            <a:endParaRPr sz="1650" b="0" dirty="0">
              <a:solidFill>
                <a:srgbClr val="B18B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A2BB056-97C1-3ECF-BA5F-3A6AA57E3048}"/>
              </a:ext>
            </a:extLst>
          </p:cNvPr>
          <p:cNvSpPr>
            <a:spLocks noGrp="1"/>
          </p:cNvSpPr>
          <p:nvPr/>
        </p:nvSpPr>
        <p:spPr>
          <a:xfrm>
            <a:off x="1943100" y="4943475"/>
            <a:ext cx="28575" cy="304800"/>
          </a:xfrm>
          <a:prstGeom prst="rect">
            <a:avLst/>
          </a:prstGeom>
          <a:solidFill>
            <a:srgbClr val="D9E3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9D7A4F1-F559-0420-CFB4-4A5853518ED6}"/>
              </a:ext>
            </a:extLst>
          </p:cNvPr>
          <p:cNvSpPr>
            <a:spLocks noGrp="1"/>
          </p:cNvSpPr>
          <p:nvPr/>
        </p:nvSpPr>
        <p:spPr>
          <a:xfrm>
            <a:off x="7962900" y="4943475"/>
            <a:ext cx="28575" cy="304800"/>
          </a:xfrm>
          <a:prstGeom prst="rect">
            <a:avLst/>
          </a:prstGeom>
          <a:solidFill>
            <a:srgbClr val="D9E3F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3AC192C7-41D7-AB66-645C-662E6E232722}"/>
              </a:ext>
            </a:extLst>
          </p:cNvPr>
          <p:cNvSpPr>
            <a:spLocks noGrp="1"/>
          </p:cNvSpPr>
          <p:nvPr/>
        </p:nvSpPr>
        <p:spPr>
          <a:xfrm>
            <a:off x="1476375" y="5248275"/>
            <a:ext cx="9277350" cy="419100"/>
          </a:xfrm>
          <a:prstGeom prst="roundRect">
            <a:avLst>
              <a:gd name="adj" fmla="val 27273"/>
            </a:avLst>
          </a:prstGeom>
          <a:solidFill>
            <a:srgbClr val="E8F0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86F6958-E2AD-94C4-2824-EE416007DC1B}"/>
              </a:ext>
            </a:extLst>
          </p:cNvPr>
          <p:cNvSpPr>
            <a:spLocks noGrp="1"/>
          </p:cNvSpPr>
          <p:nvPr/>
        </p:nvSpPr>
        <p:spPr>
          <a:xfrm>
            <a:off x="3133725" y="5314950"/>
            <a:ext cx="687705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共享物理资源：CPU</a:t>
            </a:r>
            <a:r>
              <a:rPr sz="1725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 / </a:t>
            </a:r>
            <a:r>
              <a:rPr sz="1725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内存带宽</a:t>
            </a:r>
            <a:r>
              <a:rPr sz="1725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 / I/O </a:t>
            </a:r>
            <a:r>
              <a:rPr sz="1725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带宽</a:t>
            </a:r>
            <a:endParaRPr sz="1725" b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多级缓存的并行加载与拼接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F0FFD3-E109-4E03-857C-E88D6C69A7F1}"/>
              </a:ext>
            </a:extLst>
          </p:cNvPr>
          <p:cNvSpPr>
            <a:spLocks noGrp="1"/>
          </p:cNvSpPr>
          <p:nvPr/>
        </p:nvSpPr>
        <p:spPr>
          <a:xfrm>
            <a:off x="2994650" y="5791491"/>
            <a:ext cx="8477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35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按分段来源组织加载，关注最慢段与同步等待对请求延迟的影响</a:t>
            </a:r>
            <a:endParaRPr sz="1350" b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" name="Google Shape;628;p20"/>
          <p:cNvSpPr/>
          <p:nvPr/>
        </p:nvSpPr>
        <p:spPr>
          <a:xfrm>
            <a:off x="2197292" y="2258357"/>
            <a:ext cx="3549925" cy="189380"/>
          </a:xfrm>
          <a:prstGeom prst="rect">
            <a:avLst/>
          </a:prstGeom>
          <a:solidFill>
            <a:srgbClr val="F0F5FA"/>
          </a:solidFill>
          <a:ln w="12700">
            <a:prstDash val="solid"/>
          </a:ln>
        </p:spPr>
        <p:txBody>
          <a:bodyPr spcFirstLastPara="1" wrap="square" lIns="69057" tIns="34519" rIns="69057" bIns="3451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60">
              <a:solidFill>
                <a:srgbClr val="0A2540"/>
              </a:solidFill>
              <a:latin typeface="Source Han Sans CN" panose="02000503020000020003"/>
              <a:ea typeface="Source Han Sans CN" panose="02000503020000020003"/>
              <a:cs typeface="Source Han Sans CN" panose="02000503020000020003"/>
              <a:sym typeface="Avenir" panose="02000503020000020003"/>
            </a:endParaRPr>
          </a:p>
        </p:txBody>
      </p:sp>
      <p:sp>
        <p:nvSpPr>
          <p:cNvPr id="5" name="Google Shape;629;p20"/>
          <p:cNvSpPr/>
          <p:nvPr/>
        </p:nvSpPr>
        <p:spPr>
          <a:xfrm>
            <a:off x="2197292" y="2804218"/>
            <a:ext cx="3549925" cy="189380"/>
          </a:xfrm>
          <a:prstGeom prst="rect">
            <a:avLst/>
          </a:prstGeom>
          <a:solidFill>
            <a:srgbClr val="F0F5FA"/>
          </a:solidFill>
          <a:ln w="12700">
            <a:prstDash val="solid"/>
          </a:ln>
        </p:spPr>
        <p:txBody>
          <a:bodyPr spcFirstLastPara="1" wrap="square" lIns="69057" tIns="34519" rIns="69057" bIns="3451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60">
              <a:solidFill>
                <a:srgbClr val="0A2540"/>
              </a:solidFill>
              <a:latin typeface="Source Han Sans CN" panose="02000503020000020003"/>
              <a:ea typeface="Source Han Sans CN" panose="02000503020000020003"/>
              <a:cs typeface="Source Han Sans CN" panose="02000503020000020003"/>
              <a:sym typeface="Avenir" panose="02000503020000020003"/>
            </a:endParaRPr>
          </a:p>
        </p:txBody>
      </p:sp>
      <p:sp>
        <p:nvSpPr>
          <p:cNvPr id="6" name="Google Shape;630;p20"/>
          <p:cNvSpPr/>
          <p:nvPr/>
        </p:nvSpPr>
        <p:spPr>
          <a:xfrm>
            <a:off x="2197292" y="3350080"/>
            <a:ext cx="3549925" cy="189380"/>
          </a:xfrm>
          <a:prstGeom prst="rect">
            <a:avLst/>
          </a:prstGeom>
          <a:solidFill>
            <a:srgbClr val="F0F5FA"/>
          </a:solidFill>
          <a:ln w="12700">
            <a:prstDash val="solid"/>
          </a:ln>
        </p:spPr>
        <p:txBody>
          <a:bodyPr spcFirstLastPara="1" wrap="square" lIns="69057" tIns="34519" rIns="69057" bIns="3451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60">
              <a:solidFill>
                <a:srgbClr val="0A2540"/>
              </a:solidFill>
              <a:latin typeface="Source Han Sans CN" panose="02000503020000020003"/>
              <a:ea typeface="Source Han Sans CN" panose="02000503020000020003"/>
              <a:cs typeface="Source Han Sans CN" panose="02000503020000020003"/>
              <a:sym typeface="Avenir" panose="02000503020000020003"/>
            </a:endParaRPr>
          </a:p>
        </p:txBody>
      </p:sp>
      <p:sp>
        <p:nvSpPr>
          <p:cNvPr id="7" name="Google Shape;631;p20"/>
          <p:cNvSpPr/>
          <p:nvPr/>
        </p:nvSpPr>
        <p:spPr>
          <a:xfrm>
            <a:off x="2197292" y="3895941"/>
            <a:ext cx="3549925" cy="189380"/>
          </a:xfrm>
          <a:prstGeom prst="rect">
            <a:avLst/>
          </a:prstGeom>
          <a:solidFill>
            <a:srgbClr val="F0F5FA"/>
          </a:solidFill>
          <a:ln w="12700">
            <a:prstDash val="solid"/>
          </a:ln>
        </p:spPr>
        <p:txBody>
          <a:bodyPr spcFirstLastPara="1" wrap="square" lIns="69057" tIns="34519" rIns="69057" bIns="3451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60">
              <a:solidFill>
                <a:srgbClr val="0A2540"/>
              </a:solidFill>
              <a:latin typeface="Source Han Sans CN" panose="02000503020000020003"/>
              <a:ea typeface="Source Han Sans CN" panose="02000503020000020003"/>
              <a:cs typeface="Source Han Sans CN" panose="02000503020000020003"/>
              <a:sym typeface="Avenir" panose="02000503020000020003"/>
            </a:endParaRPr>
          </a:p>
        </p:txBody>
      </p:sp>
      <p:sp>
        <p:nvSpPr>
          <p:cNvPr id="8" name="Google Shape;632;p20"/>
          <p:cNvSpPr/>
          <p:nvPr/>
        </p:nvSpPr>
        <p:spPr>
          <a:xfrm>
            <a:off x="2197292" y="4441803"/>
            <a:ext cx="3549925" cy="189380"/>
          </a:xfrm>
          <a:prstGeom prst="rect">
            <a:avLst/>
          </a:prstGeom>
          <a:solidFill>
            <a:srgbClr val="F0F5FA"/>
          </a:solidFill>
          <a:ln w="12700">
            <a:prstDash val="solid"/>
          </a:ln>
        </p:spPr>
        <p:txBody>
          <a:bodyPr spcFirstLastPara="1" wrap="square" lIns="69057" tIns="34519" rIns="69057" bIns="3451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60" dirty="0">
              <a:solidFill>
                <a:srgbClr val="0A2540"/>
              </a:solidFill>
              <a:latin typeface="Source Han Sans CN" panose="02000503020000020003"/>
              <a:ea typeface="Source Han Sans CN" panose="02000503020000020003"/>
              <a:cs typeface="Source Han Sans CN" panose="02000503020000020003"/>
              <a:sym typeface="Avenir" panose="02000503020000020003"/>
            </a:endParaRPr>
          </a:p>
        </p:txBody>
      </p:sp>
      <p:sp>
        <p:nvSpPr>
          <p:cNvPr id="9" name="Google Shape;633;p20"/>
          <p:cNvSpPr txBox="1"/>
          <p:nvPr/>
        </p:nvSpPr>
        <p:spPr>
          <a:xfrm>
            <a:off x="929335" y="2179909"/>
            <a:ext cx="1031094" cy="529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7" tIns="34519" rIns="69057" bIns="34519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11" b="1">
                <a:solidFill>
                  <a:srgbClr val="0A2540"/>
                </a:solidFill>
                <a:latin typeface="Source Han Sans CN"/>
                <a:ea typeface="Source Han Sans CN"/>
                <a:cs typeface="Source Han Sans CN" panose="02000503020000020003"/>
                <a:sym typeface="Avenir" panose="02000503020000020003"/>
              </a:rPr>
              <a:t>请求
</a:t>
            </a:r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0" name="Google Shape;634;p20"/>
          <p:cNvSpPr/>
          <p:nvPr/>
        </p:nvSpPr>
        <p:spPr>
          <a:xfrm>
            <a:off x="2197292" y="4987665"/>
            <a:ext cx="3549925" cy="189380"/>
          </a:xfrm>
          <a:prstGeom prst="rect">
            <a:avLst/>
          </a:prstGeom>
          <a:solidFill>
            <a:srgbClr val="F0F5FA"/>
          </a:solidFill>
          <a:ln w="12700">
            <a:prstDash val="solid"/>
          </a:ln>
        </p:spPr>
        <p:txBody>
          <a:bodyPr spcFirstLastPara="1" wrap="square" lIns="69057" tIns="34519" rIns="69057" bIns="3451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60">
              <a:solidFill>
                <a:srgbClr val="0A2540"/>
              </a:solidFill>
              <a:latin typeface="Source Han Sans CN" panose="02000503020000020003"/>
              <a:ea typeface="Source Han Sans CN" panose="02000503020000020003"/>
              <a:cs typeface="Source Han Sans CN" panose="02000503020000020003"/>
              <a:sym typeface="Avenir" panose="02000503020000020003"/>
            </a:endParaRPr>
          </a:p>
        </p:txBody>
      </p:sp>
      <p:sp>
        <p:nvSpPr>
          <p:cNvPr id="11" name="Google Shape;635;p20"/>
          <p:cNvSpPr txBox="1"/>
          <p:nvPr/>
        </p:nvSpPr>
        <p:spPr>
          <a:xfrm>
            <a:off x="1119408" y="2763323"/>
            <a:ext cx="650947" cy="5294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7" tIns="34519" rIns="69057" bIns="34519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11" b="1">
                <a:solidFill>
                  <a:srgbClr val="0A2540"/>
                </a:solidFill>
                <a:latin typeface="Source Han Sans CN"/>
                <a:ea typeface="Source Han Sans CN"/>
                <a:cs typeface="Source Han Sans CN" panose="02000503020000020003"/>
                <a:sym typeface="Avenir" panose="02000503020000020003"/>
              </a:rPr>
              <a:t>GPU
</a:t>
            </a:r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2" name="Google Shape;636;p20"/>
          <p:cNvSpPr txBox="1"/>
          <p:nvPr/>
        </p:nvSpPr>
        <p:spPr>
          <a:xfrm>
            <a:off x="889918" y="3292816"/>
            <a:ext cx="1109925" cy="534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7" tIns="34519" rIns="69057" bIns="34519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11" b="1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 panose="02000503020000020003"/>
                <a:sym typeface="Avenir" panose="02000503020000020003"/>
              </a:rPr>
              <a:t>本地 CPU
</a:t>
            </a:r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3" name="Google Shape;637;p20"/>
          <p:cNvSpPr txBox="1"/>
          <p:nvPr/>
        </p:nvSpPr>
        <p:spPr>
          <a:xfrm>
            <a:off x="904896" y="3885138"/>
            <a:ext cx="1109925" cy="534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7" tIns="34519" rIns="69057" bIns="34519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11" b="1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 panose="02000503020000020003"/>
                <a:sym typeface="Avenir" panose="02000503020000020003"/>
              </a:rPr>
              <a:t>远端 CPU
</a:t>
            </a:r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4" name="Google Shape;638;p20"/>
          <p:cNvSpPr txBox="1"/>
          <p:nvPr/>
        </p:nvSpPr>
        <p:spPr>
          <a:xfrm>
            <a:off x="929335" y="4403273"/>
            <a:ext cx="1109925" cy="534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7" tIns="34519" rIns="69057" bIns="34519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11" b="1">
                <a:solidFill>
                  <a:srgbClr val="0A2540"/>
                </a:solidFill>
                <a:latin typeface="Source Han Sans CN"/>
                <a:ea typeface="Source Han Sans CN"/>
                <a:cs typeface="Source Han Sans CN" panose="02000503020000020003"/>
                <a:sym typeface="Avenir" panose="02000503020000020003"/>
              </a:rPr>
              <a:t>本地 SSD
</a:t>
            </a:r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5" name="Google Shape;639;p20"/>
          <p:cNvSpPr txBox="1"/>
          <p:nvPr/>
        </p:nvSpPr>
        <p:spPr>
          <a:xfrm>
            <a:off x="920744" y="4951706"/>
            <a:ext cx="1064805" cy="534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7" tIns="34519" rIns="69057" bIns="34519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11" b="1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 panose="02000503020000020003"/>
                <a:sym typeface="Avenir" panose="02000503020000020003"/>
              </a:rPr>
              <a:t>远端存储
</a:t>
            </a:r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6" name="Google Shape;640;p20"/>
          <p:cNvSpPr/>
          <p:nvPr/>
        </p:nvSpPr>
        <p:spPr>
          <a:xfrm>
            <a:off x="2197292" y="2804218"/>
            <a:ext cx="650947" cy="18938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 cap="flat" cmpd="sng">
            <a:miter lim="800000"/>
            <a:headEnd type="none" w="sm" len="sm"/>
            <a:tailEnd type="none" w="sm" len="sm"/>
          </a:ln>
        </p:spPr>
        <p:txBody>
          <a:bodyPr spcFirstLastPara="1" wrap="square" lIns="69057" tIns="34519" rIns="69057" bIns="3451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60">
              <a:solidFill>
                <a:srgbClr val="0A2540"/>
              </a:solidFill>
              <a:latin typeface="Source Han Sans CN" panose="02000503020000020003"/>
              <a:ea typeface="Source Han Sans CN" panose="02000503020000020003"/>
              <a:cs typeface="Source Han Sans CN" panose="02000503020000020003"/>
              <a:sym typeface="Avenir" panose="02000503020000020003"/>
            </a:endParaRPr>
          </a:p>
        </p:txBody>
      </p:sp>
      <p:sp>
        <p:nvSpPr>
          <p:cNvPr id="17" name="Google Shape;641;p20"/>
          <p:cNvSpPr/>
          <p:nvPr/>
        </p:nvSpPr>
        <p:spPr>
          <a:xfrm>
            <a:off x="2197292" y="3350081"/>
            <a:ext cx="1113445" cy="1794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 cap="flat" cmpd="sng">
            <a:miter lim="800000"/>
            <a:headEnd type="none" w="sm" len="sm"/>
            <a:tailEnd type="none" w="sm" len="sm"/>
          </a:ln>
        </p:spPr>
        <p:txBody>
          <a:bodyPr spcFirstLastPara="1" wrap="square" lIns="69057" tIns="34519" rIns="69057" bIns="3451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60">
              <a:solidFill>
                <a:srgbClr val="0A2540"/>
              </a:solidFill>
              <a:latin typeface="Source Han Sans CN" panose="02000503020000020003"/>
              <a:ea typeface="Source Han Sans CN" panose="02000503020000020003"/>
              <a:cs typeface="Source Han Sans CN" panose="02000503020000020003"/>
              <a:sym typeface="Avenir" panose="02000503020000020003"/>
            </a:endParaRPr>
          </a:p>
        </p:txBody>
      </p:sp>
      <p:sp>
        <p:nvSpPr>
          <p:cNvPr id="18" name="Google Shape;642;p20"/>
          <p:cNvSpPr/>
          <p:nvPr/>
        </p:nvSpPr>
        <p:spPr>
          <a:xfrm>
            <a:off x="2197291" y="3895943"/>
            <a:ext cx="1978003" cy="17948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 cap="flat" cmpd="sng">
            <a:miter lim="800000"/>
            <a:headEnd type="none" w="sm" len="sm"/>
            <a:tailEnd type="none" w="sm" len="sm"/>
          </a:ln>
        </p:spPr>
        <p:txBody>
          <a:bodyPr spcFirstLastPara="1" wrap="square" lIns="69057" tIns="34519" rIns="69057" bIns="3451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60">
              <a:solidFill>
                <a:srgbClr val="0A2540"/>
              </a:solidFill>
              <a:latin typeface="Source Han Sans CN" panose="02000503020000020003"/>
              <a:ea typeface="Source Han Sans CN" panose="02000503020000020003"/>
              <a:cs typeface="Source Han Sans CN" panose="02000503020000020003"/>
              <a:sym typeface="Avenir" panose="02000503020000020003"/>
            </a:endParaRPr>
          </a:p>
        </p:txBody>
      </p:sp>
      <p:sp>
        <p:nvSpPr>
          <p:cNvPr id="19" name="Google Shape;643;p20"/>
          <p:cNvSpPr/>
          <p:nvPr/>
        </p:nvSpPr>
        <p:spPr>
          <a:xfrm>
            <a:off x="2197241" y="4451697"/>
            <a:ext cx="2973603" cy="17948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 cap="flat" cmpd="sng">
            <a:miter lim="800000"/>
            <a:headEnd type="none" w="sm" len="sm"/>
            <a:tailEnd type="none" w="sm" len="sm"/>
          </a:ln>
        </p:spPr>
        <p:txBody>
          <a:bodyPr spcFirstLastPara="1" wrap="square" lIns="69057" tIns="34519" rIns="69057" bIns="3451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60" dirty="0">
              <a:solidFill>
                <a:srgbClr val="0A2540"/>
              </a:solidFill>
              <a:latin typeface="Source Han Sans CN" panose="02000503020000020003"/>
              <a:ea typeface="Source Han Sans CN" panose="02000503020000020003"/>
              <a:cs typeface="Source Han Sans CN" panose="02000503020000020003"/>
              <a:sym typeface="Avenir" panose="02000503020000020003"/>
            </a:endParaRPr>
          </a:p>
        </p:txBody>
      </p:sp>
      <p:sp>
        <p:nvSpPr>
          <p:cNvPr id="20" name="Google Shape;644;p20"/>
          <p:cNvSpPr/>
          <p:nvPr/>
        </p:nvSpPr>
        <p:spPr>
          <a:xfrm>
            <a:off x="2197292" y="4987667"/>
            <a:ext cx="3549924" cy="18937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 cap="flat" cmpd="sng">
            <a:miter lim="800000"/>
            <a:headEnd type="none" w="sm" len="sm"/>
            <a:tailEnd type="none" w="sm" len="sm"/>
          </a:ln>
        </p:spPr>
        <p:txBody>
          <a:bodyPr spcFirstLastPara="1" wrap="square" lIns="69057" tIns="34519" rIns="69057" bIns="3451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60">
              <a:solidFill>
                <a:srgbClr val="0A2540"/>
              </a:solidFill>
              <a:latin typeface="Source Han Sans CN" panose="02000503020000020003"/>
              <a:ea typeface="Source Han Sans CN" panose="02000503020000020003"/>
              <a:cs typeface="Source Han Sans CN" panose="02000503020000020003"/>
              <a:sym typeface="Avenir" panose="02000503020000020003"/>
            </a:endParaRPr>
          </a:p>
        </p:txBody>
      </p:sp>
      <p:sp>
        <p:nvSpPr>
          <p:cNvPr id="21" name="Google Shape;645;p20"/>
          <p:cNvSpPr/>
          <p:nvPr/>
        </p:nvSpPr>
        <p:spPr>
          <a:xfrm>
            <a:off x="7292577" y="2258356"/>
            <a:ext cx="3549925" cy="189380"/>
          </a:xfrm>
          <a:prstGeom prst="rect">
            <a:avLst/>
          </a:prstGeom>
          <a:solidFill>
            <a:srgbClr val="F0F5FA"/>
          </a:solidFill>
          <a:ln w="19050" cap="flat" cmpd="sng"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9057" tIns="34519" rIns="69057" bIns="3451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60">
              <a:solidFill>
                <a:srgbClr val="0A2540"/>
              </a:solidFill>
              <a:latin typeface="Source Han Sans CN" panose="02000503020000020003"/>
              <a:ea typeface="Source Han Sans CN" panose="02000503020000020003"/>
              <a:cs typeface="Source Han Sans CN" panose="02000503020000020003"/>
              <a:sym typeface="Avenir" panose="02000503020000020003"/>
            </a:endParaRPr>
          </a:p>
        </p:txBody>
      </p:sp>
      <p:sp>
        <p:nvSpPr>
          <p:cNvPr id="22" name="Google Shape;646;p20"/>
          <p:cNvSpPr/>
          <p:nvPr/>
        </p:nvSpPr>
        <p:spPr>
          <a:xfrm>
            <a:off x="7292577" y="2258356"/>
            <a:ext cx="650947" cy="189380"/>
          </a:xfrm>
          <a:prstGeom prst="rect">
            <a:avLst/>
          </a:prstGeom>
          <a:solidFill>
            <a:srgbClr val="D6E5F4"/>
          </a:solidFill>
          <a:ln w="0" cap="flat" cmpd="sng"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horz" wrap="square" lIns="69057" tIns="34519" rIns="69057" bIns="34519" anchor="ctr" anchorCtr="0">
            <a:noAutofit/>
          </a:bodyPr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6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endParaRPr sz="1360">
              <a:solidFill>
                <a:srgbClr val="0A2540"/>
              </a:solidFill>
              <a:latin typeface="Source Han Sans CN"/>
              <a:ea typeface="Source Han Sans CN"/>
              <a:cs typeface="Source Han Sans CN"/>
              <a:sym typeface="Avenir"/>
            </a:endParaRPr>
          </a:p>
        </p:txBody>
      </p:sp>
      <p:sp>
        <p:nvSpPr>
          <p:cNvPr id="23" name="Google Shape;647;p20"/>
          <p:cNvSpPr/>
          <p:nvPr/>
        </p:nvSpPr>
        <p:spPr>
          <a:xfrm>
            <a:off x="7943524" y="2258358"/>
            <a:ext cx="2898978" cy="189378"/>
          </a:xfrm>
          <a:prstGeom prst="rect">
            <a:avLst/>
          </a:prstGeom>
          <a:solidFill>
            <a:srgbClr val="F8E5C6"/>
          </a:solidFill>
          <a:ln w="0" cap="flat" cmpd="sng"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horz" wrap="square" lIns="69057" tIns="34519" rIns="69057" bIns="34519" anchor="ctr" anchorCtr="0">
            <a:noAutofit/>
          </a:bodyPr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6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endParaRPr sz="1360">
              <a:solidFill>
                <a:srgbClr val="0A2540"/>
              </a:solidFill>
              <a:latin typeface="Source Han Sans CN"/>
              <a:ea typeface="Source Han Sans CN"/>
              <a:cs typeface="Source Han Sans CN"/>
              <a:sym typeface="Avenir"/>
            </a:endParaRPr>
          </a:p>
        </p:txBody>
      </p:sp>
      <p:sp>
        <p:nvSpPr>
          <p:cNvPr id="24" name="Google Shape;648;p20"/>
          <p:cNvSpPr/>
          <p:nvPr/>
        </p:nvSpPr>
        <p:spPr>
          <a:xfrm>
            <a:off x="7292577" y="3186695"/>
            <a:ext cx="3549925" cy="189380"/>
          </a:xfrm>
          <a:prstGeom prst="rect">
            <a:avLst/>
          </a:prstGeom>
          <a:solidFill>
            <a:srgbClr val="F0F5FA"/>
          </a:solidFill>
          <a:ln w="19050" cap="flat" cmpd="sng"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9057" tIns="34519" rIns="69057" bIns="3451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60">
              <a:solidFill>
                <a:srgbClr val="0A2540"/>
              </a:solidFill>
              <a:latin typeface="Source Han Sans CN" panose="02000503020000020003"/>
              <a:ea typeface="Source Han Sans CN" panose="02000503020000020003"/>
              <a:cs typeface="Source Han Sans CN" panose="02000503020000020003"/>
              <a:sym typeface="Avenir" panose="02000503020000020003"/>
            </a:endParaRPr>
          </a:p>
        </p:txBody>
      </p:sp>
      <p:sp>
        <p:nvSpPr>
          <p:cNvPr id="25" name="Google Shape;649;p20"/>
          <p:cNvSpPr/>
          <p:nvPr/>
        </p:nvSpPr>
        <p:spPr>
          <a:xfrm>
            <a:off x="7292577" y="3186695"/>
            <a:ext cx="650947" cy="189380"/>
          </a:xfrm>
          <a:prstGeom prst="rect">
            <a:avLst/>
          </a:prstGeom>
          <a:solidFill>
            <a:srgbClr val="D6E5F4"/>
          </a:solidFill>
          <a:ln w="0" cap="flat" cmpd="sng"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horz" wrap="square" lIns="69057" tIns="34519" rIns="69057" bIns="34519" anchor="ctr" anchorCtr="0">
            <a:noAutofit/>
          </a:bodyPr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6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endParaRPr sz="1360">
              <a:solidFill>
                <a:srgbClr val="0A2540"/>
              </a:solidFill>
              <a:latin typeface="Source Han Sans CN"/>
              <a:ea typeface="Source Han Sans CN"/>
              <a:cs typeface="Source Han Sans CN"/>
              <a:sym typeface="Avenir"/>
            </a:endParaRPr>
          </a:p>
        </p:txBody>
      </p:sp>
      <p:sp>
        <p:nvSpPr>
          <p:cNvPr id="26" name="Google Shape;650;p20"/>
          <p:cNvSpPr/>
          <p:nvPr/>
        </p:nvSpPr>
        <p:spPr>
          <a:xfrm>
            <a:off x="7943524" y="3186695"/>
            <a:ext cx="462499" cy="189380"/>
          </a:xfrm>
          <a:prstGeom prst="rect">
            <a:avLst/>
          </a:prstGeom>
          <a:solidFill>
            <a:srgbClr val="D6E5F4"/>
          </a:solidFill>
          <a:ln w="0" cap="flat" cmpd="sng"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horz" wrap="square" lIns="69057" tIns="34519" rIns="69057" bIns="34519" anchor="ctr" anchorCtr="0">
            <a:noAutofit/>
          </a:bodyPr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6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endParaRPr sz="1360">
              <a:solidFill>
                <a:srgbClr val="0A2540"/>
              </a:solidFill>
              <a:latin typeface="Source Han Sans CN"/>
              <a:ea typeface="Source Han Sans CN"/>
              <a:cs typeface="Source Han Sans CN"/>
              <a:sym typeface="Avenir"/>
            </a:endParaRPr>
          </a:p>
        </p:txBody>
      </p:sp>
      <p:sp>
        <p:nvSpPr>
          <p:cNvPr id="27" name="Google Shape;651;p20"/>
          <p:cNvSpPr txBox="1"/>
          <p:nvPr/>
        </p:nvSpPr>
        <p:spPr>
          <a:xfrm>
            <a:off x="7292577" y="2533718"/>
            <a:ext cx="3772005" cy="302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7" tIns="34519" rIns="69057" bIns="34519" anchor="t" anchorCtr="0">
            <a:spAutoFit/>
          </a:bodyPr>
          <a:lstStyle/>
          <a:p>
            <a:pPr marL="0" indent="0" algn="l">
              <a:buNone/>
            </a:pPr>
            <a:r>
              <a:rPr lang="zh-CN" altLang="en-US" sz="1511" b="1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 panose="02000503020000020003"/>
                <a:sym typeface="Avenir" panose="02000503020000020003"/>
              </a:rPr>
              <a:t>最长匹配，</a:t>
            </a:r>
            <a:r>
              <a:rPr lang="zh-CN" sz="1511" b="1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 panose="02000503020000020003"/>
                <a:sym typeface="Avenir" panose="02000503020000020003"/>
              </a:rPr>
              <a:t>命中</a:t>
            </a:r>
            <a:r>
              <a:rPr lang="zh-CN" altLang="en-US" sz="1511" b="1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 panose="02000503020000020003"/>
                <a:sym typeface="Avenir" panose="02000503020000020003"/>
              </a:rPr>
              <a:t>率高，但加载速度慢</a:t>
            </a:r>
            <a:endParaRPr lang="zh-CN" sz="1511" b="1" dirty="0">
              <a:solidFill>
                <a:srgbClr val="0A2540"/>
              </a:solidFill>
              <a:latin typeface="Source Han Sans CN"/>
              <a:ea typeface="Source Han Sans CN"/>
              <a:cs typeface="Source Han Sans CN" panose="02000503020000020003"/>
              <a:sym typeface="Avenir" panose="02000503020000020003"/>
            </a:endParaRPr>
          </a:p>
        </p:txBody>
      </p:sp>
      <p:sp>
        <p:nvSpPr>
          <p:cNvPr id="28" name="Google Shape;652;p20"/>
          <p:cNvSpPr txBox="1"/>
          <p:nvPr/>
        </p:nvSpPr>
        <p:spPr>
          <a:xfrm>
            <a:off x="7292577" y="3430395"/>
            <a:ext cx="3772005" cy="534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7" tIns="34519" rIns="69057" bIns="34519" anchor="t" anchorCtr="0">
            <a:spAutoFit/>
          </a:bodyPr>
          <a:lstStyle/>
          <a:p>
            <a:pPr marL="0" indent="0" algn="l">
              <a:buNone/>
            </a:pPr>
            <a:r>
              <a:rPr lang="zh-CN" sz="1511" b="1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 panose="02000503020000020003"/>
                <a:sym typeface="Avenir" panose="02000503020000020003"/>
              </a:rPr>
              <a:t>只用本地：复用范围有限</a:t>
            </a:r>
          </a:p>
        </p:txBody>
      </p:sp>
      <p:sp>
        <p:nvSpPr>
          <p:cNvPr id="29" name="Google Shape;654;p20"/>
          <p:cNvSpPr/>
          <p:nvPr/>
        </p:nvSpPr>
        <p:spPr>
          <a:xfrm>
            <a:off x="7292577" y="4213892"/>
            <a:ext cx="3549925" cy="189380"/>
          </a:xfrm>
          <a:prstGeom prst="rect">
            <a:avLst/>
          </a:prstGeom>
          <a:solidFill>
            <a:srgbClr val="F0F5FA"/>
          </a:solidFill>
          <a:ln w="19050" cap="flat" cmpd="sng"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69057" tIns="34519" rIns="69057" bIns="34519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60">
              <a:solidFill>
                <a:srgbClr val="0A2540"/>
              </a:solidFill>
              <a:latin typeface="Source Han Sans CN" panose="02000503020000020003"/>
              <a:ea typeface="Source Han Sans CN" panose="02000503020000020003"/>
              <a:cs typeface="Source Han Sans CN" panose="02000503020000020003"/>
              <a:sym typeface="Avenir" panose="02000503020000020003"/>
            </a:endParaRPr>
          </a:p>
        </p:txBody>
      </p:sp>
      <p:sp>
        <p:nvSpPr>
          <p:cNvPr id="30" name="Google Shape;655;p20"/>
          <p:cNvSpPr/>
          <p:nvPr/>
        </p:nvSpPr>
        <p:spPr>
          <a:xfrm>
            <a:off x="7292577" y="4213892"/>
            <a:ext cx="650947" cy="189380"/>
          </a:xfrm>
          <a:prstGeom prst="rect">
            <a:avLst/>
          </a:prstGeom>
          <a:solidFill>
            <a:srgbClr val="D6E5F4"/>
          </a:solidFill>
          <a:ln w="0" cap="flat" cmpd="sng"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horz" wrap="square" lIns="69057" tIns="34519" rIns="69057" bIns="34519" anchor="ctr" anchorCtr="0">
            <a:noAutofit/>
          </a:bodyPr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6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endParaRPr sz="1360">
              <a:solidFill>
                <a:srgbClr val="0A2540"/>
              </a:solidFill>
              <a:latin typeface="Source Han Sans CN"/>
              <a:ea typeface="Source Han Sans CN"/>
              <a:cs typeface="Source Han Sans CN"/>
              <a:sym typeface="Avenir"/>
            </a:endParaRPr>
          </a:p>
        </p:txBody>
      </p:sp>
      <p:sp>
        <p:nvSpPr>
          <p:cNvPr id="31" name="Google Shape;656;p20"/>
          <p:cNvSpPr/>
          <p:nvPr/>
        </p:nvSpPr>
        <p:spPr>
          <a:xfrm>
            <a:off x="7943524" y="4213892"/>
            <a:ext cx="462499" cy="189380"/>
          </a:xfrm>
          <a:prstGeom prst="rect">
            <a:avLst/>
          </a:prstGeom>
          <a:solidFill>
            <a:srgbClr val="D6E5F4"/>
          </a:solidFill>
          <a:ln w="0" cap="flat" cmpd="sng"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horz" wrap="square" lIns="69057" tIns="34519" rIns="69057" bIns="34519" anchor="ctr" anchorCtr="0">
            <a:noAutofit/>
          </a:bodyPr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6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endParaRPr sz="1360">
              <a:solidFill>
                <a:srgbClr val="0A2540"/>
              </a:solidFill>
              <a:latin typeface="Source Han Sans CN"/>
              <a:ea typeface="Source Han Sans CN"/>
              <a:cs typeface="Source Han Sans CN"/>
              <a:sym typeface="Avenir"/>
            </a:endParaRPr>
          </a:p>
        </p:txBody>
      </p:sp>
      <p:sp>
        <p:nvSpPr>
          <p:cNvPr id="32" name="Google Shape;657;p20"/>
          <p:cNvSpPr/>
          <p:nvPr/>
        </p:nvSpPr>
        <p:spPr>
          <a:xfrm>
            <a:off x="8406023" y="4213892"/>
            <a:ext cx="864555" cy="189380"/>
          </a:xfrm>
          <a:prstGeom prst="rect">
            <a:avLst/>
          </a:prstGeom>
          <a:solidFill>
            <a:srgbClr val="D6E5F4"/>
          </a:solidFill>
          <a:ln w="0" cap="flat" cmpd="sng"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horz" wrap="square" lIns="69057" tIns="34519" rIns="69057" bIns="34519" anchor="ctr" anchorCtr="0">
            <a:noAutofit/>
          </a:bodyPr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6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endParaRPr sz="1360">
              <a:solidFill>
                <a:srgbClr val="0A2540"/>
              </a:solidFill>
              <a:latin typeface="Source Han Sans CN"/>
              <a:ea typeface="Source Han Sans CN"/>
              <a:cs typeface="Source Han Sans CN"/>
              <a:sym typeface="Avenir"/>
            </a:endParaRPr>
          </a:p>
        </p:txBody>
      </p:sp>
      <p:sp>
        <p:nvSpPr>
          <p:cNvPr id="33" name="Google Shape;658;p20"/>
          <p:cNvSpPr/>
          <p:nvPr/>
        </p:nvSpPr>
        <p:spPr>
          <a:xfrm>
            <a:off x="9270578" y="4213892"/>
            <a:ext cx="1061047" cy="189380"/>
          </a:xfrm>
          <a:prstGeom prst="rect">
            <a:avLst/>
          </a:prstGeom>
          <a:solidFill>
            <a:srgbClr val="F8E5C6"/>
          </a:solidFill>
          <a:ln w="0" cap="flat" cmpd="sng"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horz" wrap="square" lIns="69057" tIns="34519" rIns="69057" bIns="34519" anchor="ctr" anchorCtr="0">
            <a:noAutofit/>
          </a:bodyPr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6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endParaRPr sz="1360">
              <a:solidFill>
                <a:srgbClr val="0A2540"/>
              </a:solidFill>
              <a:latin typeface="Source Han Sans CN"/>
              <a:ea typeface="Source Han Sans CN"/>
              <a:cs typeface="Source Han Sans CN"/>
              <a:sym typeface="Avenir"/>
            </a:endParaRPr>
          </a:p>
        </p:txBody>
      </p:sp>
      <p:sp>
        <p:nvSpPr>
          <p:cNvPr id="34" name="Google Shape;659;p20"/>
          <p:cNvSpPr/>
          <p:nvPr/>
        </p:nvSpPr>
        <p:spPr>
          <a:xfrm>
            <a:off x="10331626" y="4217295"/>
            <a:ext cx="510876" cy="185978"/>
          </a:xfrm>
          <a:prstGeom prst="rect">
            <a:avLst/>
          </a:prstGeom>
          <a:solidFill>
            <a:srgbClr val="F8E5C6"/>
          </a:solidFill>
          <a:ln w="0" cap="flat" cmpd="sng">
            <a:prstDash val="solid"/>
            <a:miter lim="800000"/>
            <a:headEnd type="none" w="sm" len="sm"/>
            <a:tailEnd type="none" w="sm" len="sm"/>
          </a:ln>
        </p:spPr>
        <p:txBody>
          <a:bodyPr spcFirstLastPara="1" vert="horz" wrap="square" lIns="69057" tIns="34519" rIns="69057" bIns="34519" anchor="ctr" anchorCtr="0">
            <a:noAutofit/>
          </a:bodyPr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6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endParaRPr sz="1360">
              <a:solidFill>
                <a:srgbClr val="0A2540"/>
              </a:solidFill>
              <a:latin typeface="Source Han Sans CN"/>
              <a:ea typeface="Source Han Sans CN"/>
              <a:cs typeface="Source Han Sans CN"/>
              <a:sym typeface="Avenir"/>
            </a:endParaRPr>
          </a:p>
        </p:txBody>
      </p:sp>
      <p:sp>
        <p:nvSpPr>
          <p:cNvPr id="35" name="Google Shape;660;p20"/>
          <p:cNvSpPr txBox="1"/>
          <p:nvPr/>
        </p:nvSpPr>
        <p:spPr>
          <a:xfrm>
            <a:off x="7312283" y="4529416"/>
            <a:ext cx="4448805" cy="767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7" tIns="34519" rIns="69057" bIns="34519" anchor="t" anchorCtr="0">
            <a:spAutoFit/>
          </a:bodyPr>
          <a:lstStyle/>
          <a:p>
            <a:pPr marL="0" indent="0" algn="l">
              <a:buNone/>
            </a:pPr>
            <a:r>
              <a:rPr lang="zh-CN" sz="1511" b="1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 panose="02000503020000020003"/>
                <a:sym typeface="Avenir" panose="02000503020000020003"/>
              </a:rPr>
              <a:t>MP：多层并行加载后拼接</a:t>
            </a:r>
          </a:p>
        </p:txBody>
      </p:sp>
      <p:sp>
        <p:nvSpPr>
          <p:cNvPr id="36" name="Google Shape;665;p20"/>
          <p:cNvSpPr txBox="1"/>
          <p:nvPr/>
        </p:nvSpPr>
        <p:spPr>
          <a:xfrm>
            <a:off x="7732319" y="1332107"/>
            <a:ext cx="2757542" cy="377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9057" tIns="34519" rIns="69057" bIns="34519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1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  <a:sym typeface="Avenir"/>
              </a:rPr>
              <a:t>检索到的 KV Cache</a:t>
            </a:r>
            <a:endParaRPr sz="280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cxnSp>
        <p:nvCxnSpPr>
          <p:cNvPr id="37" name="直线箭头连接符 324"/>
          <p:cNvCxnSpPr/>
          <p:nvPr/>
        </p:nvCxnSpPr>
        <p:spPr>
          <a:xfrm flipV="1">
            <a:off x="5831066" y="3281385"/>
            <a:ext cx="1461511" cy="228114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prstDash val="solid"/>
            <a:headEnd/>
            <a:tailEnd type="triangle"/>
          </a:ln>
        </p:spPr>
      </p:cxnSp>
      <p:cxnSp>
        <p:nvCxnSpPr>
          <p:cNvPr id="38" name="直线箭头连接符 325"/>
          <p:cNvCxnSpPr/>
          <p:nvPr/>
        </p:nvCxnSpPr>
        <p:spPr>
          <a:xfrm>
            <a:off x="5897567" y="2868162"/>
            <a:ext cx="1335708" cy="342984"/>
          </a:xfrm>
          <a:prstGeom prst="straightConnector1">
            <a:avLst/>
          </a:prstGeom>
          <a:ln w="25400">
            <a:solidFill>
              <a:schemeClr val="accent2">
                <a:lumMod val="75000"/>
              </a:schemeClr>
            </a:solidFill>
            <a:prstDash val="solid"/>
            <a:headEnd/>
            <a:tailEnd type="triangle"/>
          </a:ln>
        </p:spPr>
      </p:cxnSp>
      <p:cxnSp>
        <p:nvCxnSpPr>
          <p:cNvPr id="39" name="直线箭头连接符 327"/>
          <p:cNvCxnSpPr/>
          <p:nvPr/>
        </p:nvCxnSpPr>
        <p:spPr>
          <a:xfrm flipV="1">
            <a:off x="5864488" y="2300169"/>
            <a:ext cx="1448927" cy="485906"/>
          </a:xfrm>
          <a:prstGeom prst="straightConnector1">
            <a:avLst/>
          </a:prstGeom>
          <a:ln w="25400">
            <a:solidFill>
              <a:schemeClr val="accent2">
                <a:lumMod val="40000"/>
                <a:lumOff val="60000"/>
              </a:schemeClr>
            </a:solidFill>
            <a:prstDash val="solid"/>
            <a:headEnd/>
            <a:tailEnd type="triangle"/>
          </a:ln>
        </p:spPr>
      </p:cxnSp>
      <p:cxnSp>
        <p:nvCxnSpPr>
          <p:cNvPr id="40" name="直线箭头连接符 328"/>
          <p:cNvCxnSpPr/>
          <p:nvPr/>
        </p:nvCxnSpPr>
        <p:spPr>
          <a:xfrm flipV="1">
            <a:off x="5876838" y="2361519"/>
            <a:ext cx="1407148" cy="2717123"/>
          </a:xfrm>
          <a:prstGeom prst="straightConnector1">
            <a:avLst/>
          </a:prstGeom>
          <a:ln w="25400">
            <a:solidFill>
              <a:schemeClr val="accent2">
                <a:lumMod val="40000"/>
                <a:lumOff val="60000"/>
              </a:schemeClr>
            </a:solidFill>
            <a:prstDash val="solid"/>
            <a:headEnd/>
            <a:tailEnd type="triangle"/>
          </a:ln>
        </p:spPr>
      </p:cxnSp>
      <p:cxnSp>
        <p:nvCxnSpPr>
          <p:cNvPr id="41" name="直线箭头连接符 330"/>
          <p:cNvCxnSpPr/>
          <p:nvPr/>
        </p:nvCxnSpPr>
        <p:spPr>
          <a:xfrm>
            <a:off x="5846554" y="2918350"/>
            <a:ext cx="1446022" cy="1390232"/>
          </a:xfrm>
          <a:prstGeom prst="straightConnector1">
            <a:avLst/>
          </a:prstGeom>
          <a:ln w="25400">
            <a:solidFill>
              <a:schemeClr val="accent6"/>
            </a:solidFill>
            <a:prstDash val="solid"/>
            <a:headEnd/>
            <a:tailEnd type="triangle"/>
          </a:ln>
        </p:spPr>
      </p:cxnSp>
      <p:cxnSp>
        <p:nvCxnSpPr>
          <p:cNvPr id="42" name="直线箭头连接符 331"/>
          <p:cNvCxnSpPr/>
          <p:nvPr/>
        </p:nvCxnSpPr>
        <p:spPr>
          <a:xfrm>
            <a:off x="5831062" y="3509469"/>
            <a:ext cx="1461514" cy="799113"/>
          </a:xfrm>
          <a:prstGeom prst="straightConnector1">
            <a:avLst/>
          </a:prstGeom>
          <a:ln w="25400">
            <a:solidFill>
              <a:schemeClr val="accent6"/>
            </a:solidFill>
            <a:prstDash val="solid"/>
            <a:headEnd/>
            <a:tailEnd type="triangle"/>
          </a:ln>
        </p:spPr>
      </p:cxnSp>
      <p:cxnSp>
        <p:nvCxnSpPr>
          <p:cNvPr id="43" name="直线箭头连接符 332"/>
          <p:cNvCxnSpPr/>
          <p:nvPr/>
        </p:nvCxnSpPr>
        <p:spPr>
          <a:xfrm>
            <a:off x="5846554" y="4036577"/>
            <a:ext cx="1446022" cy="272005"/>
          </a:xfrm>
          <a:prstGeom prst="straightConnector1">
            <a:avLst/>
          </a:prstGeom>
          <a:ln w="25400">
            <a:solidFill>
              <a:schemeClr val="accent6"/>
            </a:solidFill>
            <a:prstDash val="solid"/>
            <a:headEnd/>
            <a:tailEnd type="triangle"/>
          </a:ln>
        </p:spPr>
      </p:cxnSp>
      <p:cxnSp>
        <p:nvCxnSpPr>
          <p:cNvPr id="44" name="直线箭头连接符 333"/>
          <p:cNvCxnSpPr/>
          <p:nvPr/>
        </p:nvCxnSpPr>
        <p:spPr>
          <a:xfrm flipV="1">
            <a:off x="5843462" y="4308558"/>
            <a:ext cx="1449064" cy="286745"/>
          </a:xfrm>
          <a:prstGeom prst="straightConnector1">
            <a:avLst/>
          </a:prstGeom>
          <a:ln w="25400">
            <a:solidFill>
              <a:schemeClr val="accent6"/>
            </a:solidFill>
            <a:prstDash val="solid"/>
            <a:headEnd/>
            <a:tailEnd type="triangle"/>
          </a:ln>
        </p:spPr>
      </p:cxnSp>
      <p:cxnSp>
        <p:nvCxnSpPr>
          <p:cNvPr id="45" name="直线箭头连接符 334"/>
          <p:cNvCxnSpPr/>
          <p:nvPr/>
        </p:nvCxnSpPr>
        <p:spPr>
          <a:xfrm flipV="1">
            <a:off x="5857081" y="4308583"/>
            <a:ext cx="1435495" cy="781497"/>
          </a:xfrm>
          <a:prstGeom prst="straightConnector1">
            <a:avLst/>
          </a:prstGeom>
          <a:ln w="25400">
            <a:solidFill>
              <a:schemeClr val="accent6"/>
            </a:solidFill>
            <a:prstDash val="solid"/>
            <a:headEnd/>
            <a:tailEnd type="triangle"/>
          </a:ln>
        </p:spPr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BBA6093A-8F07-4C88-A9CD-3EF86F0EA700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02    Multi-process </a:t>
            </a:r>
            <a:r>
              <a:rPr sz="120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模式</a:t>
            </a:r>
            <a:r>
              <a:rPr lang="zh-CN" altLang="en-US" sz="1200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性能</a:t>
            </a:r>
            <a:r>
              <a:rPr sz="120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优势</a:t>
            </a:r>
            <a:endParaRPr sz="1200" b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1A34A-CB88-0F8D-3770-FAD4388E3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3">
            <a:extLst>
              <a:ext uri="{FF2B5EF4-FFF2-40B4-BE49-F238E27FC236}">
                <a16:creationId xmlns:a16="http://schemas.microsoft.com/office/drawing/2014/main" id="{C8A3A7D1-B33A-50A8-661B-29B6E8BF8074}"/>
              </a:ext>
            </a:extLst>
          </p:cNvPr>
          <p:cNvGrpSpPr/>
          <p:nvPr/>
        </p:nvGrpSpPr>
        <p:grpSpPr>
          <a:xfrm>
            <a:off x="1748367" y="2996671"/>
            <a:ext cx="2120900" cy="864658"/>
            <a:chOff x="657" y="7220"/>
            <a:chExt cx="2721" cy="794"/>
          </a:xfrm>
        </p:grpSpPr>
        <p:sp>
          <p:nvSpPr>
            <p:cNvPr id="3" name="矩形 64">
              <a:extLst>
                <a:ext uri="{FF2B5EF4-FFF2-40B4-BE49-F238E27FC236}">
                  <a16:creationId xmlns:a16="http://schemas.microsoft.com/office/drawing/2014/main" id="{D8D3BBE2-43EE-ADC7-FE96-01521A72C990}"/>
                </a:ext>
              </a:extLst>
            </p:cNvPr>
            <p:cNvSpPr/>
            <p:nvPr userDrawn="1"/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4" name="单圆角矩形 65">
              <a:extLst>
                <a:ext uri="{FF2B5EF4-FFF2-40B4-BE49-F238E27FC236}">
                  <a16:creationId xmlns:a16="http://schemas.microsoft.com/office/drawing/2014/main" id="{EAD60DC7-B538-C1C7-B13B-E29E886EE4F5}"/>
                </a:ext>
              </a:extLst>
            </p:cNvPr>
            <p:cNvSpPr/>
            <p:nvPr userDrawn="1"/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indent="0" algn="l">
                <a:buNone/>
              </a:pPr>
              <a:r>
                <a:rPr kumimoji="1" lang="zh-CN" altLang="en-US" sz="26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      </a:t>
              </a:r>
              <a:r>
                <a:rPr kumimoji="1" lang="en-US" altLang="zh-CN" sz="5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04</a:t>
              </a:r>
            </a:p>
          </p:txBody>
        </p:sp>
      </p:grp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692DDA00-8F68-C00F-2E66-7ED158F979F3}"/>
              </a:ext>
            </a:extLst>
          </p:cNvPr>
          <p:cNvSpPr>
            <a:spLocks noGrp="1"/>
          </p:cNvSpPr>
          <p:nvPr/>
        </p:nvSpPr>
        <p:spPr>
          <a:xfrm>
            <a:off x="4540102" y="2571750"/>
            <a:ext cx="7000875" cy="171450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defRPr>
            </a:lvl1pPr>
          </a:lstStyle>
          <a:p>
            <a:pPr algn="l"/>
            <a:r>
              <a:rPr lang="zh-CN" altLang="en-US" sz="4000" dirty="0">
                <a:solidFill>
                  <a:srgbClr val="FFFFFF"/>
                </a:solidFill>
              </a:rPr>
              <a:t>可插拔扩展与多平台</a:t>
            </a:r>
          </a:p>
        </p:txBody>
      </p:sp>
    </p:spTree>
    <p:extLst>
      <p:ext uri="{BB962C8B-B14F-4D97-AF65-F5344CB8AC3E}">
        <p14:creationId xmlns:p14="http://schemas.microsoft.com/office/powerpoint/2010/main" val="1153550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92229EC3-7E5D-457E-8F00-4CB95748A2C1}"/>
              </a:ext>
            </a:extLst>
          </p:cNvPr>
          <p:cNvSpPr>
            <a:spLocks noGrp="1"/>
          </p:cNvSpPr>
          <p:nvPr/>
        </p:nvSpPr>
        <p:spPr>
          <a:xfrm>
            <a:off x="495300" y="1457325"/>
            <a:ext cx="11182350" cy="1162050"/>
          </a:xfrm>
          <a:prstGeom prst="roundRect">
            <a:avLst>
              <a:gd name="adj" fmla="val 9836"/>
            </a:avLst>
          </a:prstGeom>
          <a:solidFill>
            <a:srgbClr val="F1F5FB"/>
          </a:solidFill>
          <a:ln w="9525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29B83DAD-FC7C-4600-A5D9-F28F80E8AF8B}"/>
              </a:ext>
            </a:extLst>
          </p:cNvPr>
          <p:cNvSpPr>
            <a:spLocks noGrp="1"/>
          </p:cNvSpPr>
          <p:nvPr/>
        </p:nvSpPr>
        <p:spPr>
          <a:xfrm>
            <a:off x="628650" y="1695450"/>
            <a:ext cx="619125" cy="619125"/>
          </a:xfrm>
          <a:prstGeom prst="roundRect">
            <a:avLst>
              <a:gd name="adj" fmla="val 18462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1C0511F3-C529-44D7-AC19-06E38289E9B7}"/>
              </a:ext>
            </a:extLst>
          </p:cNvPr>
          <p:cNvSpPr>
            <a:spLocks noGrp="1"/>
          </p:cNvSpPr>
          <p:nvPr/>
        </p:nvSpPr>
        <p:spPr>
          <a:xfrm>
            <a:off x="495300" y="2771775"/>
            <a:ext cx="11182350" cy="1162050"/>
          </a:xfrm>
          <a:prstGeom prst="roundRect">
            <a:avLst>
              <a:gd name="adj" fmla="val 9836"/>
            </a:avLst>
          </a:prstGeom>
          <a:solidFill>
            <a:srgbClr val="F1F5FB"/>
          </a:solidFill>
          <a:ln w="9525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E7B00154-6279-4E7D-B8C3-256E2F09F7A8}"/>
              </a:ext>
            </a:extLst>
          </p:cNvPr>
          <p:cNvSpPr>
            <a:spLocks noGrp="1"/>
          </p:cNvSpPr>
          <p:nvPr/>
        </p:nvSpPr>
        <p:spPr>
          <a:xfrm>
            <a:off x="628650" y="3009900"/>
            <a:ext cx="619125" cy="619125"/>
          </a:xfrm>
          <a:prstGeom prst="roundRect">
            <a:avLst>
              <a:gd name="adj" fmla="val 18462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1E5435DC-E42E-46AB-8E3E-8310E146812C}"/>
              </a:ext>
            </a:extLst>
          </p:cNvPr>
          <p:cNvSpPr>
            <a:spLocks noGrp="1"/>
          </p:cNvSpPr>
          <p:nvPr/>
        </p:nvSpPr>
        <p:spPr>
          <a:xfrm>
            <a:off x="495300" y="4086225"/>
            <a:ext cx="11182350" cy="1162050"/>
          </a:xfrm>
          <a:prstGeom prst="roundRect">
            <a:avLst>
              <a:gd name="adj" fmla="val 9836"/>
            </a:avLst>
          </a:prstGeom>
          <a:solidFill>
            <a:srgbClr val="FFF9EC"/>
          </a:solidFill>
          <a:ln w="9525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26B2C6F5-6E88-49B6-B3C9-E760D11B0B04}"/>
              </a:ext>
            </a:extLst>
          </p:cNvPr>
          <p:cNvSpPr>
            <a:spLocks noGrp="1"/>
          </p:cNvSpPr>
          <p:nvPr/>
        </p:nvSpPr>
        <p:spPr>
          <a:xfrm>
            <a:off x="628650" y="4324350"/>
            <a:ext cx="619125" cy="619125"/>
          </a:xfrm>
          <a:prstGeom prst="roundRect">
            <a:avLst>
              <a:gd name="adj" fmla="val 18462"/>
            </a:avLst>
          </a:prstGeom>
          <a:solidFill>
            <a:srgbClr val="A67528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可插拔扩展的三个接口边界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385723-81CD-4EEF-9BB1-D86C4B62A44E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03    可插拔扩展与多平台</a:t>
            </a:r>
          </a:p>
        </p:txBody>
      </p:sp>
      <p:sp>
        <p:nvSpPr>
          <p:cNvPr id="11" name="矩形 3">
            <a:extLst>
              <a:ext uri="{FF2B5EF4-FFF2-40B4-BE49-F238E27FC236}">
                <a16:creationId xmlns:a16="http://schemas.microsoft.com/office/drawing/2014/main" id="{697BDB49-E2D8-4227-B7D9-844D9552CDDE}"/>
              </a:ext>
            </a:extLst>
          </p:cNvPr>
          <p:cNvSpPr>
            <a:spLocks noGrp="1"/>
          </p:cNvSpPr>
          <p:nvPr/>
        </p:nvSpPr>
        <p:spPr>
          <a:xfrm>
            <a:off x="628650" y="1828800"/>
            <a:ext cx="6191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9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01</a:t>
            </a:r>
          </a:p>
        </p:txBody>
      </p:sp>
      <p:sp>
        <p:nvSpPr>
          <p:cNvPr id="12" name="矩形 4">
            <a:extLst>
              <a:ext uri="{FF2B5EF4-FFF2-40B4-BE49-F238E27FC236}">
                <a16:creationId xmlns:a16="http://schemas.microsoft.com/office/drawing/2014/main" id="{EF690D74-F59E-4C9A-8BFB-51FEEE6AE950}"/>
              </a:ext>
            </a:extLst>
          </p:cNvPr>
          <p:cNvSpPr>
            <a:spLocks noGrp="1"/>
          </p:cNvSpPr>
          <p:nvPr/>
        </p:nvSpPr>
        <p:spPr>
          <a:xfrm>
            <a:off x="1333500" y="1571625"/>
            <a:ext cx="10096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1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Connector：引擎接入</a:t>
            </a:r>
            <a:endParaRPr sz="2175" b="1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3" name="矩形 5">
            <a:extLst>
              <a:ext uri="{FF2B5EF4-FFF2-40B4-BE49-F238E27FC236}">
                <a16:creationId xmlns:a16="http://schemas.microsoft.com/office/drawing/2014/main" id="{3776FA7B-F16C-4776-BE88-D3A407AD4C08}"/>
              </a:ext>
            </a:extLst>
          </p:cNvPr>
          <p:cNvSpPr>
            <a:spLocks noGrp="1"/>
          </p:cNvSpPr>
          <p:nvPr/>
        </p:nvSpPr>
        <p:spPr>
          <a:xfrm>
            <a:off x="1333500" y="2028825"/>
            <a:ext cx="10001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rPr>
              <a:t>对接调度、查找、保存与加载，协调异步完成和失败处理</a:t>
            </a:r>
          </a:p>
        </p:txBody>
      </p:sp>
      <p:sp>
        <p:nvSpPr>
          <p:cNvPr id="14" name="矩形 6">
            <a:extLst>
              <a:ext uri="{FF2B5EF4-FFF2-40B4-BE49-F238E27FC236}">
                <a16:creationId xmlns:a16="http://schemas.microsoft.com/office/drawing/2014/main" id="{9A78CD1F-2A14-461E-A86F-BC37CFD83CB1}"/>
              </a:ext>
            </a:extLst>
          </p:cNvPr>
          <p:cNvSpPr>
            <a:spLocks noGrp="1"/>
          </p:cNvSpPr>
          <p:nvPr/>
        </p:nvSpPr>
        <p:spPr>
          <a:xfrm>
            <a:off x="628650" y="3143250"/>
            <a:ext cx="6191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9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02</a:t>
            </a:r>
          </a:p>
        </p:txBody>
      </p:sp>
      <p:sp>
        <p:nvSpPr>
          <p:cNvPr id="15" name="矩形 7">
            <a:extLst>
              <a:ext uri="{FF2B5EF4-FFF2-40B4-BE49-F238E27FC236}">
                <a16:creationId xmlns:a16="http://schemas.microsoft.com/office/drawing/2014/main" id="{09A271D8-6429-438B-9CEA-615BBC60E550}"/>
              </a:ext>
            </a:extLst>
          </p:cNvPr>
          <p:cNvSpPr>
            <a:spLocks noGrp="1"/>
          </p:cNvSpPr>
          <p:nvPr/>
        </p:nvSpPr>
        <p:spPr>
          <a:xfrm>
            <a:off x="1333500" y="2886075"/>
            <a:ext cx="10096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L2 Adapter：存储后端</a:t>
            </a:r>
          </a:p>
        </p:txBody>
      </p:sp>
      <p:sp>
        <p:nvSpPr>
          <p:cNvPr id="16" name="矩形 8">
            <a:extLst>
              <a:ext uri="{FF2B5EF4-FFF2-40B4-BE49-F238E27FC236}">
                <a16:creationId xmlns:a16="http://schemas.microsoft.com/office/drawing/2014/main" id="{72E669D2-E8A6-4952-BD0B-C5004E4E17D5}"/>
              </a:ext>
            </a:extLst>
          </p:cNvPr>
          <p:cNvSpPr>
            <a:spLocks noGrp="1"/>
          </p:cNvSpPr>
          <p:nvPr/>
        </p:nvSpPr>
        <p:spPr>
          <a:xfrm>
            <a:off x="1333500" y="3343275"/>
            <a:ext cx="10001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rPr>
              <a:t>统一异步 I/O 接口，插件独立维护，保留后端实现差异</a:t>
            </a:r>
          </a:p>
        </p:txBody>
      </p:sp>
      <p:sp>
        <p:nvSpPr>
          <p:cNvPr id="17" name="矩形 9">
            <a:extLst>
              <a:ext uri="{FF2B5EF4-FFF2-40B4-BE49-F238E27FC236}">
                <a16:creationId xmlns:a16="http://schemas.microsoft.com/office/drawing/2014/main" id="{5C6E1243-966E-4640-9375-84F1162A989F}"/>
              </a:ext>
            </a:extLst>
          </p:cNvPr>
          <p:cNvSpPr>
            <a:spLocks noGrp="1"/>
          </p:cNvSpPr>
          <p:nvPr/>
        </p:nvSpPr>
        <p:spPr>
          <a:xfrm>
            <a:off x="628650" y="4457700"/>
            <a:ext cx="61912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9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03</a:t>
            </a:r>
          </a:p>
        </p:txBody>
      </p:sp>
      <p:sp>
        <p:nvSpPr>
          <p:cNvPr id="18" name="矩形 10">
            <a:extLst>
              <a:ext uri="{FF2B5EF4-FFF2-40B4-BE49-F238E27FC236}">
                <a16:creationId xmlns:a16="http://schemas.microsoft.com/office/drawing/2014/main" id="{4F3CAF77-7B3D-485B-9A7E-246A76F90311}"/>
              </a:ext>
            </a:extLst>
          </p:cNvPr>
          <p:cNvSpPr>
            <a:spLocks noGrp="1"/>
          </p:cNvSpPr>
          <p:nvPr/>
        </p:nvSpPr>
        <p:spPr>
          <a:xfrm>
            <a:off x="1333500" y="4200525"/>
            <a:ext cx="10096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1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Device </a:t>
            </a:r>
            <a:r>
              <a:rPr sz="2175" b="1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Platform：设备能力</a:t>
            </a:r>
            <a:endParaRPr sz="2175" b="1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9" name="矩形 11">
            <a:extLst>
              <a:ext uri="{FF2B5EF4-FFF2-40B4-BE49-F238E27FC236}">
                <a16:creationId xmlns:a16="http://schemas.microsoft.com/office/drawing/2014/main" id="{84AE9304-E056-4A09-9C63-30407C961986}"/>
              </a:ext>
            </a:extLst>
          </p:cNvPr>
          <p:cNvSpPr>
            <a:spLocks noGrp="1"/>
          </p:cNvSpPr>
          <p:nvPr/>
        </p:nvSpPr>
        <p:spPr>
          <a:xfrm>
            <a:off x="1333500" y="4657725"/>
            <a:ext cx="1000125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rPr>
              <a:t>封装设备描述、内存操作、同步与可用传输路径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10125A0F-9C22-46F9-8626-CA8A26E21A9D}"/>
              </a:ext>
            </a:extLst>
          </p:cNvPr>
          <p:cNvSpPr>
            <a:spLocks noGrp="1"/>
          </p:cNvSpPr>
          <p:nvPr/>
        </p:nvSpPr>
        <p:spPr>
          <a:xfrm>
            <a:off x="7686675" y="1609725"/>
            <a:ext cx="3990975" cy="1590675"/>
          </a:xfrm>
          <a:prstGeom prst="roundRect">
            <a:avLst>
              <a:gd name="adj" fmla="val 7186"/>
            </a:avLst>
          </a:prstGeom>
          <a:solidFill>
            <a:srgbClr val="F2F6FB"/>
          </a:solidFill>
          <a:ln w="9525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4CA40698-BC0C-4F82-BF99-85557895F887}"/>
              </a:ext>
            </a:extLst>
          </p:cNvPr>
          <p:cNvSpPr>
            <a:spLocks noGrp="1"/>
          </p:cNvSpPr>
          <p:nvPr/>
        </p:nvSpPr>
        <p:spPr>
          <a:xfrm>
            <a:off x="7848600" y="1609725"/>
            <a:ext cx="3667125" cy="47625"/>
          </a:xfrm>
          <a:prstGeom prst="roundRect">
            <a:avLst>
              <a:gd name="adj" fmla="val 50000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47A77E49-ECAC-436E-98F2-4A217CFD820D}"/>
              </a:ext>
            </a:extLst>
          </p:cNvPr>
          <p:cNvSpPr>
            <a:spLocks noGrp="1"/>
          </p:cNvSpPr>
          <p:nvPr/>
        </p:nvSpPr>
        <p:spPr>
          <a:xfrm>
            <a:off x="7686675" y="3552825"/>
            <a:ext cx="3990975" cy="1695450"/>
          </a:xfrm>
          <a:prstGeom prst="roundRect">
            <a:avLst>
              <a:gd name="adj" fmla="val 6742"/>
            </a:avLst>
          </a:prstGeom>
          <a:solidFill>
            <a:srgbClr val="FFF9EC"/>
          </a:solidFill>
          <a:ln w="9525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74668492-DA44-4AA7-A085-65383369107E}"/>
              </a:ext>
            </a:extLst>
          </p:cNvPr>
          <p:cNvSpPr>
            <a:spLocks noGrp="1"/>
          </p:cNvSpPr>
          <p:nvPr/>
        </p:nvSpPr>
        <p:spPr>
          <a:xfrm>
            <a:off x="7848600" y="3552825"/>
            <a:ext cx="3667125" cy="47625"/>
          </a:xfrm>
          <a:prstGeom prst="roundRect">
            <a:avLst>
              <a:gd name="adj" fmla="val 50000"/>
            </a:avLst>
          </a:prstGeom>
          <a:solidFill>
            <a:srgbClr val="B18B4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C9742A6-DAB3-42DA-8C64-EC189F1AEE3F}"/>
              </a:ext>
            </a:extLst>
          </p:cNvPr>
          <p:cNvSpPr>
            <a:spLocks noGrp="1"/>
          </p:cNvSpPr>
          <p:nvPr/>
        </p:nvSpPr>
        <p:spPr>
          <a:xfrm>
            <a:off x="2033996" y="5484649"/>
            <a:ext cx="8582025" cy="409575"/>
          </a:xfrm>
          <a:prstGeom prst="roundRect">
            <a:avLst>
              <a:gd name="adj" fmla="val 27907"/>
            </a:avLst>
          </a:prstGeom>
          <a:solidFill>
            <a:srgbClr val="F1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 dirty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推理引擎 Connector 与模型布局适配</a:t>
            </a:r>
          </a:p>
        </p:txBody>
      </p:sp>
      <p:sp>
        <p:nvSpPr>
          <p:cNvPr id="8" name="矩形 2">
            <a:extLst>
              <a:ext uri="{FF2B5EF4-FFF2-40B4-BE49-F238E27FC236}">
                <a16:creationId xmlns:a16="http://schemas.microsoft.com/office/drawing/2014/main" id="{FEEFB6EC-286A-4211-AAF3-291865DBDA1E}"/>
              </a:ext>
            </a:extLst>
          </p:cNvPr>
          <p:cNvSpPr>
            <a:spLocks noGrp="1"/>
          </p:cNvSpPr>
          <p:nvPr/>
        </p:nvSpPr>
        <p:spPr>
          <a:xfrm>
            <a:off x="7753350" y="1762125"/>
            <a:ext cx="378142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225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Connector 职责</a:t>
            </a:r>
          </a:p>
        </p:txBody>
      </p:sp>
      <p:sp>
        <p:nvSpPr>
          <p:cNvPr id="9" name="矩形 3">
            <a:extLst>
              <a:ext uri="{FF2B5EF4-FFF2-40B4-BE49-F238E27FC236}">
                <a16:creationId xmlns:a16="http://schemas.microsoft.com/office/drawing/2014/main" id="{86B5379F-6445-4E4D-8D51-7C414F1F77C1}"/>
              </a:ext>
            </a:extLst>
          </p:cNvPr>
          <p:cNvSpPr>
            <a:spLocks noGrp="1"/>
          </p:cNvSpPr>
          <p:nvPr/>
        </p:nvSpPr>
        <p:spPr>
          <a:xfrm>
            <a:off x="7753350" y="2371725"/>
            <a:ext cx="3781425" cy="1476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875" b="0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rPr>
              <a:t>调度侧与 Worker 协作</a:t>
            </a:r>
          </a:p>
          <a:p>
            <a:pPr marL="0" indent="0" algn="l">
              <a:buNone/>
            </a:pPr>
            <a:r>
              <a:rPr sz="1875" b="0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rPr>
              <a:t>查找、保存、加载及完成事件</a:t>
            </a:r>
          </a:p>
        </p:txBody>
      </p:sp>
      <p:sp>
        <p:nvSpPr>
          <p:cNvPr id="10" name="矩形 4">
            <a:extLst>
              <a:ext uri="{FF2B5EF4-FFF2-40B4-BE49-F238E27FC236}">
                <a16:creationId xmlns:a16="http://schemas.microsoft.com/office/drawing/2014/main" id="{1CBE4860-CB39-4564-8CDB-47C4BD8CB7DD}"/>
              </a:ext>
            </a:extLst>
          </p:cNvPr>
          <p:cNvSpPr>
            <a:spLocks noGrp="1"/>
          </p:cNvSpPr>
          <p:nvPr/>
        </p:nvSpPr>
        <p:spPr>
          <a:xfrm>
            <a:off x="7753350" y="3648075"/>
            <a:ext cx="3781425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225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模型布局</a:t>
            </a:r>
          </a:p>
        </p:txBody>
      </p:sp>
      <p:sp>
        <p:nvSpPr>
          <p:cNvPr id="11" name="矩形 5">
            <a:extLst>
              <a:ext uri="{FF2B5EF4-FFF2-40B4-BE49-F238E27FC236}">
                <a16:creationId xmlns:a16="http://schemas.microsoft.com/office/drawing/2014/main" id="{49261444-10E4-4538-A663-F5CDCCA56064}"/>
              </a:ext>
            </a:extLst>
          </p:cNvPr>
          <p:cNvSpPr>
            <a:spLocks noGrp="1"/>
          </p:cNvSpPr>
          <p:nvPr/>
        </p:nvSpPr>
        <p:spPr>
          <a:xfrm>
            <a:off x="7753350" y="4257675"/>
            <a:ext cx="3781425" cy="1476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875" b="0" dirty="0" err="1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rPr>
              <a:t>EngineKVFormat</a:t>
            </a:r>
            <a:r>
              <a:rPr sz="1875" b="0" dirty="0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rPr>
              <a:t> / KV groups</a:t>
            </a:r>
          </a:p>
          <a:p>
            <a:pPr marL="0" indent="0" algn="l">
              <a:buNone/>
            </a:pPr>
            <a:r>
              <a:rPr sz="1875" b="0" dirty="0" err="1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rPr>
              <a:t>模型、精度与分片兼容性</a:t>
            </a:r>
            <a:endParaRPr sz="1875" b="0" dirty="0">
              <a:solidFill>
                <a:srgbClr val="51667B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2" name="矩形 6">
            <a:extLst>
              <a:ext uri="{FF2B5EF4-FFF2-40B4-BE49-F238E27FC236}">
                <a16:creationId xmlns:a16="http://schemas.microsoft.com/office/drawing/2014/main" id="{3D4CB78B-DFF4-4B21-86ED-FE83E70D953D}"/>
              </a:ext>
            </a:extLst>
          </p:cNvPr>
          <p:cNvSpPr>
            <a:spLocks noGrp="1"/>
          </p:cNvSpPr>
          <p:nvPr/>
        </p:nvSpPr>
        <p:spPr>
          <a:xfrm>
            <a:off x="3200400" y="5531782"/>
            <a:ext cx="8477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35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引擎变化优先适配</a:t>
            </a:r>
            <a:r>
              <a:rPr sz="1350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sz="135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Connector，模型变化校验</a:t>
            </a:r>
            <a:r>
              <a:rPr sz="1350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 KV </a:t>
            </a:r>
            <a:r>
              <a:rPr sz="135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格式与输出</a:t>
            </a:r>
            <a:endParaRPr sz="1350" b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3" name="Right Arrow 7"/>
          <p:cNvSpPr>
            <a:spLocks noGrp="1"/>
          </p:cNvSpPr>
          <p:nvPr/>
        </p:nvSpPr>
        <p:spPr>
          <a:xfrm>
            <a:off x="2990856" y="3089015"/>
            <a:ext cx="1003357" cy="224094"/>
          </a:xfrm>
          <a:prstGeom prst="rightArrow">
            <a:avLst/>
          </a:prstGeom>
          <a:solidFill>
            <a:srgbClr val="D7ECF1"/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4" name="Rounded Rectangle 9"/>
          <p:cNvSpPr>
            <a:spLocks noGrp="1"/>
          </p:cNvSpPr>
          <p:nvPr/>
        </p:nvSpPr>
        <p:spPr>
          <a:xfrm>
            <a:off x="482464" y="1644197"/>
            <a:ext cx="2478881" cy="1002527"/>
          </a:xfrm>
          <a:prstGeom prst="roundRect">
            <a:avLst>
              <a:gd name="adj" fmla="val 7059"/>
            </a:avLst>
          </a:prstGeom>
          <a:solidFill>
            <a:srgbClr val="F0F5FA"/>
          </a:solidFill>
          <a:ln w="11430"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pic>
        <p:nvPicPr>
          <p:cNvPr id="15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352" y="1850600"/>
            <a:ext cx="1038769" cy="518955"/>
          </a:xfrm>
          <a:prstGeom prst="rect">
            <a:avLst/>
          </a:prstGeom>
        </p:spPr>
      </p:pic>
      <p:sp>
        <p:nvSpPr>
          <p:cNvPr id="16" name="Rectangle 11"/>
          <p:cNvSpPr>
            <a:spLocks noGrp="1"/>
          </p:cNvSpPr>
          <p:nvPr/>
        </p:nvSpPr>
        <p:spPr>
          <a:xfrm>
            <a:off x="1869457" y="1761434"/>
            <a:ext cx="914825" cy="207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1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vLLM</a:t>
            </a:r>
            <a:endParaRPr sz="1207"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7" name="Rectangle 12"/>
          <p:cNvSpPr>
            <a:spLocks noGrp="1"/>
          </p:cNvSpPr>
          <p:nvPr/>
        </p:nvSpPr>
        <p:spPr>
          <a:xfrm>
            <a:off x="1745513" y="2180844"/>
            <a:ext cx="1136235" cy="253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29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KV Connector</a:t>
            </a:r>
          </a:p>
        </p:txBody>
      </p:sp>
      <p:sp>
        <p:nvSpPr>
          <p:cNvPr id="18" name="Rounded Rectangle 13"/>
          <p:cNvSpPr>
            <a:spLocks noGrp="1"/>
          </p:cNvSpPr>
          <p:nvPr/>
        </p:nvSpPr>
        <p:spPr>
          <a:xfrm>
            <a:off x="482464" y="2823641"/>
            <a:ext cx="2478881" cy="1002527"/>
          </a:xfrm>
          <a:prstGeom prst="roundRect">
            <a:avLst>
              <a:gd name="adj" fmla="val 7059"/>
            </a:avLst>
          </a:prstGeom>
          <a:solidFill>
            <a:srgbClr val="F0F5FA"/>
          </a:solidFill>
          <a:ln w="11430"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pic>
        <p:nvPicPr>
          <p:cNvPr id="19" name="Picture 5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037" y="3119014"/>
            <a:ext cx="1121399" cy="341013"/>
          </a:xfrm>
          <a:prstGeom prst="rect">
            <a:avLst/>
          </a:prstGeom>
        </p:spPr>
      </p:pic>
      <p:sp>
        <p:nvSpPr>
          <p:cNvPr id="20" name="Rectangle 15"/>
          <p:cNvSpPr>
            <a:spLocks noGrp="1"/>
          </p:cNvSpPr>
          <p:nvPr/>
        </p:nvSpPr>
        <p:spPr>
          <a:xfrm>
            <a:off x="1877111" y="2971070"/>
            <a:ext cx="914825" cy="207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1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SGLang</a:t>
            </a:r>
            <a:endParaRPr sz="1600"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1" name="Rectangle 16"/>
          <p:cNvSpPr>
            <a:spLocks noGrp="1"/>
          </p:cNvSpPr>
          <p:nvPr/>
        </p:nvSpPr>
        <p:spPr>
          <a:xfrm>
            <a:off x="1869457" y="3360287"/>
            <a:ext cx="914825" cy="1651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29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Connector</a:t>
            </a:r>
          </a:p>
        </p:txBody>
      </p:sp>
      <p:sp>
        <p:nvSpPr>
          <p:cNvPr id="22" name="Rounded Rectangle 17"/>
          <p:cNvSpPr>
            <a:spLocks noGrp="1"/>
          </p:cNvSpPr>
          <p:nvPr/>
        </p:nvSpPr>
        <p:spPr>
          <a:xfrm>
            <a:off x="482464" y="4003084"/>
            <a:ext cx="2478881" cy="1002527"/>
          </a:xfrm>
          <a:prstGeom prst="roundRect">
            <a:avLst>
              <a:gd name="adj" fmla="val 7059"/>
            </a:avLst>
          </a:prstGeom>
          <a:solidFill>
            <a:srgbClr val="F0F5FA"/>
          </a:solidFill>
          <a:ln w="11430"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pic>
        <p:nvPicPr>
          <p:cNvPr id="23" name="Graphic 58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9037" y="4180001"/>
            <a:ext cx="619720" cy="424600"/>
          </a:xfrm>
          <a:prstGeom prst="rect">
            <a:avLst/>
          </a:prstGeom>
        </p:spPr>
      </p:pic>
      <p:sp>
        <p:nvSpPr>
          <p:cNvPr id="24" name="Rectangle 19"/>
          <p:cNvSpPr>
            <a:spLocks noGrp="1"/>
          </p:cNvSpPr>
          <p:nvPr/>
        </p:nvSpPr>
        <p:spPr>
          <a:xfrm>
            <a:off x="1574352" y="4112314"/>
            <a:ext cx="1386993" cy="2594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0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TRT-LLM</a:t>
            </a:r>
          </a:p>
        </p:txBody>
      </p:sp>
      <p:sp>
        <p:nvSpPr>
          <p:cNvPr id="25" name="Rectangle 20"/>
          <p:cNvSpPr>
            <a:spLocks noGrp="1"/>
          </p:cNvSpPr>
          <p:nvPr/>
        </p:nvSpPr>
        <p:spPr>
          <a:xfrm>
            <a:off x="1500058" y="4548708"/>
            <a:ext cx="1386993" cy="1674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29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MP / KV Connector</a:t>
            </a:r>
          </a:p>
        </p:txBody>
      </p:sp>
      <p:sp>
        <p:nvSpPr>
          <p:cNvPr id="26" name="Rounded Rectangle 21"/>
          <p:cNvSpPr>
            <a:spLocks noGrp="1"/>
          </p:cNvSpPr>
          <p:nvPr/>
        </p:nvSpPr>
        <p:spPr>
          <a:xfrm>
            <a:off x="4095178" y="1932498"/>
            <a:ext cx="3010070" cy="2535803"/>
          </a:xfrm>
          <a:prstGeom prst="roundRect">
            <a:avLst>
              <a:gd name="adj" fmla="val 2791"/>
            </a:avLst>
          </a:prstGeom>
          <a:solidFill>
            <a:srgbClr val="F0F5FA"/>
          </a:solidFill>
          <a:ln w="11430"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7">
            <a:srgbClr val="FFFFFF"/>
          </a:effectRef>
          <a:fontRef idx="major"/>
        </p:style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pic>
        <p:nvPicPr>
          <p:cNvPr id="27" name="Picture 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5081" y="2627324"/>
            <a:ext cx="2865257" cy="602935"/>
          </a:xfrm>
          <a:prstGeom prst="rect">
            <a:avLst/>
          </a:prstGeom>
        </p:spPr>
      </p:pic>
      <p:sp>
        <p:nvSpPr>
          <p:cNvPr id="28" name="Rectangle 23"/>
          <p:cNvSpPr>
            <a:spLocks noGrp="1"/>
          </p:cNvSpPr>
          <p:nvPr/>
        </p:nvSpPr>
        <p:spPr>
          <a:xfrm>
            <a:off x="4304983" y="3457694"/>
            <a:ext cx="2685454" cy="2830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486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统一</a:t>
            </a:r>
            <a:r>
              <a:rPr sz="20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KV Cache </a:t>
            </a:r>
            <a:r>
              <a:rPr sz="2000" b="1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管理层</a:t>
            </a:r>
            <a:endParaRPr sz="2000"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0" name="矩形 24">
            <a:extLst>
              <a:ext uri="{FF2B5EF4-FFF2-40B4-BE49-F238E27FC236}">
                <a16:creationId xmlns:a16="http://schemas.microsoft.com/office/drawing/2014/main" id="{7F7B4A3F-4165-401B-B36B-4B09A89ED83F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03    可插拔扩展与多平台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圆角矩形 46">
            <a:extLst>
              <a:ext uri="{FF2B5EF4-FFF2-40B4-BE49-F238E27FC236}">
                <a16:creationId xmlns:a16="http://schemas.microsoft.com/office/drawing/2014/main" id="{D1D435D0-D5A6-C1DA-4DC3-3038FCDEE60A}"/>
              </a:ext>
            </a:extLst>
          </p:cNvPr>
          <p:cNvSpPr>
            <a:spLocks noGrp="1"/>
          </p:cNvSpPr>
          <p:nvPr/>
        </p:nvSpPr>
        <p:spPr>
          <a:xfrm>
            <a:off x="1804987" y="5668922"/>
            <a:ext cx="8582025" cy="409575"/>
          </a:xfrm>
          <a:prstGeom prst="roundRect">
            <a:avLst>
              <a:gd name="adj" fmla="val 27907"/>
            </a:avLst>
          </a:prstGeom>
          <a:solidFill>
            <a:srgbClr val="F1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L1 / L2 分层与存储插件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B567FB9-0D61-4F10-9EDA-28C5FF791355}"/>
              </a:ext>
            </a:extLst>
          </p:cNvPr>
          <p:cNvSpPr>
            <a:spLocks noGrp="1"/>
          </p:cNvSpPr>
          <p:nvPr/>
        </p:nvSpPr>
        <p:spPr>
          <a:xfrm>
            <a:off x="3152775" y="5722653"/>
            <a:ext cx="8477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35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L2 Adapter 可作为独立包维护，统一异步接口隔离后端差异</a:t>
            </a:r>
          </a:p>
        </p:txBody>
      </p:sp>
      <p:sp>
        <p:nvSpPr>
          <p:cNvPr id="4" name="Right Arrow 5"/>
          <p:cNvSpPr>
            <a:spLocks noGrp="1"/>
          </p:cNvSpPr>
          <p:nvPr/>
        </p:nvSpPr>
        <p:spPr>
          <a:xfrm>
            <a:off x="2931185" y="3151063"/>
            <a:ext cx="923069" cy="233288"/>
          </a:xfrm>
          <a:prstGeom prst="rightArrow">
            <a:avLst/>
          </a:prstGeom>
          <a:solidFill>
            <a:srgbClr val="D7ECF1"/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5" name="Right Arrow 6"/>
          <p:cNvSpPr>
            <a:spLocks noGrp="1"/>
          </p:cNvSpPr>
          <p:nvPr/>
        </p:nvSpPr>
        <p:spPr>
          <a:xfrm>
            <a:off x="5485009" y="3151063"/>
            <a:ext cx="738455" cy="233288"/>
          </a:xfrm>
          <a:prstGeom prst="rightArrow">
            <a:avLst/>
          </a:prstGeom>
          <a:solidFill>
            <a:srgbClr val="D7ECF1"/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6" name="Rounded Rectangle 7"/>
          <p:cNvSpPr>
            <a:spLocks noGrp="1"/>
          </p:cNvSpPr>
          <p:nvPr/>
        </p:nvSpPr>
        <p:spPr>
          <a:xfrm>
            <a:off x="592744" y="1923231"/>
            <a:ext cx="2338441" cy="2885405"/>
          </a:xfrm>
          <a:prstGeom prst="roundRect">
            <a:avLst>
              <a:gd name="adj" fmla="val 3158"/>
            </a:avLst>
          </a:prstGeom>
          <a:solidFill>
            <a:srgbClr val="F0F5FA"/>
          </a:solidFill>
          <a:ln w="11430"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pic>
        <p:nvPicPr>
          <p:cNvPr id="7" name="Picture 5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740" y="2314140"/>
            <a:ext cx="1538448" cy="323232"/>
          </a:xfrm>
          <a:prstGeom prst="rect">
            <a:avLst/>
          </a:prstGeom>
        </p:spPr>
      </p:pic>
      <p:sp>
        <p:nvSpPr>
          <p:cNvPr id="8" name="Rectangle 9"/>
          <p:cNvSpPr>
            <a:spLocks noGrp="1"/>
          </p:cNvSpPr>
          <p:nvPr/>
        </p:nvSpPr>
        <p:spPr>
          <a:xfrm>
            <a:off x="869665" y="2997584"/>
            <a:ext cx="1784600" cy="30695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4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L1 </a:t>
            </a:r>
            <a:r>
              <a:rPr sz="2000" b="1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热数据层</a:t>
            </a:r>
            <a:endParaRPr sz="2000"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9" name="Rounded Rectangle 10"/>
          <p:cNvSpPr>
            <a:spLocks noGrp="1"/>
          </p:cNvSpPr>
          <p:nvPr/>
        </p:nvSpPr>
        <p:spPr>
          <a:xfrm>
            <a:off x="900434" y="3550109"/>
            <a:ext cx="1723062" cy="552524"/>
          </a:xfrm>
          <a:prstGeom prst="roundRect">
            <a:avLst>
              <a:gd name="adj" fmla="val 13333"/>
            </a:avLst>
          </a:prstGeom>
          <a:solidFill>
            <a:srgbClr val="F0F5FA"/>
          </a:solidFill>
          <a:ln w="11430"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0" name="Rectangle 11"/>
          <p:cNvSpPr>
            <a:spLocks noGrp="1"/>
          </p:cNvSpPr>
          <p:nvPr/>
        </p:nvSpPr>
        <p:spPr>
          <a:xfrm>
            <a:off x="746589" y="3677551"/>
            <a:ext cx="1969214" cy="33691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5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CPU </a:t>
            </a:r>
            <a:r>
              <a:rPr sz="2000" b="1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内存</a:t>
            </a:r>
            <a:r>
              <a:rPr sz="20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/ GDS</a:t>
            </a:r>
          </a:p>
        </p:txBody>
      </p:sp>
      <p:sp>
        <p:nvSpPr>
          <p:cNvPr id="11" name="Rectangle 12"/>
          <p:cNvSpPr>
            <a:spLocks noGrp="1"/>
          </p:cNvSpPr>
          <p:nvPr/>
        </p:nvSpPr>
        <p:spPr>
          <a:xfrm>
            <a:off x="869665" y="4317504"/>
            <a:ext cx="1846138" cy="21978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160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00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Store / Prefetch / Load</a:t>
            </a:r>
          </a:p>
        </p:txBody>
      </p:sp>
      <p:sp>
        <p:nvSpPr>
          <p:cNvPr id="12" name="Rounded Rectangle 13"/>
          <p:cNvSpPr>
            <a:spLocks noGrp="1"/>
          </p:cNvSpPr>
          <p:nvPr/>
        </p:nvSpPr>
        <p:spPr>
          <a:xfrm>
            <a:off x="3854254" y="2260885"/>
            <a:ext cx="1599986" cy="2210098"/>
          </a:xfrm>
          <a:prstGeom prst="roundRect">
            <a:avLst>
              <a:gd name="adj" fmla="val 4615"/>
            </a:avLst>
          </a:prstGeom>
          <a:solidFill>
            <a:srgbClr val="F0F5FA"/>
          </a:solidFill>
          <a:ln w="11430"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6">
            <a:srgbClr val="FFFFFF"/>
          </a:effectRef>
          <a:fontRef idx="major"/>
        </p:style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3" name="Rectangle 14"/>
          <p:cNvSpPr>
            <a:spLocks noGrp="1"/>
          </p:cNvSpPr>
          <p:nvPr/>
        </p:nvSpPr>
        <p:spPr>
          <a:xfrm>
            <a:off x="4100405" y="2659931"/>
            <a:ext cx="1107683" cy="56480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54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L2</a:t>
            </a:r>
          </a:p>
          <a:p>
            <a:pPr algn="ctr">
              <a:buNone/>
              <a:defRPr sz="154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Adapter</a:t>
            </a:r>
          </a:p>
        </p:txBody>
      </p:sp>
      <p:sp>
        <p:nvSpPr>
          <p:cNvPr id="14" name="Rectangle 15"/>
          <p:cNvSpPr>
            <a:spLocks noGrp="1"/>
          </p:cNvSpPr>
          <p:nvPr/>
        </p:nvSpPr>
        <p:spPr>
          <a:xfrm>
            <a:off x="3941432" y="3601120"/>
            <a:ext cx="1425629" cy="61391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67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0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统一异步接口</a:t>
            </a:r>
            <a:endParaRPr sz="1400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  <a:p>
            <a:pPr algn="ctr">
              <a:buNone/>
              <a:defRPr sz="967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0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隔离后端差异</a:t>
            </a:r>
            <a:endParaRPr sz="1400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5" name="Rounded Rectangle 16"/>
          <p:cNvSpPr>
            <a:spLocks noGrp="1"/>
          </p:cNvSpPr>
          <p:nvPr/>
        </p:nvSpPr>
        <p:spPr>
          <a:xfrm>
            <a:off x="6254234" y="1430926"/>
            <a:ext cx="1169221" cy="1454982"/>
          </a:xfrm>
          <a:prstGeom prst="roundRect">
            <a:avLst>
              <a:gd name="adj" fmla="val 6316"/>
            </a:avLst>
          </a:prstGeom>
          <a:solidFill>
            <a:srgbClr val="F0F5FA"/>
          </a:solidFill>
          <a:ln w="11430"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6" name="Rectangle 18"/>
          <p:cNvSpPr>
            <a:spLocks noGrp="1"/>
          </p:cNvSpPr>
          <p:nvPr/>
        </p:nvSpPr>
        <p:spPr>
          <a:xfrm>
            <a:off x="6333354" y="2265852"/>
            <a:ext cx="1021529" cy="294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6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s3</a:t>
            </a:r>
            <a:endParaRPr sz="967"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7" name="Rectangle 19"/>
          <p:cNvSpPr>
            <a:spLocks noGrp="1"/>
          </p:cNvSpPr>
          <p:nvPr/>
        </p:nvSpPr>
        <p:spPr>
          <a:xfrm>
            <a:off x="6254233" y="2556305"/>
            <a:ext cx="1169221" cy="255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773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00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Object store</a:t>
            </a:r>
          </a:p>
        </p:txBody>
      </p:sp>
      <p:sp>
        <p:nvSpPr>
          <p:cNvPr id="18" name="Rounded Rectangle 20"/>
          <p:cNvSpPr>
            <a:spLocks noGrp="1"/>
          </p:cNvSpPr>
          <p:nvPr/>
        </p:nvSpPr>
        <p:spPr>
          <a:xfrm>
            <a:off x="7577299" y="1430925"/>
            <a:ext cx="1169221" cy="1454981"/>
          </a:xfrm>
          <a:prstGeom prst="roundRect">
            <a:avLst>
              <a:gd name="adj" fmla="val 6316"/>
            </a:avLst>
          </a:prstGeom>
          <a:solidFill>
            <a:srgbClr val="F0F5FA"/>
          </a:solidFill>
          <a:ln w="11430"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pic>
        <p:nvPicPr>
          <p:cNvPr id="19" name="Graphic 7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1143" y="1615101"/>
            <a:ext cx="701532" cy="478854"/>
          </a:xfrm>
          <a:prstGeom prst="rect">
            <a:avLst/>
          </a:prstGeom>
        </p:spPr>
      </p:pic>
      <p:sp>
        <p:nvSpPr>
          <p:cNvPr id="20" name="Rectangle 22"/>
          <p:cNvSpPr>
            <a:spLocks noGrp="1"/>
          </p:cNvSpPr>
          <p:nvPr/>
        </p:nvSpPr>
        <p:spPr>
          <a:xfrm>
            <a:off x="7653913" y="2235156"/>
            <a:ext cx="1021529" cy="294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6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FS</a:t>
            </a:r>
          </a:p>
        </p:txBody>
      </p:sp>
      <p:sp>
        <p:nvSpPr>
          <p:cNvPr id="21" name="Rectangle 23"/>
          <p:cNvSpPr>
            <a:spLocks noGrp="1"/>
          </p:cNvSpPr>
          <p:nvPr/>
        </p:nvSpPr>
        <p:spPr>
          <a:xfrm>
            <a:off x="7675656" y="2562066"/>
            <a:ext cx="1021529" cy="2455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773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00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filesystem</a:t>
            </a:r>
          </a:p>
        </p:txBody>
      </p:sp>
      <p:sp>
        <p:nvSpPr>
          <p:cNvPr id="22" name="Rounded Rectangle 24"/>
          <p:cNvSpPr>
            <a:spLocks noGrp="1"/>
          </p:cNvSpPr>
          <p:nvPr/>
        </p:nvSpPr>
        <p:spPr>
          <a:xfrm>
            <a:off x="8900364" y="1430926"/>
            <a:ext cx="1169221" cy="1454980"/>
          </a:xfrm>
          <a:prstGeom prst="roundRect">
            <a:avLst>
              <a:gd name="adj" fmla="val 6316"/>
            </a:avLst>
          </a:prstGeom>
          <a:solidFill>
            <a:srgbClr val="F0F5FA"/>
          </a:solidFill>
          <a:ln w="11430"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pic>
        <p:nvPicPr>
          <p:cNvPr id="23" name="Graphic 75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4208" y="1615101"/>
            <a:ext cx="701532" cy="478854"/>
          </a:xfrm>
          <a:prstGeom prst="rect">
            <a:avLst/>
          </a:prstGeom>
        </p:spPr>
      </p:pic>
      <p:sp>
        <p:nvSpPr>
          <p:cNvPr id="24" name="Rectangle 26"/>
          <p:cNvSpPr>
            <a:spLocks noGrp="1"/>
          </p:cNvSpPr>
          <p:nvPr/>
        </p:nvSpPr>
        <p:spPr>
          <a:xfrm>
            <a:off x="8937288" y="2118084"/>
            <a:ext cx="1169220" cy="294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6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NIXL Storage</a:t>
            </a:r>
          </a:p>
        </p:txBody>
      </p:sp>
      <p:sp>
        <p:nvSpPr>
          <p:cNvPr id="25" name="Rectangle 27"/>
          <p:cNvSpPr>
            <a:spLocks noGrp="1"/>
          </p:cNvSpPr>
          <p:nvPr/>
        </p:nvSpPr>
        <p:spPr>
          <a:xfrm>
            <a:off x="8974210" y="2382496"/>
            <a:ext cx="1169220" cy="24556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773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00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GDS / POSIX / HF3FS</a:t>
            </a:r>
          </a:p>
        </p:txBody>
      </p:sp>
      <p:sp>
        <p:nvSpPr>
          <p:cNvPr id="26" name="Rounded Rectangle 28"/>
          <p:cNvSpPr>
            <a:spLocks noGrp="1"/>
          </p:cNvSpPr>
          <p:nvPr/>
        </p:nvSpPr>
        <p:spPr>
          <a:xfrm>
            <a:off x="10223430" y="1430926"/>
            <a:ext cx="1169221" cy="1454980"/>
          </a:xfrm>
          <a:prstGeom prst="roundRect">
            <a:avLst>
              <a:gd name="adj" fmla="val 6316"/>
            </a:avLst>
          </a:prstGeom>
          <a:solidFill>
            <a:srgbClr val="F0F5FA"/>
          </a:solidFill>
          <a:ln w="11430"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pic>
        <p:nvPicPr>
          <p:cNvPr id="27" name="Graphic 79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57274" y="1615101"/>
            <a:ext cx="701532" cy="478854"/>
          </a:xfrm>
          <a:prstGeom prst="rect">
            <a:avLst/>
          </a:prstGeom>
        </p:spPr>
      </p:pic>
      <p:sp>
        <p:nvSpPr>
          <p:cNvPr id="28" name="Rectangle 30"/>
          <p:cNvSpPr>
            <a:spLocks noGrp="1"/>
          </p:cNvSpPr>
          <p:nvPr/>
        </p:nvSpPr>
        <p:spPr>
          <a:xfrm>
            <a:off x="10358812" y="2124653"/>
            <a:ext cx="1021529" cy="47885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6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Native</a:t>
            </a:r>
          </a:p>
          <a:p>
            <a:pPr algn="ctr">
              <a:buNone/>
              <a:defRPr sz="96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Connector</a:t>
            </a:r>
          </a:p>
        </p:txBody>
      </p:sp>
      <p:sp>
        <p:nvSpPr>
          <p:cNvPr id="29" name="Rectangle 31"/>
          <p:cNvSpPr>
            <a:spLocks noGrp="1"/>
          </p:cNvSpPr>
          <p:nvPr/>
        </p:nvSpPr>
        <p:spPr>
          <a:xfrm>
            <a:off x="10266150" y="2605162"/>
            <a:ext cx="1208766" cy="29609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773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00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C++ fast path</a:t>
            </a:r>
          </a:p>
        </p:txBody>
      </p:sp>
      <p:sp>
        <p:nvSpPr>
          <p:cNvPr id="30" name="Rectangle 32"/>
          <p:cNvSpPr>
            <a:spLocks noGrp="1"/>
          </p:cNvSpPr>
          <p:nvPr/>
        </p:nvSpPr>
        <p:spPr>
          <a:xfrm>
            <a:off x="6333354" y="3240818"/>
            <a:ext cx="4984572" cy="53507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25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Native Connector </a:t>
            </a:r>
            <a:r>
              <a:rPr sz="1600" b="1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后端实现</a:t>
            </a:r>
            <a:endParaRPr sz="1600"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1" name="Rounded Rectangle 33"/>
          <p:cNvSpPr>
            <a:spLocks noGrp="1"/>
          </p:cNvSpPr>
          <p:nvPr/>
        </p:nvSpPr>
        <p:spPr>
          <a:xfrm>
            <a:off x="6469616" y="3586857"/>
            <a:ext cx="1107683" cy="1454982"/>
          </a:xfrm>
          <a:prstGeom prst="roundRect">
            <a:avLst>
              <a:gd name="adj" fmla="val 8276"/>
            </a:avLst>
          </a:prstGeom>
          <a:solidFill>
            <a:srgbClr val="F0F5FA"/>
          </a:solidFill>
          <a:ln w="11430"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pic>
        <p:nvPicPr>
          <p:cNvPr id="32" name="Graphic 8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75308" y="3833240"/>
            <a:ext cx="665064" cy="398090"/>
          </a:xfrm>
          <a:prstGeom prst="rect">
            <a:avLst/>
          </a:prstGeom>
        </p:spPr>
      </p:pic>
      <p:sp>
        <p:nvSpPr>
          <p:cNvPr id="33" name="Rectangle 35"/>
          <p:cNvSpPr>
            <a:spLocks noGrp="1"/>
          </p:cNvSpPr>
          <p:nvPr/>
        </p:nvSpPr>
        <p:spPr>
          <a:xfrm>
            <a:off x="6531153" y="4561306"/>
            <a:ext cx="984607" cy="1718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6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Redis</a:t>
            </a:r>
          </a:p>
        </p:txBody>
      </p:sp>
      <p:sp>
        <p:nvSpPr>
          <p:cNvPr id="34" name="Rounded Rectangle 36"/>
          <p:cNvSpPr>
            <a:spLocks noGrp="1"/>
          </p:cNvSpPr>
          <p:nvPr/>
        </p:nvSpPr>
        <p:spPr>
          <a:xfrm>
            <a:off x="7700374" y="3586857"/>
            <a:ext cx="1107683" cy="1454982"/>
          </a:xfrm>
          <a:prstGeom prst="roundRect">
            <a:avLst>
              <a:gd name="adj" fmla="val 8276"/>
            </a:avLst>
          </a:prstGeom>
          <a:solidFill>
            <a:srgbClr val="F0F5FA"/>
          </a:solidFill>
          <a:ln w="11430"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pic>
        <p:nvPicPr>
          <p:cNvPr id="35" name="Graphic 87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46526" y="4274444"/>
            <a:ext cx="615379" cy="368350"/>
          </a:xfrm>
          <a:prstGeom prst="rect">
            <a:avLst/>
          </a:prstGeom>
        </p:spPr>
      </p:pic>
      <p:sp>
        <p:nvSpPr>
          <p:cNvPr id="36" name="Rectangle 38"/>
          <p:cNvSpPr>
            <a:spLocks noGrp="1"/>
          </p:cNvSpPr>
          <p:nvPr/>
        </p:nvSpPr>
        <p:spPr>
          <a:xfrm>
            <a:off x="7761912" y="4574658"/>
            <a:ext cx="984607" cy="17189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6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FS Native</a:t>
            </a:r>
          </a:p>
        </p:txBody>
      </p:sp>
      <p:sp>
        <p:nvSpPr>
          <p:cNvPr id="37" name="Rounded Rectangle 39"/>
          <p:cNvSpPr>
            <a:spLocks noGrp="1"/>
          </p:cNvSpPr>
          <p:nvPr/>
        </p:nvSpPr>
        <p:spPr>
          <a:xfrm>
            <a:off x="8931132" y="3586857"/>
            <a:ext cx="1107683" cy="1454982"/>
          </a:xfrm>
          <a:prstGeom prst="roundRect">
            <a:avLst>
              <a:gd name="adj" fmla="val 8276"/>
            </a:avLst>
          </a:prstGeom>
          <a:solidFill>
            <a:srgbClr val="F0F5FA"/>
          </a:solidFill>
          <a:ln w="11430"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pic>
        <p:nvPicPr>
          <p:cNvPr id="38" name="Picture 9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31774" y="3845339"/>
            <a:ext cx="1107041" cy="286754"/>
          </a:xfrm>
          <a:prstGeom prst="rect">
            <a:avLst/>
          </a:prstGeom>
        </p:spPr>
      </p:pic>
      <p:sp>
        <p:nvSpPr>
          <p:cNvPr id="39" name="Rectangle 41"/>
          <p:cNvSpPr>
            <a:spLocks noGrp="1"/>
          </p:cNvSpPr>
          <p:nvPr/>
        </p:nvSpPr>
        <p:spPr>
          <a:xfrm>
            <a:off x="8992671" y="4493317"/>
            <a:ext cx="984607" cy="501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6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Mooncake</a:t>
            </a:r>
          </a:p>
          <a:p>
            <a:pPr algn="ctr">
              <a:buNone/>
              <a:defRPr sz="96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Store</a:t>
            </a:r>
          </a:p>
        </p:txBody>
      </p:sp>
      <p:sp>
        <p:nvSpPr>
          <p:cNvPr id="40" name="Rounded Rectangle 42"/>
          <p:cNvSpPr>
            <a:spLocks noGrp="1"/>
          </p:cNvSpPr>
          <p:nvPr/>
        </p:nvSpPr>
        <p:spPr>
          <a:xfrm>
            <a:off x="10161891" y="3586857"/>
            <a:ext cx="1107683" cy="1454982"/>
          </a:xfrm>
          <a:prstGeom prst="roundRect">
            <a:avLst>
              <a:gd name="adj" fmla="val 8276"/>
            </a:avLst>
          </a:prstGeom>
          <a:solidFill>
            <a:srgbClr val="F0F5FA"/>
          </a:solidFill>
          <a:ln w="11430"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pic>
        <p:nvPicPr>
          <p:cNvPr id="41" name="Graphic 93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1890" y="3875064"/>
            <a:ext cx="1072014" cy="256672"/>
          </a:xfrm>
          <a:prstGeom prst="rect">
            <a:avLst/>
          </a:prstGeom>
        </p:spPr>
      </p:pic>
      <p:sp>
        <p:nvSpPr>
          <p:cNvPr id="42" name="Rectangle 44"/>
          <p:cNvSpPr>
            <a:spLocks noGrp="1"/>
          </p:cNvSpPr>
          <p:nvPr/>
        </p:nvSpPr>
        <p:spPr>
          <a:xfrm>
            <a:off x="10205593" y="4583921"/>
            <a:ext cx="984607" cy="29048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96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Aerospike</a:t>
            </a:r>
          </a:p>
        </p:txBody>
      </p:sp>
      <p:pic>
        <p:nvPicPr>
          <p:cNvPr id="43" name="Picture 4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897296" y="1615978"/>
            <a:ext cx="541534" cy="540246"/>
          </a:xfrm>
          <a:prstGeom prst="rect">
            <a:avLst/>
          </a:prstGeom>
        </p:spPr>
      </p:pic>
      <p:pic>
        <p:nvPicPr>
          <p:cNvPr id="44" name="Picture 6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7995756" y="3829236"/>
            <a:ext cx="605123" cy="469364"/>
          </a:xfrm>
          <a:prstGeom prst="rect">
            <a:avLst/>
          </a:prstGeom>
        </p:spPr>
      </p:pic>
      <p:pic>
        <p:nvPicPr>
          <p:cNvPr id="45" name="Picture 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6487729" y="1699784"/>
            <a:ext cx="670996" cy="503411"/>
          </a:xfrm>
          <a:prstGeom prst="rect">
            <a:avLst/>
          </a:prstGeom>
        </p:spPr>
      </p:pic>
      <p:sp>
        <p:nvSpPr>
          <p:cNvPr id="46" name="矩形 45">
            <a:extLst>
              <a:ext uri="{FF2B5EF4-FFF2-40B4-BE49-F238E27FC236}">
                <a16:creationId xmlns:a16="http://schemas.microsoft.com/office/drawing/2014/main" id="{F926C3FB-9000-4ADE-BCCF-4D8EC3365901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03    可插拔扩展与多平台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>
            <a:extLst>
              <a:ext uri="{FF2B5EF4-FFF2-40B4-BE49-F238E27FC236}">
                <a16:creationId xmlns:a16="http://schemas.microsoft.com/office/drawing/2014/main" id="{23CCE0C2-CFAD-4A42-B5A6-158D532A14BF}"/>
              </a:ext>
            </a:extLst>
          </p:cNvPr>
          <p:cNvSpPr>
            <a:spLocks noGrp="1"/>
          </p:cNvSpPr>
          <p:nvPr/>
        </p:nvSpPr>
        <p:spPr>
          <a:xfrm>
            <a:off x="7686675" y="1609725"/>
            <a:ext cx="3990975" cy="1590675"/>
          </a:xfrm>
          <a:prstGeom prst="roundRect">
            <a:avLst>
              <a:gd name="adj" fmla="val 7186"/>
            </a:avLst>
          </a:prstGeom>
          <a:solidFill>
            <a:srgbClr val="F2F6FB"/>
          </a:solidFill>
          <a:ln w="9525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圆角矩形 2">
            <a:extLst>
              <a:ext uri="{FF2B5EF4-FFF2-40B4-BE49-F238E27FC236}">
                <a16:creationId xmlns:a16="http://schemas.microsoft.com/office/drawing/2014/main" id="{0A771D66-062F-46AF-973C-3C881EDA5955}"/>
              </a:ext>
            </a:extLst>
          </p:cNvPr>
          <p:cNvSpPr>
            <a:spLocks noGrp="1"/>
          </p:cNvSpPr>
          <p:nvPr/>
        </p:nvSpPr>
        <p:spPr>
          <a:xfrm>
            <a:off x="7848600" y="1609725"/>
            <a:ext cx="3667125" cy="47625"/>
          </a:xfrm>
          <a:prstGeom prst="roundRect">
            <a:avLst>
              <a:gd name="adj" fmla="val 50000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266D6C29-6D8B-44B6-93FC-2698653D5408}"/>
              </a:ext>
            </a:extLst>
          </p:cNvPr>
          <p:cNvSpPr>
            <a:spLocks noGrp="1"/>
          </p:cNvSpPr>
          <p:nvPr/>
        </p:nvSpPr>
        <p:spPr>
          <a:xfrm>
            <a:off x="7686675" y="3552825"/>
            <a:ext cx="3990975" cy="1695450"/>
          </a:xfrm>
          <a:prstGeom prst="roundRect">
            <a:avLst>
              <a:gd name="adj" fmla="val 6742"/>
            </a:avLst>
          </a:prstGeom>
          <a:solidFill>
            <a:srgbClr val="FFF9EC"/>
          </a:solidFill>
          <a:ln w="9525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FAA6582-D0CC-4708-889A-FF19F5B79DAE}"/>
              </a:ext>
            </a:extLst>
          </p:cNvPr>
          <p:cNvSpPr>
            <a:spLocks noGrp="1"/>
          </p:cNvSpPr>
          <p:nvPr/>
        </p:nvSpPr>
        <p:spPr>
          <a:xfrm>
            <a:off x="7848600" y="3552825"/>
            <a:ext cx="3667125" cy="47625"/>
          </a:xfrm>
          <a:prstGeom prst="roundRect">
            <a:avLst>
              <a:gd name="adj" fmla="val 50000"/>
            </a:avLst>
          </a:prstGeom>
          <a:solidFill>
            <a:srgbClr val="B18B4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圆角矩形 5">
            <a:extLst>
              <a:ext uri="{FF2B5EF4-FFF2-40B4-BE49-F238E27FC236}">
                <a16:creationId xmlns:a16="http://schemas.microsoft.com/office/drawing/2014/main" id="{2B22ECCD-B4E6-4344-9570-B537E72607DC}"/>
              </a:ext>
            </a:extLst>
          </p:cNvPr>
          <p:cNvSpPr>
            <a:spLocks noGrp="1"/>
          </p:cNvSpPr>
          <p:nvPr/>
        </p:nvSpPr>
        <p:spPr>
          <a:xfrm>
            <a:off x="1997449" y="5531429"/>
            <a:ext cx="8582025" cy="409575"/>
          </a:xfrm>
          <a:prstGeom prst="roundRect">
            <a:avLst>
              <a:gd name="adj" fmla="val 27907"/>
            </a:avLst>
          </a:prstGeom>
          <a:solidFill>
            <a:srgbClr val="F1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Native Adapter：按操作隔离并发</a:t>
            </a:r>
          </a:p>
        </p:txBody>
      </p:sp>
      <p:sp>
        <p:nvSpPr>
          <p:cNvPr id="8" name="矩形 2">
            <a:extLst>
              <a:ext uri="{FF2B5EF4-FFF2-40B4-BE49-F238E27FC236}">
                <a16:creationId xmlns:a16="http://schemas.microsoft.com/office/drawing/2014/main" id="{6FD9E70D-60CB-43D7-8587-28C134ACD522}"/>
              </a:ext>
            </a:extLst>
          </p:cNvPr>
          <p:cNvSpPr>
            <a:spLocks noGrp="1"/>
          </p:cNvSpPr>
          <p:nvPr/>
        </p:nvSpPr>
        <p:spPr>
          <a:xfrm>
            <a:off x="7781925" y="1628775"/>
            <a:ext cx="3810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225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按操作分配线程池</a:t>
            </a:r>
          </a:p>
        </p:txBody>
      </p:sp>
      <p:sp>
        <p:nvSpPr>
          <p:cNvPr id="9" name="矩形 3">
            <a:extLst>
              <a:ext uri="{FF2B5EF4-FFF2-40B4-BE49-F238E27FC236}">
                <a16:creationId xmlns:a16="http://schemas.microsoft.com/office/drawing/2014/main" id="{0200AEE5-FA42-41AB-B11C-B63274A7875A}"/>
              </a:ext>
            </a:extLst>
          </p:cNvPr>
          <p:cNvSpPr>
            <a:spLocks noGrp="1"/>
          </p:cNvSpPr>
          <p:nvPr/>
        </p:nvSpPr>
        <p:spPr>
          <a:xfrm>
            <a:off x="7781925" y="2238375"/>
            <a:ext cx="3810000" cy="1476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875" b="0" dirty="0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rPr>
              <a:t>lookup / retrieve</a:t>
            </a:r>
            <a:r>
              <a:rPr lang="zh-CN" altLang="en-US" sz="1875" b="0" dirty="0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lang="en-US" altLang="zh-CN" sz="1875" b="0" dirty="0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rPr>
              <a:t>/</a:t>
            </a:r>
            <a:r>
              <a:rPr lang="zh-CN" altLang="en-US" sz="1875" b="0" dirty="0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sz="1875" b="0" dirty="0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rPr>
              <a:t>store / delete </a:t>
            </a:r>
            <a:endParaRPr lang="en-US" sz="1875" b="0" dirty="0">
              <a:solidFill>
                <a:srgbClr val="51667B"/>
              </a:solidFill>
              <a:latin typeface="Source Han Sans CN"/>
              <a:ea typeface="Source Han Sans CN"/>
              <a:cs typeface="Source Han Sans CN"/>
            </a:endParaRPr>
          </a:p>
          <a:p>
            <a:pPr marL="0" indent="0" algn="l">
              <a:buNone/>
            </a:pPr>
            <a:r>
              <a:rPr sz="1875" b="0" dirty="0" err="1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rPr>
              <a:t>分别配置</a:t>
            </a:r>
            <a:endParaRPr sz="1875" b="0" dirty="0">
              <a:solidFill>
                <a:srgbClr val="51667B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0" name="矩形 4">
            <a:extLst>
              <a:ext uri="{FF2B5EF4-FFF2-40B4-BE49-F238E27FC236}">
                <a16:creationId xmlns:a16="http://schemas.microsoft.com/office/drawing/2014/main" id="{B3ED984A-B4A2-4FC1-8840-1F2C4385E691}"/>
              </a:ext>
            </a:extLst>
          </p:cNvPr>
          <p:cNvSpPr>
            <a:spLocks noGrp="1"/>
          </p:cNvSpPr>
          <p:nvPr/>
        </p:nvSpPr>
        <p:spPr>
          <a:xfrm>
            <a:off x="7781925" y="3562350"/>
            <a:ext cx="381000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225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批处理与完成通知</a:t>
            </a:r>
          </a:p>
        </p:txBody>
      </p:sp>
      <p:sp>
        <p:nvSpPr>
          <p:cNvPr id="11" name="矩形 5">
            <a:extLst>
              <a:ext uri="{FF2B5EF4-FFF2-40B4-BE49-F238E27FC236}">
                <a16:creationId xmlns:a16="http://schemas.microsoft.com/office/drawing/2014/main" id="{8DD28899-4741-4916-BFFB-4205A4605A81}"/>
              </a:ext>
            </a:extLst>
          </p:cNvPr>
          <p:cNvSpPr>
            <a:spLocks noGrp="1"/>
          </p:cNvSpPr>
          <p:nvPr/>
        </p:nvSpPr>
        <p:spPr>
          <a:xfrm>
            <a:off x="7781925" y="4171950"/>
            <a:ext cx="3810000" cy="1476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875" b="0" dirty="0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rPr>
              <a:t>Batch tiling / completion queue</a:t>
            </a:r>
          </a:p>
          <a:p>
            <a:pPr marL="0" indent="0" algn="l">
              <a:buNone/>
            </a:pPr>
            <a:r>
              <a:rPr sz="1875" b="0" dirty="0" err="1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rPr>
              <a:t>eventfd</a:t>
            </a:r>
            <a:r>
              <a:rPr sz="1875" b="0" dirty="0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sz="1875" b="0" dirty="0" err="1">
                <a:solidFill>
                  <a:srgbClr val="51667B"/>
                </a:solidFill>
                <a:latin typeface="Source Han Sans CN"/>
                <a:ea typeface="Source Han Sans CN"/>
                <a:cs typeface="Source Han Sans CN"/>
              </a:rPr>
              <a:t>唤醒</a:t>
            </a:r>
            <a:endParaRPr sz="1875" b="0" dirty="0">
              <a:solidFill>
                <a:srgbClr val="51667B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2" name="矩形 6">
            <a:extLst>
              <a:ext uri="{FF2B5EF4-FFF2-40B4-BE49-F238E27FC236}">
                <a16:creationId xmlns:a16="http://schemas.microsoft.com/office/drawing/2014/main" id="{1C8AE4D1-A37D-49AD-B8C3-290582CB6065}"/>
              </a:ext>
            </a:extLst>
          </p:cNvPr>
          <p:cNvSpPr>
            <a:spLocks noGrp="1"/>
          </p:cNvSpPr>
          <p:nvPr/>
        </p:nvSpPr>
        <p:spPr>
          <a:xfrm>
            <a:off x="3407307" y="5600700"/>
            <a:ext cx="4779113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35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避免慢写入阻塞命中判断，同时测量队列等待与后端尾延迟</a:t>
            </a:r>
            <a:endParaRPr sz="1350" b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3" name="Rounded Rectangle 10"/>
          <p:cNvSpPr>
            <a:spLocks noGrp="1"/>
          </p:cNvSpPr>
          <p:nvPr/>
        </p:nvSpPr>
        <p:spPr>
          <a:xfrm>
            <a:off x="559361" y="1504950"/>
            <a:ext cx="6245412" cy="777027"/>
          </a:xfrm>
          <a:prstGeom prst="roundRect">
            <a:avLst>
              <a:gd name="adj" fmla="val 10169"/>
            </a:avLst>
          </a:prstGeom>
          <a:solidFill>
            <a:srgbClr val="F0F5FA"/>
          </a:solidFill>
          <a:ln w="11430"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4" name="Rounded Rectangle 11"/>
          <p:cNvSpPr>
            <a:spLocks noGrp="1"/>
          </p:cNvSpPr>
          <p:nvPr/>
        </p:nvSpPr>
        <p:spPr>
          <a:xfrm>
            <a:off x="723714" y="1636649"/>
            <a:ext cx="1273735" cy="513628"/>
          </a:xfrm>
          <a:prstGeom prst="roundRect">
            <a:avLst>
              <a:gd name="adj" fmla="val 15385"/>
            </a:avLst>
          </a:prstGeom>
          <a:solidFill>
            <a:schemeClr val="accent6">
              <a:lumMod val="60000"/>
              <a:lumOff val="40000"/>
            </a:schemeClr>
          </a:solidFill>
          <a:ln w="11430">
            <a:prstDash val="solid"/>
          </a:ln>
        </p:spPr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5" name="Rectangle 12"/>
          <p:cNvSpPr>
            <a:spLocks noGrp="1"/>
          </p:cNvSpPr>
          <p:nvPr/>
        </p:nvSpPr>
        <p:spPr>
          <a:xfrm>
            <a:off x="830544" y="1735424"/>
            <a:ext cx="1068294" cy="1843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37" b="1" kern="0" spc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kern="0" spc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LOOKUP</a:t>
            </a:r>
          </a:p>
        </p:txBody>
      </p:sp>
      <p:sp>
        <p:nvSpPr>
          <p:cNvPr id="17" name="Oval 14"/>
          <p:cNvSpPr>
            <a:spLocks noGrp="1"/>
          </p:cNvSpPr>
          <p:nvPr/>
        </p:nvSpPr>
        <p:spPr>
          <a:xfrm>
            <a:off x="2326155" y="1788104"/>
            <a:ext cx="180788" cy="1448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8" name="Oval 15"/>
          <p:cNvSpPr>
            <a:spLocks noGrp="1"/>
          </p:cNvSpPr>
          <p:nvPr/>
        </p:nvSpPr>
        <p:spPr>
          <a:xfrm>
            <a:off x="2605555" y="1788104"/>
            <a:ext cx="180788" cy="1448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9" name="Oval 16"/>
          <p:cNvSpPr>
            <a:spLocks noGrp="1"/>
          </p:cNvSpPr>
          <p:nvPr/>
        </p:nvSpPr>
        <p:spPr>
          <a:xfrm>
            <a:off x="2884955" y="1788104"/>
            <a:ext cx="180788" cy="1448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0" name="Oval 17"/>
          <p:cNvSpPr>
            <a:spLocks noGrp="1"/>
          </p:cNvSpPr>
          <p:nvPr/>
        </p:nvSpPr>
        <p:spPr>
          <a:xfrm>
            <a:off x="3164355" y="1788104"/>
            <a:ext cx="180788" cy="1448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1" name="Oval 18"/>
          <p:cNvSpPr>
            <a:spLocks noGrp="1"/>
          </p:cNvSpPr>
          <p:nvPr/>
        </p:nvSpPr>
        <p:spPr>
          <a:xfrm>
            <a:off x="3443755" y="1788104"/>
            <a:ext cx="180788" cy="14486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2" name="Right Arrow 19"/>
          <p:cNvSpPr>
            <a:spLocks noGrp="1"/>
          </p:cNvSpPr>
          <p:nvPr/>
        </p:nvSpPr>
        <p:spPr>
          <a:xfrm>
            <a:off x="3817750" y="1755815"/>
            <a:ext cx="657412" cy="250229"/>
          </a:xfrm>
          <a:prstGeom prst="rightArrow">
            <a:avLst/>
          </a:prstGeom>
          <a:solidFill>
            <a:schemeClr val="accent6">
              <a:lumMod val="60000"/>
              <a:lumOff val="4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3" name="Rounded Rectangle 20"/>
          <p:cNvSpPr>
            <a:spLocks noGrp="1"/>
          </p:cNvSpPr>
          <p:nvPr/>
        </p:nvSpPr>
        <p:spPr>
          <a:xfrm>
            <a:off x="4601255" y="1625120"/>
            <a:ext cx="551863" cy="420736"/>
          </a:xfrm>
          <a:prstGeom prst="roundRect">
            <a:avLst>
              <a:gd name="adj" fmla="val 25000"/>
            </a:avLst>
          </a:prstGeom>
          <a:solidFill>
            <a:schemeClr val="accent6">
              <a:lumMod val="60000"/>
              <a:lumOff val="40000"/>
            </a:schemeClr>
          </a:solidFill>
          <a:ln w="11430">
            <a:prstDash val="solid"/>
          </a:ln>
        </p:spPr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4" name="Rectangle 21"/>
          <p:cNvSpPr>
            <a:spLocks noGrp="1"/>
          </p:cNvSpPr>
          <p:nvPr/>
        </p:nvSpPr>
        <p:spPr>
          <a:xfrm>
            <a:off x="4627096" y="1668959"/>
            <a:ext cx="480732" cy="3003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830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W1</a:t>
            </a:r>
          </a:p>
        </p:txBody>
      </p:sp>
      <p:sp>
        <p:nvSpPr>
          <p:cNvPr id="29" name="Rectangle 26"/>
          <p:cNvSpPr>
            <a:spLocks noGrp="1"/>
          </p:cNvSpPr>
          <p:nvPr/>
        </p:nvSpPr>
        <p:spPr>
          <a:xfrm>
            <a:off x="4462744" y="2058088"/>
            <a:ext cx="2054412" cy="1870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37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快速判断是否命中</a:t>
            </a:r>
            <a:endParaRPr sz="1200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0" name="Rounded Rectangle 27"/>
          <p:cNvSpPr>
            <a:spLocks noGrp="1"/>
          </p:cNvSpPr>
          <p:nvPr/>
        </p:nvSpPr>
        <p:spPr>
          <a:xfrm>
            <a:off x="559361" y="2459771"/>
            <a:ext cx="6245412" cy="777027"/>
          </a:xfrm>
          <a:prstGeom prst="roundRect">
            <a:avLst>
              <a:gd name="adj" fmla="val 10169"/>
            </a:avLst>
          </a:prstGeom>
          <a:solidFill>
            <a:srgbClr val="F0F5FA"/>
          </a:solidFill>
          <a:ln w="11430"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1" name="Rounded Rectangle 28"/>
          <p:cNvSpPr>
            <a:spLocks noGrp="1"/>
          </p:cNvSpPr>
          <p:nvPr/>
        </p:nvSpPr>
        <p:spPr>
          <a:xfrm>
            <a:off x="723714" y="2591471"/>
            <a:ext cx="1273735" cy="513628"/>
          </a:xfrm>
          <a:prstGeom prst="roundRect">
            <a:avLst>
              <a:gd name="adj" fmla="val 15385"/>
            </a:avLst>
          </a:prstGeom>
          <a:solidFill>
            <a:schemeClr val="accent1">
              <a:lumMod val="40000"/>
              <a:lumOff val="60000"/>
            </a:schemeClr>
          </a:solidFill>
          <a:ln w="11430"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2" name="Rectangle 29"/>
          <p:cNvSpPr>
            <a:spLocks noGrp="1"/>
          </p:cNvSpPr>
          <p:nvPr/>
        </p:nvSpPr>
        <p:spPr>
          <a:xfrm>
            <a:off x="830544" y="2690245"/>
            <a:ext cx="1068294" cy="1843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37" b="1" kern="0" spc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kern="0" spc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RETRIEVE</a:t>
            </a:r>
          </a:p>
        </p:txBody>
      </p:sp>
      <p:sp>
        <p:nvSpPr>
          <p:cNvPr id="34" name="Oval 31"/>
          <p:cNvSpPr>
            <a:spLocks noGrp="1"/>
          </p:cNvSpPr>
          <p:nvPr/>
        </p:nvSpPr>
        <p:spPr>
          <a:xfrm>
            <a:off x="2326155" y="2742925"/>
            <a:ext cx="180788" cy="14486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5" name="Oval 32"/>
          <p:cNvSpPr>
            <a:spLocks noGrp="1"/>
          </p:cNvSpPr>
          <p:nvPr/>
        </p:nvSpPr>
        <p:spPr>
          <a:xfrm>
            <a:off x="2605555" y="2742925"/>
            <a:ext cx="180788" cy="14486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6" name="Oval 33"/>
          <p:cNvSpPr>
            <a:spLocks noGrp="1"/>
          </p:cNvSpPr>
          <p:nvPr/>
        </p:nvSpPr>
        <p:spPr>
          <a:xfrm>
            <a:off x="2884955" y="2742925"/>
            <a:ext cx="180788" cy="14486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7" name="Oval 34"/>
          <p:cNvSpPr>
            <a:spLocks noGrp="1"/>
          </p:cNvSpPr>
          <p:nvPr/>
        </p:nvSpPr>
        <p:spPr>
          <a:xfrm>
            <a:off x="3164355" y="2742925"/>
            <a:ext cx="180788" cy="14486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8" name="Oval 35"/>
          <p:cNvSpPr>
            <a:spLocks noGrp="1"/>
          </p:cNvSpPr>
          <p:nvPr/>
        </p:nvSpPr>
        <p:spPr>
          <a:xfrm>
            <a:off x="3443755" y="2742925"/>
            <a:ext cx="180788" cy="14486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9" name="Right Arrow 36"/>
          <p:cNvSpPr>
            <a:spLocks noGrp="1"/>
          </p:cNvSpPr>
          <p:nvPr/>
        </p:nvSpPr>
        <p:spPr>
          <a:xfrm>
            <a:off x="3846420" y="2742925"/>
            <a:ext cx="657412" cy="250229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6" name="Rectangle 43"/>
          <p:cNvSpPr>
            <a:spLocks noGrp="1"/>
          </p:cNvSpPr>
          <p:nvPr/>
        </p:nvSpPr>
        <p:spPr>
          <a:xfrm>
            <a:off x="4462744" y="3012909"/>
            <a:ext cx="2054412" cy="1870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37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读取命中的</a:t>
            </a:r>
            <a:r>
              <a:rPr sz="1200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KV Cache</a:t>
            </a:r>
          </a:p>
        </p:txBody>
      </p:sp>
      <p:sp>
        <p:nvSpPr>
          <p:cNvPr id="47" name="Rounded Rectangle 44"/>
          <p:cNvSpPr>
            <a:spLocks noGrp="1"/>
          </p:cNvSpPr>
          <p:nvPr/>
        </p:nvSpPr>
        <p:spPr>
          <a:xfrm>
            <a:off x="559361" y="3414592"/>
            <a:ext cx="6245412" cy="777027"/>
          </a:xfrm>
          <a:prstGeom prst="roundRect">
            <a:avLst>
              <a:gd name="adj" fmla="val 10169"/>
            </a:avLst>
          </a:prstGeom>
          <a:solidFill>
            <a:srgbClr val="F0F5FA"/>
          </a:solidFill>
          <a:ln w="11430"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8" name="Rounded Rectangle 45"/>
          <p:cNvSpPr>
            <a:spLocks noGrp="1"/>
          </p:cNvSpPr>
          <p:nvPr/>
        </p:nvSpPr>
        <p:spPr>
          <a:xfrm>
            <a:off x="723714" y="3546292"/>
            <a:ext cx="1273735" cy="513628"/>
          </a:xfrm>
          <a:prstGeom prst="roundRect">
            <a:avLst>
              <a:gd name="adj" fmla="val 15385"/>
            </a:avLst>
          </a:prstGeom>
          <a:solidFill>
            <a:schemeClr val="accent4">
              <a:lumMod val="40000"/>
              <a:lumOff val="60000"/>
            </a:schemeClr>
          </a:solidFill>
          <a:ln w="11430"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9" name="Rectangle 46"/>
          <p:cNvSpPr>
            <a:spLocks noGrp="1"/>
          </p:cNvSpPr>
          <p:nvPr/>
        </p:nvSpPr>
        <p:spPr>
          <a:xfrm>
            <a:off x="830544" y="3645066"/>
            <a:ext cx="1068294" cy="18437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37" b="1" kern="0" spc="0">
                <a:solidFill>
                  <a:srgbClr val="A6651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kern="0" spc="0" dirty="0">
                <a:solidFill>
                  <a:srgbClr val="A6651B"/>
                </a:solidFill>
                <a:latin typeface="Source Han Sans CN"/>
                <a:ea typeface="Source Han Sans CN"/>
                <a:cs typeface="Source Han Sans CN"/>
              </a:rPr>
              <a:t>STORE</a:t>
            </a:r>
          </a:p>
        </p:txBody>
      </p:sp>
      <p:sp>
        <p:nvSpPr>
          <p:cNvPr id="51" name="Oval 48"/>
          <p:cNvSpPr>
            <a:spLocks noGrp="1"/>
          </p:cNvSpPr>
          <p:nvPr/>
        </p:nvSpPr>
        <p:spPr>
          <a:xfrm>
            <a:off x="2326155" y="3697746"/>
            <a:ext cx="180788" cy="14486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52" name="Oval 49"/>
          <p:cNvSpPr>
            <a:spLocks noGrp="1"/>
          </p:cNvSpPr>
          <p:nvPr/>
        </p:nvSpPr>
        <p:spPr>
          <a:xfrm>
            <a:off x="2605555" y="3697746"/>
            <a:ext cx="180788" cy="14486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53" name="Oval 50"/>
          <p:cNvSpPr>
            <a:spLocks noGrp="1"/>
          </p:cNvSpPr>
          <p:nvPr/>
        </p:nvSpPr>
        <p:spPr>
          <a:xfrm>
            <a:off x="2884955" y="3697746"/>
            <a:ext cx="180788" cy="14486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54" name="Oval 51"/>
          <p:cNvSpPr>
            <a:spLocks noGrp="1"/>
          </p:cNvSpPr>
          <p:nvPr/>
        </p:nvSpPr>
        <p:spPr>
          <a:xfrm>
            <a:off x="3164355" y="3697746"/>
            <a:ext cx="180788" cy="14486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55" name="Oval 52"/>
          <p:cNvSpPr>
            <a:spLocks noGrp="1"/>
          </p:cNvSpPr>
          <p:nvPr/>
        </p:nvSpPr>
        <p:spPr>
          <a:xfrm>
            <a:off x="3443755" y="3697746"/>
            <a:ext cx="180788" cy="144869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56" name="Right Arrow 53"/>
          <p:cNvSpPr>
            <a:spLocks noGrp="1"/>
          </p:cNvSpPr>
          <p:nvPr/>
        </p:nvSpPr>
        <p:spPr>
          <a:xfrm>
            <a:off x="3846420" y="3697746"/>
            <a:ext cx="657412" cy="250229"/>
          </a:xfrm>
          <a:prstGeom prst="rightArrow">
            <a:avLst/>
          </a:prstGeom>
          <a:solidFill>
            <a:schemeClr val="accent4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63" name="Rectangle 60"/>
          <p:cNvSpPr>
            <a:spLocks noGrp="1"/>
          </p:cNvSpPr>
          <p:nvPr/>
        </p:nvSpPr>
        <p:spPr>
          <a:xfrm>
            <a:off x="4462744" y="3967730"/>
            <a:ext cx="2054412" cy="1870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37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异步写入</a:t>
            </a:r>
            <a:r>
              <a:rPr sz="1200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L2</a:t>
            </a:r>
          </a:p>
        </p:txBody>
      </p:sp>
      <p:sp>
        <p:nvSpPr>
          <p:cNvPr id="64" name="Rounded Rectangle 61"/>
          <p:cNvSpPr>
            <a:spLocks noGrp="1"/>
          </p:cNvSpPr>
          <p:nvPr/>
        </p:nvSpPr>
        <p:spPr>
          <a:xfrm>
            <a:off x="559361" y="4369413"/>
            <a:ext cx="6245412" cy="777027"/>
          </a:xfrm>
          <a:prstGeom prst="roundRect">
            <a:avLst>
              <a:gd name="adj" fmla="val 10169"/>
            </a:avLst>
          </a:prstGeom>
          <a:solidFill>
            <a:srgbClr val="F0F5FA"/>
          </a:solidFill>
          <a:ln w="11430">
            <a:prstDash val="solid"/>
          </a:ln>
        </p:spPr>
        <p:style>
          <a:lnRef idx="0">
            <a:srgbClr val="FFFFFF"/>
          </a:lnRef>
          <a:fillRef idx="0">
            <a:srgbClr val="FFFFFF"/>
          </a:fillRef>
          <a:effectRef idx="4">
            <a:srgbClr val="FFFFFF"/>
          </a:effectRef>
          <a:fontRef idx="major"/>
        </p:style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65" name="Rounded Rectangle 62"/>
          <p:cNvSpPr>
            <a:spLocks noGrp="1"/>
          </p:cNvSpPr>
          <p:nvPr/>
        </p:nvSpPr>
        <p:spPr>
          <a:xfrm>
            <a:off x="723714" y="4501113"/>
            <a:ext cx="1273735" cy="513628"/>
          </a:xfrm>
          <a:prstGeom prst="roundRect">
            <a:avLst>
              <a:gd name="adj" fmla="val 15385"/>
            </a:avLst>
          </a:prstGeom>
          <a:solidFill>
            <a:schemeClr val="accent2">
              <a:lumMod val="40000"/>
              <a:lumOff val="60000"/>
            </a:schemeClr>
          </a:solidFill>
          <a:ln w="11430"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66" name="Rectangle 63"/>
          <p:cNvSpPr>
            <a:spLocks noGrp="1"/>
          </p:cNvSpPr>
          <p:nvPr/>
        </p:nvSpPr>
        <p:spPr>
          <a:xfrm>
            <a:off x="830544" y="4599887"/>
            <a:ext cx="1068294" cy="18437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37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DELETE</a:t>
            </a:r>
          </a:p>
        </p:txBody>
      </p:sp>
      <p:sp>
        <p:nvSpPr>
          <p:cNvPr id="68" name="Oval 65"/>
          <p:cNvSpPr>
            <a:spLocks noGrp="1"/>
          </p:cNvSpPr>
          <p:nvPr/>
        </p:nvSpPr>
        <p:spPr>
          <a:xfrm>
            <a:off x="2326155" y="4652567"/>
            <a:ext cx="180788" cy="144869"/>
          </a:xfrm>
          <a:prstGeom prst="ellipse">
            <a:avLst/>
          </a:prstGeom>
          <a:solidFill>
            <a:srgbClr val="F0F5FA"/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69" name="Oval 66"/>
          <p:cNvSpPr>
            <a:spLocks noGrp="1"/>
          </p:cNvSpPr>
          <p:nvPr/>
        </p:nvSpPr>
        <p:spPr>
          <a:xfrm>
            <a:off x="2605555" y="4652567"/>
            <a:ext cx="180788" cy="144869"/>
          </a:xfrm>
          <a:prstGeom prst="ellipse">
            <a:avLst/>
          </a:prstGeom>
          <a:solidFill>
            <a:srgbClr val="F0F5FA"/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70" name="Oval 67"/>
          <p:cNvSpPr>
            <a:spLocks noGrp="1"/>
          </p:cNvSpPr>
          <p:nvPr/>
        </p:nvSpPr>
        <p:spPr>
          <a:xfrm>
            <a:off x="2884955" y="4652567"/>
            <a:ext cx="180788" cy="144869"/>
          </a:xfrm>
          <a:prstGeom prst="ellipse">
            <a:avLst/>
          </a:prstGeom>
          <a:solidFill>
            <a:srgbClr val="F0F5FA"/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71" name="Oval 68"/>
          <p:cNvSpPr>
            <a:spLocks noGrp="1"/>
          </p:cNvSpPr>
          <p:nvPr/>
        </p:nvSpPr>
        <p:spPr>
          <a:xfrm>
            <a:off x="3164355" y="4652567"/>
            <a:ext cx="180788" cy="144869"/>
          </a:xfrm>
          <a:prstGeom prst="ellipse">
            <a:avLst/>
          </a:prstGeom>
          <a:solidFill>
            <a:srgbClr val="F0F5FA"/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72" name="Oval 69"/>
          <p:cNvSpPr>
            <a:spLocks noGrp="1"/>
          </p:cNvSpPr>
          <p:nvPr/>
        </p:nvSpPr>
        <p:spPr>
          <a:xfrm>
            <a:off x="3443755" y="4652567"/>
            <a:ext cx="180788" cy="144869"/>
          </a:xfrm>
          <a:prstGeom prst="ellipse">
            <a:avLst/>
          </a:prstGeom>
          <a:solidFill>
            <a:srgbClr val="F0F5FA"/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73" name="Right Arrow 70"/>
          <p:cNvSpPr>
            <a:spLocks noGrp="1"/>
          </p:cNvSpPr>
          <p:nvPr/>
        </p:nvSpPr>
        <p:spPr>
          <a:xfrm>
            <a:off x="3846420" y="4652567"/>
            <a:ext cx="657412" cy="250229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80" name="Rectangle 77"/>
          <p:cNvSpPr>
            <a:spLocks noGrp="1"/>
          </p:cNvSpPr>
          <p:nvPr/>
        </p:nvSpPr>
        <p:spPr>
          <a:xfrm>
            <a:off x="4462744" y="4922551"/>
            <a:ext cx="2054412" cy="1870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1037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20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容量回收与淘汰</a:t>
            </a:r>
            <a:endParaRPr sz="1200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81" name="矩形 75">
            <a:extLst>
              <a:ext uri="{FF2B5EF4-FFF2-40B4-BE49-F238E27FC236}">
                <a16:creationId xmlns:a16="http://schemas.microsoft.com/office/drawing/2014/main" id="{F7C06887-06B2-4217-974A-F38A75889355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03    可插拔扩展与多平台</a:t>
            </a:r>
          </a:p>
        </p:txBody>
      </p:sp>
      <p:sp>
        <p:nvSpPr>
          <p:cNvPr id="82" name="Rounded Rectangle 20">
            <a:extLst>
              <a:ext uri="{FF2B5EF4-FFF2-40B4-BE49-F238E27FC236}">
                <a16:creationId xmlns:a16="http://schemas.microsoft.com/office/drawing/2014/main" id="{861FB7DF-1FE6-1402-C4AA-B25780E5C3A6}"/>
              </a:ext>
            </a:extLst>
          </p:cNvPr>
          <p:cNvSpPr>
            <a:spLocks noGrp="1"/>
          </p:cNvSpPr>
          <p:nvPr/>
        </p:nvSpPr>
        <p:spPr>
          <a:xfrm>
            <a:off x="5327969" y="1626640"/>
            <a:ext cx="551863" cy="420736"/>
          </a:xfrm>
          <a:prstGeom prst="roundRect">
            <a:avLst>
              <a:gd name="adj" fmla="val 25000"/>
            </a:avLst>
          </a:prstGeom>
          <a:solidFill>
            <a:schemeClr val="accent6">
              <a:lumMod val="60000"/>
              <a:lumOff val="40000"/>
            </a:schemeClr>
          </a:solidFill>
          <a:ln w="11430">
            <a:prstDash val="solid"/>
          </a:ln>
        </p:spPr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83" name="Rectangle 21">
            <a:extLst>
              <a:ext uri="{FF2B5EF4-FFF2-40B4-BE49-F238E27FC236}">
                <a16:creationId xmlns:a16="http://schemas.microsoft.com/office/drawing/2014/main" id="{29336258-3ABA-FD63-BB09-0B52D8F68724}"/>
              </a:ext>
            </a:extLst>
          </p:cNvPr>
          <p:cNvSpPr>
            <a:spLocks noGrp="1"/>
          </p:cNvSpPr>
          <p:nvPr/>
        </p:nvSpPr>
        <p:spPr>
          <a:xfrm>
            <a:off x="5353810" y="1670479"/>
            <a:ext cx="480732" cy="3003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830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W</a:t>
            </a:r>
            <a:r>
              <a:rPr lang="en-US" altLang="zh-CN"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2</a:t>
            </a:r>
            <a:endParaRPr sz="1500"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84" name="Rounded Rectangle 20">
            <a:extLst>
              <a:ext uri="{FF2B5EF4-FFF2-40B4-BE49-F238E27FC236}">
                <a16:creationId xmlns:a16="http://schemas.microsoft.com/office/drawing/2014/main" id="{4DAB49B5-C2F1-2B12-F016-9ABA19E16D68}"/>
              </a:ext>
            </a:extLst>
          </p:cNvPr>
          <p:cNvSpPr>
            <a:spLocks noGrp="1"/>
          </p:cNvSpPr>
          <p:nvPr/>
        </p:nvSpPr>
        <p:spPr>
          <a:xfrm>
            <a:off x="6054683" y="1608259"/>
            <a:ext cx="551863" cy="420736"/>
          </a:xfrm>
          <a:prstGeom prst="roundRect">
            <a:avLst>
              <a:gd name="adj" fmla="val 25000"/>
            </a:avLst>
          </a:prstGeom>
          <a:solidFill>
            <a:schemeClr val="accent6">
              <a:lumMod val="60000"/>
              <a:lumOff val="40000"/>
            </a:schemeClr>
          </a:solidFill>
          <a:ln w="11430">
            <a:prstDash val="solid"/>
          </a:ln>
        </p:spPr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85" name="Rectangle 21">
            <a:extLst>
              <a:ext uri="{FF2B5EF4-FFF2-40B4-BE49-F238E27FC236}">
                <a16:creationId xmlns:a16="http://schemas.microsoft.com/office/drawing/2014/main" id="{E5F0345A-DB8E-087F-C063-E718A318F917}"/>
              </a:ext>
            </a:extLst>
          </p:cNvPr>
          <p:cNvSpPr>
            <a:spLocks noGrp="1"/>
          </p:cNvSpPr>
          <p:nvPr/>
        </p:nvSpPr>
        <p:spPr>
          <a:xfrm>
            <a:off x="6080524" y="1652098"/>
            <a:ext cx="480732" cy="3003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830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W</a:t>
            </a:r>
            <a:r>
              <a:rPr lang="en-US" altLang="zh-CN"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3</a:t>
            </a:r>
            <a:endParaRPr sz="1500"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86" name="Rounded Rectangle 20">
            <a:extLst>
              <a:ext uri="{FF2B5EF4-FFF2-40B4-BE49-F238E27FC236}">
                <a16:creationId xmlns:a16="http://schemas.microsoft.com/office/drawing/2014/main" id="{876FA32B-E257-BDC7-1AEB-26F78A43B42F}"/>
              </a:ext>
            </a:extLst>
          </p:cNvPr>
          <p:cNvSpPr>
            <a:spLocks noGrp="1"/>
          </p:cNvSpPr>
          <p:nvPr/>
        </p:nvSpPr>
        <p:spPr>
          <a:xfrm>
            <a:off x="4599082" y="2574545"/>
            <a:ext cx="551863" cy="420736"/>
          </a:xfrm>
          <a:prstGeom prst="roundRect">
            <a:avLst>
              <a:gd name="adj" fmla="val 25000"/>
            </a:avLst>
          </a:prstGeom>
          <a:solidFill>
            <a:schemeClr val="accent1">
              <a:lumMod val="40000"/>
              <a:lumOff val="60000"/>
            </a:schemeClr>
          </a:solidFill>
          <a:ln w="11430">
            <a:prstDash val="solid"/>
          </a:ln>
        </p:spPr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87" name="Rectangle 21">
            <a:extLst>
              <a:ext uri="{FF2B5EF4-FFF2-40B4-BE49-F238E27FC236}">
                <a16:creationId xmlns:a16="http://schemas.microsoft.com/office/drawing/2014/main" id="{F344DB94-3125-7D12-FB6B-5DD51B25981A}"/>
              </a:ext>
            </a:extLst>
          </p:cNvPr>
          <p:cNvSpPr>
            <a:spLocks noGrp="1"/>
          </p:cNvSpPr>
          <p:nvPr/>
        </p:nvSpPr>
        <p:spPr>
          <a:xfrm>
            <a:off x="4624923" y="2618384"/>
            <a:ext cx="480732" cy="3003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830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W1</a:t>
            </a:r>
          </a:p>
        </p:txBody>
      </p:sp>
      <p:sp>
        <p:nvSpPr>
          <p:cNvPr id="88" name="Rounded Rectangle 20">
            <a:extLst>
              <a:ext uri="{FF2B5EF4-FFF2-40B4-BE49-F238E27FC236}">
                <a16:creationId xmlns:a16="http://schemas.microsoft.com/office/drawing/2014/main" id="{6C06ABE9-6C69-A006-83A3-5581DD0201BC}"/>
              </a:ext>
            </a:extLst>
          </p:cNvPr>
          <p:cNvSpPr>
            <a:spLocks noGrp="1"/>
          </p:cNvSpPr>
          <p:nvPr/>
        </p:nvSpPr>
        <p:spPr>
          <a:xfrm>
            <a:off x="5325796" y="2576065"/>
            <a:ext cx="551863" cy="420736"/>
          </a:xfrm>
          <a:prstGeom prst="roundRect">
            <a:avLst>
              <a:gd name="adj" fmla="val 25000"/>
            </a:avLst>
          </a:prstGeom>
          <a:solidFill>
            <a:schemeClr val="accent1">
              <a:lumMod val="40000"/>
              <a:lumOff val="60000"/>
            </a:schemeClr>
          </a:solidFill>
          <a:ln w="11430">
            <a:prstDash val="solid"/>
          </a:ln>
        </p:spPr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89" name="Rectangle 21">
            <a:extLst>
              <a:ext uri="{FF2B5EF4-FFF2-40B4-BE49-F238E27FC236}">
                <a16:creationId xmlns:a16="http://schemas.microsoft.com/office/drawing/2014/main" id="{93158E75-C5D3-AFFC-FA38-EB317A66184E}"/>
              </a:ext>
            </a:extLst>
          </p:cNvPr>
          <p:cNvSpPr>
            <a:spLocks noGrp="1"/>
          </p:cNvSpPr>
          <p:nvPr/>
        </p:nvSpPr>
        <p:spPr>
          <a:xfrm>
            <a:off x="5351637" y="2619904"/>
            <a:ext cx="480732" cy="3003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830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W</a:t>
            </a:r>
            <a:r>
              <a:rPr lang="en-US" altLang="zh-CN"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2</a:t>
            </a:r>
            <a:endParaRPr sz="1500"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90" name="Rounded Rectangle 20">
            <a:extLst>
              <a:ext uri="{FF2B5EF4-FFF2-40B4-BE49-F238E27FC236}">
                <a16:creationId xmlns:a16="http://schemas.microsoft.com/office/drawing/2014/main" id="{153FBCC2-650F-BD36-892B-943997E858CB}"/>
              </a:ext>
            </a:extLst>
          </p:cNvPr>
          <p:cNvSpPr>
            <a:spLocks noGrp="1"/>
          </p:cNvSpPr>
          <p:nvPr/>
        </p:nvSpPr>
        <p:spPr>
          <a:xfrm>
            <a:off x="6052510" y="2557684"/>
            <a:ext cx="551863" cy="420736"/>
          </a:xfrm>
          <a:prstGeom prst="roundRect">
            <a:avLst>
              <a:gd name="adj" fmla="val 25000"/>
            </a:avLst>
          </a:prstGeom>
          <a:solidFill>
            <a:schemeClr val="accent1">
              <a:lumMod val="40000"/>
              <a:lumOff val="60000"/>
            </a:schemeClr>
          </a:solidFill>
          <a:ln w="11430">
            <a:prstDash val="solid"/>
          </a:ln>
        </p:spPr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91" name="Rectangle 21">
            <a:extLst>
              <a:ext uri="{FF2B5EF4-FFF2-40B4-BE49-F238E27FC236}">
                <a16:creationId xmlns:a16="http://schemas.microsoft.com/office/drawing/2014/main" id="{75CCC244-3757-43FB-EF23-DF722297F1F6}"/>
              </a:ext>
            </a:extLst>
          </p:cNvPr>
          <p:cNvSpPr>
            <a:spLocks noGrp="1"/>
          </p:cNvSpPr>
          <p:nvPr/>
        </p:nvSpPr>
        <p:spPr>
          <a:xfrm>
            <a:off x="6078351" y="2601523"/>
            <a:ext cx="480732" cy="3003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830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W</a:t>
            </a:r>
            <a:r>
              <a:rPr lang="en-US" altLang="zh-CN"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3</a:t>
            </a:r>
            <a:endParaRPr sz="1500"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92" name="Rounded Rectangle 20">
            <a:extLst>
              <a:ext uri="{FF2B5EF4-FFF2-40B4-BE49-F238E27FC236}">
                <a16:creationId xmlns:a16="http://schemas.microsoft.com/office/drawing/2014/main" id="{AE308625-ECB7-8F7B-3107-9FC1FDF409B6}"/>
              </a:ext>
            </a:extLst>
          </p:cNvPr>
          <p:cNvSpPr>
            <a:spLocks noGrp="1"/>
          </p:cNvSpPr>
          <p:nvPr/>
        </p:nvSpPr>
        <p:spPr>
          <a:xfrm>
            <a:off x="4606941" y="3489186"/>
            <a:ext cx="551863" cy="420736"/>
          </a:xfrm>
          <a:prstGeom prst="roundRect">
            <a:avLst>
              <a:gd name="adj" fmla="val 25000"/>
            </a:avLst>
          </a:prstGeom>
          <a:solidFill>
            <a:schemeClr val="accent4">
              <a:lumMod val="40000"/>
              <a:lumOff val="60000"/>
            </a:schemeClr>
          </a:solidFill>
          <a:ln w="11430">
            <a:prstDash val="solid"/>
          </a:ln>
        </p:spPr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93" name="Rectangle 21">
            <a:extLst>
              <a:ext uri="{FF2B5EF4-FFF2-40B4-BE49-F238E27FC236}">
                <a16:creationId xmlns:a16="http://schemas.microsoft.com/office/drawing/2014/main" id="{E358E51A-DACB-360A-8E4F-FCFBAF2A833C}"/>
              </a:ext>
            </a:extLst>
          </p:cNvPr>
          <p:cNvSpPr>
            <a:spLocks noGrp="1"/>
          </p:cNvSpPr>
          <p:nvPr/>
        </p:nvSpPr>
        <p:spPr>
          <a:xfrm>
            <a:off x="4632782" y="3533025"/>
            <a:ext cx="480732" cy="3003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830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W1</a:t>
            </a:r>
          </a:p>
        </p:txBody>
      </p:sp>
      <p:sp>
        <p:nvSpPr>
          <p:cNvPr id="94" name="Rounded Rectangle 20">
            <a:extLst>
              <a:ext uri="{FF2B5EF4-FFF2-40B4-BE49-F238E27FC236}">
                <a16:creationId xmlns:a16="http://schemas.microsoft.com/office/drawing/2014/main" id="{5EAEA579-B222-C987-313F-5F6DA7DA1C1C}"/>
              </a:ext>
            </a:extLst>
          </p:cNvPr>
          <p:cNvSpPr>
            <a:spLocks noGrp="1"/>
          </p:cNvSpPr>
          <p:nvPr/>
        </p:nvSpPr>
        <p:spPr>
          <a:xfrm>
            <a:off x="5333655" y="3490706"/>
            <a:ext cx="551863" cy="420736"/>
          </a:xfrm>
          <a:prstGeom prst="roundRect">
            <a:avLst>
              <a:gd name="adj" fmla="val 25000"/>
            </a:avLst>
          </a:prstGeom>
          <a:solidFill>
            <a:schemeClr val="accent4">
              <a:lumMod val="40000"/>
              <a:lumOff val="60000"/>
            </a:schemeClr>
          </a:solidFill>
          <a:ln w="11430">
            <a:prstDash val="solid"/>
          </a:ln>
        </p:spPr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95" name="Rectangle 21">
            <a:extLst>
              <a:ext uri="{FF2B5EF4-FFF2-40B4-BE49-F238E27FC236}">
                <a16:creationId xmlns:a16="http://schemas.microsoft.com/office/drawing/2014/main" id="{1E5484F1-8CE1-0B31-ACBC-C84EC8DE322B}"/>
              </a:ext>
            </a:extLst>
          </p:cNvPr>
          <p:cNvSpPr>
            <a:spLocks noGrp="1"/>
          </p:cNvSpPr>
          <p:nvPr/>
        </p:nvSpPr>
        <p:spPr>
          <a:xfrm>
            <a:off x="5359496" y="3534545"/>
            <a:ext cx="480732" cy="3003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830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W</a:t>
            </a:r>
            <a:r>
              <a:rPr lang="en-US" altLang="zh-CN"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2</a:t>
            </a:r>
            <a:endParaRPr sz="1500"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96" name="Rounded Rectangle 20">
            <a:extLst>
              <a:ext uri="{FF2B5EF4-FFF2-40B4-BE49-F238E27FC236}">
                <a16:creationId xmlns:a16="http://schemas.microsoft.com/office/drawing/2014/main" id="{3428976B-41A9-23AD-1CE8-4B30C622B5D0}"/>
              </a:ext>
            </a:extLst>
          </p:cNvPr>
          <p:cNvSpPr>
            <a:spLocks noGrp="1"/>
          </p:cNvSpPr>
          <p:nvPr/>
        </p:nvSpPr>
        <p:spPr>
          <a:xfrm>
            <a:off x="6060369" y="3472325"/>
            <a:ext cx="551863" cy="420736"/>
          </a:xfrm>
          <a:prstGeom prst="roundRect">
            <a:avLst>
              <a:gd name="adj" fmla="val 25000"/>
            </a:avLst>
          </a:prstGeom>
          <a:solidFill>
            <a:schemeClr val="accent4">
              <a:lumMod val="40000"/>
              <a:lumOff val="60000"/>
            </a:schemeClr>
          </a:solidFill>
          <a:ln w="11430">
            <a:prstDash val="solid"/>
          </a:ln>
        </p:spPr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97" name="Rectangle 21">
            <a:extLst>
              <a:ext uri="{FF2B5EF4-FFF2-40B4-BE49-F238E27FC236}">
                <a16:creationId xmlns:a16="http://schemas.microsoft.com/office/drawing/2014/main" id="{0EA2A36B-1183-4D7D-033F-5E5892C363C1}"/>
              </a:ext>
            </a:extLst>
          </p:cNvPr>
          <p:cNvSpPr>
            <a:spLocks noGrp="1"/>
          </p:cNvSpPr>
          <p:nvPr/>
        </p:nvSpPr>
        <p:spPr>
          <a:xfrm>
            <a:off x="6086210" y="3516164"/>
            <a:ext cx="480732" cy="3003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830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W</a:t>
            </a:r>
            <a:r>
              <a:rPr lang="en-US" altLang="zh-CN"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3</a:t>
            </a:r>
            <a:endParaRPr sz="1500"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98" name="Rounded Rectangle 20">
            <a:extLst>
              <a:ext uri="{FF2B5EF4-FFF2-40B4-BE49-F238E27FC236}">
                <a16:creationId xmlns:a16="http://schemas.microsoft.com/office/drawing/2014/main" id="{C6C03197-192E-B721-BAB7-AD21D43C52F3}"/>
              </a:ext>
            </a:extLst>
          </p:cNvPr>
          <p:cNvSpPr>
            <a:spLocks noGrp="1"/>
          </p:cNvSpPr>
          <p:nvPr/>
        </p:nvSpPr>
        <p:spPr>
          <a:xfrm>
            <a:off x="4604795" y="4456576"/>
            <a:ext cx="551863" cy="420736"/>
          </a:xfrm>
          <a:prstGeom prst="roundRect">
            <a:avLst>
              <a:gd name="adj" fmla="val 25000"/>
            </a:avLst>
          </a:prstGeom>
          <a:solidFill>
            <a:schemeClr val="accent2">
              <a:lumMod val="40000"/>
              <a:lumOff val="60000"/>
            </a:schemeClr>
          </a:solidFill>
          <a:ln w="11430">
            <a:prstDash val="solid"/>
          </a:ln>
        </p:spPr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99" name="Rectangle 21">
            <a:extLst>
              <a:ext uri="{FF2B5EF4-FFF2-40B4-BE49-F238E27FC236}">
                <a16:creationId xmlns:a16="http://schemas.microsoft.com/office/drawing/2014/main" id="{2D2ACFD7-D950-5F18-2D37-1F5499DF97B5}"/>
              </a:ext>
            </a:extLst>
          </p:cNvPr>
          <p:cNvSpPr>
            <a:spLocks noGrp="1"/>
          </p:cNvSpPr>
          <p:nvPr/>
        </p:nvSpPr>
        <p:spPr>
          <a:xfrm>
            <a:off x="4630636" y="4500415"/>
            <a:ext cx="480732" cy="3003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830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W1</a:t>
            </a:r>
          </a:p>
        </p:txBody>
      </p:sp>
      <p:sp>
        <p:nvSpPr>
          <p:cNvPr id="100" name="Rounded Rectangle 20">
            <a:extLst>
              <a:ext uri="{FF2B5EF4-FFF2-40B4-BE49-F238E27FC236}">
                <a16:creationId xmlns:a16="http://schemas.microsoft.com/office/drawing/2014/main" id="{5EE4BD57-DB68-4EB3-48A8-5FF280BD7C45}"/>
              </a:ext>
            </a:extLst>
          </p:cNvPr>
          <p:cNvSpPr>
            <a:spLocks noGrp="1"/>
          </p:cNvSpPr>
          <p:nvPr/>
        </p:nvSpPr>
        <p:spPr>
          <a:xfrm>
            <a:off x="5331509" y="4458096"/>
            <a:ext cx="551863" cy="420736"/>
          </a:xfrm>
          <a:prstGeom prst="roundRect">
            <a:avLst>
              <a:gd name="adj" fmla="val 25000"/>
            </a:avLst>
          </a:prstGeom>
          <a:solidFill>
            <a:schemeClr val="accent2">
              <a:lumMod val="40000"/>
              <a:lumOff val="60000"/>
            </a:schemeClr>
          </a:solidFill>
          <a:ln w="11430">
            <a:prstDash val="solid"/>
          </a:ln>
        </p:spPr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01" name="Rectangle 21">
            <a:extLst>
              <a:ext uri="{FF2B5EF4-FFF2-40B4-BE49-F238E27FC236}">
                <a16:creationId xmlns:a16="http://schemas.microsoft.com/office/drawing/2014/main" id="{D580DA9E-BC3A-9A6B-FEF2-D78801689BF8}"/>
              </a:ext>
            </a:extLst>
          </p:cNvPr>
          <p:cNvSpPr>
            <a:spLocks noGrp="1"/>
          </p:cNvSpPr>
          <p:nvPr/>
        </p:nvSpPr>
        <p:spPr>
          <a:xfrm>
            <a:off x="5357350" y="4501935"/>
            <a:ext cx="480732" cy="3003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830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W</a:t>
            </a:r>
            <a:r>
              <a:rPr lang="en-US" altLang="zh-CN"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2</a:t>
            </a:r>
            <a:endParaRPr sz="1500"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02" name="Rounded Rectangle 20">
            <a:extLst>
              <a:ext uri="{FF2B5EF4-FFF2-40B4-BE49-F238E27FC236}">
                <a16:creationId xmlns:a16="http://schemas.microsoft.com/office/drawing/2014/main" id="{75E40CF2-3C1C-82FF-E71B-58A3E0AABE33}"/>
              </a:ext>
            </a:extLst>
          </p:cNvPr>
          <p:cNvSpPr>
            <a:spLocks noGrp="1"/>
          </p:cNvSpPr>
          <p:nvPr/>
        </p:nvSpPr>
        <p:spPr>
          <a:xfrm>
            <a:off x="6058223" y="4439715"/>
            <a:ext cx="551863" cy="420736"/>
          </a:xfrm>
          <a:prstGeom prst="roundRect">
            <a:avLst>
              <a:gd name="adj" fmla="val 25000"/>
            </a:avLst>
          </a:prstGeom>
          <a:solidFill>
            <a:schemeClr val="accent2">
              <a:lumMod val="40000"/>
              <a:lumOff val="60000"/>
            </a:schemeClr>
          </a:solidFill>
          <a:ln w="11430">
            <a:prstDash val="solid"/>
          </a:ln>
        </p:spPr>
        <p:txBody>
          <a:bodyPr/>
          <a:lstStyle/>
          <a:p>
            <a:endParaRPr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03" name="Rectangle 21">
            <a:extLst>
              <a:ext uri="{FF2B5EF4-FFF2-40B4-BE49-F238E27FC236}">
                <a16:creationId xmlns:a16="http://schemas.microsoft.com/office/drawing/2014/main" id="{BCB5F0BE-E7F8-D8FB-AFC7-8449AB56F70C}"/>
              </a:ext>
            </a:extLst>
          </p:cNvPr>
          <p:cNvSpPr>
            <a:spLocks noGrp="1"/>
          </p:cNvSpPr>
          <p:nvPr/>
        </p:nvSpPr>
        <p:spPr>
          <a:xfrm>
            <a:off x="6084064" y="4483554"/>
            <a:ext cx="480732" cy="30037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>
            <a:noAutofit/>
          </a:bodyPr>
          <a:lstStyle/>
          <a:p>
            <a:pPr algn="ctr">
              <a:buNone/>
              <a:defRPr sz="830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W</a:t>
            </a:r>
            <a:r>
              <a:rPr lang="en-US" altLang="zh-CN" sz="15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3</a:t>
            </a:r>
            <a:endParaRPr sz="1500"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04" name="Oval 48">
            <a:extLst>
              <a:ext uri="{FF2B5EF4-FFF2-40B4-BE49-F238E27FC236}">
                <a16:creationId xmlns:a16="http://schemas.microsoft.com/office/drawing/2014/main" id="{47F1C71B-E8D7-56BD-18FC-7CF050C8D1EE}"/>
              </a:ext>
            </a:extLst>
          </p:cNvPr>
          <p:cNvSpPr>
            <a:spLocks noGrp="1"/>
          </p:cNvSpPr>
          <p:nvPr/>
        </p:nvSpPr>
        <p:spPr>
          <a:xfrm>
            <a:off x="2326155" y="4652567"/>
            <a:ext cx="180788" cy="1448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05" name="Oval 49">
            <a:extLst>
              <a:ext uri="{FF2B5EF4-FFF2-40B4-BE49-F238E27FC236}">
                <a16:creationId xmlns:a16="http://schemas.microsoft.com/office/drawing/2014/main" id="{155BC57B-C7C6-D538-61E4-2EEF65D8D4AE}"/>
              </a:ext>
            </a:extLst>
          </p:cNvPr>
          <p:cNvSpPr>
            <a:spLocks noGrp="1"/>
          </p:cNvSpPr>
          <p:nvPr/>
        </p:nvSpPr>
        <p:spPr>
          <a:xfrm>
            <a:off x="2605555" y="4652567"/>
            <a:ext cx="180788" cy="1448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06" name="Oval 50">
            <a:extLst>
              <a:ext uri="{FF2B5EF4-FFF2-40B4-BE49-F238E27FC236}">
                <a16:creationId xmlns:a16="http://schemas.microsoft.com/office/drawing/2014/main" id="{F98C5F84-F7D7-4323-A144-90B81D3D84FD}"/>
              </a:ext>
            </a:extLst>
          </p:cNvPr>
          <p:cNvSpPr>
            <a:spLocks noGrp="1"/>
          </p:cNvSpPr>
          <p:nvPr/>
        </p:nvSpPr>
        <p:spPr>
          <a:xfrm>
            <a:off x="2884955" y="4652567"/>
            <a:ext cx="180788" cy="1448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07" name="Oval 51">
            <a:extLst>
              <a:ext uri="{FF2B5EF4-FFF2-40B4-BE49-F238E27FC236}">
                <a16:creationId xmlns:a16="http://schemas.microsoft.com/office/drawing/2014/main" id="{B3D543C5-D7EE-9256-2EE4-5CE018C2CFC5}"/>
              </a:ext>
            </a:extLst>
          </p:cNvPr>
          <p:cNvSpPr>
            <a:spLocks noGrp="1"/>
          </p:cNvSpPr>
          <p:nvPr/>
        </p:nvSpPr>
        <p:spPr>
          <a:xfrm>
            <a:off x="3164355" y="4652567"/>
            <a:ext cx="180788" cy="1448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08" name="Oval 52">
            <a:extLst>
              <a:ext uri="{FF2B5EF4-FFF2-40B4-BE49-F238E27FC236}">
                <a16:creationId xmlns:a16="http://schemas.microsoft.com/office/drawing/2014/main" id="{12D9DE1E-BB7C-6F22-617B-C110FCEADB66}"/>
              </a:ext>
            </a:extLst>
          </p:cNvPr>
          <p:cNvSpPr>
            <a:spLocks noGrp="1"/>
          </p:cNvSpPr>
          <p:nvPr/>
        </p:nvSpPr>
        <p:spPr>
          <a:xfrm>
            <a:off x="3443755" y="4652567"/>
            <a:ext cx="180788" cy="14486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noFill/>
            <a:prstDash val="solid"/>
          </a:ln>
        </p:spPr>
        <p:txBody>
          <a:bodyPr/>
          <a:lstStyle/>
          <a:p>
            <a:endParaRPr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圆角矩形 28">
            <a:extLst>
              <a:ext uri="{FF2B5EF4-FFF2-40B4-BE49-F238E27FC236}">
                <a16:creationId xmlns:a16="http://schemas.microsoft.com/office/drawing/2014/main" id="{A5AF37F0-DC0A-63BE-8887-DDF484BDB7B2}"/>
              </a:ext>
            </a:extLst>
          </p:cNvPr>
          <p:cNvSpPr>
            <a:spLocks noGrp="1"/>
          </p:cNvSpPr>
          <p:nvPr/>
        </p:nvSpPr>
        <p:spPr>
          <a:xfrm>
            <a:off x="3286125" y="1143000"/>
            <a:ext cx="5619750" cy="971550"/>
          </a:xfrm>
          <a:prstGeom prst="roundRect">
            <a:avLst>
              <a:gd name="adj" fmla="val 16667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圆角矩形 3">
            <a:extLst>
              <a:ext uri="{FF2B5EF4-FFF2-40B4-BE49-F238E27FC236}">
                <a16:creationId xmlns:a16="http://schemas.microsoft.com/office/drawing/2014/main" id="{843BD8D1-AEC3-4EA9-8AC1-BF671793CD0F}"/>
              </a:ext>
            </a:extLst>
          </p:cNvPr>
          <p:cNvSpPr>
            <a:spLocks noGrp="1"/>
          </p:cNvSpPr>
          <p:nvPr/>
        </p:nvSpPr>
        <p:spPr>
          <a:xfrm>
            <a:off x="2104870" y="5905500"/>
            <a:ext cx="8582025" cy="409575"/>
          </a:xfrm>
          <a:prstGeom prst="roundRect">
            <a:avLst>
              <a:gd name="adj" fmla="val 27907"/>
            </a:avLst>
          </a:prstGeom>
          <a:solidFill>
            <a:srgbClr val="F1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Device Platform：封装硬件差异</a:t>
            </a:r>
          </a:p>
        </p:txBody>
      </p:sp>
      <p:sp>
        <p:nvSpPr>
          <p:cNvPr id="7" name="矩形 3">
            <a:extLst>
              <a:ext uri="{FF2B5EF4-FFF2-40B4-BE49-F238E27FC236}">
                <a16:creationId xmlns:a16="http://schemas.microsoft.com/office/drawing/2014/main" id="{AF5E266D-1813-4BA2-B603-81F1DDCFFC32}"/>
              </a:ext>
            </a:extLst>
          </p:cNvPr>
          <p:cNvSpPr>
            <a:spLocks noGrp="1"/>
          </p:cNvSpPr>
          <p:nvPr/>
        </p:nvSpPr>
        <p:spPr>
          <a:xfrm>
            <a:off x="3152775" y="5962650"/>
            <a:ext cx="8477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35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插件可以独立维护；各平台分别验证内存、IPC、传输与同步能力</a:t>
            </a:r>
          </a:p>
        </p:txBody>
      </p:sp>
      <p:pic>
        <p:nvPicPr>
          <p:cNvPr id="11" name="Picture 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515" y="1231666"/>
            <a:ext cx="2080816" cy="437590"/>
          </a:xfrm>
          <a:prstGeom prst="rect">
            <a:avLst/>
          </a:prstGeom>
        </p:spPr>
      </p:pic>
      <p:sp>
        <p:nvSpPr>
          <p:cNvPr id="28" name="矩形 24">
            <a:extLst>
              <a:ext uri="{FF2B5EF4-FFF2-40B4-BE49-F238E27FC236}">
                <a16:creationId xmlns:a16="http://schemas.microsoft.com/office/drawing/2014/main" id="{7B77D8CF-A920-4FD5-A0E4-FD653985311E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03    可插拔扩展与多平台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F3A42F7-DB73-121F-5E97-D2229CCDC25A}"/>
              </a:ext>
            </a:extLst>
          </p:cNvPr>
          <p:cNvSpPr>
            <a:spLocks noGrp="1"/>
          </p:cNvSpPr>
          <p:nvPr/>
        </p:nvSpPr>
        <p:spPr>
          <a:xfrm>
            <a:off x="5191124" y="1763315"/>
            <a:ext cx="2847975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0" dirty="0" err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统一缓存生命周期</a:t>
            </a:r>
            <a:endParaRPr sz="1425" b="0" dirty="0">
              <a:solidFill>
                <a:srgbClr val="FFFFFF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0D9A5EB-19E8-DF89-5818-0F0170E792AA}"/>
              </a:ext>
            </a:extLst>
          </p:cNvPr>
          <p:cNvSpPr>
            <a:spLocks noGrp="1"/>
          </p:cNvSpPr>
          <p:nvPr/>
        </p:nvSpPr>
        <p:spPr>
          <a:xfrm>
            <a:off x="6076950" y="2114550"/>
            <a:ext cx="28575" cy="266700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圆角矩形 32">
            <a:extLst>
              <a:ext uri="{FF2B5EF4-FFF2-40B4-BE49-F238E27FC236}">
                <a16:creationId xmlns:a16="http://schemas.microsoft.com/office/drawing/2014/main" id="{851F256A-396C-B58D-31A5-FB95B8097876}"/>
              </a:ext>
            </a:extLst>
          </p:cNvPr>
          <p:cNvSpPr>
            <a:spLocks noGrp="1"/>
          </p:cNvSpPr>
          <p:nvPr/>
        </p:nvSpPr>
        <p:spPr>
          <a:xfrm>
            <a:off x="1057275" y="2381250"/>
            <a:ext cx="10077450" cy="1647825"/>
          </a:xfrm>
          <a:prstGeom prst="roundRect">
            <a:avLst>
              <a:gd name="adj" fmla="val 6936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BE611D-9EA5-349B-17D5-7B22B637D077}"/>
              </a:ext>
            </a:extLst>
          </p:cNvPr>
          <p:cNvSpPr>
            <a:spLocks noGrp="1"/>
          </p:cNvSpPr>
          <p:nvPr/>
        </p:nvSpPr>
        <p:spPr>
          <a:xfrm>
            <a:off x="4691062" y="2495549"/>
            <a:ext cx="5114925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Device Platform / Plugin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641DA1D2-10CB-A8BB-C1B1-37381BA2B4FD}"/>
              </a:ext>
            </a:extLst>
          </p:cNvPr>
          <p:cNvSpPr>
            <a:spLocks noGrp="1"/>
          </p:cNvSpPr>
          <p:nvPr/>
        </p:nvSpPr>
        <p:spPr>
          <a:xfrm>
            <a:off x="1276350" y="3019425"/>
            <a:ext cx="2200275" cy="7715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AB7411C-F4D2-63AC-4FDD-B8EBC5327910}"/>
              </a:ext>
            </a:extLst>
          </p:cNvPr>
          <p:cNvSpPr>
            <a:spLocks noGrp="1"/>
          </p:cNvSpPr>
          <p:nvPr/>
        </p:nvSpPr>
        <p:spPr>
          <a:xfrm>
            <a:off x="1703867" y="3037589"/>
            <a:ext cx="134524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DeviceSpec</a:t>
            </a:r>
            <a:endParaRPr sz="1725" b="1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711B824-7521-2747-7332-88E688D3655F}"/>
              </a:ext>
            </a:extLst>
          </p:cNvPr>
          <p:cNvSpPr>
            <a:spLocks noGrp="1"/>
          </p:cNvSpPr>
          <p:nvPr/>
        </p:nvSpPr>
        <p:spPr>
          <a:xfrm>
            <a:off x="1547813" y="3419475"/>
            <a:ext cx="207645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设备与内存布局</a:t>
            </a:r>
            <a:endParaRPr sz="1500" b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8" name="圆角矩形 37">
            <a:extLst>
              <a:ext uri="{FF2B5EF4-FFF2-40B4-BE49-F238E27FC236}">
                <a16:creationId xmlns:a16="http://schemas.microsoft.com/office/drawing/2014/main" id="{4C4C3F44-1F41-10A0-674E-3C66911CA89D}"/>
              </a:ext>
            </a:extLst>
          </p:cNvPr>
          <p:cNvSpPr>
            <a:spLocks noGrp="1"/>
          </p:cNvSpPr>
          <p:nvPr/>
        </p:nvSpPr>
        <p:spPr>
          <a:xfrm>
            <a:off x="3752850" y="3019425"/>
            <a:ext cx="2200275" cy="7715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D83BD18-7927-2739-CAE6-477DEAB09F30}"/>
              </a:ext>
            </a:extLst>
          </p:cNvPr>
          <p:cNvSpPr>
            <a:spLocks noGrp="1"/>
          </p:cNvSpPr>
          <p:nvPr/>
        </p:nvSpPr>
        <p:spPr>
          <a:xfrm>
            <a:off x="4262437" y="3042794"/>
            <a:ext cx="1425982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DeviceOps</a:t>
            </a:r>
            <a:endParaRPr sz="1725" b="1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AF034D3-DEB3-868D-2451-DE01D6213B1D}"/>
              </a:ext>
            </a:extLst>
          </p:cNvPr>
          <p:cNvSpPr>
            <a:spLocks noGrp="1"/>
          </p:cNvSpPr>
          <p:nvPr/>
        </p:nvSpPr>
        <p:spPr>
          <a:xfrm>
            <a:off x="4048125" y="3414712"/>
            <a:ext cx="207645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分配、拷贝、同步</a:t>
            </a:r>
            <a:endParaRPr sz="1500" b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C205A193-FF2F-611F-A439-A8D22B0826E8}"/>
              </a:ext>
            </a:extLst>
          </p:cNvPr>
          <p:cNvSpPr>
            <a:spLocks noGrp="1"/>
          </p:cNvSpPr>
          <p:nvPr/>
        </p:nvSpPr>
        <p:spPr>
          <a:xfrm>
            <a:off x="6229350" y="3019425"/>
            <a:ext cx="2200275" cy="7715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E8DEC46-4DAD-DA7C-258B-9F4B5F0EC680}"/>
              </a:ext>
            </a:extLst>
          </p:cNvPr>
          <p:cNvSpPr>
            <a:spLocks noGrp="1"/>
          </p:cNvSpPr>
          <p:nvPr/>
        </p:nvSpPr>
        <p:spPr>
          <a:xfrm>
            <a:off x="6615112" y="3039361"/>
            <a:ext cx="155257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CacheContext</a:t>
            </a:r>
            <a:endParaRPr sz="1725" b="1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CAA2214-7D3F-0FDB-84B4-76AE850D53A1}"/>
              </a:ext>
            </a:extLst>
          </p:cNvPr>
          <p:cNvSpPr>
            <a:spLocks noGrp="1"/>
          </p:cNvSpPr>
          <p:nvPr/>
        </p:nvSpPr>
        <p:spPr>
          <a:xfrm>
            <a:off x="6691312" y="3409728"/>
            <a:ext cx="207645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运行时上下文</a:t>
            </a:r>
            <a:endParaRPr sz="1500" b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4" name="圆角矩形 43">
            <a:extLst>
              <a:ext uri="{FF2B5EF4-FFF2-40B4-BE49-F238E27FC236}">
                <a16:creationId xmlns:a16="http://schemas.microsoft.com/office/drawing/2014/main" id="{DDA49D25-1764-A9D0-6A9F-4A3C621B055F}"/>
              </a:ext>
            </a:extLst>
          </p:cNvPr>
          <p:cNvSpPr>
            <a:spLocks noGrp="1"/>
          </p:cNvSpPr>
          <p:nvPr/>
        </p:nvSpPr>
        <p:spPr>
          <a:xfrm>
            <a:off x="8705850" y="3019425"/>
            <a:ext cx="2200275" cy="771525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4E9DB06-6CB4-0CB1-DD0B-B4E000E3123F}"/>
              </a:ext>
            </a:extLst>
          </p:cNvPr>
          <p:cNvSpPr>
            <a:spLocks noGrp="1"/>
          </p:cNvSpPr>
          <p:nvPr/>
        </p:nvSpPr>
        <p:spPr>
          <a:xfrm>
            <a:off x="9132094" y="3052098"/>
            <a:ext cx="20764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IPC / Transfer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97B5F7E-5CE3-06FC-8108-33C5D6690339}"/>
              </a:ext>
            </a:extLst>
          </p:cNvPr>
          <p:cNvSpPr>
            <a:spLocks noGrp="1"/>
          </p:cNvSpPr>
          <p:nvPr/>
        </p:nvSpPr>
        <p:spPr>
          <a:xfrm>
            <a:off x="9122569" y="3405187"/>
            <a:ext cx="2076450" cy="2762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可用数据路径</a:t>
            </a:r>
            <a:endParaRPr sz="1500" b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FB2EC93E-539E-741F-16A4-38C51E347BF4}"/>
              </a:ext>
            </a:extLst>
          </p:cNvPr>
          <p:cNvSpPr>
            <a:spLocks noGrp="1"/>
          </p:cNvSpPr>
          <p:nvPr/>
        </p:nvSpPr>
        <p:spPr>
          <a:xfrm>
            <a:off x="6076950" y="4029075"/>
            <a:ext cx="28575" cy="27622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15A44320-AE19-534D-EE69-BCCF83B13D87}"/>
              </a:ext>
            </a:extLst>
          </p:cNvPr>
          <p:cNvSpPr>
            <a:spLocks noGrp="1"/>
          </p:cNvSpPr>
          <p:nvPr/>
        </p:nvSpPr>
        <p:spPr>
          <a:xfrm flipV="1">
            <a:off x="1924050" y="4269106"/>
            <a:ext cx="8058150" cy="45719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7D414D1B-47C9-D755-CEEA-68BA88D1424E}"/>
              </a:ext>
            </a:extLst>
          </p:cNvPr>
          <p:cNvSpPr>
            <a:spLocks noGrp="1"/>
          </p:cNvSpPr>
          <p:nvPr/>
        </p:nvSpPr>
        <p:spPr>
          <a:xfrm>
            <a:off x="1887855" y="4314825"/>
            <a:ext cx="45719" cy="31432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79B83794-38EB-3D48-CB92-FB9E93DABEC1}"/>
              </a:ext>
            </a:extLst>
          </p:cNvPr>
          <p:cNvSpPr>
            <a:spLocks noGrp="1"/>
          </p:cNvSpPr>
          <p:nvPr/>
        </p:nvSpPr>
        <p:spPr>
          <a:xfrm>
            <a:off x="1200149" y="4629150"/>
            <a:ext cx="1457325" cy="819150"/>
          </a:xfrm>
          <a:prstGeom prst="roundRect">
            <a:avLst>
              <a:gd name="adj" fmla="val 13953"/>
            </a:avLst>
          </a:prstGeom>
          <a:solidFill>
            <a:srgbClr val="E8F0FA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9509F5A5-ED3B-9C5E-69D8-A2EA0CD566E6}"/>
              </a:ext>
            </a:extLst>
          </p:cNvPr>
          <p:cNvSpPr>
            <a:spLocks noGrp="1"/>
          </p:cNvSpPr>
          <p:nvPr/>
        </p:nvSpPr>
        <p:spPr>
          <a:xfrm>
            <a:off x="1276349" y="4714875"/>
            <a:ext cx="12573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NVIDIA</a:t>
            </a:r>
          </a:p>
          <a:p>
            <a:pPr algn="ctr">
              <a:defRPr sz="18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CUDA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2C812DEE-FB5B-E337-80DD-C459E885A532}"/>
              </a:ext>
            </a:extLst>
          </p:cNvPr>
          <p:cNvSpPr>
            <a:spLocks noGrp="1"/>
          </p:cNvSpPr>
          <p:nvPr/>
        </p:nvSpPr>
        <p:spPr>
          <a:xfrm>
            <a:off x="3514724" y="4314825"/>
            <a:ext cx="28575" cy="31432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B25ACA94-33F3-74F4-C69A-5E5A77942F1D}"/>
              </a:ext>
            </a:extLst>
          </p:cNvPr>
          <p:cNvSpPr>
            <a:spLocks noGrp="1"/>
          </p:cNvSpPr>
          <p:nvPr/>
        </p:nvSpPr>
        <p:spPr>
          <a:xfrm>
            <a:off x="2809874" y="4629150"/>
            <a:ext cx="1457325" cy="819150"/>
          </a:xfrm>
          <a:prstGeom prst="roundRect">
            <a:avLst>
              <a:gd name="adj" fmla="val 13953"/>
            </a:avLst>
          </a:prstGeom>
          <a:solidFill>
            <a:srgbClr val="E8F0FA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883D604D-B57C-2901-52BD-ACB75B87B878}"/>
              </a:ext>
            </a:extLst>
          </p:cNvPr>
          <p:cNvSpPr>
            <a:spLocks noGrp="1"/>
          </p:cNvSpPr>
          <p:nvPr/>
        </p:nvSpPr>
        <p:spPr>
          <a:xfrm>
            <a:off x="2886074" y="4686300"/>
            <a:ext cx="12573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AMD</a:t>
            </a:r>
          </a:p>
          <a:p>
            <a:pPr algn="ctr">
              <a:defRPr sz="18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ROCm</a:t>
            </a:r>
            <a:endParaRPr sz="1800" b="1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309C9E1D-C1FD-877A-3812-2CFA55E63A94}"/>
              </a:ext>
            </a:extLst>
          </p:cNvPr>
          <p:cNvSpPr>
            <a:spLocks noGrp="1"/>
          </p:cNvSpPr>
          <p:nvPr/>
        </p:nvSpPr>
        <p:spPr>
          <a:xfrm>
            <a:off x="5124449" y="4314825"/>
            <a:ext cx="28575" cy="31432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圆角矩形 55">
            <a:extLst>
              <a:ext uri="{FF2B5EF4-FFF2-40B4-BE49-F238E27FC236}">
                <a16:creationId xmlns:a16="http://schemas.microsoft.com/office/drawing/2014/main" id="{B35E4171-24CA-504C-1FDF-291C2AC73172}"/>
              </a:ext>
            </a:extLst>
          </p:cNvPr>
          <p:cNvSpPr>
            <a:spLocks noGrp="1"/>
          </p:cNvSpPr>
          <p:nvPr/>
        </p:nvSpPr>
        <p:spPr>
          <a:xfrm>
            <a:off x="4419599" y="4629150"/>
            <a:ext cx="1457325" cy="819150"/>
          </a:xfrm>
          <a:prstGeom prst="roundRect">
            <a:avLst>
              <a:gd name="adj" fmla="val 13953"/>
            </a:avLst>
          </a:prstGeom>
          <a:solidFill>
            <a:srgbClr val="E8F0FA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A3414731-6A9E-E8FF-63D5-8AD463C3AFAE}"/>
              </a:ext>
            </a:extLst>
          </p:cNvPr>
          <p:cNvSpPr>
            <a:spLocks noGrp="1"/>
          </p:cNvSpPr>
          <p:nvPr/>
        </p:nvSpPr>
        <p:spPr>
          <a:xfrm>
            <a:off x="4510086" y="4700477"/>
            <a:ext cx="12573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18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Intel</a:t>
            </a:r>
          </a:p>
          <a:p>
            <a:pPr algn="ctr">
              <a:defRPr sz="18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XPU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315E18D2-CCFF-5C24-5660-054D206C9906}"/>
              </a:ext>
            </a:extLst>
          </p:cNvPr>
          <p:cNvSpPr>
            <a:spLocks noGrp="1"/>
          </p:cNvSpPr>
          <p:nvPr/>
        </p:nvSpPr>
        <p:spPr>
          <a:xfrm>
            <a:off x="6734174" y="4314825"/>
            <a:ext cx="28575" cy="31432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圆角矩形 58">
            <a:extLst>
              <a:ext uri="{FF2B5EF4-FFF2-40B4-BE49-F238E27FC236}">
                <a16:creationId xmlns:a16="http://schemas.microsoft.com/office/drawing/2014/main" id="{96DC4EC3-F520-2162-6C0A-FC18355CBE53}"/>
              </a:ext>
            </a:extLst>
          </p:cNvPr>
          <p:cNvSpPr>
            <a:spLocks noGrp="1"/>
          </p:cNvSpPr>
          <p:nvPr/>
        </p:nvSpPr>
        <p:spPr>
          <a:xfrm>
            <a:off x="6029324" y="4629150"/>
            <a:ext cx="1457325" cy="819150"/>
          </a:xfrm>
          <a:prstGeom prst="roundRect">
            <a:avLst>
              <a:gd name="adj" fmla="val 13953"/>
            </a:avLst>
          </a:prstGeom>
          <a:solidFill>
            <a:srgbClr val="FFF9EC"/>
          </a:solidFill>
          <a:ln w="14288">
            <a:solidFill>
              <a:srgbClr val="E4D5B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0040FA24-444E-B8AC-D324-32960B00073A}"/>
              </a:ext>
            </a:extLst>
          </p:cNvPr>
          <p:cNvSpPr>
            <a:spLocks noGrp="1"/>
          </p:cNvSpPr>
          <p:nvPr/>
        </p:nvSpPr>
        <p:spPr>
          <a:xfrm>
            <a:off x="6300787" y="4836263"/>
            <a:ext cx="12573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 dirty="0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Ascend</a:t>
            </a: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2D5A3671-706E-935E-9ECB-21249B30A512}"/>
              </a:ext>
            </a:extLst>
          </p:cNvPr>
          <p:cNvSpPr>
            <a:spLocks noGrp="1"/>
          </p:cNvSpPr>
          <p:nvPr/>
        </p:nvSpPr>
        <p:spPr>
          <a:xfrm>
            <a:off x="8343899" y="4314825"/>
            <a:ext cx="28575" cy="31432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圆角矩形 61">
            <a:extLst>
              <a:ext uri="{FF2B5EF4-FFF2-40B4-BE49-F238E27FC236}">
                <a16:creationId xmlns:a16="http://schemas.microsoft.com/office/drawing/2014/main" id="{3D5B8D09-779B-D68D-B165-CC308F95EEA9}"/>
              </a:ext>
            </a:extLst>
          </p:cNvPr>
          <p:cNvSpPr>
            <a:spLocks noGrp="1"/>
          </p:cNvSpPr>
          <p:nvPr/>
        </p:nvSpPr>
        <p:spPr>
          <a:xfrm>
            <a:off x="7639049" y="4629150"/>
            <a:ext cx="1457325" cy="819150"/>
          </a:xfrm>
          <a:prstGeom prst="roundRect">
            <a:avLst>
              <a:gd name="adj" fmla="val 13953"/>
            </a:avLst>
          </a:prstGeom>
          <a:solidFill>
            <a:srgbClr val="FFF9EC"/>
          </a:solidFill>
          <a:ln w="14288">
            <a:solidFill>
              <a:srgbClr val="E4D5B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BDD26827-8CB1-527D-8549-D0979DED4794}"/>
              </a:ext>
            </a:extLst>
          </p:cNvPr>
          <p:cNvSpPr>
            <a:spLocks noGrp="1"/>
          </p:cNvSpPr>
          <p:nvPr/>
        </p:nvSpPr>
        <p:spPr>
          <a:xfrm>
            <a:off x="7920036" y="4836263"/>
            <a:ext cx="12573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 dirty="0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MUSA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B6B160BC-7FF0-A499-9FA2-BDAABE0965FA}"/>
              </a:ext>
            </a:extLst>
          </p:cNvPr>
          <p:cNvSpPr>
            <a:spLocks noGrp="1"/>
          </p:cNvSpPr>
          <p:nvPr/>
        </p:nvSpPr>
        <p:spPr>
          <a:xfrm>
            <a:off x="9953624" y="4314825"/>
            <a:ext cx="28575" cy="31432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5" name="圆角矩形 64">
            <a:extLst>
              <a:ext uri="{FF2B5EF4-FFF2-40B4-BE49-F238E27FC236}">
                <a16:creationId xmlns:a16="http://schemas.microsoft.com/office/drawing/2014/main" id="{F1C8CB0F-8994-2B99-30B0-CB4775C148BB}"/>
              </a:ext>
            </a:extLst>
          </p:cNvPr>
          <p:cNvSpPr>
            <a:spLocks noGrp="1"/>
          </p:cNvSpPr>
          <p:nvPr/>
        </p:nvSpPr>
        <p:spPr>
          <a:xfrm>
            <a:off x="9248774" y="4629150"/>
            <a:ext cx="1457325" cy="819150"/>
          </a:xfrm>
          <a:prstGeom prst="roundRect">
            <a:avLst>
              <a:gd name="adj" fmla="val 13953"/>
            </a:avLst>
          </a:prstGeom>
          <a:solidFill>
            <a:srgbClr val="FFF9EC"/>
          </a:solidFill>
          <a:ln w="14288">
            <a:solidFill>
              <a:srgbClr val="E4D5B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0529E77C-B199-EC22-0A47-562B10A0F735}"/>
              </a:ext>
            </a:extLst>
          </p:cNvPr>
          <p:cNvSpPr>
            <a:spLocks noGrp="1"/>
          </p:cNvSpPr>
          <p:nvPr/>
        </p:nvSpPr>
        <p:spPr>
          <a:xfrm>
            <a:off x="9563099" y="4836041"/>
            <a:ext cx="12573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1" dirty="0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MACA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396FB-9888-3FC3-FC30-3283BF029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3">
            <a:extLst>
              <a:ext uri="{FF2B5EF4-FFF2-40B4-BE49-F238E27FC236}">
                <a16:creationId xmlns:a16="http://schemas.microsoft.com/office/drawing/2014/main" id="{C1118FD5-7E41-40E0-0A49-55534A4DA9AF}"/>
              </a:ext>
            </a:extLst>
          </p:cNvPr>
          <p:cNvGrpSpPr/>
          <p:nvPr/>
        </p:nvGrpSpPr>
        <p:grpSpPr>
          <a:xfrm>
            <a:off x="1748367" y="2996671"/>
            <a:ext cx="2120900" cy="864658"/>
            <a:chOff x="657" y="7220"/>
            <a:chExt cx="2721" cy="794"/>
          </a:xfrm>
        </p:grpSpPr>
        <p:sp>
          <p:nvSpPr>
            <p:cNvPr id="3" name="矩形 64">
              <a:extLst>
                <a:ext uri="{FF2B5EF4-FFF2-40B4-BE49-F238E27FC236}">
                  <a16:creationId xmlns:a16="http://schemas.microsoft.com/office/drawing/2014/main" id="{0F1265EC-E4BD-3697-F9CB-780279486298}"/>
                </a:ext>
              </a:extLst>
            </p:cNvPr>
            <p:cNvSpPr/>
            <p:nvPr userDrawn="1"/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4" name="单圆角矩形 65">
              <a:extLst>
                <a:ext uri="{FF2B5EF4-FFF2-40B4-BE49-F238E27FC236}">
                  <a16:creationId xmlns:a16="http://schemas.microsoft.com/office/drawing/2014/main" id="{2F8D8A9A-A699-44B2-263F-6C9569240B14}"/>
                </a:ext>
              </a:extLst>
            </p:cNvPr>
            <p:cNvSpPr/>
            <p:nvPr userDrawn="1"/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indent="0" algn="l">
                <a:buNone/>
              </a:pPr>
              <a:r>
                <a:rPr kumimoji="1" lang="zh-CN" altLang="en-US" sz="26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      </a:t>
              </a:r>
              <a:r>
                <a:rPr kumimoji="1" lang="en-US" altLang="zh-CN" sz="5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05</a:t>
              </a:r>
            </a:p>
          </p:txBody>
        </p:sp>
      </p:grp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3810D44A-98E3-9E5C-07C9-910D564523CF}"/>
              </a:ext>
            </a:extLst>
          </p:cNvPr>
          <p:cNvSpPr>
            <a:spLocks noGrp="1"/>
          </p:cNvSpPr>
          <p:nvPr/>
        </p:nvSpPr>
        <p:spPr>
          <a:xfrm>
            <a:off x="4593266" y="2571750"/>
            <a:ext cx="7000875" cy="171450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defRPr>
            </a:lvl1pPr>
          </a:lstStyle>
          <a:p>
            <a:pPr algn="l"/>
            <a:r>
              <a:rPr lang="zh-CN" altLang="en-US" sz="4000" b="0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rPr>
              <a:t>生产部署与可观测性</a:t>
            </a:r>
          </a:p>
        </p:txBody>
      </p:sp>
    </p:spTree>
    <p:extLst>
      <p:ext uri="{BB962C8B-B14F-4D97-AF65-F5344CB8AC3E}">
        <p14:creationId xmlns:p14="http://schemas.microsoft.com/office/powerpoint/2010/main" val="22540161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圆角矩形 42">
            <a:extLst>
              <a:ext uri="{FF2B5EF4-FFF2-40B4-BE49-F238E27FC236}">
                <a16:creationId xmlns:a16="http://schemas.microsoft.com/office/drawing/2014/main" id="{33CFCA7B-4A0E-3FCF-D29C-8669707EC8F8}"/>
              </a:ext>
            </a:extLst>
          </p:cNvPr>
          <p:cNvSpPr>
            <a:spLocks noGrp="1"/>
          </p:cNvSpPr>
          <p:nvPr/>
        </p:nvSpPr>
        <p:spPr>
          <a:xfrm>
            <a:off x="1980403" y="5774607"/>
            <a:ext cx="8582025" cy="409575"/>
          </a:xfrm>
          <a:prstGeom prst="roundRect">
            <a:avLst>
              <a:gd name="adj" fmla="val 27907"/>
            </a:avLst>
          </a:prstGeom>
          <a:solidFill>
            <a:srgbClr val="F1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Operator：缓存服务的独立部署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AC04307-8208-40ED-914C-48392E1C7127}"/>
              </a:ext>
            </a:extLst>
          </p:cNvPr>
          <p:cNvSpPr>
            <a:spLocks noGrp="1"/>
          </p:cNvSpPr>
          <p:nvPr/>
        </p:nvSpPr>
        <p:spPr>
          <a:xfrm>
            <a:off x="3142146" y="5852014"/>
            <a:ext cx="8477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35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分别规划缓存容量与引擎副本，验证节点亲和性、资源配置与连接关系</a:t>
            </a:r>
            <a:endParaRPr sz="1350" b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" name="01  声明配置">
            <a:extLst>
              <a:ext uri="{FF2B5EF4-FFF2-40B4-BE49-F238E27FC236}">
                <a16:creationId xmlns:a16="http://schemas.microsoft.com/office/drawing/2014/main" id="{F7E913B5-C01E-24B3-6083-A8DAD5EB310F}"/>
              </a:ext>
            </a:extLst>
          </p:cNvPr>
          <p:cNvSpPr>
            <a:spLocks noGrp="1"/>
          </p:cNvSpPr>
          <p:nvPr/>
        </p:nvSpPr>
        <p:spPr>
          <a:xfrm>
            <a:off x="600424" y="1505093"/>
            <a:ext cx="3219949" cy="36759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9" b="1" kern="0" spc="0">
                <a:solidFill>
                  <a:srgbClr val="A6651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 kern="0" spc="0" dirty="0">
                <a:solidFill>
                  <a:srgbClr val="A6651B"/>
                </a:solidFill>
                <a:latin typeface="Source Han Sans CN"/>
                <a:ea typeface="Source Han Sans CN"/>
                <a:cs typeface="Source Han Sans CN"/>
              </a:rPr>
              <a:t>01  </a:t>
            </a:r>
            <a:r>
              <a:rPr sz="2000" b="1" kern="0" spc="0" dirty="0" err="1">
                <a:solidFill>
                  <a:srgbClr val="A6651B"/>
                </a:solidFill>
                <a:latin typeface="Source Han Sans CN"/>
                <a:ea typeface="Source Han Sans CN"/>
                <a:cs typeface="Source Han Sans CN"/>
              </a:rPr>
              <a:t>声明配置</a:t>
            </a:r>
            <a:endParaRPr sz="2000" b="1" kern="0" spc="0" dirty="0">
              <a:solidFill>
                <a:srgbClr val="A6651B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5" name="02  持续收敛">
            <a:extLst>
              <a:ext uri="{FF2B5EF4-FFF2-40B4-BE49-F238E27FC236}">
                <a16:creationId xmlns:a16="http://schemas.microsoft.com/office/drawing/2014/main" id="{C095ACE6-EB38-2576-77F9-274451D7930F}"/>
              </a:ext>
            </a:extLst>
          </p:cNvPr>
          <p:cNvSpPr>
            <a:spLocks noGrp="1"/>
          </p:cNvSpPr>
          <p:nvPr/>
        </p:nvSpPr>
        <p:spPr>
          <a:xfrm>
            <a:off x="4510362" y="1505093"/>
            <a:ext cx="2989952" cy="36759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9" b="1" kern="0" spc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 kern="0" spc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02  </a:t>
            </a:r>
            <a:r>
              <a:rPr sz="2000" b="1" kern="0" spc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持续收敛</a:t>
            </a:r>
            <a:endParaRPr sz="2000" b="1" kern="0" spc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6" name="03  部署输出">
            <a:extLst>
              <a:ext uri="{FF2B5EF4-FFF2-40B4-BE49-F238E27FC236}">
                <a16:creationId xmlns:a16="http://schemas.microsoft.com/office/drawing/2014/main" id="{527E1C33-C6A5-EF00-DA3A-779E3E19C7F5}"/>
              </a:ext>
            </a:extLst>
          </p:cNvPr>
          <p:cNvSpPr>
            <a:spLocks noGrp="1"/>
          </p:cNvSpPr>
          <p:nvPr/>
        </p:nvSpPr>
        <p:spPr>
          <a:xfrm>
            <a:off x="8305301" y="1505093"/>
            <a:ext cx="3162450" cy="36759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9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00" b="1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03  </a:t>
            </a:r>
            <a:r>
              <a:rPr sz="2000" b="1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部署输出</a:t>
            </a:r>
            <a:endParaRPr sz="2000"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7" name="圆角矩形 9">
            <a:extLst>
              <a:ext uri="{FF2B5EF4-FFF2-40B4-BE49-F238E27FC236}">
                <a16:creationId xmlns:a16="http://schemas.microsoft.com/office/drawing/2014/main" id="{6EDE2FF8-EE24-235B-7517-F2CF0672E637}"/>
              </a:ext>
            </a:extLst>
          </p:cNvPr>
          <p:cNvSpPr>
            <a:spLocks noGrp="1"/>
          </p:cNvSpPr>
          <p:nvPr/>
        </p:nvSpPr>
        <p:spPr>
          <a:xfrm>
            <a:off x="600424" y="2062227"/>
            <a:ext cx="3047451" cy="3216442"/>
          </a:xfrm>
          <a:prstGeom prst="roundRect">
            <a:avLst>
              <a:gd name="adj" fmla="val 1509"/>
            </a:avLst>
          </a:prstGeom>
          <a:solidFill>
            <a:srgbClr val="F0F5FA"/>
          </a:solidFill>
          <a:ln w="14288">
            <a:solidFill>
              <a:srgbClr val="91A9C2"/>
            </a:solidFill>
          </a:ln>
        </p:spPr>
        <p:txBody>
          <a:bodyPr/>
          <a:lstStyle/>
          <a:p>
            <a:endParaRPr lang="zh-CN" altLang="en-US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8" name="LMCacheEngine">
            <a:extLst>
              <a:ext uri="{FF2B5EF4-FFF2-40B4-BE49-F238E27FC236}">
                <a16:creationId xmlns:a16="http://schemas.microsoft.com/office/drawing/2014/main" id="{331ECDAE-B2BF-3A56-5169-C1047D54AC77}"/>
              </a:ext>
            </a:extLst>
          </p:cNvPr>
          <p:cNvSpPr>
            <a:spLocks noGrp="1"/>
          </p:cNvSpPr>
          <p:nvPr/>
        </p:nvSpPr>
        <p:spPr>
          <a:xfrm>
            <a:off x="801671" y="2223049"/>
            <a:ext cx="2644958" cy="36759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9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9" b="1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LMCacheEngine</a:t>
            </a:r>
            <a:endParaRPr sz="1809" b="1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9" name="自定义资源 CR">
            <a:extLst>
              <a:ext uri="{FF2B5EF4-FFF2-40B4-BE49-F238E27FC236}">
                <a16:creationId xmlns:a16="http://schemas.microsoft.com/office/drawing/2014/main" id="{58925544-B36F-F0F8-343D-A43E03D84B92}"/>
              </a:ext>
            </a:extLst>
          </p:cNvPr>
          <p:cNvSpPr>
            <a:spLocks noGrp="1"/>
          </p:cNvSpPr>
          <p:nvPr/>
        </p:nvSpPr>
        <p:spPr>
          <a:xfrm>
            <a:off x="801671" y="2653823"/>
            <a:ext cx="2644958" cy="26995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47" b="1" kern="0" spc="0">
                <a:solidFill>
                  <a:srgbClr val="A6651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1" kern="0" spc="0" dirty="0" err="1">
                <a:solidFill>
                  <a:srgbClr val="A6651B"/>
                </a:solidFill>
                <a:latin typeface="Source Han Sans CN"/>
                <a:ea typeface="Source Han Sans CN"/>
                <a:cs typeface="Source Han Sans CN"/>
              </a:rPr>
              <a:t>自定义资源</a:t>
            </a:r>
            <a:r>
              <a:rPr sz="1447" b="1" kern="0" spc="0" dirty="0">
                <a:solidFill>
                  <a:srgbClr val="A6651B"/>
                </a:solidFill>
                <a:latin typeface="Source Han Sans CN"/>
                <a:ea typeface="Source Han Sans CN"/>
                <a:cs typeface="Source Han Sans CN"/>
              </a:rPr>
              <a:t> CR</a:t>
            </a:r>
          </a:p>
        </p:txBody>
      </p:sp>
      <p:sp>
        <p:nvSpPr>
          <p:cNvPr id="10" name="矩形 12">
            <a:extLst>
              <a:ext uri="{FF2B5EF4-FFF2-40B4-BE49-F238E27FC236}">
                <a16:creationId xmlns:a16="http://schemas.microsoft.com/office/drawing/2014/main" id="{2BB5FD64-1D34-3333-F6CC-6D05272FA7C7}"/>
              </a:ext>
            </a:extLst>
          </p:cNvPr>
          <p:cNvSpPr>
            <a:spLocks noGrp="1"/>
          </p:cNvSpPr>
          <p:nvPr/>
        </p:nvSpPr>
        <p:spPr>
          <a:xfrm>
            <a:off x="801671" y="3055878"/>
            <a:ext cx="2644958" cy="6892"/>
          </a:xfrm>
          <a:prstGeom prst="rect">
            <a:avLst/>
          </a:prstGeom>
          <a:solidFill>
            <a:srgbClr val="F0F5FA"/>
          </a:solidFill>
          <a:ln w="14288">
            <a:solidFill>
              <a:srgbClr val="91A9C2"/>
            </a:solidFill>
          </a:ln>
        </p:spPr>
        <p:txBody>
          <a:bodyPr/>
          <a:lstStyle/>
          <a:p>
            <a:endParaRPr lang="zh-CN" altLang="en-US" sz="200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1" name="容量">
            <a:extLst>
              <a:ext uri="{FF2B5EF4-FFF2-40B4-BE49-F238E27FC236}">
                <a16:creationId xmlns:a16="http://schemas.microsoft.com/office/drawing/2014/main" id="{F617012A-5796-DB70-3D99-B0F10F0E15D0}"/>
              </a:ext>
            </a:extLst>
          </p:cNvPr>
          <p:cNvSpPr>
            <a:spLocks noGrp="1"/>
          </p:cNvSpPr>
          <p:nvPr/>
        </p:nvSpPr>
        <p:spPr>
          <a:xfrm>
            <a:off x="801671" y="3210956"/>
            <a:ext cx="1322479" cy="26420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47" b="1" kern="0" spc="0">
                <a:solidFill>
                  <a:srgbClr val="A6651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1" kern="0" spc="0" dirty="0" err="1">
                <a:solidFill>
                  <a:srgbClr val="A6651B"/>
                </a:solidFill>
                <a:latin typeface="Source Han Sans CN"/>
                <a:ea typeface="Source Han Sans CN"/>
                <a:cs typeface="Source Han Sans CN"/>
              </a:rPr>
              <a:t>容量</a:t>
            </a:r>
            <a:endParaRPr sz="1600" b="1" kern="0" spc="0" dirty="0">
              <a:solidFill>
                <a:srgbClr val="A6651B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2" name="缓存空间规划">
            <a:extLst>
              <a:ext uri="{FF2B5EF4-FFF2-40B4-BE49-F238E27FC236}">
                <a16:creationId xmlns:a16="http://schemas.microsoft.com/office/drawing/2014/main" id="{D2D9BB1E-DE56-6B14-6F37-977D723F843D}"/>
              </a:ext>
            </a:extLst>
          </p:cNvPr>
          <p:cNvSpPr>
            <a:spLocks noGrp="1"/>
          </p:cNvSpPr>
          <p:nvPr/>
        </p:nvSpPr>
        <p:spPr>
          <a:xfrm>
            <a:off x="1980403" y="3223464"/>
            <a:ext cx="1466226" cy="26420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76" b="0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缓存空间规划</a:t>
            </a:r>
            <a:endParaRPr sz="1600" b="0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3" name="端口">
            <a:extLst>
              <a:ext uri="{FF2B5EF4-FFF2-40B4-BE49-F238E27FC236}">
                <a16:creationId xmlns:a16="http://schemas.microsoft.com/office/drawing/2014/main" id="{38A7B025-F3BA-873D-6B5B-66C957FE2F67}"/>
              </a:ext>
            </a:extLst>
          </p:cNvPr>
          <p:cNvSpPr>
            <a:spLocks noGrp="1"/>
          </p:cNvSpPr>
          <p:nvPr/>
        </p:nvSpPr>
        <p:spPr>
          <a:xfrm>
            <a:off x="801671" y="3653217"/>
            <a:ext cx="1322479" cy="26420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47" b="1" kern="0" spc="0">
                <a:solidFill>
                  <a:srgbClr val="A6651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1" kern="0" spc="0">
                <a:solidFill>
                  <a:srgbClr val="A6651B"/>
                </a:solidFill>
                <a:latin typeface="Source Han Sans CN"/>
                <a:ea typeface="Source Han Sans CN"/>
                <a:cs typeface="Source Han Sans CN"/>
              </a:rPr>
              <a:t>端口</a:t>
            </a:r>
          </a:p>
        </p:txBody>
      </p:sp>
      <p:sp>
        <p:nvSpPr>
          <p:cNvPr id="14" name="服务连接配置">
            <a:extLst>
              <a:ext uri="{FF2B5EF4-FFF2-40B4-BE49-F238E27FC236}">
                <a16:creationId xmlns:a16="http://schemas.microsoft.com/office/drawing/2014/main" id="{A3DE424A-814E-0638-94F2-828B0324D60E}"/>
              </a:ext>
            </a:extLst>
          </p:cNvPr>
          <p:cNvSpPr>
            <a:spLocks noGrp="1"/>
          </p:cNvSpPr>
          <p:nvPr/>
        </p:nvSpPr>
        <p:spPr>
          <a:xfrm>
            <a:off x="1980403" y="3665725"/>
            <a:ext cx="1408728" cy="26420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76" b="0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服务连接配置</a:t>
            </a:r>
            <a:endParaRPr sz="1600" b="0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5" name="L2">
            <a:extLst>
              <a:ext uri="{FF2B5EF4-FFF2-40B4-BE49-F238E27FC236}">
                <a16:creationId xmlns:a16="http://schemas.microsoft.com/office/drawing/2014/main" id="{C9DE61EF-13E0-4F8E-FF1C-677CB284E5C6}"/>
              </a:ext>
            </a:extLst>
          </p:cNvPr>
          <p:cNvSpPr>
            <a:spLocks noGrp="1"/>
          </p:cNvSpPr>
          <p:nvPr/>
        </p:nvSpPr>
        <p:spPr>
          <a:xfrm>
            <a:off x="801671" y="4095478"/>
            <a:ext cx="1322479" cy="26420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47" b="1" kern="0" spc="0">
                <a:solidFill>
                  <a:srgbClr val="A6651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1" kern="0" spc="0">
                <a:solidFill>
                  <a:srgbClr val="A6651B"/>
                </a:solidFill>
                <a:latin typeface="Source Han Sans CN"/>
                <a:ea typeface="Source Han Sans CN"/>
                <a:cs typeface="Source Han Sans CN"/>
              </a:rPr>
              <a:t>L2</a:t>
            </a:r>
          </a:p>
        </p:txBody>
      </p:sp>
      <p:sp>
        <p:nvSpPr>
          <p:cNvPr id="16" name="存储后端配置">
            <a:extLst>
              <a:ext uri="{FF2B5EF4-FFF2-40B4-BE49-F238E27FC236}">
                <a16:creationId xmlns:a16="http://schemas.microsoft.com/office/drawing/2014/main" id="{D14837F3-4F09-325F-6853-E7203FC9BBD0}"/>
              </a:ext>
            </a:extLst>
          </p:cNvPr>
          <p:cNvSpPr>
            <a:spLocks noGrp="1"/>
          </p:cNvSpPr>
          <p:nvPr/>
        </p:nvSpPr>
        <p:spPr>
          <a:xfrm>
            <a:off x="1980403" y="4107986"/>
            <a:ext cx="1466226" cy="26420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76" b="0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存储后端配置</a:t>
            </a:r>
            <a:endParaRPr sz="1600" b="0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7" name="Prometheus">
            <a:extLst>
              <a:ext uri="{FF2B5EF4-FFF2-40B4-BE49-F238E27FC236}">
                <a16:creationId xmlns:a16="http://schemas.microsoft.com/office/drawing/2014/main" id="{CC0A4125-C6FC-893C-4342-9DB51F10EEF8}"/>
              </a:ext>
            </a:extLst>
          </p:cNvPr>
          <p:cNvSpPr>
            <a:spLocks noGrp="1"/>
          </p:cNvSpPr>
          <p:nvPr/>
        </p:nvSpPr>
        <p:spPr>
          <a:xfrm>
            <a:off x="801671" y="4537739"/>
            <a:ext cx="1322479" cy="26420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47" b="1" kern="0" spc="0">
                <a:solidFill>
                  <a:srgbClr val="A6651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1" kern="0" spc="0">
                <a:solidFill>
                  <a:srgbClr val="A6651B"/>
                </a:solidFill>
                <a:latin typeface="Source Han Sans CN"/>
                <a:ea typeface="Source Han Sans CN"/>
                <a:cs typeface="Source Han Sans CN"/>
              </a:rPr>
              <a:t>监控</a:t>
            </a:r>
          </a:p>
        </p:txBody>
      </p:sp>
      <p:sp>
        <p:nvSpPr>
          <p:cNvPr id="18" name="监控接入配置">
            <a:extLst>
              <a:ext uri="{FF2B5EF4-FFF2-40B4-BE49-F238E27FC236}">
                <a16:creationId xmlns:a16="http://schemas.microsoft.com/office/drawing/2014/main" id="{B8748355-89FE-E0B8-6E35-6D54988B0092}"/>
              </a:ext>
            </a:extLst>
          </p:cNvPr>
          <p:cNvSpPr>
            <a:spLocks noGrp="1"/>
          </p:cNvSpPr>
          <p:nvPr/>
        </p:nvSpPr>
        <p:spPr>
          <a:xfrm>
            <a:off x="1980403" y="4550247"/>
            <a:ext cx="1408728" cy="26420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76" b="0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监控接入配置</a:t>
            </a:r>
            <a:endParaRPr sz="1600" b="0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19" name="圆角矩形 21">
            <a:extLst>
              <a:ext uri="{FF2B5EF4-FFF2-40B4-BE49-F238E27FC236}">
                <a16:creationId xmlns:a16="http://schemas.microsoft.com/office/drawing/2014/main" id="{E06A5C42-A4BC-7FA0-C883-C1040FA45204}"/>
              </a:ext>
            </a:extLst>
          </p:cNvPr>
          <p:cNvSpPr>
            <a:spLocks noGrp="1"/>
          </p:cNvSpPr>
          <p:nvPr/>
        </p:nvSpPr>
        <p:spPr>
          <a:xfrm>
            <a:off x="4510362" y="2510231"/>
            <a:ext cx="2817455" cy="2343408"/>
          </a:xfrm>
          <a:prstGeom prst="roundRect">
            <a:avLst>
              <a:gd name="adj" fmla="val 1961"/>
            </a:avLst>
          </a:prstGeom>
          <a:solidFill>
            <a:srgbClr val="F0F5FA"/>
          </a:solidFill>
          <a:ln w="14288">
            <a:solidFill>
              <a:srgbClr val="91A9C2"/>
            </a:solidFill>
          </a:ln>
        </p:spPr>
        <p:txBody>
          <a:bodyPr/>
          <a:lstStyle/>
          <a:p>
            <a:endParaRPr lang="zh-CN" altLang="en-US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0" name="LMCache">
            <a:extLst>
              <a:ext uri="{FF2B5EF4-FFF2-40B4-BE49-F238E27FC236}">
                <a16:creationId xmlns:a16="http://schemas.microsoft.com/office/drawing/2014/main" id="{D59CAB66-2151-964F-94D4-65EA68D767DD}"/>
              </a:ext>
            </a:extLst>
          </p:cNvPr>
          <p:cNvSpPr>
            <a:spLocks noGrp="1"/>
          </p:cNvSpPr>
          <p:nvPr/>
        </p:nvSpPr>
        <p:spPr>
          <a:xfrm>
            <a:off x="4711609" y="2688284"/>
            <a:ext cx="2414962" cy="361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9" b="1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9" b="1" kern="0" spc="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Source Han Sans CN"/>
                <a:ea typeface="Source Han Sans CN"/>
                <a:cs typeface="Source Han Sans CN"/>
              </a:rPr>
              <a:t>LMCache</a:t>
            </a:r>
            <a:r>
              <a:rPr lang="zh-CN" altLang="en-US" sz="1809" b="1" kern="0" spc="0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lang="en" altLang="zh-CN" sz="1809" b="1" kern="0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Han Sans CN"/>
                <a:ea typeface="Source Han Sans CN"/>
                <a:cs typeface="Source Han Sans CN"/>
              </a:rPr>
              <a:t>Operator</a:t>
            </a:r>
            <a:endParaRPr sz="1809" b="1" kern="0" spc="0" dirty="0">
              <a:solidFill>
                <a:schemeClr val="accent1">
                  <a:lumMod val="60000"/>
                  <a:lumOff val="40000"/>
                </a:schemeClr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1" name="Operator">
            <a:extLst>
              <a:ext uri="{FF2B5EF4-FFF2-40B4-BE49-F238E27FC236}">
                <a16:creationId xmlns:a16="http://schemas.microsoft.com/office/drawing/2014/main" id="{08FE271B-EF0D-384E-371A-6513C7A448B6}"/>
              </a:ext>
            </a:extLst>
          </p:cNvPr>
          <p:cNvSpPr>
            <a:spLocks noGrp="1"/>
          </p:cNvSpPr>
          <p:nvPr/>
        </p:nvSpPr>
        <p:spPr>
          <a:xfrm>
            <a:off x="4711609" y="3078852"/>
            <a:ext cx="2414962" cy="361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809" b="1" kern="0" spc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endParaRPr sz="1809" b="1" kern="0" spc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2" name="矩形 24">
            <a:extLst>
              <a:ext uri="{FF2B5EF4-FFF2-40B4-BE49-F238E27FC236}">
                <a16:creationId xmlns:a16="http://schemas.microsoft.com/office/drawing/2014/main" id="{0D122B2B-373A-DB64-EA20-F9C2F7D187BA}"/>
              </a:ext>
            </a:extLst>
          </p:cNvPr>
          <p:cNvSpPr>
            <a:spLocks noGrp="1"/>
          </p:cNvSpPr>
          <p:nvPr/>
        </p:nvSpPr>
        <p:spPr>
          <a:xfrm>
            <a:off x="4678969" y="3186016"/>
            <a:ext cx="2414962" cy="6892"/>
          </a:xfrm>
          <a:prstGeom prst="rect">
            <a:avLst/>
          </a:prstGeom>
          <a:solidFill>
            <a:srgbClr val="F0F5FA"/>
          </a:solidFill>
          <a:ln w="14288">
            <a:solidFill>
              <a:srgbClr val="91A9C2"/>
            </a:solidFill>
          </a:ln>
        </p:spPr>
        <p:txBody>
          <a:bodyPr/>
          <a:lstStyle/>
          <a:p>
            <a:endParaRPr lang="zh-CN" altLang="en-US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3" name="读取 CR 中的期望状态&#10;协调部署对象&#10;持续检查与更新">
            <a:extLst>
              <a:ext uri="{FF2B5EF4-FFF2-40B4-BE49-F238E27FC236}">
                <a16:creationId xmlns:a16="http://schemas.microsoft.com/office/drawing/2014/main" id="{B52C235B-44D0-1024-C762-EFF442287130}"/>
              </a:ext>
            </a:extLst>
          </p:cNvPr>
          <p:cNvSpPr>
            <a:spLocks noGrp="1"/>
          </p:cNvSpPr>
          <p:nvPr/>
        </p:nvSpPr>
        <p:spPr>
          <a:xfrm>
            <a:off x="4654109" y="3495266"/>
            <a:ext cx="2414962" cy="82134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76" b="0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读取</a:t>
            </a:r>
            <a:r>
              <a:rPr sz="1600" b="0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CR </a:t>
            </a:r>
            <a:r>
              <a:rPr sz="1600" b="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中的期望状态</a:t>
            </a:r>
            <a:endParaRPr sz="1600" b="0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  <a:p>
            <a:pPr>
              <a:defRPr sz="1176" b="0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协调部署对象</a:t>
            </a:r>
            <a:endParaRPr sz="1600" b="0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  <a:p>
            <a:pPr>
              <a:defRPr sz="1176" b="0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持续检查与更新</a:t>
            </a:r>
            <a:endParaRPr sz="1600" b="0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4" name="右箭头 26">
            <a:extLst>
              <a:ext uri="{FF2B5EF4-FFF2-40B4-BE49-F238E27FC236}">
                <a16:creationId xmlns:a16="http://schemas.microsoft.com/office/drawing/2014/main" id="{350FB100-60F7-6166-B5C8-59ED698E0A92}"/>
              </a:ext>
            </a:extLst>
          </p:cNvPr>
          <p:cNvSpPr>
            <a:spLocks noGrp="1"/>
          </p:cNvSpPr>
          <p:nvPr/>
        </p:nvSpPr>
        <p:spPr>
          <a:xfrm>
            <a:off x="3791623" y="3561319"/>
            <a:ext cx="603740" cy="241233"/>
          </a:xfrm>
          <a:prstGeom prst="rightArrow">
            <a:avLst/>
          </a:prstGeom>
          <a:solidFill>
            <a:srgbClr val="D7ECF1"/>
          </a:solidFill>
          <a:ln w="0">
            <a:solidFill>
              <a:srgbClr val="91A9C2"/>
            </a:solidFill>
          </a:ln>
        </p:spPr>
        <p:txBody>
          <a:bodyPr/>
          <a:lstStyle/>
          <a:p>
            <a:endParaRPr lang="zh-CN" altLang="en-US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5" name="右箭头 27">
            <a:extLst>
              <a:ext uri="{FF2B5EF4-FFF2-40B4-BE49-F238E27FC236}">
                <a16:creationId xmlns:a16="http://schemas.microsoft.com/office/drawing/2014/main" id="{2E4581C5-3431-0035-8817-DFCD4B1ACDFC}"/>
              </a:ext>
            </a:extLst>
          </p:cNvPr>
          <p:cNvSpPr>
            <a:spLocks noGrp="1"/>
          </p:cNvSpPr>
          <p:nvPr/>
        </p:nvSpPr>
        <p:spPr>
          <a:xfrm>
            <a:off x="7442815" y="3561319"/>
            <a:ext cx="603740" cy="241233"/>
          </a:xfrm>
          <a:prstGeom prst="rightArrow">
            <a:avLst/>
          </a:prstGeom>
          <a:solidFill>
            <a:srgbClr val="D7ECF1"/>
          </a:solidFill>
          <a:ln w="0">
            <a:solidFill>
              <a:srgbClr val="91A9C2"/>
            </a:solidFill>
          </a:ln>
        </p:spPr>
        <p:txBody>
          <a:bodyPr/>
          <a:lstStyle/>
          <a:p>
            <a:endParaRPr lang="zh-CN" altLang="en-US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6" name="矩形 28">
            <a:extLst>
              <a:ext uri="{FF2B5EF4-FFF2-40B4-BE49-F238E27FC236}">
                <a16:creationId xmlns:a16="http://schemas.microsoft.com/office/drawing/2014/main" id="{EA1AB978-D90E-C28B-1197-9CE332C0CCF2}"/>
              </a:ext>
            </a:extLst>
          </p:cNvPr>
          <p:cNvSpPr>
            <a:spLocks noGrp="1"/>
          </p:cNvSpPr>
          <p:nvPr/>
        </p:nvSpPr>
        <p:spPr>
          <a:xfrm>
            <a:off x="8075305" y="2579155"/>
            <a:ext cx="17250" cy="2234279"/>
          </a:xfrm>
          <a:prstGeom prst="rect">
            <a:avLst/>
          </a:prstGeom>
          <a:solidFill>
            <a:srgbClr val="F0F5FA"/>
          </a:solidFill>
          <a:ln w="14288">
            <a:solidFill>
              <a:srgbClr val="91A9C2"/>
            </a:solidFill>
          </a:ln>
        </p:spPr>
        <p:txBody>
          <a:bodyPr/>
          <a:lstStyle/>
          <a:p>
            <a:endParaRPr lang="zh-CN" altLang="en-US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7" name="矩形 29">
            <a:extLst>
              <a:ext uri="{FF2B5EF4-FFF2-40B4-BE49-F238E27FC236}">
                <a16:creationId xmlns:a16="http://schemas.microsoft.com/office/drawing/2014/main" id="{386591EE-97AB-B448-B712-B12261031726}"/>
              </a:ext>
            </a:extLst>
          </p:cNvPr>
          <p:cNvSpPr>
            <a:spLocks noGrp="1"/>
          </p:cNvSpPr>
          <p:nvPr/>
        </p:nvSpPr>
        <p:spPr>
          <a:xfrm>
            <a:off x="8075305" y="2573412"/>
            <a:ext cx="229996" cy="17231"/>
          </a:xfrm>
          <a:prstGeom prst="rect">
            <a:avLst/>
          </a:prstGeom>
          <a:solidFill>
            <a:srgbClr val="F0F5FA"/>
          </a:solidFill>
          <a:ln w="14288">
            <a:solidFill>
              <a:srgbClr val="91A9C2"/>
            </a:solidFill>
          </a:ln>
        </p:spPr>
        <p:txBody>
          <a:bodyPr/>
          <a:lstStyle/>
          <a:p>
            <a:endParaRPr lang="zh-CN" altLang="en-US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8" name="圆角矩形 30">
            <a:extLst>
              <a:ext uri="{FF2B5EF4-FFF2-40B4-BE49-F238E27FC236}">
                <a16:creationId xmlns:a16="http://schemas.microsoft.com/office/drawing/2014/main" id="{0F08BB81-7F5A-306E-F3B7-5AE633AE5881}"/>
              </a:ext>
            </a:extLst>
          </p:cNvPr>
          <p:cNvSpPr>
            <a:spLocks noGrp="1"/>
          </p:cNvSpPr>
          <p:nvPr/>
        </p:nvSpPr>
        <p:spPr>
          <a:xfrm>
            <a:off x="8305301" y="2062227"/>
            <a:ext cx="3162450" cy="976420"/>
          </a:xfrm>
          <a:prstGeom prst="roundRect">
            <a:avLst>
              <a:gd name="adj" fmla="val 4706"/>
            </a:avLst>
          </a:prstGeom>
          <a:solidFill>
            <a:srgbClr val="F0F5FA"/>
          </a:solidFill>
          <a:ln w="14288">
            <a:solidFill>
              <a:srgbClr val="91A9C2"/>
            </a:solidFill>
          </a:ln>
        </p:spPr>
        <p:txBody>
          <a:bodyPr/>
          <a:lstStyle/>
          <a:p>
            <a:endParaRPr lang="zh-CN" altLang="en-US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29" name="圆角矩形 31">
            <a:extLst>
              <a:ext uri="{FF2B5EF4-FFF2-40B4-BE49-F238E27FC236}">
                <a16:creationId xmlns:a16="http://schemas.microsoft.com/office/drawing/2014/main" id="{00677A00-03EC-F9F2-B8C9-B2D0D5D1E11A}"/>
              </a:ext>
            </a:extLst>
          </p:cNvPr>
          <p:cNvSpPr>
            <a:spLocks noGrp="1"/>
          </p:cNvSpPr>
          <p:nvPr/>
        </p:nvSpPr>
        <p:spPr>
          <a:xfrm>
            <a:off x="8472049" y="2223049"/>
            <a:ext cx="40249" cy="614570"/>
          </a:xfrm>
          <a:prstGeom prst="roundRect">
            <a:avLst>
              <a:gd name="adj" fmla="val 50000"/>
            </a:avLst>
          </a:prstGeom>
          <a:solidFill>
            <a:srgbClr val="D7ECF1"/>
          </a:solidFill>
          <a:ln w="14288">
            <a:solidFill>
              <a:srgbClr val="91A9C2"/>
            </a:solidFill>
          </a:ln>
        </p:spPr>
        <p:txBody>
          <a:bodyPr/>
          <a:lstStyle/>
          <a:p>
            <a:endParaRPr lang="zh-CN" altLang="en-US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0" name="DaemonSet + Service">
            <a:extLst>
              <a:ext uri="{FF2B5EF4-FFF2-40B4-BE49-F238E27FC236}">
                <a16:creationId xmlns:a16="http://schemas.microsoft.com/office/drawing/2014/main" id="{61885801-A3E9-2269-223E-6336683F2CDB}"/>
              </a:ext>
            </a:extLst>
          </p:cNvPr>
          <p:cNvSpPr>
            <a:spLocks noGrp="1"/>
          </p:cNvSpPr>
          <p:nvPr/>
        </p:nvSpPr>
        <p:spPr>
          <a:xfrm>
            <a:off x="8633046" y="2205818"/>
            <a:ext cx="2673707" cy="338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47" b="1" kern="0" spc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1" kern="0" spc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DaemonSet</a:t>
            </a:r>
            <a:r>
              <a:rPr sz="1600" b="1" kern="0" spc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 + Service</a:t>
            </a:r>
          </a:p>
        </p:txBody>
      </p:sp>
      <p:sp>
        <p:nvSpPr>
          <p:cNvPr id="31" name="每节点部署 LMCache Server">
            <a:extLst>
              <a:ext uri="{FF2B5EF4-FFF2-40B4-BE49-F238E27FC236}">
                <a16:creationId xmlns:a16="http://schemas.microsoft.com/office/drawing/2014/main" id="{B41D11FA-17C0-2A66-7350-27BD2E001310}"/>
              </a:ext>
            </a:extLst>
          </p:cNvPr>
          <p:cNvSpPr>
            <a:spLocks noGrp="1"/>
          </p:cNvSpPr>
          <p:nvPr/>
        </p:nvSpPr>
        <p:spPr>
          <a:xfrm>
            <a:off x="8633046" y="2630848"/>
            <a:ext cx="2673707" cy="27569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76" b="0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每节点部署</a:t>
            </a:r>
            <a:r>
              <a:rPr sz="1600" b="0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sz="1600" b="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LMCache</a:t>
            </a:r>
            <a:r>
              <a:rPr sz="1600" b="0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Server</a:t>
            </a:r>
          </a:p>
        </p:txBody>
      </p:sp>
      <p:sp>
        <p:nvSpPr>
          <p:cNvPr id="32" name="矩形 34">
            <a:extLst>
              <a:ext uri="{FF2B5EF4-FFF2-40B4-BE49-F238E27FC236}">
                <a16:creationId xmlns:a16="http://schemas.microsoft.com/office/drawing/2014/main" id="{6398A0E6-F648-9CBE-EAD6-8FC67D44BDE9}"/>
              </a:ext>
            </a:extLst>
          </p:cNvPr>
          <p:cNvSpPr>
            <a:spLocks noGrp="1"/>
          </p:cNvSpPr>
          <p:nvPr/>
        </p:nvSpPr>
        <p:spPr>
          <a:xfrm>
            <a:off x="8075305" y="3693423"/>
            <a:ext cx="229996" cy="17231"/>
          </a:xfrm>
          <a:prstGeom prst="rect">
            <a:avLst/>
          </a:prstGeom>
          <a:solidFill>
            <a:srgbClr val="F0F5FA"/>
          </a:solidFill>
          <a:ln w="14288">
            <a:solidFill>
              <a:srgbClr val="91A9C2"/>
            </a:solidFill>
          </a:ln>
        </p:spPr>
        <p:txBody>
          <a:bodyPr/>
          <a:lstStyle/>
          <a:p>
            <a:endParaRPr lang="zh-CN" altLang="en-US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3" name="圆角矩形 35">
            <a:extLst>
              <a:ext uri="{FF2B5EF4-FFF2-40B4-BE49-F238E27FC236}">
                <a16:creationId xmlns:a16="http://schemas.microsoft.com/office/drawing/2014/main" id="{C0E5F338-CBD8-8CD4-FF77-A7FC76B523AD}"/>
              </a:ext>
            </a:extLst>
          </p:cNvPr>
          <p:cNvSpPr>
            <a:spLocks noGrp="1"/>
          </p:cNvSpPr>
          <p:nvPr/>
        </p:nvSpPr>
        <p:spPr>
          <a:xfrm>
            <a:off x="8305301" y="3182238"/>
            <a:ext cx="3162450" cy="976420"/>
          </a:xfrm>
          <a:prstGeom prst="roundRect">
            <a:avLst>
              <a:gd name="adj" fmla="val 4706"/>
            </a:avLst>
          </a:prstGeom>
          <a:solidFill>
            <a:srgbClr val="F0F5FA"/>
          </a:solidFill>
          <a:ln w="14288">
            <a:solidFill>
              <a:srgbClr val="91A9C2"/>
            </a:solidFill>
          </a:ln>
        </p:spPr>
        <p:txBody>
          <a:bodyPr/>
          <a:lstStyle/>
          <a:p>
            <a:endParaRPr lang="zh-CN" altLang="en-US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4" name="圆角矩形 36">
            <a:extLst>
              <a:ext uri="{FF2B5EF4-FFF2-40B4-BE49-F238E27FC236}">
                <a16:creationId xmlns:a16="http://schemas.microsoft.com/office/drawing/2014/main" id="{96026D86-66B6-0D44-435D-80023A31733D}"/>
              </a:ext>
            </a:extLst>
          </p:cNvPr>
          <p:cNvSpPr>
            <a:spLocks noGrp="1"/>
          </p:cNvSpPr>
          <p:nvPr/>
        </p:nvSpPr>
        <p:spPr>
          <a:xfrm>
            <a:off x="8472049" y="3343060"/>
            <a:ext cx="40249" cy="614570"/>
          </a:xfrm>
          <a:prstGeom prst="roundRect">
            <a:avLst>
              <a:gd name="adj" fmla="val 50000"/>
            </a:avLst>
          </a:prstGeom>
          <a:solidFill>
            <a:srgbClr val="D7ECF1"/>
          </a:solidFill>
          <a:ln w="14288">
            <a:solidFill>
              <a:srgbClr val="91A9C2"/>
            </a:solidFill>
          </a:ln>
        </p:spPr>
        <p:txBody>
          <a:bodyPr/>
          <a:lstStyle/>
          <a:p>
            <a:endParaRPr lang="zh-CN" altLang="en-US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5" name="ConfigMap + Monitor">
            <a:extLst>
              <a:ext uri="{FF2B5EF4-FFF2-40B4-BE49-F238E27FC236}">
                <a16:creationId xmlns:a16="http://schemas.microsoft.com/office/drawing/2014/main" id="{00094928-5B2B-A0A7-4434-A48292E58A0C}"/>
              </a:ext>
            </a:extLst>
          </p:cNvPr>
          <p:cNvSpPr>
            <a:spLocks noGrp="1"/>
          </p:cNvSpPr>
          <p:nvPr/>
        </p:nvSpPr>
        <p:spPr>
          <a:xfrm>
            <a:off x="8633046" y="3325829"/>
            <a:ext cx="2673707" cy="338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47" b="1" kern="0" spc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1" kern="0" spc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ConfigMap</a:t>
            </a:r>
            <a:r>
              <a:rPr sz="1600" b="1" kern="0" spc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 + Monitor</a:t>
            </a:r>
          </a:p>
        </p:txBody>
      </p:sp>
      <p:sp>
        <p:nvSpPr>
          <p:cNvPr id="36" name="配置管理与 Prometheus 监控">
            <a:extLst>
              <a:ext uri="{FF2B5EF4-FFF2-40B4-BE49-F238E27FC236}">
                <a16:creationId xmlns:a16="http://schemas.microsoft.com/office/drawing/2014/main" id="{405C5115-4A4A-4806-C1F7-4044456436BA}"/>
              </a:ext>
            </a:extLst>
          </p:cNvPr>
          <p:cNvSpPr>
            <a:spLocks noGrp="1"/>
          </p:cNvSpPr>
          <p:nvPr/>
        </p:nvSpPr>
        <p:spPr>
          <a:xfrm>
            <a:off x="8633046" y="3750859"/>
            <a:ext cx="2717034" cy="27569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76" b="0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配置管理与</a:t>
            </a:r>
            <a:r>
              <a:rPr sz="1600" b="0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Prometheus </a:t>
            </a:r>
            <a:r>
              <a:rPr sz="1600" b="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监控</a:t>
            </a:r>
            <a:endParaRPr sz="1600" b="0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7" name="矩形 65">
            <a:extLst>
              <a:ext uri="{FF2B5EF4-FFF2-40B4-BE49-F238E27FC236}">
                <a16:creationId xmlns:a16="http://schemas.microsoft.com/office/drawing/2014/main" id="{AB6EBE2D-2C02-D190-4339-48862FFB8F16}"/>
              </a:ext>
            </a:extLst>
          </p:cNvPr>
          <p:cNvSpPr>
            <a:spLocks noGrp="1"/>
          </p:cNvSpPr>
          <p:nvPr/>
        </p:nvSpPr>
        <p:spPr>
          <a:xfrm>
            <a:off x="8075305" y="4813434"/>
            <a:ext cx="229996" cy="17231"/>
          </a:xfrm>
          <a:prstGeom prst="rect">
            <a:avLst/>
          </a:prstGeom>
          <a:solidFill>
            <a:srgbClr val="F0F5FA"/>
          </a:solidFill>
          <a:ln w="14288">
            <a:solidFill>
              <a:srgbClr val="91A9C2"/>
            </a:solidFill>
          </a:ln>
        </p:spPr>
        <p:txBody>
          <a:bodyPr/>
          <a:lstStyle/>
          <a:p>
            <a:endParaRPr lang="zh-CN" altLang="en-US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8" name="圆角矩形 66">
            <a:extLst>
              <a:ext uri="{FF2B5EF4-FFF2-40B4-BE49-F238E27FC236}">
                <a16:creationId xmlns:a16="http://schemas.microsoft.com/office/drawing/2014/main" id="{6EAB4436-11B5-B0D2-8A84-2F10C8FEB31E}"/>
              </a:ext>
            </a:extLst>
          </p:cNvPr>
          <p:cNvSpPr>
            <a:spLocks noGrp="1"/>
          </p:cNvSpPr>
          <p:nvPr/>
        </p:nvSpPr>
        <p:spPr>
          <a:xfrm>
            <a:off x="8305301" y="4302249"/>
            <a:ext cx="3162450" cy="976420"/>
          </a:xfrm>
          <a:prstGeom prst="roundRect">
            <a:avLst>
              <a:gd name="adj" fmla="val 4706"/>
            </a:avLst>
          </a:prstGeom>
          <a:solidFill>
            <a:srgbClr val="F0F5FA"/>
          </a:solidFill>
          <a:ln w="14288">
            <a:solidFill>
              <a:srgbClr val="91A9C2"/>
            </a:solidFill>
          </a:ln>
        </p:spPr>
        <p:txBody>
          <a:bodyPr/>
          <a:lstStyle/>
          <a:p>
            <a:endParaRPr lang="zh-CN" altLang="en-US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9" name="圆角矩形 67">
            <a:extLst>
              <a:ext uri="{FF2B5EF4-FFF2-40B4-BE49-F238E27FC236}">
                <a16:creationId xmlns:a16="http://schemas.microsoft.com/office/drawing/2014/main" id="{A5DC0B07-E392-9EE4-A57B-3D01DB75D551}"/>
              </a:ext>
            </a:extLst>
          </p:cNvPr>
          <p:cNvSpPr>
            <a:spLocks noGrp="1"/>
          </p:cNvSpPr>
          <p:nvPr/>
        </p:nvSpPr>
        <p:spPr>
          <a:xfrm>
            <a:off x="8472049" y="4463071"/>
            <a:ext cx="40249" cy="614570"/>
          </a:xfrm>
          <a:prstGeom prst="roundRect">
            <a:avLst>
              <a:gd name="adj" fmla="val 50000"/>
            </a:avLst>
          </a:prstGeom>
          <a:solidFill>
            <a:srgbClr val="F8E5C6"/>
          </a:solidFill>
          <a:ln w="14288">
            <a:solidFill>
              <a:srgbClr val="91A9C2"/>
            </a:solidFill>
          </a:ln>
        </p:spPr>
        <p:txBody>
          <a:bodyPr/>
          <a:lstStyle/>
          <a:p>
            <a:endParaRPr lang="zh-CN" altLang="en-US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0" name="Webhook">
            <a:extLst>
              <a:ext uri="{FF2B5EF4-FFF2-40B4-BE49-F238E27FC236}">
                <a16:creationId xmlns:a16="http://schemas.microsoft.com/office/drawing/2014/main" id="{E01991AA-CA7A-0982-C0CE-23CF5A5EE504}"/>
              </a:ext>
            </a:extLst>
          </p:cNvPr>
          <p:cNvSpPr>
            <a:spLocks noGrp="1"/>
          </p:cNvSpPr>
          <p:nvPr/>
        </p:nvSpPr>
        <p:spPr>
          <a:xfrm>
            <a:off x="8633046" y="4445840"/>
            <a:ext cx="2673707" cy="3388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47" b="1" kern="0" spc="0">
                <a:solidFill>
                  <a:srgbClr val="A6651B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1" kern="0" spc="0" dirty="0">
                <a:solidFill>
                  <a:srgbClr val="A6651B"/>
                </a:solidFill>
                <a:latin typeface="Source Han Sans CN"/>
                <a:ea typeface="Source Han Sans CN"/>
                <a:cs typeface="Source Han Sans CN"/>
              </a:rPr>
              <a:t>Webhook</a:t>
            </a:r>
          </a:p>
        </p:txBody>
      </p:sp>
      <p:sp>
        <p:nvSpPr>
          <p:cNvPr id="41" name="可选注入 vLLM 连接">
            <a:extLst>
              <a:ext uri="{FF2B5EF4-FFF2-40B4-BE49-F238E27FC236}">
                <a16:creationId xmlns:a16="http://schemas.microsoft.com/office/drawing/2014/main" id="{33D0A740-C08D-D7DD-F6EF-B17DBAD39068}"/>
              </a:ext>
            </a:extLst>
          </p:cNvPr>
          <p:cNvSpPr>
            <a:spLocks noGrp="1"/>
          </p:cNvSpPr>
          <p:nvPr/>
        </p:nvSpPr>
        <p:spPr>
          <a:xfrm>
            <a:off x="8633046" y="4870870"/>
            <a:ext cx="2673707" cy="27569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176" b="0" kern="0" spc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00" b="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可选注入</a:t>
            </a:r>
            <a:r>
              <a:rPr sz="1600" b="0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sz="1600" b="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vLLM</a:t>
            </a:r>
            <a:r>
              <a:rPr sz="1600" b="0" kern="0" spc="0" dirty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sz="1600" b="0" kern="0" spc="0" dirty="0" err="1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连接</a:t>
            </a:r>
            <a:endParaRPr sz="1600" b="0" kern="0" spc="0" dirty="0">
              <a:solidFill>
                <a:srgbClr val="0A25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27ED3DF-ADAB-4DCF-9353-87248640DDFB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04    生产部署与可观测性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6D15-4A9F-1907-84B0-070756B25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圆角矩形 64">
            <a:extLst>
              <a:ext uri="{FF2B5EF4-FFF2-40B4-BE49-F238E27FC236}">
                <a16:creationId xmlns:a16="http://schemas.microsoft.com/office/drawing/2014/main" id="{268CDE95-29C3-B17E-0723-AF4A85C74FD0}"/>
              </a:ext>
            </a:extLst>
          </p:cNvPr>
          <p:cNvSpPr/>
          <p:nvPr/>
        </p:nvSpPr>
        <p:spPr>
          <a:xfrm>
            <a:off x="6048375" y="1300498"/>
            <a:ext cx="5779940" cy="350305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4" name="圆角矩形 63">
            <a:extLst>
              <a:ext uri="{FF2B5EF4-FFF2-40B4-BE49-F238E27FC236}">
                <a16:creationId xmlns:a16="http://schemas.microsoft.com/office/drawing/2014/main" id="{2256A879-4613-70BD-39F7-DA98804968E1}"/>
              </a:ext>
            </a:extLst>
          </p:cNvPr>
          <p:cNvSpPr/>
          <p:nvPr/>
        </p:nvSpPr>
        <p:spPr>
          <a:xfrm>
            <a:off x="221615" y="1313645"/>
            <a:ext cx="5779940" cy="350305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" name="文本占位符 2">
            <a:extLst>
              <a:ext uri="{FF2B5EF4-FFF2-40B4-BE49-F238E27FC236}">
                <a16:creationId xmlns:a16="http://schemas.microsoft.com/office/drawing/2014/main" id="{1E94A96E-C75B-22B6-E534-5724832A17B5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 dirty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可观测性指标</a:t>
            </a:r>
          </a:p>
        </p:txBody>
      </p:sp>
      <p:sp>
        <p:nvSpPr>
          <p:cNvPr id="8" name="矩形 5">
            <a:extLst>
              <a:ext uri="{FF2B5EF4-FFF2-40B4-BE49-F238E27FC236}">
                <a16:creationId xmlns:a16="http://schemas.microsoft.com/office/drawing/2014/main" id="{D2FA697B-2997-BA15-F4EF-2217979E6FF1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04    生产部署与可观测性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AA636E-A7E1-56BE-9A28-911606D7016A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51720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生产洞察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2959CD-E7BD-881A-CE01-AF8161E00E54}"/>
              </a:ext>
            </a:extLst>
          </p:cNvPr>
          <p:cNvSpPr>
            <a:spLocks noGrp="1"/>
          </p:cNvSpPr>
          <p:nvPr/>
        </p:nvSpPr>
        <p:spPr>
          <a:xfrm>
            <a:off x="6419850" y="1438275"/>
            <a:ext cx="5172075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25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性能调试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0ACFE555-3463-44AA-EF5A-BC81569BD1C1}"/>
              </a:ext>
            </a:extLst>
          </p:cNvPr>
          <p:cNvSpPr>
            <a:spLocks noGrp="1"/>
          </p:cNvSpPr>
          <p:nvPr/>
        </p:nvSpPr>
        <p:spPr>
          <a:xfrm>
            <a:off x="495300" y="2009775"/>
            <a:ext cx="2600325" cy="1209675"/>
          </a:xfrm>
          <a:prstGeom prst="roundRect">
            <a:avLst>
              <a:gd name="adj" fmla="val 9449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61C15FAF-8B40-62C6-9289-C378D6A2C20A}"/>
              </a:ext>
            </a:extLst>
          </p:cNvPr>
          <p:cNvSpPr>
            <a:spLocks noGrp="1"/>
          </p:cNvSpPr>
          <p:nvPr/>
        </p:nvSpPr>
        <p:spPr>
          <a:xfrm>
            <a:off x="1035685" y="2147820"/>
            <a:ext cx="23336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健康</a:t>
            </a:r>
            <a:r>
              <a:rPr lang="zh-CN" altLang="en-US" sz="2025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状态</a:t>
            </a:r>
            <a:endParaRPr sz="2025" b="1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A0843CA0-2E0B-F8E9-F702-34D466D601EF}"/>
              </a:ext>
            </a:extLst>
          </p:cNvPr>
          <p:cNvSpPr>
            <a:spLocks noGrp="1"/>
          </p:cNvSpPr>
          <p:nvPr/>
        </p:nvSpPr>
        <p:spPr>
          <a:xfrm>
            <a:off x="685800" y="2695575"/>
            <a:ext cx="2362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节点状态与核心指标</a:t>
            </a:r>
          </a:p>
        </p:txBody>
      </p:sp>
      <p:sp>
        <p:nvSpPr>
          <p:cNvPr id="40" name="圆角矩形 39">
            <a:extLst>
              <a:ext uri="{FF2B5EF4-FFF2-40B4-BE49-F238E27FC236}">
                <a16:creationId xmlns:a16="http://schemas.microsoft.com/office/drawing/2014/main" id="{BE614C0B-EFD9-3B04-5064-C9DA1D3FB1EC}"/>
              </a:ext>
            </a:extLst>
          </p:cNvPr>
          <p:cNvSpPr>
            <a:spLocks noGrp="1"/>
          </p:cNvSpPr>
          <p:nvPr/>
        </p:nvSpPr>
        <p:spPr>
          <a:xfrm>
            <a:off x="3228975" y="2009775"/>
            <a:ext cx="2600325" cy="1209675"/>
          </a:xfrm>
          <a:prstGeom prst="roundRect">
            <a:avLst>
              <a:gd name="adj" fmla="val 9449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711106B-8CA0-572F-1423-C056E9860EB1}"/>
              </a:ext>
            </a:extLst>
          </p:cNvPr>
          <p:cNvSpPr>
            <a:spLocks noGrp="1"/>
          </p:cNvSpPr>
          <p:nvPr/>
        </p:nvSpPr>
        <p:spPr>
          <a:xfrm>
            <a:off x="3768546" y="2147820"/>
            <a:ext cx="23336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分层容量</a:t>
            </a:r>
            <a:endParaRPr sz="2025" b="1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E066BE3-09BF-7872-2995-CD74C005CD18}"/>
              </a:ext>
            </a:extLst>
          </p:cNvPr>
          <p:cNvSpPr>
            <a:spLocks noGrp="1"/>
          </p:cNvSpPr>
          <p:nvPr/>
        </p:nvSpPr>
        <p:spPr>
          <a:xfrm>
            <a:off x="3419475" y="2695575"/>
            <a:ext cx="2362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GPU / DRAM 水位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83112E31-847A-C08E-92B6-562A816323F3}"/>
              </a:ext>
            </a:extLst>
          </p:cNvPr>
          <p:cNvSpPr>
            <a:spLocks noGrp="1"/>
          </p:cNvSpPr>
          <p:nvPr/>
        </p:nvSpPr>
        <p:spPr>
          <a:xfrm>
            <a:off x="495300" y="3390900"/>
            <a:ext cx="2600325" cy="1209675"/>
          </a:xfrm>
          <a:prstGeom prst="roundRect">
            <a:avLst>
              <a:gd name="adj" fmla="val 9449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E8E6F050-A3B8-BB66-8EB7-D676F05BF8E5}"/>
              </a:ext>
            </a:extLst>
          </p:cNvPr>
          <p:cNvSpPr>
            <a:spLocks noGrp="1"/>
          </p:cNvSpPr>
          <p:nvPr/>
        </p:nvSpPr>
        <p:spPr>
          <a:xfrm>
            <a:off x="1034871" y="3529616"/>
            <a:ext cx="23336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读写异常</a:t>
            </a:r>
            <a:endParaRPr sz="2025" b="1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4BCE2C4D-F46C-BC44-83F3-E4EFFFBB08C9}"/>
              </a:ext>
            </a:extLst>
          </p:cNvPr>
          <p:cNvSpPr>
            <a:spLocks noGrp="1"/>
          </p:cNvSpPr>
          <p:nvPr/>
        </p:nvSpPr>
        <p:spPr>
          <a:xfrm>
            <a:off x="685800" y="4076700"/>
            <a:ext cx="2362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错误码与失败链路</a:t>
            </a:r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9F1011DD-ECF1-FF24-869B-AB4B1181AF2E}"/>
              </a:ext>
            </a:extLst>
          </p:cNvPr>
          <p:cNvSpPr>
            <a:spLocks noGrp="1"/>
          </p:cNvSpPr>
          <p:nvPr/>
        </p:nvSpPr>
        <p:spPr>
          <a:xfrm>
            <a:off x="3228975" y="3390900"/>
            <a:ext cx="2600325" cy="1209675"/>
          </a:xfrm>
          <a:prstGeom prst="roundRect">
            <a:avLst>
              <a:gd name="adj" fmla="val 9449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DEFEEFA-D95A-D983-DAC6-B876D8D834F4}"/>
              </a:ext>
            </a:extLst>
          </p:cNvPr>
          <p:cNvSpPr>
            <a:spLocks noGrp="1"/>
          </p:cNvSpPr>
          <p:nvPr/>
        </p:nvSpPr>
        <p:spPr>
          <a:xfrm>
            <a:off x="3773241" y="3529616"/>
            <a:ext cx="23336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引擎拓扑</a:t>
            </a:r>
            <a:endParaRPr sz="2025" b="1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D38F3E27-E516-7F61-BDDA-C4B55E069C3A}"/>
              </a:ext>
            </a:extLst>
          </p:cNvPr>
          <p:cNvSpPr>
            <a:spLocks noGrp="1"/>
          </p:cNvSpPr>
          <p:nvPr/>
        </p:nvSpPr>
        <p:spPr>
          <a:xfrm>
            <a:off x="3419475" y="4076700"/>
            <a:ext cx="2362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在线节点 / 版本 / 负载</a:t>
            </a:r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86595A25-3748-28E9-80EB-1714A9966A2A}"/>
              </a:ext>
            </a:extLst>
          </p:cNvPr>
          <p:cNvSpPr>
            <a:spLocks noGrp="1"/>
          </p:cNvSpPr>
          <p:nvPr/>
        </p:nvSpPr>
        <p:spPr>
          <a:xfrm>
            <a:off x="6229350" y="2009775"/>
            <a:ext cx="2600325" cy="1209675"/>
          </a:xfrm>
          <a:prstGeom prst="roundRect">
            <a:avLst>
              <a:gd name="adj" fmla="val 9449"/>
            </a:avLst>
          </a:prstGeom>
          <a:solidFill>
            <a:srgbClr val="FFF9EC"/>
          </a:solidFill>
          <a:ln w="14288">
            <a:solidFill>
              <a:srgbClr val="E4D5B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322F0A0-8307-79D4-8E33-2EAE40FE7DD9}"/>
              </a:ext>
            </a:extLst>
          </p:cNvPr>
          <p:cNvSpPr>
            <a:spLocks noGrp="1"/>
          </p:cNvSpPr>
          <p:nvPr/>
        </p:nvSpPr>
        <p:spPr>
          <a:xfrm>
            <a:off x="6761015" y="2147820"/>
            <a:ext cx="23336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 dirty="0" err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缓存命中</a:t>
            </a:r>
            <a:endParaRPr sz="2025" b="1" dirty="0">
              <a:solidFill>
                <a:srgbClr val="B18B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F46D1EC5-09A4-F2A7-37FD-00A2B3F67033}"/>
              </a:ext>
            </a:extLst>
          </p:cNvPr>
          <p:cNvSpPr>
            <a:spLocks noGrp="1"/>
          </p:cNvSpPr>
          <p:nvPr/>
        </p:nvSpPr>
        <p:spPr>
          <a:xfrm>
            <a:off x="6419850" y="2695575"/>
            <a:ext cx="2362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命中趋势与利用率</a:t>
            </a: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D6A88C12-54B1-9B64-E650-DE0702C22675}"/>
              </a:ext>
            </a:extLst>
          </p:cNvPr>
          <p:cNvSpPr>
            <a:spLocks noGrp="1"/>
          </p:cNvSpPr>
          <p:nvPr/>
        </p:nvSpPr>
        <p:spPr>
          <a:xfrm>
            <a:off x="8963025" y="2009775"/>
            <a:ext cx="2600325" cy="1209675"/>
          </a:xfrm>
          <a:prstGeom prst="roundRect">
            <a:avLst>
              <a:gd name="adj" fmla="val 9449"/>
            </a:avLst>
          </a:prstGeom>
          <a:solidFill>
            <a:srgbClr val="FFF9EC"/>
          </a:solidFill>
          <a:ln w="14288">
            <a:solidFill>
              <a:srgbClr val="E4D5B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EEA41146-9B05-ACCA-CE87-1EB6CA4F4AB0}"/>
              </a:ext>
            </a:extLst>
          </p:cNvPr>
          <p:cNvSpPr>
            <a:spLocks noGrp="1"/>
          </p:cNvSpPr>
          <p:nvPr/>
        </p:nvSpPr>
        <p:spPr>
          <a:xfrm>
            <a:off x="9494690" y="2147820"/>
            <a:ext cx="23336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 dirty="0" err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生命周期</a:t>
            </a:r>
            <a:endParaRPr sz="2025" b="1" dirty="0">
              <a:solidFill>
                <a:srgbClr val="B18B40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640EAF6-0CBB-9D55-33EF-616F9763CBC1}"/>
              </a:ext>
            </a:extLst>
          </p:cNvPr>
          <p:cNvSpPr>
            <a:spLocks noGrp="1"/>
          </p:cNvSpPr>
          <p:nvPr/>
        </p:nvSpPr>
        <p:spPr>
          <a:xfrm>
            <a:off x="9153525" y="2695575"/>
            <a:ext cx="2362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创建 / 命中 / 淘汰</a:t>
            </a:r>
          </a:p>
        </p:txBody>
      </p:sp>
      <p:sp>
        <p:nvSpPr>
          <p:cNvPr id="55" name="圆角矩形 54">
            <a:extLst>
              <a:ext uri="{FF2B5EF4-FFF2-40B4-BE49-F238E27FC236}">
                <a16:creationId xmlns:a16="http://schemas.microsoft.com/office/drawing/2014/main" id="{900A1893-B0EA-C8ED-EA0A-EBD7D3B4C624}"/>
              </a:ext>
            </a:extLst>
          </p:cNvPr>
          <p:cNvSpPr>
            <a:spLocks noGrp="1"/>
          </p:cNvSpPr>
          <p:nvPr/>
        </p:nvSpPr>
        <p:spPr>
          <a:xfrm>
            <a:off x="6229350" y="3390900"/>
            <a:ext cx="2600325" cy="1209675"/>
          </a:xfrm>
          <a:prstGeom prst="roundRect">
            <a:avLst>
              <a:gd name="adj" fmla="val 9449"/>
            </a:avLst>
          </a:prstGeom>
          <a:solidFill>
            <a:srgbClr val="FFF9EC"/>
          </a:solidFill>
          <a:ln w="14288">
            <a:solidFill>
              <a:srgbClr val="E4D5B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6E088DC-11C6-38F1-D8CC-561F6E953301}"/>
              </a:ext>
            </a:extLst>
          </p:cNvPr>
          <p:cNvSpPr>
            <a:spLocks noGrp="1"/>
          </p:cNvSpPr>
          <p:nvPr/>
        </p:nvSpPr>
        <p:spPr>
          <a:xfrm>
            <a:off x="6761015" y="3528945"/>
            <a:ext cx="23336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冷热周转</a:t>
            </a: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0EFDE394-7F1D-5E11-3EFF-E003066DBBC7}"/>
              </a:ext>
            </a:extLst>
          </p:cNvPr>
          <p:cNvSpPr>
            <a:spLocks noGrp="1"/>
          </p:cNvSpPr>
          <p:nvPr/>
        </p:nvSpPr>
        <p:spPr>
          <a:xfrm>
            <a:off x="6419850" y="4076700"/>
            <a:ext cx="2362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淘汰至复用的间隔</a:t>
            </a:r>
          </a:p>
        </p:txBody>
      </p:sp>
      <p:sp>
        <p:nvSpPr>
          <p:cNvPr id="58" name="圆角矩形 57">
            <a:extLst>
              <a:ext uri="{FF2B5EF4-FFF2-40B4-BE49-F238E27FC236}">
                <a16:creationId xmlns:a16="http://schemas.microsoft.com/office/drawing/2014/main" id="{5A447998-0BF7-04AE-5A99-B88C3D319EEE}"/>
              </a:ext>
            </a:extLst>
          </p:cNvPr>
          <p:cNvSpPr>
            <a:spLocks noGrp="1"/>
          </p:cNvSpPr>
          <p:nvPr/>
        </p:nvSpPr>
        <p:spPr>
          <a:xfrm>
            <a:off x="8963025" y="3390900"/>
            <a:ext cx="2600325" cy="1209675"/>
          </a:xfrm>
          <a:prstGeom prst="roundRect">
            <a:avLst>
              <a:gd name="adj" fmla="val 9449"/>
            </a:avLst>
          </a:prstGeom>
          <a:solidFill>
            <a:srgbClr val="FFF9EC"/>
          </a:solidFill>
          <a:ln w="14288">
            <a:solidFill>
              <a:srgbClr val="E4D5B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D7121F0C-914C-38FA-1D3C-CFB93F5D9023}"/>
              </a:ext>
            </a:extLst>
          </p:cNvPr>
          <p:cNvSpPr>
            <a:spLocks noGrp="1"/>
          </p:cNvSpPr>
          <p:nvPr/>
        </p:nvSpPr>
        <p:spPr>
          <a:xfrm>
            <a:off x="9494690" y="3528945"/>
            <a:ext cx="233362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I/O 瓶颈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7D37CB0-F8DD-1A2B-3C44-2364AC882C33}"/>
              </a:ext>
            </a:extLst>
          </p:cNvPr>
          <p:cNvSpPr>
            <a:spLocks noGrp="1"/>
          </p:cNvSpPr>
          <p:nvPr/>
        </p:nvSpPr>
        <p:spPr>
          <a:xfrm>
            <a:off x="9153525" y="4076700"/>
            <a:ext cx="23622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IOPS / 吞吐 / 延迟</a:t>
            </a:r>
          </a:p>
        </p:txBody>
      </p:sp>
      <p:sp>
        <p:nvSpPr>
          <p:cNvPr id="61" name="圆角矩形 60">
            <a:extLst>
              <a:ext uri="{FF2B5EF4-FFF2-40B4-BE49-F238E27FC236}">
                <a16:creationId xmlns:a16="http://schemas.microsoft.com/office/drawing/2014/main" id="{88200936-EA04-CD03-0646-4CF8CBAA0EA1}"/>
              </a:ext>
            </a:extLst>
          </p:cNvPr>
          <p:cNvSpPr>
            <a:spLocks noGrp="1"/>
          </p:cNvSpPr>
          <p:nvPr/>
        </p:nvSpPr>
        <p:spPr>
          <a:xfrm>
            <a:off x="723900" y="4933950"/>
            <a:ext cx="10963275" cy="1186063"/>
          </a:xfrm>
          <a:prstGeom prst="roundRect">
            <a:avLst>
              <a:gd name="adj" fmla="val 15190"/>
            </a:avLst>
          </a:prstGeom>
          <a:solidFill>
            <a:srgbClr val="E8F0FA"/>
          </a:solidFill>
          <a:ln w="0">
            <a:noFill/>
          </a:ln>
        </p:spPr>
        <p:txBody>
          <a:bodyPr/>
          <a:lstStyle/>
          <a:p>
            <a:pPr>
              <a:lnSpc>
                <a:spcPct val="108000"/>
              </a:lnSpc>
            </a:pPr>
            <a:endParaRPr lang="zh-CN" altLang="en-US" dirty="0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5EFBBA5-45F4-DF07-9E45-52371C52E1A3}"/>
              </a:ext>
            </a:extLst>
          </p:cNvPr>
          <p:cNvSpPr>
            <a:spLocks noGrp="1"/>
          </p:cNvSpPr>
          <p:nvPr/>
        </p:nvSpPr>
        <p:spPr>
          <a:xfrm>
            <a:off x="723900" y="5048250"/>
            <a:ext cx="65722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Prometheus + OpenTelemetry</a:t>
            </a: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D2EA81CA-8FA8-B287-3FB6-C82829D8DED3}"/>
              </a:ext>
            </a:extLst>
          </p:cNvPr>
          <p:cNvSpPr>
            <a:spLocks noGrp="1"/>
          </p:cNvSpPr>
          <p:nvPr/>
        </p:nvSpPr>
        <p:spPr>
          <a:xfrm>
            <a:off x="6610350" y="5114925"/>
            <a:ext cx="4876800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Metrics / Logs / Traces 关联分析</a:t>
            </a:r>
          </a:p>
        </p:txBody>
      </p:sp>
      <p:pic>
        <p:nvPicPr>
          <p:cNvPr id="66" name="Graphic 438">
            <a:extLst>
              <a:ext uri="{FF2B5EF4-FFF2-40B4-BE49-F238E27FC236}">
                <a16:creationId xmlns:a16="http://schemas.microsoft.com/office/drawing/2014/main" id="{E8B0A827-C1D1-1837-FD7F-871B19E715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916" y="2139369"/>
            <a:ext cx="438955" cy="438955"/>
          </a:xfrm>
          <a:prstGeom prst="rect">
            <a:avLst/>
          </a:prstGeom>
        </p:spPr>
      </p:pic>
      <p:pic>
        <p:nvPicPr>
          <p:cNvPr id="67" name="Graphic 439">
            <a:extLst>
              <a:ext uri="{FF2B5EF4-FFF2-40B4-BE49-F238E27FC236}">
                <a16:creationId xmlns:a16="http://schemas.microsoft.com/office/drawing/2014/main" id="{2D402E3B-0AC0-4466-D5B2-7D6252BFF7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7272" y="2160230"/>
            <a:ext cx="384890" cy="384890"/>
          </a:xfrm>
          <a:prstGeom prst="rect">
            <a:avLst/>
          </a:prstGeom>
        </p:spPr>
      </p:pic>
      <p:pic>
        <p:nvPicPr>
          <p:cNvPr id="68" name="Graphic 440">
            <a:extLst>
              <a:ext uri="{FF2B5EF4-FFF2-40B4-BE49-F238E27FC236}">
                <a16:creationId xmlns:a16="http://schemas.microsoft.com/office/drawing/2014/main" id="{A45BE1A1-0972-B64C-54E8-BC06C618CB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0126" y="3555174"/>
            <a:ext cx="384890" cy="384890"/>
          </a:xfrm>
          <a:prstGeom prst="rect">
            <a:avLst/>
          </a:prstGeom>
        </p:spPr>
      </p:pic>
      <p:pic>
        <p:nvPicPr>
          <p:cNvPr id="69" name="Graphic 441">
            <a:extLst>
              <a:ext uri="{FF2B5EF4-FFF2-40B4-BE49-F238E27FC236}">
                <a16:creationId xmlns:a16="http://schemas.microsoft.com/office/drawing/2014/main" id="{8888551E-A3DE-0972-116D-8C0A55F5482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06662" y="3555041"/>
            <a:ext cx="384890" cy="384890"/>
          </a:xfrm>
          <a:prstGeom prst="rect">
            <a:avLst/>
          </a:prstGeom>
        </p:spPr>
      </p:pic>
      <p:pic>
        <p:nvPicPr>
          <p:cNvPr id="70" name="Graphic 442">
            <a:extLst>
              <a:ext uri="{FF2B5EF4-FFF2-40B4-BE49-F238E27FC236}">
                <a16:creationId xmlns:a16="http://schemas.microsoft.com/office/drawing/2014/main" id="{428FE0C2-9667-254F-EC49-22EBA02F16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21997" y="2129714"/>
            <a:ext cx="422445" cy="422445"/>
          </a:xfrm>
          <a:prstGeom prst="rect">
            <a:avLst/>
          </a:prstGeom>
        </p:spPr>
      </p:pic>
      <p:pic>
        <p:nvPicPr>
          <p:cNvPr id="71" name="Graphic 443">
            <a:extLst>
              <a:ext uri="{FF2B5EF4-FFF2-40B4-BE49-F238E27FC236}">
                <a16:creationId xmlns:a16="http://schemas.microsoft.com/office/drawing/2014/main" id="{723A6A0B-6ACD-E424-A2F9-273FD78AC9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65466" y="2142732"/>
            <a:ext cx="422445" cy="422445"/>
          </a:xfrm>
          <a:prstGeom prst="rect">
            <a:avLst/>
          </a:prstGeom>
        </p:spPr>
      </p:pic>
      <p:pic>
        <p:nvPicPr>
          <p:cNvPr id="72" name="Graphic 444">
            <a:extLst>
              <a:ext uri="{FF2B5EF4-FFF2-40B4-BE49-F238E27FC236}">
                <a16:creationId xmlns:a16="http://schemas.microsoft.com/office/drawing/2014/main" id="{0649B98B-F79F-BA22-B91F-2AAAC55504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321996" y="3528824"/>
            <a:ext cx="422445" cy="422445"/>
          </a:xfrm>
          <a:prstGeom prst="rect">
            <a:avLst/>
          </a:prstGeom>
        </p:spPr>
      </p:pic>
      <p:pic>
        <p:nvPicPr>
          <p:cNvPr id="73" name="Graphic 445">
            <a:extLst>
              <a:ext uri="{FF2B5EF4-FFF2-40B4-BE49-F238E27FC236}">
                <a16:creationId xmlns:a16="http://schemas.microsoft.com/office/drawing/2014/main" id="{24451A8A-3981-62AE-DFF1-322E45E80C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94640" y="3528825"/>
            <a:ext cx="422445" cy="422445"/>
          </a:xfrm>
          <a:prstGeom prst="rect">
            <a:avLst/>
          </a:prstGeom>
        </p:spPr>
      </p:pic>
      <p:sp>
        <p:nvSpPr>
          <p:cNvPr id="74" name="文本框 73">
            <a:extLst>
              <a:ext uri="{FF2B5EF4-FFF2-40B4-BE49-F238E27FC236}">
                <a16:creationId xmlns:a16="http://schemas.microsoft.com/office/drawing/2014/main" id="{A804375F-5A85-F107-4654-3018A328DE44}"/>
              </a:ext>
            </a:extLst>
          </p:cNvPr>
          <p:cNvSpPr txBox="1"/>
          <p:nvPr/>
        </p:nvSpPr>
        <p:spPr>
          <a:xfrm>
            <a:off x="787891" y="5664021"/>
            <a:ext cx="10637949" cy="669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50" dirty="0">
                <a:solidFill>
                  <a:srgbClr val="285091"/>
                </a:solidFill>
                <a:latin typeface="Source Han Sans CN"/>
              </a:rPr>
              <a:t>集成业界标准协议，实现</a:t>
            </a:r>
            <a:r>
              <a:rPr lang="en" altLang="zh-CN" sz="1350" dirty="0">
                <a:solidFill>
                  <a:srgbClr val="285091"/>
                </a:solidFill>
                <a:latin typeface="Source Han Sans CN"/>
              </a:rPr>
              <a:t>Metrics</a:t>
            </a:r>
            <a:r>
              <a:rPr lang="zh-CN" altLang="en" sz="1350" dirty="0">
                <a:solidFill>
                  <a:srgbClr val="285091"/>
                </a:solidFill>
                <a:latin typeface="Source Han Sans CN"/>
              </a:rPr>
              <a:t>、</a:t>
            </a:r>
            <a:r>
              <a:rPr lang="en" altLang="zh-CN" sz="1350" dirty="0">
                <a:solidFill>
                  <a:srgbClr val="285091"/>
                </a:solidFill>
                <a:latin typeface="Source Han Sans CN"/>
              </a:rPr>
              <a:t>Logs</a:t>
            </a:r>
            <a:r>
              <a:rPr lang="zh-CN" altLang="en" sz="1350" dirty="0">
                <a:solidFill>
                  <a:srgbClr val="285091"/>
                </a:solidFill>
                <a:latin typeface="Source Han Sans CN"/>
              </a:rPr>
              <a:t>、</a:t>
            </a:r>
            <a:r>
              <a:rPr lang="en" altLang="zh-CN" sz="1350" dirty="0">
                <a:solidFill>
                  <a:srgbClr val="285091"/>
                </a:solidFill>
                <a:latin typeface="Source Han Sans CN"/>
              </a:rPr>
              <a:t>Traces</a:t>
            </a:r>
            <a:r>
              <a:rPr lang="zh-CN" altLang="en-US" sz="1350" dirty="0">
                <a:solidFill>
                  <a:srgbClr val="285091"/>
                </a:solidFill>
                <a:latin typeface="Source Han Sans CN"/>
              </a:rPr>
              <a:t>的统一采集、存储与关联分析，为高并发生产环境提供高可用、高扩展的监控基础设施支撑。</a:t>
            </a:r>
          </a:p>
          <a:p>
            <a:endParaRPr kumimoji="1" lang="zh-CN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98178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圆角矩形 2">
            <a:extLst>
              <a:ext uri="{FF2B5EF4-FFF2-40B4-BE49-F238E27FC236}">
                <a16:creationId xmlns:a16="http://schemas.microsoft.com/office/drawing/2014/main" id="{00638C33-2F5A-4B8E-98C8-77BA29AA761B}"/>
              </a:ext>
            </a:extLst>
          </p:cNvPr>
          <p:cNvSpPr>
            <a:spLocks noGrp="1"/>
          </p:cNvSpPr>
          <p:nvPr/>
        </p:nvSpPr>
        <p:spPr>
          <a:xfrm>
            <a:off x="1924936" y="5919787"/>
            <a:ext cx="8582025" cy="409575"/>
          </a:xfrm>
          <a:prstGeom prst="roundRect">
            <a:avLst>
              <a:gd name="adj" fmla="val 27907"/>
            </a:avLst>
          </a:prstGeom>
          <a:solidFill>
            <a:srgbClr val="F1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 dirty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命中率、缓存水位与请求延迟</a:t>
            </a:r>
          </a:p>
        </p:txBody>
      </p:sp>
      <p:pic>
        <p:nvPicPr>
          <p:cNvPr id="5" name="图片 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21194" y="1381125"/>
            <a:ext cx="9243359" cy="4149448"/>
          </a:xfrm>
          <a:prstGeom prst="rect">
            <a:avLst/>
          </a:prstGeom>
        </p:spPr>
      </p:pic>
      <p:sp>
        <p:nvSpPr>
          <p:cNvPr id="7" name="矩形 4">
            <a:extLst>
              <a:ext uri="{FF2B5EF4-FFF2-40B4-BE49-F238E27FC236}">
                <a16:creationId xmlns:a16="http://schemas.microsoft.com/office/drawing/2014/main" id="{23D8F1B3-4A2D-485E-9EC5-503BE8FEAED9}"/>
              </a:ext>
            </a:extLst>
          </p:cNvPr>
          <p:cNvSpPr>
            <a:spLocks noGrp="1"/>
          </p:cNvSpPr>
          <p:nvPr/>
        </p:nvSpPr>
        <p:spPr>
          <a:xfrm>
            <a:off x="3152775" y="5962650"/>
            <a:ext cx="847725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35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截图为原材料监控示例；命中增加仍需结合加载延迟解释请求收益</a:t>
            </a:r>
          </a:p>
        </p:txBody>
      </p:sp>
      <p:sp>
        <p:nvSpPr>
          <p:cNvPr id="8" name="矩形 5">
            <a:extLst>
              <a:ext uri="{FF2B5EF4-FFF2-40B4-BE49-F238E27FC236}">
                <a16:creationId xmlns:a16="http://schemas.microsoft.com/office/drawing/2014/main" id="{2C726D10-CD59-4A51-8549-FE5028BBECE9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04    生产部署与可观测性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故障隔离与恢复验证</a:t>
            </a:r>
          </a:p>
        </p:txBody>
      </p:sp>
      <p:sp>
        <p:nvSpPr>
          <p:cNvPr id="8" name="矩形 9">
            <a:extLst>
              <a:ext uri="{FF2B5EF4-FFF2-40B4-BE49-F238E27FC236}">
                <a16:creationId xmlns:a16="http://schemas.microsoft.com/office/drawing/2014/main" id="{47C2879B-7B64-46D8-BA1C-6C14FE4B6894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04    生产部署与可观测性</a:t>
            </a:r>
          </a:p>
        </p:txBody>
      </p: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7476B8BF-FA04-4F98-CB38-27AEDFA29471}"/>
              </a:ext>
            </a:extLst>
          </p:cNvPr>
          <p:cNvSpPr>
            <a:spLocks noGrp="1"/>
          </p:cNvSpPr>
          <p:nvPr/>
        </p:nvSpPr>
        <p:spPr>
          <a:xfrm>
            <a:off x="495300" y="1543050"/>
            <a:ext cx="5448300" cy="3657600"/>
          </a:xfrm>
          <a:prstGeom prst="roundRect">
            <a:avLst>
              <a:gd name="adj" fmla="val 3125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EBC04307-D1AF-33A1-8162-3337E510F927}"/>
              </a:ext>
            </a:extLst>
          </p:cNvPr>
          <p:cNvSpPr>
            <a:spLocks noGrp="1"/>
          </p:cNvSpPr>
          <p:nvPr/>
        </p:nvSpPr>
        <p:spPr>
          <a:xfrm>
            <a:off x="6229350" y="1543050"/>
            <a:ext cx="5448300" cy="3657600"/>
          </a:xfrm>
          <a:prstGeom prst="roundRect">
            <a:avLst>
              <a:gd name="adj" fmla="val 3125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A4874EB-56B2-A976-449C-A3E67ABB4917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51054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01  vLLM 主进程崩溃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B968976-767A-962F-10F4-03C0592F9FFF}"/>
              </a:ext>
            </a:extLst>
          </p:cNvPr>
          <p:cNvSpPr>
            <a:spLocks noGrp="1"/>
          </p:cNvSpPr>
          <p:nvPr/>
        </p:nvSpPr>
        <p:spPr>
          <a:xfrm>
            <a:off x="6419850" y="1714500"/>
            <a:ext cx="5105400" cy="419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02  LMCache 服务宕机</a:t>
            </a:r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FA60E92A-F6F2-A36D-FCA4-49939EF5FB38}"/>
              </a:ext>
            </a:extLst>
          </p:cNvPr>
          <p:cNvSpPr>
            <a:spLocks noGrp="1"/>
          </p:cNvSpPr>
          <p:nvPr/>
        </p:nvSpPr>
        <p:spPr>
          <a:xfrm>
            <a:off x="685800" y="2371725"/>
            <a:ext cx="2343150" cy="1238250"/>
          </a:xfrm>
          <a:prstGeom prst="roundRect">
            <a:avLst>
              <a:gd name="adj" fmla="val 9231"/>
            </a:avLst>
          </a:prstGeom>
          <a:solidFill>
            <a:srgbClr val="FBEFEE"/>
          </a:solidFill>
          <a:ln w="14288">
            <a:solidFill>
              <a:srgbClr val="E9BEB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B174C4A-D5D9-8486-5DEC-CA8DA61AA1E5}"/>
              </a:ext>
            </a:extLst>
          </p:cNvPr>
          <p:cNvSpPr>
            <a:spLocks noGrp="1"/>
          </p:cNvSpPr>
          <p:nvPr/>
        </p:nvSpPr>
        <p:spPr>
          <a:xfrm>
            <a:off x="828675" y="2533650"/>
            <a:ext cx="21145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B7474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1">
                <a:solidFill>
                  <a:srgbClr val="B74743"/>
                </a:solidFill>
                <a:latin typeface="Source Han Sans CN"/>
                <a:ea typeface="Source Han Sans CN"/>
                <a:cs typeface="Source Han Sans CN"/>
              </a:rPr>
              <a:t>vLLM 进程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E6F6C19-22AB-6F75-48D0-EBDCAB984582}"/>
              </a:ext>
            </a:extLst>
          </p:cNvPr>
          <p:cNvSpPr>
            <a:spLocks noGrp="1"/>
          </p:cNvSpPr>
          <p:nvPr/>
        </p:nvSpPr>
        <p:spPr>
          <a:xfrm>
            <a:off x="847725" y="3057525"/>
            <a:ext cx="33337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B7474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25" b="1">
                <a:solidFill>
                  <a:srgbClr val="B74743"/>
                </a:solidFill>
                <a:latin typeface="Source Han Sans CN"/>
                <a:ea typeface="Source Han Sans CN"/>
                <a:cs typeface="Source Han Sans CN"/>
              </a:rPr>
              <a:t>×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E24CD73-6712-FE03-A12C-3B44E4F413E3}"/>
              </a:ext>
            </a:extLst>
          </p:cNvPr>
          <p:cNvSpPr>
            <a:spLocks noGrp="1"/>
          </p:cNvSpPr>
          <p:nvPr/>
        </p:nvSpPr>
        <p:spPr>
          <a:xfrm>
            <a:off x="1209675" y="3114675"/>
            <a:ext cx="172402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B7474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B74743"/>
                </a:solidFill>
                <a:latin typeface="Source Han Sans CN"/>
                <a:ea typeface="Source Han Sans CN"/>
                <a:cs typeface="Source Han Sans CN"/>
              </a:rPr>
              <a:t>异常退出</a:t>
            </a:r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0380B5EC-AFB2-9444-9DB1-A06865EE82D0}"/>
              </a:ext>
            </a:extLst>
          </p:cNvPr>
          <p:cNvSpPr>
            <a:spLocks noGrp="1"/>
          </p:cNvSpPr>
          <p:nvPr/>
        </p:nvSpPr>
        <p:spPr>
          <a:xfrm>
            <a:off x="3371850" y="2371725"/>
            <a:ext cx="2343150" cy="1238250"/>
          </a:xfrm>
          <a:prstGeom prst="roundRect">
            <a:avLst>
              <a:gd name="adj" fmla="val 9231"/>
            </a:avLst>
          </a:prstGeom>
          <a:solidFill>
            <a:srgbClr val="EAF5F0"/>
          </a:solidFill>
          <a:ln w="14288">
            <a:solidFill>
              <a:srgbClr val="B7DCC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DA3BDEA-B969-8E16-5EF8-DE2580E5A558}"/>
              </a:ext>
            </a:extLst>
          </p:cNvPr>
          <p:cNvSpPr>
            <a:spLocks noGrp="1"/>
          </p:cNvSpPr>
          <p:nvPr/>
        </p:nvSpPr>
        <p:spPr>
          <a:xfrm>
            <a:off x="3514725" y="2533650"/>
            <a:ext cx="21145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25816A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1">
                <a:solidFill>
                  <a:srgbClr val="25816A"/>
                </a:solidFill>
                <a:latin typeface="Source Han Sans CN"/>
                <a:ea typeface="Source Han Sans CN"/>
                <a:cs typeface="Source Han Sans CN"/>
              </a:rPr>
              <a:t>LMCache 进程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107C66C-7DD5-A13C-81D4-EE6CAB73EBAB}"/>
              </a:ext>
            </a:extLst>
          </p:cNvPr>
          <p:cNvSpPr>
            <a:spLocks noGrp="1"/>
          </p:cNvSpPr>
          <p:nvPr/>
        </p:nvSpPr>
        <p:spPr>
          <a:xfrm>
            <a:off x="3533775" y="3057525"/>
            <a:ext cx="33337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25816A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25" b="1">
                <a:solidFill>
                  <a:srgbClr val="25816A"/>
                </a:solidFill>
                <a:latin typeface="Source Han Sans CN"/>
                <a:ea typeface="Source Han Sans CN"/>
                <a:cs typeface="Source Han Sans CN"/>
              </a:rPr>
              <a:t>✓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47BFDAF-A7DB-E9AE-DDF3-4F2A65683868}"/>
              </a:ext>
            </a:extLst>
          </p:cNvPr>
          <p:cNvSpPr>
            <a:spLocks noGrp="1"/>
          </p:cNvSpPr>
          <p:nvPr/>
        </p:nvSpPr>
        <p:spPr>
          <a:xfrm>
            <a:off x="3895725" y="3114675"/>
            <a:ext cx="172402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25816A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25816A"/>
                </a:solidFill>
                <a:latin typeface="Source Han Sans CN"/>
                <a:ea typeface="Source Han Sans CN"/>
                <a:cs typeface="Source Han Sans CN"/>
              </a:rPr>
              <a:t>独立运行</a:t>
            </a:r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FBF72760-0AB5-D076-17E8-8F0637268B70}"/>
              </a:ext>
            </a:extLst>
          </p:cNvPr>
          <p:cNvSpPr>
            <a:spLocks noGrp="1"/>
          </p:cNvSpPr>
          <p:nvPr/>
        </p:nvSpPr>
        <p:spPr>
          <a:xfrm>
            <a:off x="6419850" y="2371725"/>
            <a:ext cx="2343150" cy="1238250"/>
          </a:xfrm>
          <a:prstGeom prst="roundRect">
            <a:avLst>
              <a:gd name="adj" fmla="val 9231"/>
            </a:avLst>
          </a:prstGeom>
          <a:solidFill>
            <a:srgbClr val="EAF5F0"/>
          </a:solidFill>
          <a:ln w="14288">
            <a:solidFill>
              <a:srgbClr val="B7DCCD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F4FB2DB-D3DE-FAB7-276E-E276EEFFB5EA}"/>
              </a:ext>
            </a:extLst>
          </p:cNvPr>
          <p:cNvSpPr>
            <a:spLocks noGrp="1"/>
          </p:cNvSpPr>
          <p:nvPr/>
        </p:nvSpPr>
        <p:spPr>
          <a:xfrm>
            <a:off x="6562725" y="2533650"/>
            <a:ext cx="21145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25816A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1">
                <a:solidFill>
                  <a:srgbClr val="25816A"/>
                </a:solidFill>
                <a:latin typeface="Source Han Sans CN"/>
                <a:ea typeface="Source Han Sans CN"/>
                <a:cs typeface="Source Han Sans CN"/>
              </a:rPr>
              <a:t>vLLM 进程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2224E15-FD04-E536-A410-05C9A663A115}"/>
              </a:ext>
            </a:extLst>
          </p:cNvPr>
          <p:cNvSpPr>
            <a:spLocks noGrp="1"/>
          </p:cNvSpPr>
          <p:nvPr/>
        </p:nvSpPr>
        <p:spPr>
          <a:xfrm>
            <a:off x="6581775" y="3057525"/>
            <a:ext cx="33337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25816A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25" b="1">
                <a:solidFill>
                  <a:srgbClr val="25816A"/>
                </a:solidFill>
                <a:latin typeface="Source Han Sans CN"/>
                <a:ea typeface="Source Han Sans CN"/>
                <a:cs typeface="Source Han Sans CN"/>
              </a:rPr>
              <a:t>✓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F17BFC64-7532-D3EB-6771-16F1EC139327}"/>
              </a:ext>
            </a:extLst>
          </p:cNvPr>
          <p:cNvSpPr>
            <a:spLocks noGrp="1"/>
          </p:cNvSpPr>
          <p:nvPr/>
        </p:nvSpPr>
        <p:spPr>
          <a:xfrm>
            <a:off x="6943725" y="3114675"/>
            <a:ext cx="172402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25816A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25816A"/>
                </a:solidFill>
                <a:latin typeface="Source Han Sans CN"/>
                <a:ea typeface="Source Han Sans CN"/>
                <a:cs typeface="Source Han Sans CN"/>
              </a:rPr>
              <a:t>降级继续推理</a:t>
            </a:r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E0282E8D-2BB2-7D92-F73B-F69244286D1F}"/>
              </a:ext>
            </a:extLst>
          </p:cNvPr>
          <p:cNvSpPr>
            <a:spLocks noGrp="1"/>
          </p:cNvSpPr>
          <p:nvPr/>
        </p:nvSpPr>
        <p:spPr>
          <a:xfrm>
            <a:off x="9105900" y="2371725"/>
            <a:ext cx="2343150" cy="1238250"/>
          </a:xfrm>
          <a:prstGeom prst="roundRect">
            <a:avLst>
              <a:gd name="adj" fmla="val 9231"/>
            </a:avLst>
          </a:prstGeom>
          <a:solidFill>
            <a:srgbClr val="FBEFEE"/>
          </a:solidFill>
          <a:ln w="14288">
            <a:solidFill>
              <a:srgbClr val="E9BEBC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94402D7-5A9E-A1F0-C737-1984E859D68D}"/>
              </a:ext>
            </a:extLst>
          </p:cNvPr>
          <p:cNvSpPr>
            <a:spLocks noGrp="1"/>
          </p:cNvSpPr>
          <p:nvPr/>
        </p:nvSpPr>
        <p:spPr>
          <a:xfrm>
            <a:off x="9248775" y="2533650"/>
            <a:ext cx="211455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1">
                <a:solidFill>
                  <a:srgbClr val="B7474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1">
                <a:solidFill>
                  <a:srgbClr val="B74743"/>
                </a:solidFill>
                <a:latin typeface="Source Han Sans CN"/>
                <a:ea typeface="Source Han Sans CN"/>
                <a:cs typeface="Source Han Sans CN"/>
              </a:rPr>
              <a:t>LMCache 进程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1301E33-BCCF-B32E-7F89-4336CA1A6FAA}"/>
              </a:ext>
            </a:extLst>
          </p:cNvPr>
          <p:cNvSpPr>
            <a:spLocks noGrp="1"/>
          </p:cNvSpPr>
          <p:nvPr/>
        </p:nvSpPr>
        <p:spPr>
          <a:xfrm>
            <a:off x="9267825" y="3057525"/>
            <a:ext cx="333375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B7474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25" b="1">
                <a:solidFill>
                  <a:srgbClr val="B74743"/>
                </a:solidFill>
                <a:latin typeface="Source Han Sans CN"/>
                <a:ea typeface="Source Han Sans CN"/>
                <a:cs typeface="Source Han Sans CN"/>
              </a:rPr>
              <a:t>×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141BBBBA-3C2F-2159-E375-0B9FCAAB1440}"/>
              </a:ext>
            </a:extLst>
          </p:cNvPr>
          <p:cNvSpPr>
            <a:spLocks noGrp="1"/>
          </p:cNvSpPr>
          <p:nvPr/>
        </p:nvSpPr>
        <p:spPr>
          <a:xfrm>
            <a:off x="9629775" y="3114675"/>
            <a:ext cx="172402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B74743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00" b="0">
                <a:solidFill>
                  <a:srgbClr val="B74743"/>
                </a:solidFill>
                <a:latin typeface="Source Han Sans CN"/>
                <a:ea typeface="Source Han Sans CN"/>
                <a:cs typeface="Source Han Sans CN"/>
              </a:rPr>
              <a:t>超时 / 不可用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5DCB3955-A78A-04DA-EA92-E699365C9039}"/>
              </a:ext>
            </a:extLst>
          </p:cNvPr>
          <p:cNvSpPr>
            <a:spLocks noGrp="1"/>
          </p:cNvSpPr>
          <p:nvPr/>
        </p:nvSpPr>
        <p:spPr>
          <a:xfrm>
            <a:off x="3533775" y="3743325"/>
            <a:ext cx="23622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5816A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>
                <a:solidFill>
                  <a:srgbClr val="25816A"/>
                </a:solidFill>
                <a:latin typeface="Source Han Sans CN"/>
                <a:ea typeface="Source Han Sans CN"/>
                <a:cs typeface="Source Han Sans CN"/>
              </a:rPr>
              <a:t>缓存继续驻留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8880E4FD-1C8C-FF2A-ADC1-85A369CC2F6D}"/>
              </a:ext>
            </a:extLst>
          </p:cNvPr>
          <p:cNvSpPr>
            <a:spLocks noGrp="1"/>
          </p:cNvSpPr>
          <p:nvPr/>
        </p:nvSpPr>
        <p:spPr>
          <a:xfrm>
            <a:off x="695325" y="4181475"/>
            <a:ext cx="11049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恢复路径</a:t>
            </a:r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D5447D2F-BEAB-BC51-7A67-265F0EBC4709}"/>
              </a:ext>
            </a:extLst>
          </p:cNvPr>
          <p:cNvSpPr>
            <a:spLocks noGrp="1"/>
          </p:cNvSpPr>
          <p:nvPr/>
        </p:nvSpPr>
        <p:spPr>
          <a:xfrm>
            <a:off x="1828800" y="4133850"/>
            <a:ext cx="142875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A50BFEE-B596-2F4E-01AE-7F12DB51EA01}"/>
              </a:ext>
            </a:extLst>
          </p:cNvPr>
          <p:cNvSpPr>
            <a:spLocks noGrp="1"/>
          </p:cNvSpPr>
          <p:nvPr/>
        </p:nvSpPr>
        <p:spPr>
          <a:xfrm>
            <a:off x="2024063" y="4217581"/>
            <a:ext cx="12858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引擎重启</a:t>
            </a:r>
            <a:endParaRPr sz="1650" b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38" name="右箭头 37">
            <a:extLst>
              <a:ext uri="{FF2B5EF4-FFF2-40B4-BE49-F238E27FC236}">
                <a16:creationId xmlns:a16="http://schemas.microsoft.com/office/drawing/2014/main" id="{E0A56393-6962-4A4F-EC0A-F87BC5028D24}"/>
              </a:ext>
            </a:extLst>
          </p:cNvPr>
          <p:cNvSpPr>
            <a:spLocks noGrp="1"/>
          </p:cNvSpPr>
          <p:nvPr/>
        </p:nvSpPr>
        <p:spPr>
          <a:xfrm>
            <a:off x="3333750" y="4295775"/>
            <a:ext cx="247650" cy="180975"/>
          </a:xfrm>
          <a:prstGeom prst="rightArrow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DCACAFD0-1525-64C2-2A9C-B1AD238B6B5B}"/>
              </a:ext>
            </a:extLst>
          </p:cNvPr>
          <p:cNvSpPr>
            <a:spLocks noGrp="1"/>
          </p:cNvSpPr>
          <p:nvPr/>
        </p:nvSpPr>
        <p:spPr>
          <a:xfrm>
            <a:off x="3676650" y="4133850"/>
            <a:ext cx="2028825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14DA72E-177B-D690-11B0-5CFA0E3B21EE}"/>
              </a:ext>
            </a:extLst>
          </p:cNvPr>
          <p:cNvSpPr>
            <a:spLocks noGrp="1"/>
          </p:cNvSpPr>
          <p:nvPr/>
        </p:nvSpPr>
        <p:spPr>
          <a:xfrm>
            <a:off x="3924300" y="4225334"/>
            <a:ext cx="18669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注册后复用</a:t>
            </a:r>
            <a:r>
              <a:rPr sz="1650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 KV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43F4E30-5F14-7D26-C556-D01EEFF32F54}"/>
              </a:ext>
            </a:extLst>
          </p:cNvPr>
          <p:cNvSpPr>
            <a:spLocks noGrp="1"/>
          </p:cNvSpPr>
          <p:nvPr/>
        </p:nvSpPr>
        <p:spPr>
          <a:xfrm>
            <a:off x="9305925" y="3743325"/>
            <a:ext cx="21240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25816A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1">
                <a:solidFill>
                  <a:srgbClr val="25816A"/>
                </a:solidFill>
                <a:latin typeface="Source Han Sans CN"/>
                <a:ea typeface="Source Han Sans CN"/>
                <a:cs typeface="Source Han Sans CN"/>
              </a:rPr>
              <a:t>缓存服务恢复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972E8A91-01C9-52C0-0C3F-558446AE6288}"/>
              </a:ext>
            </a:extLst>
          </p:cNvPr>
          <p:cNvSpPr>
            <a:spLocks noGrp="1"/>
          </p:cNvSpPr>
          <p:nvPr/>
        </p:nvSpPr>
        <p:spPr>
          <a:xfrm>
            <a:off x="6429375" y="4181475"/>
            <a:ext cx="11049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57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恢复路径</a:t>
            </a:r>
          </a:p>
        </p:txBody>
      </p:sp>
      <p:sp>
        <p:nvSpPr>
          <p:cNvPr id="43" name="圆角矩形 42">
            <a:extLst>
              <a:ext uri="{FF2B5EF4-FFF2-40B4-BE49-F238E27FC236}">
                <a16:creationId xmlns:a16="http://schemas.microsoft.com/office/drawing/2014/main" id="{DFC2D12A-0FF4-F84F-9181-7A4097C0CF7D}"/>
              </a:ext>
            </a:extLst>
          </p:cNvPr>
          <p:cNvSpPr>
            <a:spLocks noGrp="1"/>
          </p:cNvSpPr>
          <p:nvPr/>
        </p:nvSpPr>
        <p:spPr>
          <a:xfrm>
            <a:off x="7562850" y="4133850"/>
            <a:ext cx="146685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6E1D865-B821-C941-2A92-5B0E5B8DB375}"/>
              </a:ext>
            </a:extLst>
          </p:cNvPr>
          <p:cNvSpPr>
            <a:spLocks noGrp="1"/>
          </p:cNvSpPr>
          <p:nvPr/>
        </p:nvSpPr>
        <p:spPr>
          <a:xfrm>
            <a:off x="7748588" y="4204069"/>
            <a:ext cx="131445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重新连接</a:t>
            </a:r>
            <a:endParaRPr sz="1650" b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5" name="右箭头 44">
            <a:extLst>
              <a:ext uri="{FF2B5EF4-FFF2-40B4-BE49-F238E27FC236}">
                <a16:creationId xmlns:a16="http://schemas.microsoft.com/office/drawing/2014/main" id="{20AAA040-C01A-C116-C49C-324484FFCC67}"/>
              </a:ext>
            </a:extLst>
          </p:cNvPr>
          <p:cNvSpPr>
            <a:spLocks noGrp="1"/>
          </p:cNvSpPr>
          <p:nvPr/>
        </p:nvSpPr>
        <p:spPr>
          <a:xfrm>
            <a:off x="9115425" y="4295775"/>
            <a:ext cx="247650" cy="180975"/>
          </a:xfrm>
          <a:prstGeom prst="rightArrow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ACCFD0F2-09D6-60F5-EFDC-F7DBA5059EAB}"/>
              </a:ext>
            </a:extLst>
          </p:cNvPr>
          <p:cNvSpPr>
            <a:spLocks noGrp="1"/>
          </p:cNvSpPr>
          <p:nvPr/>
        </p:nvSpPr>
        <p:spPr>
          <a:xfrm>
            <a:off x="9448800" y="4133850"/>
            <a:ext cx="2000250" cy="51435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E13F6B24-FD56-DBE3-D374-0C3B5A7C6B8A}"/>
              </a:ext>
            </a:extLst>
          </p:cNvPr>
          <p:cNvSpPr>
            <a:spLocks noGrp="1"/>
          </p:cNvSpPr>
          <p:nvPr/>
        </p:nvSpPr>
        <p:spPr>
          <a:xfrm>
            <a:off x="9629775" y="4200525"/>
            <a:ext cx="1857375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650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恢复共享缓存</a:t>
            </a:r>
            <a:endParaRPr sz="1650" b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C0AE3A3B-5CEA-0B3E-8761-0706C5D2EADD}"/>
              </a:ext>
            </a:extLst>
          </p:cNvPr>
          <p:cNvSpPr>
            <a:spLocks noGrp="1"/>
          </p:cNvSpPr>
          <p:nvPr/>
        </p:nvSpPr>
        <p:spPr>
          <a:xfrm>
            <a:off x="1785937" y="5410200"/>
            <a:ext cx="8582025" cy="438150"/>
          </a:xfrm>
          <a:prstGeom prst="roundRect">
            <a:avLst>
              <a:gd name="adj" fmla="val 26087"/>
            </a:avLst>
          </a:prstGeom>
          <a:solidFill>
            <a:srgbClr val="E8F0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38B57079-9B4B-31D9-4F4D-C48524189DFD}"/>
              </a:ext>
            </a:extLst>
          </p:cNvPr>
          <p:cNvSpPr>
            <a:spLocks noGrp="1"/>
          </p:cNvSpPr>
          <p:nvPr/>
        </p:nvSpPr>
        <p:spPr>
          <a:xfrm>
            <a:off x="4067175" y="5438775"/>
            <a:ext cx="69342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进程隔离</a:t>
            </a:r>
            <a:r>
              <a:rPr sz="1950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  +  </a:t>
            </a:r>
            <a:r>
              <a:rPr sz="1950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故障降级</a:t>
            </a:r>
            <a:r>
              <a:rPr sz="1950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  +  </a:t>
            </a:r>
            <a:r>
              <a:rPr sz="1950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恢复验证</a:t>
            </a:r>
            <a:endParaRPr sz="1950" b="1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D6A0D645-4228-E22D-1435-B64691917458}"/>
              </a:ext>
            </a:extLst>
          </p:cNvPr>
          <p:cNvSpPr>
            <a:spLocks noGrp="1"/>
          </p:cNvSpPr>
          <p:nvPr/>
        </p:nvSpPr>
        <p:spPr>
          <a:xfrm>
            <a:off x="1804987" y="5959549"/>
            <a:ext cx="8582025" cy="409575"/>
          </a:xfrm>
          <a:prstGeom prst="roundRect">
            <a:avLst>
              <a:gd name="adj" fmla="val 27907"/>
            </a:avLst>
          </a:prstGeom>
          <a:solidFill>
            <a:srgbClr val="F2F6F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93F5D2E-E5D5-4BD4-9139-AF03C4691454}"/>
              </a:ext>
            </a:extLst>
          </p:cNvPr>
          <p:cNvSpPr>
            <a:spLocks noGrp="1"/>
          </p:cNvSpPr>
          <p:nvPr/>
        </p:nvSpPr>
        <p:spPr>
          <a:xfrm>
            <a:off x="3248025" y="5981700"/>
            <a:ext cx="82486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KV </a:t>
            </a:r>
            <a:r>
              <a:rPr sz="1425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复用需满足兼容条件；降级与重连行为按版本、配置及故障测试确认</a:t>
            </a:r>
            <a:endParaRPr sz="1425" b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C2D13-7D41-4400-7CBF-CC71B1882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63">
            <a:extLst>
              <a:ext uri="{FF2B5EF4-FFF2-40B4-BE49-F238E27FC236}">
                <a16:creationId xmlns:a16="http://schemas.microsoft.com/office/drawing/2014/main" id="{011E168C-225A-32BD-65FA-870437FE5A06}"/>
              </a:ext>
            </a:extLst>
          </p:cNvPr>
          <p:cNvGrpSpPr/>
          <p:nvPr/>
        </p:nvGrpSpPr>
        <p:grpSpPr>
          <a:xfrm>
            <a:off x="1748367" y="2996671"/>
            <a:ext cx="2120900" cy="864658"/>
            <a:chOff x="657" y="7220"/>
            <a:chExt cx="2721" cy="794"/>
          </a:xfrm>
        </p:grpSpPr>
        <p:sp>
          <p:nvSpPr>
            <p:cNvPr id="3" name="矩形 64">
              <a:extLst>
                <a:ext uri="{FF2B5EF4-FFF2-40B4-BE49-F238E27FC236}">
                  <a16:creationId xmlns:a16="http://schemas.microsoft.com/office/drawing/2014/main" id="{5E5965F9-8F20-8359-4806-311E5B2B5703}"/>
                </a:ext>
              </a:extLst>
            </p:cNvPr>
            <p:cNvSpPr/>
            <p:nvPr userDrawn="1"/>
          </p:nvSpPr>
          <p:spPr>
            <a:xfrm>
              <a:off x="657" y="7221"/>
              <a:ext cx="2721" cy="793"/>
            </a:xfrm>
            <a:prstGeom prst="rect">
              <a:avLst/>
            </a:prstGeom>
            <a:solidFill>
              <a:srgbClr val="FFD9D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 Bold" panose="020B0800000000000000" charset="-122"/>
                <a:ea typeface="Source Han Sans CN Bold" panose="020B0800000000000000" charset="-122"/>
                <a:cs typeface="Arial Regular" panose="020B0604020202090204" charset="0"/>
                <a:sym typeface="+mn-ea"/>
              </a:endParaRPr>
            </a:p>
          </p:txBody>
        </p:sp>
        <p:sp>
          <p:nvSpPr>
            <p:cNvPr id="4" name="单圆角矩形 65">
              <a:extLst>
                <a:ext uri="{FF2B5EF4-FFF2-40B4-BE49-F238E27FC236}">
                  <a16:creationId xmlns:a16="http://schemas.microsoft.com/office/drawing/2014/main" id="{8287A593-7C14-5A23-2F17-CC0CABAB9B16}"/>
                </a:ext>
              </a:extLst>
            </p:cNvPr>
            <p:cNvSpPr/>
            <p:nvPr userDrawn="1"/>
          </p:nvSpPr>
          <p:spPr>
            <a:xfrm>
              <a:off x="657" y="7220"/>
              <a:ext cx="2721" cy="794"/>
            </a:xfrm>
            <a:prstGeom prst="round1Rect">
              <a:avLst>
                <a:gd name="adj" fmla="val 50000"/>
              </a:avLst>
            </a:prstGeom>
            <a:gradFill>
              <a:gsLst>
                <a:gs pos="100000">
                  <a:srgbClr val="285091"/>
                </a:gs>
                <a:gs pos="50000">
                  <a:srgbClr val="6292BF"/>
                </a:gs>
                <a:gs pos="0">
                  <a:srgbClr val="91D2DD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marL="0" indent="0" algn="l">
                <a:buNone/>
              </a:pPr>
              <a:r>
                <a:rPr kumimoji="1" lang="zh-CN" altLang="en-US" sz="26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      </a:t>
              </a:r>
              <a:r>
                <a:rPr kumimoji="1" lang="en-US" altLang="zh-CN" sz="5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ource Han Sans CN Bold" panose="020B0800000000000000" charset="-122"/>
                  <a:ea typeface="Source Han Sans CN Bold" panose="020B0800000000000000" charset="-122"/>
                  <a:cs typeface="Arial Regular" panose="020B0604020202090204" charset="0"/>
                  <a:sym typeface="+mn-ea"/>
                </a:rPr>
                <a:t>06</a:t>
              </a:r>
            </a:p>
          </p:txBody>
        </p:sp>
      </p:grpSp>
      <p:sp>
        <p:nvSpPr>
          <p:cNvPr id="5" name="文本占位符 2">
            <a:extLst>
              <a:ext uri="{FF2B5EF4-FFF2-40B4-BE49-F238E27FC236}">
                <a16:creationId xmlns:a16="http://schemas.microsoft.com/office/drawing/2014/main" id="{7DA89DF7-6165-2CFA-19AB-37AE47432872}"/>
              </a:ext>
            </a:extLst>
          </p:cNvPr>
          <p:cNvSpPr>
            <a:spLocks noGrp="1"/>
          </p:cNvSpPr>
          <p:nvPr/>
        </p:nvSpPr>
        <p:spPr>
          <a:xfrm>
            <a:off x="4635795" y="2571750"/>
            <a:ext cx="7000875" cy="171450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defRPr>
            </a:lvl1pPr>
          </a:lstStyle>
          <a:p>
            <a:pPr algn="l"/>
            <a:r>
              <a:rPr lang="zh-CN" altLang="en-US" sz="4000" b="0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ource Han Sans CN" panose="020B0604020202090204" pitchFamily="34" charset="0"/>
                <a:ea typeface="Source Han Sans CN" panose="020B0502040204020203" charset="-122"/>
                <a:cs typeface="Source Han Sans CN" panose="020B0604020202090204" pitchFamily="34" charset="0"/>
              </a:rPr>
              <a:t>社区与未来方向</a:t>
            </a:r>
          </a:p>
        </p:txBody>
      </p:sp>
    </p:spTree>
    <p:extLst>
      <p:ext uri="{BB962C8B-B14F-4D97-AF65-F5344CB8AC3E}">
        <p14:creationId xmlns:p14="http://schemas.microsoft.com/office/powerpoint/2010/main" val="38272883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 dirty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未来展望</a:t>
            </a:r>
          </a:p>
        </p:txBody>
      </p:sp>
      <p:sp>
        <p:nvSpPr>
          <p:cNvPr id="10" name="矩形 7">
            <a:extLst>
              <a:ext uri="{FF2B5EF4-FFF2-40B4-BE49-F238E27FC236}">
                <a16:creationId xmlns:a16="http://schemas.microsoft.com/office/drawing/2014/main" id="{5DA33FC2-4F21-40AC-B1AF-259C3EA820B5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06    社区与未来方向</a:t>
            </a:r>
          </a:p>
        </p:txBody>
      </p:sp>
      <p:cxnSp>
        <p:nvCxnSpPr>
          <p:cNvPr id="21" name="Google Shape;147;p16">
            <a:extLst>
              <a:ext uri="{FF2B5EF4-FFF2-40B4-BE49-F238E27FC236}">
                <a16:creationId xmlns:a16="http://schemas.microsoft.com/office/drawing/2014/main" id="{C8D2E045-16DB-80B3-674B-27149B844E6F}"/>
              </a:ext>
            </a:extLst>
          </p:cNvPr>
          <p:cNvCxnSpPr/>
          <p:nvPr/>
        </p:nvCxnSpPr>
        <p:spPr>
          <a:xfrm>
            <a:off x="998069" y="5506262"/>
            <a:ext cx="10641200" cy="0"/>
          </a:xfrm>
          <a:prstGeom prst="straightConnector1">
            <a:avLst/>
          </a:prstGeom>
          <a:ln w="14300" cap="flat">
            <a:solidFill>
              <a:srgbClr val="A5A5A5"/>
            </a:solidFill>
            <a:prstDash val="solid"/>
            <a:miter/>
            <a:headEnd type="none" w="sm" len="sm"/>
            <a:tailEnd type="stealth" w="lg" len="lg"/>
          </a:ln>
        </p:spPr>
      </p:cxnSp>
      <p:cxnSp>
        <p:nvCxnSpPr>
          <p:cNvPr id="22" name="Google Shape;148;p16">
            <a:extLst>
              <a:ext uri="{FF2B5EF4-FFF2-40B4-BE49-F238E27FC236}">
                <a16:creationId xmlns:a16="http://schemas.microsoft.com/office/drawing/2014/main" id="{37A9003F-2B6A-AE7C-4DD5-2BEE36883B99}"/>
              </a:ext>
            </a:extLst>
          </p:cNvPr>
          <p:cNvCxnSpPr/>
          <p:nvPr/>
        </p:nvCxnSpPr>
        <p:spPr>
          <a:xfrm rot="10800000">
            <a:off x="998069" y="2096670"/>
            <a:ext cx="0" cy="3418000"/>
          </a:xfrm>
          <a:prstGeom prst="straightConnector1">
            <a:avLst/>
          </a:prstGeom>
          <a:ln w="14300" cap="flat">
            <a:solidFill>
              <a:srgbClr val="A5A5A5"/>
            </a:solidFill>
            <a:prstDash val="solid"/>
            <a:miter/>
            <a:headEnd type="none" w="sm" len="sm"/>
            <a:tailEnd type="stealth" w="lg" len="lg"/>
          </a:ln>
        </p:spPr>
      </p:cxnSp>
      <p:sp>
        <p:nvSpPr>
          <p:cNvPr id="23" name="Google Shape;149;p16">
            <a:extLst>
              <a:ext uri="{FF2B5EF4-FFF2-40B4-BE49-F238E27FC236}">
                <a16:creationId xmlns:a16="http://schemas.microsoft.com/office/drawing/2014/main" id="{9313A2AC-7531-1208-8858-574A3DD76D62}"/>
              </a:ext>
            </a:extLst>
          </p:cNvPr>
          <p:cNvSpPr>
            <a:spLocks noGrp="1"/>
          </p:cNvSpPr>
          <p:nvPr/>
        </p:nvSpPr>
        <p:spPr>
          <a:xfrm rot="2485124">
            <a:off x="1104717" y="4521587"/>
            <a:ext cx="1639163" cy="318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465" b="0" i="0" u="none" cap="none">
                <a:solidFill>
                  <a:srgbClr val="7F7F7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Paged attention</a:t>
            </a:r>
            <a:endParaRPr/>
          </a:p>
        </p:txBody>
      </p:sp>
      <p:sp>
        <p:nvSpPr>
          <p:cNvPr id="24" name="Google Shape;150;p16">
            <a:extLst>
              <a:ext uri="{FF2B5EF4-FFF2-40B4-BE49-F238E27FC236}">
                <a16:creationId xmlns:a16="http://schemas.microsoft.com/office/drawing/2014/main" id="{9F5C4336-0E6E-2B7A-37AA-0CAD963E0915}"/>
              </a:ext>
            </a:extLst>
          </p:cNvPr>
          <p:cNvSpPr>
            <a:spLocks noGrp="1"/>
          </p:cNvSpPr>
          <p:nvPr/>
        </p:nvSpPr>
        <p:spPr>
          <a:xfrm rot="2484601">
            <a:off x="2200677" y="4314723"/>
            <a:ext cx="1702944" cy="318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465" b="0" i="0" u="none" cap="none">
                <a:solidFill>
                  <a:srgbClr val="7F7F7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CPU offloading</a:t>
            </a:r>
            <a:endParaRPr/>
          </a:p>
        </p:txBody>
      </p:sp>
      <p:sp>
        <p:nvSpPr>
          <p:cNvPr id="25" name="Google Shape;151;p16">
            <a:extLst>
              <a:ext uri="{FF2B5EF4-FFF2-40B4-BE49-F238E27FC236}">
                <a16:creationId xmlns:a16="http://schemas.microsoft.com/office/drawing/2014/main" id="{058A807B-BD73-67C1-9D85-36E83276F093}"/>
              </a:ext>
            </a:extLst>
          </p:cNvPr>
          <p:cNvSpPr>
            <a:spLocks noGrp="1"/>
          </p:cNvSpPr>
          <p:nvPr/>
        </p:nvSpPr>
        <p:spPr>
          <a:xfrm rot="2485016">
            <a:off x="2977474" y="4261953"/>
            <a:ext cx="1502569" cy="318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465" b="0" i="0" u="none" cap="none">
                <a:solidFill>
                  <a:srgbClr val="7F7F7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P2P sharing</a:t>
            </a:r>
            <a:endParaRPr/>
          </a:p>
        </p:txBody>
      </p:sp>
      <p:sp>
        <p:nvSpPr>
          <p:cNvPr id="26" name="Google Shape;152;p16">
            <a:extLst>
              <a:ext uri="{FF2B5EF4-FFF2-40B4-BE49-F238E27FC236}">
                <a16:creationId xmlns:a16="http://schemas.microsoft.com/office/drawing/2014/main" id="{453401AF-15D9-035B-5930-80FDAEDB8E8B}"/>
              </a:ext>
            </a:extLst>
          </p:cNvPr>
          <p:cNvSpPr>
            <a:spLocks noGrp="1"/>
          </p:cNvSpPr>
          <p:nvPr/>
        </p:nvSpPr>
        <p:spPr>
          <a:xfrm rot="2484739">
            <a:off x="1985078" y="4504331"/>
            <a:ext cx="1247519" cy="318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465" b="0" i="0" u="none" cap="none">
                <a:solidFill>
                  <a:srgbClr val="7F7F7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PD disagg.</a:t>
            </a:r>
            <a:endParaRPr/>
          </a:p>
        </p:txBody>
      </p:sp>
      <p:sp>
        <p:nvSpPr>
          <p:cNvPr id="27" name="Google Shape;153;p16">
            <a:extLst>
              <a:ext uri="{FF2B5EF4-FFF2-40B4-BE49-F238E27FC236}">
                <a16:creationId xmlns:a16="http://schemas.microsoft.com/office/drawing/2014/main" id="{94574645-694E-E9C6-CD18-CB71353465AD}"/>
              </a:ext>
            </a:extLst>
          </p:cNvPr>
          <p:cNvSpPr>
            <a:spLocks noGrp="1"/>
          </p:cNvSpPr>
          <p:nvPr/>
        </p:nvSpPr>
        <p:spPr>
          <a:xfrm rot="2484772">
            <a:off x="3371139" y="4143521"/>
            <a:ext cx="1966499" cy="318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465" b="0" i="0" u="none" cap="none">
                <a:solidFill>
                  <a:srgbClr val="7F7F7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Remote storage</a:t>
            </a:r>
            <a:endParaRPr/>
          </a:p>
        </p:txBody>
      </p:sp>
      <p:sp>
        <p:nvSpPr>
          <p:cNvPr id="28" name="Google Shape;154;p16">
            <a:extLst>
              <a:ext uri="{FF2B5EF4-FFF2-40B4-BE49-F238E27FC236}">
                <a16:creationId xmlns:a16="http://schemas.microsoft.com/office/drawing/2014/main" id="{EBA4D7C9-C5FB-216C-2499-8787E9D6A542}"/>
              </a:ext>
            </a:extLst>
          </p:cNvPr>
          <p:cNvSpPr>
            <a:spLocks noGrp="1"/>
          </p:cNvSpPr>
          <p:nvPr/>
        </p:nvSpPr>
        <p:spPr>
          <a:xfrm rot="2484642">
            <a:off x="6194539" y="3471896"/>
            <a:ext cx="2192183" cy="4000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00C368"/>
              </a:buClr>
              <a:buSzPts val="1400"/>
              <a:buFont typeface="Arial" panose="020B0604020202090204"/>
              <a:buNone/>
            </a:pPr>
            <a:r>
              <a:rPr sz="2000" b="1" i="0" u="none" cap="none">
                <a:solidFill>
                  <a:srgbClr val="00C36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Semantic reuse</a:t>
            </a:r>
            <a:endParaRPr/>
          </a:p>
        </p:txBody>
      </p:sp>
      <p:sp>
        <p:nvSpPr>
          <p:cNvPr id="29" name="Google Shape;155;p16">
            <a:extLst>
              <a:ext uri="{FF2B5EF4-FFF2-40B4-BE49-F238E27FC236}">
                <a16:creationId xmlns:a16="http://schemas.microsoft.com/office/drawing/2014/main" id="{8F131074-7FB1-BF3C-1C83-F266F0B98046}"/>
              </a:ext>
            </a:extLst>
          </p:cNvPr>
          <p:cNvSpPr>
            <a:spLocks noGrp="1"/>
          </p:cNvSpPr>
          <p:nvPr/>
        </p:nvSpPr>
        <p:spPr>
          <a:xfrm rot="2484573">
            <a:off x="6034131" y="3032848"/>
            <a:ext cx="3015685" cy="4000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00C368"/>
              </a:buClr>
              <a:buSzPts val="1400"/>
              <a:buFont typeface="Arial" panose="020B0604020202090204"/>
              <a:buNone/>
            </a:pPr>
            <a:r>
              <a:rPr sz="2000" b="1" i="0" u="none" cap="none">
                <a:solidFill>
                  <a:srgbClr val="00C36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Cross-model reuse</a:t>
            </a:r>
            <a:endParaRPr/>
          </a:p>
        </p:txBody>
      </p:sp>
      <p:sp>
        <p:nvSpPr>
          <p:cNvPr id="30" name="Google Shape;156;p16">
            <a:extLst>
              <a:ext uri="{FF2B5EF4-FFF2-40B4-BE49-F238E27FC236}">
                <a16:creationId xmlns:a16="http://schemas.microsoft.com/office/drawing/2014/main" id="{0A83D39C-76F6-C5E6-C18E-737989100A4D}"/>
              </a:ext>
            </a:extLst>
          </p:cNvPr>
          <p:cNvSpPr>
            <a:spLocks noGrp="1"/>
          </p:cNvSpPr>
          <p:nvPr/>
        </p:nvSpPr>
        <p:spPr>
          <a:xfrm rot="2484517">
            <a:off x="6923121" y="2790749"/>
            <a:ext cx="2952225" cy="4000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00C368"/>
              </a:buClr>
              <a:buSzPts val="1400"/>
              <a:buFont typeface="Arial" panose="020B0604020202090204"/>
              <a:buNone/>
            </a:pPr>
            <a:r>
              <a:rPr sz="2000" b="1" i="0" u="none" cap="none">
                <a:solidFill>
                  <a:srgbClr val="00C36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Trainable KV cache</a:t>
            </a:r>
            <a:endParaRPr/>
          </a:p>
        </p:txBody>
      </p:sp>
      <p:sp>
        <p:nvSpPr>
          <p:cNvPr id="31" name="Google Shape;157;p16">
            <a:extLst>
              <a:ext uri="{FF2B5EF4-FFF2-40B4-BE49-F238E27FC236}">
                <a16:creationId xmlns:a16="http://schemas.microsoft.com/office/drawing/2014/main" id="{6337C9DE-BCE7-C750-6BEF-44376B3211EC}"/>
              </a:ext>
            </a:extLst>
          </p:cNvPr>
          <p:cNvSpPr>
            <a:spLocks noGrp="1"/>
          </p:cNvSpPr>
          <p:nvPr/>
        </p:nvSpPr>
        <p:spPr>
          <a:xfrm rot="2484176">
            <a:off x="8063861" y="2321450"/>
            <a:ext cx="2710563" cy="4000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00C368"/>
              </a:buClr>
              <a:buSzPts val="1400"/>
              <a:buFont typeface="Arial" panose="020B0604020202090204"/>
              <a:buNone/>
            </a:pPr>
            <a:r>
              <a:rPr sz="2000" b="1" i="0" u="none" cap="none">
                <a:solidFill>
                  <a:srgbClr val="00C36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Attention steering</a:t>
            </a:r>
            <a:endParaRPr/>
          </a:p>
        </p:txBody>
      </p:sp>
      <p:sp>
        <p:nvSpPr>
          <p:cNvPr id="32" name="Google Shape;158;p16">
            <a:extLst>
              <a:ext uri="{FF2B5EF4-FFF2-40B4-BE49-F238E27FC236}">
                <a16:creationId xmlns:a16="http://schemas.microsoft.com/office/drawing/2014/main" id="{1026D901-7354-BE5E-BE5B-DA3501849AC7}"/>
              </a:ext>
            </a:extLst>
          </p:cNvPr>
          <p:cNvSpPr>
            <a:spLocks noGrp="1"/>
          </p:cNvSpPr>
          <p:nvPr/>
        </p:nvSpPr>
        <p:spPr>
          <a:xfrm rot="2484657">
            <a:off x="5654288" y="3624420"/>
            <a:ext cx="2146177" cy="4000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00C368"/>
              </a:buClr>
              <a:buSzPts val="1400"/>
              <a:buFont typeface="Arial" panose="020B0604020202090204"/>
              <a:buNone/>
            </a:pPr>
            <a:r>
              <a:rPr sz="2000" b="1" i="0" u="none" cap="none">
                <a:solidFill>
                  <a:srgbClr val="00C36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Partial reuse</a:t>
            </a:r>
            <a:endParaRPr/>
          </a:p>
        </p:txBody>
      </p:sp>
      <p:sp>
        <p:nvSpPr>
          <p:cNvPr id="33" name="Google Shape;159;p16">
            <a:extLst>
              <a:ext uri="{FF2B5EF4-FFF2-40B4-BE49-F238E27FC236}">
                <a16:creationId xmlns:a16="http://schemas.microsoft.com/office/drawing/2014/main" id="{835EAB89-79F2-43D0-893B-279B1A9B32E0}"/>
              </a:ext>
            </a:extLst>
          </p:cNvPr>
          <p:cNvSpPr>
            <a:spLocks noGrp="1"/>
          </p:cNvSpPr>
          <p:nvPr/>
        </p:nvSpPr>
        <p:spPr>
          <a:xfrm rot="-5400000">
            <a:off x="-373237" y="3614604"/>
            <a:ext cx="2163600" cy="502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665" b="0" i="0" u="none" cap="none">
                <a:solidFill>
                  <a:srgbClr val="7F7F7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Performance</a:t>
            </a:r>
            <a:endParaRPr sz="2135" b="0" i="0" u="none" cap="none">
              <a:solidFill>
                <a:srgbClr val="7F7F7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Google Shape;160;p16">
            <a:extLst>
              <a:ext uri="{FF2B5EF4-FFF2-40B4-BE49-F238E27FC236}">
                <a16:creationId xmlns:a16="http://schemas.microsoft.com/office/drawing/2014/main" id="{13D11DB0-A281-FB50-4B2D-F299B9BB3965}"/>
              </a:ext>
            </a:extLst>
          </p:cNvPr>
          <p:cNvSpPr>
            <a:spLocks noGrp="1"/>
          </p:cNvSpPr>
          <p:nvPr/>
        </p:nvSpPr>
        <p:spPr>
          <a:xfrm>
            <a:off x="1003773" y="3184436"/>
            <a:ext cx="23008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 dirty="0">
                <a:solidFill>
                  <a:srgbClr val="7F7F7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Reuse KV cache to skip compute</a:t>
            </a:r>
            <a:endParaRPr sz="1865" b="0" i="0" u="none" cap="none" dirty="0">
              <a:solidFill>
                <a:srgbClr val="7F7F7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5" name="Google Shape;161;p16">
            <a:extLst>
              <a:ext uri="{FF2B5EF4-FFF2-40B4-BE49-F238E27FC236}">
                <a16:creationId xmlns:a16="http://schemas.microsoft.com/office/drawing/2014/main" id="{9EAB844A-963B-9DD6-5CCD-0AE5364D2FB1}"/>
              </a:ext>
            </a:extLst>
          </p:cNvPr>
          <p:cNvSpPr>
            <a:spLocks noGrp="1"/>
          </p:cNvSpPr>
          <p:nvPr/>
        </p:nvSpPr>
        <p:spPr>
          <a:xfrm rot="2485009">
            <a:off x="7367810" y="2520246"/>
            <a:ext cx="2981297" cy="4000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00C368"/>
              </a:buClr>
              <a:buSzPts val="1400"/>
              <a:buFont typeface="Arial" panose="020B0604020202090204"/>
              <a:buNone/>
            </a:pPr>
            <a:r>
              <a:rPr sz="2000" b="1" i="0" u="none" cap="none">
                <a:solidFill>
                  <a:srgbClr val="00C36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KV cache for retrieval</a:t>
            </a:r>
            <a:endParaRPr/>
          </a:p>
        </p:txBody>
      </p:sp>
      <p:sp>
        <p:nvSpPr>
          <p:cNvPr id="36" name="Google Shape;162;p16">
            <a:extLst>
              <a:ext uri="{FF2B5EF4-FFF2-40B4-BE49-F238E27FC236}">
                <a16:creationId xmlns:a16="http://schemas.microsoft.com/office/drawing/2014/main" id="{B206B4E7-41C7-FC65-3A55-99700455CC53}"/>
              </a:ext>
            </a:extLst>
          </p:cNvPr>
          <p:cNvSpPr>
            <a:spLocks noGrp="1"/>
          </p:cNvSpPr>
          <p:nvPr/>
        </p:nvSpPr>
        <p:spPr>
          <a:xfrm rot="-2044746">
            <a:off x="10413140" y="2588374"/>
            <a:ext cx="588217" cy="42052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00C368"/>
              </a:buClr>
              <a:buSzPts val="1400"/>
              <a:buFont typeface="Calibri"/>
              <a:buNone/>
            </a:pPr>
            <a:r>
              <a:rPr sz="2135" b="1" i="0" u="none" cap="none">
                <a:solidFill>
                  <a:srgbClr val="00C368"/>
                </a:solidFill>
                <a:latin typeface="Calibri"/>
                <a:ea typeface="Calibri"/>
                <a:cs typeface="Calibri"/>
              </a:rPr>
              <a:t>…</a:t>
            </a:r>
            <a:endParaRPr/>
          </a:p>
        </p:txBody>
      </p:sp>
      <p:sp>
        <p:nvSpPr>
          <p:cNvPr id="37" name="Google Shape;163;p16">
            <a:extLst>
              <a:ext uri="{FF2B5EF4-FFF2-40B4-BE49-F238E27FC236}">
                <a16:creationId xmlns:a16="http://schemas.microsoft.com/office/drawing/2014/main" id="{4C6EF97F-B628-A082-9581-6AE392C7CB78}"/>
              </a:ext>
            </a:extLst>
          </p:cNvPr>
          <p:cNvSpPr>
            <a:spLocks noGrp="1"/>
          </p:cNvSpPr>
          <p:nvPr/>
        </p:nvSpPr>
        <p:spPr>
          <a:xfrm>
            <a:off x="1334009" y="3255612"/>
            <a:ext cx="9766401" cy="2174443"/>
          </a:xfrm>
          <a:custGeom>
            <a:avLst/>
            <a:gdLst/>
            <a:ahLst/>
            <a:cxnLst/>
            <a:rect l="l" t="t" r="r" b="b"/>
            <a:pathLst>
              <a:path w="6766560" h="3213463">
                <a:moveTo>
                  <a:pt x="0" y="3213463"/>
                </a:moveTo>
                <a:cubicBezTo>
                  <a:pt x="1486988" y="3028406"/>
                  <a:pt x="2973977" y="2843349"/>
                  <a:pt x="4101737" y="2307772"/>
                </a:cubicBezTo>
                <a:cubicBezTo>
                  <a:pt x="5229497" y="1772195"/>
                  <a:pt x="5998028" y="886097"/>
                  <a:pt x="6766560" y="0"/>
                </a:cubicBezTo>
              </a:path>
            </a:pathLst>
          </a:custGeom>
          <a:noFill/>
          <a:ln w="21425" cmpd="sng">
            <a:solidFill>
              <a:srgbClr val="7F7F7F"/>
            </a:solidFill>
            <a:prstDash val="solid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>
            <a:no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65" b="0" i="0" u="none" cap="none">
              <a:solidFill>
                <a:schemeClr val="lt1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8" name="Google Shape;164;p16">
            <a:extLst>
              <a:ext uri="{FF2B5EF4-FFF2-40B4-BE49-F238E27FC236}">
                <a16:creationId xmlns:a16="http://schemas.microsoft.com/office/drawing/2014/main" id="{4098FC2B-CDB3-3FC0-EE0C-670E940E8CBD}"/>
              </a:ext>
            </a:extLst>
          </p:cNvPr>
          <p:cNvSpPr>
            <a:spLocks noGrp="1"/>
          </p:cNvSpPr>
          <p:nvPr/>
        </p:nvSpPr>
        <p:spPr>
          <a:xfrm rot="2484776">
            <a:off x="3520087" y="3543265"/>
            <a:ext cx="3295635" cy="4000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cap="none">
                <a:solidFill>
                  <a:srgbClr val="00C36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KV Cache Compression</a:t>
            </a:r>
            <a:endParaRPr/>
          </a:p>
        </p:txBody>
      </p:sp>
      <p:sp>
        <p:nvSpPr>
          <p:cNvPr id="39" name="Google Shape;165;p16">
            <a:extLst>
              <a:ext uri="{FF2B5EF4-FFF2-40B4-BE49-F238E27FC236}">
                <a16:creationId xmlns:a16="http://schemas.microsoft.com/office/drawing/2014/main" id="{CB7BB9AB-C3B3-E32C-259A-7602B2350895}"/>
              </a:ext>
            </a:extLst>
          </p:cNvPr>
          <p:cNvSpPr>
            <a:spLocks noGrp="1"/>
          </p:cNvSpPr>
          <p:nvPr/>
        </p:nvSpPr>
        <p:spPr>
          <a:xfrm rot="2484890">
            <a:off x="4494521" y="3579381"/>
            <a:ext cx="2863163" cy="40006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00C368"/>
              </a:buClr>
              <a:buSzPts val="1400"/>
              <a:buFont typeface="Arial" panose="020B0604020202090204"/>
              <a:buNone/>
            </a:pPr>
            <a:r>
              <a:rPr sz="2000" b="1" i="0" u="none" cap="none">
                <a:solidFill>
                  <a:srgbClr val="00C36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KV Cache Blending</a:t>
            </a:r>
            <a:endParaRPr/>
          </a:p>
        </p:txBody>
      </p:sp>
      <p:sp>
        <p:nvSpPr>
          <p:cNvPr id="40" name="Google Shape;166;p16">
            <a:extLst>
              <a:ext uri="{FF2B5EF4-FFF2-40B4-BE49-F238E27FC236}">
                <a16:creationId xmlns:a16="http://schemas.microsoft.com/office/drawing/2014/main" id="{2985F5E7-767F-F68F-EDE0-81848FBB44C0}"/>
              </a:ext>
            </a:extLst>
          </p:cNvPr>
          <p:cNvSpPr>
            <a:spLocks noGrp="1"/>
          </p:cNvSpPr>
          <p:nvPr/>
        </p:nvSpPr>
        <p:spPr>
          <a:xfrm>
            <a:off x="4307611" y="1483989"/>
            <a:ext cx="3083742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>
            <a:spAutoFit/>
          </a:bodyPr>
          <a:lstStyle/>
          <a:p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2400" b="1" i="0" u="none" cap="none">
                <a:solidFill>
                  <a:srgbClr val="01C368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KV cache optimizations</a:t>
            </a:r>
            <a:endParaRPr sz="2000" b="0" i="0" u="none" cap="none">
              <a:solidFill>
                <a:srgbClr val="01C368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393A1AD1-D0FC-F3A9-66DD-67B2BF9EDC09}"/>
              </a:ext>
            </a:extLst>
          </p:cNvPr>
          <p:cNvSpPr>
            <a:spLocks noGrp="1"/>
          </p:cNvSpPr>
          <p:nvPr/>
        </p:nvSpPr>
        <p:spPr>
          <a:xfrm>
            <a:off x="1914303" y="5857875"/>
            <a:ext cx="8582025" cy="409575"/>
          </a:xfrm>
          <a:prstGeom prst="roundRect">
            <a:avLst>
              <a:gd name="adj" fmla="val 27907"/>
            </a:avLst>
          </a:prstGeom>
          <a:solidFill>
            <a:srgbClr val="F1F5FA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矩形 12">
            <a:extLst>
              <a:ext uri="{FF2B5EF4-FFF2-40B4-BE49-F238E27FC236}">
                <a16:creationId xmlns:a16="http://schemas.microsoft.com/office/drawing/2014/main" id="{5D2BEEBA-57DE-06D4-53EC-3A6CBC3E3BD9}"/>
              </a:ext>
            </a:extLst>
          </p:cNvPr>
          <p:cNvSpPr>
            <a:spLocks noGrp="1"/>
          </p:cNvSpPr>
          <p:nvPr/>
        </p:nvSpPr>
        <p:spPr>
          <a:xfrm>
            <a:off x="3053247" y="5918289"/>
            <a:ext cx="8477250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35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lang="en" altLang="zh-CN" sz="1350" dirty="0" err="1">
                <a:solidFill>
                  <a:srgbClr val="285091"/>
                </a:solidFill>
                <a:latin typeface="Source Han Sans CN"/>
              </a:rPr>
              <a:t>LMCache</a:t>
            </a:r>
            <a:r>
              <a:rPr lang="en" altLang="zh-CN" sz="1350" dirty="0">
                <a:solidFill>
                  <a:srgbClr val="285091"/>
                </a:solidFill>
                <a:latin typeface="Source Han Sans CN"/>
              </a:rPr>
              <a:t> </a:t>
            </a:r>
            <a:r>
              <a:rPr lang="zh-CN" altLang="en-US" sz="1350" dirty="0">
                <a:solidFill>
                  <a:srgbClr val="285091"/>
                </a:solidFill>
                <a:latin typeface="Source Han Sans CN"/>
              </a:rPr>
              <a:t>将 </a:t>
            </a:r>
            <a:r>
              <a:rPr lang="en" altLang="zh-CN" sz="1350" dirty="0">
                <a:solidFill>
                  <a:srgbClr val="285091"/>
                </a:solidFill>
                <a:latin typeface="Source Han Sans CN"/>
              </a:rPr>
              <a:t>KV Cache </a:t>
            </a:r>
            <a:r>
              <a:rPr lang="zh-CN" altLang="en-US" sz="1350" dirty="0">
                <a:solidFill>
                  <a:srgbClr val="285091"/>
                </a:solidFill>
                <a:latin typeface="Source Han Sans CN"/>
              </a:rPr>
              <a:t>从单机状态升级为可跨实例、跨节点复用的分布式缓存基础设施。</a:t>
            </a:r>
          </a:p>
          <a:p>
            <a:pPr>
              <a:defRPr sz="135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endParaRPr sz="1350" b="0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sz="2800" b="1" i="0" dirty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rPr>
              <a:t>社区现状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47381DC-FC6B-429B-AE79-17A3FEF7EEF5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06    社区与未来方向</a:t>
            </a: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66463EC7-E220-B9BA-2CC6-14AA27F3E950}"/>
              </a:ext>
            </a:extLst>
          </p:cNvPr>
          <p:cNvSpPr>
            <a:spLocks noGrp="1"/>
          </p:cNvSpPr>
          <p:nvPr/>
        </p:nvSpPr>
        <p:spPr>
          <a:xfrm>
            <a:off x="495300" y="1457325"/>
            <a:ext cx="2638425" cy="1323975"/>
          </a:xfrm>
          <a:prstGeom prst="roundRect">
            <a:avLst>
              <a:gd name="adj" fmla="val 8633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2DDC73B-E4B2-DB76-36A3-6E6A0EA8DB69}"/>
              </a:ext>
            </a:extLst>
          </p:cNvPr>
          <p:cNvSpPr>
            <a:spLocks noGrp="1"/>
          </p:cNvSpPr>
          <p:nvPr/>
        </p:nvSpPr>
        <p:spPr>
          <a:xfrm>
            <a:off x="714375" y="1590675"/>
            <a:ext cx="23241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5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525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1</a:t>
            </a:r>
            <a:r>
              <a:rPr lang="en-US" altLang="zh-CN" sz="3525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2</a:t>
            </a:r>
            <a:r>
              <a:rPr sz="3525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K+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35FAC5-599F-214C-C634-4C1987DBBDA1}"/>
              </a:ext>
            </a:extLst>
          </p:cNvPr>
          <p:cNvSpPr>
            <a:spLocks noGrp="1"/>
          </p:cNvSpPr>
          <p:nvPr/>
        </p:nvSpPr>
        <p:spPr>
          <a:xfrm>
            <a:off x="714375" y="2286000"/>
            <a:ext cx="23050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GitHub Stars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1DC1BEDC-1603-0A88-7CA8-5FFE98B3E6F8}"/>
              </a:ext>
            </a:extLst>
          </p:cNvPr>
          <p:cNvSpPr>
            <a:spLocks noGrp="1"/>
          </p:cNvSpPr>
          <p:nvPr/>
        </p:nvSpPr>
        <p:spPr>
          <a:xfrm>
            <a:off x="3343275" y="1457325"/>
            <a:ext cx="2638425" cy="1323975"/>
          </a:xfrm>
          <a:prstGeom prst="roundRect">
            <a:avLst>
              <a:gd name="adj" fmla="val 8633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93D69D-33B6-7A93-3282-B982AD86FB6F}"/>
              </a:ext>
            </a:extLst>
          </p:cNvPr>
          <p:cNvSpPr>
            <a:spLocks noGrp="1"/>
          </p:cNvSpPr>
          <p:nvPr/>
        </p:nvSpPr>
        <p:spPr>
          <a:xfrm>
            <a:off x="3562350" y="1590675"/>
            <a:ext cx="23241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5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525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3</a:t>
            </a:r>
            <a:r>
              <a:rPr lang="en-US" altLang="zh-CN" sz="3525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8</a:t>
            </a:r>
            <a:r>
              <a:rPr sz="3525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0+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5E8CF77-D9DD-1E5F-78A1-8D51BA2A647F}"/>
              </a:ext>
            </a:extLst>
          </p:cNvPr>
          <p:cNvSpPr>
            <a:spLocks noGrp="1"/>
          </p:cNvSpPr>
          <p:nvPr/>
        </p:nvSpPr>
        <p:spPr>
          <a:xfrm>
            <a:off x="3562350" y="2286000"/>
            <a:ext cx="23050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贡献者</a:t>
            </a:r>
          </a:p>
        </p:txBody>
      </p:sp>
      <p:sp>
        <p:nvSpPr>
          <p:cNvPr id="10" name="圆角矩形 9">
            <a:extLst>
              <a:ext uri="{FF2B5EF4-FFF2-40B4-BE49-F238E27FC236}">
                <a16:creationId xmlns:a16="http://schemas.microsoft.com/office/drawing/2014/main" id="{BD415DB8-B1EC-99CF-C613-5EA2B1CF8B40}"/>
              </a:ext>
            </a:extLst>
          </p:cNvPr>
          <p:cNvSpPr>
            <a:spLocks noGrp="1"/>
          </p:cNvSpPr>
          <p:nvPr/>
        </p:nvSpPr>
        <p:spPr>
          <a:xfrm>
            <a:off x="6191250" y="1457325"/>
            <a:ext cx="2638425" cy="1323975"/>
          </a:xfrm>
          <a:prstGeom prst="roundRect">
            <a:avLst>
              <a:gd name="adj" fmla="val 8633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C71C16-CF68-A98B-851A-D384BF329F2F}"/>
              </a:ext>
            </a:extLst>
          </p:cNvPr>
          <p:cNvSpPr>
            <a:spLocks noGrp="1"/>
          </p:cNvSpPr>
          <p:nvPr/>
        </p:nvSpPr>
        <p:spPr>
          <a:xfrm>
            <a:off x="6410325" y="1590675"/>
            <a:ext cx="23241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5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lang="en-US" altLang="zh-CN" sz="3525" b="1" dirty="0">
                <a:solidFill>
                  <a:srgbClr val="285091"/>
                </a:solidFill>
                <a:ea typeface="Source Han Sans CN"/>
              </a:rPr>
              <a:t>1.05M+</a:t>
            </a:r>
            <a:endParaRPr sz="3525" b="1" dirty="0">
              <a:solidFill>
                <a:srgbClr val="285091"/>
              </a:solidFill>
              <a:ea typeface="Source Han Sans CN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A81B449-094A-CD66-D78A-747D89665648}"/>
              </a:ext>
            </a:extLst>
          </p:cNvPr>
          <p:cNvSpPr>
            <a:spLocks noGrp="1"/>
          </p:cNvSpPr>
          <p:nvPr/>
        </p:nvSpPr>
        <p:spPr>
          <a:xfrm>
            <a:off x="6410325" y="2286000"/>
            <a:ext cx="23050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PyPI 下载量</a:t>
            </a:r>
          </a:p>
        </p:txBody>
      </p:sp>
      <p:sp>
        <p:nvSpPr>
          <p:cNvPr id="13" name="圆角矩形 12">
            <a:extLst>
              <a:ext uri="{FF2B5EF4-FFF2-40B4-BE49-F238E27FC236}">
                <a16:creationId xmlns:a16="http://schemas.microsoft.com/office/drawing/2014/main" id="{6E7D45F2-CD5D-AE17-B7B6-19F0858A159B}"/>
              </a:ext>
            </a:extLst>
          </p:cNvPr>
          <p:cNvSpPr>
            <a:spLocks noGrp="1"/>
          </p:cNvSpPr>
          <p:nvPr/>
        </p:nvSpPr>
        <p:spPr>
          <a:xfrm>
            <a:off x="9039225" y="1457325"/>
            <a:ext cx="2638425" cy="1323975"/>
          </a:xfrm>
          <a:prstGeom prst="roundRect">
            <a:avLst>
              <a:gd name="adj" fmla="val 8633"/>
            </a:avLst>
          </a:prstGeom>
          <a:solidFill>
            <a:srgbClr val="FFF9EC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21CB6CA-60D3-3AC4-303B-0848DCE2540B}"/>
              </a:ext>
            </a:extLst>
          </p:cNvPr>
          <p:cNvSpPr>
            <a:spLocks noGrp="1"/>
          </p:cNvSpPr>
          <p:nvPr/>
        </p:nvSpPr>
        <p:spPr>
          <a:xfrm>
            <a:off x="9258300" y="1590675"/>
            <a:ext cx="23241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525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525" b="1" dirty="0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1200+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5605C02-CBD4-358F-44EB-C32CD630CF78}"/>
              </a:ext>
            </a:extLst>
          </p:cNvPr>
          <p:cNvSpPr>
            <a:spLocks noGrp="1"/>
          </p:cNvSpPr>
          <p:nvPr/>
        </p:nvSpPr>
        <p:spPr>
          <a:xfrm>
            <a:off x="9258300" y="2286000"/>
            <a:ext cx="2305050" cy="3429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725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社区成员</a:t>
            </a:r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EAA4CD6F-1A19-C920-9B24-8CE74377B13C}"/>
              </a:ext>
            </a:extLst>
          </p:cNvPr>
          <p:cNvSpPr>
            <a:spLocks noGrp="1"/>
          </p:cNvSpPr>
          <p:nvPr/>
        </p:nvSpPr>
        <p:spPr>
          <a:xfrm>
            <a:off x="495300" y="3219450"/>
            <a:ext cx="6181725" cy="2200275"/>
          </a:xfrm>
          <a:prstGeom prst="roundRect">
            <a:avLst>
              <a:gd name="adj" fmla="val 5195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80170C4-FE16-AD83-2158-1A3E3DE8708F}"/>
              </a:ext>
            </a:extLst>
          </p:cNvPr>
          <p:cNvSpPr>
            <a:spLocks noGrp="1"/>
          </p:cNvSpPr>
          <p:nvPr/>
        </p:nvSpPr>
        <p:spPr>
          <a:xfrm>
            <a:off x="723900" y="3400425"/>
            <a:ext cx="5724525" cy="438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550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一起参与</a:t>
            </a:r>
            <a:r>
              <a:rPr sz="2550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 </a:t>
            </a:r>
            <a:r>
              <a:rPr sz="2550" b="1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LMCache</a:t>
            </a:r>
            <a:r>
              <a:rPr lang="zh-CN" altLang="en-US" sz="2550" b="1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共建</a:t>
            </a:r>
            <a:endParaRPr sz="2550" b="1" dirty="0">
              <a:solidFill>
                <a:srgbClr val="285091"/>
              </a:solidFill>
              <a:latin typeface="Source Han Sans CN"/>
              <a:ea typeface="Source Han Sans CN"/>
              <a:cs typeface="Source Han Sans CN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D955232C-3185-A5C8-026C-819B3183A0F1}"/>
              </a:ext>
            </a:extLst>
          </p:cNvPr>
          <p:cNvSpPr>
            <a:spLocks noGrp="1"/>
          </p:cNvSpPr>
          <p:nvPr/>
        </p:nvSpPr>
        <p:spPr>
          <a:xfrm>
            <a:off x="733425" y="3952875"/>
            <a:ext cx="57816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github.com/LMCache/LMCache</a:t>
            </a:r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9E39DB3D-B44D-2DB8-375C-4926EFCF953D}"/>
              </a:ext>
            </a:extLst>
          </p:cNvPr>
          <p:cNvSpPr>
            <a:spLocks noGrp="1"/>
          </p:cNvSpPr>
          <p:nvPr/>
        </p:nvSpPr>
        <p:spPr>
          <a:xfrm>
            <a:off x="733425" y="4629150"/>
            <a:ext cx="1743075" cy="542925"/>
          </a:xfrm>
          <a:prstGeom prst="roundRect">
            <a:avLst>
              <a:gd name="adj" fmla="val 21053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DE896741-0B9B-EAEF-8A62-B9CE19149E23}"/>
              </a:ext>
            </a:extLst>
          </p:cNvPr>
          <p:cNvSpPr>
            <a:spLocks noGrp="1"/>
          </p:cNvSpPr>
          <p:nvPr/>
        </p:nvSpPr>
        <p:spPr>
          <a:xfrm>
            <a:off x="1133475" y="4752975"/>
            <a:ext cx="12573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 dirty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Star</a:t>
            </a: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F6881E4C-444C-3FBA-FA48-619E5147412D}"/>
              </a:ext>
            </a:extLst>
          </p:cNvPr>
          <p:cNvSpPr>
            <a:spLocks noGrp="1"/>
          </p:cNvSpPr>
          <p:nvPr/>
        </p:nvSpPr>
        <p:spPr>
          <a:xfrm>
            <a:off x="2667000" y="4629150"/>
            <a:ext cx="1743075" cy="542925"/>
          </a:xfrm>
          <a:prstGeom prst="roundRect">
            <a:avLst>
              <a:gd name="adj" fmla="val 21053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B2EC253E-5760-5216-295B-E201A10CD997}"/>
              </a:ext>
            </a:extLst>
          </p:cNvPr>
          <p:cNvSpPr>
            <a:spLocks noGrp="1"/>
          </p:cNvSpPr>
          <p:nvPr/>
        </p:nvSpPr>
        <p:spPr>
          <a:xfrm>
            <a:off x="3067050" y="4752975"/>
            <a:ext cx="12573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Fork</a:t>
            </a:r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893F3809-614B-0E21-7033-6D75DC4A57CF}"/>
              </a:ext>
            </a:extLst>
          </p:cNvPr>
          <p:cNvSpPr>
            <a:spLocks noGrp="1"/>
          </p:cNvSpPr>
          <p:nvPr/>
        </p:nvSpPr>
        <p:spPr>
          <a:xfrm>
            <a:off x="4600575" y="4629150"/>
            <a:ext cx="1743075" cy="542925"/>
          </a:xfrm>
          <a:prstGeom prst="roundRect">
            <a:avLst>
              <a:gd name="adj" fmla="val 21053"/>
            </a:avLst>
          </a:prstGeom>
          <a:solidFill>
            <a:srgbClr val="B18B4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212B41F-B055-700B-0B0D-B86152AD4CB1}"/>
              </a:ext>
            </a:extLst>
          </p:cNvPr>
          <p:cNvSpPr>
            <a:spLocks noGrp="1"/>
          </p:cNvSpPr>
          <p:nvPr/>
        </p:nvSpPr>
        <p:spPr>
          <a:xfrm>
            <a:off x="5000625" y="4752975"/>
            <a:ext cx="125730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贡献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07B84518-5061-CF9F-8CBA-7F230F693D25}"/>
              </a:ext>
            </a:extLst>
          </p:cNvPr>
          <p:cNvSpPr>
            <a:spLocks noGrp="1"/>
          </p:cNvSpPr>
          <p:nvPr/>
        </p:nvSpPr>
        <p:spPr>
          <a:xfrm>
            <a:off x="7334250" y="2933700"/>
            <a:ext cx="4286250" cy="3524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02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GitHub Star 增长</a:t>
            </a:r>
          </a:p>
        </p:txBody>
      </p:sp>
      <p:pic>
        <p:nvPicPr>
          <p:cNvPr id="57" name="Picture 1">
            <a:extLst>
              <a:ext uri="{FF2B5EF4-FFF2-40B4-BE49-F238E27FC236}">
                <a16:creationId xmlns:a16="http://schemas.microsoft.com/office/drawing/2014/main" id="{4E93A39E-7251-AA66-71DC-93E11BDCE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075" y="3286125"/>
            <a:ext cx="3714750" cy="284737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91D2DD"/>
                    </a:gs>
                    <a:gs pos="45000">
                      <a:srgbClr val="6292BF"/>
                    </a:gs>
                    <a:gs pos="100000">
                      <a:srgbClr val="285091"/>
                    </a:gs>
                  </a:gsLst>
                  <a:lin ang="10800000" scaled="0"/>
                </a:gradFill>
                <a:latin typeface="Source Han Sans CN Bold" panose="020B0800000000000000" charset="-122"/>
                <a:ea typeface="Source Han Sans CN Bold" panose="020B0800000000000000" charset="-122"/>
                <a:cs typeface="思源黑体 CN" panose="020B0800000000000000" charset="-122"/>
              </a:defRPr>
            </a:lvl1pPr>
          </a:lstStyle>
          <a:p>
            <a:pPr marL="0" indent="0" algn="l">
              <a:buNone/>
            </a:pPr>
            <a:r>
              <a:rPr lang="zh-CN" altLang="en-US" dirty="0"/>
              <a:t>社区贡献</a:t>
            </a:r>
            <a:endParaRPr lang="zh-CN" altLang="en-US" sz="2800" b="1" i="0" dirty="0">
              <a:gradFill>
                <a:gsLst>
                  <a:gs pos="0">
                    <a:srgbClr val="91D2DD"/>
                  </a:gs>
                  <a:gs pos="45000">
                    <a:srgbClr val="6292BF"/>
                  </a:gs>
                  <a:gs pos="100000">
                    <a:srgbClr val="285091"/>
                  </a:gs>
                </a:gsLst>
                <a:lin ang="10800000" scaled="0"/>
              </a:gradFill>
              <a:latin typeface="Source Han Sans CN Bold" panose="020B0800000000000000" charset="-122"/>
              <a:ea typeface="Source Han Sans CN Bold" panose="020B0800000000000000" charset="-122"/>
              <a:cs typeface="思源黑体 CN" panose="020B0800000000000000" charset="-122"/>
            </a:endParaRPr>
          </a:p>
        </p:txBody>
      </p:sp>
      <p:sp>
        <p:nvSpPr>
          <p:cNvPr id="10" name="矩形 12">
            <a:extLst>
              <a:ext uri="{FF2B5EF4-FFF2-40B4-BE49-F238E27FC236}">
                <a16:creationId xmlns:a16="http://schemas.microsoft.com/office/drawing/2014/main" id="{FF3C0E70-C1D0-4A2C-87F2-06929EE066AA}"/>
              </a:ext>
            </a:extLst>
          </p:cNvPr>
          <p:cNvSpPr>
            <a:spLocks noGrp="1"/>
          </p:cNvSpPr>
          <p:nvPr/>
        </p:nvSpPr>
        <p:spPr>
          <a:xfrm>
            <a:off x="457200" y="885825"/>
            <a:ext cx="108585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sz="1200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06    社区与未来方向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E5F147B-D870-809C-9318-973522514820}"/>
              </a:ext>
            </a:extLst>
          </p:cNvPr>
          <p:cNvSpPr>
            <a:spLocks noGrp="1"/>
          </p:cNvSpPr>
          <p:nvPr/>
        </p:nvSpPr>
        <p:spPr>
          <a:xfrm>
            <a:off x="600075" y="1438275"/>
            <a:ext cx="272415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贡献类型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E7BF39F-1379-E2E8-3727-43CE6BA141A9}"/>
              </a:ext>
            </a:extLst>
          </p:cNvPr>
          <p:cNvSpPr>
            <a:spLocks noGrp="1"/>
          </p:cNvSpPr>
          <p:nvPr/>
        </p:nvSpPr>
        <p:spPr>
          <a:xfrm>
            <a:off x="3762375" y="1438275"/>
            <a:ext cx="4762500" cy="3714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随 PR 提交的材料</a:t>
            </a:r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53DEE15A-9CF8-8C51-1A75-14A9BEB06D1C}"/>
              </a:ext>
            </a:extLst>
          </p:cNvPr>
          <p:cNvSpPr>
            <a:spLocks noGrp="1"/>
          </p:cNvSpPr>
          <p:nvPr/>
        </p:nvSpPr>
        <p:spPr>
          <a:xfrm>
            <a:off x="495300" y="2095500"/>
            <a:ext cx="2609850" cy="809625"/>
          </a:xfrm>
          <a:prstGeom prst="roundRect">
            <a:avLst>
              <a:gd name="adj" fmla="val 14118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52D06E2-12BF-1D62-C813-4ED2BB2EF5D6}"/>
              </a:ext>
            </a:extLst>
          </p:cNvPr>
          <p:cNvSpPr>
            <a:spLocks noGrp="1"/>
          </p:cNvSpPr>
          <p:nvPr/>
        </p:nvSpPr>
        <p:spPr>
          <a:xfrm>
            <a:off x="723900" y="2314575"/>
            <a:ext cx="24003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修复与文档</a:t>
            </a:r>
          </a:p>
        </p:txBody>
      </p:sp>
      <p:sp>
        <p:nvSpPr>
          <p:cNvPr id="25" name="右箭头 24">
            <a:extLst>
              <a:ext uri="{FF2B5EF4-FFF2-40B4-BE49-F238E27FC236}">
                <a16:creationId xmlns:a16="http://schemas.microsoft.com/office/drawing/2014/main" id="{1397E0F7-FA61-3195-B0C5-FF44F2849B2D}"/>
              </a:ext>
            </a:extLst>
          </p:cNvPr>
          <p:cNvSpPr>
            <a:spLocks noGrp="1"/>
          </p:cNvSpPr>
          <p:nvPr/>
        </p:nvSpPr>
        <p:spPr>
          <a:xfrm>
            <a:off x="3248025" y="2400300"/>
            <a:ext cx="371475" cy="209550"/>
          </a:xfrm>
          <a:prstGeom prst="rightArrow">
            <a:avLst/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圆角矩形 25">
            <a:extLst>
              <a:ext uri="{FF2B5EF4-FFF2-40B4-BE49-F238E27FC236}">
                <a16:creationId xmlns:a16="http://schemas.microsoft.com/office/drawing/2014/main" id="{C8D68A57-C2E2-449A-F0FE-784E5DD19BA7}"/>
              </a:ext>
            </a:extLst>
          </p:cNvPr>
          <p:cNvSpPr>
            <a:spLocks noGrp="1"/>
          </p:cNvSpPr>
          <p:nvPr/>
        </p:nvSpPr>
        <p:spPr>
          <a:xfrm>
            <a:off x="3752850" y="2095500"/>
            <a:ext cx="4543425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F21A88F-67A5-8EFE-7441-29D3FF5C48DF}"/>
              </a:ext>
            </a:extLst>
          </p:cNvPr>
          <p:cNvSpPr>
            <a:spLocks noGrp="1"/>
          </p:cNvSpPr>
          <p:nvPr/>
        </p:nvSpPr>
        <p:spPr>
          <a:xfrm>
            <a:off x="3752850" y="2209800"/>
            <a:ext cx="47625" cy="581025"/>
          </a:xfrm>
          <a:prstGeom prst="rect">
            <a:avLst/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548ADCC-C6F8-4654-91FD-BF28844226C9}"/>
              </a:ext>
            </a:extLst>
          </p:cNvPr>
          <p:cNvSpPr>
            <a:spLocks noGrp="1"/>
          </p:cNvSpPr>
          <p:nvPr/>
        </p:nvSpPr>
        <p:spPr>
          <a:xfrm>
            <a:off x="3914775" y="2190750"/>
            <a:ext cx="4238625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版本与配置 / 最小复现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CEE7E8F-B645-76ED-53B6-62EF4513F574}"/>
              </a:ext>
            </a:extLst>
          </p:cNvPr>
          <p:cNvSpPr>
            <a:spLocks noGrp="1"/>
          </p:cNvSpPr>
          <p:nvPr/>
        </p:nvSpPr>
        <p:spPr>
          <a:xfrm>
            <a:off x="3914775" y="2524125"/>
            <a:ext cx="423862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预期行为 / 验证步骤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E9AAE87-5EF5-79DD-052F-88C425C516AC}"/>
              </a:ext>
            </a:extLst>
          </p:cNvPr>
          <p:cNvSpPr>
            <a:spLocks noGrp="1"/>
          </p:cNvSpPr>
          <p:nvPr/>
        </p:nvSpPr>
        <p:spPr>
          <a:xfrm>
            <a:off x="8296275" y="2486025"/>
            <a:ext cx="438150" cy="2857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34BEA735-2A94-E6E3-DDF8-26D442C9EAAE}"/>
              </a:ext>
            </a:extLst>
          </p:cNvPr>
          <p:cNvSpPr>
            <a:spLocks noGrp="1"/>
          </p:cNvSpPr>
          <p:nvPr/>
        </p:nvSpPr>
        <p:spPr>
          <a:xfrm>
            <a:off x="495300" y="3181350"/>
            <a:ext cx="2609850" cy="809625"/>
          </a:xfrm>
          <a:prstGeom prst="roundRect">
            <a:avLst>
              <a:gd name="adj" fmla="val 14118"/>
            </a:avLst>
          </a:prstGeom>
          <a:solidFill>
            <a:srgbClr val="F2F6FB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F9F6683-C335-F50F-1EBF-B8BAD1A39154}"/>
              </a:ext>
            </a:extLst>
          </p:cNvPr>
          <p:cNvSpPr>
            <a:spLocks noGrp="1"/>
          </p:cNvSpPr>
          <p:nvPr/>
        </p:nvSpPr>
        <p:spPr>
          <a:xfrm>
            <a:off x="723900" y="3400425"/>
            <a:ext cx="24003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插件与集成</a:t>
            </a:r>
          </a:p>
        </p:txBody>
      </p:sp>
      <p:sp>
        <p:nvSpPr>
          <p:cNvPr id="33" name="右箭头 32">
            <a:extLst>
              <a:ext uri="{FF2B5EF4-FFF2-40B4-BE49-F238E27FC236}">
                <a16:creationId xmlns:a16="http://schemas.microsoft.com/office/drawing/2014/main" id="{DFF54C10-84E2-CC2B-F461-8BDDC74FA282}"/>
              </a:ext>
            </a:extLst>
          </p:cNvPr>
          <p:cNvSpPr>
            <a:spLocks noGrp="1"/>
          </p:cNvSpPr>
          <p:nvPr/>
        </p:nvSpPr>
        <p:spPr>
          <a:xfrm>
            <a:off x="3248025" y="3486150"/>
            <a:ext cx="371475" cy="209550"/>
          </a:xfrm>
          <a:prstGeom prst="rightArrow">
            <a:avLst/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圆角矩形 33">
            <a:extLst>
              <a:ext uri="{FF2B5EF4-FFF2-40B4-BE49-F238E27FC236}">
                <a16:creationId xmlns:a16="http://schemas.microsoft.com/office/drawing/2014/main" id="{A1BD5BBA-4EAB-30FA-2C66-0068E4B4AD97}"/>
              </a:ext>
            </a:extLst>
          </p:cNvPr>
          <p:cNvSpPr>
            <a:spLocks noGrp="1"/>
          </p:cNvSpPr>
          <p:nvPr/>
        </p:nvSpPr>
        <p:spPr>
          <a:xfrm>
            <a:off x="3752850" y="3181350"/>
            <a:ext cx="4543425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4AD765E-ADB7-D06B-0775-E18461171C67}"/>
              </a:ext>
            </a:extLst>
          </p:cNvPr>
          <p:cNvSpPr>
            <a:spLocks noGrp="1"/>
          </p:cNvSpPr>
          <p:nvPr/>
        </p:nvSpPr>
        <p:spPr>
          <a:xfrm>
            <a:off x="3752850" y="3295650"/>
            <a:ext cx="47625" cy="581025"/>
          </a:xfrm>
          <a:prstGeom prst="rect">
            <a:avLst/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043AE30-8390-DF3E-F331-A37C5164493F}"/>
              </a:ext>
            </a:extLst>
          </p:cNvPr>
          <p:cNvSpPr>
            <a:spLocks noGrp="1"/>
          </p:cNvSpPr>
          <p:nvPr/>
        </p:nvSpPr>
        <p:spPr>
          <a:xfrm>
            <a:off x="3914775" y="3276600"/>
            <a:ext cx="4238625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接口与兼容边界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5503A503-3898-94ED-BB64-0906C34F4082}"/>
              </a:ext>
            </a:extLst>
          </p:cNvPr>
          <p:cNvSpPr>
            <a:spLocks noGrp="1"/>
          </p:cNvSpPr>
          <p:nvPr/>
        </p:nvSpPr>
        <p:spPr>
          <a:xfrm>
            <a:off x="3914775" y="3609975"/>
            <a:ext cx="423862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真实模型测试 / 使用示例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0C7BAC9-5F82-AB94-30C8-17EEB5C749A7}"/>
              </a:ext>
            </a:extLst>
          </p:cNvPr>
          <p:cNvSpPr>
            <a:spLocks noGrp="1"/>
          </p:cNvSpPr>
          <p:nvPr/>
        </p:nvSpPr>
        <p:spPr>
          <a:xfrm>
            <a:off x="8296275" y="3571875"/>
            <a:ext cx="438150" cy="2857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圆角矩形 38">
            <a:extLst>
              <a:ext uri="{FF2B5EF4-FFF2-40B4-BE49-F238E27FC236}">
                <a16:creationId xmlns:a16="http://schemas.microsoft.com/office/drawing/2014/main" id="{8E1205F9-224D-0B58-193E-BF4485630AEC}"/>
              </a:ext>
            </a:extLst>
          </p:cNvPr>
          <p:cNvSpPr>
            <a:spLocks noGrp="1"/>
          </p:cNvSpPr>
          <p:nvPr/>
        </p:nvSpPr>
        <p:spPr>
          <a:xfrm>
            <a:off x="495300" y="4267200"/>
            <a:ext cx="2609850" cy="809625"/>
          </a:xfrm>
          <a:prstGeom prst="roundRect">
            <a:avLst>
              <a:gd name="adj" fmla="val 14118"/>
            </a:avLst>
          </a:prstGeom>
          <a:solidFill>
            <a:srgbClr val="FFF9EC"/>
          </a:solidFill>
          <a:ln w="14288">
            <a:solidFill>
              <a:srgbClr val="D9E3F0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BF6324C-4E5D-EE46-B3FD-90AA16DDB2E1}"/>
              </a:ext>
            </a:extLst>
          </p:cNvPr>
          <p:cNvSpPr>
            <a:spLocks noGrp="1"/>
          </p:cNvSpPr>
          <p:nvPr/>
        </p:nvSpPr>
        <p:spPr>
          <a:xfrm>
            <a:off x="723900" y="4486275"/>
            <a:ext cx="24003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75" b="1">
                <a:solidFill>
                  <a:srgbClr val="B18B40"/>
                </a:solidFill>
                <a:latin typeface="Source Han Sans CN"/>
                <a:ea typeface="Source Han Sans CN"/>
                <a:cs typeface="Source Han Sans CN"/>
              </a:rPr>
              <a:t>性能与架构</a:t>
            </a:r>
          </a:p>
        </p:txBody>
      </p:sp>
      <p:sp>
        <p:nvSpPr>
          <p:cNvPr id="41" name="右箭头 40">
            <a:extLst>
              <a:ext uri="{FF2B5EF4-FFF2-40B4-BE49-F238E27FC236}">
                <a16:creationId xmlns:a16="http://schemas.microsoft.com/office/drawing/2014/main" id="{6DA02276-E217-3048-F0DB-8909AFD6B3E8}"/>
              </a:ext>
            </a:extLst>
          </p:cNvPr>
          <p:cNvSpPr>
            <a:spLocks noGrp="1"/>
          </p:cNvSpPr>
          <p:nvPr/>
        </p:nvSpPr>
        <p:spPr>
          <a:xfrm>
            <a:off x="3248025" y="4572000"/>
            <a:ext cx="371475" cy="209550"/>
          </a:xfrm>
          <a:prstGeom prst="rightArrow">
            <a:avLst/>
          </a:prstGeom>
          <a:solidFill>
            <a:srgbClr val="B18B4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1D170375-E77A-B537-8B2D-29523CD430CE}"/>
              </a:ext>
            </a:extLst>
          </p:cNvPr>
          <p:cNvSpPr>
            <a:spLocks noGrp="1"/>
          </p:cNvSpPr>
          <p:nvPr/>
        </p:nvSpPr>
        <p:spPr>
          <a:xfrm>
            <a:off x="3752850" y="4267200"/>
            <a:ext cx="4543425" cy="809625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4288">
            <a:solidFill>
              <a:srgbClr val="E4D5B5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0FF63A0-B93B-1771-633A-35C5829EDB44}"/>
              </a:ext>
            </a:extLst>
          </p:cNvPr>
          <p:cNvSpPr>
            <a:spLocks noGrp="1"/>
          </p:cNvSpPr>
          <p:nvPr/>
        </p:nvSpPr>
        <p:spPr>
          <a:xfrm>
            <a:off x="3752850" y="4381500"/>
            <a:ext cx="47625" cy="581025"/>
          </a:xfrm>
          <a:prstGeom prst="rect">
            <a:avLst/>
          </a:prstGeom>
          <a:solidFill>
            <a:srgbClr val="B18B40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B4C8D4EA-BCAA-FB1A-1CC7-3F0D63D3878F}"/>
              </a:ext>
            </a:extLst>
          </p:cNvPr>
          <p:cNvSpPr>
            <a:spLocks noGrp="1"/>
          </p:cNvSpPr>
          <p:nvPr/>
        </p:nvSpPr>
        <p:spPr>
          <a:xfrm>
            <a:off x="3914775" y="4362450"/>
            <a:ext cx="4238625" cy="3143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负载与对照基线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68CBB67-9ACC-10A1-4B9E-E109BEBB36FE}"/>
              </a:ext>
            </a:extLst>
          </p:cNvPr>
          <p:cNvSpPr>
            <a:spLocks noGrp="1"/>
          </p:cNvSpPr>
          <p:nvPr/>
        </p:nvSpPr>
        <p:spPr>
          <a:xfrm>
            <a:off x="3914775" y="4695825"/>
            <a:ext cx="4238625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0A2540"/>
                </a:solidFill>
                <a:latin typeface="Source Han Sans CN"/>
                <a:ea typeface="Source Han Sans CN"/>
                <a:cs typeface="Source Han Sans CN"/>
              </a:rPr>
              <a:t>资源开销 / 尾延迟回归</a:t>
            </a: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217EC70C-72BD-1BA6-B6A9-6C213E32D5F8}"/>
              </a:ext>
            </a:extLst>
          </p:cNvPr>
          <p:cNvSpPr>
            <a:spLocks noGrp="1"/>
          </p:cNvSpPr>
          <p:nvPr/>
        </p:nvSpPr>
        <p:spPr>
          <a:xfrm>
            <a:off x="8296275" y="4657725"/>
            <a:ext cx="438150" cy="2857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D85EE417-BCFA-CECD-57B5-4AAF5D68B908}"/>
              </a:ext>
            </a:extLst>
          </p:cNvPr>
          <p:cNvSpPr>
            <a:spLocks noGrp="1"/>
          </p:cNvSpPr>
          <p:nvPr/>
        </p:nvSpPr>
        <p:spPr>
          <a:xfrm>
            <a:off x="8724900" y="2486025"/>
            <a:ext cx="28575" cy="2200275"/>
          </a:xfrm>
          <a:prstGeom prst="rect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右箭头 47">
            <a:extLst>
              <a:ext uri="{FF2B5EF4-FFF2-40B4-BE49-F238E27FC236}">
                <a16:creationId xmlns:a16="http://schemas.microsoft.com/office/drawing/2014/main" id="{871521C0-343E-3369-14C2-6A010BE0BCE7}"/>
              </a:ext>
            </a:extLst>
          </p:cNvPr>
          <p:cNvSpPr>
            <a:spLocks noGrp="1"/>
          </p:cNvSpPr>
          <p:nvPr/>
        </p:nvSpPr>
        <p:spPr>
          <a:xfrm>
            <a:off x="8834437" y="3496118"/>
            <a:ext cx="371475" cy="209550"/>
          </a:xfrm>
          <a:prstGeom prst="rightArrow">
            <a:avLst/>
          </a:prstGeom>
          <a:solidFill>
            <a:srgbClr val="417AA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圆角矩形 48">
            <a:extLst>
              <a:ext uri="{FF2B5EF4-FFF2-40B4-BE49-F238E27FC236}">
                <a16:creationId xmlns:a16="http://schemas.microsoft.com/office/drawing/2014/main" id="{BFAF2E72-E1E7-BCCB-FBA8-CACFA163A8EF}"/>
              </a:ext>
            </a:extLst>
          </p:cNvPr>
          <p:cNvSpPr>
            <a:spLocks noGrp="1"/>
          </p:cNvSpPr>
          <p:nvPr/>
        </p:nvSpPr>
        <p:spPr>
          <a:xfrm>
            <a:off x="9267825" y="2905125"/>
            <a:ext cx="2409825" cy="1390650"/>
          </a:xfrm>
          <a:prstGeom prst="roundRect">
            <a:avLst>
              <a:gd name="adj" fmla="val 8219"/>
            </a:avLst>
          </a:prstGeom>
          <a:solidFill>
            <a:srgbClr val="285091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798E07ED-DDE8-D9ED-6D9C-126DD4C14A7D}"/>
              </a:ext>
            </a:extLst>
          </p:cNvPr>
          <p:cNvSpPr>
            <a:spLocks noGrp="1"/>
          </p:cNvSpPr>
          <p:nvPr/>
        </p:nvSpPr>
        <p:spPr>
          <a:xfrm>
            <a:off x="9553575" y="3095625"/>
            <a:ext cx="2028825" cy="4095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25" b="1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PR 评审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7D2D08CF-7E77-AC58-452C-44FC2793F6A9}"/>
              </a:ext>
            </a:extLst>
          </p:cNvPr>
          <p:cNvSpPr>
            <a:spLocks noGrp="1"/>
          </p:cNvSpPr>
          <p:nvPr/>
        </p:nvSpPr>
        <p:spPr>
          <a:xfrm>
            <a:off x="9467850" y="3705225"/>
            <a:ext cx="2143125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FFFFFF"/>
                </a:solidFill>
                <a:latin typeface="Source Han Sans CN"/>
                <a:ea typeface="Source Han Sans CN"/>
                <a:cs typeface="Source Han Sans CN"/>
              </a:rPr>
              <a:t>可复现的验证</a:t>
            </a:r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893F2E14-30D0-AD10-47B4-06DFF030682E}"/>
              </a:ext>
            </a:extLst>
          </p:cNvPr>
          <p:cNvSpPr>
            <a:spLocks noGrp="1"/>
          </p:cNvSpPr>
          <p:nvPr/>
        </p:nvSpPr>
        <p:spPr>
          <a:xfrm>
            <a:off x="1595437" y="5623681"/>
            <a:ext cx="8582025" cy="409575"/>
          </a:xfrm>
          <a:prstGeom prst="roundRect">
            <a:avLst>
              <a:gd name="adj" fmla="val 27907"/>
            </a:avLst>
          </a:prstGeom>
          <a:solidFill>
            <a:srgbClr val="F2F6FB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21585C74-8B0D-2082-6E03-66E439F57339}"/>
              </a:ext>
            </a:extLst>
          </p:cNvPr>
          <p:cNvSpPr>
            <a:spLocks noGrp="1"/>
          </p:cNvSpPr>
          <p:nvPr/>
        </p:nvSpPr>
        <p:spPr>
          <a:xfrm>
            <a:off x="3162300" y="5658293"/>
            <a:ext cx="82486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425" b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425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github.com</a:t>
            </a:r>
            <a:r>
              <a:rPr sz="1425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/</a:t>
            </a:r>
            <a:r>
              <a:rPr sz="1425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LMCache</a:t>
            </a:r>
            <a:r>
              <a:rPr sz="1425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/</a:t>
            </a:r>
            <a:r>
              <a:rPr sz="1425" b="0" dirty="0" err="1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LMCache</a:t>
            </a:r>
            <a:r>
              <a:rPr sz="1425" b="0" dirty="0">
                <a:solidFill>
                  <a:srgbClr val="285091"/>
                </a:solidFill>
                <a:latin typeface="Source Han Sans CN"/>
                <a:ea typeface="Source Han Sans CN"/>
                <a:cs typeface="Source Han Sans CN"/>
              </a:rPr>
              <a:t>   /   Issues &amp; Contributing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2"/>
          <p:cNvSpPr>
            <a:spLocks noGrp="1"/>
          </p:cNvSpPr>
          <p:nvPr>
            <p:ph type="body" idx="15" hasCustomPrompt="1"/>
          </p:nvPr>
        </p:nvSpPr>
        <p:spPr>
          <a:xfrm>
            <a:off x="3635375" y="2118459"/>
            <a:ext cx="8556625" cy="200215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0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defRPr>
            </a:lvl1pPr>
          </a:lstStyle>
          <a:p>
            <a:pPr marL="0" indent="0" algn="l">
              <a:buNone/>
            </a:pPr>
            <a:r>
              <a:rPr lang="zh-CN" altLang="en-US" sz="8800" b="1" i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lt"/>
                <a:cs typeface="Source Han Sans SC" panose="020B0400000000000000" pitchFamily="34" charset="-128"/>
              </a:rPr>
              <a:t>Thanks!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FE2FFAC-FDAD-5F49-D39D-E25597E84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184" y="977411"/>
            <a:ext cx="3226954" cy="4903177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zFkMzZlZGMwYWUyOWM3ZjMwYWJhNDI1OTFhYzRhMTc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GOSIM-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 sz="240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3561</TotalTime>
  <Words>4371</Words>
  <Application>Microsoft Macintosh PowerPoint</Application>
  <PresentationFormat>宽屏</PresentationFormat>
  <Paragraphs>649</Paragraphs>
  <Slides>31</Slides>
  <Notes>31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0" baseType="lpstr">
      <vt:lpstr>思源黑体 CN</vt:lpstr>
      <vt:lpstr>微软雅黑</vt:lpstr>
      <vt:lpstr>Noto Sans SC</vt:lpstr>
      <vt:lpstr>Source Han Sans CN</vt:lpstr>
      <vt:lpstr>Source Han Sans CN Bold</vt:lpstr>
      <vt:lpstr>Aptos</vt:lpstr>
      <vt:lpstr>Arial</vt:lpstr>
      <vt:lpstr>Calibri</vt:lpstr>
      <vt:lpstr>GOSIM-默认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旭 张</dc:creator>
  <cp:lastModifiedBy>春晓 郑</cp:lastModifiedBy>
  <cp:revision>121</cp:revision>
  <dcterms:created xsi:type="dcterms:W3CDTF">2026-08-17T10:01:39Z</dcterms:created>
  <dcterms:modified xsi:type="dcterms:W3CDTF">2026-10-15T01:32:38Z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8D28AD5E08B6D7AE20CF826A5EE4915C_43</vt:lpwstr>
  </property>
  <property fmtid="{D5CDD505-2E9C-101B-9397-08002B2CF9AE}" pid="3" name="KSOProductBuildVer">
    <vt:lpwstr>2052-6.10.1.8873</vt:lpwstr>
  </property>
</Properties>
</file>