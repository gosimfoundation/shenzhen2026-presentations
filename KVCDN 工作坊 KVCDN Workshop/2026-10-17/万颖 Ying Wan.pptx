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72" r:id="rId3"/>
    <p:sldId id="275" r:id="rId4"/>
    <p:sldId id="257" r:id="rId5"/>
    <p:sldId id="258" r:id="rId6"/>
    <p:sldId id="265" r:id="rId7"/>
    <p:sldId id="260" r:id="rId8"/>
    <p:sldId id="273" r:id="rId9"/>
    <p:sldId id="290" r:id="rId10"/>
    <p:sldId id="276" r:id="rId11"/>
    <p:sldId id="277" r:id="rId12"/>
    <p:sldId id="279" r:id="rId13"/>
    <p:sldId id="278" r:id="rId14"/>
    <p:sldId id="281" r:id="rId15"/>
    <p:sldId id="291" r:id="rId16"/>
    <p:sldId id="280" r:id="rId17"/>
    <p:sldId id="282" r:id="rId18"/>
    <p:sldId id="284" r:id="rId19"/>
    <p:sldId id="287" r:id="rId20"/>
    <p:sldId id="283" r:id="rId21"/>
    <p:sldId id="285" r:id="rId22"/>
    <p:sldId id="292" r:id="rId23"/>
    <p:sldId id="286" r:id="rId24"/>
    <p:sldId id="274" r:id="rId25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D966"/>
    <a:srgbClr val="FFF001"/>
    <a:srgbClr val="BDD74F"/>
    <a:srgbClr val="30AD80"/>
    <a:srgbClr val="0A2540"/>
    <a:srgbClr val="FFDA00"/>
    <a:srgbClr val="30AE82"/>
    <a:srgbClr val="FFF100"/>
    <a:srgbClr val="2B6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8"/>
    <p:restoredTop sz="94704"/>
  </p:normalViewPr>
  <p:slideViewPr>
    <p:cSldViewPr snapToGrid="0" showGuides="1">
      <p:cViewPr varScale="1">
        <p:scale>
          <a:sx n="115" d="100"/>
          <a:sy n="115" d="100"/>
        </p:scale>
        <p:origin x="840" y="200"/>
      </p:cViewPr>
      <p:guideLst>
        <p:guide orient="horz" pos="2174"/>
        <p:guide pos="38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64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tags" Target="../tags/tag4.xml"/><Relationship Id="rId3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4.png"/><Relationship Id="rId6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tags" Target="../tags/tag9.xml"/><Relationship Id="rId3" Type="http://schemas.openxmlformats.org/officeDocument/2006/relationships/image" Target="../media/image5.jpeg"/><Relationship Id="rId2" Type="http://schemas.openxmlformats.org/officeDocument/2006/relationships/tags" Target="../tags/tag8.xml"/><Relationship Id="rId12" Type="http://schemas.openxmlformats.org/officeDocument/2006/relationships/image" Target="../media/image8.png"/><Relationship Id="rId11" Type="http://schemas.openxmlformats.org/officeDocument/2006/relationships/tags" Target="../tags/tag13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tags" Target="../tags/tag15.xml"/><Relationship Id="rId3" Type="http://schemas.openxmlformats.org/officeDocument/2006/relationships/image" Target="../media/image3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24.xml"/><Relationship Id="rId7" Type="http://schemas.openxmlformats.org/officeDocument/2006/relationships/image" Target="../media/image4.png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image" Target="../media/image2.png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32.xml"/><Relationship Id="rId7" Type="http://schemas.openxmlformats.org/officeDocument/2006/relationships/image" Target="../media/image4.png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image" Target="../media/image2.png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image" Target="../media/image2.png"/><Relationship Id="rId12" Type="http://schemas.openxmlformats.org/officeDocument/2006/relationships/tags" Target="../tags/tag42.xml"/><Relationship Id="rId11" Type="http://schemas.openxmlformats.org/officeDocument/2006/relationships/image" Target="../media/image8.png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7" Type="http://schemas.openxmlformats.org/officeDocument/2006/relationships/image" Target="../media/image4.png"/><Relationship Id="rId6" Type="http://schemas.openxmlformats.org/officeDocument/2006/relationships/tags" Target="../tags/tag45.xml"/><Relationship Id="rId5" Type="http://schemas.openxmlformats.org/officeDocument/2006/relationships/image" Target="../media/image2.png"/><Relationship Id="rId4" Type="http://schemas.openxmlformats.org/officeDocument/2006/relationships/tags" Target="../tags/tag44.xml"/><Relationship Id="rId3" Type="http://schemas.openxmlformats.org/officeDocument/2006/relationships/image" Target="../media/image1.jpeg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6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7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dirty="0" err="1"/>
              <a:t>姓名</a:t>
            </a:r>
            <a:endParaRPr kumimoji="1" dirty="0" err="1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CONTENTS_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8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8" name="图片 7" descr="/Users/enson/Downloads/组 2.png组 2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Source Han Sans CN Bold" panose="020B0800000000000000" charset="-122"/>
                <a:ea typeface="Source Han Sans CN Bold" panose="020B0800000000000000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7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4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11" name="标题 9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endParaRPr lang="zh-CN" altLang="en-US" dirty="0"/>
          </a:p>
        </p:txBody>
      </p:sp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4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r>
              <a:rPr lang="zh-CN" altLang="en-US" dirty="0"/>
              <a:t>单击此处添加内容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5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6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7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8" name="图片 12" descr="/Users/enson/Downloads/组 3.png组 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12" descr="/Users/enson/Downloads/组 3.png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8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7" Type="http://schemas.openxmlformats.org/officeDocument/2006/relationships/slideLayout" Target="../slideLayouts/slideLayout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GOSIM Shenzhen 2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1732915"/>
            <a:ext cx="7713980" cy="2615565"/>
          </a:xfrm>
          <a:prstGeom prst="rect">
            <a:avLst/>
          </a:prstGeom>
        </p:spPr>
      </p:pic>
      <p:pic>
        <p:nvPicPr>
          <p:cNvPr id="3" name="图片 2" descr="October 16-17, 2026  Shenzhen, Chi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4672965"/>
            <a:ext cx="4324985" cy="35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5"/>
          </p:nvPr>
        </p:nvSpPr>
        <p:spPr>
          <a:xfrm>
            <a:off x="680085" y="1451610"/>
            <a:ext cx="9511665" cy="1460500"/>
          </a:xfrm>
        </p:spPr>
        <p:txBody>
          <a:bodyPr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600" noProof="0" dirty="0">
                <a:ln>
                  <a:noFill/>
                </a:ln>
                <a:solidFill>
                  <a:srgbClr val="FFD966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Turbo</a:t>
            </a:r>
            <a:r>
              <a:rPr sz="3600" noProof="0" dirty="0">
                <a:ln>
                  <a:noFill/>
                </a:ln>
                <a:solidFill>
                  <a:srgbClr val="FFD966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：</a:t>
            </a:r>
            <a:r>
              <a:rPr lang="en-US" altLang="zh-CN" sz="3600" noProof="0" dirty="0">
                <a:ln>
                  <a:noFill/>
                </a:ln>
                <a:solidFill>
                  <a:srgbClr val="FFD966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Efficiently Serving Long-Context LLMs with In-Network Aggregation</a:t>
            </a:r>
            <a:endParaRPr lang="en-US" altLang="zh-CN" sz="3600" noProof="0" dirty="0">
              <a:ln>
                <a:noFill/>
              </a:ln>
              <a:solidFill>
                <a:srgbClr val="FFD966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479550" y="3429000"/>
            <a:ext cx="8556625" cy="798830"/>
          </a:xfrm>
        </p:spPr>
        <p:txBody>
          <a:bodyPr/>
          <a:lstStyle/>
          <a:p>
            <a:pPr algn="ctr" defTabSz="457200">
              <a:lnSpc>
                <a:spcPct val="150000"/>
              </a:lnSpc>
              <a:buClrTx/>
              <a:buSzTx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Ying Wan, Yuchen Xu, Chuwen Zhang, Yingsheng Huang, </a:t>
            </a:r>
            <a:endParaRPr lang="en-US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 defTabSz="457200">
              <a:lnSpc>
                <a:spcPct val="150000"/>
              </a:lnSpc>
              <a:buClrTx/>
              <a:buSzTx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Yong Feng, Wenquan Xu, Jialin Li, Mingwei Xu, Wenfei Wu, Congcong Miao.</a:t>
            </a:r>
            <a:endParaRPr kumimoji="0" lang="en-US" altLang="zh-CN" sz="2000" b="1" baseline="30000" dirty="0">
              <a:solidFill>
                <a:srgbClr val="FFFFFF"/>
              </a:solidFill>
              <a:latin typeface="Arial" panose="020B0604020202020204" pitchFamily="34" charset="0"/>
              <a:ea typeface="Adobe 宋体 Std L" pitchFamily="18" charset="-122"/>
              <a:cs typeface="Arial" panose="020B0604020202020204" pitchFamily="34" charset="0"/>
            </a:endParaRPr>
          </a:p>
          <a:p>
            <a:endParaRPr kumimoji="0" lang="en-US" altLang="zh-CN" sz="2000" b="1" baseline="30000" dirty="0">
              <a:solidFill>
                <a:srgbClr val="FFFFFF"/>
              </a:solidFill>
              <a:latin typeface="Arial" panose="020B0604020202020204" pitchFamily="34" charset="0"/>
              <a:ea typeface="Adobe 宋体 Std L" pitchFamily="18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>
            <p:custDataLst>
              <p:tags r:id="rId1"/>
            </p:custDataLst>
          </p:nvPr>
        </p:nvGrpSpPr>
        <p:grpSpPr>
          <a:xfrm>
            <a:off x="417195" y="2411095"/>
            <a:ext cx="1727835" cy="504190"/>
            <a:chOff x="657" y="7220"/>
            <a:chExt cx="2721" cy="794"/>
          </a:xfrm>
        </p:grpSpPr>
        <p:sp>
          <p:nvSpPr>
            <p:cNvPr id="65" name="矩形 64"/>
            <p:cNvSpPr/>
            <p:nvPr userDrawn="1">
              <p:custDataLst>
                <p:tags r:id="rId2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6" name="单圆角矩形 65"/>
            <p:cNvSpPr/>
            <p:nvPr userDrawn="1">
              <p:custDataLst>
                <p:tags r:id="rId3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4"/>
            </p:custDataLst>
          </p:nvPr>
        </p:nvGrpSpPr>
        <p:grpSpPr>
          <a:xfrm>
            <a:off x="417195" y="3157855"/>
            <a:ext cx="1727835" cy="504190"/>
            <a:chOff x="657" y="7220"/>
            <a:chExt cx="2721" cy="794"/>
          </a:xfrm>
        </p:grpSpPr>
        <p:sp>
          <p:nvSpPr>
            <p:cNvPr id="15" name="矩形 14"/>
            <p:cNvSpPr/>
            <p:nvPr userDrawn="1">
              <p:custDataLst>
                <p:tags r:id="rId5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15"/>
            <p:cNvSpPr/>
            <p:nvPr userDrawn="1">
              <p:custDataLst>
                <p:tags r:id="rId6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417195" y="3904615"/>
            <a:ext cx="1727835" cy="504190"/>
            <a:chOff x="657" y="7220"/>
            <a:chExt cx="2721" cy="794"/>
          </a:xfrm>
        </p:grpSpPr>
        <p:sp>
          <p:nvSpPr>
            <p:cNvPr id="18" name="矩形 17"/>
            <p:cNvSpPr/>
            <p:nvPr userDrawn="1">
              <p:custDataLst>
                <p:tags r:id="rId8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9" name="单圆角矩形 18"/>
            <p:cNvSpPr/>
            <p:nvPr userDrawn="1">
              <p:custDataLst>
                <p:tags r:id="rId9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0"/>
            </p:custDataLst>
          </p:nvPr>
        </p:nvGrpSpPr>
        <p:grpSpPr>
          <a:xfrm>
            <a:off x="417195" y="4651375"/>
            <a:ext cx="1727835" cy="504190"/>
            <a:chOff x="657" y="7220"/>
            <a:chExt cx="2721" cy="794"/>
          </a:xfrm>
        </p:grpSpPr>
        <p:sp>
          <p:nvSpPr>
            <p:cNvPr id="21" name="矩形 20"/>
            <p:cNvSpPr/>
            <p:nvPr userDrawn="1">
              <p:custDataLst>
                <p:tags r:id="rId11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22" name="单圆角矩形 21"/>
            <p:cNvSpPr/>
            <p:nvPr userDrawn="1">
              <p:custDataLst>
                <p:tags r:id="rId12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04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sp>
        <p:nvSpPr>
          <p:cNvPr id="7" name="文本占位符 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494280" y="243332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icrosoft YaHei Bold" panose="020B0502040204020203" charset="-122"/>
                <a:cs typeface="Arial" panose="020B0604020202020204" pitchFamily="34" charset="0"/>
              </a:defRPr>
            </a:lvl1pPr>
          </a:lstStyle>
          <a:p>
            <a:pPr marL="0" lvl="0" eaLnBrk="0" hangingPunct="0"/>
            <a:r>
              <a:rPr lang="zh-CN" altLang="en-US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研究背景与关键问题</a:t>
            </a:r>
            <a:endParaRPr lang="zh-CN" altLang="en-US">
              <a:effectLst>
                <a:outerShdw blurRad="38100" dist="38100" dir="2700000" algn="tl">
                  <a:schemeClr val="accent6">
                    <a:lumMod val="75000"/>
                    <a:alpha val="40000"/>
                  </a:schemeClr>
                </a:outerShdw>
              </a:effectLst>
              <a:latin typeface="Source Han Sans CN" panose="020B0800000000000000" charset="-122"/>
              <a:ea typeface="Source Han Sans CN" panose="020B0800000000000000" charset="-122"/>
              <a:sym typeface="+mn-ea"/>
            </a:endParaRPr>
          </a:p>
        </p:txBody>
      </p:sp>
      <p:sp>
        <p:nvSpPr>
          <p:cNvPr id="29" name="文本占位符 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494280" y="39331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icrosoft YaHei Bold" panose="020B0502040204020203" charset="-122"/>
                <a:cs typeface="Arial" panose="020B0604020202020204" pitchFamily="34" charset="0"/>
              </a:defRPr>
            </a:lvl1pPr>
          </a:lstStyle>
          <a:p>
            <a:pPr marL="0" lvl="0" eaLnBrk="0" hangingPunct="0"/>
            <a:r>
              <a:rPr kumimoji="1" lang="zh-CN" altLang="en-US" dirty="0" err="1"/>
              <a:t>分析与实验评估</a:t>
            </a:r>
            <a:endParaRPr kumimoji="1" lang="zh-CN" altLang="en-US" dirty="0" err="1"/>
          </a:p>
        </p:txBody>
      </p:sp>
      <p:sp>
        <p:nvSpPr>
          <p:cNvPr id="30" name="文本占位符 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494280" y="318325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icrosoft YaHei Bold" panose="020B0502040204020203" charset="-122"/>
                <a:cs typeface="Arial" panose="020B0604020202020204" pitchFamily="34" charset="0"/>
              </a:defRPr>
            </a:lvl1pPr>
          </a:lstStyle>
          <a:p>
            <a:pPr marL="0" lvl="0" eaLnBrk="0" hangingPunct="0"/>
            <a:r>
              <a:rPr kumimoji="1" lang="en-US" altLang="zh-CN" dirty="0" err="1"/>
              <a:t>Turbo </a:t>
            </a:r>
            <a:r>
              <a:rPr kumimoji="1" lang="zh-CN" altLang="en-US" dirty="0" err="1"/>
              <a:t>系统设计</a:t>
            </a:r>
            <a:endParaRPr kumimoji="1" lang="zh-CN" altLang="en-US" dirty="0" err="1"/>
          </a:p>
        </p:txBody>
      </p:sp>
      <p:sp>
        <p:nvSpPr>
          <p:cNvPr id="32" name="文本占位符 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494280" y="468312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icrosoft YaHei Bold" panose="020B0502040204020203" charset="-122"/>
                <a:cs typeface="Arial" panose="020B0604020202020204" pitchFamily="34" charset="0"/>
              </a:defRPr>
            </a:lvl1pPr>
          </a:lstStyle>
          <a:p>
            <a:pPr marL="0" lvl="0" eaLnBrk="0" hangingPunct="0"/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总结</a:t>
            </a:r>
            <a:endParaRPr>
              <a:effectLst>
                <a:outerShdw blurRad="38100" dist="38100" dir="2700000" algn="tl">
                  <a:schemeClr val="accent6">
                    <a:lumMod val="75000"/>
                    <a:alpha val="40000"/>
                  </a:schemeClr>
                </a:outerShdw>
              </a:effectLst>
              <a:latin typeface="Source Han Sans CN" panose="020B0800000000000000" charset="-122"/>
              <a:ea typeface="Source Han Sans CN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+mj-lt"/>
                <a:ea typeface="+mj-lt"/>
              </a:rPr>
              <a:t>01</a:t>
            </a:r>
            <a:endParaRPr lang="en-US" altLang="zh-CN">
              <a:latin typeface="+mj-lt"/>
              <a:ea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541904" y="3428775"/>
            <a:ext cx="8887193" cy="860046"/>
          </a:xfrm>
        </p:spPr>
        <p:txBody>
          <a:bodyPr/>
          <a:p>
            <a:r>
              <a:rPr lang="zh-CN" altLang="en-US"/>
              <a:t>研究背景与关键问题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 sz="4400"/>
              <a:t>背景</a:t>
            </a:r>
            <a:endParaRPr lang="zh-CN" altLang="en-US" sz="44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4" name="Content Placeholder 2"/>
          <p:cNvSpPr>
            <a:spLocks noGrp="1"/>
          </p:cNvSpPr>
          <p:nvPr/>
        </p:nvSpPr>
        <p:spPr>
          <a:xfrm>
            <a:off x="492322" y="913399"/>
            <a:ext cx="6302591" cy="50321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</a:pPr>
            <a:r>
              <a:rPr lang="zh-CN" altLang="en-US" sz="2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长上下文的广泛应用：</a:t>
            </a:r>
            <a:endParaRPr lang="en-US" altLang="zh-CN" sz="2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RAG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检索增强生成</a:t>
            </a:r>
            <a:endParaRPr lang="en-US" altLang="zh-CN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长文档理解</a:t>
            </a:r>
            <a:endParaRPr lang="en-US" altLang="zh-CN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多轮对话记忆</a:t>
            </a:r>
            <a:endParaRPr lang="en-US" altLang="zh-CN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50000"/>
              </a:lnSpc>
              <a:buClrTx/>
              <a:buSzTx/>
            </a:pPr>
            <a:r>
              <a:rPr lang="zh-CN" altLang="en-US" sz="2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长上下文放大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开销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：</a:t>
            </a:r>
            <a:endParaRPr lang="en-US" altLang="zh-CN" sz="2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KV cache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显存占用</a:t>
            </a:r>
            <a:endParaRPr lang="en-US" altLang="zh-CN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注意力计算量</a:t>
            </a:r>
            <a:endParaRPr lang="en-US" altLang="zh-CN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间通信量</a:t>
            </a:r>
            <a:endParaRPr lang="en-US" altLang="zh-CN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5287" y="1857715"/>
            <a:ext cx="6468078" cy="351184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2125" y="5698490"/>
            <a:ext cx="115912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上下文并行</a:t>
            </a:r>
            <a:r>
              <a:rPr lang="zh-CN" altLang="en-US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：</a:t>
            </a:r>
            <a:r>
              <a:rPr lang="zh-CN" altLang="en-US" sz="2800" b="1" noProof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把输入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序列拆分到多个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GPU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上，通过通信共享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KV cache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>
                <a:sym typeface="+mn-ea"/>
              </a:rPr>
              <a:t>现有方案&amp;其在解码阶段的局限性</a:t>
            </a:r>
            <a:endParaRPr lang="zh-CN" altLang="en-US"/>
          </a:p>
        </p:txBody>
      </p:sp>
      <p:sp>
        <p:nvSpPr>
          <p:cNvPr id="46" name="Content Placeholder 2"/>
          <p:cNvSpPr>
            <a:spLocks noGrp="1"/>
          </p:cNvSpPr>
          <p:nvPr/>
        </p:nvSpPr>
        <p:spPr>
          <a:xfrm>
            <a:off x="401573" y="1064131"/>
            <a:ext cx="5895228" cy="3176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Pass-KV</a:t>
            </a:r>
            <a:endParaRPr lang="en-US" altLang="zh-CN" sz="24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Ring</a:t>
            </a:r>
            <a:r>
              <a:rPr lang="zh-CN" altLang="en-US" sz="24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：</a:t>
            </a:r>
            <a:r>
              <a:rPr lang="en-US" altLang="zh-CN" sz="24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KV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块</a:t>
            </a:r>
            <a:r>
              <a:rPr lang="zh-CN" altLang="en-US" sz="24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在各工作节点间轮流传递，并最终汇总至主节点</a:t>
            </a:r>
            <a:endParaRPr lang="en-US" altLang="zh-CN" sz="24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局限性</a:t>
            </a:r>
            <a:r>
              <a:rPr lang="en-US" altLang="zh-CN" sz="24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</a:t>
            </a:r>
            <a:endParaRPr lang="en-US" altLang="zh-CN" sz="24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200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通信数据量大</a:t>
            </a:r>
            <a:endParaRPr lang="en-US" altLang="zh-CN" sz="2200" b="0" i="0" dirty="0">
              <a:solidFill>
                <a:srgbClr val="FF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200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解码延迟</a:t>
            </a:r>
            <a:r>
              <a:rPr lang="zh-CN" altLang="en-US" sz="22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随工作节点数量的增加而增加</a:t>
            </a:r>
            <a:endParaRPr lang="en-US" altLang="zh-CN" sz="22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481965" y="3807246"/>
            <a:ext cx="5402879" cy="23442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b="1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Pass-Q</a:t>
            </a:r>
            <a:endParaRPr lang="en-US" altLang="zh-CN" sz="24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4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P2p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：主节点广播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q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，并汇总各工作节点返回的部分注意力计算结果</a:t>
            </a:r>
            <a:endParaRPr lang="en-US" altLang="zh-CN" sz="24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局限性</a:t>
            </a:r>
            <a:r>
              <a:rPr lang="en-US" altLang="zh-CN" sz="24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</a:t>
            </a:r>
            <a:endParaRPr lang="en-US" altLang="zh-CN" sz="24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742950" lvl="1" indent="-285750">
              <a:lnSpc>
                <a:spcPct val="10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减少了链路流量，但带来了 </a:t>
            </a:r>
            <a:r>
              <a:rPr lang="en-US" altLang="zh-CN" sz="22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incast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汇聚拥塞和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聚合阶段瓶颈</a:t>
            </a:r>
            <a:endParaRPr lang="en-US" altLang="zh-CN" sz="2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493" y="1064263"/>
            <a:ext cx="4563694" cy="2565763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30317"/>
            <a:ext cx="5950227" cy="2727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关键观察</a:t>
            </a:r>
            <a:endParaRPr lang="en-US" altLang="zh-CN"/>
          </a:p>
        </p:txBody>
      </p:sp>
      <p:sp>
        <p:nvSpPr>
          <p:cNvPr id="72" name="文本框 71"/>
          <p:cNvSpPr txBox="1"/>
          <p:nvPr/>
        </p:nvSpPr>
        <p:spPr>
          <a:xfrm>
            <a:off x="373420" y="1205176"/>
            <a:ext cx="6264081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集中式通信会加剧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排队延迟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尾延迟</a:t>
            </a:r>
            <a:endParaRPr lang="en-US" altLang="zh-CN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3419" y="2441726"/>
            <a:ext cx="6264081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如何减少网络流量并避免 </a:t>
            </a:r>
            <a:r>
              <a:rPr lang="en-US" altLang="zh-CN" sz="2400" b="1" i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incast</a:t>
            </a:r>
            <a:r>
              <a:rPr lang="zh-CN" altLang="en-US" sz="2400" b="1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？</a:t>
            </a:r>
            <a:endParaRPr lang="en-US" altLang="zh-CN" sz="2400" b="1" i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3418" y="3443234"/>
            <a:ext cx="609600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通信内核会占用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GPU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的流式多处理器（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SM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），从而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降低矩阵计算性能</a:t>
            </a:r>
            <a:endParaRPr lang="zh-CN" altLang="en-US" sz="2400" b="1" i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3417" y="4919645"/>
            <a:ext cx="5575734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如何减少通信连接数来降低计算干扰？</a:t>
            </a:r>
            <a:endParaRPr lang="zh-CN" altLang="en-US" sz="2400" b="1" i="1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015" y="2814321"/>
            <a:ext cx="5854348" cy="240164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33579" y="521975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绿色</a:t>
            </a:r>
            <a:r>
              <a:rPr lang="en-US" altLang="zh-CN" sz="1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 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所有</a:t>
            </a:r>
            <a:r>
              <a:rPr lang="en-US" altLang="zh-CN" sz="1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SM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都用于计算</a:t>
            </a:r>
            <a:endParaRPr lang="en-US" altLang="zh-CN" sz="18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/>
            <a:r>
              <a:rPr lang="zh-CN" altLang="en-US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蓝色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 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将部分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SM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用于通信</a:t>
            </a:r>
            <a:endParaRPr lang="en-US" altLang="zh-CN" sz="180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红色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将用于通信的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SM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与计算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SM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并发执行</a:t>
            </a:r>
            <a:endParaRPr lang="en-US" altLang="zh-CN" sz="1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222" y="836190"/>
            <a:ext cx="5182351" cy="1973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+mj-lt"/>
                <a:ea typeface="+mj-lt"/>
              </a:rPr>
              <a:t>02</a:t>
            </a:r>
            <a:endParaRPr lang="en-US" altLang="zh-CN">
              <a:latin typeface="+mj-lt"/>
              <a:ea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541904" y="3428775"/>
            <a:ext cx="8887193" cy="860046"/>
          </a:xfrm>
        </p:spPr>
        <p:txBody>
          <a:bodyPr/>
          <a:p>
            <a:r>
              <a:rPr lang="en-US" altLang="zh-CN"/>
              <a:t>Turbo </a:t>
            </a:r>
            <a:r>
              <a:rPr lang="zh-CN" altLang="en-US"/>
              <a:t>系统设计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设计思路</a:t>
            </a:r>
            <a:endParaRPr lang="en-US" altLang="zh-CN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5001" y="1626792"/>
            <a:ext cx="4134677" cy="431592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961" y="5631781"/>
            <a:ext cx="387089" cy="359829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8320417" y="4007359"/>
            <a:ext cx="1230180" cy="4122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935506" y="1808815"/>
            <a:ext cx="1725867" cy="3645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335749" y="4374009"/>
            <a:ext cx="1994860" cy="3598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92322" y="3094766"/>
            <a:ext cx="6953251" cy="1413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lvl="0">
              <a:lnSpc>
                <a:spcPct val="16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将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查询广播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注意力聚合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卸载到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可编程交换机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上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2" name="Content Placeholder 2"/>
          <p:cNvSpPr>
            <a:spLocks noGrp="1"/>
          </p:cNvSpPr>
          <p:nvPr/>
        </p:nvSpPr>
        <p:spPr>
          <a:xfrm>
            <a:off x="500803" y="4026907"/>
            <a:ext cx="6953251" cy="2464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lvl="1">
              <a:lnSpc>
                <a:spcPct val="16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支持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并行计算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注意力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6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主节点减少了通信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/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规约内核的开销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6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主节点只需要接收最终的注意力结果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6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保持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线速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转发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27" name="Content Placeholder 2"/>
          <p:cNvSpPr>
            <a:spLocks noGrp="1"/>
          </p:cNvSpPr>
          <p:nvPr/>
        </p:nvSpPr>
        <p:spPr>
          <a:xfrm>
            <a:off x="501212" y="1150630"/>
            <a:ext cx="6953251" cy="194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lvl="0">
              <a:lnSpc>
                <a:spcPct val="16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解码过程更适合于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Pass-Q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范式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6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广播查询向量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6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并行计算注意力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3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系统概述</a:t>
            </a:r>
            <a:endParaRPr lang="en-US" altLang="zh-CN"/>
          </a:p>
        </p:txBody>
      </p:sp>
      <p:sp>
        <p:nvSpPr>
          <p:cNvPr id="42" name="Content Placeholder 2"/>
          <p:cNvSpPr>
            <a:spLocks noGrp="1"/>
          </p:cNvSpPr>
          <p:nvPr/>
        </p:nvSpPr>
        <p:spPr>
          <a:xfrm>
            <a:off x="679712" y="885863"/>
            <a:ext cx="5347014" cy="5522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控制平面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调度序列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配置交换机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管理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KV cache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主节点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负责发起解码请求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发送查询并接收聚合后的注意力结果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可与张量并行（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TP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）、数据并行（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DP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）等策略组合使用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工作节点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存储本地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KV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缓存分片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接收查询向量，计算并返回部分注意力结果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交换机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广播查询向量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lt"/>
              </a:rPr>
              <a:t>在线聚合部分注意力结果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lt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9300" y="1503376"/>
            <a:ext cx="6271113" cy="46016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挑战 1｜在资源受限的交换机上实现注意力聚合</a:t>
            </a:r>
            <a:endParaRPr lang="en-US" altLang="zh-CN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321679" y="999372"/>
            <a:ext cx="5371985" cy="5533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标准注意力聚合依赖于 </a:t>
            </a:r>
            <a:r>
              <a:rPr lang="en-US" altLang="zh-CN" sz="2200" dirty="0" err="1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softmax</a:t>
            </a:r>
            <a:r>
              <a:rPr lang="en-US" altLang="zh-CN" sz="22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归一化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需要一次性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全局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规约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使用复杂的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指数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/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除法等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运算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本方案设计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 defTabSz="457200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将全局规约重写为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在线更新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 defTabSz="457200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使用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查找表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近似指数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除法运算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defTabSz="457200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特点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 defTabSz="457200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只需维护一个缓存区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 defTabSz="457200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容忍部分注意力结果乱序到达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4304" y="1127026"/>
            <a:ext cx="6006017" cy="290848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336" y="4569749"/>
            <a:ext cx="4705374" cy="16326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挑战 2｜在RMT架构内实现跨阶段状态更新</a:t>
            </a:r>
            <a:endParaRPr lang="en-US" altLang="zh-CN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0320" y="2773408"/>
            <a:ext cx="3984386" cy="3590375"/>
          </a:xfrm>
          <a:prstGeom prst="rect">
            <a:avLst/>
          </a:prstGeom>
        </p:spPr>
      </p:pic>
      <p:sp>
        <p:nvSpPr>
          <p:cNvPr id="33" name="Content Placeholder 2"/>
          <p:cNvSpPr>
            <a:spLocks noGrp="1"/>
          </p:cNvSpPr>
          <p:nvPr/>
        </p:nvSpPr>
        <p:spPr>
          <a:xfrm>
            <a:off x="714375" y="1061842"/>
            <a:ext cx="6083544" cy="5048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RMT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流水线架构的限制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完整更新逻辑无法容纳在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单个阶段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中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不允许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跨阶段读写状态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前向滚动状态更新机制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将更新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拆分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到多个流水线阶段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连续到达的数据包偏移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两个阶段</a:t>
            </a:r>
            <a:endParaRPr lang="en-US" altLang="zh-CN" sz="2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在正确的阶段读取前一状态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代价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未完成的聚合需要重新循环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0">
              <a:lnSpc>
                <a:spcPct val="130000"/>
              </a:lnSpc>
            </a:pP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8243767" y="4600916"/>
            <a:ext cx="1230180" cy="3044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>
          <a:xfrm rot="1712572">
            <a:off x="7422903" y="3370763"/>
            <a:ext cx="1641727" cy="6495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892" y="796349"/>
            <a:ext cx="4904495" cy="199382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866" y="6030450"/>
            <a:ext cx="895238" cy="3333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挑战 3｜实现多交换机间的负载均衡</a:t>
            </a:r>
            <a:endParaRPr lang="en-US" altLang="zh-CN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3727" y="4512055"/>
            <a:ext cx="3373433" cy="146796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28" y="729609"/>
            <a:ext cx="6213692" cy="3594609"/>
          </a:xfrm>
          <a:prstGeom prst="rect">
            <a:avLst/>
          </a:prstGeom>
        </p:spPr>
      </p:pic>
      <p:sp>
        <p:nvSpPr>
          <p:cNvPr id="32" name="Content Placeholder 2"/>
          <p:cNvSpPr>
            <a:spLocks noGrp="1"/>
          </p:cNvSpPr>
          <p:nvPr/>
        </p:nvSpPr>
        <p:spPr>
          <a:xfrm>
            <a:off x="481965" y="1066275"/>
            <a:ext cx="4847774" cy="4368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避免让单个交换机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过载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聚合树的构造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→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线性规划建模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→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最大流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分配问题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将任务分配问题转化为一个容量受限的流问题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1" i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Ford-Fulkerson</a:t>
            </a:r>
            <a:r>
              <a:rPr lang="zh-CN" altLang="en-US" sz="2000" b="1" i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算法</a:t>
            </a:r>
            <a:endParaRPr lang="en-US" altLang="zh-CN" sz="2000" b="1" i="1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+mj-lt"/>
                <a:ea typeface="+mj-lt"/>
              </a:rPr>
              <a:t>03</a:t>
            </a:r>
            <a:endParaRPr lang="en-US" altLang="zh-CN">
              <a:latin typeface="+mj-lt"/>
              <a:ea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541904" y="3428775"/>
            <a:ext cx="8887193" cy="860046"/>
          </a:xfrm>
        </p:spPr>
        <p:txBody>
          <a:bodyPr/>
          <a:p>
            <a:pPr marL="0" lvl="0" eaLnBrk="0" hangingPunct="0"/>
            <a:r>
              <a:rPr kumimoji="1" dirty="0" err="1">
                <a:sym typeface="+mn-ea"/>
              </a:rPr>
              <a:t>分析与实验评估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理论分析对比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207477" y="5611256"/>
            <a:ext cx="97770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降低网络流量、端到端延迟、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GPU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计算开销和缓冲区需求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11155" y="956121"/>
            <a:ext cx="10570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s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：序列长度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,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c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KV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块大小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,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：工作节点数量（或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KV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块数量）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, 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d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：隐藏维度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994054" y="1485725"/>
          <a:ext cx="10159835" cy="394130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031967"/>
                <a:gridCol w="1667899"/>
                <a:gridCol w="2481072"/>
                <a:gridCol w="1946930"/>
                <a:gridCol w="2031967"/>
              </a:tblGrid>
              <a:tr h="656884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方案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网络流量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延迟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计算量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缓冲区大小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56884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Pass-KV (p2p)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O(sd)</a:t>
                      </a:r>
                      <a:endParaRPr lang="zh-CN" altLang="zh-CN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net</a:t>
                      </a: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+n×T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reduce</a:t>
                      </a:r>
                      <a:endParaRPr kumimoji="0" lang="zh-CN" altLang="en-US" sz="135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n×C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+C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reduce</a:t>
                      </a:r>
                      <a:endParaRPr kumimoji="0" lang="zh-CN" altLang="en-US" sz="15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O(sd)</a:t>
                      </a:r>
                      <a:endParaRPr kumimoji="0" lang="en-US" altLang="zh-CN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6884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Pass-KV(ring)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O(sd)</a:t>
                      </a:r>
                      <a:endParaRPr lang="zh-CN" altLang="zh-CN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n × max{T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net</a:t>
                      </a:r>
                      <a:r>
                        <a:rPr kumimoji="0" lang="zh-CN" alt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，</a:t>
                      </a: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} + 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reduce</a:t>
                      </a:r>
                      <a:endParaRPr kumimoji="0" lang="zh-CN" altLang="en-US" sz="135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n×C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+C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reduce</a:t>
                      </a: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kumimoji="0" lang="zh-CN" altLang="en-US" sz="15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 </a:t>
                      </a:r>
                      <a:r>
                        <a:rPr kumimoji="0" lang="zh-CN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O(</a:t>
                      </a: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r>
                        <a:rPr kumimoji="0" lang="zh-CN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d)</a:t>
                      </a:r>
                      <a:r>
                        <a:rPr kumimoji="0" lang="zh-CN" alt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 </a:t>
                      </a:r>
                      <a:endParaRPr kumimoji="0" lang="zh-CN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/>
                </a:tc>
              </a:tr>
              <a:tr h="656884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Pass-Q (p2p)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O(nd)</a:t>
                      </a:r>
                      <a:endParaRPr lang="zh-CN" altLang="zh-CN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2T</a:t>
                      </a:r>
                      <a:r>
                        <a:rPr kumimoji="0" lang="en-US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net</a:t>
                      </a:r>
                      <a:r>
                        <a:rPr kumimoji="0" lang="en-US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+T</a:t>
                      </a:r>
                      <a:r>
                        <a:rPr kumimoji="0" lang="en-US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r>
                        <a:rPr kumimoji="0" lang="en-US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+T</a:t>
                      </a:r>
                      <a:r>
                        <a:rPr kumimoji="0" lang="en-US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reduce</a:t>
                      </a:r>
                      <a:endParaRPr kumimoji="0" lang="zh-CN" altLang="en-US" sz="135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+C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reduce</a:t>
                      </a:r>
                      <a:endParaRPr kumimoji="0" lang="zh-CN" altLang="en-US" sz="15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O(nd)</a:t>
                      </a:r>
                      <a:endParaRPr kumimoji="0" lang="en-US" altLang="zh-CN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6884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Pass-Q (ring)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O(nd)</a:t>
                      </a:r>
                      <a:endParaRPr lang="zh-CN" altLang="zh-CN" sz="1800" dirty="0">
                        <a:solidFill>
                          <a:srgbClr val="000000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n×max{T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net</a:t>
                      </a: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, 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r>
                        <a:rPr kumimoji="0" lang="sv-SE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}+T</a:t>
                      </a:r>
                      <a:r>
                        <a:rPr kumimoji="0" lang="sv-SE" altLang="zh-CN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reduce</a:t>
                      </a:r>
                      <a:endParaRPr kumimoji="0" lang="zh-CN" altLang="en-US" sz="135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 C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+C</a:t>
                      </a:r>
                      <a:r>
                        <a:rPr kumimoji="0" lang="en-US" altLang="zh-CN" sz="1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reduce</a:t>
                      </a:r>
                      <a:endParaRPr kumimoji="0" lang="zh-CN" altLang="en-US" sz="15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O(d)</a:t>
                      </a:r>
                      <a:endParaRPr kumimoji="0" lang="en-US" altLang="zh-CN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</a:tr>
              <a:tr h="656884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Turbo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1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O(d)</a:t>
                      </a:r>
                      <a:endParaRPr lang="zh-CN" altLang="zh-CN" sz="1800" b="1" dirty="0">
                        <a:solidFill>
                          <a:srgbClr val="FF0000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75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2T</a:t>
                      </a:r>
                      <a:r>
                        <a:rPr kumimoji="0" lang="en-US" altLang="zh-CN" sz="1575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net</a:t>
                      </a:r>
                      <a:r>
                        <a:rPr kumimoji="0" lang="en-US" altLang="zh-CN" sz="1575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+T</a:t>
                      </a:r>
                      <a:r>
                        <a:rPr kumimoji="0" lang="en-US" altLang="zh-CN" sz="1575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endParaRPr kumimoji="0" lang="zh-CN" altLang="en-US" sz="1575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r>
                        <a:rPr kumimoji="0" lang="en-US" altLang="zh-CN" sz="165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block_attn</a:t>
                      </a:r>
                      <a:endParaRPr kumimoji="0" lang="zh-CN" altLang="en-US" sz="165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O(d)</a:t>
                      </a:r>
                      <a:endParaRPr kumimoji="0" lang="en-US" altLang="zh-CN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实验设置</a:t>
            </a:r>
            <a:endParaRPr lang="en-US" altLang="zh-CN"/>
          </a:p>
        </p:txBody>
      </p:sp>
      <p:grpSp>
        <p:nvGrpSpPr>
          <p:cNvPr id="18" name="Group 18"/>
          <p:cNvGrpSpPr/>
          <p:nvPr/>
        </p:nvGrpSpPr>
        <p:grpSpPr>
          <a:xfrm>
            <a:off x="654251" y="988868"/>
            <a:ext cx="4477915" cy="2600111"/>
            <a:chOff x="666748" y="1619250"/>
            <a:chExt cx="6798477" cy="3321935"/>
          </a:xfrm>
        </p:grpSpPr>
        <p:sp>
          <p:nvSpPr>
            <p:cNvPr id="5" name="Rectangle 5"/>
            <p:cNvSpPr/>
            <p:nvPr/>
          </p:nvSpPr>
          <p:spPr>
            <a:xfrm>
              <a:off x="666748" y="1619250"/>
              <a:ext cx="6798477" cy="3321935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 w="19050">
              <a:solidFill>
                <a:srgbClr val="D1D5DB"/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8693" y="2037723"/>
              <a:ext cx="6326288" cy="26928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真实测试平台</a:t>
              </a:r>
              <a:endPara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4</a:t>
              </a:r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个节点</a:t>
              </a:r>
              <a:r>
                <a:rPr lang="fr-FR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× 2 </a:t>
              </a:r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张</a:t>
              </a:r>
              <a:r>
                <a:rPr lang="fr-FR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RTX 3090 GPU</a:t>
              </a:r>
              <a:endParaRPr lang="fr-FR" altLang="zh-CN" sz="2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100 Gbps NIC</a:t>
              </a:r>
              <a:endParaRPr lang="fr-FR" altLang="zh-CN" sz="2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Tofino2 </a:t>
              </a:r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可编程交换机</a:t>
              </a:r>
              <a:endParaRPr lang="fr-FR" altLang="zh-CN" sz="2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LLAMA-2 7B + ShareGPT</a:t>
              </a:r>
              <a:endParaRPr lang="zh-CN" sz="2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8695" y="4327207"/>
              <a:ext cx="99" cy="324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6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4252" y="3860665"/>
            <a:ext cx="4477915" cy="2649273"/>
            <a:chOff x="6476999" y="1834645"/>
            <a:chExt cx="6798477" cy="3322690"/>
          </a:xfrm>
        </p:grpSpPr>
        <p:sp>
          <p:nvSpPr>
            <p:cNvPr id="19" name="Rectangle 19"/>
            <p:cNvSpPr/>
            <p:nvPr/>
          </p:nvSpPr>
          <p:spPr>
            <a:xfrm>
              <a:off x="6476999" y="1834645"/>
              <a:ext cx="6798477" cy="3036170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 w="19050">
              <a:solidFill>
                <a:srgbClr val="D1D5DB"/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0965" y="2041430"/>
              <a:ext cx="6270424" cy="3115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大规模评估</a:t>
              </a:r>
              <a:endPara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nl-NL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16 </a:t>
              </a:r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个节点</a:t>
              </a:r>
              <a:r>
                <a:rPr lang="nl-NL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, 200 Gbps RoCEv2</a:t>
              </a:r>
              <a:endParaRPr lang="nl-NL" altLang="zh-CN" sz="2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nl-NL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ToR </a:t>
              </a:r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和</a:t>
              </a:r>
              <a:r>
                <a:rPr lang="nl-NL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 Spine-Leaf </a:t>
              </a:r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网络拓扑</a:t>
              </a:r>
              <a:endParaRPr lang="nl-NL" altLang="zh-CN" sz="2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LLAMA-2 7B + GPT-3 175B</a:t>
              </a:r>
              <a:endParaRPr lang="en-US" altLang="zh-CN" sz="2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最多</a:t>
              </a:r>
              <a:r>
                <a:rPr lang="en-US" altLang="zh-CN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32 </a:t>
              </a:r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charset="0"/>
                </a:rPr>
                <a:t>个并发任务</a:t>
              </a:r>
              <a:endParaRPr lang="nl-NL" altLang="zh-CN" sz="2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  <a:p>
              <a:pPr algn="l">
                <a:lnSpc>
                  <a:spcPct val="120000"/>
                </a:lnSpc>
              </a:pPr>
              <a:endParaRPr lang="zh-CN" sz="202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endParaRPr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4369" y="2288924"/>
            <a:ext cx="6544426" cy="25170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368" y="4489852"/>
            <a:ext cx="6544427" cy="58172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692" y="4359607"/>
            <a:ext cx="5051229" cy="4285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真实测试平台实验结果</a:t>
            </a:r>
            <a:endParaRPr lang="en-US" altLang="zh-CN"/>
          </a:p>
        </p:txBody>
      </p:sp>
      <p:sp>
        <p:nvSpPr>
          <p:cNvPr id="2" name="Text 9"/>
          <p:cNvSpPr/>
          <p:nvPr/>
        </p:nvSpPr>
        <p:spPr>
          <a:xfrm>
            <a:off x="7020504" y="1258133"/>
            <a:ext cx="41412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TPOT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：输出每个令牌所需的时间</a:t>
            </a:r>
            <a:endParaRPr 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59794" y="5616897"/>
            <a:ext cx="88556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Turbo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在节点数增多时展现出更优的扩展性能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334" y="1651997"/>
            <a:ext cx="5992660" cy="229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解码延迟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节点规模下对比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Pass-KV Ring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方案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5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最高降低</a:t>
            </a:r>
            <a:r>
              <a:rPr lang="en-US" altLang="zh-CN" sz="5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37%</a:t>
            </a:r>
            <a:endParaRPr lang="en-US" altLang="zh-CN" sz="5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129" y="1652321"/>
            <a:ext cx="5761905" cy="3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540" y="4501769"/>
            <a:ext cx="1466667" cy="619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>
                <a:sym typeface="+mn-ea"/>
              </a:rPr>
              <a:t>准确性</a:t>
            </a:r>
            <a:endParaRPr>
              <a:sym typeface="+mn-ea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95" y="873819"/>
            <a:ext cx="5000000" cy="1666667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rcRect t="6675"/>
          <a:stretch>
            <a:fillRect/>
          </a:stretch>
        </p:blipFill>
        <p:spPr>
          <a:xfrm>
            <a:off x="1707901" y="2545260"/>
            <a:ext cx="9220201" cy="22389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8880" y="5775097"/>
            <a:ext cx="108170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Turbo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在近似误差可忽略不计的情况下，保持了输出质量。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707900" y="4887493"/>
          <a:ext cx="9829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  <a:gridCol w="16383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上下文长度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150k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250k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KL </a:t>
                      </a:r>
                      <a:r>
                        <a:rPr lang="zh-CN" altLang="en-US" dirty="0"/>
                        <a:t>散度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0.007927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0.009656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0.008938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0.009187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0.008893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9"/>
          <p:cNvSpPr/>
          <p:nvPr/>
        </p:nvSpPr>
        <p:spPr>
          <a:xfrm>
            <a:off x="248423" y="5096766"/>
            <a:ext cx="14594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Qwen 3.5 9B</a:t>
            </a:r>
            <a:endParaRPr 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2867" y="954221"/>
            <a:ext cx="6831495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困惑度</a:t>
            </a:r>
            <a:r>
              <a:rPr lang="en-US" altLang="zh-CN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</a:t>
            </a:r>
            <a:r>
              <a:rPr lang="zh-CN" altLang="en-US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衡量下一个</a:t>
            </a:r>
            <a:r>
              <a:rPr lang="en-US" altLang="zh-CN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token</a:t>
            </a:r>
            <a:r>
              <a:rPr lang="zh-CN" altLang="en-US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的预测质量</a:t>
            </a:r>
            <a:endParaRPr lang="en-US" altLang="zh-CN" i="0" dirty="0"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285750" lvl="0" indent="-28575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KL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散度</a:t>
            </a:r>
            <a:r>
              <a:rPr lang="en-US" altLang="zh-CN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衡量相对于原始分布的偏移情况</a:t>
            </a:r>
            <a:endParaRPr lang="en-US" altLang="zh-CN" i="0" dirty="0">
              <a:effectLst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285750" lvl="0" indent="-28575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两者都是</a:t>
            </a:r>
            <a:r>
              <a:rPr lang="zh-CN" altLang="en-US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越低越好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212" y="2206556"/>
            <a:ext cx="905611" cy="3822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386" y="4417163"/>
            <a:ext cx="852604" cy="359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大规模评估实验结果</a:t>
            </a:r>
            <a:endParaRPr lang="en-US" altLang="zh-CN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21" y="3501549"/>
            <a:ext cx="10929348" cy="285498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063" y="1072890"/>
            <a:ext cx="4644887" cy="240431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620239" y="2741090"/>
            <a:ext cx="4644887" cy="327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8139" y="1756317"/>
            <a:ext cx="4876800" cy="1316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2800" b="1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Turbo</a:t>
            </a:r>
            <a:r>
              <a:rPr lang="zh-CN" altLang="en-US" sz="2800" b="1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在降低主节点通信量的同时，保持了较低的</a:t>
            </a:r>
            <a:r>
              <a:rPr lang="en-US" altLang="zh-CN" sz="2800" b="1" i="0" dirty="0"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TPOT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2" name="Line 4"/>
          <p:cNvSpPr/>
          <p:nvPr/>
        </p:nvSpPr>
        <p:spPr>
          <a:xfrm>
            <a:off x="492322" y="89917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974" y="3197604"/>
            <a:ext cx="921026" cy="3887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717" y="6070056"/>
            <a:ext cx="921026" cy="3887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086" y="6070055"/>
            <a:ext cx="921027" cy="3887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>
                <a:sym typeface="+mn-ea"/>
              </a:rPr>
              <a:t>硬件资源开销</a:t>
            </a:r>
            <a:endParaRPr lang="en-US" altLang="zh-CN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906" y="1835103"/>
            <a:ext cx="4329294" cy="295379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3" y="2101768"/>
            <a:ext cx="5650008" cy="199882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162409" y="3324197"/>
            <a:ext cx="4644887" cy="327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27" y="3763197"/>
            <a:ext cx="1137525" cy="48012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451" y="4442446"/>
            <a:ext cx="1466667" cy="6190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906" y="1488393"/>
            <a:ext cx="4329294" cy="29537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13" y="2228768"/>
            <a:ext cx="5650008" cy="199882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289409" y="3451197"/>
            <a:ext cx="4644887" cy="327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27" y="3890197"/>
            <a:ext cx="1137525" cy="4801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51" y="4569446"/>
            <a:ext cx="1466667" cy="61904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43443" y="5192271"/>
            <a:ext cx="108170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i="0" dirty="0">
                <a:solidFill>
                  <a:srgbClr val="0F111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Turbo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的额外硬件资源开销是可接受的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+mj-lt"/>
                <a:ea typeface="+mj-lt"/>
              </a:rPr>
              <a:t>04</a:t>
            </a:r>
            <a:endParaRPr lang="en-US" altLang="zh-CN">
              <a:latin typeface="+mj-lt"/>
              <a:ea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541904" y="3428775"/>
            <a:ext cx="8887193" cy="860046"/>
          </a:xfrm>
        </p:spPr>
        <p:txBody>
          <a:bodyPr/>
          <a:p>
            <a:pPr marL="0" lvl="0" eaLnBrk="0" hangingPunct="0"/>
            <a:r>
              <a:rPr kumimoji="1" dirty="0" err="1">
                <a:sym typeface="+mn-ea"/>
              </a:rPr>
              <a:t>总结</a:t>
            </a:r>
            <a:endParaRPr kumimoji="1" dirty="0" err="1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 sz="3600"/>
              <a:t>总结</a:t>
            </a:r>
            <a:endParaRPr lang="zh-CN" altLang="en-US" sz="3600"/>
          </a:p>
        </p:txBody>
      </p:sp>
      <p:sp>
        <p:nvSpPr>
          <p:cNvPr id="33" name="Content Placeholder 2"/>
          <p:cNvSpPr>
            <a:spLocks noGrp="1"/>
          </p:cNvSpPr>
          <p:nvPr/>
        </p:nvSpPr>
        <p:spPr>
          <a:xfrm>
            <a:off x="423219" y="950277"/>
            <a:ext cx="11769112" cy="54259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关键观察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 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长上下文解码暴露了 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CP 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中的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通信与聚合瓶颈</a:t>
            </a:r>
            <a:endParaRPr lang="en-US" altLang="zh-CN" sz="2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核心思想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 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将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查询向量广播和注意力聚合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卸载到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可编程交换机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上执行</a:t>
            </a:r>
            <a:endParaRPr lang="en-US" altLang="zh-CN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贡献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 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提出了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在线查找表注意力聚合机制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、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前向滚动状态更新机制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，以及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负载感知的聚合树</a:t>
            </a:r>
            <a:endParaRPr lang="en-US" altLang="zh-CN" sz="2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实验结果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: 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更低解码延迟、显著减少通信流量，同时只引入可接受的额外开销，并且精度损失可忽略</a:t>
            </a:r>
            <a:endParaRPr lang="en-US" altLang="zh-CN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zh-CN" altLang="en-US" sz="9600">
                <a:latin typeface="+mj-lt"/>
                <a:ea typeface="+mj-lt"/>
              </a:rPr>
              <a:t>Thanks!</a:t>
            </a:r>
            <a:endParaRPr lang="zh-CN" altLang="en-US" sz="9600">
              <a:latin typeface="+mj-lt"/>
              <a:ea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0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51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3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5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6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9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60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61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62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COMMONDATA" val="eyJoZGlkIjoiYzFkMzZlZGMwYWUyOWM3ZjMwYWJhNDI1OTFhYzRhMTcifQ==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2295</Words>
  <Application>WPS 演示</Application>
  <PresentationFormat>宽屏</PresentationFormat>
  <Paragraphs>288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4" baseType="lpstr">
      <vt:lpstr>Arial</vt:lpstr>
      <vt:lpstr>宋体</vt:lpstr>
      <vt:lpstr>Wingdings</vt:lpstr>
      <vt:lpstr>思源黑体 CN</vt:lpstr>
      <vt:lpstr>黑体</vt:lpstr>
      <vt:lpstr>Source Han Sans SC</vt:lpstr>
      <vt:lpstr>Yu Gothic UI Semilight</vt:lpstr>
      <vt:lpstr>微软雅黑</vt:lpstr>
      <vt:lpstr>Source Han Sans CN Bold</vt:lpstr>
      <vt:lpstr>Arial Regular</vt:lpstr>
      <vt:lpstr>Microsoft YaHei Bold</vt:lpstr>
      <vt:lpstr>Source Han Sans CN</vt:lpstr>
      <vt:lpstr>Arial Unicode MS</vt:lpstr>
      <vt:lpstr>KSOF1F13A434</vt:lpstr>
      <vt:lpstr>JetBrains Mono</vt:lpstr>
      <vt:lpstr>Arial</vt:lpstr>
      <vt:lpstr>Calibri</vt:lpstr>
      <vt:lpstr>Adobe 宋体 Std L</vt:lpstr>
      <vt:lpstr>思源黑体 CN</vt:lpstr>
      <vt:lpstr>Calibri</vt:lpstr>
      <vt:lpstr>GOSIM-默认</vt:lpstr>
      <vt:lpstr>PowerPoint 演示文稿</vt:lpstr>
      <vt:lpstr>PowerPoint 演示文稿</vt:lpstr>
      <vt:lpstr>PowerPoint 演示文稿</vt:lpstr>
      <vt:lpstr>01</vt:lpstr>
      <vt:lpstr>PowerPoint 演示文稿</vt:lpstr>
      <vt:lpstr>PowerPoint 演示文稿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03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旭 张</dc:creator>
  <cp:lastModifiedBy>孙浩翔</cp:lastModifiedBy>
  <cp:revision>77</cp:revision>
  <dcterms:created xsi:type="dcterms:W3CDTF">2026-08-17T10:01:00Z</dcterms:created>
  <dcterms:modified xsi:type="dcterms:W3CDTF">2026-10-08T09:52:04Z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66EA6D057C534DD9A6C246B7B3FF1E8D_13</vt:lpwstr>
  </property>
  <property fmtid="{D5CDD505-2E9C-101B-9397-08002B2CF9AE}" pid="3" name="KSOProductBuildVer">
    <vt:lpwstr>2052-12.1.0.28505</vt:lpwstr>
  </property>
</Properties>
</file>