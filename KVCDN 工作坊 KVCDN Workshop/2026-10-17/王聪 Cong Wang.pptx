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handoutMasterIdLst>
    <p:handoutMasterId r:id="rId29"/>
  </p:handoutMasterIdLst>
  <p:sldIdLst>
    <p:sldId id="272" r:id="rId3"/>
    <p:sldId id="275" r:id="rId4"/>
    <p:sldId id="257" r:id="rId6"/>
    <p:sldId id="258" r:id="rId7"/>
    <p:sldId id="280" r:id="rId8"/>
    <p:sldId id="265" r:id="rId9"/>
    <p:sldId id="278" r:id="rId10"/>
    <p:sldId id="279" r:id="rId11"/>
    <p:sldId id="282" r:id="rId12"/>
    <p:sldId id="284" r:id="rId13"/>
    <p:sldId id="276" r:id="rId14"/>
    <p:sldId id="299" r:id="rId15"/>
    <p:sldId id="300" r:id="rId16"/>
    <p:sldId id="301" r:id="rId17"/>
    <p:sldId id="302" r:id="rId18"/>
    <p:sldId id="303" r:id="rId19"/>
    <p:sldId id="281" r:id="rId20"/>
    <p:sldId id="260" r:id="rId21"/>
    <p:sldId id="291" r:id="rId22"/>
    <p:sldId id="292" r:id="rId23"/>
    <p:sldId id="286" r:id="rId24"/>
    <p:sldId id="285" r:id="rId25"/>
    <p:sldId id="293" r:id="rId26"/>
    <p:sldId id="294" r:id="rId27"/>
    <p:sldId id="274" r:id="rId28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ECEA"/>
    <a:srgbClr val="5B6675"/>
    <a:srgbClr val="BDD74F"/>
    <a:srgbClr val="30AD80"/>
    <a:srgbClr val="FFFFFF"/>
    <a:srgbClr val="0A2540"/>
    <a:srgbClr val="FFF001"/>
    <a:srgbClr val="FFDA00"/>
    <a:srgbClr val="30AE82"/>
    <a:srgbClr val="FFF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88"/>
    <p:restoredTop sz="94704"/>
  </p:normalViewPr>
  <p:slideViewPr>
    <p:cSldViewPr snapToGrid="0" showGuides="1">
      <p:cViewPr varScale="1">
        <p:scale>
          <a:sx n="115" d="100"/>
          <a:sy n="115" d="100"/>
        </p:scale>
        <p:origin x="840" y="200"/>
      </p:cViewPr>
      <p:guideLst>
        <p:guide orient="horz" pos="2170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4" Type="http://schemas.openxmlformats.org/officeDocument/2006/relationships/tags" Target="tags/tag59.xml"/><Relationship Id="rId33" Type="http://schemas.openxmlformats.org/officeDocument/2006/relationships/commentAuthors" Target="commentAuthors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思源黑体 CN" panose="020B0800000000000000" charset="-122"/>
                <a:cs typeface="思源黑体 CN" panose="020B0800000000000000" charset="-122"/>
              </a:rPr>
            </a:fld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思源黑体 CN" panose="020B0800000000000000" charset="-122"/>
                <a:cs typeface="思源黑体 CN" panose="020B0800000000000000" charset="-122"/>
              </a:rPr>
            </a:fld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fld id="{FE24873F-E1EC-7146-A2D5-BA37488A38C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fld id="{D34DCF5F-8B1C-2D4E-A5D0-ACD90FD428A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今天的题目是——</a:t>
            </a:r>
            <a:r>
              <a:rPr lang="en-US" altLang="zh-CN"/>
              <a:t>UCM：</a:t>
            </a:r>
            <a:r>
              <a:rPr lang="zh-CN" altLang="en-US"/>
              <a:t>从 </a:t>
            </a:r>
            <a:r>
              <a:rPr lang="en-US" altLang="zh-CN"/>
              <a:t>KV Cache </a:t>
            </a:r>
            <a:r>
              <a:rPr lang="zh-CN" altLang="en-US"/>
              <a:t>加速，走向智能体规模推理的全生命周期管理。请注意这个转变：过去我们谈 </a:t>
            </a:r>
            <a:r>
              <a:rPr lang="en-US" altLang="zh-CN"/>
              <a:t>KV Cache，</a:t>
            </a:r>
            <a:r>
              <a:rPr lang="zh-CN" altLang="en-US"/>
              <a:t>谈的是怎么加速推理；今天要谈的，是当 </a:t>
            </a:r>
            <a:r>
              <a:rPr lang="en-US" altLang="zh-CN"/>
              <a:t>Agent </a:t>
            </a:r>
            <a:r>
              <a:rPr lang="zh-CN" altLang="en-US"/>
              <a:t>成为主要负载之后，</a:t>
            </a:r>
            <a:r>
              <a:rPr lang="en-US" altLang="zh-CN"/>
              <a:t>KV Cache </a:t>
            </a:r>
            <a:r>
              <a:rPr lang="zh-CN" altLang="en-US"/>
              <a:t>如何成为一种需要长期经营、长期管理的系统资源。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内容分三部分，它是一条因果链：第一部分，用 </a:t>
            </a:r>
            <a:r>
              <a:rPr lang="en-US" altLang="zh-CN"/>
              <a:t>TraceLab </a:t>
            </a:r>
            <a:r>
              <a:rPr lang="zh-CN" altLang="en-US"/>
              <a:t>的实测流量，说清楚 </a:t>
            </a:r>
            <a:r>
              <a:rPr lang="en-US" altLang="zh-CN"/>
              <a:t>AI Coding </a:t>
            </a:r>
            <a:r>
              <a:rPr lang="zh-CN" altLang="en-US"/>
              <a:t>到底改变了什么，这是证据；第二部分，算清 </a:t>
            </a:r>
            <a:r>
              <a:rPr lang="en-US" altLang="zh-CN"/>
              <a:t>KV Cache </a:t>
            </a:r>
            <a:r>
              <a:rPr lang="zh-CN" altLang="en-US"/>
              <a:t>的成本账——代价不会消失，只会转移——据此回答架构选型的原则，这是推理；第三部分，把这些需求落到 </a:t>
            </a:r>
            <a:r>
              <a:rPr lang="en-US" altLang="zh-CN"/>
              <a:t>UCM </a:t>
            </a:r>
            <a:r>
              <a:rPr lang="zh-CN" altLang="en-US"/>
              <a:t>的具体设计上，这是答案。前两部分是为什么，第三部分是什么。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AI Coding </a:t>
            </a:r>
            <a:r>
              <a:rPr lang="zh-CN" altLang="en-US"/>
              <a:t>已经是一种新的推理负载。注意，不是 </a:t>
            </a:r>
            <a:r>
              <a:rPr lang="en-US" altLang="zh-CN"/>
              <a:t>Chatbot </a:t>
            </a:r>
            <a:r>
              <a:rPr lang="zh-CN" altLang="en-US"/>
              <a:t>变大了，是负载形态变了。看两组数字。一次请求 </a:t>
            </a:r>
            <a:r>
              <a:rPr lang="en-US" altLang="zh-CN"/>
              <a:t>Request：</a:t>
            </a:r>
            <a:r>
              <a:rPr lang="zh-CN" altLang="en-US"/>
              <a:t>一条指令平均触发 8.8 步 </a:t>
            </a:r>
            <a:r>
              <a:rPr lang="en-US" altLang="zh-CN"/>
              <a:t>LLM </a:t>
            </a:r>
            <a:r>
              <a:rPr lang="zh-CN" altLang="en-US"/>
              <a:t>调用、10.8 次工具调用；请求内的时间，61% 花在工具执行，38% 花在模型生成；端到端 4.3 分钟，</a:t>
            </a:r>
            <a:r>
              <a:rPr lang="en-US" altLang="zh-CN"/>
              <a:t>p90 </a:t>
            </a:r>
            <a:r>
              <a:rPr lang="zh-CN" altLang="en-US"/>
              <a:t>到 6.4 分钟。再看一个会话 </a:t>
            </a:r>
            <a:r>
              <a:rPr lang="en-US" altLang="zh-CN"/>
              <a:t>Session：</a:t>
            </a:r>
            <a:r>
              <a:rPr lang="zh-CN" altLang="en-US"/>
              <a:t>平均 10.1 个请求，</a:t>
            </a:r>
            <a:r>
              <a:rPr lang="en-US" altLang="zh-CN"/>
              <a:t>p99 </a:t>
            </a:r>
            <a:r>
              <a:rPr lang="zh-CN" altLang="en-US"/>
              <a:t>高到 161——人会反复回来；累计 92 次工具调用，工具触发步对用户触发步约 7 比 1；会话平均跨度 7.5 小时，</a:t>
            </a:r>
            <a:r>
              <a:rPr lang="en-US" altLang="zh-CN"/>
              <a:t>p99 </a:t>
            </a:r>
            <a:r>
              <a:rPr lang="zh-CN" altLang="en-US"/>
              <a:t>接近 7 天。底下这三行对比更本质：</a:t>
            </a:r>
            <a:r>
              <a:rPr lang="en-US" altLang="zh-CN"/>
              <a:t>Chatbot </a:t>
            </a:r>
            <a:r>
              <a:rPr lang="zh-CN" altLang="en-US"/>
              <a:t>是一问一答、答完即止，</a:t>
            </a:r>
            <a:r>
              <a:rPr lang="en-US" altLang="zh-CN"/>
              <a:t>AI Coding </a:t>
            </a:r>
            <a:r>
              <a:rPr lang="zh-CN" altLang="en-US"/>
              <a:t>是一条指令、长链路自主执行；</a:t>
            </a:r>
            <a:r>
              <a:rPr lang="en-US" altLang="zh-CN"/>
              <a:t>Chatbot </a:t>
            </a:r>
            <a:r>
              <a:rPr lang="zh-CN" altLang="en-US"/>
              <a:t>上下文轻、一次装得下，</a:t>
            </a:r>
            <a:r>
              <a:rPr lang="en-US" altLang="zh-CN"/>
              <a:t>AI Coding </a:t>
            </a:r>
            <a:r>
              <a:rPr lang="zh-CN" altLang="en-US"/>
              <a:t>上下文重、边干边涨；</a:t>
            </a:r>
            <a:r>
              <a:rPr lang="en-US" altLang="zh-CN"/>
              <a:t>Chatbot </a:t>
            </a:r>
            <a:r>
              <a:rPr lang="zh-CN" altLang="en-US"/>
              <a:t>的 </a:t>
            </a:r>
            <a:r>
              <a:rPr lang="en-US" altLang="zh-CN"/>
              <a:t>KV </a:t>
            </a:r>
            <a:r>
              <a:rPr lang="zh-CN" altLang="en-US"/>
              <a:t>用完即丢，</a:t>
            </a:r>
            <a:r>
              <a:rPr lang="en-US" altLang="zh-CN"/>
              <a:t>AI Coding </a:t>
            </a:r>
            <a:r>
              <a:rPr lang="zh-CN" altLang="en-US"/>
              <a:t>的 </a:t>
            </a:r>
            <a:r>
              <a:rPr lang="en-US" altLang="zh-CN"/>
              <a:t>KV </a:t>
            </a:r>
            <a:r>
              <a:rPr lang="zh-CN" altLang="en-US"/>
              <a:t>跟会话同寿命、跨请求复用。这里要说明：这些数字来自 </a:t>
            </a:r>
            <a:r>
              <a:rPr lang="en-US" altLang="zh-CN"/>
              <a:t>TraceLab </a:t>
            </a:r>
            <a:r>
              <a:rPr lang="zh-CN" altLang="en-US"/>
              <a:t>的工作负载样本，刻画的是这类编码 </a:t>
            </a:r>
            <a:r>
              <a:rPr lang="en-US" altLang="zh-CN"/>
              <a:t>Agent </a:t>
            </a:r>
            <a:r>
              <a:rPr lang="zh-CN" altLang="en-US"/>
              <a:t>的结构，不是所有 </a:t>
            </a:r>
            <a:r>
              <a:rPr lang="en-US" altLang="zh-CN"/>
              <a:t>Agent、</a:t>
            </a:r>
            <a:r>
              <a:rPr lang="zh-CN" altLang="en-US"/>
              <a:t>所有业务的固定比例。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这个新负载有四个关键特征，一个一个看。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第一个特征：读多写少。</a:t>
            </a:r>
            <a:r>
              <a:rPr lang="en-US" altLang="zh-CN"/>
              <a:t>Agent </a:t>
            </a:r>
            <a:r>
              <a:rPr lang="zh-CN" altLang="en-US"/>
              <a:t>的每一步，都在重放此前积累的全部历史。三个数字：中位前缀，</a:t>
            </a:r>
            <a:r>
              <a:rPr lang="en-US" altLang="zh-CN"/>
              <a:t>Claude 141K、Codex 120K token；</a:t>
            </a:r>
            <a:r>
              <a:rPr lang="zh-CN" altLang="en-US"/>
              <a:t>中位输入是中位输出的约 400 倍——算力和显存的压力集中在 </a:t>
            </a:r>
            <a:r>
              <a:rPr lang="en-US" altLang="zh-CN"/>
              <a:t>prefill </a:t>
            </a:r>
            <a:r>
              <a:rPr lang="zh-CN" altLang="en-US"/>
              <a:t>重放</a:t>
            </a:r>
            <a:r>
              <a:rPr lang="en-US" altLang="zh-CN"/>
              <a:t>；</a:t>
            </a:r>
            <a:r>
              <a:rPr lang="zh-CN" altLang="en-US"/>
              <a:t>平均每步总输入 172</a:t>
            </a:r>
            <a:r>
              <a:rPr lang="en-US" altLang="zh-CN"/>
              <a:t>K，</a:t>
            </a:r>
            <a:r>
              <a:rPr lang="zh-CN" altLang="en-US"/>
              <a:t>真正新增的只有 7.5</a:t>
            </a:r>
            <a:r>
              <a:rPr lang="en-US" altLang="zh-CN"/>
              <a:t>K，</a:t>
            </a:r>
            <a:r>
              <a:rPr lang="zh-CN" altLang="en-US"/>
              <a:t>输入体量由历史累积主导。</a:t>
            </a:r>
            <a:r>
              <a:rPr lang="en-US" altLang="zh-CN"/>
              <a:t>Claude </a:t>
            </a:r>
            <a:r>
              <a:rPr lang="zh-CN" altLang="en-US"/>
              <a:t>的前缀 </a:t>
            </a:r>
            <a:r>
              <a:rPr lang="en-US" altLang="zh-CN"/>
              <a:t>p99 </a:t>
            </a:r>
            <a:r>
              <a:rPr lang="zh-CN" altLang="en-US"/>
              <a:t>达到 92 万 </a:t>
            </a:r>
            <a:r>
              <a:rPr lang="en-US" altLang="zh-CN"/>
              <a:t>token，</a:t>
            </a:r>
            <a:r>
              <a:rPr lang="zh-CN" altLang="en-US"/>
              <a:t>逼近百万级；全负载累计输入 114.2</a:t>
            </a:r>
            <a:r>
              <a:rPr lang="en-US" altLang="zh-CN"/>
              <a:t>B token。</a:t>
            </a:r>
            <a:r>
              <a:rPr lang="zh-CN" altLang="en-US"/>
              <a:t>右边这张表是对重放链路的直接检验——"下一步输入约等于上一步全部输入，加上一步输出"：</a:t>
            </a:r>
            <a:r>
              <a:rPr lang="en-US" altLang="zh-CN"/>
              <a:t>Claude </a:t>
            </a:r>
            <a:r>
              <a:rPr lang="zh-CN" altLang="en-US"/>
              <a:t>的前缀误差中位数只有 2 个 </a:t>
            </a:r>
            <a:r>
              <a:rPr lang="en-US" altLang="zh-CN"/>
              <a:t>token，94.1% </a:t>
            </a:r>
            <a:r>
              <a:rPr lang="zh-CN" altLang="en-US"/>
              <a:t>的相邻轮误差在正负 1% 以内，97.3% 的新增包含上一步输出。这个机制的含义是：上一步的输出会被折进下一步的前缀，</a:t>
            </a:r>
            <a:r>
              <a:rPr lang="en-US" altLang="zh-CN"/>
              <a:t>KV </a:t>
            </a:r>
            <a:r>
              <a:rPr lang="zh-CN" altLang="en-US"/>
              <a:t>前缀天然连续、天然可复用。谁能在介质里留住前缀、并高效匹配它，谁就省掉了大部分 </a:t>
            </a:r>
            <a:r>
              <a:rPr lang="en-US" altLang="zh-CN"/>
              <a:t>prefill。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能复用是结构给的，复用率有多高，看下一个特征。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第二个特征：极高的前缀命中率。</a:t>
            </a:r>
            <a:r>
              <a:rPr lang="en-US" altLang="zh-CN"/>
              <a:t>Token </a:t>
            </a:r>
            <a:r>
              <a:rPr lang="zh-CN" altLang="en-US"/>
              <a:t>加权前缀命中率 95.6%——工具触发步 97.8%，用户触发步 83.2%；98.3% 的步骤上下文单调增长，发生压缩的会话只有 8.8%。对成本更有解释力的是这三组数：每步重算的 </a:t>
            </a:r>
            <a:r>
              <a:rPr lang="en-US" altLang="zh-CN"/>
              <a:t>token </a:t>
            </a:r>
            <a:r>
              <a:rPr lang="zh-CN" altLang="en-US"/>
              <a:t>里，只有 16% 是真正新鲜的，84% 本可以由缓存提供，一旦丢失，按 6.3 倍放大重算；再看账单构成——58.6% 的成本来自缓存读，新输入占 30.5%，输出只占 11%，重读上下文才是账单大头。这里把口径说清楚：这是会话内的前缀命中率，衡量的主要是前缀连续性，它不等于跨节点共享率——不同节点命中同一份 </a:t>
            </a:r>
            <a:r>
              <a:rPr lang="en-US" altLang="zh-CN"/>
              <a:t>KV </a:t>
            </a:r>
            <a:r>
              <a:rPr lang="zh-CN" altLang="en-US"/>
              <a:t>是另一件事，需要部署侧实测。这个特征给出的结论是：复用已经是成本的主变量，命中率不是锦上添花。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命中率这么高，为什么还会丢？原因在时间——人在等人。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第三个特征：人机交互成为瓶颈。会话墙钟时间的去向：等人类 91.6%，工具执行 5.1%，</a:t>
            </a:r>
            <a:r>
              <a:rPr lang="en-US" altLang="zh-CN"/>
              <a:t>LLM </a:t>
            </a:r>
            <a:r>
              <a:rPr lang="zh-CN" altLang="en-US"/>
              <a:t>生成 3.2%——</a:t>
            </a:r>
            <a:r>
              <a:rPr lang="en-US" altLang="zh-CN"/>
              <a:t>GPU </a:t>
            </a:r>
            <a:r>
              <a:rPr lang="zh-CN" altLang="en-US"/>
              <a:t>不是瓶颈，人是最长的等待。人类等待 </a:t>
            </a:r>
            <a:r>
              <a:rPr lang="en-US" altLang="zh-CN"/>
              <a:t>p50 </a:t>
            </a:r>
            <a:r>
              <a:rPr lang="zh-CN" altLang="en-US"/>
              <a:t>是 86 秒，</a:t>
            </a:r>
            <a:r>
              <a:rPr lang="en-US" altLang="zh-CN"/>
              <a:t>p99 </a:t>
            </a:r>
            <a:r>
              <a:rPr lang="zh-CN" altLang="en-US"/>
              <a:t>却长达 11 个小时，横跨 7 个数量级；约 90% 的空闲时长来自超过 1 小时的等待，5 分钟内结束的等待只贡献 2.8%；人类空闲是模型生成时间的 29 倍；最长的一次人类等待，31 天——被搁置的会话还会回来继续工作。对系统的含义一句话：</a:t>
            </a:r>
            <a:r>
              <a:rPr lang="en-US" altLang="zh-CN"/>
              <a:t>KV </a:t>
            </a:r>
            <a:r>
              <a:rPr lang="zh-CN" altLang="en-US"/>
              <a:t>要跨越人类节奏的时长存活，而不是按 </a:t>
            </a:r>
            <a:r>
              <a:rPr lang="en-US" altLang="zh-CN"/>
              <a:t>GPU </a:t>
            </a:r>
            <a:r>
              <a:rPr lang="zh-CN" altLang="en-US"/>
              <a:t>的节奏。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人会回来，缓存却等不起——这就是第四个特征。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第四个特征把前三点串了起来：停顿即失效。人会回来，缓存等不起。对命中率低于 10% 的 10,377 个用户步做归因：86% 的低命中发生在等待超过 5 分钟之后，停顿和失效强相关。于是只剩"保与丢"两难，</a:t>
            </a:r>
            <a:r>
              <a:rPr lang="en-US" altLang="zh-CN"/>
              <a:t>TTL </a:t>
            </a:r>
            <a:r>
              <a:rPr lang="zh-CN" altLang="en-US"/>
              <a:t>的帕累托曲线把这两难量化了：</a:t>
            </a:r>
            <a:r>
              <a:rPr lang="en-US" altLang="zh-CN"/>
              <a:t>TTL 5 </a:t>
            </a:r>
            <a:r>
              <a:rPr lang="zh-CN" altLang="en-US"/>
              <a:t>分钟，可达命中率 93.7%，</a:t>
            </a:r>
            <a:r>
              <a:rPr lang="en-US" altLang="zh-CN"/>
              <a:t>KV </a:t>
            </a:r>
            <a:r>
              <a:rPr lang="zh-CN" altLang="en-US"/>
              <a:t>存储比 2.1 倍，现网部署点的有效驱逐时间只有约 9 分钟；</a:t>
            </a:r>
            <a:r>
              <a:rPr lang="en-US" altLang="zh-CN"/>
              <a:t>TTL </a:t>
            </a:r>
            <a:r>
              <a:rPr lang="zh-CN" altLang="en-US"/>
              <a:t>拉到 1 小时，命中率 98.6%，只多了 5 个百分点，存储比却翻到 5.2 倍——边际收益递减，而且此时 </a:t>
            </a:r>
            <a:r>
              <a:rPr lang="en-US" altLang="zh-CN"/>
              <a:t>KV </a:t>
            </a:r>
            <a:r>
              <a:rPr lang="zh-CN" altLang="en-US"/>
              <a:t>活跃复用占比也只有 17.9% 到 21.4%。反事实估算：如果人类思考期把缓存保住，新增输入能降 54%，成本能降 15.8%——注意，这是上界估计，前提是假设全部按 </a:t>
            </a:r>
            <a:r>
              <a:rPr lang="en-US" altLang="zh-CN"/>
              <a:t>cache-read </a:t>
            </a:r>
            <a:r>
              <a:rPr lang="zh-CN" altLang="en-US"/>
              <a:t>价命中。结论：</a:t>
            </a:r>
            <a:r>
              <a:rPr lang="en-US" altLang="zh-CN"/>
              <a:t>TTL </a:t>
            </a:r>
            <a:r>
              <a:rPr lang="zh-CN" altLang="en-US"/>
              <a:t>不是简单的参数调优，它是命中率与存储成本之间的结构性权衡。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第一章收束。把四个特征连起来读：读多写少——不缓存，每一步都在重算历史；前缀命中率极高——复用是常态，收益占大头；等待长尾——会话被人机交互拉长、人随时回来继续，</a:t>
            </a:r>
            <a:r>
              <a:rPr lang="en-US" altLang="zh-CN"/>
              <a:t>KV </a:t>
            </a:r>
            <a:r>
              <a:rPr lang="zh-CN" altLang="en-US"/>
              <a:t>必须跨请求存活、与会话同寿命；停顿即失效——持有本身有代价，保与丢两难。省得多、是常态、要长持、持有贵——四个特征指向同一件事：</a:t>
            </a:r>
            <a:r>
              <a:rPr lang="en-US" altLang="zh-CN"/>
              <a:t>KV Cache </a:t>
            </a:r>
            <a:r>
              <a:rPr lang="zh-CN" altLang="en-US"/>
              <a:t>已经从推理过程的中间产物，变成决定成本与体验的第一性资源。复用有价值，保留有代价——第二部分，我们把这笔账算清楚。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第二部分从一笔总成本账开始。</a:t>
            </a:r>
            <a:r>
              <a:rPr lang="en-US" altLang="zh-CN"/>
              <a:t>KV Cache </a:t>
            </a:r>
            <a:r>
              <a:rPr lang="zh-CN" altLang="en-US"/>
              <a:t>的总成本，等于三个科目之和：重算成本——未命中时重新执行 </a:t>
            </a:r>
            <a:r>
              <a:rPr lang="en-US" altLang="zh-CN"/>
              <a:t>Prefill；</a:t>
            </a:r>
            <a:r>
              <a:rPr lang="zh-CN" altLang="en-US"/>
              <a:t>驻留成本——保留时长乘以所在存储层级，相当于"房租"；搬运成本——跨层、跨节点的数据移动，相当于"过路费"；在此之上，还有负载不均衡与运维成本。这张表是本章的方法论：列出四种典型优化动作，每个动作都在减少一项成本，同时转移出另一项。不保留 </a:t>
            </a:r>
            <a:r>
              <a:rPr lang="en-US" altLang="zh-CN"/>
              <a:t>KV——</a:t>
            </a:r>
            <a:r>
              <a:rPr lang="zh-CN" altLang="en-US"/>
              <a:t>驻留与写入省了，代价是重复的 </a:t>
            </a:r>
            <a:r>
              <a:rPr lang="en-US" altLang="zh-CN"/>
              <a:t>Prefill </a:t>
            </a:r>
            <a:r>
              <a:rPr lang="zh-CN" altLang="en-US"/>
              <a:t>计算；延长保留时间——缓存失效后的重算少了，代价是容量占用与介质磨损；扩大热 </a:t>
            </a:r>
            <a:r>
              <a:rPr lang="en-US" altLang="zh-CN"/>
              <a:t>KV </a:t>
            </a:r>
            <a:r>
              <a:rPr lang="zh-CN" altLang="en-US"/>
              <a:t>共享——重复计算少了、亲和约束也放宽了，代价是网络传输与共享层的管理开销；坚持本地亲和——</a:t>
            </a:r>
            <a:r>
              <a:rPr lang="en-US" altLang="zh-CN"/>
              <a:t>KV </a:t>
            </a:r>
            <a:r>
              <a:rPr lang="zh-CN" altLang="en-US"/>
              <a:t>搬移与远端读取少了，代价是排队时延和算力闲置。四行看完，结论就出来了：没有任何一个零成本的选项——代价不会消失，只会转移，它只是从账单的一个科目挪到另一个科目。所以选型的目标函数只有一句话：在满足时延与 </a:t>
            </a:r>
            <a:r>
              <a:rPr lang="en-US" altLang="zh-CN"/>
              <a:t>SLO </a:t>
            </a:r>
            <a:r>
              <a:rPr lang="zh-CN" altLang="en-US"/>
              <a:t>的前提下，降低单位 </a:t>
            </a:r>
            <a:r>
              <a:rPr lang="en-US" altLang="zh-CN"/>
              <a:t>Token </a:t>
            </a:r>
            <a:r>
              <a:rPr lang="zh-CN" altLang="en-US"/>
              <a:t>综合成本，而不是仅优化命中率。带变量的完整公式放在本页备注里，讲述时不需要记任何符号。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账本科目和动作清单有了，下一步看动作组合出来的架构。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用这笔成本账给主流架构分类，只看两个独立的选择轴：热层是否跨节点共享——决定复用范围；容量是否独立于计算扩展——决定算存是否解耦。两两组合，得到四种架构。</a:t>
            </a:r>
            <a:r>
              <a:rPr lang="en-US" altLang="zh-CN"/>
              <a:t>A，</a:t>
            </a:r>
            <a:r>
              <a:rPr lang="zh-CN" altLang="en-US"/>
              <a:t>本地为主：本地热缓存加本地 </a:t>
            </a:r>
            <a:r>
              <a:rPr lang="en-US" altLang="zh-CN"/>
              <a:t>SSD——</a:t>
            </a:r>
            <a:r>
              <a:rPr lang="zh-CN" altLang="en-US"/>
              <a:t>省掉远端访问与共享系统建设，代价是容量与计算绑定、重复存储与重算、亲和排队。</a:t>
            </a:r>
            <a:r>
              <a:rPr lang="en-US" altLang="zh-CN"/>
              <a:t>B，</a:t>
            </a:r>
            <a:r>
              <a:rPr lang="zh-CN" altLang="en-US"/>
              <a:t>热层共享：共享热层加本地 </a:t>
            </a:r>
            <a:r>
              <a:rPr lang="en-US" altLang="zh-CN"/>
              <a:t>SSD——</a:t>
            </a:r>
            <a:r>
              <a:rPr lang="zh-CN" altLang="en-US"/>
              <a:t>跨节点的热 </a:t>
            </a:r>
            <a:r>
              <a:rPr lang="en-US" altLang="zh-CN"/>
              <a:t>KV </a:t>
            </a:r>
            <a:r>
              <a:rPr lang="zh-CN" altLang="en-US"/>
              <a:t>无需重算、部分亲和约束放宽，代价是共享层的容量、网络与管理开销，冷数据仍然绑定节点。</a:t>
            </a:r>
            <a:r>
              <a:rPr lang="en-US" altLang="zh-CN"/>
              <a:t>C，</a:t>
            </a:r>
            <a:r>
              <a:rPr lang="zh-CN" altLang="en-US"/>
              <a:t>热层共享加容量解耦：共享热层加独立存储池——本地容量约束解开、部分热 </a:t>
            </a:r>
            <a:r>
              <a:rPr lang="en-US" altLang="zh-CN"/>
              <a:t>KV </a:t>
            </a:r>
            <a:r>
              <a:rPr lang="zh-CN" altLang="en-US"/>
              <a:t>调度约束放宽，代价是两层资源投入、数据移动、元数据与运维。</a:t>
            </a:r>
            <a:r>
              <a:rPr lang="en-US" altLang="zh-CN"/>
              <a:t>D，</a:t>
            </a:r>
            <a:r>
              <a:rPr lang="zh-CN" altLang="en-US"/>
              <a:t>容量解耦：本地热缓存加独立存储池——容量不再与计算绑定、长生命周期保留成为可能，代价是远端回源与回迁，热 </a:t>
            </a:r>
            <a:r>
              <a:rPr lang="en-US" altLang="zh-CN"/>
              <a:t>KV </a:t>
            </a:r>
            <a:r>
              <a:rPr lang="zh-CN" altLang="en-US"/>
              <a:t>的亲和照样要权衡。下面这句要重点说：</a:t>
            </a:r>
            <a:r>
              <a:rPr lang="en-US" altLang="zh-CN"/>
              <a:t>C </a:t>
            </a:r>
            <a:r>
              <a:rPr lang="zh-CN" altLang="en-US"/>
              <a:t>同时引入了热共享与算存解耦两类复杂度，收益必须分别验证——</a:t>
            </a:r>
            <a:r>
              <a:rPr lang="en-US" altLang="zh-CN"/>
              <a:t>C </a:t>
            </a:r>
            <a:r>
              <a:rPr lang="zh-CN" altLang="en-US"/>
              <a:t>并不是 </a:t>
            </a:r>
            <a:r>
              <a:rPr lang="en-US" altLang="zh-CN"/>
              <a:t>D </a:t>
            </a:r>
            <a:r>
              <a:rPr lang="zh-CN" altLang="en-US"/>
              <a:t>的必然升级，</a:t>
            </a:r>
            <a:r>
              <a:rPr lang="en-US" altLang="zh-CN"/>
              <a:t>D </a:t>
            </a:r>
            <a:r>
              <a:rPr lang="zh-CN" altLang="en-US"/>
              <a:t>完全可以是长期选择；</a:t>
            </a:r>
            <a:r>
              <a:rPr lang="en-US" altLang="zh-CN"/>
              <a:t>B </a:t>
            </a:r>
            <a:r>
              <a:rPr lang="zh-CN" altLang="en-US"/>
              <a:t>在已有本地 </a:t>
            </a:r>
            <a:r>
              <a:rPr lang="en-US" altLang="zh-CN"/>
              <a:t>SSD、</a:t>
            </a:r>
            <a:r>
              <a:rPr lang="zh-CN" altLang="en-US"/>
              <a:t>且热共享收益显著时才成立。所以，四种架构没有绝对优劣，差异只在成本结构；实际性能取决于业务负载，必须通过测量验证。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架构定了拓扑，还要看调度怎么跟它配合。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架构定了拓扑，调度决定时延与成本发生在哪里。每个请求面前是两条路径。路径一，留在亲和节点：</a:t>
            </a:r>
            <a:r>
              <a:rPr lang="en-US" altLang="zh-CN"/>
              <a:t>KV </a:t>
            </a:r>
            <a:r>
              <a:rPr lang="zh-CN" altLang="en-US"/>
              <a:t>就在本地，但节点繁忙——本地加载，减少搬移与重算；成本是排队时延增加，其他节点的算力闲置。路径二，转向空闲节点：算力现成，但目标 </a:t>
            </a:r>
            <a:r>
              <a:rPr lang="en-US" altLang="zh-CN"/>
              <a:t>KV </a:t>
            </a:r>
            <a:r>
              <a:rPr lang="zh-CN" altLang="en-US"/>
              <a:t>不在本地——远端加载，或者重新执行 </a:t>
            </a:r>
            <a:r>
              <a:rPr lang="en-US" altLang="zh-CN"/>
              <a:t>Prefill；</a:t>
            </a:r>
            <a:r>
              <a:rPr lang="zh-CN" altLang="en-US"/>
              <a:t>成本是网络传输、远端读取或重算。这两条路径怎么选？比较的是：亲和节点的排队等待加本地加载，对空闲节点的等待加远端加载或重算——两者的相对成本取决于队列状态、热点分布与远端读取开销，没有常数答案，谁便宜按账算，不按命中率算。这里有一个关键限定：共享扩大了候选节点集合，但不会自动实现负载均衡。所以分工很清楚：调度器决定请求放置；缓存层提供 </a:t>
            </a:r>
            <a:r>
              <a:rPr lang="en-US" altLang="zh-CN"/>
              <a:t>KV </a:t>
            </a:r>
            <a:r>
              <a:rPr lang="zh-CN" altLang="en-US"/>
              <a:t>位置、可访问性与访问成本的信息，不替代调度决策。本页的落点：优化目标是 </a:t>
            </a:r>
            <a:r>
              <a:rPr lang="en-US" altLang="zh-CN"/>
              <a:t>SLO </a:t>
            </a:r>
            <a:r>
              <a:rPr lang="zh-CN" altLang="en-US"/>
              <a:t>约束下的集群有效吞吐与单位 </a:t>
            </a:r>
            <a:r>
              <a:rPr lang="en-US" altLang="zh-CN"/>
              <a:t>Token </a:t>
            </a:r>
            <a:r>
              <a:rPr lang="zh-CN" altLang="en-US"/>
              <a:t>成本，而不是 </a:t>
            </a:r>
            <a:r>
              <a:rPr lang="en-US" altLang="zh-CN"/>
              <a:t>Prefix </a:t>
            </a:r>
            <a:r>
              <a:rPr lang="zh-CN" altLang="en-US"/>
              <a:t>命中率——命中是手段，时延与成本才是对用户的承诺。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四种架构从哪一格起步？规模给出初始判断，实际瓶颈决定最终选择。第一档，百卡左右、没有专门存储团队：优先评估 </a:t>
            </a:r>
            <a:r>
              <a:rPr lang="en-US" altLang="zh-CN"/>
              <a:t>A——</a:t>
            </a:r>
            <a:r>
              <a:rPr lang="zh-CN" altLang="en-US"/>
              <a:t>这个阶段系统建设与运维成本最敏感，以本地热缓存加本地 </a:t>
            </a:r>
            <a:r>
              <a:rPr lang="en-US" altLang="zh-CN"/>
              <a:t>SSD </a:t>
            </a:r>
            <a:r>
              <a:rPr lang="zh-CN" altLang="en-US"/>
              <a:t>起步，保留重算兜底；允许偏离亲和，不为命中率牺牲调度；本地容量不足或已有成熟存储时，再评估 </a:t>
            </a:r>
            <a:r>
              <a:rPr lang="en-US" altLang="zh-CN"/>
              <a:t>D。</a:t>
            </a:r>
            <a:r>
              <a:rPr lang="zh-CN" altLang="en-US"/>
              <a:t>第二档，数百至数千卡、多模型、扩缩容增多：优先比较 </a:t>
            </a:r>
            <a:r>
              <a:rPr lang="en-US" altLang="zh-CN"/>
              <a:t>A </a:t>
            </a:r>
            <a:r>
              <a:rPr lang="zh-CN" altLang="en-US"/>
              <a:t>和 </a:t>
            </a:r>
            <a:r>
              <a:rPr lang="en-US" altLang="zh-CN"/>
              <a:t>D——</a:t>
            </a:r>
            <a:r>
              <a:rPr lang="zh-CN" altLang="en-US"/>
              <a:t>容量与计算的扩展开始错配，节点扩缩容导致缓存反复冷启动；当容量与生命周期被节点绑定，评估独立存储；热共享收益明确时，再评估 </a:t>
            </a:r>
            <a:r>
              <a:rPr lang="en-US" altLang="zh-CN"/>
              <a:t>B、C。</a:t>
            </a:r>
            <a:r>
              <a:rPr lang="zh-CN" altLang="en-US"/>
              <a:t>第三档，数千至万卡、多租户、存算独立扩容：重点比较 </a:t>
            </a:r>
            <a:r>
              <a:rPr lang="en-US" altLang="zh-CN"/>
              <a:t>C </a:t>
            </a:r>
            <a:r>
              <a:rPr lang="zh-CN" altLang="en-US"/>
              <a:t>和 </a:t>
            </a:r>
            <a:r>
              <a:rPr lang="en-US" altLang="zh-CN"/>
              <a:t>D——KV </a:t>
            </a:r>
            <a:r>
              <a:rPr lang="zh-CN" altLang="en-US"/>
              <a:t>工作集大、热点集中，</a:t>
            </a:r>
            <a:r>
              <a:rPr lang="en-US" altLang="zh-CN"/>
              <a:t>PD </a:t>
            </a:r>
            <a:r>
              <a:rPr lang="zh-CN" altLang="en-US"/>
              <a:t>分离成熟，</a:t>
            </a:r>
            <a:r>
              <a:rPr lang="en-US" altLang="zh-CN"/>
              <a:t>KV </a:t>
            </a:r>
            <a:r>
              <a:rPr lang="zh-CN" altLang="en-US"/>
              <a:t>位置开始影响全局调度；亲和排队损失大，就评估共享热层；但如果热点局部、或远端读取足够快，</a:t>
            </a:r>
            <a:r>
              <a:rPr lang="en-US" altLang="zh-CN"/>
              <a:t>D </a:t>
            </a:r>
            <a:r>
              <a:rPr lang="zh-CN" altLang="en-US"/>
              <a:t>仍可能更经济。落地之前，给一个容量估算式：</a:t>
            </a:r>
            <a:r>
              <a:rPr lang="en-US" altLang="zh-CN"/>
              <a:t>KV </a:t>
            </a:r>
            <a:r>
              <a:rPr lang="zh-CN" altLang="en-US"/>
              <a:t>容量，约等于每 </a:t>
            </a:r>
            <a:r>
              <a:rPr lang="en-US" altLang="zh-CN"/>
              <a:t>Token KV </a:t>
            </a:r>
            <a:r>
              <a:rPr lang="zh-CN" altLang="en-US"/>
              <a:t>大小，乘 </a:t>
            </a:r>
            <a:r>
              <a:rPr lang="en-US" altLang="zh-CN"/>
              <a:t>KV </a:t>
            </a:r>
            <a:r>
              <a:rPr lang="zh-CN" altLang="en-US"/>
              <a:t>净产生速率，乘目标保留时间；再按复用去重、淘汰与冗余修正，并验证峰值回源带宽。最后一句是本章的演进纪律：规模不是架构升级的必然路线——由实测瓶颈驱动演进，每次只引入一种复杂度。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架构选型回答的是资源放在哪里；但无论选哪种拓扑，以下四个问题都存在，而且随负载动态变化。第一，复用——保留多久：哪些 </a:t>
            </a:r>
            <a:r>
              <a:rPr lang="en-US" altLang="zh-CN"/>
              <a:t>KV </a:t>
            </a:r>
            <a:r>
              <a:rPr lang="zh-CN" altLang="en-US"/>
              <a:t>值得保留、何时回收？过期不回收挤占热层，误回收引发重算——它主导驻留成本。第二，放置——保留在哪：</a:t>
            </a:r>
            <a:r>
              <a:rPr lang="en-US" altLang="zh-CN"/>
              <a:t>KV </a:t>
            </a:r>
            <a:r>
              <a:rPr lang="zh-CN" altLang="en-US"/>
              <a:t>保留在哪里、如何与算力调度协作？亲和提升命中、但约束调度自由；跨节点共享扩大候选集合，却不自动均衡负载——它影响重算成本与排队时延。第三，迁移——如何移动：何时预取、何时搬移、走什么路径？用搬运成本换调度自由与容量利用率，而传输效率决定远端数据是否真正可用——它主导搬运成本。第四，兜底——压力去向：热层容量不足时，压力转向哪里？有副本走远端回源，无副本只能重新 </a:t>
            </a:r>
            <a:r>
              <a:rPr lang="en-US" altLang="zh-CN"/>
              <a:t>Prefill；</a:t>
            </a:r>
            <a:r>
              <a:rPr lang="zh-CN" altLang="en-US"/>
              <a:t>回源划算的条件是，读取加传输的成本低于重算——它决定峰值尾时延与兜底能力。这四个问题，分别对应总成本里的驻留、重算与排队、搬运、峰值风险；它们在单节点内无法闭环，需要统一的系统层视角来回答。怎么统一？这就是第三部分要讲的 </a:t>
            </a:r>
            <a:r>
              <a:rPr lang="en-US" altLang="zh-CN"/>
              <a:t>UCM。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CM </a:t>
            </a:r>
            <a:r>
              <a:rPr lang="zh-CN" altLang="en-US"/>
              <a:t>的定位一句话：位于推理引擎和存储之间的统一 </a:t>
            </a:r>
            <a:r>
              <a:rPr lang="en-US" altLang="zh-CN"/>
              <a:t>KV Cache </a:t>
            </a:r>
            <a:r>
              <a:rPr lang="zh-CN" altLang="en-US"/>
              <a:t>管理层。看这张三层图。最上层，应用与推理引擎，产生并消费 </a:t>
            </a:r>
            <a:r>
              <a:rPr lang="en-US" altLang="zh-CN"/>
              <a:t>KV Cache——</a:t>
            </a:r>
            <a:r>
              <a:rPr lang="zh-CN" altLang="en-US"/>
              <a:t>多模态上下文、会话上下文都从这里进来。中间层，统一缓存，管理缓存的使用生命周期，三个职责：复用 </a:t>
            </a:r>
            <a:r>
              <a:rPr lang="en-US" altLang="zh-CN"/>
              <a:t>Reuse，</a:t>
            </a:r>
            <a:r>
              <a:rPr lang="zh-CN" altLang="en-US"/>
              <a:t>匹配、检索、加载，做前缀与 </a:t>
            </a:r>
            <a:r>
              <a:rPr lang="en-US" altLang="zh-CN"/>
              <a:t>Chunk </a:t>
            </a:r>
            <a:r>
              <a:rPr lang="zh-CN" altLang="en-US"/>
              <a:t>复用；放置 </a:t>
            </a:r>
            <a:r>
              <a:rPr lang="en-US" altLang="zh-CN"/>
              <a:t>Placement，</a:t>
            </a:r>
            <a:r>
              <a:rPr lang="zh-CN" altLang="en-US"/>
              <a:t>分层、卸载、驱逐，跨层级的保留管理；移动 </a:t>
            </a:r>
            <a:r>
              <a:rPr lang="en-US" altLang="zh-CN"/>
              <a:t>Movement，</a:t>
            </a:r>
            <a:r>
              <a:rPr lang="zh-CN" altLang="en-US"/>
              <a:t>预取、迁移，包括 </a:t>
            </a:r>
            <a:r>
              <a:rPr lang="en-US" altLang="zh-CN"/>
              <a:t>PD </a:t>
            </a:r>
            <a:r>
              <a:rPr lang="zh-CN" altLang="en-US"/>
              <a:t>分离的 </a:t>
            </a:r>
            <a:r>
              <a:rPr lang="en-US" altLang="zh-CN"/>
              <a:t>Prefill </a:t>
            </a:r>
            <a:r>
              <a:rPr lang="zh-CN" altLang="en-US"/>
              <a:t>到 </a:t>
            </a:r>
            <a:r>
              <a:rPr lang="en-US" altLang="zh-CN"/>
              <a:t>Decode </a:t>
            </a:r>
            <a:r>
              <a:rPr lang="zh-CN" altLang="en-US"/>
              <a:t>传输。最下层，全局 </a:t>
            </a:r>
            <a:r>
              <a:rPr lang="en-US" altLang="zh-CN"/>
              <a:t>KV </a:t>
            </a:r>
            <a:r>
              <a:rPr lang="zh-CN" altLang="en-US"/>
              <a:t>存储，可插拔后端——文件系统、语义化 </a:t>
            </a:r>
            <a:r>
              <a:rPr lang="en-US" altLang="zh-CN"/>
              <a:t>KV </a:t>
            </a:r>
            <a:r>
              <a:rPr lang="zh-CN" altLang="en-US"/>
              <a:t>存储等等，可靠性、保留、回收由各后端能力决定。它解决的问题是具体的：多轮对话、</a:t>
            </a:r>
            <a:r>
              <a:rPr lang="en-US" altLang="zh-CN"/>
              <a:t>Agent、</a:t>
            </a:r>
            <a:r>
              <a:rPr lang="zh-CN" altLang="en-US"/>
              <a:t>多模态应用在反复访问相同上下文，而 </a:t>
            </a:r>
            <a:r>
              <a:rPr lang="en-US" altLang="zh-CN"/>
              <a:t>KV Cache </a:t>
            </a:r>
            <a:r>
              <a:rPr lang="zh-CN" altLang="en-US"/>
              <a:t>困在单个推理进程里——显存有限，重复计算浪费算力。</a:t>
            </a:r>
            <a:r>
              <a:rPr lang="en-US" altLang="zh-CN"/>
              <a:t>UCM </a:t>
            </a:r>
            <a:r>
              <a:rPr lang="zh-CN" altLang="en-US"/>
              <a:t>让 </a:t>
            </a:r>
            <a:r>
              <a:rPr lang="en-US" altLang="zh-CN"/>
              <a:t>KV Cache </a:t>
            </a:r>
            <a:r>
              <a:rPr lang="zh-CN" altLang="en-US"/>
              <a:t>跨进程复用、以外部存储扩容：减少重复计算，缓解显存压力。核心设计原则是三处可插拔：引擎适配器、缓存机制、存储后端解耦、独立演进。对回第二章的四个共性问题：保留多久，由 </a:t>
            </a:r>
            <a:r>
              <a:rPr lang="en-US" altLang="zh-CN"/>
              <a:t>Reuse </a:t>
            </a:r>
            <a:r>
              <a:rPr lang="zh-CN" altLang="en-US"/>
              <a:t>的匹配复用与 </a:t>
            </a:r>
            <a:r>
              <a:rPr lang="en-US" altLang="zh-CN"/>
              <a:t>Placement </a:t>
            </a:r>
            <a:r>
              <a:rPr lang="zh-CN" altLang="en-US"/>
              <a:t>的分层驱逐回答；保留在哪，由 </a:t>
            </a:r>
            <a:r>
              <a:rPr lang="en-US" altLang="zh-CN"/>
              <a:t>Placement </a:t>
            </a:r>
            <a:r>
              <a:rPr lang="zh-CN" altLang="en-US"/>
              <a:t>与全局 </a:t>
            </a:r>
            <a:r>
              <a:rPr lang="en-US" altLang="zh-CN"/>
              <a:t>Store </a:t>
            </a:r>
            <a:r>
              <a:rPr lang="zh-CN" altLang="en-US"/>
              <a:t>的放置回答；如何移动，由 </a:t>
            </a:r>
            <a:r>
              <a:rPr lang="en-US" altLang="zh-CN"/>
              <a:t>Movement </a:t>
            </a:r>
            <a:r>
              <a:rPr lang="zh-CN" altLang="en-US"/>
              <a:t>的预取迁移回答；压力去向，由全局存储的远端回源承担、回源不划算则重算兜底——四问在这里各有着落。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Global KV Store </a:t>
            </a:r>
            <a:r>
              <a:rPr lang="zh-CN" altLang="en-US"/>
              <a:t>把 </a:t>
            </a:r>
            <a:r>
              <a:rPr lang="en-US" altLang="zh-CN"/>
              <a:t>KV Cache </a:t>
            </a:r>
            <a:r>
              <a:rPr lang="zh-CN" altLang="en-US"/>
              <a:t>从"进程私有"变成"全局可寻址资源"——共享扩大复用范围，弹性扩容回应驻留的层级选择。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第一个模块，</a:t>
            </a:r>
            <a:r>
              <a:rPr lang="en-US" altLang="zh-CN"/>
              <a:t>Global KV Store。</a:t>
            </a:r>
            <a:r>
              <a:rPr lang="zh-CN" altLang="en-US"/>
              <a:t>它改变的是 </a:t>
            </a:r>
            <a:r>
              <a:rPr lang="en-US" altLang="zh-CN"/>
              <a:t>KV Cache </a:t>
            </a:r>
            <a:r>
              <a:rPr lang="zh-CN" altLang="en-US"/>
              <a:t>的资源属性：从进程私有，变成全局共享、按需扩容的资源。接口上，统一 </a:t>
            </a:r>
            <a:r>
              <a:rPr lang="en-US" altLang="zh-CN"/>
              <a:t>Store </a:t>
            </a:r>
            <a:r>
              <a:rPr lang="zh-CN" altLang="en-US"/>
              <a:t>抽象：</a:t>
            </a:r>
            <a:r>
              <a:rPr lang="en-US" altLang="zh-CN"/>
              <a:t>Lookup、Prefix-Lookup、Prefetch、Load </a:t>
            </a:r>
            <a:r>
              <a:rPr lang="zh-CN" altLang="en-US"/>
              <a:t>和 </a:t>
            </a:r>
            <a:r>
              <a:rPr lang="en-US" altLang="zh-CN"/>
              <a:t>Dump，</a:t>
            </a:r>
            <a:r>
              <a:rPr lang="zh-CN" altLang="en-US"/>
              <a:t>按 </a:t>
            </a:r>
            <a:r>
              <a:rPr lang="en-US" altLang="zh-CN"/>
              <a:t>Block </a:t>
            </a:r>
            <a:r>
              <a:rPr lang="zh-CN" altLang="en-US"/>
              <a:t>寻址，异步 </a:t>
            </a:r>
            <a:r>
              <a:rPr lang="en-US" altLang="zh-CN"/>
              <a:t>Task，</a:t>
            </a:r>
            <a:r>
              <a:rPr lang="zh-CN" altLang="en-US"/>
              <a:t>后端无关——数据放哪、怎么放，对上层透明。两个属性值得展开。第一，共享：写入 </a:t>
            </a:r>
            <a:r>
              <a:rPr lang="en-US" altLang="zh-CN"/>
              <a:t>Store </a:t>
            </a:r>
            <a:r>
              <a:rPr lang="zh-CN" altLang="en-US"/>
              <a:t>即全局可寻址，</a:t>
            </a:r>
            <a:r>
              <a:rPr lang="en-US" altLang="zh-CN"/>
              <a:t>KV </a:t>
            </a:r>
            <a:r>
              <a:rPr lang="zh-CN" altLang="en-US"/>
              <a:t>不再绑定单个推理进程；多请求、多实例、多引擎命中同一份缓存——一份计算、处处复用；</a:t>
            </a:r>
            <a:r>
              <a:rPr lang="en-US" altLang="zh-CN"/>
              <a:t>PD </a:t>
            </a:r>
            <a:r>
              <a:rPr lang="zh-CN" altLang="en-US"/>
              <a:t>分离场景下，</a:t>
            </a:r>
            <a:r>
              <a:rPr lang="en-US" altLang="zh-CN"/>
              <a:t>Prefill </a:t>
            </a:r>
            <a:r>
              <a:rPr lang="zh-CN" altLang="en-US"/>
              <a:t>和 </a:t>
            </a:r>
            <a:r>
              <a:rPr lang="en-US" altLang="zh-CN"/>
              <a:t>Decode </a:t>
            </a:r>
            <a:r>
              <a:rPr lang="zh-CN" altLang="en-US"/>
              <a:t>实例直接经 </a:t>
            </a:r>
            <a:r>
              <a:rPr lang="en-US" altLang="zh-CN"/>
              <a:t>Store </a:t>
            </a:r>
            <a:r>
              <a:rPr lang="zh-CN" altLang="en-US"/>
              <a:t>传递 </a:t>
            </a:r>
            <a:r>
              <a:rPr lang="en-US" altLang="zh-CN"/>
              <a:t>KV。</a:t>
            </a:r>
            <a:r>
              <a:rPr lang="zh-CN" altLang="en-US"/>
              <a:t>第二，容量可扩展：缓存容量从"显存上限"变成"显存加外部存储"的加法——</a:t>
            </a:r>
            <a:r>
              <a:rPr lang="en-US" altLang="zh-CN"/>
              <a:t>HBM、</a:t>
            </a:r>
            <a:r>
              <a:rPr lang="zh-CN" altLang="en-US"/>
              <a:t>主机内存、</a:t>
            </a:r>
            <a:r>
              <a:rPr lang="en-US" altLang="zh-CN"/>
              <a:t>NVMe、</a:t>
            </a:r>
            <a:r>
              <a:rPr lang="zh-CN" altLang="en-US"/>
              <a:t>分布式文件系统都能入池，接入即扩容、按需增减；空间分配、冷热调度、层间搬运由 </a:t>
            </a:r>
            <a:r>
              <a:rPr lang="en-US" altLang="zh-CN"/>
              <a:t>Store </a:t>
            </a:r>
            <a:r>
              <a:rPr lang="zh-CN" altLang="en-US"/>
              <a:t>内部完成，对上层透明。这对应第二章成本账里的驻留科目——保留时长乘以所在存储层级；容量可扩展，意味着驻留的层级选择不再被显存上限锁死。后端怎么分工？保留、回收、可靠性由后端按自身能力实现；量化、压缩放在传输管线里处理。接口定义在 </a:t>
            </a:r>
            <a:r>
              <a:rPr lang="en-US" altLang="zh-CN"/>
              <a:t>ucm/store/ucmstore_v1，</a:t>
            </a:r>
            <a:r>
              <a:rPr lang="zh-CN" altLang="en-US"/>
              <a:t>支持纯 </a:t>
            </a:r>
            <a:r>
              <a:rPr lang="en-US" altLang="zh-CN"/>
              <a:t>Python、</a:t>
            </a:r>
            <a:r>
              <a:rPr lang="zh-CN" altLang="en-US"/>
              <a:t>混合、纯 </a:t>
            </a:r>
            <a:r>
              <a:rPr lang="en-US" altLang="zh-CN"/>
              <a:t>C++ </a:t>
            </a:r>
            <a:r>
              <a:rPr lang="zh-CN" altLang="en-US"/>
              <a:t>三种扩展方式。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全局域有了，节点内部还有一个高频路径要单独优化——</a:t>
            </a:r>
            <a:r>
              <a:rPr lang="en-US" altLang="zh-CN"/>
              <a:t>CacheStore。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CacheStore </a:t>
            </a:r>
            <a:r>
              <a:rPr lang="zh-CN" altLang="en-US"/>
              <a:t>用节点内 </a:t>
            </a:r>
            <a:r>
              <a:rPr lang="en-US" altLang="zh-CN"/>
              <a:t>DRAM </a:t>
            </a:r>
            <a:r>
              <a:rPr lang="zh-CN" altLang="en-US"/>
              <a:t>共享缓冲解决两个成本问题——小 </a:t>
            </a:r>
            <a:r>
              <a:rPr lang="en-US" altLang="zh-CN"/>
              <a:t>IO </a:t>
            </a:r>
            <a:r>
              <a:rPr lang="zh-CN" altLang="en-US"/>
              <a:t>聚合，以及搬运与 </a:t>
            </a:r>
            <a:r>
              <a:rPr lang="en-US" altLang="zh-CN"/>
              <a:t>IO </a:t>
            </a:r>
            <a:r>
              <a:rPr lang="zh-CN" altLang="en-US"/>
              <a:t>等待被计算掩盖。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第二个模块，</a:t>
            </a:r>
            <a:r>
              <a:rPr lang="en-US" altLang="zh-CN"/>
              <a:t>CacheStore，</a:t>
            </a:r>
            <a:r>
              <a:rPr lang="zh-CN" altLang="en-US"/>
              <a:t>节点内的轻量共享 </a:t>
            </a:r>
            <a:r>
              <a:rPr lang="en-US" altLang="zh-CN"/>
              <a:t>Store。</a:t>
            </a:r>
            <a:r>
              <a:rPr lang="zh-CN" altLang="en-US"/>
              <a:t>先定位：这是两域模型——</a:t>
            </a:r>
            <a:r>
              <a:rPr lang="en-US" altLang="zh-CN"/>
              <a:t>CacheStore </a:t>
            </a:r>
            <a:r>
              <a:rPr lang="zh-CN" altLang="en-US"/>
              <a:t>是节点内缓存域，用 </a:t>
            </a:r>
            <a:r>
              <a:rPr lang="en-US" altLang="zh-CN"/>
              <a:t>HBM </a:t>
            </a:r>
            <a:r>
              <a:rPr lang="zh-CN" altLang="en-US"/>
              <a:t>和 </a:t>
            </a:r>
            <a:r>
              <a:rPr lang="en-US" altLang="zh-CN"/>
              <a:t>DRAM </a:t>
            </a:r>
            <a:r>
              <a:rPr lang="zh-CN" altLang="en-US"/>
              <a:t>做中转与复用；</a:t>
            </a:r>
            <a:r>
              <a:rPr lang="en-US" altLang="zh-CN"/>
              <a:t>GlobalStore </a:t>
            </a:r>
            <a:r>
              <a:rPr lang="zh-CN" altLang="en-US"/>
              <a:t>是节点外共享域。</a:t>
            </a:r>
            <a:r>
              <a:rPr lang="en-US" altLang="zh-CN"/>
              <a:t>V1 </a:t>
            </a:r>
            <a:r>
              <a:rPr lang="zh-CN" altLang="en-US"/>
              <a:t>管线 </a:t>
            </a:r>
            <a:r>
              <a:rPr lang="en-US" altLang="zh-CN"/>
              <a:t>Cache|Posix </a:t>
            </a:r>
            <a:r>
              <a:rPr lang="zh-CN" altLang="en-US"/>
              <a:t>里的 </a:t>
            </a:r>
            <a:r>
              <a:rPr lang="en-US" altLang="zh-CN"/>
              <a:t>Cache，</a:t>
            </a:r>
            <a:r>
              <a:rPr lang="zh-CN" altLang="en-US"/>
              <a:t>就是它。它解决两个成本问题。第一个，小 </a:t>
            </a:r>
            <a:r>
              <a:rPr lang="en-US" altLang="zh-CN"/>
              <a:t>IO。KV </a:t>
            </a:r>
            <a:r>
              <a:rPr lang="zh-CN" altLang="en-US"/>
              <a:t>的天然数据粒度，是每 </a:t>
            </a:r>
            <a:r>
              <a:rPr lang="en-US" altLang="zh-CN"/>
              <a:t>layer </a:t>
            </a:r>
            <a:r>
              <a:rPr lang="zh-CN" altLang="en-US"/>
              <a:t>乘每 </a:t>
            </a:r>
            <a:r>
              <a:rPr lang="en-US" altLang="zh-CN"/>
              <a:t>block </a:t>
            </a:r>
            <a:r>
              <a:rPr lang="zh-CN" altLang="en-US"/>
              <a:t>一片——碎片化非常严重，单次 </a:t>
            </a:r>
            <a:r>
              <a:rPr lang="en-US" altLang="zh-CN"/>
              <a:t>IO </a:t>
            </a:r>
            <a:r>
              <a:rPr lang="zh-CN" altLang="en-US"/>
              <a:t>极小，固定开销摊不掉。</a:t>
            </a:r>
            <a:r>
              <a:rPr lang="en-US" altLang="zh-CN"/>
              <a:t>CacheStore </a:t>
            </a:r>
            <a:r>
              <a:rPr lang="zh-CN" altLang="en-US"/>
              <a:t>用 </a:t>
            </a:r>
            <a:r>
              <a:rPr lang="en-US" altLang="zh-CN"/>
              <a:t>DRAM </a:t>
            </a:r>
            <a:r>
              <a:rPr lang="zh-CN" altLang="en-US"/>
              <a:t>缓冲把碎片收拢：</a:t>
            </a:r>
            <a:r>
              <a:rPr lang="en-US" altLang="zh-CN"/>
              <a:t>x </a:t>
            </a:r>
            <a:r>
              <a:rPr lang="zh-CN" altLang="en-US"/>
              <a:t>维，按层聚合，一个 </a:t>
            </a:r>
            <a:r>
              <a:rPr lang="en-US" altLang="zh-CN"/>
              <a:t>block </a:t>
            </a:r>
            <a:r>
              <a:rPr lang="zh-CN" altLang="en-US"/>
              <a:t>的全部层 </a:t>
            </a:r>
            <a:r>
              <a:rPr lang="en-US" altLang="zh-CN"/>
              <a:t>shard </a:t>
            </a:r>
            <a:r>
              <a:rPr lang="zh-CN" altLang="en-US"/>
              <a:t>合成 1 次大 </a:t>
            </a:r>
            <a:r>
              <a:rPr lang="en-US" altLang="zh-CN"/>
              <a:t>IO，</a:t>
            </a:r>
            <a:r>
              <a:rPr lang="zh-CN" altLang="en-US"/>
              <a:t>可以逐层流水；</a:t>
            </a:r>
            <a:r>
              <a:rPr lang="en-US" altLang="zh-CN"/>
              <a:t>y </a:t>
            </a:r>
            <a:r>
              <a:rPr lang="zh-CN" altLang="en-US"/>
              <a:t>维，按 </a:t>
            </a:r>
            <a:r>
              <a:rPr lang="en-US" altLang="zh-CN"/>
              <a:t>block </a:t>
            </a:r>
            <a:r>
              <a:rPr lang="zh-CN" altLang="en-US"/>
              <a:t>聚合，多个 </a:t>
            </a:r>
            <a:r>
              <a:rPr lang="en-US" altLang="zh-CN"/>
              <a:t>block </a:t>
            </a:r>
            <a:r>
              <a:rPr lang="zh-CN" altLang="en-US"/>
              <a:t>的同位 </a:t>
            </a:r>
            <a:r>
              <a:rPr lang="en-US" altLang="zh-CN"/>
              <a:t>shard </a:t>
            </a:r>
            <a:r>
              <a:rPr lang="zh-CN" altLang="en-US"/>
              <a:t>合成 1 次批量 </a:t>
            </a:r>
            <a:r>
              <a:rPr lang="en-US" altLang="zh-CN"/>
              <a:t>IO；</a:t>
            </a:r>
            <a:r>
              <a:rPr lang="zh-CN" altLang="en-US"/>
              <a:t>两个维度还能组合，一次 </a:t>
            </a:r>
            <a:r>
              <a:rPr lang="en-US" altLang="zh-CN"/>
              <a:t>task </a:t>
            </a:r>
            <a:r>
              <a:rPr lang="zh-CN" altLang="en-US"/>
              <a:t>同时覆盖 </a:t>
            </a:r>
            <a:r>
              <a:rPr lang="en-US" altLang="zh-CN"/>
              <a:t>blocks </a:t>
            </a:r>
            <a:r>
              <a:rPr lang="zh-CN" altLang="en-US"/>
              <a:t>乘 </a:t>
            </a:r>
            <a:r>
              <a:rPr lang="en-US" altLang="zh-CN"/>
              <a:t>shards。</a:t>
            </a:r>
            <a:r>
              <a:rPr lang="zh-CN" altLang="en-US"/>
              <a:t>第二个，搬运和 </a:t>
            </a:r>
            <a:r>
              <a:rPr lang="en-US" altLang="zh-CN"/>
              <a:t>IO </a:t>
            </a:r>
            <a:r>
              <a:rPr lang="zh-CN" altLang="en-US"/>
              <a:t>等待。</a:t>
            </a:r>
            <a:r>
              <a:rPr lang="en-US" altLang="zh-CN"/>
              <a:t>load、dump </a:t>
            </a:r>
            <a:r>
              <a:rPr lang="zh-CN" altLang="en-US"/>
              <a:t>双队列异步流水，</a:t>
            </a:r>
            <a:r>
              <a:rPr lang="en-US" altLang="zh-CN"/>
              <a:t>D2H </a:t>
            </a:r>
            <a:r>
              <a:rPr lang="zh-CN" altLang="en-US"/>
              <a:t>搬运和 </a:t>
            </a:r>
            <a:r>
              <a:rPr lang="en-US" altLang="zh-CN"/>
              <a:t>forward </a:t>
            </a:r>
            <a:r>
              <a:rPr lang="zh-CN" altLang="en-US"/>
              <a:t>错位重叠——</a:t>
            </a:r>
            <a:r>
              <a:rPr lang="en-US" altLang="zh-CN"/>
              <a:t>IO </a:t>
            </a:r>
            <a:r>
              <a:rPr lang="zh-CN" altLang="en-US"/>
              <a:t>等待被计算掩盖，粒度变换的代价全程被隐藏，</a:t>
            </a:r>
            <a:r>
              <a:rPr lang="en-US" altLang="zh-CN"/>
              <a:t>D↔H </a:t>
            </a:r>
            <a:r>
              <a:rPr lang="zh-CN" altLang="en-US"/>
              <a:t>搬运逼近带宽上限。共享这一侧：进程内，多 </a:t>
            </a:r>
            <a:r>
              <a:rPr lang="en-US" altLang="zh-CN"/>
              <a:t>rank、</a:t>
            </a:r>
            <a:r>
              <a:rPr lang="zh-CN" altLang="en-US"/>
              <a:t>多 </a:t>
            </a:r>
            <a:r>
              <a:rPr lang="en-US" altLang="zh-CN"/>
              <a:t>connector </a:t>
            </a:r>
            <a:r>
              <a:rPr lang="zh-CN" altLang="en-US"/>
              <a:t>引用同一个 </a:t>
            </a:r>
            <a:r>
              <a:rPr lang="en-US" altLang="zh-CN"/>
              <a:t>unique_id </a:t>
            </a:r>
            <a:r>
              <a:rPr lang="zh-CN" altLang="en-US"/>
              <a:t>缓冲；节点内，走 /</a:t>
            </a:r>
            <a:r>
              <a:rPr lang="en-US" altLang="zh-CN"/>
              <a:t>dev/shm </a:t>
            </a:r>
            <a:r>
              <a:rPr lang="zh-CN" altLang="en-US"/>
              <a:t>共享缓冲，同机多实例互见——一次 </a:t>
            </a:r>
            <a:r>
              <a:rPr lang="en-US" altLang="zh-CN"/>
              <a:t>dump，</a:t>
            </a:r>
            <a:r>
              <a:rPr lang="zh-CN" altLang="en-US"/>
              <a:t>多处命中，免去重复搬运和重复驻留。流出方向，聚合后的大 </a:t>
            </a:r>
            <a:r>
              <a:rPr lang="en-US" altLang="zh-CN"/>
              <a:t>IO </a:t>
            </a:r>
            <a:r>
              <a:rPr lang="zh-CN" altLang="en-US"/>
              <a:t>下盘，交给 </a:t>
            </a:r>
            <a:r>
              <a:rPr lang="en-US" altLang="zh-CN"/>
              <a:t>GlobalStore </a:t>
            </a:r>
            <a:r>
              <a:rPr lang="zh-CN" altLang="en-US"/>
              <a:t>去管 </a:t>
            </a:r>
            <a:r>
              <a:rPr lang="en-US" altLang="zh-CN"/>
              <a:t>SSD </a:t>
            </a:r>
            <a:r>
              <a:rPr lang="zh-CN" altLang="en-US"/>
              <a:t>和远端。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数据能存了，下一个问题是——存进去之后，什么该留、什么该走？这就要引入 </a:t>
            </a:r>
            <a:r>
              <a:rPr lang="en-US" altLang="zh-CN"/>
              <a:t>T_alive。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把淘汰决策从"事后逐出"前移到"写入即判"——温层 </a:t>
            </a:r>
            <a:r>
              <a:rPr lang="en-US" altLang="zh-CN"/>
              <a:t>DRAM </a:t>
            </a:r>
            <a:r>
              <a:rPr lang="zh-CN" altLang="en-US"/>
              <a:t>作为写入过滤器，预测精度直接兑换成介质成本；收益闭环是设计意图，收益比例来自样本估算。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第三个模块，</a:t>
            </a:r>
            <a:r>
              <a:rPr lang="en-US" altLang="zh-CN"/>
              <a:t>T_alive，</a:t>
            </a:r>
            <a:r>
              <a:rPr lang="zh-CN" altLang="en-US"/>
              <a:t>预测驱动的分层放置。先看当下的做法：</a:t>
            </a:r>
            <a:r>
              <a:rPr lang="en-US" altLang="zh-CN"/>
              <a:t>CLOCK，</a:t>
            </a:r>
            <a:r>
              <a:rPr lang="zh-CN" altLang="en-US"/>
              <a:t>用访问位近似 </a:t>
            </a:r>
            <a:r>
              <a:rPr lang="en-US" altLang="zh-CN"/>
              <a:t>LRU——</a:t>
            </a:r>
            <a:r>
              <a:rPr lang="zh-CN" altLang="en-US"/>
              <a:t>访问位是 1 就清零跳过，是 0 就事后逐出，它只看扫描顺序，跟数据本身的存活时间无关。问题有三个：决策永远在淘汰那一刻才做，事后才补救；冷热混放，长命 </a:t>
            </a:r>
            <a:r>
              <a:rPr lang="en-US" altLang="zh-CN"/>
              <a:t>KV </a:t>
            </a:r>
            <a:r>
              <a:rPr lang="zh-CN" altLang="en-US"/>
              <a:t>占住温层；写洪峰穿透温层，直打冷层。</a:t>
            </a:r>
            <a:r>
              <a:rPr lang="en-US" altLang="zh-CN"/>
              <a:t>T_alive </a:t>
            </a:r>
            <a:r>
              <a:rPr lang="zh-CN" altLang="en-US"/>
              <a:t>把决策点前移到写入：写入的时候就预测存活时长 </a:t>
            </a:r>
            <a:r>
              <a:rPr lang="en-US" altLang="zh-CN"/>
              <a:t>τ——</a:t>
            </a:r>
            <a:r>
              <a:rPr lang="zh-CN" altLang="en-US"/>
              <a:t>预测器的输入是剩余预期、空闲分布、命中轨迹，</a:t>
            </a:r>
            <a:r>
              <a:rPr lang="en-US" altLang="zh-CN"/>
              <a:t>τ </a:t>
            </a:r>
            <a:r>
              <a:rPr lang="zh-CN" altLang="en-US"/>
              <a:t>随访问流在线修正。分流规则：预测短命的，约八成，进温层 </a:t>
            </a:r>
            <a:r>
              <a:rPr lang="en-US" altLang="zh-CN"/>
              <a:t>DRAM，</a:t>
            </a:r>
            <a:r>
              <a:rPr lang="zh-CN" altLang="en-US"/>
              <a:t>在窗口内复用或者死亡，不下沉；预测长命的，约两成，直落冷层；还有一条旁路——预测到"长命且即将回归"的，在回归前预取回热层，命中不落空。为什么 </a:t>
            </a:r>
            <a:r>
              <a:rPr lang="en-US" altLang="zh-CN"/>
              <a:t>τ </a:t>
            </a:r>
            <a:r>
              <a:rPr lang="zh-CN" altLang="en-US"/>
              <a:t>可以预测？三个结构性依据，都是第一章的数据：多数 </a:t>
            </a:r>
            <a:r>
              <a:rPr lang="en-US" altLang="zh-CN"/>
              <a:t>KV </a:t>
            </a:r>
            <a:r>
              <a:rPr lang="zh-CN" altLang="en-US"/>
              <a:t>死于会话结束，中位寿命只有 57 秒，写入即能判短命；空闲重尾但有规律，</a:t>
            </a:r>
            <a:r>
              <a:rPr lang="en-US" altLang="zh-CN"/>
              <a:t>p50 86 </a:t>
            </a:r>
            <a:r>
              <a:rPr lang="zh-CN" altLang="en-US"/>
              <a:t>秒、</a:t>
            </a:r>
            <a:r>
              <a:rPr lang="en-US" altLang="zh-CN"/>
              <a:t>p99 11.2 </a:t>
            </a:r>
            <a:r>
              <a:rPr lang="zh-CN" altLang="en-US"/>
              <a:t>小时，86.1% 的失效紧随超过 5 分钟的空闲；前缀约等于上一步加确定性追加，中位误差 2 个 </a:t>
            </a:r>
            <a:r>
              <a:rPr lang="en-US" altLang="zh-CN"/>
              <a:t>token，</a:t>
            </a:r>
            <a:r>
              <a:rPr lang="zh-CN" altLang="en-US"/>
              <a:t>复用轨迹可以推演。收益闭环是这样转的：总容量不变，还是由冷层承担，温层只是小时级暂驻窗口加写入过滤器；冷层写入流量从 100% 降到约 20%；</a:t>
            </a:r>
            <a:r>
              <a:rPr lang="en-US" altLang="zh-CN"/>
              <a:t>DWPD——</a:t>
            </a:r>
            <a:r>
              <a:rPr lang="zh-CN" altLang="en-US"/>
              <a:t>就是 </a:t>
            </a:r>
            <a:r>
              <a:rPr lang="en-US" altLang="zh-CN"/>
              <a:t>SSD </a:t>
            </a:r>
            <a:r>
              <a:rPr lang="zh-CN" altLang="en-US"/>
              <a:t>的每日全盘写入次数——随写入流量同比例下降，寿命延长，或者换便宜的 </a:t>
            </a:r>
            <a:r>
              <a:rPr lang="en-US" altLang="zh-CN"/>
              <a:t>QLC </a:t>
            </a:r>
            <a:r>
              <a:rPr lang="zh-CN" altLang="en-US"/>
              <a:t>介质，</a:t>
            </a:r>
            <a:r>
              <a:rPr lang="en-US" altLang="zh-CN"/>
              <a:t>p_store </a:t>
            </a:r>
            <a:r>
              <a:rPr lang="zh-CN" altLang="en-US"/>
              <a:t>直接下来；预测越准、下沉越少、</a:t>
            </a:r>
            <a:r>
              <a:rPr lang="en-US" altLang="zh-CN"/>
              <a:t>DWPD </a:t>
            </a:r>
            <a:r>
              <a:rPr lang="zh-CN" altLang="en-US"/>
              <a:t>越低——预测精度直接兑换成介质成本。这里要说明口径：八二分流和写入削减，是基于 </a:t>
            </a:r>
            <a:r>
              <a:rPr lang="en-US" altLang="zh-CN"/>
              <a:t>TraceLab </a:t>
            </a:r>
            <a:r>
              <a:rPr lang="zh-CN" altLang="en-US"/>
              <a:t>样本的估算和设计目标——</a:t>
            </a:r>
            <a:r>
              <a:rPr lang="en-US" altLang="zh-CN"/>
              <a:t>active ratio </a:t>
            </a:r>
            <a:r>
              <a:rPr lang="zh-CN" altLang="en-US"/>
              <a:t>在 1 小时视界约 21% 和 18%，是 </a:t>
            </a:r>
            <a:r>
              <a:rPr lang="en-US" altLang="zh-CN"/>
              <a:t>per-provider </a:t>
            </a:r>
            <a:r>
              <a:rPr lang="zh-CN" altLang="en-US"/>
              <a:t>的估算值。这个收益闭环是设计意图，有待部署验证。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T_alive </a:t>
            </a:r>
            <a:r>
              <a:rPr lang="zh-CN" altLang="en-US"/>
              <a:t>改的是放置决策；它再往前一步，存储形态本身也要跟着变——</a:t>
            </a:r>
            <a:r>
              <a:rPr lang="en-US" altLang="zh-CN"/>
              <a:t>PeerStore。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V1 </a:t>
            </a:r>
            <a:r>
              <a:rPr lang="zh-CN" altLang="en-US"/>
              <a:t>严格分级让所有数据逐级穿透、短命数据无价值落盘；</a:t>
            </a:r>
            <a:r>
              <a:rPr lang="en-US" altLang="zh-CN"/>
              <a:t>V2 </a:t>
            </a:r>
            <a:r>
              <a:rPr lang="zh-CN" altLang="en-US"/>
              <a:t>按生命周期分流放置，温层与冷层不再互为全量包含。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这个思想再往前一步，就是存储形态本身的演进：从 </a:t>
            </a:r>
            <a:r>
              <a:rPr lang="en-US" altLang="zh-CN"/>
              <a:t>V1 </a:t>
            </a:r>
            <a:r>
              <a:rPr lang="zh-CN" altLang="en-US"/>
              <a:t>的 </a:t>
            </a:r>
            <a:r>
              <a:rPr lang="en-US" altLang="zh-CN"/>
              <a:t>PipelineStore，</a:t>
            </a:r>
            <a:r>
              <a:rPr lang="zh-CN" altLang="en-US"/>
              <a:t>到 </a:t>
            </a:r>
            <a:r>
              <a:rPr lang="en-US" altLang="zh-CN"/>
              <a:t>V2 </a:t>
            </a:r>
            <a:r>
              <a:rPr lang="zh-CN" altLang="en-US"/>
              <a:t>的 </a:t>
            </a:r>
            <a:r>
              <a:rPr lang="en-US" altLang="zh-CN"/>
              <a:t>PeerStore。V1 </a:t>
            </a:r>
            <a:r>
              <a:rPr lang="zh-CN" altLang="en-US"/>
              <a:t>是严格分级缓存：</a:t>
            </a:r>
            <a:r>
              <a:rPr lang="en-US" altLang="zh-CN"/>
              <a:t>Stack </a:t>
            </a:r>
            <a:r>
              <a:rPr lang="zh-CN" altLang="en-US"/>
              <a:t>把多级 </a:t>
            </a:r>
            <a:r>
              <a:rPr lang="en-US" altLang="zh-CN"/>
              <a:t>Store </a:t>
            </a:r>
            <a:r>
              <a:rPr lang="zh-CN" altLang="en-US"/>
              <a:t>串成一条传输链，比如 </a:t>
            </a:r>
            <a:r>
              <a:rPr lang="en-US" altLang="zh-CN"/>
              <a:t>Cache|Posix；</a:t>
            </a:r>
            <a:r>
              <a:rPr lang="zh-CN" altLang="en-US"/>
              <a:t>写路径全量穿层——</a:t>
            </a:r>
            <a:r>
              <a:rPr lang="en-US" altLang="zh-CN"/>
              <a:t>Device </a:t>
            </a:r>
            <a:r>
              <a:rPr lang="zh-CN" altLang="en-US"/>
              <a:t>到温层缓冲，再到冷层逐级直通；冷层沉淀全部已下盘数据，冷是温的全量超集。它的代价在于：准入只看长度阈值——</a:t>
            </a:r>
            <a:r>
              <a:rPr lang="en-US" altLang="zh-CN"/>
              <a:t>persist_token_threshold </a:t>
            </a:r>
            <a:r>
              <a:rPr lang="zh-CN" altLang="en-US"/>
              <a:t>只看长度、不看 </a:t>
            </a:r>
            <a:r>
              <a:rPr lang="en-US" altLang="zh-CN"/>
              <a:t>τ、</a:t>
            </a:r>
            <a:r>
              <a:rPr lang="zh-CN" altLang="en-US"/>
              <a:t>不看数据死活，短命 </a:t>
            </a:r>
            <a:r>
              <a:rPr lang="en-US" altLang="zh-CN"/>
              <a:t>KV </a:t>
            </a:r>
            <a:r>
              <a:rPr lang="zh-CN" altLang="en-US"/>
              <a:t>也被写穿落冷；冷层 </a:t>
            </a:r>
            <a:r>
              <a:rPr lang="en-US" altLang="zh-CN"/>
              <a:t>DWPD </a:t>
            </a:r>
            <a:r>
              <a:rPr lang="zh-CN" altLang="en-US"/>
              <a:t>和写入洪峰绑在一起，空间和寿命双浪费。</a:t>
            </a:r>
            <a:r>
              <a:rPr lang="en-US" altLang="zh-CN"/>
              <a:t>V2 </a:t>
            </a:r>
            <a:r>
              <a:rPr lang="zh-CN" altLang="en-US"/>
              <a:t>改成两域对等、分流放置：</a:t>
            </a:r>
            <a:r>
              <a:rPr lang="en-US" altLang="zh-CN"/>
              <a:t>CacheStore </a:t>
            </a:r>
            <a:r>
              <a:rPr lang="zh-CN" altLang="en-US"/>
              <a:t>节点内温域，</a:t>
            </a:r>
            <a:r>
              <a:rPr lang="en-US" altLang="zh-CN"/>
              <a:t>GlobalStore </a:t>
            </a:r>
            <a:r>
              <a:rPr lang="zh-CN" altLang="en-US"/>
              <a:t>节点外冷域，两者平级；按 </a:t>
            </a:r>
            <a:r>
              <a:rPr lang="en-US" altLang="zh-CN"/>
              <a:t>τ </a:t>
            </a:r>
            <a:r>
              <a:rPr lang="zh-CN" altLang="en-US"/>
              <a:t>放置——约八成短命数据驻温即止，约两成长命数据 </a:t>
            </a:r>
            <a:r>
              <a:rPr lang="en-US" altLang="zh-CN"/>
              <a:t>memory-less </a:t>
            </a:r>
            <a:r>
              <a:rPr lang="zh-CN" altLang="en-US"/>
              <a:t>直写、旁路温层直落冷层。关键变化是：冷层不再是温层的全量拷贝——温不全含于冷，冷层只存该存的，写入量和冷层彻底解耦。支撑这个形态的有四件事：</a:t>
            </a:r>
            <a:r>
              <a:rPr lang="en-US" altLang="zh-CN"/>
              <a:t>Capabilities </a:t>
            </a:r>
            <a:r>
              <a:rPr lang="zh-CN" altLang="en-US"/>
              <a:t>里的 </a:t>
            </a:r>
            <a:r>
              <a:rPr lang="en-US" altLang="zh-CN"/>
              <a:t>domain </a:t>
            </a:r>
            <a:r>
              <a:rPr lang="zh-CN" altLang="en-US"/>
              <a:t>和 </a:t>
            </a:r>
            <a:r>
              <a:rPr lang="en-US" altLang="zh-CN"/>
              <a:t>sharing </a:t>
            </a:r>
            <a:r>
              <a:rPr lang="zh-CN" altLang="en-US"/>
              <a:t>决定放置路径；账本双语义——温域即时可见、冷域最终一致；增量回填只从缺失层回源；</a:t>
            </a:r>
            <a:r>
              <a:rPr lang="en-US" altLang="zh-CN"/>
              <a:t>D↔H </a:t>
            </a:r>
            <a:r>
              <a:rPr lang="zh-CN" altLang="en-US"/>
              <a:t>可以独立直通引擎。这一页想说的设计观是：存储形态应该跟着数据分流走，该下沉的才下沉。同时说明：</a:t>
            </a:r>
            <a:r>
              <a:rPr lang="en-US" altLang="zh-CN"/>
              <a:t>PeerStore V2 </a:t>
            </a:r>
            <a:r>
              <a:rPr lang="zh-CN" altLang="en-US"/>
              <a:t>目前是演进方向，实际收益要靠部署验证。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前三件事都在"存"的层面；最后一件事，回到第二章的复用问题——前缀被业务改写了怎么办？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最后一个技术模块，回应第二章复用问题里最难的一种情况：业务侧的上下文编辑会改写前缀——第一章说过，发生压缩的会话约占 8.8%，比例不高，但一旦发生，严格前缀匹配就整段失效，</a:t>
            </a:r>
            <a:r>
              <a:rPr lang="en-US" altLang="zh-CN"/>
              <a:t>KV </a:t>
            </a:r>
            <a:r>
              <a:rPr lang="zh-CN" altLang="en-US"/>
              <a:t>语义变了、命中率下跌，怎么办？从推理侧看，上下文由两部分组成：</a:t>
            </a:r>
            <a:r>
              <a:rPr lang="en-US" altLang="zh-CN"/>
              <a:t>A，Prefix </a:t>
            </a:r>
            <a:r>
              <a:rPr lang="zh-CN" altLang="en-US"/>
              <a:t>部分；</a:t>
            </a:r>
            <a:r>
              <a:rPr lang="en-US" altLang="zh-CN"/>
              <a:t>B，</a:t>
            </a:r>
            <a:r>
              <a:rPr lang="zh-CN" altLang="en-US"/>
              <a:t>增量部分。严格前缀复用的盲区就在 </a:t>
            </a:r>
            <a:r>
              <a:rPr lang="en-US" altLang="zh-CN"/>
              <a:t>A——Agent </a:t>
            </a:r>
            <a:r>
              <a:rPr lang="zh-CN" altLang="en-US"/>
              <a:t>的压缩、裁剪、</a:t>
            </a:r>
            <a:r>
              <a:rPr lang="en-US" altLang="zh-CN"/>
              <a:t>compaction，</a:t>
            </a:r>
            <a:r>
              <a:rPr lang="zh-CN" altLang="en-US"/>
              <a:t>都在改写 </a:t>
            </a:r>
            <a:r>
              <a:rPr lang="en-US" altLang="zh-CN"/>
              <a:t>A。KVBridge </a:t>
            </a:r>
            <a:r>
              <a:rPr lang="zh-CN" altLang="en-US"/>
              <a:t>给出两个引擎。编辑引擎：用 </a:t>
            </a:r>
            <a:r>
              <a:rPr lang="en-US" altLang="zh-CN"/>
              <a:t>KV </a:t>
            </a:r>
            <a:r>
              <a:rPr lang="zh-CN" altLang="en-US"/>
              <a:t>后缀复用代替上下文编辑——失效的往往只是某一段 </a:t>
            </a:r>
            <a:r>
              <a:rPr lang="en-US" altLang="zh-CN"/>
              <a:t>Tool Result，</a:t>
            </a:r>
            <a:r>
              <a:rPr lang="zh-CN" altLang="en-US"/>
              <a:t>那就把编辑落到 </a:t>
            </a:r>
            <a:r>
              <a:rPr lang="en-US" altLang="zh-CN"/>
              <a:t>KV </a:t>
            </a:r>
            <a:r>
              <a:rPr lang="zh-CN" altLang="en-US"/>
              <a:t>层去做，避免整段前缀的命中损失，为 </a:t>
            </a:r>
            <a:r>
              <a:rPr lang="en-US" altLang="zh-CN"/>
              <a:t>Agent </a:t>
            </a:r>
            <a:r>
              <a:rPr lang="zh-CN" altLang="en-US"/>
              <a:t>提供原生的 </a:t>
            </a:r>
            <a:r>
              <a:rPr lang="en-US" altLang="zh-CN"/>
              <a:t>KV </a:t>
            </a:r>
            <a:r>
              <a:rPr lang="zh-CN" altLang="en-US"/>
              <a:t>复用接口。拼接引擎：全链路三步——</a:t>
            </a:r>
            <a:r>
              <a:rPr lang="en-US" altLang="zh-CN"/>
              <a:t>KV </a:t>
            </a:r>
            <a:r>
              <a:rPr lang="zh-CN" altLang="en-US"/>
              <a:t>筛选、</a:t>
            </a:r>
            <a:r>
              <a:rPr lang="en-US" altLang="zh-CN"/>
              <a:t>KV </a:t>
            </a:r>
            <a:r>
              <a:rPr lang="zh-CN" altLang="en-US"/>
              <a:t>判别、</a:t>
            </a:r>
            <a:r>
              <a:rPr lang="en-US" altLang="zh-CN"/>
              <a:t>KV </a:t>
            </a:r>
            <a:r>
              <a:rPr lang="zh-CN" altLang="en-US"/>
              <a:t>修正；配合 </a:t>
            </a:r>
            <a:r>
              <a:rPr lang="en-US" altLang="zh-CN"/>
              <a:t>Prefill KV </a:t>
            </a:r>
            <a:r>
              <a:rPr lang="zh-CN" altLang="en-US"/>
              <a:t>和 </a:t>
            </a:r>
            <a:r>
              <a:rPr lang="en-US" altLang="zh-CN"/>
              <a:t>Decode KV </a:t>
            </a:r>
            <a:r>
              <a:rPr lang="zh-CN" altLang="en-US"/>
              <a:t>的两阶段修正、</a:t>
            </a:r>
            <a:r>
              <a:rPr lang="en-US" altLang="zh-CN"/>
              <a:t>Multi-view position，</a:t>
            </a:r>
            <a:r>
              <a:rPr lang="zh-CN" altLang="en-US"/>
              <a:t>以及 </a:t>
            </a:r>
            <a:r>
              <a:rPr lang="en-US" altLang="zh-CN"/>
              <a:t>KVBridge Index </a:t>
            </a:r>
            <a:r>
              <a:rPr lang="zh-CN" altLang="en-US"/>
              <a:t>管理候选块。判断逻辑是：判别可修正的，就复用；不可修正的，才老老实实重算——在保障推理精度的前提下，实现跨位置的 </a:t>
            </a:r>
            <a:r>
              <a:rPr lang="en-US" altLang="zh-CN"/>
              <a:t>KV </a:t>
            </a:r>
            <a:r>
              <a:rPr lang="zh-CN" altLang="en-US"/>
              <a:t>拼接。注意这里的边界：</a:t>
            </a:r>
            <a:r>
              <a:rPr lang="en-US" altLang="zh-CN"/>
              <a:t>KVBridge </a:t>
            </a:r>
            <a:r>
              <a:rPr lang="zh-CN" altLang="en-US"/>
              <a:t>扩展的是可复用范围，不是允许任意 </a:t>
            </a:r>
            <a:r>
              <a:rPr lang="en-US" altLang="zh-CN"/>
              <a:t>KV </a:t>
            </a:r>
            <a:r>
              <a:rPr lang="zh-CN" altLang="en-US"/>
              <a:t>无条件拼接，精度保障是前提。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项目已经在社区发起，欢迎共建。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tags" Target="../tags/tag4.xml"/><Relationship Id="rId3" Type="http://schemas.openxmlformats.org/officeDocument/2006/relationships/image" Target="../media/image3.jpeg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image" Target="../media/image4.png"/><Relationship Id="rId6" Type="http://schemas.openxmlformats.org/officeDocument/2006/relationships/tags" Target="../tags/tag10.xml"/><Relationship Id="rId5" Type="http://schemas.openxmlformats.org/officeDocument/2006/relationships/image" Target="../media/image6.png"/><Relationship Id="rId4" Type="http://schemas.openxmlformats.org/officeDocument/2006/relationships/tags" Target="../tags/tag9.xml"/><Relationship Id="rId3" Type="http://schemas.openxmlformats.org/officeDocument/2006/relationships/image" Target="../media/image5.jpeg"/><Relationship Id="rId2" Type="http://schemas.openxmlformats.org/officeDocument/2006/relationships/tags" Target="../tags/tag8.xml"/><Relationship Id="rId12" Type="http://schemas.openxmlformats.org/officeDocument/2006/relationships/image" Target="../media/image8.png"/><Relationship Id="rId11" Type="http://schemas.openxmlformats.org/officeDocument/2006/relationships/tags" Target="../tags/tag13.xml"/><Relationship Id="rId10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4.png"/><Relationship Id="rId4" Type="http://schemas.openxmlformats.org/officeDocument/2006/relationships/tags" Target="../tags/tag15.xml"/><Relationship Id="rId3" Type="http://schemas.openxmlformats.org/officeDocument/2006/relationships/image" Target="../media/image3.jpe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24.xml"/><Relationship Id="rId7" Type="http://schemas.openxmlformats.org/officeDocument/2006/relationships/image" Target="../media/image4.png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2" Type="http://schemas.openxmlformats.org/officeDocument/2006/relationships/image" Target="../media/image2.png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32.xml"/><Relationship Id="rId7" Type="http://schemas.openxmlformats.org/officeDocument/2006/relationships/image" Target="../media/image4.png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1" Type="http://schemas.openxmlformats.org/officeDocument/2006/relationships/image" Target="../media/image2.png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3" Type="http://schemas.openxmlformats.org/officeDocument/2006/relationships/image" Target="../media/image2.png"/><Relationship Id="rId12" Type="http://schemas.openxmlformats.org/officeDocument/2006/relationships/tags" Target="../tags/tag42.xml"/><Relationship Id="rId11" Type="http://schemas.openxmlformats.org/officeDocument/2006/relationships/image" Target="../media/image8.png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7" Type="http://schemas.openxmlformats.org/officeDocument/2006/relationships/image" Target="../media/image4.png"/><Relationship Id="rId6" Type="http://schemas.openxmlformats.org/officeDocument/2006/relationships/tags" Target="../tags/tag45.xml"/><Relationship Id="rId5" Type="http://schemas.openxmlformats.org/officeDocument/2006/relationships/image" Target="../media/image2.png"/><Relationship Id="rId4" Type="http://schemas.openxmlformats.org/officeDocument/2006/relationships/tags" Target="../tags/tag44.xml"/><Relationship Id="rId3" Type="http://schemas.openxmlformats.org/officeDocument/2006/relationships/image" Target="../media/image1.jpeg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.jpgGOSIM-Shenzhen-2026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组 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4355" y="580390"/>
            <a:ext cx="1892300" cy="4800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1.jpgGOSIM-Shenzhen-2026KV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GOSIM Shenzhen 202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  <p:custDataLst>
              <p:tags r:id="rId6"/>
            </p:custDataLst>
          </p:nvPr>
        </p:nvSpPr>
        <p:spPr>
          <a:xfrm>
            <a:off x="405130" y="1818640"/>
            <a:ext cx="8556625" cy="2002155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6" name="文本占位符 2"/>
          <p:cNvSpPr>
            <a:spLocks noGrp="1"/>
          </p:cNvSpPr>
          <p:nvPr>
            <p:ph type="body" idx="13" hasCustomPrompt="1"/>
            <p:custDataLst>
              <p:tags r:id="rId7"/>
            </p:custDataLst>
          </p:nvPr>
        </p:nvSpPr>
        <p:spPr>
          <a:xfrm>
            <a:off x="405130" y="3820795"/>
            <a:ext cx="8556625" cy="79883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dirty="0" err="1"/>
              <a:t>姓名</a:t>
            </a:r>
            <a:endParaRPr kumimoji="1" dirty="0" err="1"/>
          </a:p>
        </p:txBody>
      </p:sp>
      <p:pic>
        <p:nvPicPr>
          <p:cNvPr id="8" name="图片 7" descr="组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enson/Downloads/GOSIM-Shenzhen-2026KV.jpgGOSIM-Shenzhen-2026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 descr="CONTENTS_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431165" y="507365"/>
            <a:ext cx="5179060" cy="1228090"/>
          </a:xfrm>
          <a:prstGeom prst="rect">
            <a:avLst/>
          </a:prstGeom>
          <a:effectLst/>
        </p:spPr>
      </p:pic>
      <p:pic>
        <p:nvPicPr>
          <p:cNvPr id="6" name="图片 5" descr="GOSIM Shenzhen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5" name="矩形 4"/>
          <p:cNvSpPr/>
          <p:nvPr userDrawn="1">
            <p:custDataLst>
              <p:tags r:id="rId8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pic>
        <p:nvPicPr>
          <p:cNvPr id="7" name="图片 1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biLevel thresh="50000"/>
            <a:lum bright="100000"/>
          </a:blip>
          <a:stretch>
            <a:fillRect/>
          </a:stretch>
        </p:blipFill>
        <p:spPr>
          <a:xfrm>
            <a:off x="11124565" y="6570663"/>
            <a:ext cx="832485" cy="212090"/>
          </a:xfrm>
          <a:prstGeom prst="rect">
            <a:avLst/>
          </a:prstGeom>
        </p:spPr>
      </p:pic>
      <p:pic>
        <p:nvPicPr>
          <p:cNvPr id="8" name="图片 7" descr="/Users/enson/Downloads/组 2.png组 2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Users/enson/Downloads/GOSIM-Shenzhen-2026KV1.jpgGOSIM-Shenzhen-2026KV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GOSIM Shenzhen 202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421005" y="825500"/>
            <a:ext cx="3550920" cy="2812415"/>
          </a:xfrm>
          <a:prstGeom prst="rect">
            <a:avLst/>
          </a:prstGeom>
        </p:spPr>
        <p:txBody>
          <a:bodyPr lIns="90000" tIns="46800" rIns="90000" bIns="46800" anchor="t" anchorCtr="0">
            <a:noAutofit/>
          </a:bodyPr>
          <a:lstStyle>
            <a:lvl1pPr algn="ctr">
              <a:lnSpc>
                <a:spcPct val="100000"/>
              </a:lnSpc>
              <a:defRPr sz="20000" b="1" i="0">
                <a:gradFill>
                  <a:gsLst>
                    <a:gs pos="23000">
                      <a:schemeClr val="bg1"/>
                    </a:gs>
                    <a:gs pos="71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effectLst/>
                <a:latin typeface="Source Han Sans CN Bold" panose="020B0800000000000000" charset="-122"/>
                <a:ea typeface="Source Han Sans CN Bold" panose="020B0800000000000000" charset="-122"/>
              </a:defRPr>
            </a:lvl1pPr>
          </a:lstStyle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5" hasCustomPrompt="1"/>
            <p:custDataLst>
              <p:tags r:id="rId7"/>
            </p:custDataLst>
          </p:nvPr>
        </p:nvSpPr>
        <p:spPr>
          <a:xfrm>
            <a:off x="569209" y="2821715"/>
            <a:ext cx="8887193" cy="860046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t" anchorCtr="0">
            <a:noAutofit/>
          </a:bodyPr>
          <a:lstStyle>
            <a:lvl1pPr marL="0" indent="0" algn="l">
              <a:buNone/>
              <a:defRPr lang="zh-CN" altLang="en-US" sz="4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pic>
        <p:nvPicPr>
          <p:cNvPr id="8" name="图片 7" descr="组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2"/>
          <p:cNvSpPr>
            <a:spLocks noGrp="1"/>
          </p:cNvSpPr>
          <p:nvPr>
            <p:ph type="body" idx="15" hasCustomPrompt="1"/>
            <p:custDataLst>
              <p:tags r:id="rId2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1" name="矩形 40"/>
          <p:cNvSpPr/>
          <p:nvPr userDrawn="1">
            <p:custDataLst>
              <p:tags r:id="rId3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4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5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sp>
        <p:nvSpPr>
          <p:cNvPr id="11" name="标题 9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518160" y="1094105"/>
            <a:ext cx="11160000" cy="5040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000" b="0">
                <a:solidFill>
                  <a:srgbClr val="0A2540"/>
                </a:solidFill>
                <a:effectLst/>
                <a:latin typeface="+mj-lt"/>
                <a:ea typeface="+mj-lt"/>
              </a:defRPr>
            </a:lvl1pPr>
          </a:lstStyle>
          <a:p>
            <a:endParaRPr lang="zh-CN" altLang="en-US" dirty="0"/>
          </a:p>
        </p:txBody>
      </p:sp>
      <p:pic>
        <p:nvPicPr>
          <p:cNvPr id="14" name="图片 12" descr="/Users/enson/Downloads/组 3.png组 3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518296" y="1449867"/>
            <a:ext cx="5441813" cy="4351338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0A2540"/>
                </a:solidFill>
                <a:latin typeface="+mj-lt"/>
                <a:ea typeface="+mj-lt"/>
              </a:defRPr>
            </a:lvl1pPr>
            <a:lvl2pPr>
              <a:defRPr sz="1800" b="0" i="0">
                <a:solidFill>
                  <a:srgbClr val="0A2540"/>
                </a:solidFill>
                <a:latin typeface="+mj-lt"/>
                <a:ea typeface="+mj-lt"/>
              </a:defRPr>
            </a:lvl2pPr>
            <a:lvl3pPr>
              <a:defRPr sz="1600" b="0" i="0">
                <a:solidFill>
                  <a:srgbClr val="0A2540"/>
                </a:solidFill>
                <a:latin typeface="+mj-lt"/>
                <a:ea typeface="+mj-lt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单击此处添加内容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56350" y="1430655"/>
            <a:ext cx="5283200" cy="4351655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0A2540"/>
                </a:solidFill>
                <a:latin typeface="+mj-lt"/>
                <a:ea typeface="+mj-lt"/>
              </a:defRPr>
            </a:lvl1pPr>
            <a:lvl2pPr>
              <a:defRPr sz="1800" b="0" i="0">
                <a:solidFill>
                  <a:srgbClr val="0A2540"/>
                </a:solidFill>
                <a:latin typeface="+mj-lt"/>
                <a:ea typeface="+mj-lt"/>
              </a:defRPr>
            </a:lvl2pPr>
            <a:lvl3pPr>
              <a:defRPr sz="1600" b="0" i="0">
                <a:solidFill>
                  <a:srgbClr val="0A2540"/>
                </a:solidFill>
                <a:latin typeface="+mj-lt"/>
                <a:ea typeface="+mj-lt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单击此处添加内容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idx="15" hasCustomPrompt="1"/>
            <p:custDataLst>
              <p:tags r:id="rId2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1" name="矩形 40"/>
          <p:cNvSpPr/>
          <p:nvPr userDrawn="1">
            <p:custDataLst>
              <p:tags r:id="rId3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4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5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14" name="图片 12" descr="/Users/enson/Downloads/组 3.png组 3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457190" y="1449705"/>
            <a:ext cx="6172200" cy="46793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A2540"/>
                </a:solidFill>
                <a:latin typeface="+mj-lt"/>
                <a:ea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20" name="标题 9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18160" y="1449705"/>
            <a:ext cx="4698365" cy="467995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000" b="0">
                <a:solidFill>
                  <a:srgbClr val="0A2540"/>
                </a:solidFill>
                <a:effectLst/>
                <a:latin typeface="+mj-lt"/>
                <a:ea typeface="+mj-lt"/>
              </a:defRPr>
            </a:lvl1pPr>
          </a:lstStyle>
          <a:p>
            <a:r>
              <a:rPr lang="zh-CN" altLang="en-US" dirty="0"/>
              <a:t>单击此处添加内容</a:t>
            </a:r>
            <a:endParaRPr lang="zh-CN" altLang="en-US" dirty="0"/>
          </a:p>
        </p:txBody>
      </p:sp>
      <p:sp>
        <p:nvSpPr>
          <p:cNvPr id="10" name="文本占位符 2"/>
          <p:cNvSpPr>
            <a:spLocks noGrp="1"/>
          </p:cNvSpPr>
          <p:nvPr>
            <p:ph type="body" idx="15" hasCustomPrompt="1"/>
            <p:custDataLst>
              <p:tags r:id="rId4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1" name="矩形 40"/>
          <p:cNvSpPr/>
          <p:nvPr userDrawn="1">
            <p:custDataLst>
              <p:tags r:id="rId5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6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7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8" name="图片 12" descr="/Users/enson/Downloads/组 3.png组 3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.jpgGOSIM-Shenzhen-2026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12" descr="/Users/enson/Downloads/组 3.png组 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 l="-636" r="268"/>
          <a:stretch>
            <a:fillRect/>
          </a:stretch>
        </p:blipFill>
        <p:spPr>
          <a:xfrm>
            <a:off x="541655" y="469900"/>
            <a:ext cx="1409700" cy="355600"/>
          </a:xfrm>
          <a:prstGeom prst="rect">
            <a:avLst/>
          </a:prstGeom>
        </p:spPr>
      </p:pic>
      <p:pic>
        <p:nvPicPr>
          <p:cNvPr id="6" name="图片 5" descr="GOSIM Shenzhen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  <p:custDataLst>
              <p:tags r:id="rId8"/>
            </p:custDataLst>
          </p:nvPr>
        </p:nvSpPr>
        <p:spPr>
          <a:xfrm>
            <a:off x="405130" y="2157095"/>
            <a:ext cx="8556625" cy="200215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tags" Target="../tags/tag4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0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0.png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GOSIM Shenzhen 20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" y="1732915"/>
            <a:ext cx="7713980" cy="2615565"/>
          </a:xfrm>
          <a:prstGeom prst="rect">
            <a:avLst/>
          </a:prstGeom>
        </p:spPr>
      </p:pic>
      <p:pic>
        <p:nvPicPr>
          <p:cNvPr id="3" name="图片 2" descr="October 16-17, 2026  Shenzhen, Chin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5" y="4672965"/>
            <a:ext cx="4324985" cy="35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5"/>
          </p:nvPr>
        </p:nvSpPr>
        <p:spPr>
          <a:xfrm>
            <a:off x="405130" y="1818640"/>
            <a:ext cx="11711940" cy="2002155"/>
          </a:xfrm>
        </p:spPr>
        <p:txBody>
          <a:bodyPr/>
          <a:lstStyle/>
          <a:p>
            <a:r>
              <a:rPr lang="en-US" altLang="zh-CN">
                <a:latin typeface="Source Han Sans CN Bold" panose="020B0800000000000000" charset="-122"/>
                <a:ea typeface="Source Han Sans CN Bold" panose="020B0800000000000000" charset="-122"/>
              </a:rPr>
              <a:t>UCM：</a:t>
            </a:r>
            <a:r>
              <a:rPr lang="zh-CN" altLang="en-US">
                <a:latin typeface="Source Han Sans CN Bold" panose="020B0800000000000000" charset="-122"/>
                <a:ea typeface="Source Han Sans CN Bold" panose="020B0800000000000000" charset="-122"/>
              </a:rPr>
              <a:t>从</a:t>
            </a:r>
            <a:r>
              <a:rPr lang="en-US" altLang="zh-CN">
                <a:latin typeface="Source Han Sans CN Bold" panose="020B0800000000000000" charset="-122"/>
                <a:ea typeface="Source Han Sans CN Bold" panose="020B0800000000000000" charset="-122"/>
              </a:rPr>
              <a:t>KV Cache</a:t>
            </a:r>
            <a:r>
              <a:rPr lang="zh-CN" altLang="en-US">
                <a:latin typeface="Source Han Sans CN Bold" panose="020B0800000000000000" charset="-122"/>
                <a:ea typeface="Source Han Sans CN Bold" panose="020B0800000000000000" charset="-122"/>
              </a:rPr>
              <a:t>加速走向智能体规模推理的全生命周期管理</a:t>
            </a:r>
            <a:endParaRPr lang="zh-CN" altLang="en-US">
              <a:latin typeface="Source Han Sans CN Bold" panose="020B0800000000000000" charset="-122"/>
              <a:ea typeface="Source Han Sans CN Bold" panose="020B08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>
                <a:latin typeface="Source Han Sans CN Bold" panose="020B0800000000000000" charset="-122"/>
                <a:ea typeface="Source Han Sans CN Bold" panose="020B0800000000000000" charset="-122"/>
              </a:rPr>
              <a:t>王聪</a:t>
            </a:r>
            <a:endParaRPr>
              <a:latin typeface="Source Han Sans CN Bold" panose="020B0800000000000000" charset="-122"/>
              <a:ea typeface="Source Han Sans CN Bold" panose="020B08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组合 63"/>
          <p:cNvGrpSpPr/>
          <p:nvPr>
            <p:custDataLst>
              <p:tags r:id="rId1"/>
            </p:custDataLst>
          </p:nvPr>
        </p:nvGrpSpPr>
        <p:grpSpPr>
          <a:xfrm>
            <a:off x="417195" y="2411095"/>
            <a:ext cx="1727835" cy="504190"/>
            <a:chOff x="657" y="7220"/>
            <a:chExt cx="2721" cy="794"/>
          </a:xfrm>
        </p:grpSpPr>
        <p:sp>
          <p:nvSpPr>
            <p:cNvPr id="65" name="矩形 64"/>
            <p:cNvSpPr/>
            <p:nvPr userDrawn="1">
              <p:custDataLst>
                <p:tags r:id="rId2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66" name="单圆角矩形 65"/>
            <p:cNvSpPr/>
            <p:nvPr userDrawn="1">
              <p:custDataLst>
                <p:tags r:id="rId3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01 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4"/>
            </p:custDataLst>
          </p:nvPr>
        </p:nvGrpSpPr>
        <p:grpSpPr>
          <a:xfrm>
            <a:off x="417195" y="3157855"/>
            <a:ext cx="1727835" cy="504190"/>
            <a:chOff x="657" y="7220"/>
            <a:chExt cx="2721" cy="794"/>
          </a:xfrm>
        </p:grpSpPr>
        <p:sp>
          <p:nvSpPr>
            <p:cNvPr id="15" name="矩形 14"/>
            <p:cNvSpPr/>
            <p:nvPr userDrawn="1">
              <p:custDataLst>
                <p:tags r:id="rId5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16" name="单圆角矩形 15"/>
            <p:cNvSpPr/>
            <p:nvPr userDrawn="1">
              <p:custDataLst>
                <p:tags r:id="rId6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02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417195" y="3904615"/>
            <a:ext cx="1727835" cy="504190"/>
            <a:chOff x="657" y="7220"/>
            <a:chExt cx="2721" cy="794"/>
          </a:xfrm>
        </p:grpSpPr>
        <p:sp>
          <p:nvSpPr>
            <p:cNvPr id="18" name="矩形 17"/>
            <p:cNvSpPr/>
            <p:nvPr userDrawn="1">
              <p:custDataLst>
                <p:tags r:id="rId8"/>
              </p:custDataLst>
            </p:nvPr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19" name="单圆角矩形 18"/>
            <p:cNvSpPr/>
            <p:nvPr userDrawn="1">
              <p:custDataLst>
                <p:tags r:id="rId9"/>
              </p:custDataLst>
            </p:nvPr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>
                <a:lnSpc>
                  <a:spcPct val="110000"/>
                </a:lnSpc>
              </a:pPr>
              <a:r>
                <a:rPr kumimoji="1" lang="en-US" altLang="zh-CN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03 </a:t>
              </a: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</p:grpSp>
      <p:sp>
        <p:nvSpPr>
          <p:cNvPr id="7" name="文本占位符 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494280" y="243332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icrosoft YaHei Bold" panose="020B0502040204020203" charset="-122"/>
                <a:cs typeface="Arial" panose="020B0604020202020204" pitchFamily="34" charset="0"/>
              </a:defRPr>
            </a:lvl1pPr>
          </a:lstStyle>
          <a:p>
            <a:pPr marL="0" lvl="0" eaLnBrk="0" hangingPunct="0"/>
            <a:r>
              <a:rPr lang="en-US" altLang="zh-CN"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AI Coding</a:t>
            </a:r>
            <a:r>
              <a:rPr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场景下的流量特征</a:t>
            </a:r>
            <a:r>
              <a:rPr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分析</a:t>
            </a:r>
            <a:endParaRPr>
              <a:effectLst>
                <a:outerShdw blurRad="38100" dist="38100" dir="2700000" algn="tl">
                  <a:schemeClr val="accent6">
                    <a:lumMod val="75000"/>
                    <a:alpha val="40000"/>
                  </a:schemeClr>
                </a:outerShdw>
              </a:effectLst>
              <a:latin typeface="Source Han Sans CN" panose="020B0800000000000000" charset="-122"/>
              <a:ea typeface="Source Han Sans CN" panose="020B0800000000000000" charset="-122"/>
              <a:sym typeface="+mn-ea"/>
            </a:endParaRPr>
          </a:p>
        </p:txBody>
      </p:sp>
      <p:sp>
        <p:nvSpPr>
          <p:cNvPr id="29" name="文本占位符 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494280" y="393319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icrosoft YaHei Bold" panose="020B0502040204020203" charset="-122"/>
                <a:cs typeface="Arial" panose="020B0604020202020204" pitchFamily="34" charset="0"/>
              </a:defRPr>
            </a:lvl1pPr>
          </a:lstStyle>
          <a:p>
            <a:pPr marL="0" lvl="0" eaLnBrk="0" hangingPunct="0"/>
            <a:r>
              <a:rPr lang="en-US" altLang="zh-CN"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UCM</a:t>
            </a:r>
            <a:r>
              <a:rPr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：</a:t>
            </a:r>
            <a:r>
              <a:rPr lang="zh-CN" altLang="en-US"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面向</a:t>
            </a:r>
            <a:r>
              <a:rPr lang="en-US" altLang="zh-CN"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LLM</a:t>
            </a:r>
            <a:r>
              <a:rPr lang="zh-CN" altLang="en-US"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推理的统一</a:t>
            </a:r>
            <a:r>
              <a:rPr lang="en-US" altLang="zh-CN"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KV Cache</a:t>
            </a:r>
            <a:r>
              <a:rPr lang="zh-CN" altLang="en-US"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基础设施</a:t>
            </a:r>
            <a:endParaRPr lang="zh-CN" altLang="en-US">
              <a:effectLst>
                <a:outerShdw blurRad="38100" dist="38100" dir="2700000" algn="tl">
                  <a:schemeClr val="accent6">
                    <a:lumMod val="75000"/>
                    <a:alpha val="40000"/>
                  </a:schemeClr>
                </a:outerShdw>
              </a:effectLst>
              <a:latin typeface="Source Han Sans CN" panose="020B0800000000000000" charset="-122"/>
              <a:ea typeface="Source Han Sans CN" panose="020B0800000000000000" charset="-122"/>
              <a:sym typeface="+mn-ea"/>
            </a:endParaRPr>
          </a:p>
        </p:txBody>
      </p:sp>
      <p:sp>
        <p:nvSpPr>
          <p:cNvPr id="30" name="文本占位符 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494280" y="3183255"/>
            <a:ext cx="668274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Microsoft YaHei Bold" panose="020B0502040204020203" charset="-122"/>
                <a:cs typeface="Arial" panose="020B0604020202020204" pitchFamily="34" charset="0"/>
              </a:defRPr>
            </a:lvl1pPr>
          </a:lstStyle>
          <a:p>
            <a:pPr marL="0" lvl="0" eaLnBrk="0" hangingPunct="0"/>
            <a:r>
              <a:rPr lang="en-US" altLang="zh-CN"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KV Cache</a:t>
            </a:r>
            <a:r>
              <a:rPr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推理加速</a:t>
            </a:r>
            <a:r>
              <a:rPr>
                <a:effectLst>
                  <a:outerShdw blurRad="38100" dist="38100" dir="2700000" algn="tl">
                    <a:schemeClr val="accent6">
                      <a:lumMod val="75000"/>
                      <a:alpha val="40000"/>
                    </a:schemeClr>
                  </a:outerShdw>
                </a:effectLst>
                <a:latin typeface="Source Han Sans CN" panose="020B0800000000000000" charset="-122"/>
                <a:ea typeface="Source Han Sans CN" panose="020B0800000000000000" charset="-122"/>
                <a:sym typeface="+mn-ea"/>
              </a:rPr>
              <a:t>系统设计</a:t>
            </a:r>
            <a:endParaRPr>
              <a:effectLst>
                <a:outerShdw blurRad="38100" dist="38100" dir="2700000" algn="tl">
                  <a:schemeClr val="accent6">
                    <a:lumMod val="75000"/>
                    <a:alpha val="40000"/>
                  </a:schemeClr>
                </a:outerShdw>
              </a:effectLst>
              <a:latin typeface="Source Han Sans CN" panose="020B0800000000000000" charset="-122"/>
              <a:ea typeface="Source Han Sans CN" panose="020B08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latin typeface="+mj-lt"/>
                <a:ea typeface="+mj-lt"/>
              </a:rPr>
              <a:t>01</a:t>
            </a:r>
            <a:endParaRPr lang="en-US" altLang="zh-CN">
              <a:latin typeface="+mj-lt"/>
              <a:ea typeface="+mj-lt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5"/>
          </p:nvPr>
        </p:nvSpPr>
        <p:spPr>
          <a:xfrm>
            <a:off x="568960" y="2821940"/>
            <a:ext cx="9681845" cy="859790"/>
          </a:xfrm>
        </p:spPr>
        <p:txBody>
          <a:bodyPr/>
          <a:p>
            <a:r>
              <a:rPr lang="en-US" altLang="zh-CN"/>
              <a:t>AI Coding</a:t>
            </a:r>
            <a:r>
              <a:rPr lang="zh-CN" altLang="en-US"/>
              <a:t>场景下的流量特征分析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en-US" altLang="zh-CN"/>
              <a:t>AI Coding </a:t>
            </a:r>
            <a:r>
              <a:rPr lang="zh-CN" altLang="en-US"/>
              <a:t>已是一种新的推理负载</a:t>
            </a:r>
            <a:endParaRPr lang="zh-CN" altLang="en-US"/>
          </a:p>
        </p:txBody>
      </p:sp>
      <p:sp>
        <p:nvSpPr>
          <p:cNvPr id="32" name="Rounded Rectangle 31"/>
          <p:cNvSpPr/>
          <p:nvPr/>
        </p:nvSpPr>
        <p:spPr>
          <a:xfrm>
            <a:off x="447040" y="5382133"/>
            <a:ext cx="2670048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3344" y="5382133"/>
            <a:ext cx="56692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7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60272" y="5465572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输入形态</a:t>
            </a:r>
            <a:endParaRPr sz="1250" b="1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60272" y="5721604"/>
            <a:ext cx="18745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读多写少</a:t>
            </a:r>
            <a:endParaRPr sz="9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3313684" y="5382133"/>
            <a:ext cx="2670048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59988" y="5382133"/>
            <a:ext cx="56692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7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026916" y="5465572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缓存复用</a:t>
            </a:r>
            <a:endParaRPr sz="1250" b="1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026916" y="5721604"/>
            <a:ext cx="18745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只增不减</a:t>
            </a:r>
            <a:endParaRPr sz="9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180328" y="5382133"/>
            <a:ext cx="2670048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6632" y="5382133"/>
            <a:ext cx="56692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7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893560" y="5465572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时间结构</a:t>
            </a:r>
            <a:endParaRPr sz="1250" b="1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93560" y="5721604"/>
            <a:ext cx="1874519" cy="146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9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人机交互成主要</a:t>
            </a:r>
            <a:r>
              <a:rPr lang="zh-CN" sz="9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瓶颈</a:t>
            </a:r>
            <a:endParaRPr lang="zh-CN" sz="9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046972" y="5382133"/>
            <a:ext cx="2670048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93276" y="5382133"/>
            <a:ext cx="56692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7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760203" y="5465572"/>
            <a:ext cx="187451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缓存失效</a:t>
            </a:r>
            <a:endParaRPr sz="1250" b="1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760203" y="5721604"/>
            <a:ext cx="187451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保与丢两难</a:t>
            </a:r>
            <a:endParaRPr sz="9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Rounded Rectangle 4"/>
          <p:cNvSpPr/>
          <p:nvPr/>
        </p:nvSpPr>
        <p:spPr>
          <a:xfrm>
            <a:off x="457200" y="1108964"/>
            <a:ext cx="5486400" cy="283464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5"/>
          <p:cNvSpPr/>
          <p:nvPr/>
        </p:nvSpPr>
        <p:spPr>
          <a:xfrm>
            <a:off x="658368" y="1255268"/>
            <a:ext cx="310896" cy="457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6"/>
          <p:cNvSpPr txBox="1"/>
          <p:nvPr/>
        </p:nvSpPr>
        <p:spPr>
          <a:xfrm>
            <a:off x="658368" y="1364996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一次请求 · Request</a:t>
            </a:r>
            <a:endParaRPr sz="1100" b="1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TextBox 7"/>
          <p:cNvSpPr txBox="1"/>
          <p:nvPr/>
        </p:nvSpPr>
        <p:spPr>
          <a:xfrm>
            <a:off x="658368" y="1730756"/>
            <a:ext cx="148132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8.8 步</a:t>
            </a:r>
            <a:endParaRPr sz="15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TextBox 8"/>
          <p:cNvSpPr txBox="1"/>
          <p:nvPr/>
        </p:nvSpPr>
        <p:spPr>
          <a:xfrm>
            <a:off x="2212848" y="1730756"/>
            <a:ext cx="35661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调用 —— 一条指令，多步自主推进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" name="Rectangle 9"/>
          <p:cNvSpPr/>
          <p:nvPr/>
        </p:nvSpPr>
        <p:spPr>
          <a:xfrm>
            <a:off x="658368" y="2197099"/>
            <a:ext cx="5084064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0"/>
          <p:cNvSpPr txBox="1"/>
          <p:nvPr/>
        </p:nvSpPr>
        <p:spPr>
          <a:xfrm>
            <a:off x="658368" y="2261108"/>
            <a:ext cx="148132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10.8 次</a:t>
            </a:r>
            <a:endParaRPr sz="15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" name="TextBox 11"/>
          <p:cNvSpPr txBox="1"/>
          <p:nvPr/>
        </p:nvSpPr>
        <p:spPr>
          <a:xfrm>
            <a:off x="2212848" y="2261108"/>
            <a:ext cx="35661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 —— 执行 → 观察 → 再执行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Rectangle 12"/>
          <p:cNvSpPr/>
          <p:nvPr/>
        </p:nvSpPr>
        <p:spPr>
          <a:xfrm>
            <a:off x="658368" y="2727451"/>
            <a:ext cx="5084064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"/>
          <p:cNvSpPr txBox="1"/>
          <p:nvPr/>
        </p:nvSpPr>
        <p:spPr>
          <a:xfrm>
            <a:off x="658368" y="2791460"/>
            <a:ext cx="148132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61% : 38%</a:t>
            </a:r>
            <a:endParaRPr sz="15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TextBox 14"/>
          <p:cNvSpPr txBox="1"/>
          <p:nvPr/>
        </p:nvSpPr>
        <p:spPr>
          <a:xfrm>
            <a:off x="2212848" y="2791460"/>
            <a:ext cx="35661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请求内时间：工具 vs 模型生成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" name="Rectangle 15"/>
          <p:cNvSpPr/>
          <p:nvPr/>
        </p:nvSpPr>
        <p:spPr>
          <a:xfrm>
            <a:off x="658368" y="3257804"/>
            <a:ext cx="5084064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6"/>
          <p:cNvSpPr txBox="1"/>
          <p:nvPr/>
        </p:nvSpPr>
        <p:spPr>
          <a:xfrm>
            <a:off x="658368" y="3321812"/>
            <a:ext cx="148132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4.3 min</a:t>
            </a:r>
            <a:endParaRPr sz="15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" name="TextBox 17"/>
          <p:cNvSpPr txBox="1"/>
          <p:nvPr/>
        </p:nvSpPr>
        <p:spPr>
          <a:xfrm>
            <a:off x="2212848" y="3321812"/>
            <a:ext cx="35661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端到端时长（p90 6.4 min）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" name="Rounded Rectangle 18"/>
          <p:cNvSpPr/>
          <p:nvPr/>
        </p:nvSpPr>
        <p:spPr>
          <a:xfrm>
            <a:off x="6245352" y="1108964"/>
            <a:ext cx="5486400" cy="283464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9"/>
          <p:cNvSpPr/>
          <p:nvPr/>
        </p:nvSpPr>
        <p:spPr>
          <a:xfrm>
            <a:off x="6446520" y="1255268"/>
            <a:ext cx="310896" cy="4572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20"/>
          <p:cNvSpPr txBox="1"/>
          <p:nvPr/>
        </p:nvSpPr>
        <p:spPr>
          <a:xfrm>
            <a:off x="6446520" y="1364996"/>
            <a:ext cx="5029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一个会话 · Session</a:t>
            </a:r>
            <a:endParaRPr sz="1100" b="1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" name="TextBox 21"/>
          <p:cNvSpPr txBox="1"/>
          <p:nvPr/>
        </p:nvSpPr>
        <p:spPr>
          <a:xfrm>
            <a:off x="6446520" y="1730756"/>
            <a:ext cx="148132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10.1 个</a:t>
            </a:r>
            <a:endParaRPr sz="15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2" name="TextBox 22"/>
          <p:cNvSpPr txBox="1"/>
          <p:nvPr/>
        </p:nvSpPr>
        <p:spPr>
          <a:xfrm>
            <a:off x="8001000" y="1730756"/>
            <a:ext cx="35661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 —— 人会反复回来（p99 达 161）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" name="Rectangle 23"/>
          <p:cNvSpPr/>
          <p:nvPr/>
        </p:nvSpPr>
        <p:spPr>
          <a:xfrm>
            <a:off x="6446520" y="2197099"/>
            <a:ext cx="5084064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24"/>
          <p:cNvSpPr txBox="1"/>
          <p:nvPr/>
        </p:nvSpPr>
        <p:spPr>
          <a:xfrm>
            <a:off x="6446520" y="2261108"/>
            <a:ext cx="148132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 次</a:t>
            </a:r>
            <a:endParaRPr sz="15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5" name="TextBox 25"/>
          <p:cNvSpPr txBox="1"/>
          <p:nvPr/>
        </p:nvSpPr>
        <p:spPr>
          <a:xfrm>
            <a:off x="8001000" y="2261108"/>
            <a:ext cx="35661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工具调用累计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Rectangle 26"/>
          <p:cNvSpPr/>
          <p:nvPr/>
        </p:nvSpPr>
        <p:spPr>
          <a:xfrm>
            <a:off x="6446520" y="2727451"/>
            <a:ext cx="5084064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27"/>
          <p:cNvSpPr txBox="1"/>
          <p:nvPr/>
        </p:nvSpPr>
        <p:spPr>
          <a:xfrm>
            <a:off x="6446520" y="2791460"/>
            <a:ext cx="148132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 7 : 1</a:t>
            </a:r>
            <a:endParaRPr sz="15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8" name="TextBox 28"/>
          <p:cNvSpPr txBox="1"/>
          <p:nvPr/>
        </p:nvSpPr>
        <p:spPr>
          <a:xfrm>
            <a:off x="8001000" y="2791460"/>
            <a:ext cx="35661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工具触发步 ： 用户触发步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9" name="Rectangle 29"/>
          <p:cNvSpPr/>
          <p:nvPr/>
        </p:nvSpPr>
        <p:spPr>
          <a:xfrm>
            <a:off x="6446520" y="3257804"/>
            <a:ext cx="5084064" cy="10972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30"/>
          <p:cNvSpPr txBox="1"/>
          <p:nvPr/>
        </p:nvSpPr>
        <p:spPr>
          <a:xfrm>
            <a:off x="6446520" y="3321812"/>
            <a:ext cx="148132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7.5 h</a:t>
            </a:r>
            <a:endParaRPr sz="15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1" name="TextBox 31"/>
          <p:cNvSpPr txBox="1"/>
          <p:nvPr/>
        </p:nvSpPr>
        <p:spPr>
          <a:xfrm>
            <a:off x="8001000" y="3321812"/>
            <a:ext cx="35661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平均跨度（p99 ≈ 7 天）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Rounded Rectangle 32"/>
          <p:cNvSpPr/>
          <p:nvPr/>
        </p:nvSpPr>
        <p:spPr>
          <a:xfrm>
            <a:off x="457200" y="4144772"/>
            <a:ext cx="11274552" cy="10607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33"/>
          <p:cNvSpPr txBox="1"/>
          <p:nvPr/>
        </p:nvSpPr>
        <p:spPr>
          <a:xfrm>
            <a:off x="658368" y="4254500"/>
            <a:ext cx="5486400" cy="1689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Chatbot 不一样 ｜ A</a:t>
            </a:r>
            <a:r>
              <a:rPr lang="en-US" sz="11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sz="11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Coding</a:t>
            </a:r>
            <a:endParaRPr sz="11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4" name="TextBox 34"/>
          <p:cNvSpPr txBox="1"/>
          <p:nvPr/>
        </p:nvSpPr>
        <p:spPr>
          <a:xfrm>
            <a:off x="658368" y="4565396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9AA0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一问一答 · 答完即止</a:t>
            </a:r>
            <a:endParaRPr sz="950" b="0" i="0">
              <a:solidFill>
                <a:srgbClr val="9AA0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5" name="TextBox 35"/>
          <p:cNvSpPr txBox="1"/>
          <p:nvPr/>
        </p:nvSpPr>
        <p:spPr>
          <a:xfrm>
            <a:off x="658368" y="48031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sz="115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一条指令 · 长链路自主执行</a:t>
            </a:r>
            <a:endParaRPr sz="1150" b="1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" name="Rectangle 36"/>
          <p:cNvSpPr/>
          <p:nvPr/>
        </p:nvSpPr>
        <p:spPr>
          <a:xfrm>
            <a:off x="4133087" y="4565396"/>
            <a:ext cx="10972" cy="51206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37"/>
          <p:cNvSpPr txBox="1"/>
          <p:nvPr/>
        </p:nvSpPr>
        <p:spPr>
          <a:xfrm>
            <a:off x="4297680" y="4565396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9AA0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上下文轻 · 一次装得下</a:t>
            </a:r>
            <a:endParaRPr sz="950" b="0" i="0">
              <a:solidFill>
                <a:srgbClr val="9AA0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TextBox 38"/>
          <p:cNvSpPr txBox="1"/>
          <p:nvPr/>
        </p:nvSpPr>
        <p:spPr>
          <a:xfrm>
            <a:off x="4297680" y="48031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sz="115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上下文重 · 边干边涨</a:t>
            </a:r>
            <a:endParaRPr sz="1150" b="1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9" name="Rectangle 39"/>
          <p:cNvSpPr/>
          <p:nvPr/>
        </p:nvSpPr>
        <p:spPr>
          <a:xfrm>
            <a:off x="7772400" y="4565396"/>
            <a:ext cx="10972" cy="51206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40"/>
          <p:cNvSpPr txBox="1"/>
          <p:nvPr/>
        </p:nvSpPr>
        <p:spPr>
          <a:xfrm>
            <a:off x="7936992" y="4565396"/>
            <a:ext cx="3429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9AA0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KV 用完即丢</a:t>
            </a:r>
            <a:endParaRPr sz="950" b="0" i="0">
              <a:solidFill>
                <a:srgbClr val="9AA0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1" name="TextBox 41"/>
          <p:cNvSpPr txBox="1"/>
          <p:nvPr/>
        </p:nvSpPr>
        <p:spPr>
          <a:xfrm>
            <a:off x="7936992" y="4803140"/>
            <a:ext cx="3429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sz="115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与会话同寿命 · 跨请求复用</a:t>
            </a:r>
            <a:endParaRPr sz="1150" b="1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zh-CN" altLang="en-US"/>
              <a:t>特征</a:t>
            </a:r>
            <a:r>
              <a:rPr lang="en-US" altLang="zh-CN"/>
              <a:t>1</a:t>
            </a:r>
            <a:r>
              <a:t>：</a:t>
            </a:r>
            <a:r>
              <a:rPr lang="zh-CN" altLang="en-US"/>
              <a:t>读多写少</a:t>
            </a:r>
            <a:endParaRPr lang="zh-CN" altLang="en-US"/>
          </a:p>
        </p:txBody>
      </p:sp>
      <p:sp>
        <p:nvSpPr>
          <p:cNvPr id="5" name="Rounded Rectangle 4"/>
          <p:cNvSpPr/>
          <p:nvPr/>
        </p:nvSpPr>
        <p:spPr>
          <a:xfrm>
            <a:off x="7911465" y="1177290"/>
            <a:ext cx="3851910" cy="987425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bIns="36576" rtlCol="0" anchor="ctr"/>
          <a:lstStyle/>
          <a:p>
            <a:pPr algn="ctr"/>
            <a:r>
              <a:rPr sz="20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141K / 120K</a:t>
            </a:r>
            <a:endParaRPr sz="20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中位前缀 token（Claude / Codex）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9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每一步都在重放的历史上下文</a:t>
            </a:r>
            <a:endParaRPr sz="9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911465" y="2301875"/>
            <a:ext cx="3851910" cy="987425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bIns="36576" rtlCol="0" anchor="ctr"/>
          <a:lstStyle/>
          <a:p>
            <a:pPr algn="ctr"/>
            <a:r>
              <a:rPr sz="20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≈400×</a:t>
            </a:r>
            <a:endParaRPr sz="20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中位输入 vs 中位输出（354 / 188）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9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算力与显存压力在 prefill 重放，不在 decode</a:t>
            </a:r>
            <a:endParaRPr sz="9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911465" y="3427095"/>
            <a:ext cx="3851910" cy="987425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bIns="36576" rtlCol="0" anchor="ctr"/>
          <a:lstStyle/>
          <a:p>
            <a:pPr algn="ctr"/>
            <a:r>
              <a:rPr sz="20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172K vs 7.5K</a:t>
            </a:r>
            <a:endParaRPr sz="20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平均每步总输入 vs 真正新增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9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输入体量由历史累积主导，而非当轮新内容</a:t>
            </a:r>
            <a:endParaRPr sz="9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911465" y="4551680"/>
            <a:ext cx="3851910" cy="987425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bIns="36576" rtlCol="0" anchor="ctr"/>
          <a:lstStyle/>
          <a:p>
            <a:pPr algn="ctr"/>
            <a:r>
              <a:rPr sz="20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 万</a:t>
            </a:r>
            <a:endParaRPr sz="20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前缀 p99（Claude），逼近百万级上下文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9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全负载累计输入 114.2B token</a:t>
            </a:r>
            <a:endParaRPr sz="9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33775" y="6177280"/>
            <a:ext cx="8229600" cy="13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850" b="0" i="0">
                <a:solidFill>
                  <a:srgbClr val="9AA0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</a:t>
            </a:r>
            <a:r>
              <a:rPr lang="en-US" altLang="zh-CN" sz="850" b="0" i="0">
                <a:solidFill>
                  <a:srgbClr val="9AA0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TraceLab</a:t>
            </a:r>
            <a:endParaRPr lang="en-US" altLang="zh-CN" sz="850" b="0" i="0">
              <a:solidFill>
                <a:srgbClr val="9AA0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8"/>
          <p:cNvSpPr/>
          <p:nvPr/>
        </p:nvSpPr>
        <p:spPr>
          <a:xfrm>
            <a:off x="461645" y="1177417"/>
            <a:ext cx="7114032" cy="4361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9" descr="token_spindles_transpar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492250"/>
            <a:ext cx="2926080" cy="1447165"/>
          </a:xfrm>
          <a:prstGeom prst="rect">
            <a:avLst/>
          </a:prstGeom>
        </p:spPr>
      </p:pic>
      <p:sp>
        <p:nvSpPr>
          <p:cNvPr id="37" name="TextBox 10"/>
          <p:cNvSpPr txBox="1"/>
          <p:nvPr/>
        </p:nvSpPr>
        <p:spPr>
          <a:xfrm>
            <a:off x="578738" y="3139821"/>
            <a:ext cx="34472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同轴对比：三分布分层，读远多于写</a:t>
            </a:r>
            <a:endParaRPr sz="8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8" name="Picture 11" descr="output_attribution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23340"/>
            <a:ext cx="2652395" cy="1816735"/>
          </a:xfrm>
          <a:prstGeom prst="rect">
            <a:avLst/>
          </a:prstGeom>
        </p:spPr>
      </p:pic>
      <p:sp>
        <p:nvSpPr>
          <p:cNvPr id="39" name="TextBox 12"/>
          <p:cNvSpPr txBox="1"/>
          <p:nvPr/>
        </p:nvSpPr>
        <p:spPr>
          <a:xfrm>
            <a:off x="4265929" y="3139821"/>
            <a:ext cx="34472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机制示意：上一步输出的两种归宿（折进前缀 / 作为新增重发）</a:t>
            </a:r>
            <a:endParaRPr sz="8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0" name="Table 13"/>
          <p:cNvGraphicFramePr>
            <a:graphicFrameLocks noGrp="1"/>
          </p:cNvGraphicFramePr>
          <p:nvPr/>
        </p:nvGraphicFramePr>
        <p:xfrm>
          <a:off x="4165600" y="3671570"/>
          <a:ext cx="3218815" cy="1492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2765"/>
                <a:gridCol w="707390"/>
                <a:gridCol w="708660"/>
              </a:tblGrid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重放检验（相邻轮）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27432" marT="9144" marB="9144" anchor="ctr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Claude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27432" marT="9144" marB="9144" anchor="ctr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Codex</a:t>
                      </a:r>
                      <a:endParaRPr sz="850" b="1" i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27432" marT="9144" marB="9144" anchor="ctr">
                    <a:solidFill>
                      <a:srgbClr val="262626"/>
                    </a:solidFill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前缀连续性：下一步 ≈ 上一步输入</a:t>
                      </a:r>
                      <a:endParaRPr sz="800" b="1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 tok</a:t>
                      </a:r>
                      <a:endParaRPr sz="800" b="0" i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350 tok</a:t>
                      </a:r>
                      <a:endParaRPr sz="800" b="0" i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27432" marT="9144" marB="9144" anchor="ctr">
                    <a:solidFill>
                      <a:srgbClr val="FFFFFF"/>
                    </a:solidFill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前缀误差 ±1% 内</a:t>
                      </a:r>
                      <a:endParaRPr sz="800" b="1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27432" marT="9144" marB="914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94.1%</a:t>
                      </a:r>
                      <a:endParaRPr sz="800" b="0" i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27432" marT="9144" marB="914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79.3%</a:t>
                      </a:r>
                      <a:endParaRPr sz="800" b="0" i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27432" marT="9144" marB="9144" anchor="ctr">
                    <a:solidFill>
                      <a:srgbClr val="F7F8FA"/>
                    </a:solidFill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新增包含上一步输出</a:t>
                      </a:r>
                      <a:endParaRPr sz="800" b="1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97.3%</a:t>
                      </a:r>
                      <a:endParaRPr sz="800" b="0" i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2743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94.4%</a:t>
                      </a:r>
                      <a:endParaRPr sz="800" b="0" i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27432" marT="9144" marB="9144" anchor="ctr">
                    <a:solidFill>
                      <a:srgbClr val="FFFFFF"/>
                    </a:solidFill>
                  </a:tcPr>
                </a:tc>
              </a:tr>
              <a:tr h="29845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26262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每步新增 raw → 去重放</a:t>
                      </a:r>
                      <a:endParaRPr sz="800" b="1" i="0">
                        <a:solidFill>
                          <a:srgbClr val="26262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27432" marT="9144" marB="914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967 → 285</a:t>
                      </a:r>
                      <a:endParaRPr sz="800" b="0" i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27432" marT="9144" marB="9144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6B728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1,116 → 787</a:t>
                      </a:r>
                      <a:endParaRPr sz="800" b="0" i="0">
                        <a:solidFill>
                          <a:srgbClr val="6B728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27432" marT="9144" marB="9144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41" name="TextBox 14"/>
          <p:cNvSpPr txBox="1"/>
          <p:nvPr/>
        </p:nvSpPr>
        <p:spPr>
          <a:xfrm>
            <a:off x="4128388" y="5320665"/>
            <a:ext cx="34472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重放链路：下一步输入 ≈ 上一步全部输入 + 上一步输出</a:t>
            </a:r>
            <a:endParaRPr sz="8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" name="Picture 15" descr="prefix_vs_append_s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" y="3603625"/>
            <a:ext cx="2009140" cy="1628775"/>
          </a:xfrm>
          <a:prstGeom prst="rect">
            <a:avLst/>
          </a:prstGeom>
        </p:spPr>
      </p:pic>
      <p:sp>
        <p:nvSpPr>
          <p:cNvPr id="43" name="TextBox 16"/>
          <p:cNvSpPr txBox="1"/>
          <p:nvPr/>
        </p:nvSpPr>
        <p:spPr>
          <a:xfrm>
            <a:off x="553719" y="5320665"/>
            <a:ext cx="34472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小前缀携大新增（冷启动），大前缀只带小新增</a:t>
            </a:r>
            <a:endParaRPr sz="8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zh-CN" altLang="en-US"/>
              <a:t>特征</a:t>
            </a:r>
            <a:r>
              <a:rPr lang="en-US" altLang="zh-CN"/>
              <a:t>2</a:t>
            </a:r>
            <a:r>
              <a:t>：极高</a:t>
            </a:r>
            <a:r>
              <a:t>的前缀</a:t>
            </a:r>
            <a:r>
              <a:t>命中率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42555" y="1202182"/>
            <a:ext cx="3977639" cy="9875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bIns="36576" rtlCol="0" anchor="ctr"/>
          <a:lstStyle/>
          <a:p>
            <a:pPr algn="ctr"/>
            <a:r>
              <a:rPr sz="20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95.6%</a:t>
            </a:r>
            <a:endParaRPr sz="20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 加权前缀命中率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9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工具触发步 97.8% ｜ 用户触发步 83.2%</a:t>
            </a:r>
            <a:endParaRPr sz="9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42555" y="2326894"/>
            <a:ext cx="3977639" cy="9875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bIns="36576" rtlCol="0" anchor="ctr"/>
          <a:lstStyle/>
          <a:p>
            <a:pPr algn="ctr"/>
            <a:r>
              <a:rPr sz="20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98.3%</a:t>
            </a:r>
            <a:endParaRPr sz="20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步骤上下文单调增长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9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 8.8% 会话压缩；单会话累计输入最高 9,200 万</a:t>
            </a:r>
            <a:endParaRPr sz="9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42555" y="3451606"/>
            <a:ext cx="3977639" cy="9875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bIns="36576" rtlCol="0" anchor="ctr"/>
          <a:lstStyle/>
          <a:p>
            <a:pPr algn="ctr"/>
            <a:r>
              <a:rPr sz="20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16%</a:t>
            </a:r>
            <a:endParaRPr sz="20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每步重算 token 中真正新鲜的部分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9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84% 本可由缓存提供，丢了按 6.3× 放大重算</a:t>
            </a:r>
            <a:endParaRPr sz="9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42555" y="4576318"/>
            <a:ext cx="3977639" cy="9875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bIns="36576" rtlCol="0" anchor="ctr"/>
          <a:lstStyle/>
          <a:p>
            <a:pPr algn="ctr"/>
            <a:r>
              <a:rPr sz="20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58.6%</a:t>
            </a:r>
            <a:endParaRPr sz="20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成本来自缓存读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9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新输入 30.5% ｜ 输出仅 11% —— 重读上下文才是账单大头</a:t>
            </a:r>
            <a:endParaRPr sz="9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33775" y="6177280"/>
            <a:ext cx="8229600" cy="13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850" b="0" i="0">
                <a:solidFill>
                  <a:srgbClr val="9AA0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</a:t>
            </a:r>
            <a:r>
              <a:rPr lang="en-US" altLang="zh-CN" sz="850" b="0" i="0">
                <a:solidFill>
                  <a:srgbClr val="9AA0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TraceLab</a:t>
            </a:r>
            <a:endParaRPr lang="en-US" altLang="zh-CN" sz="850" b="0" i="0">
              <a:solidFill>
                <a:srgbClr val="9AA0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8"/>
          <p:cNvSpPr/>
          <p:nvPr/>
        </p:nvSpPr>
        <p:spPr>
          <a:xfrm>
            <a:off x="346710" y="1202182"/>
            <a:ext cx="7114032" cy="4361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9" descr="claude-613359d47f_token_step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808" y="1420227"/>
            <a:ext cx="3447288" cy="1273837"/>
          </a:xfrm>
          <a:prstGeom prst="rect">
            <a:avLst/>
          </a:prstGeom>
        </p:spPr>
      </p:pic>
      <p:sp>
        <p:nvSpPr>
          <p:cNvPr id="27" name="TextBox 10"/>
          <p:cNvSpPr txBox="1"/>
          <p:nvPr/>
        </p:nvSpPr>
        <p:spPr>
          <a:xfrm>
            <a:off x="376808" y="3005836"/>
            <a:ext cx="34472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会话：高蓝基座 + 薄橙顶，几乎不压缩</a:t>
            </a:r>
            <a:endParaRPr sz="8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" name="Picture 11" descr="codex-78cf329187_token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824" y="1420331"/>
            <a:ext cx="3447288" cy="1273628"/>
          </a:xfrm>
          <a:prstGeom prst="rect">
            <a:avLst/>
          </a:prstGeom>
        </p:spPr>
      </p:pic>
      <p:sp>
        <p:nvSpPr>
          <p:cNvPr id="29" name="TextBox 12"/>
          <p:cNvSpPr txBox="1"/>
          <p:nvPr/>
        </p:nvSpPr>
        <p:spPr>
          <a:xfrm>
            <a:off x="3933824" y="3005836"/>
            <a:ext cx="34472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 会话：压缩-再累积（C 标记）</a:t>
            </a:r>
            <a:endParaRPr sz="8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Picture 13" descr="cache_hit_ratio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1" y="3289299"/>
            <a:ext cx="3210622" cy="1897379"/>
          </a:xfrm>
          <a:prstGeom prst="rect">
            <a:avLst/>
          </a:prstGeom>
        </p:spPr>
      </p:pic>
      <p:sp>
        <p:nvSpPr>
          <p:cNvPr id="31" name="TextBox 14"/>
          <p:cNvSpPr txBox="1"/>
          <p:nvPr/>
        </p:nvSpPr>
        <p:spPr>
          <a:xfrm>
            <a:off x="376808" y="5186680"/>
            <a:ext cx="34472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按步骤数：近九成步骤命中 ≥ 0.9</a:t>
            </a:r>
            <a:endParaRPr sz="8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Picture 15" descr="cache_hit_ratio_append_weighted_hist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2157" y="3289299"/>
            <a:ext cx="3210622" cy="1897379"/>
          </a:xfrm>
          <a:prstGeom prst="rect">
            <a:avLst/>
          </a:prstGeom>
        </p:spPr>
      </p:pic>
      <p:sp>
        <p:nvSpPr>
          <p:cNvPr id="33" name="TextBox 16"/>
          <p:cNvSpPr txBox="1"/>
          <p:nvPr/>
        </p:nvSpPr>
        <p:spPr>
          <a:xfrm>
            <a:off x="3933824" y="5208461"/>
            <a:ext cx="3447288" cy="1301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按新增加权：token </a:t>
            </a:r>
            <a:r>
              <a:rPr lang="zh-CN" sz="8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</a:t>
            </a:r>
            <a:r>
              <a:rPr sz="8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集中在低命中步骤</a:t>
            </a:r>
            <a:endParaRPr sz="8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zh-CN" altLang="en-US"/>
              <a:t>特征</a:t>
            </a:r>
            <a:r>
              <a:rPr lang="en-US" altLang="zh-CN"/>
              <a:t>3</a:t>
            </a:r>
            <a:r>
              <a:t>：人机交互成为</a:t>
            </a:r>
            <a:r>
              <a:t>瓶颈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6095" y="1212342"/>
            <a:ext cx="7114032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6095" y="4229862"/>
            <a:ext cx="7114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会话墙钟时间去向</a:t>
            </a:r>
            <a:endParaRPr sz="1100" b="1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6095" y="4504182"/>
            <a:ext cx="6516453" cy="475488"/>
          </a:xfrm>
          <a:prstGeom prst="rect">
            <a:avLst/>
          </a:prstGeom>
          <a:solidFill>
            <a:srgbClr val="C7000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22548" y="4504182"/>
            <a:ext cx="362815" cy="475488"/>
          </a:xfrm>
          <a:prstGeom prst="rect">
            <a:avLst/>
          </a:prstGeom>
          <a:solidFill>
            <a:srgbClr val="9AA0A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5363" y="4504182"/>
            <a:ext cx="227649" cy="475488"/>
          </a:xfrm>
          <a:prstGeom prst="rect">
            <a:avLst/>
          </a:prstGeom>
          <a:solidFill>
            <a:srgbClr val="D3D7D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823" y="4504182"/>
            <a:ext cx="27432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等人类 91.6%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6095" y="5071110"/>
            <a:ext cx="7114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■ </a:t>
            </a:r>
            <a:r>
              <a:rPr sz="10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人类思考 91.6%    </a:t>
            </a:r>
            <a:r>
              <a:rPr sz="1000" b="1" i="0">
                <a:solidFill>
                  <a:srgbClr val="9AA0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■ </a:t>
            </a:r>
            <a:r>
              <a:rPr sz="10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工具执行 5.1%    </a:t>
            </a:r>
            <a:r>
              <a:rPr sz="1000" b="1" i="0">
                <a:solidFill>
                  <a:srgbClr val="D3D7D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■ </a:t>
            </a:r>
            <a:r>
              <a:rPr sz="10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生成 3.2%</a:t>
            </a:r>
            <a:endParaRPr sz="10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869555" y="1191260"/>
            <a:ext cx="3977640" cy="93218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bIns="36576" rtlCol="0" anchor="ctr"/>
          <a:lstStyle/>
          <a:p>
            <a:pPr algn="ctr"/>
            <a:r>
              <a:rPr sz="20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86s → 11h</a:t>
            </a:r>
            <a:endParaRPr sz="20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人类等待 p50 → p99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9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等待横跨 7 个数量级</a:t>
            </a:r>
            <a:endParaRPr sz="9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869555" y="2252980"/>
            <a:ext cx="3977640" cy="93218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bIns="36576" rtlCol="0" anchor="ctr"/>
          <a:lstStyle/>
          <a:p>
            <a:pPr algn="ctr"/>
            <a:r>
              <a:rPr sz="20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~90%</a:t>
            </a:r>
            <a:endParaRPr sz="20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空闲时长来自 &gt;1h 的</a:t>
            </a:r>
            <a:r>
              <a:rPr lang="zh-CN"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9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5min 内结束的等待仅占空闲时长的 2.8%</a:t>
            </a:r>
            <a:endParaRPr sz="9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869555" y="3315335"/>
            <a:ext cx="3977640" cy="93218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bIns="36576" rtlCol="0" anchor="ctr"/>
          <a:lstStyle/>
          <a:p>
            <a:pPr algn="ctr"/>
            <a:r>
              <a:rPr sz="20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29×</a:t>
            </a:r>
            <a:endParaRPr sz="20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人类空闲 ÷ 模型生成时间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9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不是瓶颈，人是最长的等待</a:t>
            </a:r>
            <a:endParaRPr sz="9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69555" y="4377055"/>
            <a:ext cx="3977640" cy="932180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bIns="36576" rtlCol="0" anchor="ctr"/>
          <a:lstStyle/>
          <a:p>
            <a:pPr algn="ctr"/>
            <a:r>
              <a:rPr sz="20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 天</a:t>
            </a:r>
            <a:endParaRPr sz="20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最长的一次人类等待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9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被搁置的会话仍会回来继续工作</a:t>
            </a:r>
            <a:endParaRPr sz="9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33775" y="6177280"/>
            <a:ext cx="8229600" cy="13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850" b="0" i="0">
                <a:solidFill>
                  <a:srgbClr val="9AA0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</a:t>
            </a:r>
            <a:r>
              <a:rPr lang="en-US" altLang="zh-CN" sz="850" b="0" i="0">
                <a:solidFill>
                  <a:srgbClr val="9AA0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TraceLab</a:t>
            </a:r>
            <a:endParaRPr lang="en-US" altLang="zh-CN" sz="850" b="0" i="0">
              <a:solidFill>
                <a:srgbClr val="9AA0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Picture 9" descr="human_input_wait_cd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33" y="1443961"/>
            <a:ext cx="3447288" cy="2157025"/>
          </a:xfrm>
          <a:prstGeom prst="rect">
            <a:avLst/>
          </a:prstGeom>
        </p:spPr>
      </p:pic>
      <p:sp>
        <p:nvSpPr>
          <p:cNvPr id="22" name="TextBox 10"/>
          <p:cNvSpPr txBox="1"/>
          <p:nvPr/>
        </p:nvSpPr>
        <p:spPr>
          <a:xfrm>
            <a:off x="564133" y="3843782"/>
            <a:ext cx="34472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人类等待 CDF：主体秒级到分钟级</a:t>
            </a:r>
            <a:endParaRPr sz="8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3" name="Picture 11" descr="human_input_wait_total_cdf_by_prov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150" y="1542496"/>
            <a:ext cx="3447288" cy="1959955"/>
          </a:xfrm>
          <a:prstGeom prst="rect">
            <a:avLst/>
          </a:prstGeom>
        </p:spPr>
      </p:pic>
      <p:sp>
        <p:nvSpPr>
          <p:cNvPr id="24" name="TextBox 12"/>
          <p:cNvSpPr txBox="1"/>
          <p:nvPr/>
        </p:nvSpPr>
        <p:spPr>
          <a:xfrm>
            <a:off x="4121150" y="3843782"/>
            <a:ext cx="34472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按时长加权：长尾贡献几乎全部空闲时间</a:t>
            </a:r>
            <a:endParaRPr sz="8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zh-CN" altLang="en-US"/>
              <a:t>特征</a:t>
            </a:r>
            <a:r>
              <a:rPr lang="en-US" altLang="zh-CN"/>
              <a:t>4</a:t>
            </a:r>
            <a:r>
              <a:t>：</a:t>
            </a:r>
            <a:r>
              <a:t>停顿即</a:t>
            </a:r>
            <a:r>
              <a:t>失效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3775" y="6177280"/>
            <a:ext cx="8229600" cy="13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850" b="0" i="0">
                <a:solidFill>
                  <a:srgbClr val="9AA0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</a:t>
            </a:r>
            <a:r>
              <a:rPr lang="en-US" altLang="zh-CN" sz="850" b="0" i="0">
                <a:solidFill>
                  <a:srgbClr val="9AA0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TraceLab</a:t>
            </a:r>
            <a:endParaRPr lang="en-US" altLang="zh-CN" sz="850" b="0" i="0">
              <a:solidFill>
                <a:srgbClr val="9AA0A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866380" y="1162177"/>
            <a:ext cx="3977639" cy="9875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bIns="36576" rtlCol="0" anchor="ctr"/>
          <a:lstStyle/>
          <a:p>
            <a:pPr algn="ctr"/>
            <a:r>
              <a:rPr sz="20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86%</a:t>
            </a:r>
            <a:endParaRPr sz="20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低命中用户步</a:t>
            </a:r>
            <a:r>
              <a:rPr lang="zh-CN"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</a:t>
            </a:r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&gt;5min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9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命中率 &lt;10% 的 10,377 个用户步，失效可归因</a:t>
            </a:r>
            <a:endParaRPr sz="9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866380" y="2286889"/>
            <a:ext cx="3977639" cy="9875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bIns="36576" rtlCol="0" anchor="ctr"/>
          <a:lstStyle/>
          <a:p>
            <a:pPr algn="ctr"/>
            <a:r>
              <a:rPr sz="20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93.7% @ 2.1×</a:t>
            </a:r>
            <a:endParaRPr sz="2000" b="1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TTL=5min：可达命中 / KV 存储比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9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现网部署点对应有效驱逐时间仅 ≈9min</a:t>
            </a:r>
            <a:endParaRPr sz="9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866380" y="3411601"/>
            <a:ext cx="3977639" cy="9875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bIns="36576" rtlCol="0" anchor="ctr"/>
          <a:lstStyle/>
          <a:p>
            <a:pPr algn="ctr"/>
            <a:r>
              <a:rPr sz="2000" b="1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98.6% @ 5.2×</a:t>
            </a:r>
            <a:endParaRPr sz="2000" b="1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TTL=1h：边际收益递减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9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命中率只多 5 个百分点，存储比再翻倍</a:t>
            </a:r>
            <a:endParaRPr sz="9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866380" y="4536313"/>
            <a:ext cx="3977639" cy="987552"/>
          </a:xfrm>
          <a:prstGeom prst="roundRect">
            <a:avLst>
              <a:gd name="adj" fmla="val 6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36576" bIns="36576" rtlCol="0" anchor="ctr"/>
          <a:lstStyle/>
          <a:p>
            <a:pPr algn="ctr"/>
            <a:r>
              <a:rPr sz="2000" b="1" i="0">
                <a:solidFill>
                  <a:srgbClr val="C7000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-54% / -15.8%</a:t>
            </a:r>
            <a:endParaRPr sz="2000" b="1" i="0">
              <a:solidFill>
                <a:srgbClr val="C7000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思考期保缓存（反事实）：新增输入 / 成本</a:t>
            </a:r>
            <a:endParaRPr sz="1050" b="0" i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ts val="100"/>
              </a:spcBef>
            </a:pPr>
            <a:r>
              <a:rPr sz="90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上界估计：假设全部以 cache-read 价命中</a:t>
            </a:r>
            <a:endParaRPr sz="90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ounded Rectangle 8"/>
          <p:cNvSpPr/>
          <p:nvPr/>
        </p:nvSpPr>
        <p:spPr>
          <a:xfrm>
            <a:off x="347345" y="1162177"/>
            <a:ext cx="7114032" cy="43616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9" descr="user_wait_time_vs_hit_rate_scat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124" y="1217041"/>
            <a:ext cx="3151457" cy="1897379"/>
          </a:xfrm>
          <a:prstGeom prst="rect">
            <a:avLst/>
          </a:prstGeom>
        </p:spPr>
      </p:pic>
      <p:sp>
        <p:nvSpPr>
          <p:cNvPr id="25" name="TextBox 10"/>
          <p:cNvSpPr txBox="1"/>
          <p:nvPr/>
        </p:nvSpPr>
        <p:spPr>
          <a:xfrm>
            <a:off x="402208" y="3114421"/>
            <a:ext cx="34472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人类空闲 vs 命中率：&gt;5min 尾巴变粗</a:t>
            </a:r>
            <a:endParaRPr sz="8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6" name="Picture 11" descr="tool_result_wait_time_vs_hit_rat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139" y="1217041"/>
            <a:ext cx="3149458" cy="1897379"/>
          </a:xfrm>
          <a:prstGeom prst="rect">
            <a:avLst/>
          </a:prstGeom>
        </p:spPr>
      </p:pic>
      <p:sp>
        <p:nvSpPr>
          <p:cNvPr id="27" name="TextBox 12"/>
          <p:cNvSpPr txBox="1"/>
          <p:nvPr/>
        </p:nvSpPr>
        <p:spPr>
          <a:xfrm>
            <a:off x="3959224" y="3114421"/>
            <a:ext cx="34472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工具等待 vs 命中率：几乎不受空闲影响</a:t>
            </a:r>
            <a:endParaRPr sz="8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" name="Picture 13" descr="eviction_tradeoff_pare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72" y="3397884"/>
            <a:ext cx="2871961" cy="1897379"/>
          </a:xfrm>
          <a:prstGeom prst="rect">
            <a:avLst/>
          </a:prstGeom>
        </p:spPr>
      </p:pic>
      <p:sp>
        <p:nvSpPr>
          <p:cNvPr id="29" name="TextBox 14"/>
          <p:cNvSpPr txBox="1"/>
          <p:nvPr/>
        </p:nvSpPr>
        <p:spPr>
          <a:xfrm>
            <a:off x="402208" y="5295265"/>
            <a:ext cx="34472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TTL 帕累托：命中 ↑ 则存储比 ↑，拐点 ≈5min</a:t>
            </a:r>
            <a:endParaRPr sz="8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Picture 15" descr="kv_cache_active_ratio_by_provi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3654" y="3397884"/>
            <a:ext cx="3338428" cy="1897379"/>
          </a:xfrm>
          <a:prstGeom prst="rect">
            <a:avLst/>
          </a:prstGeom>
        </p:spPr>
      </p:pic>
      <p:sp>
        <p:nvSpPr>
          <p:cNvPr id="31" name="TextBox 16"/>
          <p:cNvSpPr txBox="1"/>
          <p:nvPr/>
        </p:nvSpPr>
        <p:spPr>
          <a:xfrm>
            <a:off x="3959224" y="5295265"/>
            <a:ext cx="344728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TTL=1h：KV 活跃复用占比仅 17.9%–21.4%</a:t>
            </a:r>
            <a:endParaRPr sz="850" b="0" i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00050" y="4631690"/>
            <a:ext cx="11342370" cy="1178560"/>
          </a:xfrm>
          <a:prstGeom prst="rect">
            <a:avLst/>
          </a:prstGeom>
          <a:noFill/>
        </p:spPr>
        <p:txBody>
          <a:bodyPr wrap="square" rtlCol="0" anchor="b" anchorCtr="0">
            <a:noAutofit/>
          </a:bodyPr>
          <a:p>
            <a:pPr algn="ctr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2800" b="1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大语言模型推理进入规模化阶段后，KV Cache 已从推理过程的中间产物变为决定成本与体验的第一性资源。</a:t>
            </a:r>
            <a:endParaRPr lang="zh-CN" altLang="en-US" sz="2800" b="1">
              <a:gradFill>
                <a:gsLst>
                  <a:gs pos="0">
                    <a:srgbClr val="91D2DD"/>
                  </a:gs>
                  <a:gs pos="45000">
                    <a:srgbClr val="6292BF"/>
                  </a:gs>
                  <a:gs pos="100000">
                    <a:srgbClr val="285091"/>
                  </a:gs>
                </a:gsLst>
                <a:lin ang="10800000" scaled="0"/>
              </a:gradFill>
              <a:latin typeface="Source Han Sans CN Bold" panose="020B0800000000000000" charset="-122"/>
              <a:ea typeface="Source Han Sans CN Bold" panose="020B0800000000000000" charset="-122"/>
              <a:cs typeface="思源黑体 CN" panose="020B0800000000000000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8368" y="9921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特征</a:t>
            </a:r>
            <a:endParaRPr sz="1100" b="1">
              <a:solidFill>
                <a:srgbClr val="5B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27248" y="99212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趋势特征</a:t>
            </a:r>
            <a:endParaRPr sz="1100" b="1">
              <a:solidFill>
                <a:srgbClr val="5B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56448" y="992124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对成本结构的含义</a:t>
            </a:r>
            <a:endParaRPr sz="1100" b="1">
              <a:solidFill>
                <a:srgbClr val="5B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339596"/>
            <a:ext cx="1118311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485900"/>
            <a:ext cx="2286000" cy="402336"/>
          </a:xfrm>
          <a:prstGeom prst="roundRect">
            <a:avLst>
              <a:gd name="adj" fmla="val 30000"/>
            </a:avLst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85900"/>
            <a:ext cx="206654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读多写少</a:t>
            </a:r>
            <a:endParaRPr sz="11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27248" y="1339596"/>
            <a:ext cx="48463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输入由历史上下文重放主导，读远多于写</a:t>
            </a:r>
            <a:endParaRPr sz="11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56448" y="1339596"/>
            <a:ext cx="338328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5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不缓存，每步都在重算历史</a:t>
            </a:r>
            <a:endParaRPr sz="1050" b="1">
              <a:solidFill>
                <a:srgbClr val="1F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2162556"/>
            <a:ext cx="1118311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308860"/>
            <a:ext cx="2286000" cy="402336"/>
          </a:xfrm>
          <a:prstGeom prst="roundRect">
            <a:avLst>
              <a:gd name="adj" fmla="val 30000"/>
            </a:avLst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308860"/>
            <a:ext cx="206654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前缀命中率极高</a:t>
            </a:r>
            <a:endParaRPr sz="11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27248" y="2162556"/>
            <a:ext cx="48463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绝大多数输入可由前缀缓存命中，真正新增占比很小</a:t>
            </a:r>
            <a:endParaRPr sz="11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56448" y="2162556"/>
            <a:ext cx="338328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5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复用是常态，收益占大头</a:t>
            </a:r>
            <a:endParaRPr sz="1050" b="1">
              <a:solidFill>
                <a:srgbClr val="1F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02920" y="2985516"/>
            <a:ext cx="1118311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3131820"/>
            <a:ext cx="2286000" cy="402336"/>
          </a:xfrm>
          <a:prstGeom prst="roundRect">
            <a:avLst>
              <a:gd name="adj" fmla="val 30000"/>
            </a:avLst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131820"/>
            <a:ext cx="206654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等待长尾效应</a:t>
            </a:r>
            <a:endParaRPr sz="11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27248" y="2985516"/>
            <a:ext cx="48463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人机交互主导墙钟时间，会话被拉长且随时回来继续</a:t>
            </a:r>
            <a:endParaRPr sz="11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56448" y="2985516"/>
            <a:ext cx="338328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5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KV 必须跨请求存活，与会话同寿命</a:t>
            </a:r>
            <a:endParaRPr sz="1050" b="1">
              <a:solidFill>
                <a:srgbClr val="1F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3808476"/>
            <a:ext cx="11183112" cy="6949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3954780"/>
            <a:ext cx="2286000" cy="402336"/>
          </a:xfrm>
          <a:prstGeom prst="roundRect">
            <a:avLst>
              <a:gd name="adj" fmla="val 30000"/>
            </a:avLst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3954780"/>
            <a:ext cx="206654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停顿即失效</a:t>
            </a:r>
            <a:endParaRPr sz="11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27248" y="3808476"/>
            <a:ext cx="484632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命中率随停顿快速衰减；保留越久，收益与存储代价同步上升</a:t>
            </a:r>
            <a:endParaRPr sz="11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56448" y="3808476"/>
            <a:ext cx="3383280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5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持有有代价——保与丢两难</a:t>
            </a:r>
            <a:endParaRPr sz="1050" b="1">
              <a:solidFill>
                <a:srgbClr val="1F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latin typeface="+mj-lt"/>
                <a:ea typeface="+mj-lt"/>
              </a:rPr>
              <a:t>02</a:t>
            </a:r>
            <a:endParaRPr lang="en-US" altLang="zh-CN">
              <a:latin typeface="+mj-lt"/>
              <a:ea typeface="+mj-lt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en-US" altLang="zh-CN"/>
              <a:t>KV Cache</a:t>
            </a:r>
            <a:r>
              <a:rPr lang="zh-CN" altLang="en-US"/>
              <a:t>推理</a:t>
            </a:r>
            <a:r>
              <a:rPr>
                <a:sym typeface="+mn-ea"/>
              </a:rPr>
              <a:t>加速</a:t>
            </a:r>
            <a:r>
              <a:rPr lang="zh-CN" altLang="en-US"/>
              <a:t>系统</a:t>
            </a:r>
            <a:r>
              <a:rPr lang="zh-CN" altLang="en-US"/>
              <a:t>设计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代价不会消失，只会转移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14400"/>
            <a:ext cx="11183112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42415"/>
            <a:ext cx="106984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KV Cache 总成本 ＝ </a:t>
            </a:r>
            <a:r>
              <a:rPr sz="17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重算成本</a:t>
            </a:r>
            <a:r>
              <a:rPr sz="170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　＋　</a:t>
            </a:r>
            <a:r>
              <a:rPr sz="17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驻留成本</a:t>
            </a:r>
            <a:r>
              <a:rPr sz="170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　＋　</a:t>
            </a:r>
            <a:r>
              <a:rPr sz="17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搬运成本</a:t>
            </a:r>
            <a:r>
              <a:rPr sz="1100" b="0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（＋ 负载不均衡与运维成本）</a:t>
            </a:r>
            <a:endParaRPr sz="1100" b="0">
              <a:solidFill>
                <a:srgbClr val="5B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499616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重算：未命中时重新执行 Prefill</a:t>
            </a:r>
            <a:r>
              <a:rPr sz="950" b="0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　｜　</a:t>
            </a:r>
            <a:r>
              <a:rPr sz="950" b="0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驻留：保留时长 × 所在存储层级</a:t>
            </a:r>
            <a:r>
              <a:rPr sz="950" b="0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　｜　</a:t>
            </a:r>
            <a:r>
              <a:rPr sz="950" b="0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搬运：跨层 / 跨节点的数据移动</a:t>
            </a:r>
            <a:endParaRPr sz="950" b="0">
              <a:solidFill>
                <a:srgbClr val="5B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8368" y="213969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优化动作</a:t>
            </a:r>
            <a:endParaRPr sz="1100" b="1">
              <a:solidFill>
                <a:srgbClr val="5B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27248" y="2139696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2E9E63"/>
                </a:solidFill>
                <a:latin typeface="微软雅黑" panose="020B0503020204020204" charset="-122"/>
                <a:ea typeface="微软雅黑" panose="020B0503020204020204" charset="-122"/>
              </a:rPr>
              <a:t>减少的成本</a:t>
            </a:r>
            <a:endParaRPr sz="1150" b="1">
              <a:solidFill>
                <a:srgbClr val="2E9E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42048" y="2139696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转移后的成本</a:t>
            </a:r>
            <a:endParaRPr sz="1150" b="1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2468880"/>
            <a:ext cx="1118311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587752"/>
            <a:ext cx="2286000" cy="384048"/>
          </a:xfrm>
          <a:prstGeom prst="roundRect">
            <a:avLst>
              <a:gd name="adj" fmla="val 30000"/>
            </a:avLst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587752"/>
            <a:ext cx="206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不保留 KV</a:t>
            </a:r>
            <a:endParaRPr sz="11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27248" y="2468880"/>
            <a:ext cx="3931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2E9E63"/>
                </a:solidFill>
                <a:latin typeface="微软雅黑" panose="020B0503020204020204" charset="-122"/>
                <a:ea typeface="微软雅黑" panose="020B0503020204020204" charset="-122"/>
              </a:rPr>
              <a:t>减少驻留与写入</a:t>
            </a:r>
            <a:endParaRPr sz="1050" b="1">
              <a:solidFill>
                <a:srgbClr val="2E9E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42048" y="2468880"/>
            <a:ext cx="42793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增加重复 Prefill 计算</a:t>
            </a:r>
            <a:endParaRPr sz="1050" b="1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3236976"/>
            <a:ext cx="1118311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3355848"/>
            <a:ext cx="2286000" cy="384048"/>
          </a:xfrm>
          <a:prstGeom prst="roundRect">
            <a:avLst>
              <a:gd name="adj" fmla="val 30000"/>
            </a:avLst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3355848"/>
            <a:ext cx="206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延长保留时间</a:t>
            </a:r>
            <a:endParaRPr sz="11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27248" y="3236976"/>
            <a:ext cx="3931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2E9E63"/>
                </a:solidFill>
                <a:latin typeface="微软雅黑" panose="020B0503020204020204" charset="-122"/>
                <a:ea typeface="微软雅黑" panose="020B0503020204020204" charset="-122"/>
              </a:rPr>
              <a:t>减少缓存失效后的重算</a:t>
            </a:r>
            <a:endParaRPr sz="1050" b="1">
              <a:solidFill>
                <a:srgbClr val="2E9E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42048" y="3236976"/>
            <a:ext cx="42793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增加容量占用与介质磨损</a:t>
            </a:r>
            <a:endParaRPr sz="1050" b="1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4005072"/>
            <a:ext cx="1118311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4123944"/>
            <a:ext cx="2286000" cy="384048"/>
          </a:xfrm>
          <a:prstGeom prst="roundRect">
            <a:avLst>
              <a:gd name="adj" fmla="val 30000"/>
            </a:avLst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123944"/>
            <a:ext cx="206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扩大热 KV 共享</a:t>
            </a:r>
            <a:endParaRPr sz="11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27248" y="4005072"/>
            <a:ext cx="3931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2E9E63"/>
                </a:solidFill>
                <a:latin typeface="微软雅黑" panose="020B0503020204020204" charset="-122"/>
                <a:ea typeface="微软雅黑" panose="020B0503020204020204" charset="-122"/>
              </a:rPr>
              <a:t>减少重复计算，放宽亲和约束</a:t>
            </a:r>
            <a:endParaRPr sz="1050" b="1">
              <a:solidFill>
                <a:srgbClr val="2E9E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242048" y="4005072"/>
            <a:ext cx="42793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增加网络与共享层管理开销</a:t>
            </a:r>
            <a:endParaRPr sz="1050" b="1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4773168"/>
            <a:ext cx="11183112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892040"/>
            <a:ext cx="2286000" cy="384048"/>
          </a:xfrm>
          <a:prstGeom prst="roundRect">
            <a:avLst>
              <a:gd name="adj" fmla="val 30000"/>
            </a:avLst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892040"/>
            <a:ext cx="206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坚持本地亲和</a:t>
            </a:r>
            <a:endParaRPr sz="11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127248" y="4773168"/>
            <a:ext cx="39319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2E9E63"/>
                </a:solidFill>
                <a:latin typeface="微软雅黑" panose="020B0503020204020204" charset="-122"/>
                <a:ea typeface="微软雅黑" panose="020B0503020204020204" charset="-122"/>
              </a:rPr>
              <a:t>减少 KV 搬移与远端读取</a:t>
            </a:r>
            <a:endParaRPr sz="1050" b="1">
              <a:solidFill>
                <a:srgbClr val="2E9E6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242048" y="4773168"/>
            <a:ext cx="4279392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可能增加排队与算力闲置</a:t>
            </a:r>
            <a:endParaRPr sz="1050" b="1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四种候选架构的成本结构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热层是否共享（跨节点复用）× 容量是否独立扩展（算存解耦）——两个独立选择轴，组合出四种架构</a:t>
            </a:r>
            <a:endParaRPr sz="1100" b="0">
              <a:solidFill>
                <a:srgbClr val="5B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25296"/>
          <a:ext cx="11183112" cy="3602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2651760"/>
                <a:gridCol w="3200400"/>
                <a:gridCol w="34107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1">
                          <a:solidFill>
                            <a:srgbClr val="1C23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架构</a:t>
                      </a:r>
                      <a:endParaRPr sz="1000" b="1">
                        <a:solidFill>
                          <a:srgbClr val="1C23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1">
                          <a:solidFill>
                            <a:srgbClr val="1C23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存储拓扑</a:t>
                      </a:r>
                      <a:endParaRPr sz="1000" b="1">
                        <a:solidFill>
                          <a:srgbClr val="1C23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1">
                          <a:solidFill>
                            <a:srgbClr val="1C23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减少的成本</a:t>
                      </a:r>
                      <a:endParaRPr sz="1000" b="1">
                        <a:solidFill>
                          <a:srgbClr val="1C23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0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1000" b="1">
                          <a:solidFill>
                            <a:srgbClr val="1C23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转移后的成本</a:t>
                      </a:r>
                      <a:endParaRPr sz="1000" b="1">
                        <a:solidFill>
                          <a:srgbClr val="1C23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0F3F9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1">
                          <a:solidFill>
                            <a:srgbClr val="1F4E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 · 本地为主</a:t>
                      </a:r>
                      <a:endParaRPr sz="950" b="1">
                        <a:solidFill>
                          <a:srgbClr val="1F4E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>
                          <a:solidFill>
                            <a:srgbClr val="1C23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本地热缓存 ＋ 本地 SSD</a:t>
                      </a:r>
                      <a:endParaRPr sz="950" b="0">
                        <a:solidFill>
                          <a:srgbClr val="1C23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>
                          <a:solidFill>
                            <a:srgbClr val="2E9E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远端访问；共享系统建设</a:t>
                      </a:r>
                      <a:endParaRPr sz="950" b="0">
                        <a:solidFill>
                          <a:srgbClr val="2E9E6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容量随计算绑定；重复存储 / 重算、亲和排队</a:t>
                      </a:r>
                      <a:endParaRPr sz="950" b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1">
                          <a:solidFill>
                            <a:srgbClr val="1F4E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 · 热层共享</a:t>
                      </a:r>
                      <a:endParaRPr sz="950" b="1">
                        <a:solidFill>
                          <a:srgbClr val="1F4E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>
                          <a:solidFill>
                            <a:srgbClr val="1C23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共享热层 ＋ 本地 SSD</a:t>
                      </a:r>
                      <a:endParaRPr sz="950" b="0">
                        <a:solidFill>
                          <a:srgbClr val="1C23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>
                          <a:solidFill>
                            <a:srgbClr val="2E9E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跨节点热 KV 重算；部分亲和约束</a:t>
                      </a:r>
                      <a:endParaRPr sz="950" b="0">
                        <a:solidFill>
                          <a:srgbClr val="2E9E6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共享层容量、网络与管理；冷数据仍绑定节点</a:t>
                      </a:r>
                      <a:endParaRPr sz="950" b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AFBFD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1">
                          <a:solidFill>
                            <a:srgbClr val="1F4E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 · 热层共享＋容量解耦</a:t>
                      </a:r>
                      <a:endParaRPr sz="950" b="1">
                        <a:solidFill>
                          <a:srgbClr val="1F4E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>
                          <a:solidFill>
                            <a:srgbClr val="1C23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共享热层 ＋ 独立存储池</a:t>
                      </a:r>
                      <a:endParaRPr sz="950" b="0">
                        <a:solidFill>
                          <a:srgbClr val="1C23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>
                          <a:solidFill>
                            <a:srgbClr val="2E9E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本地容量约束；部分热 KV 调度约束</a:t>
                      </a:r>
                      <a:endParaRPr sz="950" b="0">
                        <a:solidFill>
                          <a:srgbClr val="2E9E6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两层资源投入与数据移动；元数据与运维</a:t>
                      </a:r>
                      <a:endParaRPr sz="950" b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1">
                          <a:solidFill>
                            <a:srgbClr val="1F4E8C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 · 容量解耦</a:t>
                      </a:r>
                      <a:endParaRPr sz="950" b="1">
                        <a:solidFill>
                          <a:srgbClr val="1F4E8C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>
                          <a:solidFill>
                            <a:srgbClr val="1C233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本地热缓存 ＋ 独立存储池</a:t>
                      </a:r>
                      <a:endParaRPr sz="950" b="0">
                        <a:solidFill>
                          <a:srgbClr val="1C233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>
                          <a:solidFill>
                            <a:srgbClr val="2E9E6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容量与计算绑定；长生命周期保留限制</a:t>
                      </a:r>
                      <a:endParaRPr sz="950" b="0">
                        <a:solidFill>
                          <a:srgbClr val="2E9E6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AFB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</a:pPr>
                      <a:r>
                        <a:rPr sz="950" b="0">
                          <a:solidFill>
                            <a:srgbClr val="C039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远端回源与回迁；热 KV 亲和仍需权衡</a:t>
                      </a:r>
                      <a:endParaRPr sz="950" b="0">
                        <a:solidFill>
                          <a:srgbClr val="C0392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lnL w="6350" cap="flat">
                      <a:solidFill>
                        <a:srgbClr val="E3E7EE"/>
                      </a:solidFill>
                    </a:lnL>
                    <a:lnR w="6350" cap="flat">
                      <a:solidFill>
                        <a:srgbClr val="E3E7EE"/>
                      </a:solidFill>
                    </a:lnR>
                    <a:lnT w="6350" cap="flat">
                      <a:solidFill>
                        <a:srgbClr val="E3E7EE"/>
                      </a:solidFill>
                    </a:lnT>
                    <a:lnB w="6350" cap="flat">
                      <a:solidFill>
                        <a:srgbClr val="E3E7EE"/>
                      </a:solidFill>
                    </a:lnB>
                    <a:solidFill>
                      <a:srgbClr val="FAFBFD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02920" y="5010912"/>
            <a:ext cx="1118311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10912"/>
            <a:ext cx="106984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C 同时引入热共享与容量解耦两类复杂度，收益需分别验证；</a:t>
            </a:r>
            <a:r>
              <a:rPr sz="105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C 并非 D 的必然升级</a:t>
            </a:r>
            <a:r>
              <a:rPr sz="105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，D 可以是长期选择；B 在已有本地 SSD 且热共享收益显著时成立</a:t>
            </a:r>
            <a:endParaRPr sz="105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5779008"/>
            <a:ext cx="11183112" cy="548640"/>
          </a:xfrm>
          <a:prstGeom prst="roundRect">
            <a:avLst>
              <a:gd name="adj" fmla="val 28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779008"/>
            <a:ext cx="106344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四种架构无绝对优劣</a:t>
            </a:r>
            <a:r>
              <a:rPr sz="1300" b="0">
                <a:solidFill>
                  <a:srgbClr val="E8EDF5"/>
                </a:solidFill>
                <a:latin typeface="微软雅黑" panose="020B0503020204020204" charset="-122"/>
                <a:ea typeface="微软雅黑" panose="020B0503020204020204" charset="-122"/>
              </a:rPr>
              <a:t>，差异在于成本结构；实际性能取决于业务负载，需通过测量验证</a:t>
            </a:r>
            <a:endParaRPr sz="1300" b="0">
              <a:solidFill>
                <a:srgbClr val="E8ED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>
          <a:xfrm>
            <a:off x="221615" y="267335"/>
            <a:ext cx="8445500" cy="399415"/>
          </a:xfrm>
        </p:spPr>
        <p:txBody>
          <a:bodyPr/>
          <a:lstStyle/>
          <a:p>
            <a:r>
              <a:t>亲和与共享：调度在本地命中与负载均衡之间</a:t>
            </a:r>
            <a:r>
              <a:t>权衡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调度决定时延与资源成本发生在哪里：留在亲和节点，或转向空闲节点</a:t>
            </a:r>
            <a:endParaRPr sz="1100" b="0">
              <a:solidFill>
                <a:srgbClr val="5B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225296"/>
            <a:ext cx="5477256" cy="2304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111496" cy="402336"/>
          </a:xfrm>
          <a:prstGeom prst="roundRect">
            <a:avLst>
              <a:gd name="adj" fmla="val 50000"/>
            </a:avLst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371600"/>
            <a:ext cx="4892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路径一 · 留在亲和节点</a:t>
            </a:r>
            <a:endParaRPr sz="12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05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已有目标 KV，节点繁忙</a:t>
            </a:r>
            <a:endParaRPr sz="105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0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→ 本地加载：减少搬移与重算</a:t>
            </a:r>
            <a:endParaRPr sz="10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50292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成本：</a:t>
            </a:r>
            <a:r>
              <a:rPr sz="10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排队时延增加，其他节点算力闲置</a:t>
            </a:r>
            <a:endParaRPr sz="10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08776" y="1225296"/>
            <a:ext cx="5477256" cy="2304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91656" y="1371600"/>
            <a:ext cx="5111496" cy="402336"/>
          </a:xfrm>
          <a:prstGeom prst="roundRect">
            <a:avLst>
              <a:gd name="adj" fmla="val 50000"/>
            </a:avLst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1384" y="1371600"/>
            <a:ext cx="48920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路径二 · 转向空闲节点</a:t>
            </a:r>
            <a:endParaRPr sz="12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37376" y="192024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05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算力可用，目标 KV 不在本地</a:t>
            </a:r>
            <a:endParaRPr sz="105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0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→ 远端加载，或重新执行 Prefill</a:t>
            </a:r>
            <a:endParaRPr sz="10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37376" y="3017520"/>
            <a:ext cx="50292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</a:rPr>
              <a:t>成本：</a:t>
            </a:r>
            <a:r>
              <a:rPr sz="10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网络传输、远端读取或重算</a:t>
            </a:r>
            <a:endParaRPr sz="10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3712463"/>
            <a:ext cx="1118311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822191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比较：</a:t>
            </a: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亲和节点的排队等待 ＋ 本地加载</a:t>
            </a:r>
            <a:r>
              <a:rPr sz="110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  vs  </a:t>
            </a: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空闲节点的等待 ＋ 远端加载 / 重算</a:t>
            </a:r>
            <a:endParaRPr sz="11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两者的相对成本取决于队列状态、热点分布与远端读取开销；共享扩大候选集合，但不自动实现负载均衡</a:t>
            </a:r>
            <a:endParaRPr sz="950" b="0">
              <a:solidFill>
                <a:srgbClr val="5B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4681728"/>
            <a:ext cx="11183112" cy="475488"/>
          </a:xfrm>
          <a:prstGeom prst="roundRect">
            <a:avLst>
              <a:gd name="adj" fmla="val 30000"/>
            </a:avLst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4681728"/>
            <a:ext cx="1096365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分工：</a:t>
            </a:r>
            <a:r>
              <a:rPr sz="10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调度器决定请求放置；缓存层提供 KV 位置、可访问性与访问成本信息，不替代调度决策</a:t>
            </a:r>
            <a:endParaRPr sz="10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5779008"/>
            <a:ext cx="11183112" cy="548640"/>
          </a:xfrm>
          <a:prstGeom prst="roundRect">
            <a:avLst>
              <a:gd name="adj" fmla="val 28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779008"/>
            <a:ext cx="106344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DF5"/>
                </a:solidFill>
                <a:latin typeface="微软雅黑" panose="020B0503020204020204" charset="-122"/>
                <a:ea typeface="微软雅黑" panose="020B0503020204020204" charset="-122"/>
              </a:rPr>
              <a:t>优化目标是 </a:t>
            </a: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SLO 约束下的集群有效吞吐与单位 Token 成本</a:t>
            </a:r>
            <a:r>
              <a:rPr sz="1300" b="0">
                <a:solidFill>
                  <a:srgbClr val="E8EDF5"/>
                </a:solidFill>
                <a:latin typeface="微软雅黑" panose="020B0503020204020204" charset="-122"/>
                <a:ea typeface="微软雅黑" panose="020B0503020204020204" charset="-122"/>
              </a:rPr>
              <a:t>，而非 Prefix 命中率</a:t>
            </a:r>
            <a:endParaRPr sz="1300" b="0">
              <a:solidFill>
                <a:srgbClr val="E8EDF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部署条件决定初始选型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规模帮助形成初始判断，实际瓶颈决定最终选择</a:t>
            </a:r>
            <a:endParaRPr sz="1100" b="0">
              <a:solidFill>
                <a:srgbClr val="5B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225296"/>
            <a:ext cx="3648456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3374136" cy="402336"/>
          </a:xfrm>
          <a:prstGeom prst="roundRect">
            <a:avLst>
              <a:gd name="adj" fmla="val 28000"/>
            </a:avLst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353312"/>
            <a:ext cx="3154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百卡左右 · 无专门存储团队</a:t>
            </a:r>
            <a:endParaRPr sz="105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865376"/>
            <a:ext cx="3374136" cy="402336"/>
          </a:xfrm>
          <a:prstGeom prst="roundRect">
            <a:avLst>
              <a:gd name="adj" fmla="val 28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65376"/>
            <a:ext cx="3154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优先评估 A</a:t>
            </a:r>
            <a:endParaRPr sz="1150" b="1">
              <a:solidFill>
                <a:srgbClr val="1F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" y="2414016"/>
            <a:ext cx="331012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0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系统建设与运维成本最敏感</a:t>
            </a:r>
            <a:endParaRPr sz="10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0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以本地热缓存与本地 SSD 起步，保留重算兜底</a:t>
            </a:r>
            <a:endParaRPr sz="10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0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允许偏离亲和，不为命中牺牲调度</a:t>
            </a:r>
            <a:endParaRPr sz="10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500"/>
              </a:spcBef>
              <a:spcAft>
                <a:spcPts val="600"/>
              </a:spcAft>
            </a:pP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本地容量不足或已有成熟存储时，评估 D</a:t>
            </a:r>
            <a:endParaRPr sz="1050" b="1">
              <a:solidFill>
                <a:srgbClr val="5B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70248" y="1225296"/>
            <a:ext cx="3648456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07408" y="1353312"/>
            <a:ext cx="3374136" cy="402336"/>
          </a:xfrm>
          <a:prstGeom prst="roundRect">
            <a:avLst>
              <a:gd name="adj" fmla="val 28000"/>
            </a:avLst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353312"/>
            <a:ext cx="3154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数百至数千卡 · 多模型，扩缩容增多</a:t>
            </a:r>
            <a:endParaRPr sz="105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07408" y="1865376"/>
            <a:ext cx="3374136" cy="402336"/>
          </a:xfrm>
          <a:prstGeom prst="roundRect">
            <a:avLst>
              <a:gd name="adj" fmla="val 28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865376"/>
            <a:ext cx="3154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优先比较 A / D</a:t>
            </a:r>
            <a:endParaRPr sz="1150" b="1">
              <a:solidFill>
                <a:srgbClr val="1F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53128" y="2414016"/>
            <a:ext cx="331012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0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容量与计算扩展开始错配</a:t>
            </a:r>
            <a:endParaRPr sz="10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0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节点扩缩容导致缓存反复冷启动</a:t>
            </a:r>
            <a:endParaRPr sz="10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0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容量与生命周期被节点绑定 → 评估独立存储</a:t>
            </a:r>
            <a:endParaRPr sz="10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500"/>
              </a:spcBef>
              <a:spcAft>
                <a:spcPts val="600"/>
              </a:spcAft>
            </a:pP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热共享收益明确时，再评估 B / C</a:t>
            </a:r>
            <a:endParaRPr sz="1050" b="1">
              <a:solidFill>
                <a:srgbClr val="5B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37575" y="1225296"/>
            <a:ext cx="3648456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353312"/>
            <a:ext cx="3374136" cy="402336"/>
          </a:xfrm>
          <a:prstGeom prst="roundRect">
            <a:avLst>
              <a:gd name="adj" fmla="val 28000"/>
            </a:avLst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3" y="1353312"/>
            <a:ext cx="3154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数千至万卡 · 多租户，存算独立扩容</a:t>
            </a:r>
            <a:endParaRPr sz="105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174736" y="1865376"/>
            <a:ext cx="3374136" cy="402336"/>
          </a:xfrm>
          <a:prstGeom prst="roundRect">
            <a:avLst>
              <a:gd name="adj" fmla="val 28000"/>
            </a:avLst>
          </a:prstGeom>
          <a:solidFill>
            <a:srgbClr val="E8E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3" y="1865376"/>
            <a:ext cx="31546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重点比较 C / D</a:t>
            </a:r>
            <a:endParaRPr sz="1150" b="1">
              <a:solidFill>
                <a:srgbClr val="1F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0455" y="2414016"/>
            <a:ext cx="3310128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0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KV 工作集大、热点集中；PD 分离成熟</a:t>
            </a:r>
            <a:endParaRPr sz="10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0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KV 位置开始影响全局调度</a:t>
            </a:r>
            <a:endParaRPr sz="10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0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亲和排队损失大 → 评估共享热层</a:t>
            </a:r>
            <a:endParaRPr sz="10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500"/>
              </a:spcBef>
              <a:spcAft>
                <a:spcPts val="600"/>
              </a:spcAft>
            </a:pP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热点局部或远端读取足够快时，D 仍可能更经济</a:t>
            </a:r>
            <a:endParaRPr sz="1050" b="1">
              <a:solidFill>
                <a:srgbClr val="5B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02920" y="4517136"/>
            <a:ext cx="11183112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608576"/>
            <a:ext cx="1069848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容量估算：</a:t>
            </a:r>
            <a:r>
              <a:rPr sz="115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KV 容量 ≈ 每 Token KV 大小 × KV 净产生速率 × 目标保留时间</a:t>
            </a:r>
            <a:endParaRPr sz="115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再按复用去重、淘汰与冗余修正，并验证峰值回源带宽</a:t>
            </a:r>
            <a:endParaRPr sz="950" b="0">
              <a:solidFill>
                <a:srgbClr val="5B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920" y="5779008"/>
            <a:ext cx="11183112" cy="548640"/>
          </a:xfrm>
          <a:prstGeom prst="roundRect">
            <a:avLst>
              <a:gd name="adj" fmla="val 28000"/>
            </a:avLst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779008"/>
            <a:ext cx="1063447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9FC5E8"/>
                </a:solidFill>
                <a:latin typeface="微软雅黑" panose="020B0503020204020204" charset="-122"/>
                <a:ea typeface="微软雅黑" panose="020B0503020204020204" charset="-122"/>
              </a:rPr>
              <a:t>规模不是架构升级的必然路线：</a:t>
            </a:r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由实测瓶颈驱动演进，每次只引入一种复杂度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t>架构选型之后：KV Cache 的四个共性问题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1155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架构回答资源放在哪里；无论选择哪种拓扑，以下问题都存在，且随负载动态变化</a:t>
            </a:r>
            <a:endParaRPr sz="1100" b="0">
              <a:solidFill>
                <a:srgbClr val="5B667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543153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316736"/>
            <a:ext cx="2651760" cy="384048"/>
          </a:xfrm>
          <a:prstGeom prst="roundRect">
            <a:avLst>
              <a:gd name="adj" fmla="val 30000"/>
            </a:avLst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16736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复用 · 保留多久</a:t>
            </a:r>
            <a:endParaRPr sz="115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4088" y="1828800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哪些 KV 值得保留，保留多久，何时回收</a:t>
            </a:r>
            <a:endParaRPr sz="11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4088" y="2176272"/>
            <a:ext cx="50749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9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由访问模式与业务负载决定，随时间变化</a:t>
            </a:r>
            <a:endParaRPr sz="9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9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过期不回收挤占热层，误回收引发重算</a:t>
            </a:r>
            <a:endParaRPr sz="9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4088" y="2834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0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主导驻留成本</a:t>
            </a:r>
            <a:endParaRPr sz="1000" b="1">
              <a:solidFill>
                <a:srgbClr val="1F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63056" y="1188720"/>
            <a:ext cx="543153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27648" y="1316736"/>
            <a:ext cx="2651760" cy="384048"/>
          </a:xfrm>
          <a:prstGeom prst="roundRect">
            <a:avLst>
              <a:gd name="adj" fmla="val 30000"/>
            </a:avLst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1316736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放置 · 保留在哪</a:t>
            </a:r>
            <a:endParaRPr sz="115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64224" y="1828800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KV 保留在哪里，如何与算力调度协作</a:t>
            </a:r>
            <a:endParaRPr sz="11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64224" y="2176272"/>
            <a:ext cx="50749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9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亲和提升命中，但约束调度自由</a:t>
            </a:r>
            <a:endParaRPr sz="9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9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跨节点共享扩大候选集合，不自动均衡负载</a:t>
            </a:r>
            <a:endParaRPr sz="9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64224" y="2834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0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影响重算成本与排队时延</a:t>
            </a:r>
            <a:endParaRPr sz="1000" b="1">
              <a:solidFill>
                <a:srgbClr val="1F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3346704"/>
            <a:ext cx="543153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474720"/>
            <a:ext cx="2651760" cy="384048"/>
          </a:xfrm>
          <a:prstGeom prst="roundRect">
            <a:avLst>
              <a:gd name="adj" fmla="val 30000"/>
            </a:avLst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74720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迁移 · 如何移动</a:t>
            </a:r>
            <a:endParaRPr sz="115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4088" y="3986784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何时预取、何时搬移，走什么路径</a:t>
            </a:r>
            <a:endParaRPr sz="11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4088" y="4334256"/>
            <a:ext cx="50749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9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用搬运成本换调度自由与容量利用率</a:t>
            </a:r>
            <a:endParaRPr sz="9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9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传输效率决定远端数据是否真正可用</a:t>
            </a:r>
            <a:endParaRPr sz="9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4088" y="499262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0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主导搬运成本</a:t>
            </a:r>
            <a:endParaRPr sz="1000" b="1">
              <a:solidFill>
                <a:srgbClr val="1F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163056" y="3346704"/>
            <a:ext cx="543153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27648" y="3474720"/>
            <a:ext cx="2651760" cy="384048"/>
          </a:xfrm>
          <a:prstGeom prst="roundRect">
            <a:avLst>
              <a:gd name="adj" fmla="val 30000"/>
            </a:avLst>
          </a:prstGeom>
          <a:solidFill>
            <a:srgbClr val="ED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474720"/>
            <a:ext cx="243230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兜底 · 压力去向</a:t>
            </a:r>
            <a:endParaRPr sz="115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64224" y="3986784"/>
            <a:ext cx="5074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热层容量不足时，压力转向哪里</a:t>
            </a:r>
            <a:endParaRPr sz="1100" b="1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364224" y="4334256"/>
            <a:ext cx="507492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9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有副本 → 远端回源；无副本 → Prefill 重算</a:t>
            </a:r>
            <a:endParaRPr sz="9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1">
                <a:solidFill>
                  <a:srgbClr val="5B667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950" b="0">
                <a:solidFill>
                  <a:srgbClr val="1C2330"/>
                </a:solidFill>
                <a:latin typeface="微软雅黑" panose="020B0503020204020204" charset="-122"/>
                <a:ea typeface="微软雅黑" panose="020B0503020204020204" charset="-122"/>
              </a:rPr>
              <a:t>回源划算条件：C_read + C_transfer &lt; C_recompute</a:t>
            </a:r>
            <a:endParaRPr sz="950" b="0">
              <a:solidFill>
                <a:srgbClr val="1C23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64224" y="4992624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→ </a:t>
            </a:r>
            <a:r>
              <a:rPr sz="1000" b="1">
                <a:solidFill>
                  <a:srgbClr val="1F4E8C"/>
                </a:solidFill>
                <a:latin typeface="微软雅黑" panose="020B0503020204020204" charset="-122"/>
                <a:ea typeface="微软雅黑" panose="020B0503020204020204" charset="-122"/>
              </a:rPr>
              <a:t>决定峰值尾时延与兜底能力</a:t>
            </a:r>
            <a:endParaRPr sz="1000" b="1">
              <a:solidFill>
                <a:srgbClr val="1F4E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>
                <a:latin typeface="+mj-lt"/>
                <a:ea typeface="+mj-lt"/>
              </a:rPr>
              <a:t>03</a:t>
            </a:r>
            <a:endParaRPr lang="en-US" altLang="zh-CN">
              <a:latin typeface="+mj-lt"/>
              <a:ea typeface="+mj-lt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5"/>
          </p:nvPr>
        </p:nvSpPr>
        <p:spPr>
          <a:xfrm>
            <a:off x="568960" y="2821940"/>
            <a:ext cx="10320020" cy="859790"/>
          </a:xfrm>
        </p:spPr>
        <p:txBody>
          <a:bodyPr/>
          <a:p>
            <a:pPr marL="0" lvl="0" eaLnBrk="0" hangingPunct="0"/>
            <a:r>
              <a:rPr lang="en-US" altLang="zh-CN"/>
              <a:t>UCM：</a:t>
            </a:r>
            <a:r>
              <a:rPr lang="zh-CN" altLang="en-US"/>
              <a:t>面向</a:t>
            </a:r>
            <a:r>
              <a:rPr lang="en-US" altLang="zh-CN"/>
              <a:t>LLM</a:t>
            </a:r>
            <a:r>
              <a:rPr lang="zh-CN" altLang="en-US"/>
              <a:t>推理的统一</a:t>
            </a:r>
            <a:r>
              <a:rPr lang="en-US" altLang="zh-CN"/>
              <a:t>KV Cache</a:t>
            </a:r>
            <a:r>
              <a:rPr lang="zh-CN" altLang="en-US"/>
              <a:t>基础设施</a:t>
            </a:r>
            <a:endParaRPr lang="zh-CN" altLang="en-US"/>
          </a:p>
          <a:p>
            <a:pPr marL="0" lvl="0" eaLnBrk="0" hangingPunct="0"/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en-US" altLang="zh-CN"/>
              <a:t>UCM</a:t>
            </a:r>
            <a:r>
              <a:t>：</a:t>
            </a:r>
            <a:r>
              <a:rPr lang="zh-CN" altLang="en-US"/>
              <a:t>面向 </a:t>
            </a:r>
            <a:r>
              <a:rPr lang="en-US" altLang="zh-CN"/>
              <a:t>LLM </a:t>
            </a:r>
            <a:r>
              <a:rPr lang="zh-CN" altLang="en-US"/>
              <a:t>推理的统一 </a:t>
            </a:r>
            <a:r>
              <a:rPr lang="en-US" altLang="zh-CN"/>
              <a:t>KV Cache </a:t>
            </a:r>
            <a:r>
              <a:rPr lang="zh-CN" altLang="en-US"/>
              <a:t>管理层</a:t>
            </a:r>
            <a:endParaRPr lang="zh-CN" altLang="en-US"/>
          </a:p>
        </p:txBody>
      </p:sp>
      <p:sp>
        <p:nvSpPr>
          <p:cNvPr id="3" name="Rounded Rectangle 6"/>
          <p:cNvSpPr/>
          <p:nvPr/>
        </p:nvSpPr>
        <p:spPr>
          <a:xfrm>
            <a:off x="365760" y="888365"/>
            <a:ext cx="6263640" cy="1481328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D9E0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7"/>
          <p:cNvSpPr txBox="1"/>
          <p:nvPr/>
        </p:nvSpPr>
        <p:spPr>
          <a:xfrm>
            <a:off x="566928" y="961517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应用与推理引擎</a:t>
            </a:r>
            <a:r>
              <a:rPr sz="10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Applications &amp; Engines</a:t>
            </a:r>
            <a:endParaRPr sz="10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8"/>
          <p:cNvSpPr txBox="1"/>
          <p:nvPr/>
        </p:nvSpPr>
        <p:spPr>
          <a:xfrm>
            <a:off x="3319272" y="979805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产生并消费 KV Cache</a:t>
            </a:r>
            <a:endParaRPr sz="9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9"/>
          <p:cNvSpPr/>
          <p:nvPr/>
        </p:nvSpPr>
        <p:spPr>
          <a:xfrm>
            <a:off x="676275" y="1281430"/>
            <a:ext cx="269494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10"/>
          <p:cNvSpPr txBox="1"/>
          <p:nvPr/>
        </p:nvSpPr>
        <p:spPr>
          <a:xfrm>
            <a:off x="730885" y="1604010"/>
            <a:ext cx="2538095" cy="3155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多模态上下文</a:t>
            </a:r>
            <a:endParaRPr sz="9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 · 视频 · 文本</a:t>
            </a:r>
            <a:endParaRPr sz="8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ounded Rectangle 11"/>
          <p:cNvSpPr/>
          <p:nvPr/>
        </p:nvSpPr>
        <p:spPr>
          <a:xfrm>
            <a:off x="3620770" y="1281430"/>
            <a:ext cx="2695575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12"/>
          <p:cNvSpPr txBox="1"/>
          <p:nvPr/>
        </p:nvSpPr>
        <p:spPr>
          <a:xfrm>
            <a:off x="3721735" y="1604010"/>
            <a:ext cx="2539365" cy="3155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会话上下文</a:t>
            </a:r>
            <a:endParaRPr sz="9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lang="zh-CN" sz="8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</a:t>
            </a:r>
            <a:endParaRPr lang="zh-CN" sz="8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15"/>
          <p:cNvSpPr txBox="1"/>
          <p:nvPr/>
        </p:nvSpPr>
        <p:spPr>
          <a:xfrm>
            <a:off x="365760" y="2369693"/>
            <a:ext cx="6263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▼   </a:t>
            </a:r>
            <a:r>
              <a:rPr sz="100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Engine Adapters · 引擎适配器（可插拔）</a:t>
            </a:r>
            <a:endParaRPr sz="100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16"/>
          <p:cNvSpPr/>
          <p:nvPr/>
        </p:nvSpPr>
        <p:spPr>
          <a:xfrm>
            <a:off x="365760" y="2689733"/>
            <a:ext cx="6263640" cy="2084831"/>
          </a:xfrm>
          <a:prstGeom prst="roundRect">
            <a:avLst>
              <a:gd name="adj" fmla="val 6000"/>
            </a:avLst>
          </a:prstGeom>
          <a:solidFill>
            <a:srgbClr val="E9F5EE"/>
          </a:solidFill>
          <a:ln w="12700">
            <a:solidFill>
              <a:srgbClr val="BF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17"/>
          <p:cNvSpPr txBox="1"/>
          <p:nvPr/>
        </p:nvSpPr>
        <p:spPr>
          <a:xfrm>
            <a:off x="566928" y="2762885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统一缓存 Unified Cache</a:t>
            </a:r>
            <a:r>
              <a:rPr sz="10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KV Cache Lifecycle</a:t>
            </a:r>
            <a:endParaRPr sz="10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18"/>
          <p:cNvSpPr txBox="1"/>
          <p:nvPr/>
        </p:nvSpPr>
        <p:spPr>
          <a:xfrm>
            <a:off x="3319272" y="2781173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管理缓存的使用生命周期</a:t>
            </a:r>
            <a:endParaRPr sz="9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ounded Rectangle 19"/>
          <p:cNvSpPr/>
          <p:nvPr/>
        </p:nvSpPr>
        <p:spPr>
          <a:xfrm>
            <a:off x="566928" y="3073781"/>
            <a:ext cx="1892807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20"/>
          <p:cNvSpPr txBox="1"/>
          <p:nvPr/>
        </p:nvSpPr>
        <p:spPr>
          <a:xfrm>
            <a:off x="621792" y="3073781"/>
            <a:ext cx="1783079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 Reuse</a:t>
            </a:r>
            <a:endParaRPr sz="9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匹配 · 检索 · 加载</a:t>
            </a:r>
            <a:endParaRPr sz="8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前缀与 Chunk 复用</a:t>
            </a:r>
            <a:endParaRPr sz="8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Rounded Rectangle 21"/>
          <p:cNvSpPr/>
          <p:nvPr/>
        </p:nvSpPr>
        <p:spPr>
          <a:xfrm>
            <a:off x="2551176" y="3073781"/>
            <a:ext cx="1892807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22"/>
          <p:cNvSpPr txBox="1"/>
          <p:nvPr/>
        </p:nvSpPr>
        <p:spPr>
          <a:xfrm>
            <a:off x="2606040" y="3073781"/>
            <a:ext cx="1783079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放置 Placement</a:t>
            </a:r>
            <a:endParaRPr sz="9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 · 卸载 · 驱逐</a:t>
            </a:r>
            <a:endParaRPr sz="8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跨层级保留管理</a:t>
            </a:r>
            <a:endParaRPr sz="8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ounded Rectangle 23"/>
          <p:cNvSpPr/>
          <p:nvPr/>
        </p:nvSpPr>
        <p:spPr>
          <a:xfrm>
            <a:off x="4535424" y="3073781"/>
            <a:ext cx="1892807" cy="10607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24"/>
          <p:cNvSpPr txBox="1"/>
          <p:nvPr/>
        </p:nvSpPr>
        <p:spPr>
          <a:xfrm>
            <a:off x="4590288" y="3073781"/>
            <a:ext cx="1783079" cy="10607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移动 Movement</a:t>
            </a:r>
            <a:endParaRPr sz="9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预取 · 迁移</a:t>
            </a:r>
            <a:endParaRPr sz="8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 传输 Prefill→Decode</a:t>
            </a:r>
            <a:endParaRPr sz="8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Rounded Rectangle 25"/>
          <p:cNvSpPr/>
          <p:nvPr/>
        </p:nvSpPr>
        <p:spPr>
          <a:xfrm>
            <a:off x="566928" y="4262501"/>
            <a:ext cx="5861303" cy="365760"/>
          </a:xfrm>
          <a:prstGeom prst="roundRect">
            <a:avLst>
              <a:gd name="adj" fmla="val 16000"/>
            </a:avLst>
          </a:prstGeom>
          <a:solidFill>
            <a:srgbClr val="E1F0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26"/>
          <p:cNvSpPr txBox="1"/>
          <p:nvPr/>
        </p:nvSpPr>
        <p:spPr>
          <a:xfrm>
            <a:off x="566928" y="4376166"/>
            <a:ext cx="5861303" cy="138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扩展点：可插拔检索与加载策略</a:t>
            </a:r>
            <a:endParaRPr sz="900" b="0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27"/>
          <p:cNvSpPr txBox="1"/>
          <p:nvPr/>
        </p:nvSpPr>
        <p:spPr>
          <a:xfrm>
            <a:off x="365760" y="4774565"/>
            <a:ext cx="626364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▼   </a:t>
            </a:r>
            <a:r>
              <a:rPr sz="100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Unified KV Storage Interface · 统一 KV 存储接口</a:t>
            </a:r>
            <a:endParaRPr sz="100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Rounded Rectangle 28"/>
          <p:cNvSpPr/>
          <p:nvPr/>
        </p:nvSpPr>
        <p:spPr>
          <a:xfrm>
            <a:off x="365760" y="5094605"/>
            <a:ext cx="6263640" cy="1298448"/>
          </a:xfrm>
          <a:prstGeom prst="roundRect">
            <a:avLst>
              <a:gd name="adj" fmla="val 6000"/>
            </a:avLst>
          </a:prstGeom>
          <a:solidFill>
            <a:srgbClr val="F6F8F7"/>
          </a:solidFill>
          <a:ln w="12700">
            <a:solidFill>
              <a:srgbClr val="DC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29"/>
          <p:cNvSpPr txBox="1"/>
          <p:nvPr/>
        </p:nvSpPr>
        <p:spPr>
          <a:xfrm>
            <a:off x="566928" y="5167757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全局 KV 存储</a:t>
            </a:r>
            <a:r>
              <a:rPr sz="10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Global KV Store</a:t>
            </a:r>
            <a:endParaRPr sz="10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30"/>
          <p:cNvSpPr txBox="1"/>
          <p:nvPr/>
        </p:nvSpPr>
        <p:spPr>
          <a:xfrm>
            <a:off x="3319272" y="5186044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可插拔存储后端</a:t>
            </a:r>
            <a:endParaRPr sz="9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ounded Rectangle 31"/>
          <p:cNvSpPr/>
          <p:nvPr/>
        </p:nvSpPr>
        <p:spPr>
          <a:xfrm>
            <a:off x="566928" y="5478653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32"/>
          <p:cNvSpPr txBox="1"/>
          <p:nvPr/>
        </p:nvSpPr>
        <p:spPr>
          <a:xfrm>
            <a:off x="621792" y="5478653"/>
            <a:ext cx="2267712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File-System</a:t>
            </a:r>
            <a:endParaRPr sz="9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8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 / 分布式文件系统</a:t>
            </a:r>
            <a:endParaRPr sz="8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Rounded Rectangle 33"/>
          <p:cNvSpPr/>
          <p:nvPr/>
        </p:nvSpPr>
        <p:spPr>
          <a:xfrm>
            <a:off x="3035808" y="5478653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34"/>
          <p:cNvSpPr txBox="1"/>
          <p:nvPr/>
        </p:nvSpPr>
        <p:spPr>
          <a:xfrm>
            <a:off x="3090672" y="5478653"/>
            <a:ext cx="1993391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Semantic · KV Native</a:t>
            </a:r>
            <a:endParaRPr sz="9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8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语义化 KV 存储</a:t>
            </a:r>
            <a:endParaRPr sz="8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Rounded Rectangle 35"/>
          <p:cNvSpPr/>
          <p:nvPr/>
        </p:nvSpPr>
        <p:spPr>
          <a:xfrm>
            <a:off x="5230368" y="5478653"/>
            <a:ext cx="1197863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36"/>
          <p:cNvSpPr txBox="1"/>
          <p:nvPr/>
        </p:nvSpPr>
        <p:spPr>
          <a:xfrm>
            <a:off x="5285232" y="5478653"/>
            <a:ext cx="1088135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sz="9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8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更多后端</a:t>
            </a:r>
            <a:endParaRPr sz="8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Box 37"/>
          <p:cNvSpPr txBox="1"/>
          <p:nvPr/>
        </p:nvSpPr>
        <p:spPr>
          <a:xfrm>
            <a:off x="566928" y="6091301"/>
            <a:ext cx="5861303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可靠性 · 保留 · 回收 —— 由各后端能力决定</a:t>
            </a:r>
            <a:endParaRPr sz="8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Rounded Rectangle 38"/>
          <p:cNvSpPr/>
          <p:nvPr/>
        </p:nvSpPr>
        <p:spPr>
          <a:xfrm>
            <a:off x="6903720" y="888365"/>
            <a:ext cx="4919472" cy="5504688"/>
          </a:xfrm>
          <a:prstGeom prst="roundRect">
            <a:avLst>
              <a:gd name="adj" fmla="val 5000"/>
            </a:avLst>
          </a:prstGeom>
          <a:solidFill>
            <a:srgbClr val="F8FBF9"/>
          </a:solidFill>
          <a:ln w="12700">
            <a:solidFill>
              <a:srgbClr val="E4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39"/>
          <p:cNvSpPr/>
          <p:nvPr/>
        </p:nvSpPr>
        <p:spPr>
          <a:xfrm>
            <a:off x="7068312" y="1089533"/>
            <a:ext cx="4590288" cy="8412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40"/>
          <p:cNvSpPr txBox="1"/>
          <p:nvPr/>
        </p:nvSpPr>
        <p:spPr>
          <a:xfrm>
            <a:off x="7214616" y="1190117"/>
            <a:ext cx="42976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UCM 是什么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统一缓存管理器：位于</a:t>
            </a:r>
            <a:r>
              <a:rPr sz="10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推理引擎与存储之间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的统一 KV Cache 层，统一管理缓存的</a:t>
            </a:r>
            <a:r>
              <a:rPr sz="10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 · 放置 · 迁移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Rounded Rectangle 41"/>
          <p:cNvSpPr/>
          <p:nvPr/>
        </p:nvSpPr>
        <p:spPr>
          <a:xfrm>
            <a:off x="7068312" y="2131949"/>
            <a:ext cx="4590288" cy="1335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42"/>
          <p:cNvSpPr txBox="1"/>
          <p:nvPr/>
        </p:nvSpPr>
        <p:spPr>
          <a:xfrm>
            <a:off x="7214616" y="2232533"/>
            <a:ext cx="4297679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解决什么问题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多轮对话 / Agent / 多模态应用，反复访问相同上下文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Cache 困在单个推理进程内：显存有限，重复计算浪费算力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UCM 让 KV Cache 跨进程复用、以外部存储扩容：减少重复计算，缓解显存压力</a:t>
            </a:r>
            <a:endParaRPr sz="105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Rounded Rectangle 43"/>
          <p:cNvSpPr/>
          <p:nvPr/>
        </p:nvSpPr>
        <p:spPr>
          <a:xfrm>
            <a:off x="7068312" y="3668141"/>
            <a:ext cx="4590288" cy="1335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44"/>
          <p:cNvSpPr txBox="1"/>
          <p:nvPr/>
        </p:nvSpPr>
        <p:spPr>
          <a:xfrm>
            <a:off x="7214616" y="3768725"/>
            <a:ext cx="4297679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三层架构（对应左图）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应用与推理引擎 ——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产生并消费 KV Cache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统一缓存 ——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复用什么、保留在哪、何时迁移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 KV 存储 ——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文件系统、内存池等后端的统一抽象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Rounded Rectangle 45"/>
          <p:cNvSpPr/>
          <p:nvPr/>
        </p:nvSpPr>
        <p:spPr>
          <a:xfrm>
            <a:off x="7068312" y="5204333"/>
            <a:ext cx="4590288" cy="731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46"/>
          <p:cNvSpPr txBox="1"/>
          <p:nvPr/>
        </p:nvSpPr>
        <p:spPr>
          <a:xfrm>
            <a:off x="7214616" y="5304917"/>
            <a:ext cx="4297679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核心设计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引擎适配器、缓存机制、存储后端</a:t>
            </a:r>
            <a:r>
              <a:rPr sz="10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可插拔解耦，独立演进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Rectangle 47"/>
          <p:cNvSpPr/>
          <p:nvPr/>
        </p:nvSpPr>
        <p:spPr>
          <a:xfrm>
            <a:off x="7214616" y="6054725"/>
            <a:ext cx="4297679" cy="10972"/>
          </a:xfrm>
          <a:prstGeom prst="rect">
            <a:avLst/>
          </a:prstGeom>
          <a:solidFill>
            <a:srgbClr val="E1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>
          <a:xfrm>
            <a:off x="221615" y="267335"/>
            <a:ext cx="8472170" cy="399415"/>
          </a:xfrm>
        </p:spPr>
        <p:txBody>
          <a:bodyPr/>
          <a:p>
            <a:r>
              <a:rPr lang="en-US" altLang="zh-CN"/>
              <a:t>Global KV Store：</a:t>
            </a:r>
            <a:r>
              <a:rPr lang="zh-CN" altLang="en-US"/>
              <a:t>共享、可扩容的 </a:t>
            </a:r>
            <a:r>
              <a:rPr lang="en-US" altLang="zh-CN"/>
              <a:t>KV</a:t>
            </a:r>
            <a:r>
              <a:t>存储</a:t>
            </a:r>
            <a:r>
              <a:rPr lang="zh-CN" altLang="en-US"/>
              <a:t>抽象</a:t>
            </a:r>
            <a:endParaRPr lang="zh-CN" altLang="en-US"/>
          </a:p>
        </p:txBody>
      </p:sp>
      <p:sp>
        <p:nvSpPr>
          <p:cNvPr id="2" name="Rounded Rectangle 6"/>
          <p:cNvSpPr/>
          <p:nvPr/>
        </p:nvSpPr>
        <p:spPr>
          <a:xfrm>
            <a:off x="365760" y="862584"/>
            <a:ext cx="11457432" cy="402336"/>
          </a:xfrm>
          <a:prstGeom prst="roundRect">
            <a:avLst>
              <a:gd name="adj" fmla="val 18000"/>
            </a:avLst>
          </a:prstGeom>
          <a:solidFill>
            <a:srgbClr val="15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862584"/>
            <a:ext cx="114574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KV Cache 从「进程私有」变成「全局共享、按需扩容」的资源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1557528"/>
            <a:ext cx="1369313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7528"/>
            <a:ext cx="136931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推理实例 A</a:t>
            </a:r>
            <a:endParaRPr sz="9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064257" y="1557528"/>
            <a:ext cx="1369313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64257" y="1557528"/>
            <a:ext cx="136931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推理实例 B</a:t>
            </a:r>
            <a:endParaRPr sz="9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561587" y="1557528"/>
            <a:ext cx="1369313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1587" y="1557528"/>
            <a:ext cx="136931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实例</a:t>
            </a:r>
            <a:endParaRPr sz="9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58917" y="1557528"/>
            <a:ext cx="1369313" cy="40233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8917" y="1557528"/>
            <a:ext cx="1369313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Decode 实例</a:t>
            </a:r>
            <a:endParaRPr sz="9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1996440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▼   </a:t>
            </a:r>
            <a:r>
              <a:rPr sz="9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多方并发读写 · 命中即复用</a:t>
            </a:r>
            <a:endParaRPr sz="95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65760" y="2307336"/>
            <a:ext cx="6263640" cy="694944"/>
          </a:xfrm>
          <a:prstGeom prst="roundRect">
            <a:avLst>
              <a:gd name="adj" fmla="val 10000"/>
            </a:avLst>
          </a:prstGeom>
          <a:solidFill>
            <a:srgbClr val="E9F5EE"/>
          </a:solidFill>
          <a:ln w="12700">
            <a:solidFill>
              <a:srgbClr val="BFDF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362200"/>
            <a:ext cx="5897879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1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 Store 抽象接口</a:t>
            </a:r>
            <a:endParaRPr sz="115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</a:pPr>
            <a:r>
              <a:rPr sz="9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Lookup · Prefix-Lookup · Prefetch · Load / Dump</a:t>
            </a:r>
            <a:r>
              <a:rPr sz="8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按 Block 寻址 · 异步 Task · 后端无关</a:t>
            </a:r>
            <a:endParaRPr sz="8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5760" y="3020568"/>
            <a:ext cx="62636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▼   </a:t>
            </a:r>
            <a:r>
              <a:rPr sz="9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写入即入池 · 全局可寻址</a:t>
            </a:r>
            <a:endParaRPr sz="95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65760" y="3313176"/>
            <a:ext cx="6263640" cy="2066543"/>
          </a:xfrm>
          <a:prstGeom prst="roundRect">
            <a:avLst>
              <a:gd name="adj" fmla="val 5000"/>
            </a:avLst>
          </a:prstGeom>
          <a:solidFill>
            <a:srgbClr val="F4FBF7"/>
          </a:solidFill>
          <a:ln w="15240">
            <a:solidFill>
              <a:srgbClr val="158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404616"/>
            <a:ext cx="29260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弹性 KV 缓存池</a:t>
            </a:r>
            <a:endParaRPr sz="120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85032" y="3432048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 = 显存 + 外部存储</a:t>
            </a:r>
            <a:endParaRPr sz="9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982979" y="3788664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79" y="3788664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显存 HBM</a:t>
            </a:r>
            <a:endParaRPr sz="9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500883" y="3788664"/>
            <a:ext cx="2377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1400" b="1" i="0">
              <a:solidFill>
                <a:srgbClr val="158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2738627" y="3788664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38627" y="3788664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主机内存</a:t>
            </a:r>
            <a:endParaRPr sz="9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256531" y="3788664"/>
            <a:ext cx="2377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1400" b="1" i="0">
              <a:solidFill>
                <a:srgbClr val="158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494275" y="3788664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94275" y="3788664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NVMe · SSD</a:t>
            </a:r>
            <a:endParaRPr sz="9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860803" y="4355592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60803" y="4355592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分布式存储</a:t>
            </a:r>
            <a:endParaRPr sz="9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378707" y="4355592"/>
            <a:ext cx="23774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1400" b="1" i="0">
              <a:solidFill>
                <a:srgbClr val="158A5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616451" y="4355592"/>
            <a:ext cx="151790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16451" y="4355592"/>
            <a:ext cx="151790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 持续接入</a:t>
            </a:r>
            <a:endParaRPr sz="9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6928" y="4940808"/>
            <a:ext cx="5861303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外部存储加入即扩容 —— 容量上限不再由显存决定</a:t>
            </a:r>
            <a:endParaRPr sz="95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5760" y="5489448"/>
            <a:ext cx="6263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空间分配 · 冷热调度 · 层间搬运均由 Store 内部完成，对上层透明</a:t>
            </a:r>
            <a:endParaRPr sz="8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903720" y="1493520"/>
            <a:ext cx="4919472" cy="4864608"/>
          </a:xfrm>
          <a:prstGeom prst="roundRect">
            <a:avLst>
              <a:gd name="adj" fmla="val 5000"/>
            </a:avLst>
          </a:prstGeom>
          <a:solidFill>
            <a:srgbClr val="F8FBF9"/>
          </a:solidFill>
          <a:ln w="12700">
            <a:solidFill>
              <a:srgbClr val="E4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068312" y="1658112"/>
            <a:ext cx="4590288" cy="8046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14616" y="1749552"/>
            <a:ext cx="4297679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Store 是什么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 KV Cache 存储抽象：以 </a:t>
            </a:r>
            <a:r>
              <a:rPr sz="10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为单位寻址，统一提供查找 / 预取 / 装入 / 转储接口——「数据放哪、怎么放」对上层透明。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068312" y="2581656"/>
            <a:ext cx="4590288" cy="12435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14616" y="2673096"/>
            <a:ext cx="4297679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共享属性 Shared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Cache 不再绑定单个推理进程：写入 Store 即全局可寻址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多请求 / 多实例 / 多引擎命中同一份缓存 —— 一份计算、处处复用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 分离：Prefill 与 Decode 实例经 Store 传递 KV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7068312" y="3944112"/>
            <a:ext cx="4590288" cy="12435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14616" y="4035552"/>
            <a:ext cx="4297679" cy="10607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容量可扩展 Scalable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缓存容量从「显存上限」变为「显存 + 外部存储」的加法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内存、NVMe、分布式文件系统皆可入池：接入即扩容、按需增减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空间分配、冷热调度、层间搬运由 Store 内部完成，对上层透明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068312" y="5306568"/>
            <a:ext cx="4590288" cy="8961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14616" y="5398008"/>
            <a:ext cx="4297679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后端各司其职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 / 回收 / 可靠性由后端按能力实现；量化、压缩可在传输管线中处理。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8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扩展：纯 Python / 混合 / 纯 C++　·　接口 ucm/store/ucmstore_v1</a:t>
            </a:r>
            <a:endParaRPr sz="8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en-US" altLang="zh-CN"/>
              <a:t>CacheStore：</a:t>
            </a:r>
            <a:r>
              <a:rPr lang="zh-CN" altLang="en-US"/>
              <a:t>节点内轻量共享 </a:t>
            </a:r>
            <a:r>
              <a:rPr lang="en-US" altLang="zh-CN"/>
              <a:t>Store</a:t>
            </a:r>
            <a:endParaRPr lang="en-US" altLang="zh-CN"/>
          </a:p>
        </p:txBody>
      </p:sp>
      <p:sp>
        <p:nvSpPr>
          <p:cNvPr id="2" name="Rounded Rectangle 6"/>
          <p:cNvSpPr/>
          <p:nvPr/>
        </p:nvSpPr>
        <p:spPr>
          <a:xfrm>
            <a:off x="393065" y="907034"/>
            <a:ext cx="11457432" cy="402336"/>
          </a:xfrm>
          <a:prstGeom prst="roundRect">
            <a:avLst>
              <a:gd name="adj" fmla="val 18000"/>
            </a:avLst>
          </a:prstGeom>
          <a:solidFill>
            <a:srgbClr val="15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065" y="907034"/>
            <a:ext cx="114574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同一节点，一次写入 · 多处可见 —— DRAM 共享 × 小 IO 聚合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7385" y="1624965"/>
            <a:ext cx="1600200" cy="3474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385" y="1624965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引擎进程 A</a:t>
            </a:r>
            <a:endParaRPr sz="9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私有 Device 显存</a:t>
            </a:r>
            <a:endParaRPr sz="7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67385" y="2082165"/>
            <a:ext cx="1600200" cy="3474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385" y="2082165"/>
            <a:ext cx="16002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引擎进程 B</a:t>
            </a:r>
            <a:endParaRPr sz="9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私有 Device 显存</a:t>
            </a:r>
            <a:endParaRPr sz="7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ight Arrow 12"/>
          <p:cNvSpPr/>
          <p:nvPr/>
        </p:nvSpPr>
        <p:spPr>
          <a:xfrm rot="600000">
            <a:off x="2313305" y="1789557"/>
            <a:ext cx="420624" cy="118872"/>
          </a:xfrm>
          <a:prstGeom prst="rightArrow">
            <a:avLst/>
          </a:prstGeom>
          <a:solidFill>
            <a:srgbClr val="5B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21865" y="1624965"/>
            <a:ext cx="58521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D↔H</a:t>
            </a:r>
            <a:endParaRPr sz="7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ight Arrow 14"/>
          <p:cNvSpPr/>
          <p:nvPr/>
        </p:nvSpPr>
        <p:spPr>
          <a:xfrm rot="21000000">
            <a:off x="2313305" y="2228469"/>
            <a:ext cx="420624" cy="118872"/>
          </a:xfrm>
          <a:prstGeom prst="rightArrow">
            <a:avLst/>
          </a:prstGeom>
          <a:solidFill>
            <a:srgbClr val="5B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21865" y="2374773"/>
            <a:ext cx="585216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D↔H</a:t>
            </a:r>
            <a:endParaRPr sz="7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807081" y="1679829"/>
            <a:ext cx="19659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58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081" y="1679829"/>
            <a:ext cx="196596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CacheStore</a:t>
            </a:r>
            <a:endParaRPr sz="105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7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DRAM 缓冲 · 中转 / 复用</a:t>
            </a:r>
            <a:endParaRPr sz="7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同机唯一 · 跨进程共享</a:t>
            </a:r>
            <a:endParaRPr sz="80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91913" y="1807845"/>
            <a:ext cx="173736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一次写入 · 多处可见</a:t>
            </a:r>
            <a:endParaRPr sz="85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进程共享同一份缓冲</a:t>
            </a:r>
            <a:endParaRPr sz="7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1261745" y="2502789"/>
            <a:ext cx="128016" cy="164592"/>
          </a:xfrm>
          <a:prstGeom prst="downArrow">
            <a:avLst/>
          </a:prstGeom>
          <a:solidFill>
            <a:srgbClr val="5B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72057" y="2484501"/>
            <a:ext cx="50749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流入 D2H：小 IO</a:t>
            </a:r>
            <a:r>
              <a:rPr sz="8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每 layer × block 一片，从各进程显存汇入（异步流水，与 forward 重叠）</a:t>
            </a:r>
            <a:endParaRPr sz="8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33145" y="2740533"/>
            <a:ext cx="6035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L0</a:t>
            </a:r>
            <a:endParaRPr sz="800" b="1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28089" y="2740533"/>
            <a:ext cx="6035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800" b="1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23033" y="2740533"/>
            <a:ext cx="6035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800" b="1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17977" y="2740533"/>
            <a:ext cx="603504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sz="800" b="1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57657" y="2987420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B0</a:t>
            </a:r>
            <a:endParaRPr sz="800" b="1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33145" y="2905125"/>
            <a:ext cx="603504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728089" y="2905125"/>
            <a:ext cx="603504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423033" y="2905125"/>
            <a:ext cx="603504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117977" y="2905125"/>
            <a:ext cx="603504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657" y="3444620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</a:t>
            </a:r>
            <a:endParaRPr sz="800" b="1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033145" y="3362325"/>
            <a:ext cx="603504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728089" y="3362325"/>
            <a:ext cx="603504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423033" y="3362325"/>
            <a:ext cx="603504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117977" y="3362325"/>
            <a:ext cx="603504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657" y="3901820"/>
            <a:ext cx="40233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</a:t>
            </a:r>
            <a:endParaRPr sz="800" b="1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1033145" y="3819525"/>
            <a:ext cx="603504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728089" y="3819525"/>
            <a:ext cx="603504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423033" y="3819525"/>
            <a:ext cx="603504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117977" y="3819525"/>
            <a:ext cx="603504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59993" y="2831973"/>
            <a:ext cx="2834640" cy="512064"/>
          </a:xfrm>
          <a:prstGeom prst="roundRect">
            <a:avLst/>
          </a:prstGeom>
          <a:noFill/>
          <a:ln w="15240">
            <a:solidFill>
              <a:srgbClr val="158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3831209" y="3014853"/>
            <a:ext cx="256032" cy="146304"/>
          </a:xfrm>
          <a:prstGeom prst="rightArrow">
            <a:avLst/>
          </a:prstGeom>
          <a:solidFill>
            <a:srgbClr val="15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42105" y="2850261"/>
            <a:ext cx="24231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维聚合 —— 按层聚合</a:t>
            </a:r>
            <a:endParaRPr sz="105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 block 全部层 shard → 1 次大 IO</a:t>
            </a:r>
            <a:endParaRPr sz="8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59993" y="2831973"/>
            <a:ext cx="749808" cy="1426464"/>
          </a:xfrm>
          <a:prstGeom prst="roundRect">
            <a:avLst/>
          </a:prstGeom>
          <a:noFill/>
          <a:ln w="15240">
            <a:solidFill>
              <a:srgbClr val="9A6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own Arrow 44"/>
          <p:cNvSpPr/>
          <p:nvPr/>
        </p:nvSpPr>
        <p:spPr>
          <a:xfrm>
            <a:off x="1270889" y="4295013"/>
            <a:ext cx="128016" cy="164592"/>
          </a:xfrm>
          <a:prstGeom prst="downArrow">
            <a:avLst/>
          </a:prstGeom>
          <a:solidFill>
            <a:srgbClr val="9A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472057" y="4276725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 维聚合 —— 按 block 聚合</a:t>
            </a:r>
            <a:endParaRPr sz="105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block 同位 shard → 1 次批量 IO</a:t>
            </a:r>
            <a:endParaRPr sz="8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947545" y="4770501"/>
            <a:ext cx="960120" cy="219456"/>
          </a:xfrm>
          <a:prstGeom prst="rect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26537" y="4752213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流出 H2S：聚合后大 IO 下盘 → GlobalStore（SSD / 远端）</a:t>
            </a:r>
            <a:endParaRPr sz="95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581785" y="5136261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81785" y="5136261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L0</a:t>
            </a:r>
            <a:endParaRPr sz="750" b="1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1947545" y="5428869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DF6EA"/>
          </a:solidFill>
          <a:ln w="12700">
            <a:solidFill>
              <a:srgbClr val="E3C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47545" y="5428869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L0</a:t>
            </a:r>
            <a:endParaRPr sz="75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2185289" y="5136261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85289" y="5136261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750" b="1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2551049" y="5428869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DF6EA"/>
          </a:solidFill>
          <a:ln w="12700">
            <a:solidFill>
              <a:srgbClr val="E3C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51049" y="5428869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75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2788793" y="5136261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88793" y="5136261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750" b="1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3154553" y="5428869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DF6EA"/>
          </a:solidFill>
          <a:ln w="12700">
            <a:solidFill>
              <a:srgbClr val="E3C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154553" y="5428869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75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3392296" y="5136261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92296" y="5136261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750" b="1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3758057" y="5428869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DF6EA"/>
          </a:solidFill>
          <a:ln w="12700">
            <a:solidFill>
              <a:srgbClr val="E3C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58057" y="5428869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75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3995801" y="5136261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995801" y="5136261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750" b="1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4361561" y="5428869"/>
            <a:ext cx="566928" cy="219456"/>
          </a:xfrm>
          <a:prstGeom prst="roundRect">
            <a:avLst>
              <a:gd name="adj" fmla="val 10000"/>
            </a:avLst>
          </a:prstGeom>
          <a:solidFill>
            <a:srgbClr val="FDF6EA"/>
          </a:solidFill>
          <a:ln w="12700">
            <a:solidFill>
              <a:srgbClr val="E3C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61561" y="5428869"/>
            <a:ext cx="566928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75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13105" y="5151374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forward</a:t>
            </a:r>
            <a:endParaRPr sz="7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13105" y="5447157"/>
            <a:ext cx="80467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D2H 搬运</a:t>
            </a:r>
            <a:endParaRPr sz="7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202809" y="5172837"/>
            <a:ext cx="1389888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80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错位重叠</a:t>
            </a:r>
            <a:endParaRPr sz="80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7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IO 等待被计算掩盖</a:t>
            </a:r>
            <a:endParaRPr sz="7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13105" y="5739765"/>
            <a:ext cx="56235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每格 = 1 shard（一次小 IO）· x / y 两种聚合可组合 · load / dump 双队列异步：粒度变换的代价全程被隐藏</a:t>
            </a:r>
            <a:endParaRPr sz="8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6931025" y="1537970"/>
            <a:ext cx="4919345" cy="4752975"/>
          </a:xfrm>
          <a:prstGeom prst="roundRect">
            <a:avLst>
              <a:gd name="adj" fmla="val 5000"/>
            </a:avLst>
          </a:prstGeom>
          <a:solidFill>
            <a:srgbClr val="F8FBF9"/>
          </a:solidFill>
          <a:ln w="12700">
            <a:solidFill>
              <a:srgbClr val="E4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095617" y="1702562"/>
            <a:ext cx="4590288" cy="8961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41921" y="1794002"/>
            <a:ext cx="4297679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定位：两域模型的节点内域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CacheStore = 节点内缓存域（HBM/DRAM 中转与复用）；GlobalStore = 节点外共享域。V1 管线 </a:t>
            </a:r>
            <a:r>
              <a:rPr sz="10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Cache|Posix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的 Cache 即它。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7095617" y="2708402"/>
            <a:ext cx="4590288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41921" y="2799842"/>
            <a:ext cx="4297679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跨进程共享（DRAM 介质）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进程内：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rank / 多 connector 引用同一 unique_id 缓冲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节点内：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/dev/shm 共享缓冲（share_buffer），同机多实例互见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效果：一次 dump，同机多处命中 —— 免去重复搬运与重复驻留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7095617" y="3878834"/>
            <a:ext cx="4590288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241921" y="3970273"/>
            <a:ext cx="4297679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 IO 聚合（io_aggregation）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天然碎片化：每 layer × 每 block 一片，单次 IO 小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DRAM 缓冲收拢碎片：N 次小 IO → 少量大 IO，摊薄固定开销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收益：D↔H 搬运逼近带宽上限，延迟与 CPU 开销同步下降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7095617" y="5049266"/>
            <a:ext cx="4590288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241921" y="5140706"/>
            <a:ext cx="4297679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两个聚合维度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 · 按层聚合：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 block 全层 shard → 1 次大 IO（可逐层流水）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 · 按 block 聚合：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block 同位 shard → 1 次批量 IO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维度可组合：一次 task 同时覆盖 blocks × shards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/>
        <p:txBody>
          <a:bodyPr/>
          <a:p>
            <a:r>
              <a:rPr lang="en-US" altLang="zh-CN"/>
              <a:t>T_alive</a:t>
            </a:r>
            <a:r>
              <a:t>：</a:t>
            </a:r>
            <a:r>
              <a:rPr lang="zh-CN" altLang="en-US"/>
              <a:t>预测驱动的分层放置</a:t>
            </a:r>
            <a:r>
              <a:rPr lang="zh-CN" altLang="en-US"/>
              <a:t>算法</a:t>
            </a:r>
            <a:endParaRPr lang="zh-CN" altLang="en-US"/>
          </a:p>
        </p:txBody>
      </p:sp>
      <p:sp>
        <p:nvSpPr>
          <p:cNvPr id="3" name="Rounded Rectangle 6"/>
          <p:cNvSpPr/>
          <p:nvPr/>
        </p:nvSpPr>
        <p:spPr>
          <a:xfrm>
            <a:off x="365760" y="907034"/>
            <a:ext cx="11457432" cy="402336"/>
          </a:xfrm>
          <a:prstGeom prst="roundRect">
            <a:avLst>
              <a:gd name="adj" fmla="val 18000"/>
            </a:avLst>
          </a:prstGeom>
          <a:solidFill>
            <a:srgbClr val="15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7"/>
          <p:cNvSpPr txBox="1"/>
          <p:nvPr/>
        </p:nvSpPr>
        <p:spPr>
          <a:xfrm>
            <a:off x="365760" y="907034"/>
            <a:ext cx="114574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按存活时长分层放置 —— 总容量不变，冷层 DWPD 显著下降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8"/>
          <p:cNvSpPr/>
          <p:nvPr/>
        </p:nvSpPr>
        <p:spPr>
          <a:xfrm>
            <a:off x="502920" y="1528826"/>
            <a:ext cx="26974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9"/>
          <p:cNvSpPr txBox="1"/>
          <p:nvPr/>
        </p:nvSpPr>
        <p:spPr>
          <a:xfrm>
            <a:off x="502920" y="1574546"/>
            <a:ext cx="2697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当下 · CLOCK </a:t>
            </a:r>
            <a:r>
              <a:rPr sz="7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（访问位近似 LRU）</a:t>
            </a:r>
            <a:endParaRPr sz="7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ounded Rectangle 10"/>
          <p:cNvSpPr/>
          <p:nvPr/>
        </p:nvSpPr>
        <p:spPr>
          <a:xfrm>
            <a:off x="1271016" y="1821434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1"/>
          <p:cNvSpPr/>
          <p:nvPr/>
        </p:nvSpPr>
        <p:spPr>
          <a:xfrm>
            <a:off x="1325880" y="1876298"/>
            <a:ext cx="91440" cy="91440"/>
          </a:xfrm>
          <a:prstGeom prst="ellipse">
            <a:avLst/>
          </a:prstGeom>
          <a:solidFill>
            <a:srgbClr val="5B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12"/>
          <p:cNvSpPr/>
          <p:nvPr/>
        </p:nvSpPr>
        <p:spPr>
          <a:xfrm>
            <a:off x="1463039" y="1903730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13"/>
          <p:cNvSpPr/>
          <p:nvPr/>
        </p:nvSpPr>
        <p:spPr>
          <a:xfrm>
            <a:off x="1545336" y="2095754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4"/>
          <p:cNvSpPr/>
          <p:nvPr/>
        </p:nvSpPr>
        <p:spPr>
          <a:xfrm>
            <a:off x="1600200" y="2150618"/>
            <a:ext cx="91440" cy="91440"/>
          </a:xfrm>
          <a:prstGeom prst="ellipse">
            <a:avLst/>
          </a:prstGeom>
          <a:solidFill>
            <a:srgbClr val="5B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15"/>
          <p:cNvSpPr/>
          <p:nvPr/>
        </p:nvSpPr>
        <p:spPr>
          <a:xfrm>
            <a:off x="1463039" y="2287778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16"/>
          <p:cNvSpPr/>
          <p:nvPr/>
        </p:nvSpPr>
        <p:spPr>
          <a:xfrm>
            <a:off x="1271016" y="2370074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7780">
            <a:solidFill>
              <a:srgbClr val="1F2D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17"/>
          <p:cNvSpPr/>
          <p:nvPr/>
        </p:nvSpPr>
        <p:spPr>
          <a:xfrm>
            <a:off x="1078992" y="2287778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8"/>
          <p:cNvSpPr/>
          <p:nvPr/>
        </p:nvSpPr>
        <p:spPr>
          <a:xfrm>
            <a:off x="1133856" y="2342642"/>
            <a:ext cx="91440" cy="91440"/>
          </a:xfrm>
          <a:prstGeom prst="ellipse">
            <a:avLst/>
          </a:prstGeom>
          <a:solidFill>
            <a:srgbClr val="5B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19"/>
          <p:cNvSpPr/>
          <p:nvPr/>
        </p:nvSpPr>
        <p:spPr>
          <a:xfrm>
            <a:off x="996695" y="2095754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20"/>
          <p:cNvSpPr/>
          <p:nvPr/>
        </p:nvSpPr>
        <p:spPr>
          <a:xfrm>
            <a:off x="1078992" y="1903730"/>
            <a:ext cx="201168" cy="2011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21"/>
          <p:cNvSpPr/>
          <p:nvPr/>
        </p:nvSpPr>
        <p:spPr>
          <a:xfrm>
            <a:off x="1133856" y="1958594"/>
            <a:ext cx="91440" cy="91440"/>
          </a:xfrm>
          <a:prstGeom prst="ellipse">
            <a:avLst/>
          </a:prstGeom>
          <a:solidFill>
            <a:srgbClr val="5B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ight Arrow 22"/>
          <p:cNvSpPr/>
          <p:nvPr/>
        </p:nvSpPr>
        <p:spPr>
          <a:xfrm rot="5400000">
            <a:off x="1234440" y="2118614"/>
            <a:ext cx="274320" cy="118872"/>
          </a:xfrm>
          <a:prstGeom prst="rightArrow">
            <a:avLst/>
          </a:prstGeom>
          <a:solidFill>
            <a:srgbClr val="1F2D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23"/>
          <p:cNvSpPr txBox="1"/>
          <p:nvPr/>
        </p:nvSpPr>
        <p:spPr>
          <a:xfrm>
            <a:off x="1920240" y="1858010"/>
            <a:ext cx="1207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R=1</a:t>
            </a:r>
            <a:r>
              <a:rPr sz="7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清零跳过</a:t>
            </a:r>
            <a:endParaRPr sz="7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24"/>
          <p:cNvSpPr txBox="1"/>
          <p:nvPr/>
        </p:nvSpPr>
        <p:spPr>
          <a:xfrm>
            <a:off x="1920240" y="2059178"/>
            <a:ext cx="1207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R=0</a:t>
            </a:r>
            <a:r>
              <a:rPr sz="7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事后逐出</a:t>
            </a:r>
            <a:endParaRPr sz="7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Box 25"/>
          <p:cNvSpPr txBox="1"/>
          <p:nvPr/>
        </p:nvSpPr>
        <p:spPr>
          <a:xfrm>
            <a:off x="1920240" y="2260346"/>
            <a:ext cx="120700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（只看扫描顺序，与 τ 无关）</a:t>
            </a:r>
            <a:endParaRPr sz="7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TextBox 26"/>
          <p:cNvSpPr txBox="1"/>
          <p:nvPr/>
        </p:nvSpPr>
        <p:spPr>
          <a:xfrm>
            <a:off x="502920" y="2607818"/>
            <a:ext cx="2697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冷热混放：长命 KV 占住温层</a:t>
            </a:r>
            <a:endParaRPr sz="750" b="1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Right Arrow 27"/>
          <p:cNvSpPr/>
          <p:nvPr/>
        </p:nvSpPr>
        <p:spPr>
          <a:xfrm>
            <a:off x="3255264" y="2004314"/>
            <a:ext cx="347472" cy="237744"/>
          </a:xfrm>
          <a:prstGeom prst="rightArrow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28"/>
          <p:cNvSpPr txBox="1"/>
          <p:nvPr/>
        </p:nvSpPr>
        <p:spPr>
          <a:xfrm>
            <a:off x="3209544" y="2296922"/>
            <a:ext cx="4389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演进</a:t>
            </a:r>
            <a:endParaRPr sz="85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Rounded Rectangle 29"/>
          <p:cNvSpPr/>
          <p:nvPr/>
        </p:nvSpPr>
        <p:spPr>
          <a:xfrm>
            <a:off x="3657600" y="1528826"/>
            <a:ext cx="29260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58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30"/>
          <p:cNvSpPr txBox="1"/>
          <p:nvPr/>
        </p:nvSpPr>
        <p:spPr>
          <a:xfrm>
            <a:off x="3657600" y="1574546"/>
            <a:ext cx="29260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演进 · T_alive </a:t>
            </a:r>
            <a:r>
              <a:rPr sz="7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（写入即判 τ · 主动）</a:t>
            </a:r>
            <a:endParaRPr sz="7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Rectangle 31"/>
          <p:cNvSpPr/>
          <p:nvPr/>
        </p:nvSpPr>
        <p:spPr>
          <a:xfrm>
            <a:off x="3886200" y="1967738"/>
            <a:ext cx="868680" cy="146304"/>
          </a:xfrm>
          <a:prstGeom prst="rect">
            <a:avLst/>
          </a:prstGeom>
          <a:solidFill>
            <a:srgbClr val="E2B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32"/>
          <p:cNvSpPr/>
          <p:nvPr/>
        </p:nvSpPr>
        <p:spPr>
          <a:xfrm>
            <a:off x="4754880" y="1967738"/>
            <a:ext cx="1417320" cy="146304"/>
          </a:xfrm>
          <a:prstGeom prst="rect">
            <a:avLst/>
          </a:prstGeom>
          <a:solidFill>
            <a:srgbClr val="9F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33"/>
          <p:cNvCxnSpPr/>
          <p:nvPr/>
        </p:nvCxnSpPr>
        <p:spPr>
          <a:xfrm>
            <a:off x="4754880" y="1912874"/>
            <a:ext cx="0" cy="256032"/>
          </a:xfrm>
          <a:prstGeom prst="line">
            <a:avLst/>
          </a:prstGeom>
          <a:ln w="15240">
            <a:solidFill>
              <a:srgbClr val="2E6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34"/>
          <p:cNvSpPr txBox="1"/>
          <p:nvPr/>
        </p:nvSpPr>
        <p:spPr>
          <a:xfrm>
            <a:off x="4828032" y="1766570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T_w</a:t>
            </a:r>
            <a:endParaRPr sz="75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Down Arrow 35"/>
          <p:cNvSpPr/>
          <p:nvPr/>
        </p:nvSpPr>
        <p:spPr>
          <a:xfrm>
            <a:off x="4206240" y="2168906"/>
            <a:ext cx="118872" cy="164592"/>
          </a:xfrm>
          <a:prstGeom prst="downArrow">
            <a:avLst/>
          </a:prstGeom>
          <a:solidFill>
            <a:srgbClr val="9A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own Arrow 36"/>
          <p:cNvSpPr/>
          <p:nvPr/>
        </p:nvSpPr>
        <p:spPr>
          <a:xfrm>
            <a:off x="5486400" y="2168906"/>
            <a:ext cx="118872" cy="164592"/>
          </a:xfrm>
          <a:prstGeom prst="downArrow">
            <a:avLst/>
          </a:prstGeom>
          <a:solidFill>
            <a:srgbClr val="446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37"/>
          <p:cNvSpPr/>
          <p:nvPr/>
        </p:nvSpPr>
        <p:spPr>
          <a:xfrm>
            <a:off x="3886200" y="2388362"/>
            <a:ext cx="1097280" cy="201168"/>
          </a:xfrm>
          <a:prstGeom prst="roundRect">
            <a:avLst>
              <a:gd name="adj" fmla="val 30000"/>
            </a:avLst>
          </a:prstGeom>
          <a:solidFill>
            <a:srgbClr val="FDF6EA"/>
          </a:solidFill>
          <a:ln w="12700">
            <a:solidFill>
              <a:srgbClr val="E3C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38"/>
          <p:cNvSpPr txBox="1"/>
          <p:nvPr/>
        </p:nvSpPr>
        <p:spPr>
          <a:xfrm>
            <a:off x="3886200" y="2388362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温层</a:t>
            </a:r>
            <a:endParaRPr sz="75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ounded Rectangle 39"/>
          <p:cNvSpPr/>
          <p:nvPr/>
        </p:nvSpPr>
        <p:spPr>
          <a:xfrm>
            <a:off x="5120640" y="2388362"/>
            <a:ext cx="1051560" cy="201168"/>
          </a:xfrm>
          <a:prstGeom prst="roundRect">
            <a:avLst>
              <a:gd name="adj" fmla="val 30000"/>
            </a:avLst>
          </a:prstGeom>
          <a:solidFill>
            <a:srgbClr val="EFF4F9"/>
          </a:solidFill>
          <a:ln w="12700">
            <a:solidFill>
              <a:srgbClr val="B7C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40"/>
          <p:cNvSpPr txBox="1"/>
          <p:nvPr/>
        </p:nvSpPr>
        <p:spPr>
          <a:xfrm>
            <a:off x="5120640" y="2388362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446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冷层</a:t>
            </a:r>
            <a:endParaRPr sz="750" b="1" i="0">
              <a:solidFill>
                <a:srgbClr val="446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41"/>
          <p:cNvSpPr txBox="1"/>
          <p:nvPr/>
        </p:nvSpPr>
        <p:spPr>
          <a:xfrm>
            <a:off x="3657600" y="2607818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冷热分流：短命进温层、长命直落冷层</a:t>
            </a:r>
            <a:endParaRPr sz="75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Rounded Rectangle 42"/>
          <p:cNvSpPr/>
          <p:nvPr/>
        </p:nvSpPr>
        <p:spPr>
          <a:xfrm>
            <a:off x="502920" y="2937002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43"/>
          <p:cNvSpPr txBox="1"/>
          <p:nvPr/>
        </p:nvSpPr>
        <p:spPr>
          <a:xfrm>
            <a:off x="502920" y="2964434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写入流 100%</a:t>
            </a:r>
            <a:endParaRPr sz="9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Rectangle 44"/>
          <p:cNvSpPr/>
          <p:nvPr/>
        </p:nvSpPr>
        <p:spPr>
          <a:xfrm>
            <a:off x="658368" y="3211322"/>
            <a:ext cx="146304" cy="109728"/>
          </a:xfrm>
          <a:prstGeom prst="rect">
            <a:avLst/>
          </a:prstGeom>
          <a:solidFill>
            <a:srgbClr val="E2B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45"/>
          <p:cNvSpPr/>
          <p:nvPr/>
        </p:nvSpPr>
        <p:spPr>
          <a:xfrm>
            <a:off x="896112" y="3211322"/>
            <a:ext cx="146304" cy="109728"/>
          </a:xfrm>
          <a:prstGeom prst="rect">
            <a:avLst/>
          </a:prstGeom>
          <a:solidFill>
            <a:srgbClr val="E2B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46"/>
          <p:cNvSpPr/>
          <p:nvPr/>
        </p:nvSpPr>
        <p:spPr>
          <a:xfrm>
            <a:off x="1133856" y="3211322"/>
            <a:ext cx="146304" cy="109728"/>
          </a:xfrm>
          <a:prstGeom prst="rect">
            <a:avLst/>
          </a:prstGeom>
          <a:solidFill>
            <a:srgbClr val="E2B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47"/>
          <p:cNvSpPr/>
          <p:nvPr/>
        </p:nvSpPr>
        <p:spPr>
          <a:xfrm>
            <a:off x="1371600" y="3211322"/>
            <a:ext cx="146304" cy="109728"/>
          </a:xfrm>
          <a:prstGeom prst="rect">
            <a:avLst/>
          </a:prstGeom>
          <a:solidFill>
            <a:srgbClr val="E2B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ight Arrow 48"/>
          <p:cNvSpPr/>
          <p:nvPr/>
        </p:nvSpPr>
        <p:spPr>
          <a:xfrm>
            <a:off x="1938528" y="3083306"/>
            <a:ext cx="274320" cy="164592"/>
          </a:xfrm>
          <a:prstGeom prst="rightArrow">
            <a:avLst/>
          </a:prstGeom>
          <a:solidFill>
            <a:srgbClr val="15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49"/>
          <p:cNvSpPr/>
          <p:nvPr/>
        </p:nvSpPr>
        <p:spPr>
          <a:xfrm>
            <a:off x="2286000" y="2918714"/>
            <a:ext cx="30175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58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50"/>
          <p:cNvSpPr txBox="1"/>
          <p:nvPr/>
        </p:nvSpPr>
        <p:spPr>
          <a:xfrm>
            <a:off x="2286000" y="2946146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T_alive 预测器  </a:t>
            </a:r>
            <a:r>
              <a:rPr sz="11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f(访问轨迹) → τ</a:t>
            </a:r>
            <a:endParaRPr sz="11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TextBox 51"/>
          <p:cNvSpPr txBox="1"/>
          <p:nvPr/>
        </p:nvSpPr>
        <p:spPr>
          <a:xfrm>
            <a:off x="2286000" y="3183890"/>
            <a:ext cx="3017520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输入：剩余预期 · 空闲分布 · 命中轨迹 ｜ τ 随访问流在线修正</a:t>
            </a:r>
            <a:endParaRPr sz="7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Rounded Rectangle 52"/>
          <p:cNvSpPr/>
          <p:nvPr/>
        </p:nvSpPr>
        <p:spPr>
          <a:xfrm>
            <a:off x="5413248" y="2900426"/>
            <a:ext cx="1216152" cy="237744"/>
          </a:xfrm>
          <a:prstGeom prst="roundRect">
            <a:avLst>
              <a:gd name="adj" fmla="val 30000"/>
            </a:avLst>
          </a:prstGeom>
          <a:solidFill>
            <a:srgbClr val="FDF6EA"/>
          </a:solidFill>
          <a:ln w="12700">
            <a:solidFill>
              <a:srgbClr val="E3C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53"/>
          <p:cNvSpPr txBox="1"/>
          <p:nvPr/>
        </p:nvSpPr>
        <p:spPr>
          <a:xfrm>
            <a:off x="5413248" y="2900426"/>
            <a:ext cx="12161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τ &lt; T_w · ≈80%</a:t>
            </a:r>
            <a:endParaRPr sz="80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Rounded Rectangle 54"/>
          <p:cNvSpPr/>
          <p:nvPr/>
        </p:nvSpPr>
        <p:spPr>
          <a:xfrm>
            <a:off x="5413248" y="3174746"/>
            <a:ext cx="1216152" cy="237744"/>
          </a:xfrm>
          <a:prstGeom prst="roundRect">
            <a:avLst>
              <a:gd name="adj" fmla="val 30000"/>
            </a:avLst>
          </a:prstGeom>
          <a:solidFill>
            <a:srgbClr val="EFF4F9"/>
          </a:solidFill>
          <a:ln w="12700">
            <a:solidFill>
              <a:srgbClr val="B7C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55"/>
          <p:cNvSpPr txBox="1"/>
          <p:nvPr/>
        </p:nvSpPr>
        <p:spPr>
          <a:xfrm>
            <a:off x="5413248" y="3174746"/>
            <a:ext cx="12161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46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τ ≥ T_w · ≈20%</a:t>
            </a:r>
            <a:endParaRPr sz="800" b="1" i="0">
              <a:solidFill>
                <a:srgbClr val="446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Rectangle 56"/>
          <p:cNvSpPr/>
          <p:nvPr/>
        </p:nvSpPr>
        <p:spPr>
          <a:xfrm>
            <a:off x="685800" y="3503929"/>
            <a:ext cx="3246120" cy="1097280"/>
          </a:xfrm>
          <a:prstGeom prst="rect">
            <a:avLst/>
          </a:prstGeom>
          <a:solidFill>
            <a:srgbClr val="FD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onnector 57"/>
          <p:cNvCxnSpPr/>
          <p:nvPr/>
        </p:nvCxnSpPr>
        <p:spPr>
          <a:xfrm>
            <a:off x="3931920" y="3467353"/>
            <a:ext cx="0" cy="1170433"/>
          </a:xfrm>
          <a:prstGeom prst="line">
            <a:avLst/>
          </a:prstGeom>
          <a:ln w="15240">
            <a:solidFill>
              <a:srgbClr val="2E6B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58"/>
          <p:cNvSpPr txBox="1"/>
          <p:nvPr/>
        </p:nvSpPr>
        <p:spPr>
          <a:xfrm>
            <a:off x="4023360" y="348564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T_w（窗口边）</a:t>
            </a:r>
            <a:endParaRPr sz="85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Rectangle 59"/>
          <p:cNvSpPr/>
          <p:nvPr/>
        </p:nvSpPr>
        <p:spPr>
          <a:xfrm>
            <a:off x="777240" y="3613658"/>
            <a:ext cx="1005840" cy="128016"/>
          </a:xfrm>
          <a:prstGeom prst="rect">
            <a:avLst/>
          </a:prstGeom>
          <a:solidFill>
            <a:srgbClr val="E2B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60"/>
          <p:cNvSpPr/>
          <p:nvPr/>
        </p:nvSpPr>
        <p:spPr>
          <a:xfrm>
            <a:off x="777240" y="3814825"/>
            <a:ext cx="5029200" cy="128016"/>
          </a:xfrm>
          <a:prstGeom prst="rect">
            <a:avLst/>
          </a:prstGeom>
          <a:solidFill>
            <a:srgbClr val="9F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Isosceles Triangle 61"/>
          <p:cNvSpPr/>
          <p:nvPr/>
        </p:nvSpPr>
        <p:spPr>
          <a:xfrm rot="10800000">
            <a:off x="3867912" y="3819397"/>
            <a:ext cx="128016" cy="118872"/>
          </a:xfrm>
          <a:prstGeom prst="triangle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62"/>
          <p:cNvSpPr/>
          <p:nvPr/>
        </p:nvSpPr>
        <p:spPr>
          <a:xfrm>
            <a:off x="777240" y="4015994"/>
            <a:ext cx="2103120" cy="128016"/>
          </a:xfrm>
          <a:prstGeom prst="rect">
            <a:avLst/>
          </a:prstGeom>
          <a:solidFill>
            <a:srgbClr val="E2B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63"/>
          <p:cNvSpPr/>
          <p:nvPr/>
        </p:nvSpPr>
        <p:spPr>
          <a:xfrm>
            <a:off x="777240" y="4217162"/>
            <a:ext cx="2990088" cy="128016"/>
          </a:xfrm>
          <a:prstGeom prst="rect">
            <a:avLst/>
          </a:prstGeom>
          <a:solidFill>
            <a:srgbClr val="E2B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64"/>
          <p:cNvSpPr/>
          <p:nvPr/>
        </p:nvSpPr>
        <p:spPr>
          <a:xfrm>
            <a:off x="777240" y="4418330"/>
            <a:ext cx="5486400" cy="128016"/>
          </a:xfrm>
          <a:prstGeom prst="rect">
            <a:avLst/>
          </a:prstGeom>
          <a:solidFill>
            <a:srgbClr val="9FB4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Isosceles Triangle 65"/>
          <p:cNvSpPr/>
          <p:nvPr/>
        </p:nvSpPr>
        <p:spPr>
          <a:xfrm rot="10800000">
            <a:off x="3867912" y="4422902"/>
            <a:ext cx="128016" cy="118872"/>
          </a:xfrm>
          <a:prstGeom prst="triangle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ight Arrow 66"/>
          <p:cNvSpPr/>
          <p:nvPr/>
        </p:nvSpPr>
        <p:spPr>
          <a:xfrm>
            <a:off x="685800" y="4619498"/>
            <a:ext cx="5669280" cy="91440"/>
          </a:xfrm>
          <a:prstGeom prst="rightArrow">
            <a:avLst/>
          </a:prstGeom>
          <a:solidFill>
            <a:srgbClr val="9AA8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67"/>
          <p:cNvSpPr txBox="1"/>
          <p:nvPr/>
        </p:nvSpPr>
        <p:spPr>
          <a:xfrm>
            <a:off x="6382512" y="4564634"/>
            <a:ext cx="228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endParaRPr sz="8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TextBox 68"/>
          <p:cNvSpPr txBox="1"/>
          <p:nvPr/>
        </p:nvSpPr>
        <p:spPr>
          <a:xfrm>
            <a:off x="685800" y="4747514"/>
            <a:ext cx="56692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短命 ≈80%：窗口内复用 / 死亡 → 不下沉　</a:t>
            </a:r>
            <a:r>
              <a:rPr sz="900" b="1" i="0">
                <a:solidFill>
                  <a:srgbClr val="446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长命 ≈20%：跨窗存活者下沉 ▼</a:t>
            </a:r>
            <a:endParaRPr sz="900" b="1" i="0">
              <a:solidFill>
                <a:srgbClr val="446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Rounded Rectangle 69"/>
          <p:cNvSpPr/>
          <p:nvPr/>
        </p:nvSpPr>
        <p:spPr>
          <a:xfrm>
            <a:off x="685800" y="4985258"/>
            <a:ext cx="3063240" cy="457200"/>
          </a:xfrm>
          <a:prstGeom prst="roundRect">
            <a:avLst>
              <a:gd name="adj" fmla="val 10000"/>
            </a:avLst>
          </a:prstGeom>
          <a:solidFill>
            <a:srgbClr val="FDF6EA"/>
          </a:solidFill>
          <a:ln w="12700">
            <a:solidFill>
              <a:srgbClr val="E3C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70"/>
          <p:cNvSpPr txBox="1"/>
          <p:nvPr/>
        </p:nvSpPr>
        <p:spPr>
          <a:xfrm>
            <a:off x="685800" y="5021834"/>
            <a:ext cx="3063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温层 DRAM</a:t>
            </a:r>
            <a:endParaRPr sz="105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写入过滤器 + 小时级暂驻</a:t>
            </a:r>
            <a:endParaRPr sz="8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Right Arrow 71"/>
          <p:cNvSpPr/>
          <p:nvPr/>
        </p:nvSpPr>
        <p:spPr>
          <a:xfrm>
            <a:off x="3803904" y="5131562"/>
            <a:ext cx="219456" cy="146304"/>
          </a:xfrm>
          <a:prstGeom prst="rightArrow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72"/>
          <p:cNvSpPr/>
          <p:nvPr/>
        </p:nvSpPr>
        <p:spPr>
          <a:xfrm>
            <a:off x="4078224" y="4985258"/>
            <a:ext cx="2231136" cy="457200"/>
          </a:xfrm>
          <a:prstGeom prst="roundRect">
            <a:avLst>
              <a:gd name="adj" fmla="val 10000"/>
            </a:avLst>
          </a:prstGeom>
          <a:solidFill>
            <a:srgbClr val="EFF4F9"/>
          </a:solidFill>
          <a:ln w="12700">
            <a:solidFill>
              <a:srgbClr val="B7C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73"/>
          <p:cNvSpPr txBox="1"/>
          <p:nvPr/>
        </p:nvSpPr>
        <p:spPr>
          <a:xfrm>
            <a:off x="4078224" y="5021834"/>
            <a:ext cx="2231136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冷层 SSD / 分布式</a:t>
            </a:r>
            <a:endParaRPr sz="10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 ↓↓ → DWPD ↓ 寿命延长</a:t>
            </a:r>
            <a:endParaRPr sz="8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extBox 74"/>
          <p:cNvSpPr txBox="1"/>
          <p:nvPr/>
        </p:nvSpPr>
        <p:spPr>
          <a:xfrm>
            <a:off x="685800" y="5515610"/>
            <a:ext cx="56235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旁路：预测「长命 · 即将回归」→ 回归前预取回热层，命中不落空</a:t>
            </a:r>
            <a:endParaRPr sz="8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TextBox 75"/>
          <p:cNvSpPr txBox="1"/>
          <p:nvPr/>
        </p:nvSpPr>
        <p:spPr>
          <a:xfrm>
            <a:off x="365760" y="5826506"/>
            <a:ext cx="626364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100"/>
              </a:spcAft>
            </a:pPr>
            <a:r>
              <a:rPr sz="8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DWPD = Drive Writes Per Day（SSD 耐久度指标：每日全盘写入次数）</a:t>
            </a:r>
            <a:endParaRPr sz="8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数据锚点：active ratio @1h ≈ 21%/18%（per-provider，估算）· 中位寿命 57s · 空闲 p50 86s / p99 11.2h（TraceLab 实测）</a:t>
            </a:r>
            <a:endParaRPr sz="8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Rounded Rectangle 76"/>
          <p:cNvSpPr/>
          <p:nvPr/>
        </p:nvSpPr>
        <p:spPr>
          <a:xfrm>
            <a:off x="6903720" y="1464945"/>
            <a:ext cx="4919472" cy="4864608"/>
          </a:xfrm>
          <a:prstGeom prst="roundRect">
            <a:avLst>
              <a:gd name="adj" fmla="val 5000"/>
            </a:avLst>
          </a:prstGeom>
          <a:solidFill>
            <a:srgbClr val="F8FBF9"/>
          </a:solidFill>
          <a:ln w="12700">
            <a:solidFill>
              <a:srgbClr val="E4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77"/>
          <p:cNvSpPr/>
          <p:nvPr/>
        </p:nvSpPr>
        <p:spPr>
          <a:xfrm>
            <a:off x="7068312" y="1629537"/>
            <a:ext cx="4590288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78"/>
          <p:cNvSpPr txBox="1"/>
          <p:nvPr/>
        </p:nvSpPr>
        <p:spPr>
          <a:xfrm>
            <a:off x="7214616" y="1720977"/>
            <a:ext cx="429767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CLOCK 到 T_alive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现状：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CLOCK 事后逐出，冷热混放，写洪峰穿透温层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演进：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T_alive 写入即判 τ，短命进温层、长命直落冷层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同一套缓存设施，决策点从「逐出」前移到「放置」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Rounded Rectangle 79"/>
          <p:cNvSpPr/>
          <p:nvPr/>
        </p:nvSpPr>
        <p:spPr>
          <a:xfrm>
            <a:off x="7068312" y="2818257"/>
            <a:ext cx="4590288" cy="107899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80"/>
          <p:cNvSpPr txBox="1"/>
          <p:nvPr/>
        </p:nvSpPr>
        <p:spPr>
          <a:xfrm>
            <a:off x="7214616" y="2909697"/>
            <a:ext cx="4297679" cy="896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 T_alive 可预测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死亡时间结构性：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 KV 死于会话结束（中位 57s），写入即判短命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回归时间可统计：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空闲重尾而规律，86.1% 失效紧随 &gt;5min 空闲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复用轨迹可推演：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前缀 ≈ 上一步 + 确定性追加（中位误差 2 token）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Rounded Rectangle 81"/>
          <p:cNvSpPr/>
          <p:nvPr/>
        </p:nvSpPr>
        <p:spPr>
          <a:xfrm>
            <a:off x="7068312" y="3988689"/>
            <a:ext cx="4590288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82"/>
          <p:cNvSpPr txBox="1"/>
          <p:nvPr/>
        </p:nvSpPr>
        <p:spPr>
          <a:xfrm>
            <a:off x="7214616" y="4080129"/>
            <a:ext cx="4297679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温层 DRAM = 写入过滤器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写入 1h 后仍活跃仅 ~20%——绝大部分写入在温层内消化，从不下沉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冷层只接收「预测长命」的存活者：写入流量 100% → ≈20%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无温层时冷层直承全部写入 → DWPD 居高不下，被迫选贵介质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Rounded Rectangle 83"/>
          <p:cNvSpPr/>
          <p:nvPr/>
        </p:nvSpPr>
        <p:spPr>
          <a:xfrm>
            <a:off x="7068312" y="5140833"/>
            <a:ext cx="4590288" cy="111556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84"/>
          <p:cNvSpPr txBox="1"/>
          <p:nvPr/>
        </p:nvSpPr>
        <p:spPr>
          <a:xfrm>
            <a:off x="7214616" y="5232272"/>
            <a:ext cx="4297679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收益闭环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总容量不变：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容量仍由冷层承担，温层只是小时级暂驻窗口 + 过滤器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DWPD 随写入流量同比例下降 → 寿命延长 / 换廉价 QLC → </a:t>
            </a:r>
            <a:r>
              <a:rPr sz="10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p_store ↓</a:t>
            </a:r>
            <a:endParaRPr sz="105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预测越准 → 下沉越少 → DWPD 越低：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预测精度直接兑换成介质成本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>
          <a:xfrm>
            <a:off x="221615" y="267335"/>
            <a:ext cx="8903335" cy="399415"/>
          </a:xfrm>
        </p:spPr>
        <p:txBody>
          <a:bodyPr/>
          <a:p>
            <a:r>
              <a:rPr lang="en-US" altLang="zh-CN"/>
              <a:t>Store V2</a:t>
            </a:r>
            <a:r>
              <a:t>：</a:t>
            </a:r>
            <a:r>
              <a:rPr lang="en-US" altLang="zh-CN"/>
              <a:t>PeerStore：</a:t>
            </a:r>
            <a:r>
              <a:rPr lang="zh-CN" altLang="en-US"/>
              <a:t>从「分级缓存」到「分流放置」</a:t>
            </a:r>
            <a:endParaRPr lang="zh-CN" altLang="en-US"/>
          </a:p>
        </p:txBody>
      </p:sp>
      <p:sp>
        <p:nvSpPr>
          <p:cNvPr id="5" name="Rectangle 4"/>
          <p:cNvSpPr/>
          <p:nvPr/>
        </p:nvSpPr>
        <p:spPr>
          <a:xfrm>
            <a:off x="367665" y="805180"/>
            <a:ext cx="11457432" cy="10972"/>
          </a:xfrm>
          <a:prstGeom prst="rect">
            <a:avLst/>
          </a:prstGeom>
          <a:solidFill>
            <a:srgbClr val="E1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ounded Rectangle 6"/>
          <p:cNvSpPr/>
          <p:nvPr/>
        </p:nvSpPr>
        <p:spPr>
          <a:xfrm>
            <a:off x="367665" y="951484"/>
            <a:ext cx="11457432" cy="402336"/>
          </a:xfrm>
          <a:prstGeom prst="roundRect">
            <a:avLst>
              <a:gd name="adj" fmla="val 18000"/>
            </a:avLst>
          </a:prstGeom>
          <a:solidFill>
            <a:srgbClr val="158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665" y="951484"/>
            <a:ext cx="1145743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存储形态跟着分流走 —— 冷层不再是温层的全量拷贝，该下沉的才下沉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4825" y="1869821"/>
            <a:ext cx="2926080" cy="36210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825" y="1915541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当下 · PipelineStore（V1）</a:t>
            </a:r>
            <a:endParaRPr sz="1100" b="1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4825" y="2116709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严格分级 · 串行链</a:t>
            </a:r>
            <a:endParaRPr sz="8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236345" y="2345309"/>
            <a:ext cx="1463040" cy="3657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6345" y="2345309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Device 显存</a:t>
            </a:r>
            <a:endParaRPr sz="9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Down Arrow 13"/>
          <p:cNvSpPr/>
          <p:nvPr/>
        </p:nvSpPr>
        <p:spPr>
          <a:xfrm>
            <a:off x="1903857" y="2747645"/>
            <a:ext cx="128016" cy="182880"/>
          </a:xfrm>
          <a:prstGeom prst="downArrow">
            <a:avLst/>
          </a:prstGeom>
          <a:solidFill>
            <a:srgbClr val="5B6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86736" y="2765933"/>
            <a:ext cx="5486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D↔H</a:t>
            </a:r>
            <a:endParaRPr sz="7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053465" y="2967101"/>
            <a:ext cx="1828800" cy="438912"/>
          </a:xfrm>
          <a:prstGeom prst="roundRect">
            <a:avLst>
              <a:gd name="adj" fmla="val 12000"/>
            </a:avLst>
          </a:prstGeom>
          <a:solidFill>
            <a:srgbClr val="FDF6EA"/>
          </a:solidFill>
          <a:ln w="12700">
            <a:solidFill>
              <a:srgbClr val="E3C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3465" y="2967101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CacheStore（温层缓冲）</a:t>
            </a:r>
            <a:endParaRPr sz="95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1903857" y="3442589"/>
            <a:ext cx="128016" cy="201168"/>
          </a:xfrm>
          <a:prstGeom prst="downArrow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86736" y="3460877"/>
            <a:ext cx="11887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H2S 全量直通</a:t>
            </a:r>
            <a:endParaRPr sz="75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053465" y="3680333"/>
            <a:ext cx="1828800" cy="438912"/>
          </a:xfrm>
          <a:prstGeom prst="roundRect">
            <a:avLst>
              <a:gd name="adj" fmla="val 12000"/>
            </a:avLst>
          </a:prstGeom>
          <a:solidFill>
            <a:srgbClr val="EFF4F9"/>
          </a:solidFill>
          <a:ln w="12700">
            <a:solidFill>
              <a:srgbClr val="B7C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3465" y="3680333"/>
            <a:ext cx="18288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446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GlobalStore（冷层）</a:t>
            </a:r>
            <a:endParaRPr sz="950" b="1" i="0">
              <a:solidFill>
                <a:srgbClr val="446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62025" y="4210685"/>
            <a:ext cx="2011680" cy="566928"/>
          </a:xfrm>
          <a:prstGeom prst="roundRect">
            <a:avLst>
              <a:gd name="adj" fmla="val 10000"/>
            </a:avLst>
          </a:prstGeom>
          <a:solidFill>
            <a:srgbClr val="EFF4F9"/>
          </a:solidFill>
          <a:ln w="12700">
            <a:solidFill>
              <a:srgbClr val="B7C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2025" y="4247261"/>
            <a:ext cx="20116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446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冷层 · 全量沉淀（冷 ⊇ 温）</a:t>
            </a:r>
            <a:endParaRPr sz="800" b="1" i="0">
              <a:solidFill>
                <a:srgbClr val="446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693545" y="4448429"/>
            <a:ext cx="1133856" cy="256032"/>
          </a:xfrm>
          <a:prstGeom prst="roundRect">
            <a:avLst>
              <a:gd name="adj" fmla="val 14000"/>
            </a:avLst>
          </a:prstGeom>
          <a:solidFill>
            <a:srgbClr val="FDF6EA"/>
          </a:solidFill>
          <a:ln w="12700">
            <a:solidFill>
              <a:srgbClr val="E3C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3545" y="4448429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温层窗口</a:t>
            </a:r>
            <a:endParaRPr sz="75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1985" y="4869053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写：不分死活，逐级穿行落冷</a:t>
            </a:r>
            <a:endParaRPr sz="80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1985" y="5051933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读：按级回源，温层 miss 才等冷层</a:t>
            </a:r>
            <a:endParaRPr sz="80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1985" y="5234813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shards = 冷层读份额</a:t>
            </a:r>
            <a:endParaRPr sz="7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613785" y="1869821"/>
            <a:ext cx="2971800" cy="36210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58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3785" y="1915541"/>
            <a:ext cx="2971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演进 · PeerStore（V2）</a:t>
            </a:r>
            <a:endParaRPr sz="110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13785" y="2116709"/>
            <a:ext cx="2971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两域对等 · 分流放置</a:t>
            </a:r>
            <a:endParaRPr sz="80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592193" y="2345309"/>
            <a:ext cx="1005840" cy="310896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2193" y="2345309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 写入流</a:t>
            </a:r>
            <a:endParaRPr sz="85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 flipH="1">
            <a:off x="4308729" y="2656205"/>
            <a:ext cx="630936" cy="457200"/>
          </a:xfrm>
          <a:prstGeom prst="line">
            <a:avLst/>
          </a:prstGeom>
          <a:ln w="19050">
            <a:solidFill>
              <a:srgbClr val="9A6B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250561" y="2656205"/>
            <a:ext cx="685800" cy="457200"/>
          </a:xfrm>
          <a:prstGeom prst="line">
            <a:avLst/>
          </a:prstGeom>
          <a:ln w="19050">
            <a:solidFill>
              <a:srgbClr val="4460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0361" y="2692781"/>
            <a:ext cx="10058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≈80% 驻温即止</a:t>
            </a:r>
            <a:endParaRPr sz="75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8305" y="2692781"/>
            <a:ext cx="105156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446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≈20% 直落冷层</a:t>
            </a:r>
            <a:endParaRPr sz="750" b="1" i="0">
              <a:solidFill>
                <a:srgbClr val="446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750944" y="3113405"/>
            <a:ext cx="1115568" cy="566928"/>
          </a:xfrm>
          <a:prstGeom prst="roundRect">
            <a:avLst>
              <a:gd name="adj" fmla="val 10000"/>
            </a:avLst>
          </a:prstGeom>
          <a:solidFill>
            <a:srgbClr val="FDF6EA"/>
          </a:solidFill>
          <a:ln w="12700">
            <a:solidFill>
              <a:srgbClr val="E3C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50944" y="3168269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CacheStore</a:t>
            </a:r>
            <a:endParaRPr sz="95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节点内 · 温</a:t>
            </a:r>
            <a:endParaRPr sz="7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5378577" y="3113405"/>
            <a:ext cx="1115568" cy="566928"/>
          </a:xfrm>
          <a:prstGeom prst="roundRect">
            <a:avLst>
              <a:gd name="adj" fmla="val 10000"/>
            </a:avLst>
          </a:prstGeom>
          <a:solidFill>
            <a:srgbClr val="EFF4F9"/>
          </a:solidFill>
          <a:ln w="12700">
            <a:solidFill>
              <a:srgbClr val="B7C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78577" y="3168269"/>
            <a:ext cx="111556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1" i="0">
                <a:solidFill>
                  <a:srgbClr val="446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GlobalStore</a:t>
            </a:r>
            <a:endParaRPr sz="950" b="1" i="0">
              <a:solidFill>
                <a:srgbClr val="446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节点外 · 冷</a:t>
            </a:r>
            <a:endParaRPr sz="7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Left-Right Arrow 41"/>
          <p:cNvSpPr/>
          <p:nvPr/>
        </p:nvSpPr>
        <p:spPr>
          <a:xfrm>
            <a:off x="4930521" y="3314573"/>
            <a:ext cx="384048" cy="164592"/>
          </a:xfrm>
          <a:prstGeom prst="leftRightArrow">
            <a:avLst/>
          </a:prstGeom>
          <a:solidFill>
            <a:srgbClr val="2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38497" y="3716909"/>
            <a:ext cx="768096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数据+账本</a:t>
            </a:r>
            <a:endParaRPr sz="6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332857" y="3881500"/>
            <a:ext cx="120700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650" b="1" i="0">
                <a:solidFill>
                  <a:srgbClr val="446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memory-less 直写</a:t>
            </a:r>
            <a:endParaRPr sz="650" b="1" i="0">
              <a:solidFill>
                <a:srgbClr val="446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0000"/>
              </a:lnSpc>
            </a:pPr>
            <a:r>
              <a:rPr sz="6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（旁路温层）</a:t>
            </a:r>
            <a:endParaRPr sz="6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3979544" y="4265548"/>
            <a:ext cx="822960" cy="365760"/>
          </a:xfrm>
          <a:prstGeom prst="roundRect">
            <a:avLst>
              <a:gd name="adj" fmla="val 14000"/>
            </a:avLst>
          </a:prstGeom>
          <a:solidFill>
            <a:srgbClr val="FDF6EA"/>
          </a:solidFill>
          <a:ln w="12700">
            <a:solidFill>
              <a:srgbClr val="E3C9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79544" y="4265548"/>
            <a:ext cx="822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</a:t>
            </a:r>
            <a:endParaRPr sz="85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811649" y="4302125"/>
            <a:ext cx="256032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⊄</a:t>
            </a:r>
            <a:endParaRPr sz="110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5076825" y="4265548"/>
            <a:ext cx="1188720" cy="365760"/>
          </a:xfrm>
          <a:prstGeom prst="roundRect">
            <a:avLst>
              <a:gd name="adj" fmla="val 14000"/>
            </a:avLst>
          </a:prstGeom>
          <a:solidFill>
            <a:srgbClr val="EFF4F9"/>
          </a:solidFill>
          <a:ln w="12700">
            <a:solidFill>
              <a:srgbClr val="B7C7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76825" y="4265548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4460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 · 长命分流</a:t>
            </a:r>
            <a:endParaRPr sz="750" b="1" i="0">
              <a:solidFill>
                <a:srgbClr val="4460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750944" y="4667885"/>
            <a:ext cx="2743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冷层只存长命分流数据（温 ⊄ 冷）</a:t>
            </a:r>
            <a:endParaRPr sz="750" b="1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750944" y="4869053"/>
            <a:ext cx="2697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放置按 τ 决策，写入量与冷层解耦</a:t>
            </a:r>
            <a:endParaRPr sz="80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750944" y="5051933"/>
            <a:ext cx="2697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Capabilities（domain/sharing）定路径</a:t>
            </a:r>
            <a:endParaRPr sz="80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750944" y="5234813"/>
            <a:ext cx="2697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5B6B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账本：温域即时可见 · 冷域最终一致</a:t>
            </a:r>
            <a:endParaRPr sz="750" b="0" i="0">
              <a:solidFill>
                <a:srgbClr val="5B6B6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6905625" y="1470025"/>
            <a:ext cx="4919472" cy="4864608"/>
          </a:xfrm>
          <a:prstGeom prst="roundRect">
            <a:avLst>
              <a:gd name="adj" fmla="val 5000"/>
            </a:avLst>
          </a:prstGeom>
          <a:solidFill>
            <a:srgbClr val="F8FBF9"/>
          </a:solidFill>
          <a:ln w="12700">
            <a:solidFill>
              <a:srgbClr val="E4E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070217" y="1634617"/>
            <a:ext cx="4590288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16521" y="1726057"/>
            <a:ext cx="4297679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PipelineStore：严格分级缓存（V1）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Stack 把多级 Store 串成一条传输链（</a:t>
            </a:r>
            <a:r>
              <a:rPr sz="10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Cache|Posix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等）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写路径全量穿层：Device → 温层缓冲 → 冷层逐级直通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冷层沉淀全部已下盘数据：</a:t>
            </a:r>
            <a:r>
              <a:rPr sz="10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 ⊆ 冷</a:t>
            </a:r>
            <a:endParaRPr sz="1050" b="1" i="0">
              <a:solidFill>
                <a:srgbClr val="2E6B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7070217" y="2786761"/>
            <a:ext cx="4590288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16521" y="2878201"/>
            <a:ext cx="4297679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串行链的代价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长度阈值准入，不区分死活：短命 KV 也被写穿落冷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persist_token_threshold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只看长度，不看 τ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冷层 DWPD 与写入洪峰绑定：空间 / 寿命双浪费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7070217" y="3938905"/>
            <a:ext cx="4590288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16521" y="4030345"/>
            <a:ext cx="4297679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PeerStore：两域对等放置（V2）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CacheStore（节点内）∥ GlobalStore（节点外）平级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τ 放置：短命驻温不下沉、长命直落冷层（memory-less 直写）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冷层只存该存的：</a:t>
            </a:r>
            <a:r>
              <a:rPr sz="1050" b="1" i="0">
                <a:solidFill>
                  <a:srgbClr val="2E6B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 ⊄ 冷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，写入量与冷层解耦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7070217" y="5091049"/>
            <a:ext cx="4590288" cy="106070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F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16521" y="5182489"/>
            <a:ext cx="4297679" cy="877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▎ </a:t>
            </a:r>
            <a:r>
              <a:rPr sz="120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支撑机制</a:t>
            </a:r>
            <a:endParaRPr sz="1200" b="1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Capabilities（domain/sharing）定放置路径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1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账本双语义：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CacheStore 即时 · GlobalStore 最终一致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50" b="1" i="0">
                <a:solidFill>
                  <a:srgbClr val="158A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▪ </a:t>
            </a:r>
            <a:r>
              <a:rPr sz="1050" b="0" i="0">
                <a:solidFill>
                  <a:srgbClr val="1F2D2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增量回填仅从缺失层回源 · D↔H 独立直通引擎</a:t>
            </a:r>
            <a:endParaRPr sz="1050" b="0" i="0">
              <a:solidFill>
                <a:srgbClr val="1F2D2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>
          <a:xfrm>
            <a:off x="221615" y="267335"/>
            <a:ext cx="9563735" cy="399415"/>
          </a:xfrm>
        </p:spPr>
        <p:txBody>
          <a:bodyPr/>
          <a:p>
            <a:r>
              <a:t>编辑与拼接引擎</a:t>
            </a:r>
            <a:r>
              <a:rPr lang="en-US" altLang="zh-CN"/>
              <a:t>：灵活自由的KV复用范式</a:t>
            </a:r>
            <a:endParaRPr lang="en-US" altLang="zh-CN"/>
          </a:p>
        </p:txBody>
      </p:sp>
      <p:sp>
        <p:nvSpPr>
          <p:cNvPr id="2" name="文本框 1"/>
          <p:cNvSpPr txBox="1"/>
          <p:nvPr/>
        </p:nvSpPr>
        <p:spPr>
          <a:xfrm>
            <a:off x="1395730" y="1062355"/>
            <a:ext cx="23590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推理侧视角：</a:t>
            </a:r>
            <a:r>
              <a:rPr lang="zh-CN" altLang="en-US" sz="1400" i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上下文组成</a:t>
            </a:r>
            <a:endParaRPr lang="zh-CN" altLang="en-US" sz="1400" i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862070" y="1127125"/>
            <a:ext cx="2715260" cy="177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577330" y="1127125"/>
            <a:ext cx="2144395" cy="1771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473575" y="820420"/>
            <a:ext cx="14281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(A) Prefix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部分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31355" y="820420"/>
            <a:ext cx="142811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(B) 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增量</a:t>
            </a:r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部分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05555" y="820420"/>
            <a:ext cx="2769235" cy="59753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591935" y="820420"/>
            <a:ext cx="2305685" cy="59690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199130" y="1549400"/>
            <a:ext cx="10947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KV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编辑</a:t>
            </a:r>
            <a:endParaRPr lang="zh-CN" altLang="en-US"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459470" y="1549400"/>
            <a:ext cx="13004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KV</a:t>
            </a:r>
            <a:r>
              <a:rPr lang="zh-CN" altLang="en-US" sz="1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拼接复用</a:t>
            </a:r>
            <a:endParaRPr lang="zh-CN" altLang="en-US" sz="1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63625" y="1855470"/>
            <a:ext cx="5009515" cy="442531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410325" y="1856105"/>
            <a:ext cx="5299075" cy="442976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574790" y="1968500"/>
            <a:ext cx="49701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KVBridge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拼接引擎：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提出</a:t>
            </a:r>
            <a:r>
              <a:rPr lang="zh-CN"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①</a:t>
            </a:r>
            <a:r>
              <a:rPr lang="en-US" altLang="zh-CN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KV</a:t>
            </a:r>
            <a:r>
              <a:rPr lang="zh-CN"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筛选</a:t>
            </a:r>
            <a:r>
              <a:rPr lang="en-US" altLang="zh-CN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-&gt;</a:t>
            </a:r>
            <a:r>
              <a:rPr lang="zh-CN"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②</a:t>
            </a:r>
            <a:r>
              <a:rPr lang="en-US" altLang="zh-CN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KV</a:t>
            </a:r>
            <a:r>
              <a:rPr lang="zh-CN"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判别</a:t>
            </a:r>
            <a:r>
              <a:rPr lang="en-US" altLang="zh-CN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-&gt;</a:t>
            </a:r>
            <a:r>
              <a:rPr lang="zh-CN"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③</a:t>
            </a:r>
            <a:r>
              <a:rPr lang="en-US" altLang="zh-CN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KV</a:t>
            </a:r>
            <a:r>
              <a:rPr lang="zh-CN"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修正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全链路离线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在线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KV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复用，保障推理精度下实现跨位置拼接。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252220" y="1968500"/>
            <a:ext cx="47453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KVBridge</a:t>
            </a:r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编辑引擎：</a:t>
            </a:r>
            <a:r>
              <a:rPr lang="zh-CN"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en-US" altLang="zh-CN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KV</a:t>
            </a:r>
            <a:r>
              <a:rPr lang="zh-CN"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后缀复用代替</a:t>
            </a:r>
            <a:r>
              <a:rPr lang="en-US" altLang="zh-CN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r>
              <a:rPr lang="zh-CN" altLang="en-US"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上下文编辑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，避免上下文编辑带来的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Prefix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命中损失，为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Agent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提供</a:t>
            </a:r>
            <a:r>
              <a:rPr lang="en-US" altLang="zh-CN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KV</a:t>
            </a:r>
            <a:r>
              <a:rPr lang="zh-CN" altLang="en-US" sz="1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复用接口。</a:t>
            </a:r>
            <a:endParaRPr lang="zh-CN" altLang="en-US" sz="1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124075" y="6100445"/>
            <a:ext cx="3360420" cy="2755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1200" b="1" i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vllm RFC #58537</a:t>
            </a:r>
            <a:r>
              <a:rPr lang="zh-CN" altLang="en-US" sz="1200" b="1" i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（欢迎加入共建！）</a:t>
            </a:r>
            <a:endParaRPr lang="zh-CN" altLang="en-US" sz="1200" b="1" i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1920" y="2800033"/>
            <a:ext cx="4360545" cy="286194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473835" y="2428875"/>
            <a:ext cx="474535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复用范式对比</a:t>
            </a:r>
            <a:r>
              <a:rPr 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(e.g. 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某段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Tool Result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失效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上下文编辑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vs KVbridge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编辑</a:t>
            </a:r>
            <a:r>
              <a:rPr 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9215120" y="1087120"/>
                <a:ext cx="182245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1400" b="1">
                    <a:solidFill>
                      <a:schemeClr val="tx1"/>
                    </a:solidFill>
                  </a:rPr>
                  <a:t>推理代价</a:t>
                </a:r>
                <a:r>
                  <a:rPr lang="en-US" altLang="zh-CN" sz="1400" b="1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4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𝑶</m:t>
                    </m:r>
                    <m:r>
                      <a:rPr lang="en-US" altLang="zh-CN" sz="14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(</m:t>
                    </m:r>
                    <m:r>
                      <a:rPr lang="en-US" altLang="zh-CN" sz="14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𝑨</m:t>
                    </m:r>
                    <m:r>
                      <a:rPr lang="en-US" altLang="zh-CN" sz="14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r>
                      <a:rPr lang="en-US" altLang="zh-CN" sz="14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𝑩</m:t>
                    </m:r>
                    <m:r>
                      <a:rPr lang="en-US" altLang="zh-CN" sz="1400" b="1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sz="1400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5120" y="1087120"/>
                <a:ext cx="1822450" cy="30670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/>
          <p:cNvSpPr/>
          <p:nvPr/>
        </p:nvSpPr>
        <p:spPr>
          <a:xfrm>
            <a:off x="6770370" y="2595880"/>
            <a:ext cx="1300480" cy="1473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PC</a:t>
            </a:r>
            <a:endParaRPr lang="en-US" altLang="zh-CN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8070850" y="2599690"/>
            <a:ext cx="845185" cy="1473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Chunk  B</a:t>
            </a:r>
            <a:endParaRPr lang="en-US" altLang="zh-CN" sz="9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819900" y="3174365"/>
            <a:ext cx="1250950" cy="14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8350885" y="3174365"/>
            <a:ext cx="1345565" cy="14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9970770" y="3174365"/>
            <a:ext cx="1433830" cy="14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圆柱形 27"/>
          <p:cNvSpPr/>
          <p:nvPr/>
        </p:nvSpPr>
        <p:spPr>
          <a:xfrm>
            <a:off x="7161530" y="5511165"/>
            <a:ext cx="3580130" cy="596900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6928485" y="3571240"/>
            <a:ext cx="883285" cy="1504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KV Context7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6928485" y="3873500"/>
            <a:ext cx="883285" cy="1504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KV Context3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6928485" y="4175760"/>
            <a:ext cx="883285" cy="1504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KV Context5</a:t>
            </a:r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6948805" y="2921635"/>
            <a:ext cx="9931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筛选</a:t>
            </a:r>
            <a:endParaRPr lang="zh-CN" altLang="en-US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562975" y="2916555"/>
            <a:ext cx="9931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判别</a:t>
            </a:r>
            <a:endParaRPr lang="zh-CN" altLang="en-US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10099675" y="2910205"/>
            <a:ext cx="99314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KV</a:t>
            </a:r>
            <a:r>
              <a:rPr lang="zh-CN" altLang="en-US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修正</a:t>
            </a:r>
            <a:endParaRPr lang="zh-CN" altLang="en-US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下箭头 34"/>
          <p:cNvSpPr/>
          <p:nvPr/>
        </p:nvSpPr>
        <p:spPr>
          <a:xfrm>
            <a:off x="7202805" y="2809240"/>
            <a:ext cx="322580" cy="17716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8" name="直接箭头连接符 37"/>
          <p:cNvCxnSpPr>
            <a:stCxn id="24" idx="3"/>
            <a:endCxn id="25" idx="1"/>
          </p:cNvCxnSpPr>
          <p:nvPr/>
        </p:nvCxnSpPr>
        <p:spPr>
          <a:xfrm>
            <a:off x="8070850" y="3888740"/>
            <a:ext cx="280035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25" idx="3"/>
            <a:endCxn id="26" idx="1"/>
          </p:cNvCxnSpPr>
          <p:nvPr/>
        </p:nvCxnSpPr>
        <p:spPr>
          <a:xfrm>
            <a:off x="9696450" y="3888740"/>
            <a:ext cx="27432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7788275" y="3810635"/>
            <a:ext cx="3175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chemeClr val="tx1"/>
                </a:solidFill>
              </a:rPr>
              <a:t>✔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811770" y="3500120"/>
            <a:ext cx="3175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7811770" y="4109085"/>
            <a:ext cx="3175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×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8562975" y="3420745"/>
            <a:ext cx="883285" cy="1504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KV Context3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8395335" y="4176395"/>
            <a:ext cx="561340" cy="2800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Reuse-&gt;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③</a:t>
            </a:r>
            <a:endParaRPr lang="zh-CN" altLang="en-US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8987155" y="4175760"/>
            <a:ext cx="659130" cy="27495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Hard-&gt;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Compute</a:t>
            </a:r>
            <a:endParaRPr lang="en-US" altLang="zh-CN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8460105" y="3721735"/>
            <a:ext cx="1096010" cy="2095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rectifiable</a:t>
            </a:r>
            <a:r>
              <a:rPr lang="zh-CN" altLang="en-US" sz="7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？</a:t>
            </a:r>
            <a:endParaRPr lang="zh-CN" altLang="en-US" sz="7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0139680" y="3533140"/>
            <a:ext cx="210820" cy="1905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10422890" y="3536315"/>
            <a:ext cx="210820" cy="1905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10711815" y="3536315"/>
            <a:ext cx="210820" cy="1905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11005185" y="3536315"/>
            <a:ext cx="210820" cy="1905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10139680" y="3795395"/>
            <a:ext cx="210820" cy="1905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10422890" y="3798570"/>
            <a:ext cx="210820" cy="1905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10711815" y="3798570"/>
            <a:ext cx="210820" cy="1905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11005185" y="3798570"/>
            <a:ext cx="210820" cy="1905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10099675" y="3257550"/>
            <a:ext cx="134429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Multi-view position</a:t>
            </a:r>
            <a:endParaRPr lang="en-US" altLang="zh-CN" sz="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8" name="肘形连接符 57"/>
          <p:cNvCxnSpPr>
            <a:stCxn id="48" idx="2"/>
            <a:endCxn id="46" idx="0"/>
          </p:cNvCxnSpPr>
          <p:nvPr/>
        </p:nvCxnSpPr>
        <p:spPr>
          <a:xfrm rot="5400000">
            <a:off x="8719185" y="3887470"/>
            <a:ext cx="245110" cy="332105"/>
          </a:xfrm>
          <a:prstGeom prst="bentConnector3">
            <a:avLst>
              <a:gd name="adj1" fmla="val 4987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肘形连接符 58"/>
          <p:cNvCxnSpPr>
            <a:stCxn id="48" idx="2"/>
            <a:endCxn id="47" idx="0"/>
          </p:cNvCxnSpPr>
          <p:nvPr/>
        </p:nvCxnSpPr>
        <p:spPr>
          <a:xfrm rot="5400000" flipV="1">
            <a:off x="9040495" y="3898900"/>
            <a:ext cx="244475" cy="308610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7693660" y="5835015"/>
            <a:ext cx="483870" cy="1771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KV</a:t>
            </a:r>
            <a:endParaRPr lang="en-US" altLang="zh-CN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8503920" y="5835015"/>
            <a:ext cx="483870" cy="1771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KV</a:t>
            </a:r>
            <a:endParaRPr lang="en-US" altLang="zh-CN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9234170" y="5835015"/>
            <a:ext cx="483870" cy="1771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KV</a:t>
            </a:r>
            <a:endParaRPr lang="en-US" altLang="zh-CN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9996805" y="5835015"/>
            <a:ext cx="483870" cy="1771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KV</a:t>
            </a:r>
            <a:endParaRPr lang="en-US" altLang="zh-CN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64" name="肘形连接符 63"/>
          <p:cNvCxnSpPr>
            <a:stCxn id="45" idx="2"/>
            <a:endCxn id="48" idx="0"/>
          </p:cNvCxnSpPr>
          <p:nvPr/>
        </p:nvCxnSpPr>
        <p:spPr>
          <a:xfrm rot="5400000" flipV="1">
            <a:off x="8931275" y="3644265"/>
            <a:ext cx="150495" cy="3175"/>
          </a:xfrm>
          <a:prstGeom prst="bentConnector3">
            <a:avLst>
              <a:gd name="adj1" fmla="val 50211"/>
            </a:avLst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7484745" y="5511165"/>
            <a:ext cx="3046730" cy="1511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KVBridge Index</a:t>
            </a:r>
            <a:endParaRPr lang="en-US" altLang="zh-CN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下箭头 64"/>
          <p:cNvSpPr/>
          <p:nvPr/>
        </p:nvSpPr>
        <p:spPr>
          <a:xfrm rot="3000000">
            <a:off x="3949700" y="1410335"/>
            <a:ext cx="258445" cy="324485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下箭头 65"/>
          <p:cNvSpPr/>
          <p:nvPr/>
        </p:nvSpPr>
        <p:spPr>
          <a:xfrm rot="18300000">
            <a:off x="8319770" y="1414145"/>
            <a:ext cx="258445" cy="309880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本框 66"/>
              <p:cNvSpPr txBox="1"/>
              <p:nvPr/>
            </p:nvSpPr>
            <p:spPr>
              <a:xfrm>
                <a:off x="2230056" y="5662232"/>
                <a:ext cx="1313815" cy="52832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∆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∈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𝑆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12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𝑖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CN" sz="1200" i="1">
                  <a:solidFill>
                    <a:schemeClr val="tx1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7" name="文本框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056" y="5662232"/>
                <a:ext cx="1313815" cy="528320"/>
              </a:xfrm>
              <a:prstGeom prst="rect">
                <a:avLst/>
              </a:prstGeom>
              <a:blipFill rotWithShape="1">
                <a:blip r:embed="rId3"/>
                <a:stretch>
                  <a:fillRect l="-43" t="-108" r="43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文本框 67"/>
          <p:cNvSpPr txBox="1"/>
          <p:nvPr/>
        </p:nvSpPr>
        <p:spPr>
          <a:xfrm>
            <a:off x="1395730" y="5662295"/>
            <a:ext cx="13442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每轮节省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推理开销</a:t>
            </a:r>
            <a:endParaRPr lang="zh-CN" altLang="en-US" sz="12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本框 68"/>
              <p:cNvSpPr txBox="1"/>
              <p:nvPr/>
            </p:nvSpPr>
            <p:spPr>
              <a:xfrm>
                <a:off x="3461321" y="5741607"/>
                <a:ext cx="2536190" cy="2717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𝑆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 ={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𝑖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|</m:t>
                      </m:r>
                      <m:r>
                        <a:rPr lang="zh-CN" altLang="en-US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修改位置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𝑒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&lt;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𝑖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&lt;</m:t>
                      </m:r>
                      <m:r>
                        <a:rPr lang="zh-CN" altLang="en-US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新增位置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𝑛</m:t>
                      </m:r>
                      <m:r>
                        <a:rPr lang="en-US" altLang="zh-CN" sz="12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}</m:t>
                      </m:r>
                    </m:oMath>
                  </m:oMathPara>
                </a14:m>
                <a:endParaRPr lang="en-US" altLang="zh-CN" sz="1200" i="1">
                  <a:solidFill>
                    <a:schemeClr val="tx1"/>
                  </a:solidFill>
                  <a:latin typeface="Cambria Math" panose="02040503050406030204" charset="0"/>
                  <a:ea typeface="微软雅黑" panose="020B0503020204020204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9" name="文本框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321" y="5741607"/>
                <a:ext cx="2536190" cy="271780"/>
              </a:xfrm>
              <a:prstGeom prst="rect">
                <a:avLst/>
              </a:prstGeom>
              <a:blipFill rotWithShape="1">
                <a:blip r:embed="rId4"/>
                <a:stretch>
                  <a:fillRect l="-23" t="-210" r="23" b="2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本框 69"/>
              <p:cNvSpPr txBox="1"/>
              <p:nvPr/>
            </p:nvSpPr>
            <p:spPr>
              <a:xfrm>
                <a:off x="6633146" y="4662742"/>
                <a:ext cx="1677035" cy="3429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𝐵</m:t>
                      </m:r>
                      <m:r>
                        <a:rPr lang="en-US" altLang="zh-CN" sz="8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∗</m:t>
                      </m:r>
                      <m:r>
                        <a:rPr lang="en-US" altLang="zh-CN" sz="8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𝑎𝑟𝑔𝑚𝑎𝑥</m:t>
                          </m:r>
                        </m:e>
                        <m:sub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𝐵</m:t>
                          </m:r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∈</m:t>
                          </m:r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𝐶</m:t>
                          </m:r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𝐵</m:t>
                          </m:r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)</m:t>
                          </m:r>
                        </m:sub>
                      </m:sSub>
                      <m:f>
                        <m:fPr>
                          <m:ctrlP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|</m:t>
                          </m:r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𝐿𝐶𝑃</m:t>
                          </m:r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|</m:t>
                          </m:r>
                        </m:num>
                        <m:den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|</m:t>
                          </m:r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𝐴</m:t>
                          </m:r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|</m:t>
                          </m:r>
                        </m:den>
                      </m:f>
                      <m:r>
                        <a:rPr lang="en-US" altLang="zh-CN" sz="8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sz="800" i="1">
                          <a:solidFill>
                            <a:schemeClr val="tx1"/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𝛽</m:t>
                      </m:r>
                      <m:sSub>
                        <m:sSubPr>
                          <m:ctrlP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zh-CN" sz="800" i="1">
                  <a:solidFill>
                    <a:schemeClr val="tx1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0" name="文本框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3146" y="4662742"/>
                <a:ext cx="1677035" cy="342900"/>
              </a:xfrm>
              <a:prstGeom prst="rect">
                <a:avLst/>
              </a:prstGeom>
              <a:blipFill rotWithShape="1">
                <a:blip r:embed="rId5"/>
                <a:stretch>
                  <a:fillRect l="-34" t="-167" r="34" b="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文本框 71"/>
          <p:cNvSpPr txBox="1"/>
          <p:nvPr/>
        </p:nvSpPr>
        <p:spPr>
          <a:xfrm>
            <a:off x="8211185" y="5247005"/>
            <a:ext cx="192849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Chunk-&gt;KV </a:t>
            </a:r>
            <a:r>
              <a:rPr lang="en-US" altLang="zh-CN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Blocks</a:t>
            </a:r>
            <a:endParaRPr lang="en-US" altLang="zh-CN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7446645" y="5069840"/>
            <a:ext cx="730885" cy="1771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chunks</a:t>
            </a:r>
            <a:endParaRPr lang="en-US" altLang="zh-CN" sz="1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4" name="直接箭头连接符 73"/>
          <p:cNvCxnSpPr>
            <a:stCxn id="73" idx="2"/>
            <a:endCxn id="60" idx="0"/>
          </p:cNvCxnSpPr>
          <p:nvPr/>
        </p:nvCxnSpPr>
        <p:spPr>
          <a:xfrm>
            <a:off x="7812405" y="5247005"/>
            <a:ext cx="123190" cy="588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5" name="直接箭头连接符 74"/>
          <p:cNvCxnSpPr>
            <a:endCxn id="61" idx="0"/>
          </p:cNvCxnSpPr>
          <p:nvPr/>
        </p:nvCxnSpPr>
        <p:spPr>
          <a:xfrm>
            <a:off x="7839075" y="5241925"/>
            <a:ext cx="906780" cy="5930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本框 75"/>
              <p:cNvSpPr txBox="1"/>
              <p:nvPr/>
            </p:nvSpPr>
            <p:spPr>
              <a:xfrm>
                <a:off x="8360981" y="4679887"/>
                <a:ext cx="1503045" cy="32575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𝜎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𝐵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∗,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𝐴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) &gt;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𝜀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    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𝑅𝑒𝑐𝑜𝑚𝑝𝑢𝑡𝑒</m:t>
                              </m:r>
                            </m:e>
                            <m:e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𝜎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𝐵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∗,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𝐴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)&lt;=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𝜀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            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𝑅𝑒𝑢𝑠𝑒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800" i="1">
                  <a:solidFill>
                    <a:schemeClr val="tx1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6" name="文本框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0981" y="4679887"/>
                <a:ext cx="1503045" cy="325755"/>
              </a:xfrm>
              <a:prstGeom prst="rect">
                <a:avLst/>
              </a:prstGeom>
              <a:blipFill rotWithShape="1">
                <a:blip r:embed="rId6"/>
                <a:stretch>
                  <a:fillRect l="-38" t="-176" r="38" b="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本框 78"/>
              <p:cNvSpPr txBox="1"/>
              <p:nvPr/>
            </p:nvSpPr>
            <p:spPr>
              <a:xfrm>
                <a:off x="9926320" y="4627245"/>
                <a:ext cx="1339215" cy="48133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800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𝑆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𝐾𝑉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’, 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𝑄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𝑆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𝐾𝑉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, 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𝑄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e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  </m:t>
                              </m:r>
                              <m:sSub>
                                <m:sSubPr>
                                  <m:ctrlPr>
                                    <a:rPr lang="en-US" altLang="zh-CN" sz="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charset="0"/>
                                      <a:ea typeface="MS Mincho" charset="0"/>
                                      <a:cs typeface="Cambria Math" panose="02040503050406030204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=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𝑆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𝐾𝑉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, 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𝐾𝑉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’</m:t>
                              </m:r>
                              <m:r>
                                <a:rPr lang="en-US" altLang="zh-CN" sz="800" i="1">
                                  <a:solidFill>
                                    <a:schemeClr val="tx1"/>
                                  </a:solidFill>
                                  <a:latin typeface="Cambria Math" panose="02040503050406030204" charset="0"/>
                                  <a:ea typeface="MS Mincho" charset="0"/>
                                  <a:cs typeface="Cambria Math" panose="02040503050406030204" charset="0"/>
                                </a:rPr>
                                <m:t>) 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800" i="1">
                  <a:solidFill>
                    <a:schemeClr val="tx1"/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9" name="文本框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26320" y="4627245"/>
                <a:ext cx="1339215" cy="481330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文本框 80"/>
          <p:cNvSpPr txBox="1"/>
          <p:nvPr/>
        </p:nvSpPr>
        <p:spPr>
          <a:xfrm>
            <a:off x="9926256" y="4280472"/>
            <a:ext cx="778510" cy="2139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800" i="1">
                <a:solidFill>
                  <a:schemeClr val="tx1"/>
                </a:solidFill>
                <a:latin typeface="Cambria Math" panose="02040503050406030204" charset="0"/>
                <a:ea typeface="MS Mincho" charset="0"/>
                <a:cs typeface="Cambria Math" panose="02040503050406030204" charset="0"/>
              </a:rPr>
              <a:t>①</a:t>
            </a:r>
            <a:r>
              <a:rPr lang="en-US" altLang="zh-CN" sz="800" i="1">
                <a:solidFill>
                  <a:schemeClr val="tx1"/>
                </a:solidFill>
                <a:latin typeface="Cambria Math" panose="02040503050406030204" charset="0"/>
                <a:ea typeface="MS Mincho" charset="0"/>
                <a:cs typeface="Cambria Math" panose="02040503050406030204" charset="0"/>
              </a:rPr>
              <a:t> Prefill(KV)</a:t>
            </a:r>
            <a:endParaRPr lang="en-US" altLang="zh-CN" sz="800" i="1">
              <a:solidFill>
                <a:schemeClr val="tx1"/>
              </a:solidFill>
              <a:latin typeface="Cambria Math" panose="02040503050406030204" charset="0"/>
              <a:ea typeface="MS Mincho" charset="0"/>
              <a:cs typeface="Cambria Math" panose="0204050305040603020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10633646" y="4280472"/>
            <a:ext cx="838200" cy="2139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zh-CN" altLang="en-US" sz="800" i="1">
                <a:solidFill>
                  <a:schemeClr val="tx1"/>
                </a:solidFill>
                <a:latin typeface="Cambria Math" panose="02040503050406030204" charset="0"/>
                <a:ea typeface="MS Mincho" charset="0"/>
                <a:cs typeface="Cambria Math" panose="02040503050406030204" charset="0"/>
              </a:rPr>
              <a:t>②</a:t>
            </a:r>
            <a:r>
              <a:rPr lang="en-US" altLang="zh-CN" sz="800" i="1">
                <a:solidFill>
                  <a:schemeClr val="tx1"/>
                </a:solidFill>
                <a:latin typeface="Cambria Math" panose="02040503050406030204" charset="0"/>
                <a:ea typeface="MS Mincho" charset="0"/>
                <a:cs typeface="Cambria Math" panose="02040503050406030204" charset="0"/>
              </a:rPr>
              <a:t> Decode(KV)</a:t>
            </a:r>
            <a:endParaRPr lang="en-US" altLang="zh-CN" sz="800" i="1">
              <a:solidFill>
                <a:schemeClr val="tx1"/>
              </a:solidFill>
              <a:latin typeface="Cambria Math" panose="02040503050406030204" charset="0"/>
              <a:ea typeface="MS Mincho" charset="0"/>
              <a:cs typeface="Cambria Math" panose="02040503050406030204" charset="0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10350500" y="3992880"/>
            <a:ext cx="61722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Two stage Fix</a:t>
            </a:r>
            <a:endParaRPr lang="en-US" altLang="zh-CN" sz="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84" name="肘形连接符 83"/>
          <p:cNvCxnSpPr>
            <a:stCxn id="83" idx="1"/>
            <a:endCxn id="81" idx="0"/>
          </p:cNvCxnSpPr>
          <p:nvPr/>
        </p:nvCxnSpPr>
        <p:spPr>
          <a:xfrm rot="10800000" flipV="1">
            <a:off x="10315575" y="4130675"/>
            <a:ext cx="34925" cy="1498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5" name="肘形连接符 84"/>
          <p:cNvCxnSpPr>
            <a:stCxn id="83" idx="3"/>
            <a:endCxn id="82" idx="0"/>
          </p:cNvCxnSpPr>
          <p:nvPr/>
        </p:nvCxnSpPr>
        <p:spPr>
          <a:xfrm>
            <a:off x="10967720" y="4130675"/>
            <a:ext cx="85090" cy="14986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6" name="文本框 85"/>
          <p:cNvSpPr txBox="1"/>
          <p:nvPr/>
        </p:nvSpPr>
        <p:spPr>
          <a:xfrm>
            <a:off x="6948805" y="3241675"/>
            <a:ext cx="99314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9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Candidates</a:t>
            </a:r>
            <a:endParaRPr lang="en-US" sz="9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idx="15"/>
          </p:nvPr>
        </p:nvSpPr>
        <p:spPr>
          <a:xfrm>
            <a:off x="1436370" y="1943735"/>
            <a:ext cx="8903335" cy="399415"/>
          </a:xfrm>
        </p:spPr>
        <p:txBody>
          <a:bodyPr/>
          <a:p>
            <a:pPr algn="ctr"/>
            <a:r>
              <a:t>欢迎共建</a:t>
            </a:r>
            <a:r>
              <a:rPr lang="en-US" altLang="zh-CN"/>
              <a:t> KV Cache</a:t>
            </a:r>
            <a:r>
              <a:t>基础设施</a:t>
            </a:r>
          </a:p>
        </p:txBody>
      </p:sp>
      <p:sp>
        <p:nvSpPr>
          <p:cNvPr id="5" name="Rectangle 4"/>
          <p:cNvSpPr/>
          <p:nvPr/>
        </p:nvSpPr>
        <p:spPr>
          <a:xfrm>
            <a:off x="367665" y="805180"/>
            <a:ext cx="11457432" cy="10972"/>
          </a:xfrm>
          <a:prstGeom prst="rect">
            <a:avLst/>
          </a:prstGeom>
          <a:solidFill>
            <a:srgbClr val="E1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3928110" y="2759075"/>
            <a:ext cx="3547745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r>
              <a:rPr lang="zh-CN" altLang="en-US" sz="9600">
                <a:latin typeface="+mj-lt"/>
                <a:ea typeface="+mj-lt"/>
              </a:rPr>
              <a:t>Thanks!</a:t>
            </a:r>
            <a:endParaRPr lang="zh-CN" altLang="en-US" sz="9600">
              <a:latin typeface="+mj-lt"/>
              <a:ea typeface="+mj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DIAGRAM_VIRTUALLY_FRAME" val="{&quot;height&quot;:216.15,&quot;left&quot;:32.85,&quot;top&quot;:189.85,&quot;width&quot;:689.75}"/>
</p:tagLst>
</file>

<file path=ppt/tags/tag48.xml><?xml version="1.0" encoding="utf-8"?>
<p:tagLst xmlns:p="http://schemas.openxmlformats.org/presentationml/2006/main">
  <p:tag name="KSO_WM_BEAUTIFY_FLAG" val=""/>
  <p:tag name="KSO_WM_DIAGRAM_VIRTUALLY_FRAME" val="{&quot;height&quot;:216.15,&quot;left&quot;:32.85,&quot;top&quot;:189.85,&quot;width&quot;:689.75}"/>
</p:tagLst>
</file>

<file path=ppt/tags/tag49.xml><?xml version="1.0" encoding="utf-8"?>
<p:tagLst xmlns:p="http://schemas.openxmlformats.org/presentationml/2006/main">
  <p:tag name="KSO_WM_BEAUTIFY_FLAG" val=""/>
  <p:tag name="KSO_WM_DIAGRAM_VIRTUALLY_FRAME" val="{&quot;height&quot;:216.15,&quot;left&quot;:32.85,&quot;top&quot;:189.85,&quot;width&quot;:689.75}"/>
</p:tagLst>
</file>

<file path=ppt/tags/tag50.xml><?xml version="1.0" encoding="utf-8"?>
<p:tagLst xmlns:p="http://schemas.openxmlformats.org/presentationml/2006/main">
  <p:tag name="KSO_WM_DIAGRAM_VIRTUALLY_FRAME" val="{&quot;height&quot;:216.15,&quot;left&quot;:32.85,&quot;top&quot;:189.85,&quot;width&quot;:689.75}"/>
</p:tagLst>
</file>

<file path=ppt/tags/tag51.xml><?xml version="1.0" encoding="utf-8"?>
<p:tagLst xmlns:p="http://schemas.openxmlformats.org/presentationml/2006/main">
  <p:tag name="KSO_WM_BEAUTIFY_FLAG" val=""/>
  <p:tag name="KSO_WM_DIAGRAM_VIRTUALLY_FRAME" val="{&quot;height&quot;:216.15,&quot;left&quot;:32.85,&quot;top&quot;:189.85,&quot;width&quot;:689.75}"/>
</p:tagLst>
</file>

<file path=ppt/tags/tag52.xml><?xml version="1.0" encoding="utf-8"?>
<p:tagLst xmlns:p="http://schemas.openxmlformats.org/presentationml/2006/main">
  <p:tag name="KSO_WM_BEAUTIFY_FLAG" val=""/>
  <p:tag name="KSO_WM_DIAGRAM_VIRTUALLY_FRAME" val="{&quot;height&quot;:216.15,&quot;left&quot;:32.85,&quot;top&quot;:189.85,&quot;width&quot;:689.75}"/>
</p:tagLst>
</file>

<file path=ppt/tags/tag53.xml><?xml version="1.0" encoding="utf-8"?>
<p:tagLst xmlns:p="http://schemas.openxmlformats.org/presentationml/2006/main">
  <p:tag name="KSO_WM_DIAGRAM_VIRTUALLY_FRAME" val="{&quot;height&quot;:216.15,&quot;left&quot;:32.85,&quot;top&quot;:189.85,&quot;width&quot;:689.75}"/>
</p:tagLst>
</file>

<file path=ppt/tags/tag54.xml><?xml version="1.0" encoding="utf-8"?>
<p:tagLst xmlns:p="http://schemas.openxmlformats.org/presentationml/2006/main">
  <p:tag name="KSO_WM_BEAUTIFY_FLAG" val=""/>
  <p:tag name="KSO_WM_DIAGRAM_VIRTUALLY_FRAME" val="{&quot;height&quot;:216.15,&quot;left&quot;:32.85,&quot;top&quot;:189.85,&quot;width&quot;:689.75}"/>
</p:tagLst>
</file>

<file path=ppt/tags/tag55.xml><?xml version="1.0" encoding="utf-8"?>
<p:tagLst xmlns:p="http://schemas.openxmlformats.org/presentationml/2006/main">
  <p:tag name="KSO_WM_BEAUTIFY_FLAG" val=""/>
  <p:tag name="KSO_WM_DIAGRAM_VIRTUALLY_FRAME" val="{&quot;height&quot;:216.15,&quot;left&quot;:32.85,&quot;top&quot;:189.85,&quot;width&quot;:689.75}"/>
</p:tagLst>
</file>

<file path=ppt/tags/tag56.xml><?xml version="1.0" encoding="utf-8"?>
<p:tagLst xmlns:p="http://schemas.openxmlformats.org/presentationml/2006/main">
  <p:tag name="KSO_WM_BEAUTIFY_FLAG" val=""/>
  <p:tag name="KSO_WM_DIAGRAM_VIRTUALLY_FRAME" val="{&quot;height&quot;:216.15,&quot;left&quot;:32.85,&quot;top&quot;:189.85,&quot;width&quot;:689.75}"/>
</p:tagLst>
</file>

<file path=ppt/tags/tag57.xml><?xml version="1.0" encoding="utf-8"?>
<p:tagLst xmlns:p="http://schemas.openxmlformats.org/presentationml/2006/main">
  <p:tag name="KSO_WM_BEAUTIFY_FLAG" val=""/>
  <p:tag name="KSO_WM_DIAGRAM_VIRTUALLY_FRAME" val="{&quot;height&quot;:216.15,&quot;left&quot;:32.85,&quot;top&quot;:189.85,&quot;width&quot;:689.75}"/>
</p:tagLst>
</file>

<file path=ppt/tags/tag58.xml><?xml version="1.0" encoding="utf-8"?>
<p:tagLst xmlns:p="http://schemas.openxmlformats.org/presentationml/2006/main">
  <p:tag name="KSO_WM_BEAUTIFY_FLAG" val=""/>
  <p:tag name="KSO_WM_DIAGRAM_VIRTUALLY_FRAME" val="{&quot;height&quot;:216.15,&quot;left&quot;:32.85,&quot;top&quot;:189.85,&quot;width&quot;:689.75}"/>
</p:tagLst>
</file>

<file path=ppt/tags/tag59.xml><?xml version="1.0" encoding="utf-8"?>
<p:tagLst xmlns:p="http://schemas.openxmlformats.org/presentationml/2006/main">
  <p:tag name="COMMONDATA" val="eyJoZGlkIjoiYzFkMzZlZGMwYWUyOWM3ZjMwYWJhNDI1OTFhYzRhMTcifQ=="/>
</p:tagLst>
</file>

<file path=ppt/theme/theme1.xml><?xml version="1.0" encoding="utf-8"?>
<a:theme xmlns:a="http://schemas.openxmlformats.org/drawingml/2006/main" name="GOSIM-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 sz="2400">
            <a:solidFill>
              <a:schemeClr val="bg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9149</Words>
  <Application>WPS 演示</Application>
  <PresentationFormat>宽屏</PresentationFormat>
  <Paragraphs>938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5" baseType="lpstr">
      <vt:lpstr>Arial</vt:lpstr>
      <vt:lpstr>宋体</vt:lpstr>
      <vt:lpstr>Wingdings</vt:lpstr>
      <vt:lpstr>思源黑体 CN</vt:lpstr>
      <vt:lpstr>黑体</vt:lpstr>
      <vt:lpstr>Source Han Sans SC</vt:lpstr>
      <vt:lpstr>Yu Gothic UI Semilight</vt:lpstr>
      <vt:lpstr>微软雅黑</vt:lpstr>
      <vt:lpstr>Source Han Sans CN Bold</vt:lpstr>
      <vt:lpstr>Arial Regular</vt:lpstr>
      <vt:lpstr>Microsoft YaHei Bold</vt:lpstr>
      <vt:lpstr>Source Han Sans CN</vt:lpstr>
      <vt:lpstr>Arial Unicode MS</vt:lpstr>
      <vt:lpstr>Cambria Math</vt:lpstr>
      <vt:lpstr>MS Mincho</vt:lpstr>
      <vt:lpstr>Segoe Print</vt:lpstr>
      <vt:lpstr>KSOF1F13A434</vt:lpstr>
      <vt:lpstr>MS PGothic</vt:lpstr>
      <vt:lpstr>思源黑体 CN</vt:lpstr>
      <vt:lpstr>GOSIM-默认</vt:lpstr>
      <vt:lpstr>PowerPoint 演示文稿</vt:lpstr>
      <vt:lpstr>PowerPoint 演示文稿</vt:lpstr>
      <vt:lpstr>PowerPoint 演示文稿</vt:lpstr>
      <vt:lpstr>01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03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旭 张</dc:creator>
  <cp:lastModifiedBy>一个王胖子@lohas</cp:lastModifiedBy>
  <cp:revision>399</cp:revision>
  <dcterms:created xsi:type="dcterms:W3CDTF">2026-08-17T10:01:00Z</dcterms:created>
  <dcterms:modified xsi:type="dcterms:W3CDTF">2026-10-17T01:11:44Z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8D28AD5E08B6D7AE20CF826A5EE4915C_43</vt:lpwstr>
  </property>
  <property fmtid="{D5CDD505-2E9C-101B-9397-08002B2CF9AE}" pid="3" name="KSOProductBuildVer">
    <vt:lpwstr>2052-12.1.0.29161</vt:lpwstr>
  </property>
</Properties>
</file>