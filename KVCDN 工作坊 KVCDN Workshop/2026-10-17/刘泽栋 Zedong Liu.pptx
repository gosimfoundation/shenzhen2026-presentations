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2"/>
    <p:sldMasterId id="2147483659" r:id="rId3"/>
    <p:sldMasterId id="2147483660" r:id="rId4"/>
    <p:sldMasterId id="2147483661" r:id="rId5"/>
    <p:sldMasterId id="2147483662" r:id="rId6"/>
    <p:sldMasterId id="2147483663" r:id="rId7"/>
    <p:sldMasterId id="2147483664" r:id="rId8"/>
    <p:sldMasterId id="2147483665" r:id="rId9"/>
    <p:sldMasterId id="2147483667" r:id="rId10"/>
  </p:sldMasterIdLst>
  <p:notesMasterIdLst>
    <p:notesMasterId r:id="rId43"/>
  </p:notesMasterIdLst>
  <p:handoutMasterIdLst>
    <p:handoutMasterId r:id="rId44"/>
  </p:handoutMasterIdLst>
  <p:sldIdLst>
    <p:sldId id="1001" r:id="rId11"/>
    <p:sldId id="1002" r:id="rId12"/>
    <p:sldId id="1003" r:id="rId13"/>
    <p:sldId id="1005" r:id="rId14"/>
    <p:sldId id="1029" r:id="rId15"/>
    <p:sldId id="1030" r:id="rId16"/>
    <p:sldId id="258" r:id="rId17"/>
    <p:sldId id="1007" r:id="rId18"/>
    <p:sldId id="1008" r:id="rId19"/>
    <p:sldId id="1009" r:id="rId20"/>
    <p:sldId id="1031" r:id="rId21"/>
    <p:sldId id="1010" r:id="rId22"/>
    <p:sldId id="1032" r:id="rId23"/>
    <p:sldId id="1011" r:id="rId24"/>
    <p:sldId id="1012" r:id="rId25"/>
    <p:sldId id="1013" r:id="rId26"/>
    <p:sldId id="1014" r:id="rId27"/>
    <p:sldId id="1015" r:id="rId28"/>
    <p:sldId id="1016" r:id="rId29"/>
    <p:sldId id="1017" r:id="rId30"/>
    <p:sldId id="1018" r:id="rId31"/>
    <p:sldId id="1019" r:id="rId32"/>
    <p:sldId id="1033" r:id="rId33"/>
    <p:sldId id="1020" r:id="rId34"/>
    <p:sldId id="1021" r:id="rId35"/>
    <p:sldId id="1022" r:id="rId36"/>
    <p:sldId id="1023" r:id="rId37"/>
    <p:sldId id="1024" r:id="rId38"/>
    <p:sldId id="1025" r:id="rId39"/>
    <p:sldId id="1026" r:id="rId40"/>
    <p:sldId id="1027" r:id="rId41"/>
    <p:sldId id="1028" r:id="rId42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4F"/>
    <a:srgbClr val="30AD80"/>
    <a:srgbClr val="FFFFFF"/>
    <a:srgbClr val="0A2540"/>
    <a:srgbClr val="FFF001"/>
    <a:srgbClr val="FFDA00"/>
    <a:srgbClr val="30AE82"/>
    <a:srgbClr val="FFF100"/>
    <a:srgbClr val="2B6CF1"/>
    <a:srgbClr val="79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5"/>
    <p:restoredTop sz="94690"/>
  </p:normalViewPr>
  <p:slideViewPr>
    <p:cSldViewPr snapToGrid="0" showGuides="1">
      <p:cViewPr varScale="1">
        <p:scale>
          <a:sx n="103" d="100"/>
          <a:sy n="103" d="100"/>
        </p:scale>
        <p:origin x="184" y="3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commentAuthors" Target="commentAuthor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  <a:t>2026/10/17</a:t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  <a:t>‹#›</a:t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  <a:t>2026/10/17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3.jpe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9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11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8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7.png"/><Relationship Id="rId5" Type="http://schemas.openxmlformats.org/officeDocument/2006/relationships/tags" Target="../tags/tag13.xml"/><Relationship Id="rId10" Type="http://schemas.openxmlformats.org/officeDocument/2006/relationships/image" Target="../media/image4.png"/><Relationship Id="rId4" Type="http://schemas.openxmlformats.org/officeDocument/2006/relationships/tags" Target="../tags/tag12.xml"/><Relationship Id="rId9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7.xml"/><Relationship Id="rId7" Type="http://schemas.openxmlformats.org/officeDocument/2006/relationships/image" Target="../media/image3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2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8.png"/><Relationship Id="rId5" Type="http://schemas.openxmlformats.org/officeDocument/2006/relationships/tags" Target="../tags/tag24.xml"/><Relationship Id="rId10" Type="http://schemas.openxmlformats.org/officeDocument/2006/relationships/image" Target="../media/image4.png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2.png"/><Relationship Id="rId5" Type="http://schemas.openxmlformats.org/officeDocument/2006/relationships/tags" Target="../tags/tag32.xml"/><Relationship Id="rId10" Type="http://schemas.openxmlformats.org/officeDocument/2006/relationships/image" Target="../media/image8.png"/><Relationship Id="rId4" Type="http://schemas.openxmlformats.org/officeDocument/2006/relationships/tags" Target="../tags/tag31.xml"/><Relationship Id="rId9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image" Target="../media/image2.pn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image" Target="../media/image8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4.png"/><Relationship Id="rId5" Type="http://schemas.openxmlformats.org/officeDocument/2006/relationships/tags" Target="../tags/tag3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6.xml"/><Relationship Id="rId7" Type="http://schemas.openxmlformats.org/officeDocument/2006/relationships/image" Target="../media/image2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组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1.jpgGOSIM-Shenzhen-2026KV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3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4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dirty="0" err="1"/>
              <a:t>姓名</a:t>
            </a:r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GOSIM-Shenzhen-2026KV.jpgGOSIM-Shenzhen-2026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CONTENTS_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0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1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8" name="图片 7" descr="/Users/enson/Downloads/组 2.png组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GOSIM-Shenzhen-2026KV1.jpgGOSIM-Shenzhen-2026KV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Source Han Sans CN Bold" panose="020B0800000000000000" charset="-122"/>
                <a:ea typeface="Source Han Sans CN Bold" panose="020B0800000000000000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1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2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3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1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11" name="标题 9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endParaRPr lang="zh-CN" altLang="en-US" dirty="0"/>
          </a:p>
        </p:txBody>
      </p:sp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2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1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2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3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r>
              <a:rPr lang="zh-CN" altLang="en-US" dirty="0"/>
              <a:t>单击此处添加内容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3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4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6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8" name="图片 12" descr="/Users/enson/Downloads/组 3.png组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3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12" descr="/Users/enson/Downloads/组 3.png组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F037F-1137-374E-6D0F-CC3D99F2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F486C9-3DA4-5CC9-7E6C-954396E78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284392-40F1-4DC9-8B6A-B032691E6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19F74EC1-C956-45F2-BD63-B67CD4EF6957}" type="datetime1">
              <a:rPr lang="zh-CN" altLang="en-US" sz="1200" b="0" i="0" u="none" cap="none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/>
                <a:ea typeface="Arial"/>
                <a:cs typeface="Arial"/>
              </a:rPr>
              <a:t>2026/10/17</a:t>
            </a:fld>
            <a:endParaRPr sz="1200" b="0" i="0" u="none" cap="none">
              <a:ln>
                <a:noFill/>
              </a:ln>
              <a:solidFill>
                <a:prstClr val="black">
                  <a:tint val="7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5B98F3-FC4C-4F70-88B8-8350282BAB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BD2338-858A-4273-B56D-E31006714D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24951" y="6356351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9ADA83D-DF77-AA76-6DA0-7A70CD7A4D20}" type="slidenum">
              <a:rPr sz="1200" b="0" i="0" u="none" cap="none">
                <a:ln>
                  <a:noFill/>
                </a:ln>
                <a:solidFill>
                  <a:prstClr val="white">
                    <a:lumMod val="75000"/>
                  </a:prst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i="0" u="none" cap="none">
              <a:ln>
                <a:noFill/>
              </a:ln>
              <a:solidFill>
                <a:prstClr val="white">
                  <a:lumMod val="7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8BFF07C9-2653-4CEB-AB1B-9E97B4E2B3E9}"/>
              </a:ext>
            </a:extLst>
          </p:cNvPr>
          <p:cNvSpPr>
            <a:spLocks noGrp="1"/>
          </p:cNvSpPr>
          <p:nvPr/>
        </p:nvSpPr>
        <p:spPr>
          <a:xfrm>
            <a:off x="11811000" y="6538913"/>
            <a:ext cx="548341" cy="365125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69ADA83D-DF77-AA76-6DA0-7A70CD7A4D20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847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E8B06-551E-4C4F-9A27-83CC5D09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5160E1-0073-450A-BC9E-B23458641B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B75377A-337C-4589-9291-A3927D5394F6}" type="datetime1">
              <a:rPr lang="zh-CN" altLang="en-US" sz="1200" b="0" i="0" u="none" cap="none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/>
                <a:ea typeface="Arial"/>
                <a:cs typeface="Arial"/>
              </a:rPr>
              <a:t>2026/10/17</a:t>
            </a:fld>
            <a:endParaRPr sz="1200" b="0" i="0" u="none" cap="none">
              <a:ln>
                <a:noFill/>
              </a:ln>
              <a:solidFill>
                <a:prstClr val="black">
                  <a:tint val="7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FD5ED5-E68C-4249-AAA1-3E10D73B76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47BD4E-6932-41C0-BF81-524737223B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9ADA83D-DF77-AA76-6DA0-7A70CD7A4D20}" type="slidenum">
              <a:rPr sz="1200" b="0" i="0" u="none" cap="none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i="0" u="none" cap="none">
              <a:ln>
                <a:noFill/>
              </a:ln>
              <a:solidFill>
                <a:prstClr val="black">
                  <a:tint val="7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95FBD79B-475F-41E8-BB61-B6E7A3674AFE}"/>
              </a:ext>
            </a:extLst>
          </p:cNvPr>
          <p:cNvSpPr>
            <a:spLocks noGrp="1"/>
          </p:cNvSpPr>
          <p:nvPr/>
        </p:nvSpPr>
        <p:spPr>
          <a:xfrm>
            <a:off x="11811000" y="6538913"/>
            <a:ext cx="548341" cy="365125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69ADA83D-DF77-AA76-6DA0-7A70CD7A4D20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1651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938A4-0D86-4B21-B60B-00DDB7CB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856251-9907-4AEF-B655-33C73A0BDD7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EB795-B0B1-4E3C-95ED-1C5D507D53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E3C7875-6DC7-4D0A-A3D6-9283910ED7D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2026/10/17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B2A1E7-4889-40B6-B0EB-DCFA81B863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9A403-F2DE-4951-8943-9CD62DF533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30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44F444-70F4-4C8E-9782-067B784F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0FEAD-EE0D-44CD-BDCF-D7AE39ABE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4822C-8EDF-4F12-889C-338BB08AE4C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2C0719C-930D-4417-B430-E850DD0AD9FC}" type="datetime1">
              <a:rPr lang="zh-CN" altLang="en-US" sz="1200" b="0" i="0" u="none" cap="none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/>
                <a:ea typeface="Arial"/>
                <a:cs typeface="Arial"/>
              </a:rPr>
              <a:t>2026/10/17</a:t>
            </a:fld>
            <a:endParaRPr sz="1200" b="0" i="0" u="none" cap="none">
              <a:ln>
                <a:noFill/>
              </a:ln>
              <a:solidFill>
                <a:prstClr val="black">
                  <a:tint val="7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4FDFA6-D39C-439E-BB78-AC5599DC9B9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487090-5FB2-4B87-A45F-2A069AEE900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9ADA83D-DF77-AA76-6DA0-7A70CD7A4D20}" type="slidenum">
              <a:rPr sz="1200" b="0" i="0" u="none" cap="none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i="0" u="none" cap="none">
              <a:ln>
                <a:noFill/>
              </a:ln>
              <a:solidFill>
                <a:prstClr val="black">
                  <a:tint val="75000"/>
                </a:prstClr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67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sldNum="0"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image" Target="../media/image33.png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5"/>
          </p:nvPr>
        </p:nvSpPr>
        <p:spPr>
          <a:xfrm>
            <a:off x="405129" y="1725122"/>
            <a:ext cx="8556625" cy="2002155"/>
          </a:xfrm>
        </p:spPr>
        <p:txBody>
          <a:bodyPr/>
          <a:lstStyle/>
          <a:p>
            <a:r>
              <a:rPr lang="zh-CN" altLang="en-US" sz="3000" b="1" dirty="0">
                <a:solidFill>
                  <a:srgbClr val="FFFFFF"/>
                </a:solidFill>
                <a:effectLst>
                  <a:outerShdw blurRad="40000" dist="25400" dir="2700000" algn="tl">
                    <a:srgbClr val="000000">
                      <a:alpha val="5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压缩率之上：</a:t>
            </a:r>
            <a:br>
              <a:rPr lang="en-US" altLang="zh-CN" sz="3000" b="1" dirty="0">
                <a:solidFill>
                  <a:srgbClr val="FFFFFF"/>
                </a:solidFill>
                <a:effectLst>
                  <a:outerShdw blurRad="40000" dist="25400" dir="2700000" algn="tl">
                    <a:srgbClr val="000000">
                      <a:alpha val="5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</a:br>
            <a:r>
              <a:rPr lang="zh-CN" altLang="en-US" sz="3000" b="1" dirty="0">
                <a:solidFill>
                  <a:srgbClr val="FFFFFF"/>
                </a:solidFill>
                <a:effectLst>
                  <a:outerShdw blurRad="40000" dist="25400" dir="2700000" algn="tl">
                    <a:srgbClr val="000000">
                      <a:alpha val="5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面向分布式 LLM 推理的服务感知 KV Cache 压缩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405129" y="3536589"/>
            <a:ext cx="8556625" cy="798830"/>
          </a:xfrm>
        </p:spPr>
        <p:txBody>
          <a:bodyPr/>
          <a:lstStyle/>
          <a:p>
            <a:r>
              <a:rPr lang="zh-CN" altLang="en-US" sz="1800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报告人：刘泽栋　｜　中国科学院计算技术研究所 · 高性能计算机研究中心</a:t>
            </a:r>
          </a:p>
          <a:p>
            <a:r>
              <a:rPr lang="zh-CN" altLang="en-US" sz="1800" b="0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GOSIM Shenzhen 2026 · 深圳 · 10 月 17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/>
        </p:nvGrpSpPr>
        <p:grpSpPr>
          <a:xfrm>
            <a:off x="417195" y="2411095"/>
            <a:ext cx="1727835" cy="504190"/>
            <a:chOff x="657" y="7220"/>
            <a:chExt cx="2721" cy="794"/>
          </a:xfrm>
        </p:grpSpPr>
        <p:sp>
          <p:nvSpPr>
            <p:cNvPr id="65" name="矩形 64"/>
            <p:cNvSpPr/>
            <p:nvPr userDrawn="1">
              <p:custDataLst>
                <p:tags r:id="rId11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6" name="单圆角矩形 65"/>
            <p:cNvSpPr/>
            <p:nvPr userDrawn="1">
              <p:custDataLst>
                <p:tags r:id="rId12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7195" y="3157855"/>
            <a:ext cx="1727835" cy="504190"/>
            <a:chOff x="657" y="7220"/>
            <a:chExt cx="2721" cy="794"/>
          </a:xfrm>
        </p:grpSpPr>
        <p:sp>
          <p:nvSpPr>
            <p:cNvPr id="15" name="矩形 14"/>
            <p:cNvSpPr/>
            <p:nvPr userDrawn="1">
              <p:custDataLst>
                <p:tags r:id="rId9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15"/>
            <p:cNvSpPr/>
            <p:nvPr userDrawn="1">
              <p:custDataLst>
                <p:tags r:id="rId10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17195" y="3904615"/>
            <a:ext cx="1727835" cy="504190"/>
            <a:chOff x="657" y="7220"/>
            <a:chExt cx="2721" cy="794"/>
          </a:xfrm>
        </p:grpSpPr>
        <p:sp>
          <p:nvSpPr>
            <p:cNvPr id="18" name="矩形 17"/>
            <p:cNvSpPr/>
            <p:nvPr userDrawn="1">
              <p:custDataLst>
                <p:tags r:id="rId7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9" name="单圆角矩形 18"/>
            <p:cNvSpPr/>
            <p:nvPr userDrawn="1">
              <p:custDataLst>
                <p:tags r:id="rId8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 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7195" y="4651375"/>
            <a:ext cx="1727835" cy="504190"/>
            <a:chOff x="657" y="7220"/>
            <a:chExt cx="2721" cy="794"/>
          </a:xfrm>
        </p:grpSpPr>
        <p:sp>
          <p:nvSpPr>
            <p:cNvPr id="21" name="矩形 20"/>
            <p:cNvSpPr/>
            <p:nvPr userDrawn="1">
              <p:custDataLst>
                <p:tags r:id="rId5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22" name="单圆角矩形 21"/>
            <p:cNvSpPr/>
            <p:nvPr userDrawn="1">
              <p:custDataLst>
                <p:tags r:id="rId6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04 </a:t>
              </a:r>
            </a:p>
          </p:txBody>
        </p:sp>
      </p:grpSp>
      <p:sp>
        <p:nvSpPr>
          <p:cNvPr id="7" name="文本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494280" y="243332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lang="zh-CN" altLang="en-US" sz="2000" b="1" dirty="0">
                <a:solidFill>
                  <a:srgbClr val="FFFFFF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  <a:sym typeface="+mn-ea"/>
              </a:rPr>
              <a:t>Agent 带来的</a:t>
            </a:r>
            <a:r>
              <a:rPr lang="en-US" altLang="zh-CN" sz="2000" b="1" dirty="0">
                <a:solidFill>
                  <a:srgbClr val="FFFFFF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  <a:sym typeface="+mn-ea"/>
              </a:rPr>
              <a:t>KV</a:t>
            </a:r>
            <a:r>
              <a:rPr lang="zh-CN" altLang="en-US" sz="2000" b="1" dirty="0">
                <a:solidFill>
                  <a:srgbClr val="FFFFFF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  <a:sym typeface="+mn-ea"/>
              </a:rPr>
              <a:t>缓存与传输压力</a:t>
            </a:r>
          </a:p>
        </p:txBody>
      </p:sp>
      <p:sp>
        <p:nvSpPr>
          <p:cNvPr id="29" name="文本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494280" y="39331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lang="zh-CN" altLang="en-US" sz="2000" b="1" dirty="0">
                <a:solidFill>
                  <a:srgbClr val="FFFFFF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  <a:sym typeface="+mn-ea"/>
              </a:rPr>
              <a:t>从论文到工程落地的拓展</a:t>
            </a:r>
          </a:p>
        </p:txBody>
      </p:sp>
      <p:sp>
        <p:nvSpPr>
          <p:cNvPr id="30" name="文本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494280" y="318325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lang="zh-CN" altLang="en-US" sz="2000" b="1" dirty="0">
                <a:solidFill>
                  <a:srgbClr val="FFFFFF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  <a:sym typeface="+mn-ea"/>
              </a:rPr>
              <a:t>KVServe：核心设计与收益</a:t>
            </a:r>
          </a:p>
        </p:txBody>
      </p:sp>
      <p:sp>
        <p:nvSpPr>
          <p:cNvPr id="32" name="文本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494280" y="4683125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lang="zh-CN" altLang="en-US" sz="2000" b="1" dirty="0">
                <a:solidFill>
                  <a:srgbClr val="FFFFFF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  <a:sym typeface="+mn-ea"/>
              </a:rPr>
              <a:t>社区共建：欢迎参与贡献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7200" b="1">
                <a:solidFill>
                  <a:srgbClr val="FFFFFF"/>
                </a:solidFill>
                <a:effectLst>
                  <a:outerShdw blurRad="40000" dist="25400" dir="2700000" algn="tl">
                    <a:srgbClr val="000000">
                      <a:alpha val="5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01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2039664" y="2485262"/>
            <a:ext cx="8887193" cy="860046"/>
          </a:xfrm>
        </p:spPr>
        <p:txBody>
          <a:bodyPr/>
          <a:lstStyle/>
          <a:p>
            <a:r>
              <a:rPr lang="zh-CN" altLang="en-US" sz="2000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「</a:t>
            </a:r>
            <a:r>
              <a:rPr lang="zh-CN" altLang="en-US" sz="2000" b="1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Agent 带来的缓存问题 </a:t>
            </a:r>
            <a:r>
              <a:rPr lang="zh-CN" altLang="en-US" sz="2000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」</a:t>
            </a:r>
            <a:endParaRPr lang="zh-CN" altLang="en-US" sz="2000" b="1" dirty="0">
              <a:effectLst>
                <a:outerShdw blurRad="38100" dist="25400" dir="2700000" algn="tl">
                  <a:srgbClr val="000000">
                    <a:alpha val="70000"/>
                  </a:srgbClr>
                </a:outerShdw>
              </a:effectLst>
              <a:latin typeface="思源黑体 CN"/>
              <a:ea typeface="思源黑体 CN"/>
              <a:cs typeface="思源黑体 CN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E7A8192-CD0F-7311-3A48-318755E261A1}"/>
              </a:ext>
            </a:extLst>
          </p:cNvPr>
          <p:cNvGrpSpPr/>
          <p:nvPr/>
        </p:nvGrpSpPr>
        <p:grpSpPr>
          <a:xfrm>
            <a:off x="417195" y="2411095"/>
            <a:ext cx="1727835" cy="504190"/>
            <a:chOff x="657" y="7220"/>
            <a:chExt cx="2721" cy="79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FD57DB9-48AC-0E80-91CF-CB4298A16D00}"/>
                </a:ext>
              </a:extLst>
            </p:cNvPr>
            <p:cNvSpPr/>
            <p:nvPr userDrawn="1">
              <p:custDataLst>
                <p:tags r:id="rId1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" name="单圆角矩形 5">
              <a:extLst>
                <a:ext uri="{FF2B5EF4-FFF2-40B4-BE49-F238E27FC236}">
                  <a16:creationId xmlns:a16="http://schemas.microsoft.com/office/drawing/2014/main" id="{BBBFF523-D7BD-C276-1029-D406F4C04D60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430000" y="270000"/>
            <a:ext cx="11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Agent 负载画像：长前缀、高复用、小增量</a:t>
            </a:r>
          </a:p>
        </p:txBody>
      </p:sp>
      <p:sp>
        <p:nvSpPr>
          <p:cNvPr id="12" name="tb"/>
          <p:cNvSpPr txBox="1"/>
          <p:nvPr/>
        </p:nvSpPr>
        <p:spPr>
          <a:xfrm>
            <a:off x="430000" y="860000"/>
            <a:ext cx="11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高复用说明KV 值得存下来；显存装不下，就只能分布式分层存放 —— 我们要压缩的不只是比特数，更是这条保存与搬运的链路。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数据来源：vLLM × AgentX 编码会话分析（2026-09，393 会话，中位 43 轮）· DualPath 生产 Agent 负载（arXiv:2602.21548，均值 157 轮）· vLLM Mooncake Store（2026-05）</a:t>
            </a:r>
          </a:p>
        </p:txBody>
      </p:sp>
      <p:pic>
        <p:nvPicPr>
          <p:cNvPr id="13" name="fig_ag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02" y="1338000"/>
            <a:ext cx="9907452" cy="3446429"/>
          </a:xfrm>
          <a:prstGeom prst="rect">
            <a:avLst/>
          </a:prstGeom>
        </p:spPr>
      </p:pic>
      <p:sp>
        <p:nvSpPr>
          <p:cNvPr id="14" name="tb"/>
          <p:cNvSpPr txBox="1"/>
          <p:nvPr/>
        </p:nvSpPr>
        <p:spPr>
          <a:xfrm>
            <a:off x="589714" y="5223436"/>
            <a:ext cx="3540000" cy="86000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90000" tIns="90000" rIns="90000" bIns="9000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① 长前缀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上下文只涨不落：会话中位 43 轮，输入中位 142K token；生产 Agent 负载均值 157 轮。</a:t>
            </a:r>
          </a:p>
        </p:txBody>
      </p:sp>
      <p:sp>
        <p:nvSpPr>
          <p:cNvPr id="15" name="tb"/>
          <p:cNvSpPr txBox="1"/>
          <p:nvPr/>
        </p:nvSpPr>
        <p:spPr>
          <a:xfrm>
            <a:off x="4304714" y="5223436"/>
            <a:ext cx="3540000" cy="86000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90000" tIns="90000" rIns="90000" bIns="9000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② 高复用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前缀命中 &gt;96%（生产负载 98.7%）：同一份前缀被反复复用 —— 存下来即可免去重算。</a:t>
            </a:r>
          </a:p>
        </p:txBody>
      </p:sp>
      <p:sp>
        <p:nvSpPr>
          <p:cNvPr id="16" name="tb"/>
          <p:cNvSpPr txBox="1"/>
          <p:nvPr/>
        </p:nvSpPr>
        <p:spPr>
          <a:xfrm>
            <a:off x="8019714" y="5223436"/>
            <a:ext cx="3540000" cy="86000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90000" tIns="90000" rIns="90000" bIns="9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③ 小增量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ln>
                  <a:noFill/>
                </a:ln>
                <a:solidFill>
                  <a:srgbClr val="3D4A5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每轮仅追加 ~400–450 token：保存与取用成为新的主要成本。</a:t>
            </a:r>
          </a:p>
        </p:txBody>
      </p:sp>
      <p:sp>
        <p:nvSpPr>
          <p:cNvPr id="17" name="tb"/>
          <p:cNvSpPr txBox="1"/>
          <p:nvPr/>
        </p:nvSpPr>
        <p:spPr>
          <a:xfrm>
            <a:off x="670000" y="4812214"/>
            <a:ext cx="1106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④ 会分支：44% 的会话含至少一个 subagent（这些会话平均 4 次</a:t>
            </a:r>
            <a:r>
              <a:rPr lang="zh-CN" altLang="en-US" sz="1600" b="1" dirty="0"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恢复</a:t>
            </a:r>
            <a:r>
              <a:rPr lang="zh-CN" altLang="en-US" sz="16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）—— 分支点决定要不要额外保留前缀快照。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 txBox="1"/>
          <p:nvPr/>
        </p:nvSpPr>
        <p:spPr>
          <a:xfrm>
            <a:off x="429768" y="274320"/>
            <a:ext cx="11301984" cy="557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KV 变重之后：分离式推理越分越细、越离越远</a:t>
            </a:r>
          </a:p>
        </p:txBody>
      </p:sp>
      <p:sp>
        <p:nvSpPr>
          <p:cNvPr id="3" name="tb"/>
          <p:cNvSpPr txBox="1"/>
          <p:nvPr/>
        </p:nvSpPr>
        <p:spPr>
          <a:xfrm>
            <a:off x="429768" y="859536"/>
            <a:ext cx="11704320" cy="557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6FD9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长上下文 + 多轮复用：PD 分离仍在继续细化、集群也越离越远，KV 的产生、搬运与存放同时进入关键路径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3000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1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KVServe, SIGCOMM 2026, §2.1 · </a:t>
            </a:r>
            <a:r>
              <a:rPr kumimoji="0" lang="zh-CN" altLang="en-US" sz="900" b="0" i="0" u="none" strike="noStrike" kern="1200" cap="none" spc="0" normalizeH="0" baseline="3000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2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vLLM × AgentX（2026-09） · </a:t>
            </a:r>
            <a:r>
              <a:rPr kumimoji="0" lang="zh-CN" altLang="en-US" sz="900" b="0" i="0" u="none" strike="noStrike" kern="1200" cap="none" spc="0" normalizeH="0" baseline="3000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DualPath（arXiv:2602.21548）· </a:t>
            </a:r>
            <a:r>
              <a:rPr kumimoji="0" lang="zh-CN" altLang="en-US" sz="900" b="0" i="0" u="none" strike="noStrike" kern="1200" cap="none" spc="0" normalizeH="0" baseline="3000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4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vLLM Mooncake Store（2026-05） · </a:t>
            </a:r>
            <a:r>
              <a:rPr kumimoji="0" lang="zh-CN" altLang="en-US" sz="900" b="0" i="0" u="none" strike="noStrike" kern="1200" cap="none" spc="0" normalizeH="0" baseline="3000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5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PDD（arXiv:2609.13161）· </a:t>
            </a:r>
            <a:r>
              <a:rPr kumimoji="0" lang="zh-CN" altLang="en-US" sz="900" b="0" i="0" u="none" strike="noStrike" kern="1200" cap="none" spc="0" normalizeH="0" baseline="3000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6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A8D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PrfaaS（arXiv:2604.15039）</a:t>
            </a:r>
          </a:p>
        </p:txBody>
      </p:sp>
      <p:sp>
        <p:nvSpPr>
          <p:cNvPr id="4" name="tb"/>
          <p:cNvSpPr txBox="1"/>
          <p:nvPr/>
        </p:nvSpPr>
        <p:spPr>
          <a:xfrm>
            <a:off x="402336" y="1389888"/>
            <a:ext cx="3611880" cy="157152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39903" tIns="139903" rIns="139903" bIns="139903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① 重算开销很大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KV 体量随 token 数线性增长：单会话输入中位 142K token，如果没法尽量复用前缀缓存，则需要重新 prefill 超长的序列。</a:t>
            </a:r>
          </a:p>
        </p:txBody>
      </p:sp>
      <p:sp>
        <p:nvSpPr>
          <p:cNvPr id="5" name="tb"/>
          <p:cNvSpPr txBox="1"/>
          <p:nvPr/>
        </p:nvSpPr>
        <p:spPr>
          <a:xfrm>
            <a:off x="4197096" y="1389887"/>
            <a:ext cx="3611880" cy="1571521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39903" tIns="139903" rIns="139903" bIns="139903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② </a:t>
            </a: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PD</a:t>
            </a: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分离：越分越细、越离越远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PD 分离已是标配，仍在继续细化：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PDD</a:t>
            </a:r>
            <a:r>
              <a:rPr kumimoji="0" lang="zh-CN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 把解码再拆一层、跨到第二个数据中心；两段计算越离越远 —— 从RDMA 到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跨域、跨中心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的广域网 </a:t>
            </a:r>
            <a:r>
              <a:rPr lang="en-US" altLang="zh-CN" sz="1400" dirty="0"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PrfaaS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)</a:t>
            </a:r>
            <a:r>
              <a:rPr kumimoji="0" lang="zh-CN" alt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6</a:t>
            </a:r>
            <a:r>
              <a:rPr lang="zh-CN" altLang="en-US" sz="1400" baseline="30000" dirty="0"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   </a:t>
            </a:r>
            <a:endParaRPr kumimoji="0" lang="zh-CN" altLang="en-US" sz="1400" b="0" i="0" u="none" strike="noStrike" kern="1200" cap="none" spc="0" normalizeH="0" baseline="30000" noProof="0" dirty="0">
              <a:ln>
                <a:noFill/>
              </a:ln>
              <a:solidFill>
                <a:srgbClr val="3D4A5C"/>
              </a:solidFill>
              <a:effectLst/>
              <a:uLnTx/>
              <a:uFillTx/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6" name="tb"/>
          <p:cNvSpPr txBox="1"/>
          <p:nvPr/>
        </p:nvSpPr>
        <p:spPr>
          <a:xfrm>
            <a:off x="7991856" y="1389888"/>
            <a:ext cx="3611880" cy="157152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39903" tIns="139903" rIns="139903" bIns="139903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③ 容量不足：使用分布式存储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前缀复用 &gt;96% 说明存得越多、重算越少；单机装不下，KV 只能下沉到 DRAM / SSD 与远端集群，存取与恢复随之进入</a:t>
            </a:r>
            <a:r>
              <a:rPr lang="zh-CN" altLang="en-US" sz="1400" dirty="0">
                <a:solidFill>
                  <a:srgbClr val="3D4A5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推理的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4A5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关键路径。</a:t>
            </a:r>
          </a:p>
        </p:txBody>
      </p:sp>
      <p:pic>
        <p:nvPicPr>
          <p:cNvPr id="7" name="fig_disag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9" y="3066149"/>
            <a:ext cx="11409262" cy="29323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2125" y="332105"/>
            <a:ext cx="9772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压缩需求强烈</a:t>
            </a:r>
          </a:p>
        </p:txBody>
      </p:sp>
      <p:pic>
        <p:nvPicPr>
          <p:cNvPr id="5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cxnSp>
        <p:nvCxnSpPr>
          <p:cNvPr id="1831" name="ulLong"/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/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hdr200"/>
          <p:cNvSpPr/>
          <p:nvPr/>
        </p:nvSpPr>
        <p:spPr>
          <a:xfrm>
            <a:off x="361633" y="1000000"/>
            <a:ext cx="3673493" cy="43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上下文只涨不落</a:t>
            </a:r>
          </a:p>
        </p:txBody>
      </p:sp>
      <p:sp>
        <p:nvSpPr>
          <p:cNvPr id="201" name="hdr201"/>
          <p:cNvSpPr/>
          <p:nvPr/>
        </p:nvSpPr>
        <p:spPr>
          <a:xfrm>
            <a:off x="4274494" y="1000000"/>
            <a:ext cx="3673493" cy="43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跨节点 / 跨实例搬运 KV：介质决定快慢</a:t>
            </a:r>
          </a:p>
        </p:txBody>
      </p:sp>
      <p:sp>
        <p:nvSpPr>
          <p:cNvPr id="202" name="hdr202"/>
          <p:cNvSpPr/>
          <p:nvPr/>
        </p:nvSpPr>
        <p:spPr>
          <a:xfrm>
            <a:off x="8152438" y="1000000"/>
            <a:ext cx="3673493" cy="43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传输与存储 I/O成为瓶颈</a:t>
            </a:r>
          </a:p>
        </p:txBody>
      </p:sp>
      <p:sp>
        <p:nvSpPr>
          <p:cNvPr id="220" name="tb220"/>
          <p:cNvSpPr txBox="1"/>
          <p:nvPr/>
        </p:nvSpPr>
        <p:spPr>
          <a:xfrm>
            <a:off x="361641" y="4904740"/>
            <a:ext cx="3673475" cy="12433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Agent 多轮工具调用让上下文单调增长：会话中位 43 轮、输入中位 142K token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长上下文场景中，KV Cache 成为推理的主要显存瓶颈</a:t>
            </a:r>
          </a:p>
        </p:txBody>
      </p:sp>
      <p:sp>
        <p:nvSpPr>
          <p:cNvPr id="221" name="tb221"/>
          <p:cNvSpPr txBox="1"/>
          <p:nvPr/>
        </p:nvSpPr>
        <p:spPr>
          <a:xfrm>
            <a:off x="4274503" y="4904740"/>
            <a:ext cx="3673475" cy="12433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同 DC 内是 RDMA（微秒级）；跨域 / 跨中心只剩以太网与广域网 —— 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时延高几十到上百倍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介质一换，搬运就慢到不可忽略：Mooncake Store 把 KV 池扩展到 CPU/DRAM 与磁盘分层。</a:t>
            </a:r>
          </a:p>
        </p:txBody>
      </p:sp>
      <p:sp>
        <p:nvSpPr>
          <p:cNvPr id="222" name="tb222"/>
          <p:cNvSpPr txBox="1"/>
          <p:nvPr/>
        </p:nvSpPr>
        <p:spPr>
          <a:xfrm>
            <a:off x="8152447" y="4904740"/>
            <a:ext cx="3673475" cy="12433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altLang="zh-CN" sz="13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PD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分离：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32K 输入下单实例 KV 传输需求达 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33–60 Gbps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，KV 通信最高占 JCT 的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60%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分布式</a:t>
            </a:r>
            <a:r>
              <a:rPr kumimoji="0" lang="en-US" altLang="zh-CN" sz="13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KV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：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生产 Agent 负载中，KV 存储节点的 I/O 也成为主要瓶颈（DualPath）</a:t>
            </a:r>
          </a:p>
        </p:txBody>
      </p:sp>
      <p:sp>
        <p:nvSpPr>
          <p:cNvPr id="90001" name="CitationFootnote"/>
          <p:cNvSpPr txBox="1"/>
          <p:nvPr/>
        </p:nvSpPr>
        <p:spPr>
          <a:xfrm>
            <a:off x="274320" y="6470000"/>
            <a:ext cx="11600000" cy="24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KVServe, SIGCOMM 2026　|　vLLM × AgentX (2026-09) · DualPath (arXiv:2602.21548) · vLLM Mooncake Store (2026-05)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21" y="1430020"/>
            <a:ext cx="3536315" cy="33597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628" y="1430020"/>
            <a:ext cx="3705225" cy="32537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832" y="1430020"/>
            <a:ext cx="3608705" cy="2948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30AE6E7-FD43-4D1F-9352-D80A7E2F8CDA}"/>
              </a:ext>
            </a:extLst>
          </p:cNvPr>
          <p:cNvSpPr>
            <a:spLocks noGrp="1"/>
          </p:cNvSpPr>
          <p:nvPr/>
        </p:nvSpPr>
        <p:spPr>
          <a:xfrm>
            <a:off x="492125" y="332105"/>
            <a:ext cx="97720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KV Cache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压缩相关工作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53E8B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0011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sp>
        <p:nvSpPr>
          <p:cNvPr id="1831" name="ulLong">
            <a:extLst>
              <a:ext uri="{FF2B5EF4-FFF2-40B4-BE49-F238E27FC236}">
                <a16:creationId xmlns:a16="http://schemas.microsoft.com/office/drawing/2014/main" id="{3A05D4CE-A880-4F45-9DB1-069987F378C7}"/>
              </a:ext>
            </a:extLst>
          </p:cNvPr>
          <p:cNvSpPr>
            <a:spLocks noGrp="1"/>
          </p:cNvSpPr>
          <p:nvPr/>
        </p:nv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832" name="ulShort">
            <a:extLst>
              <a:ext uri="{FF2B5EF4-FFF2-40B4-BE49-F238E27FC236}">
                <a16:creationId xmlns:a16="http://schemas.microsoft.com/office/drawing/2014/main" id="{7FB1AFCA-159E-4C9A-9014-D6631CDE718B}"/>
              </a:ext>
            </a:extLst>
          </p:cNvPr>
          <p:cNvSpPr>
            <a:spLocks noGrp="1"/>
          </p:cNvSpPr>
          <p:nvPr/>
        </p:nv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0" name="hdr200">
            <a:extLst>
              <a:ext uri="{FF2B5EF4-FFF2-40B4-BE49-F238E27FC236}">
                <a16:creationId xmlns:a16="http://schemas.microsoft.com/office/drawing/2014/main" id="{EAB53C42-6AE5-45F9-95E3-10F7F5C97EDD}"/>
              </a:ext>
            </a:extLst>
          </p:cNvPr>
          <p:cNvSpPr>
            <a:spLocks noGrp="1"/>
          </p:cNvSpPr>
          <p:nvPr/>
        </p:nvSpPr>
        <p:spPr>
          <a:xfrm>
            <a:off x="361633" y="1000000"/>
            <a:ext cx="3673493" cy="43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CacheGen：面向传输的编码</a:t>
            </a:r>
          </a:p>
        </p:txBody>
      </p:sp>
      <p:sp>
        <p:nvSpPr>
          <p:cNvPr id="201" name="hdr201">
            <a:extLst>
              <a:ext uri="{FF2B5EF4-FFF2-40B4-BE49-F238E27FC236}">
                <a16:creationId xmlns:a16="http://schemas.microsoft.com/office/drawing/2014/main" id="{4ABA8249-573B-47F5-A084-94DB73661F0D}"/>
              </a:ext>
            </a:extLst>
          </p:cNvPr>
          <p:cNvSpPr>
            <a:spLocks noGrp="1"/>
          </p:cNvSpPr>
          <p:nvPr/>
        </p:nvSpPr>
        <p:spPr>
          <a:xfrm>
            <a:off x="4274494" y="1000000"/>
            <a:ext cx="3673493" cy="43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KIVI：K/V 非对称 2-bit</a:t>
            </a:r>
          </a:p>
        </p:txBody>
      </p:sp>
      <p:sp>
        <p:nvSpPr>
          <p:cNvPr id="202" name="hdr202">
            <a:extLst>
              <a:ext uri="{FF2B5EF4-FFF2-40B4-BE49-F238E27FC236}">
                <a16:creationId xmlns:a16="http://schemas.microsoft.com/office/drawing/2014/main" id="{7A75B730-AC57-42E9-9EFA-5CF2D5DD1C05}"/>
              </a:ext>
            </a:extLst>
          </p:cNvPr>
          <p:cNvSpPr>
            <a:spLocks noGrp="1"/>
          </p:cNvSpPr>
          <p:nvPr/>
        </p:nvSpPr>
        <p:spPr>
          <a:xfrm>
            <a:off x="8152438" y="1000000"/>
            <a:ext cx="3673493" cy="43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QuaRot：旋转后端到端 4-bit</a:t>
            </a:r>
          </a:p>
        </p:txBody>
      </p:sp>
      <p:sp>
        <p:nvSpPr>
          <p:cNvPr id="220" name="tb220">
            <a:extLst>
              <a:ext uri="{FF2B5EF4-FFF2-40B4-BE49-F238E27FC236}">
                <a16:creationId xmlns:a16="http://schemas.microsoft.com/office/drawing/2014/main" id="{CA7D31A5-24F0-460A-89CB-4782637CAB8A}"/>
              </a:ext>
            </a:extLst>
          </p:cNvPr>
          <p:cNvSpPr>
            <a:spLocks noGrp="1"/>
          </p:cNvSpPr>
          <p:nvPr/>
        </p:nvSpPr>
        <p:spPr>
          <a:xfrm>
            <a:off x="361641" y="4904740"/>
            <a:ext cx="3673475" cy="12433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•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将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KV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编码成紧凑比特流，降低跨节点传输量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。但仅按层选择混合量化精度。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262C38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•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分块流式发送，按可用带宽调整压缩级别；体积缩小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3.5–4.3×</a:t>
            </a:r>
          </a:p>
        </p:txBody>
      </p:sp>
      <p:sp>
        <p:nvSpPr>
          <p:cNvPr id="221" name="tb221">
            <a:extLst>
              <a:ext uri="{FF2B5EF4-FFF2-40B4-BE49-F238E27FC236}">
                <a16:creationId xmlns:a16="http://schemas.microsoft.com/office/drawing/2014/main" id="{10FDF6D1-A3C6-4190-B155-88387B9EFFED}"/>
              </a:ext>
            </a:extLst>
          </p:cNvPr>
          <p:cNvSpPr>
            <a:spLocks noGrp="1"/>
          </p:cNvSpPr>
          <p:nvPr/>
        </p:nvSpPr>
        <p:spPr>
          <a:xfrm>
            <a:off x="4274503" y="4904740"/>
            <a:ext cx="3877935" cy="12433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• K Cache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存在固定通道离群值，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按通道量化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• V Cache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则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按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token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量化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；免调优实现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2-bit KV Cache</a:t>
            </a:r>
          </a:p>
        </p:txBody>
      </p:sp>
      <p:sp>
        <p:nvSpPr>
          <p:cNvPr id="222" name="tb222">
            <a:extLst>
              <a:ext uri="{FF2B5EF4-FFF2-40B4-BE49-F238E27FC236}">
                <a16:creationId xmlns:a16="http://schemas.microsoft.com/office/drawing/2014/main" id="{34502AD3-4555-4683-B51E-7222D1D5F668}"/>
              </a:ext>
            </a:extLst>
          </p:cNvPr>
          <p:cNvSpPr>
            <a:spLocks noGrp="1"/>
          </p:cNvSpPr>
          <p:nvPr/>
        </p:nvSpPr>
        <p:spPr>
          <a:xfrm>
            <a:off x="8152447" y="4904740"/>
            <a:ext cx="3673475" cy="12433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• 引入随机 Hadamard </a:t>
            </a: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旋转矩阵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，等价变换并分散离群值</a:t>
            </a:r>
          </a:p>
          <a:p>
            <a:pPr marL="0" marR="0" lvl="0" indent="0" algn="l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• 权重、激活与 KV Cache 统一 </a:t>
            </a: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端到端 4-bit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，无需保留高精度通道</a:t>
            </a:r>
          </a:p>
        </p:txBody>
      </p:sp>
      <p:sp>
        <p:nvSpPr>
          <p:cNvPr id="90001" name="CitationFootnote">
            <a:extLst>
              <a:ext uri="{FF2B5EF4-FFF2-40B4-BE49-F238E27FC236}">
                <a16:creationId xmlns:a16="http://schemas.microsoft.com/office/drawing/2014/main" id="{B07DB2CF-24E0-4DEC-90E4-84932A932D09}"/>
              </a:ext>
            </a:extLst>
          </p:cNvPr>
          <p:cNvSpPr>
            <a:spLocks noGrp="1"/>
          </p:cNvSpPr>
          <p:nvPr/>
        </p:nvSpPr>
        <p:spPr>
          <a:xfrm>
            <a:off x="274320" y="6470000"/>
            <a:ext cx="11600000" cy="24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Y. Liu et al., CacheGen, SIGCOMM 2024; Z. Liu et al., KIVI, ICML 2024; S. Ashkboos et al., QuaRot, NeurIPS 2024.</a:t>
            </a:r>
          </a:p>
        </p:txBody>
      </p:sp>
      <p:pic>
        <p:nvPicPr>
          <p:cNvPr id="90021" name="图片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598589"/>
            <a:ext cx="4152930" cy="3145186"/>
          </a:xfrm>
          <a:prstGeom prst="rect">
            <a:avLst/>
          </a:prstGeom>
        </p:spPr>
      </p:pic>
      <p:pic>
        <p:nvPicPr>
          <p:cNvPr id="90022" name="图片 5"/>
          <p:cNvPicPr>
            <a:picLocks noChangeAspect="1"/>
          </p:cNvPicPr>
          <p:nvPr/>
        </p:nvPicPr>
        <p:blipFill>
          <a:blip r:embed="rId5"/>
          <a:srcRect l="7351" r="20358"/>
          <a:stretch>
            <a:fillRect/>
          </a:stretch>
        </p:blipFill>
        <p:spPr>
          <a:xfrm>
            <a:off x="4427251" y="1991452"/>
            <a:ext cx="3088672" cy="2400440"/>
          </a:xfrm>
          <a:prstGeom prst="rect">
            <a:avLst/>
          </a:prstGeom>
        </p:spPr>
      </p:pic>
      <p:pic>
        <p:nvPicPr>
          <p:cNvPr id="90023" name="图片 6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50160" y="1953260"/>
            <a:ext cx="4541840" cy="2277667"/>
          </a:xfrm>
          <a:prstGeom prst="rect">
            <a:avLst/>
          </a:prstGeom>
        </p:spPr>
      </p:pic>
      <p:sp>
        <p:nvSpPr>
          <p:cNvPr id="90009" name="灯片编号占位符 4">
            <a:extLst>
              <a:ext uri="{FF2B5EF4-FFF2-40B4-BE49-F238E27FC236}">
                <a16:creationId xmlns:a16="http://schemas.microsoft.com/office/drawing/2014/main" id="{2947BD4E-6932-41C0-BF81-524737223B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2359C0-8A7A-196E-DD58-8E6569619F09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0305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2125" y="332105"/>
            <a:ext cx="9801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重新思考：最优KV压缩算法随工作负载与带宽变化</a:t>
            </a:r>
          </a:p>
        </p:txBody>
      </p:sp>
      <p:pic>
        <p:nvPicPr>
          <p:cNvPr id="5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cxnSp>
        <p:nvCxnSpPr>
          <p:cNvPr id="1831" name="ulLong"/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/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hdr200"/>
          <p:cNvSpPr/>
          <p:nvPr/>
        </p:nvSpPr>
        <p:spPr>
          <a:xfrm>
            <a:off x="365760" y="1040000"/>
            <a:ext cx="5580240" cy="40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最优算法随工作负载变化</a:t>
            </a:r>
          </a:p>
        </p:txBody>
      </p:sp>
      <p:sp>
        <p:nvSpPr>
          <p:cNvPr id="201" name="hdr201"/>
          <p:cNvSpPr/>
          <p:nvPr/>
        </p:nvSpPr>
        <p:spPr>
          <a:xfrm>
            <a:off x="6246000" y="1040000"/>
            <a:ext cx="5580240" cy="40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最优算法随带宽变化</a:t>
            </a:r>
          </a:p>
        </p:txBody>
      </p:sp>
      <p:pic>
        <p:nvPicPr>
          <p:cNvPr id="210" name="fig2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05" y="1500000"/>
            <a:ext cx="4215350" cy="2260000"/>
          </a:xfrm>
          <a:prstGeom prst="rect">
            <a:avLst/>
          </a:prstGeom>
        </p:spPr>
      </p:pic>
      <p:pic>
        <p:nvPicPr>
          <p:cNvPr id="211" name="fig2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000" y="1560000"/>
            <a:ext cx="5580240" cy="2048594"/>
          </a:xfrm>
          <a:prstGeom prst="rect">
            <a:avLst/>
          </a:prstGeom>
        </p:spPr>
      </p:pic>
      <p:sp>
        <p:nvSpPr>
          <p:cNvPr id="220" name="tb220"/>
          <p:cNvSpPr txBox="1"/>
          <p:nvPr/>
        </p:nvSpPr>
        <p:spPr>
          <a:xfrm>
            <a:off x="365760" y="3820000"/>
            <a:ext cx="5580240" cy="1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lvl="0" indent="-228600" algn="l">
              <a:lnSpc>
                <a:spcPct val="120000"/>
              </a:lnSpc>
              <a:spcBef>
                <a:spcPts val="0"/>
              </a:spcBef>
              <a:spcAft>
                <a:spcPts val="420"/>
              </a:spcAft>
              <a:buFont typeface="Arial" panose="020B0604020202020204"/>
              <a:buChar char="•"/>
            </a:pP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最优策略不固定：不同任务最优 KV 压缩方法不同，单一静态策略难适配多样工作负载</a:t>
            </a:r>
          </a:p>
          <a:p>
            <a:pPr marL="228600" lvl="0" indent="-228600" algn="l">
              <a:lnSpc>
                <a:spcPct val="120000"/>
              </a:lnSpc>
              <a:spcBef>
                <a:spcPts val="0"/>
              </a:spcBef>
              <a:spcAft>
                <a:spcPts val="420"/>
              </a:spcAft>
              <a:buFont typeface="Arial" panose="020B0604020202020204"/>
              <a:buChar char="•"/>
            </a:pP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精度与压缩率均会切换：DuoAttn、KIVI、MixHQ、CacheGen 在不同数据集各有优势</a:t>
            </a:r>
          </a:p>
        </p:txBody>
      </p:sp>
      <p:sp>
        <p:nvSpPr>
          <p:cNvPr id="221" name="tb221"/>
          <p:cNvSpPr txBox="1"/>
          <p:nvPr/>
        </p:nvSpPr>
        <p:spPr>
          <a:xfrm>
            <a:off x="6246000" y="3820000"/>
            <a:ext cx="5580240" cy="1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lvl="0" indent="-228600" algn="l">
              <a:lnSpc>
                <a:spcPct val="120000"/>
              </a:lnSpc>
              <a:spcBef>
                <a:spcPts val="0"/>
              </a:spcBef>
              <a:spcAft>
                <a:spcPts val="420"/>
              </a:spcAft>
              <a:buFont typeface="Arial" panose="020B0604020202020204"/>
              <a:buChar char="•"/>
            </a:pP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低带宽收益大：减少 KV 传输量显著降低延迟，明显优于 Default</a:t>
            </a:r>
            <a:r>
              <a:rPr lang="en-US" altLang="zh-CN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但在大于</a:t>
            </a:r>
            <a:r>
              <a:rPr lang="en-US" altLang="zh-CN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250GBps</a:t>
            </a: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时最优压缩也无法带来收益</a:t>
            </a:r>
          </a:p>
          <a:p>
            <a:pPr marL="228600" lvl="0" indent="-228600" algn="l">
              <a:lnSpc>
                <a:spcPct val="120000"/>
              </a:lnSpc>
              <a:spcBef>
                <a:spcPts val="0"/>
              </a:spcBef>
              <a:spcAft>
                <a:spcPts val="420"/>
              </a:spcAft>
              <a:buFont typeface="Arial" panose="020B0604020202020204"/>
              <a:buChar char="•"/>
            </a:pP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最优策略动态变化：通信占比下降、压缩/解压开销主导，最优策略发生切换，没有永远最优的策略</a:t>
            </a:r>
          </a:p>
        </p:txBody>
      </p:sp>
      <p:sp>
        <p:nvSpPr>
          <p:cNvPr id="230" name="tkbg230"/>
          <p:cNvSpPr/>
          <p:nvPr/>
        </p:nvSpPr>
        <p:spPr>
          <a:xfrm>
            <a:off x="301752" y="5720000"/>
            <a:ext cx="11588496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053E8B"/>
            </a:solidFill>
          </a:ln>
        </p:spPr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压缩率不是唯一目标：最优策略随工作负载与带宽双重变化 —— 决策应由服务状态驱动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7200" b="1">
                <a:solidFill>
                  <a:srgbClr val="FFFFFF"/>
                </a:solidFill>
                <a:effectLst>
                  <a:outerShdw blurRad="40000" dist="25400" dir="2700000" algn="tl">
                    <a:srgbClr val="000000">
                      <a:alpha val="5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02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673118" y="2777869"/>
            <a:ext cx="9150504" cy="860046"/>
          </a:xfrm>
        </p:spPr>
        <p:txBody>
          <a:bodyPr/>
          <a:lstStyle/>
          <a:p>
            <a:r>
              <a:rPr lang="zh-CN" altLang="en-US" sz="2000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「</a:t>
            </a:r>
            <a:r>
              <a:rPr lang="zh-CN" altLang="en-US" sz="2000" b="1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KVServe 的核心设计与实验结果 —— 压缩收益取决于算法、质量要求、带宽</a:t>
            </a:r>
            <a:r>
              <a:rPr lang="zh-CN" altLang="en-US" sz="2000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」</a:t>
            </a:r>
            <a:endParaRPr lang="zh-CN" altLang="en-US" sz="2000" b="1" dirty="0">
              <a:effectLst>
                <a:outerShdw blurRad="38100" dist="25400" dir="2700000" algn="tl">
                  <a:srgbClr val="000000">
                    <a:alpha val="70000"/>
                  </a:srgbClr>
                </a:outerShdw>
              </a:effectLst>
              <a:latin typeface="思源黑体 CN"/>
              <a:ea typeface="思源黑体 CN"/>
              <a:cs typeface="思源黑体 C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2125" y="332105"/>
            <a:ext cx="9265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KVServe</a:t>
            </a:r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：离线</a:t>
            </a:r>
            <a:r>
              <a:rPr lang="en-US" altLang="zh-CN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在线</a:t>
            </a:r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混合决策的高效KV压缩策略</a:t>
            </a:r>
          </a:p>
        </p:txBody>
      </p:sp>
      <p:pic>
        <p:nvPicPr>
          <p:cNvPr id="5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cxnSp>
        <p:nvCxnSpPr>
          <p:cNvPr id="1831" name="ulLong"/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/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hdr200"/>
          <p:cNvSpPr/>
          <p:nvPr/>
        </p:nvSpPr>
        <p:spPr>
          <a:xfrm>
            <a:off x="1853943" y="1120000"/>
            <a:ext cx="3500000" cy="40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KVServe：自适应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压缩框架</a:t>
            </a:r>
          </a:p>
        </p:txBody>
      </p:sp>
      <p:sp>
        <p:nvSpPr>
          <p:cNvPr id="220" name="tb220"/>
          <p:cNvSpPr txBox="1"/>
          <p:nvPr/>
        </p:nvSpPr>
        <p:spPr>
          <a:xfrm>
            <a:off x="7106920" y="1621155"/>
            <a:ext cx="4676140" cy="3549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阶段一：离线搜索</a:t>
            </a:r>
          </a:p>
          <a:p>
            <a:pPr lvl="0" algn="l">
              <a:lnSpc>
                <a:spcPct val="116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 Transformer、Quantizer、Codec 组成模块化策略池；经 Bayesian Profiling Engine 离线搜索候选配置，形成 3D Pareto Frontier。</a:t>
            </a:r>
          </a:p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阶段二：在线决策</a:t>
            </a:r>
          </a:p>
          <a:p>
            <a:pPr lvl="0" algn="l">
              <a:lnSpc>
                <a:spcPct val="116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 Bandwidth、SLO/Latency、Accuracy 等在线上下文，由 Online Controller 实时选择，并以 theoretical model 与 context bandit 快速决策。</a:t>
            </a:r>
          </a:p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阶段三：运行时执行</a:t>
            </a:r>
          </a:p>
          <a:p>
            <a:pPr lvl="0" algn="l">
              <a:lnSpc>
                <a:spcPct val="116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节点按选中配置执行压缩流水线 [T]→[Q]→[C]，跨节点传输压缩 KV；Decode 节点执行 [C⁻¹]→[Q⁻¹]→[T⁻¹] 完成恢复。</a:t>
            </a:r>
          </a:p>
        </p:txBody>
      </p:sp>
      <p:sp>
        <p:nvSpPr>
          <p:cNvPr id="230" name="tkbg230"/>
          <p:cNvSpPr/>
          <p:nvPr/>
        </p:nvSpPr>
        <p:spPr>
          <a:xfrm>
            <a:off x="301752" y="5720000"/>
            <a:ext cx="11588496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053E8B"/>
            </a:solidFill>
          </a:ln>
        </p:spPr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核心思路：先</a:t>
            </a:r>
            <a:r>
              <a:rPr lang="zh-CN" altLang="en-US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</a:t>
            </a:r>
            <a:r>
              <a:rPr lang="zh-CN" altLang="en-US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搜索候选，再</a:t>
            </a:r>
            <a:r>
              <a:rPr lang="zh-CN" altLang="en-US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</a:t>
            </a:r>
            <a:r>
              <a:rPr lang="zh-CN" altLang="en-US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动态决策，最后在分布式推理中高效</a:t>
            </a:r>
            <a:r>
              <a:rPr lang="zh-CN" altLang="en-US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55" y="1621155"/>
            <a:ext cx="6353175" cy="3615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1512026-9E28-09A1-0FFC-B00F058A8478}"/>
              </a:ext>
            </a:extLst>
          </p:cNvPr>
          <p:cNvSpPr txBox="1"/>
          <p:nvPr/>
        </p:nvSpPr>
        <p:spPr>
          <a:xfrm>
            <a:off x="492125" y="332105"/>
            <a:ext cx="9265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KVServe：问题建模与优化目标</a:t>
            </a:r>
          </a:p>
        </p:txBody>
      </p:sp>
      <p:cxnSp>
        <p:nvCxnSpPr>
          <p:cNvPr id="1831" name="ulLong">
            <a:extLst>
              <a:ext uri="{FF2B5EF4-FFF2-40B4-BE49-F238E27FC236}">
                <a16:creationId xmlns:a16="http://schemas.microsoft.com/office/drawing/2014/main" id="{9BE5C8E4-96EF-EDBD-D151-4BAE18A3E945}"/>
              </a:ext>
            </a:extLst>
          </p:cNvPr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>
            <a:extLst>
              <a:ext uri="{FF2B5EF4-FFF2-40B4-BE49-F238E27FC236}">
                <a16:creationId xmlns:a16="http://schemas.microsoft.com/office/drawing/2014/main" id="{F97AC9E6-D818-541E-9D8F-863FAA5043EF}"/>
              </a:ext>
            </a:extLst>
          </p:cNvPr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kbg230">
            <a:extLst>
              <a:ext uri="{FF2B5EF4-FFF2-40B4-BE49-F238E27FC236}">
                <a16:creationId xmlns:a16="http://schemas.microsoft.com/office/drawing/2014/main" id="{A0118330-C474-7ECF-4142-4272B6240C41}"/>
              </a:ext>
            </a:extLst>
          </p:cNvPr>
          <p:cNvSpPr/>
          <p:nvPr/>
        </p:nvSpPr>
        <p:spPr>
          <a:xfrm>
            <a:off x="301752" y="5720000"/>
            <a:ext cx="11588496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053E8B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优化目标：p*(c) ∈ arg min T_p(c)　——　B 决定能省多少，s_p 决定压缩自身开销，cr_p 决定压缩后体积，q_p(w) 决定质量代价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33" name="Picture 18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329184"/>
            <a:ext cx="1435608" cy="502920"/>
          </a:xfrm>
          <a:prstGeom prst="rect">
            <a:avLst/>
          </a:prstGeom>
        </p:spPr>
      </p:pic>
      <p:sp>
        <p:nvSpPr>
          <p:cNvPr id="1834" name="tb"/>
          <p:cNvSpPr txBox="1"/>
          <p:nvPr/>
        </p:nvSpPr>
        <p:spPr>
          <a:xfrm>
            <a:off x="301752" y="1033271"/>
            <a:ext cx="3739896" cy="402336"/>
          </a:xfrm>
          <a:prstGeom prst="roundRect">
            <a:avLst/>
          </a:prstGeom>
          <a:solidFill>
            <a:srgbClr val="0C4994"/>
          </a:solidFill>
          <a:ln>
            <a:noFill/>
          </a:ln>
        </p:spPr>
        <p:txBody>
          <a:bodyPr wrap="square" lIns="3600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① 决策输入 · 服务上下文</a:t>
            </a:r>
          </a:p>
        </p:txBody>
      </p:sp>
      <p:sp>
        <p:nvSpPr>
          <p:cNvPr id="1835" name="tb"/>
          <p:cNvSpPr txBox="1"/>
          <p:nvPr/>
        </p:nvSpPr>
        <p:spPr>
          <a:xfrm>
            <a:off x="4224528" y="1033271"/>
            <a:ext cx="3739896" cy="402336"/>
          </a:xfrm>
          <a:prstGeom prst="roundRect">
            <a:avLst/>
          </a:prstGeom>
          <a:solidFill>
            <a:srgbClr val="0C4994"/>
          </a:solidFill>
          <a:ln>
            <a:noFill/>
          </a:ln>
        </p:spPr>
        <p:txBody>
          <a:bodyPr wrap="square" lIns="3600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② 决策对象 · 压缩策略</a:t>
            </a:r>
          </a:p>
        </p:txBody>
      </p:sp>
      <p:sp>
        <p:nvSpPr>
          <p:cNvPr id="1836" name="tb"/>
          <p:cNvSpPr txBox="1"/>
          <p:nvPr/>
        </p:nvSpPr>
        <p:spPr>
          <a:xfrm>
            <a:off x="8147304" y="1033271"/>
            <a:ext cx="3739896" cy="402336"/>
          </a:xfrm>
          <a:prstGeom prst="roundRect">
            <a:avLst/>
          </a:prstGeom>
          <a:solidFill>
            <a:srgbClr val="0C4994"/>
          </a:solidFill>
          <a:ln>
            <a:noFill/>
          </a:ln>
        </p:spPr>
        <p:txBody>
          <a:bodyPr wrap="square" lIns="3600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③ 时延模型与约束</a:t>
            </a:r>
          </a:p>
        </p:txBody>
      </p:sp>
      <p:sp>
        <p:nvSpPr>
          <p:cNvPr id="1837" name="tb"/>
          <p:cNvSpPr txBox="1"/>
          <p:nvPr/>
        </p:nvSpPr>
        <p:spPr>
          <a:xfrm>
            <a:off x="429768" y="1609344"/>
            <a:ext cx="3520439" cy="3986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5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c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 = (</a:t>
            </a: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w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, </a:t>
            </a: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B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, </a:t>
            </a: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T</a:t>
            </a:r>
            <a:r>
              <a:rPr kumimoji="0" lang="zh-CN" altLang="en-US" sz="1650" b="1" i="0" u="none" strike="noStrike" kern="1200" cap="none" spc="0" normalizeH="0" baseline="-2500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SLO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, </a:t>
            </a: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q</a:t>
            </a:r>
            <a:r>
              <a:rPr kumimoji="0" lang="zh-CN" altLang="en-US" sz="1650" b="1" i="0" u="none" strike="noStrike" kern="1200" cap="none" spc="0" normalizeH="0" baseline="-2500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min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15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w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　会话段的工作负载类别，由上层路由器 / 分类器给出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15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B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　当前有效带宽：网络或 I/O 的 goodput，而非标称带宽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15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T</a:t>
            </a:r>
            <a:r>
              <a:rPr kumimoji="0" lang="zh-CN" altLang="en-US" sz="1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SLO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　该会话段的时延预算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5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</a:t>
            </a:r>
            <a:r>
              <a:rPr kumimoji="0" lang="zh-CN" altLang="en-US" sz="1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min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　最低质量要求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以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请求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为决策粒度：KV 搬运开始时选定策略，整个请求内保持不变。</a:t>
            </a:r>
          </a:p>
        </p:txBody>
      </p:sp>
      <p:sp>
        <p:nvSpPr>
          <p:cNvPr id="1838" name="tb"/>
          <p:cNvSpPr txBox="1"/>
          <p:nvPr/>
        </p:nvSpPr>
        <p:spPr>
          <a:xfrm>
            <a:off x="4352544" y="1609344"/>
            <a:ext cx="3520439" cy="3986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 = (</a:t>
            </a: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cr</a:t>
            </a:r>
            <a:r>
              <a:rPr kumimoji="0" lang="zh-CN" altLang="en-US" sz="1650" b="1" i="0" u="none" strike="noStrike" kern="1200" cap="none" spc="0" normalizeH="0" baseline="-2500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, </a:t>
            </a: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s</a:t>
            </a:r>
            <a:r>
              <a:rPr kumimoji="0" lang="zh-CN" altLang="en-US" sz="1650" b="1" i="0" u="none" strike="noStrike" kern="1200" cap="none" spc="0" normalizeH="0" baseline="-2500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, </a:t>
            </a:r>
            <a:r>
              <a:rPr kumimoji="0" lang="zh-CN" altLang="en-US" sz="1650" b="1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q</a:t>
            </a:r>
            <a:r>
              <a:rPr kumimoji="0" lang="zh-CN" altLang="en-US" sz="1650" b="1" i="0" u="none" strike="noStrike" kern="1200" cap="none" spc="0" normalizeH="0" baseline="-2500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p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思源黑体 CN"/>
                <a:ea typeface="思源黑体 CN"/>
                <a:cs typeface="思源黑体 CN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6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cr</a:t>
            </a:r>
            <a:r>
              <a:rPr kumimoji="0" lang="zh-CN" altLang="en-US" sz="1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= 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V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/ 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V</a:t>
            </a:r>
            <a:r>
              <a:rPr kumimoji="0" lang="zh-CN" altLang="en-US" sz="1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　压缩率</a:t>
            </a:r>
          </a:p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V 为会话段内待搬运的原始 KV 字节数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6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s</a:t>
            </a:r>
            <a:r>
              <a:rPr kumimoji="0" lang="zh-CN" altLang="en-US" sz="1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= (1/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s</a:t>
            </a:r>
            <a:r>
              <a:rPr kumimoji="0" lang="zh-CN" altLang="en-US" sz="1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enc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+ 1/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s</a:t>
            </a:r>
            <a:r>
              <a:rPr kumimoji="0" lang="zh-CN" altLang="en-US" sz="1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dec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)</a:t>
            </a:r>
            <a:r>
              <a:rPr kumimoji="0" lang="zh-CN" altLang="en-US" sz="15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-1</a:t>
            </a:r>
          </a:p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有效 (解) 压缩吞吐：编码与解码吞吐的调和平均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5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</a:t>
            </a:r>
            <a:r>
              <a:rPr kumimoji="0" lang="zh-CN" altLang="en-US" sz="1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　工作负载 </a:t>
            </a:r>
            <a:r>
              <a:rPr kumimoji="0" lang="zh-CN" alt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w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下的质量（如任务精度）</a:t>
            </a:r>
          </a:p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三元组由离线 profiling 给出，在线只在这组参数上做约束优化。</a:t>
            </a:r>
          </a:p>
        </p:txBody>
      </p:sp>
      <p:sp>
        <p:nvSpPr>
          <p:cNvPr id="1839" name="tb"/>
          <p:cNvSpPr txBox="1"/>
          <p:nvPr/>
        </p:nvSpPr>
        <p:spPr>
          <a:xfrm>
            <a:off x="8275320" y="1609344"/>
            <a:ext cx="3520439" cy="3986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6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时延模型（会话段 JCT）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T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(c) =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T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model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(w) +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V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/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s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+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V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/(B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·cr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76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T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0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(c) =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T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model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(w) +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V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/B</a:t>
            </a:r>
            <a:r>
              <a:rPr kumimoji="0" lang="zh-CN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　（不压缩基线）</a:t>
            </a: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106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三项依次是：与压缩无关的模型执行开销、压缩与解压自身开销、压缩后 KV 的通信时间。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6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可行集（质量</a:t>
            </a:r>
            <a:r>
              <a:rPr lang="zh-CN" altLang="en-US" sz="155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z="155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SLO</a:t>
            </a:r>
            <a:r>
              <a:rPr lang="zh-CN" altLang="en-US" sz="155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约束</a:t>
            </a:r>
            <a:r>
              <a:rPr kumimoji="0" lang="zh-CN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(c) = {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∈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: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T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(c) ≤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T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SLO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,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(w) ≥ </a:t>
            </a:r>
            <a:r>
              <a:rPr kumimoji="0" lang="zh-CN" altLang="en-US" sz="16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</a:t>
            </a:r>
            <a:r>
              <a:rPr kumimoji="0" lang="zh-CN" altLang="en-US" sz="165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min</a:t>
            </a:r>
            <a:r>
              <a:rPr kumimoji="0" lang="zh-CN" alt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 为全部可选策略；时延与质量必须同时满足，缺一即不可行，p*(c) 在每个会话段重新求解。</a:t>
            </a:r>
          </a:p>
        </p:txBody>
      </p:sp>
      <p:sp>
        <p:nvSpPr>
          <p:cNvPr id="1840" name="tb"/>
          <p:cNvSpPr txBox="1"/>
          <p:nvPr/>
        </p:nvSpPr>
        <p:spPr>
          <a:xfrm>
            <a:off x="365760" y="6291072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依据：KVServe, SIGCOMM 2026 · §3（Serving System Model / Constrained Optimization）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1635-15AF-CA65-1F92-52489E37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355283F-3C40-0654-FE50-BC822101831F}"/>
              </a:ext>
            </a:extLst>
          </p:cNvPr>
          <p:cNvSpPr txBox="1"/>
          <p:nvPr/>
        </p:nvSpPr>
        <p:spPr>
          <a:xfrm>
            <a:off x="492125" y="332105"/>
            <a:ext cx="9265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b="1" kern="0" dirty="0" err="1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KVServe</a:t>
            </a:r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 </a:t>
            </a:r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压缩算法池</a:t>
            </a:r>
            <a:endParaRPr lang="zh-CN" altLang="en-US" sz="2800" b="1" kern="0" dirty="0">
              <a:ln>
                <a:noFill/>
              </a:ln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ABEFF7-0369-D095-1DE6-975CA8CB5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cxnSp>
        <p:nvCxnSpPr>
          <p:cNvPr id="1831" name="ulLong">
            <a:extLst>
              <a:ext uri="{FF2B5EF4-FFF2-40B4-BE49-F238E27FC236}">
                <a16:creationId xmlns:a16="http://schemas.microsoft.com/office/drawing/2014/main" id="{FE486FCA-C3C6-DFEC-D831-96C1DAAB1F2B}"/>
              </a:ext>
            </a:extLst>
          </p:cNvPr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>
            <a:extLst>
              <a:ext uri="{FF2B5EF4-FFF2-40B4-BE49-F238E27FC236}">
                <a16:creationId xmlns:a16="http://schemas.microsoft.com/office/drawing/2014/main" id="{3000CFDF-FBC5-EEAE-09E7-DE01EFE8864D}"/>
              </a:ext>
            </a:extLst>
          </p:cNvPr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hdr200">
            <a:extLst>
              <a:ext uri="{FF2B5EF4-FFF2-40B4-BE49-F238E27FC236}">
                <a16:creationId xmlns:a16="http://schemas.microsoft.com/office/drawing/2014/main" id="{D1BFF5A2-3A0D-B476-B85E-87D36CD4AC73}"/>
              </a:ext>
            </a:extLst>
          </p:cNvPr>
          <p:cNvSpPr/>
          <p:nvPr/>
        </p:nvSpPr>
        <p:spPr>
          <a:xfrm>
            <a:off x="1853943" y="1120000"/>
            <a:ext cx="3500000" cy="40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rtlCol="0" anchor="ctr"/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三阶段压缩流水线</a:t>
            </a:r>
          </a:p>
        </p:txBody>
      </p:sp>
      <p:sp>
        <p:nvSpPr>
          <p:cNvPr id="220" name="tb220">
            <a:extLst>
              <a:ext uri="{FF2B5EF4-FFF2-40B4-BE49-F238E27FC236}">
                <a16:creationId xmlns:a16="http://schemas.microsoft.com/office/drawing/2014/main" id="{6B47083E-F62A-6C0B-29A2-7D0626D74AD1}"/>
              </a:ext>
            </a:extLst>
          </p:cNvPr>
          <p:cNvSpPr txBox="1"/>
          <p:nvPr/>
        </p:nvSpPr>
        <p:spPr>
          <a:xfrm>
            <a:off x="7077710" y="1507701"/>
            <a:ext cx="4676140" cy="3549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变换</a:t>
            </a:r>
            <a:r>
              <a:rPr lang="en-US" altLang="zh-CN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</a:t>
            </a:r>
            <a:r>
              <a:rPr lang="en-US" altLang="zh-CN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无损压缩 三阶段组成</a:t>
            </a:r>
          </a:p>
          <a:p>
            <a:pPr lvl="0" algn="l">
              <a:lnSpc>
                <a:spcPct val="116000"/>
              </a:lnSpc>
              <a:spcBef>
                <a:spcPts val="0"/>
              </a:spcBef>
              <a:spcAft>
                <a:spcPts val="560"/>
              </a:spcAft>
              <a:buNone/>
            </a:pP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 Transformer、Quantizer、Codec 组成模块化策略池；经 Bayesian Profiling Engine 离线搜索候选配置，形成 3D Pareto Frontier。</a:t>
            </a:r>
          </a:p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将主流</a:t>
            </a:r>
            <a:r>
              <a:rPr lang="en-US" altLang="zh-CN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压缩算法映射到算子池中</a:t>
            </a:r>
            <a:endParaRPr lang="en-US" altLang="zh-CN" sz="1500" b="1" i="0" dirty="0"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主流算法如</a:t>
            </a:r>
            <a:r>
              <a:rPr lang="en-US" altLang="zh-CN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0" i="0" dirty="0" err="1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QuaRot</a:t>
            </a: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KIVI</a:t>
            </a: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 b="0" i="0" dirty="0" err="1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CacheGen</a:t>
            </a:r>
            <a:r>
              <a:rPr lang="en-US" altLang="zh-CN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等，均能拆解成对应阶段算子映射到本算法池中。也就意味着</a:t>
            </a:r>
            <a:r>
              <a:rPr lang="en-US" altLang="zh-CN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0" i="0" dirty="0" err="1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</a:t>
            </a:r>
            <a:r>
              <a:rPr lang="en-US" altLang="zh-CN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的搜索空间</a:t>
            </a:r>
            <a:r>
              <a:rPr lang="zh-CN" altLang="en-US" sz="1500" b="1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涵盖了主流压缩算法</a:t>
            </a:r>
            <a:endParaRPr lang="en-US" altLang="zh-CN" sz="1500" b="1" i="0" dirty="0">
              <a:solidFill>
                <a:srgbClr val="555F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提出新的</a:t>
            </a:r>
            <a:r>
              <a:rPr lang="en-US" altLang="zh-CN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 i="0" dirty="0" err="1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MixHQ</a:t>
            </a:r>
            <a:r>
              <a:rPr lang="en-US" altLang="zh-CN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量化算法</a:t>
            </a:r>
            <a:endParaRPr lang="en-US" altLang="zh-CN" sz="1500" b="1" i="0" dirty="0"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发现现有量化算法缺乏</a:t>
            </a:r>
            <a:r>
              <a:rPr lang="en-US" altLang="zh-CN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Head </a:t>
            </a: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维度的混合精度量化感知。补充按</a:t>
            </a:r>
            <a:r>
              <a:rPr lang="en-US" altLang="zh-CN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Head </a:t>
            </a: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维度划分的量化算法</a:t>
            </a:r>
            <a:r>
              <a:rPr lang="en-US" altLang="zh-CN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0" i="0" dirty="0" err="1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MixHQ</a:t>
            </a:r>
            <a:r>
              <a:rPr lang="zh-CN" altLang="en-US" sz="1500" b="0" i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，填补了算法搜索空间中的空缺。</a:t>
            </a:r>
          </a:p>
        </p:txBody>
      </p:sp>
      <p:sp>
        <p:nvSpPr>
          <p:cNvPr id="230" name="tkbg230">
            <a:extLst>
              <a:ext uri="{FF2B5EF4-FFF2-40B4-BE49-F238E27FC236}">
                <a16:creationId xmlns:a16="http://schemas.microsoft.com/office/drawing/2014/main" id="{A0118330-C474-7ECF-4142-4272B6240C41}"/>
              </a:ext>
            </a:extLst>
          </p:cNvPr>
          <p:cNvSpPr/>
          <p:nvPr/>
        </p:nvSpPr>
        <p:spPr>
          <a:xfrm>
            <a:off x="301752" y="5720000"/>
            <a:ext cx="11588496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053E8B"/>
            </a:solidFill>
          </a:ln>
        </p:spPr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将主流算法映射到模块化算法池中，各阶段算子可自由拆卸并组合，涵盖了更大的算法搜索空间</a:t>
            </a:r>
            <a:endParaRPr lang="zh-CN" altLang="en-US" b="1" i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6DF27D-7794-9B83-F8E2-F760EEDBA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909370"/>
            <a:ext cx="6527671" cy="303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7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1512026-9E28-09A1-0FFC-B00F058A8478}"/>
              </a:ext>
            </a:extLst>
          </p:cNvPr>
          <p:cNvSpPr txBox="1"/>
          <p:nvPr/>
        </p:nvSpPr>
        <p:spPr>
          <a:xfrm>
            <a:off x="492125" y="332105"/>
            <a:ext cx="9265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Runtime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53E8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下选择最优算法的两大挑战</a:t>
            </a:r>
          </a:p>
        </p:txBody>
      </p:sp>
      <p:cxnSp>
        <p:nvCxnSpPr>
          <p:cNvPr id="1831" name="ulLong">
            <a:extLst>
              <a:ext uri="{FF2B5EF4-FFF2-40B4-BE49-F238E27FC236}">
                <a16:creationId xmlns:a16="http://schemas.microsoft.com/office/drawing/2014/main" id="{9BE5C8E4-96EF-EDBD-D151-4BAE18A3E945}"/>
              </a:ext>
            </a:extLst>
          </p:cNvPr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>
            <a:extLst>
              <a:ext uri="{FF2B5EF4-FFF2-40B4-BE49-F238E27FC236}">
                <a16:creationId xmlns:a16="http://schemas.microsoft.com/office/drawing/2014/main" id="{F97AC9E6-D818-541E-9D8F-863FAA5043EF}"/>
              </a:ext>
            </a:extLst>
          </p:cNvPr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kbg230">
            <a:extLst>
              <a:ext uri="{FF2B5EF4-FFF2-40B4-BE49-F238E27FC236}">
                <a16:creationId xmlns:a16="http://schemas.microsoft.com/office/drawing/2014/main" id="{A0118330-C474-7ECF-4142-4272B6240C41}"/>
              </a:ext>
            </a:extLst>
          </p:cNvPr>
          <p:cNvSpPr/>
          <p:nvPr/>
        </p:nvSpPr>
        <p:spPr>
          <a:xfrm>
            <a:off x="301752" y="5720000"/>
            <a:ext cx="11588496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053E8B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两大挑战各对应后面的一点设计：离线搜索引擎把空间搜小，在线决策器在约束下选点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33" name="Picture 18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329184"/>
            <a:ext cx="1435608" cy="502920"/>
          </a:xfrm>
          <a:prstGeom prst="rect">
            <a:avLst/>
          </a:prstGeom>
        </p:spPr>
      </p:pic>
      <p:sp>
        <p:nvSpPr>
          <p:cNvPr id="1834" name="tb"/>
          <p:cNvSpPr txBox="1"/>
          <p:nvPr/>
        </p:nvSpPr>
        <p:spPr>
          <a:xfrm>
            <a:off x="301752" y="1033271"/>
            <a:ext cx="5701284" cy="402336"/>
          </a:xfrm>
          <a:prstGeom prst="roundRect">
            <a:avLst/>
          </a:prstGeom>
          <a:solidFill>
            <a:srgbClr val="0C4994"/>
          </a:solidFill>
          <a:ln>
            <a:noFill/>
          </a:ln>
        </p:spPr>
        <p:txBody>
          <a:bodyPr wrap="square" lIns="3600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挑战 1 · 策略空间的组合爆炸</a:t>
            </a:r>
          </a:p>
        </p:txBody>
      </p:sp>
      <p:sp>
        <p:nvSpPr>
          <p:cNvPr id="1835" name="tb"/>
          <p:cNvSpPr txBox="1"/>
          <p:nvPr/>
        </p:nvSpPr>
        <p:spPr>
          <a:xfrm>
            <a:off x="6185916" y="1033271"/>
            <a:ext cx="5701284" cy="402336"/>
          </a:xfrm>
          <a:prstGeom prst="roundRect">
            <a:avLst/>
          </a:prstGeom>
          <a:solidFill>
            <a:srgbClr val="0C4994"/>
          </a:solidFill>
          <a:ln>
            <a:noFill/>
          </a:ln>
        </p:spPr>
        <p:txBody>
          <a:bodyPr wrap="square" lIns="3600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挑战 2 · 时延–质量权衡缺少决策准则</a:t>
            </a:r>
          </a:p>
        </p:txBody>
      </p:sp>
      <p:pic>
        <p:nvPicPr>
          <p:cNvPr id="1836" name="Picture 1835" descr="fig_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17" y="1517904"/>
            <a:ext cx="4411952" cy="3401568"/>
          </a:xfrm>
          <a:prstGeom prst="rect">
            <a:avLst/>
          </a:prstGeom>
        </p:spPr>
      </p:pic>
      <p:sp>
        <p:nvSpPr>
          <p:cNvPr id="1837" name="tb"/>
          <p:cNvSpPr txBox="1"/>
          <p:nvPr/>
        </p:nvSpPr>
        <p:spPr>
          <a:xfrm>
            <a:off x="946417" y="4974336"/>
            <a:ext cx="441195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候选数随配置粒度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近似指数增长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：细粒度调优即逼近 10</a:t>
            </a:r>
            <a:r>
              <a:rPr kumimoji="0" lang="zh-CN" alt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 个候选，离线 profiling 预算远低于此。</a:t>
            </a:r>
          </a:p>
        </p:txBody>
      </p:sp>
      <p:pic>
        <p:nvPicPr>
          <p:cNvPr id="1838" name="Picture 1837" descr="fig_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81" y="1517904"/>
            <a:ext cx="4411952" cy="3401568"/>
          </a:xfrm>
          <a:prstGeom prst="rect">
            <a:avLst/>
          </a:prstGeom>
        </p:spPr>
      </p:pic>
      <p:sp>
        <p:nvSpPr>
          <p:cNvPr id="1839" name="tb"/>
          <p:cNvSpPr txBox="1"/>
          <p:nvPr/>
        </p:nvSpPr>
        <p:spPr>
          <a:xfrm>
            <a:off x="6830581" y="4974336"/>
            <a:ext cx="441195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同一精度水平内，时延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相差 21%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：按质量排序分不出快慢，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按压缩率排序可能跌破质量下限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0A3E4-5D58-29E1-0F8F-56E44C28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1512026-9E28-09A1-0FFC-B00F058A8478}"/>
              </a:ext>
            </a:extLst>
          </p:cNvPr>
          <p:cNvSpPr txBox="1"/>
          <p:nvPr/>
        </p:nvSpPr>
        <p:spPr>
          <a:xfrm>
            <a:off x="492125" y="332105"/>
            <a:ext cx="9265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KVServe：</a:t>
            </a:r>
            <a:r>
              <a:rPr lang="zh-CN" altLang="en-US" sz="2800" b="1" kern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贝叶斯离线搜索引擎</a:t>
            </a:r>
            <a:endParaRPr lang="zh-CN" altLang="en-US" sz="2800" b="1" kern="0" dirty="0">
              <a:ln>
                <a:noFill/>
              </a:ln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0161542E-5BD4-0663-B650-A6176F8CF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cxnSp>
        <p:nvCxnSpPr>
          <p:cNvPr id="1831" name="ulLong">
            <a:extLst>
              <a:ext uri="{FF2B5EF4-FFF2-40B4-BE49-F238E27FC236}">
                <a16:creationId xmlns:a16="http://schemas.microsoft.com/office/drawing/2014/main" id="{9BE5C8E4-96EF-EDBD-D151-4BAE18A3E945}"/>
              </a:ext>
            </a:extLst>
          </p:cNvPr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>
            <a:extLst>
              <a:ext uri="{FF2B5EF4-FFF2-40B4-BE49-F238E27FC236}">
                <a16:creationId xmlns:a16="http://schemas.microsoft.com/office/drawing/2014/main" id="{F97AC9E6-D818-541E-9D8F-863FAA5043EF}"/>
              </a:ext>
            </a:extLst>
          </p:cNvPr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70AC30D-5C29-631F-F85C-A711A58D8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59" y="4197720"/>
            <a:ext cx="3772504" cy="25469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2AF6E78-D3DD-0581-B3EC-4354D3032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16" y="1386803"/>
            <a:ext cx="4938745" cy="2325315"/>
          </a:xfrm>
          <a:prstGeom prst="rect">
            <a:avLst/>
          </a:prstGeom>
        </p:spPr>
      </p:pic>
      <p:sp>
        <p:nvSpPr>
          <p:cNvPr id="10" name="tb220">
            <a:extLst>
              <a:ext uri="{FF2B5EF4-FFF2-40B4-BE49-F238E27FC236}">
                <a16:creationId xmlns:a16="http://schemas.microsoft.com/office/drawing/2014/main" id="{6D56F54E-EAB1-130D-8A23-E92F66B1445A}"/>
              </a:ext>
            </a:extLst>
          </p:cNvPr>
          <p:cNvSpPr txBox="1"/>
          <p:nvPr/>
        </p:nvSpPr>
        <p:spPr>
          <a:xfrm>
            <a:off x="6422567" y="2187337"/>
            <a:ext cx="4699075" cy="39728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统一参数编码</a:t>
            </a:r>
            <a:endParaRPr lang="en-US" altLang="zh-CN" b="1" i="0" dirty="0"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r>
              <a:rPr lang="zh-CN" altLang="en-US" sz="1600" dirty="0"/>
              <a:t>将离散的模块选择和连续的数值参数映射到统一向量空间，使高斯过程能够建模不同配置之间的相似性。</a:t>
            </a:r>
            <a:endParaRPr lang="en-US" altLang="zh-CN" sz="1600" dirty="0"/>
          </a:p>
          <a:p>
            <a:pPr lvl="0" algn="l">
              <a:lnSpc>
                <a:spcPct val="106000"/>
              </a:lnSpc>
              <a:spcBef>
                <a:spcPts val="0"/>
              </a:spcBef>
              <a:spcAft>
                <a:spcPts val="120"/>
              </a:spcAft>
              <a:buNone/>
            </a:pPr>
            <a:endParaRPr lang="en-US" altLang="zh-CN" sz="1500" dirty="0"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lnSpc>
                <a:spcPct val="106000"/>
              </a:lnSpc>
              <a:spcAft>
                <a:spcPts val="120"/>
              </a:spcAft>
            </a:pPr>
            <a:r>
              <a:rPr lang="zh-CN" altLang="zh-CN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探索利用</a:t>
            </a:r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endParaRPr lang="en-US" altLang="zh-CN" b="1" dirty="0"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06000"/>
              </a:lnSpc>
              <a:spcAft>
                <a:spcPts val="120"/>
              </a:spcAft>
            </a:pPr>
            <a:r>
              <a:rPr lang="zh-CN" altLang="en-US" sz="1600" dirty="0"/>
              <a:t>搜索早期偏向探索高不确定性配置，后期逐步转向利用高收益配置，从而更快收敛到优质方案。</a:t>
            </a:r>
            <a:endParaRPr lang="en-US" altLang="zh-CN" sz="1600" dirty="0"/>
          </a:p>
          <a:p>
            <a:pPr lvl="0">
              <a:lnSpc>
                <a:spcPct val="106000"/>
              </a:lnSpc>
              <a:spcAft>
                <a:spcPts val="120"/>
              </a:spcAft>
            </a:pPr>
            <a:endParaRPr lang="en-US" altLang="zh-CN" sz="1600" dirty="0"/>
          </a:p>
          <a:p>
            <a:pPr lvl="0">
              <a:lnSpc>
                <a:spcPct val="106000"/>
              </a:lnSpc>
              <a:spcAft>
                <a:spcPts val="120"/>
              </a:spcAft>
            </a:pPr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双向搜索剪枝</a:t>
            </a:r>
            <a:endParaRPr lang="en-US" altLang="zh-CN" b="1" dirty="0"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06000"/>
              </a:lnSpc>
              <a:spcAft>
                <a:spcPts val="120"/>
              </a:spcAft>
            </a:pPr>
            <a:r>
              <a:rPr lang="zh-CN" altLang="en-US" sz="1600" dirty="0"/>
              <a:t>利用压缩率与精度之间的近似单调关系，剪掉明显不可行或收益较低的配置，缩小搜索空间。</a:t>
            </a:r>
            <a:endParaRPr lang="en-US" altLang="zh-CN" sz="1600" dirty="0"/>
          </a:p>
          <a:p>
            <a:pPr lvl="0">
              <a:lnSpc>
                <a:spcPct val="106000"/>
              </a:lnSpc>
              <a:spcAft>
                <a:spcPts val="120"/>
              </a:spcAft>
            </a:pPr>
            <a:endParaRPr lang="en-US" altLang="zh-CN" sz="1600" dirty="0"/>
          </a:p>
          <a:p>
            <a:pPr lvl="0">
              <a:lnSpc>
                <a:spcPct val="106000"/>
              </a:lnSpc>
              <a:spcAft>
                <a:spcPts val="120"/>
              </a:spcAft>
            </a:pPr>
            <a:r>
              <a:rPr lang="zh-CN" altLang="zh-CN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自适应早停</a:t>
            </a:r>
            <a:endParaRPr lang="en-US" altLang="zh-CN" b="1" dirty="0"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06000"/>
              </a:lnSpc>
              <a:spcAft>
                <a:spcPts val="120"/>
              </a:spcAft>
            </a:pPr>
            <a:r>
              <a:rPr lang="zh-CN" altLang="en-US" sz="1600" dirty="0"/>
              <a:t>当连续搜索失败或有效候选空间耗尽时提前终止，避免无效评估，降低离线 </a:t>
            </a:r>
            <a:r>
              <a:rPr lang="en-US" altLang="zh-CN" sz="1600" dirty="0"/>
              <a:t>profiling </a:t>
            </a:r>
            <a:r>
              <a:rPr lang="zh-CN" altLang="en-US" sz="1600" dirty="0"/>
              <a:t>开销。</a:t>
            </a:r>
            <a:endParaRPr lang="en-US" altLang="zh-CN" sz="1600" dirty="0"/>
          </a:p>
          <a:p>
            <a:pPr lvl="0">
              <a:lnSpc>
                <a:spcPct val="106000"/>
              </a:lnSpc>
              <a:spcAft>
                <a:spcPts val="120"/>
              </a:spcAft>
            </a:pPr>
            <a:endParaRPr lang="zh-CN" altLang="en-US" sz="1500" i="0" dirty="0"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7DD78ED-D85F-A2BB-500C-4D15EA873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779" y="1349573"/>
            <a:ext cx="3486150" cy="50482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D0F5D47-2E5A-2BB8-0D3A-FB8A66C15B98}"/>
              </a:ext>
            </a:extLst>
          </p:cNvPr>
          <p:cNvSpPr txBox="1"/>
          <p:nvPr/>
        </p:nvSpPr>
        <p:spPr>
          <a:xfrm>
            <a:off x="6553200" y="13667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优化目标：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C0D62A-AB7E-1D19-62EC-C40304959F97}"/>
              </a:ext>
            </a:extLst>
          </p:cNvPr>
          <p:cNvSpPr txBox="1"/>
          <p:nvPr/>
        </p:nvSpPr>
        <p:spPr>
          <a:xfrm>
            <a:off x="860927" y="1155011"/>
            <a:ext cx="5529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搜索过程：将搜索成本降低 </a:t>
            </a:r>
            <a:r>
              <a:rPr lang="en-US" altLang="zh-CN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50x</a:t>
            </a:r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（原需 </a:t>
            </a:r>
            <a:r>
              <a:rPr lang="en-US" altLang="zh-CN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时）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B2ECB4-1958-A6D5-EA4E-393EF1A5C84A}"/>
              </a:ext>
            </a:extLst>
          </p:cNvPr>
          <p:cNvSpPr txBox="1"/>
          <p:nvPr/>
        </p:nvSpPr>
        <p:spPr>
          <a:xfrm>
            <a:off x="1705840" y="3770253"/>
            <a:ext cx="302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搜索结果：</a:t>
            </a:r>
            <a:r>
              <a:rPr lang="en-US" altLang="zh-CN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pareto </a:t>
            </a:r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前沿</a:t>
            </a:r>
          </a:p>
        </p:txBody>
      </p:sp>
    </p:spTree>
    <p:extLst>
      <p:ext uri="{BB962C8B-B14F-4D97-AF65-F5344CB8AC3E}">
        <p14:creationId xmlns:p14="http://schemas.microsoft.com/office/powerpoint/2010/main" val="3653220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9BA6-C6F6-5DC4-C0A8-E853186E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9BE1B29-F773-4797-FBDA-FC44DD7C5FA8}"/>
              </a:ext>
            </a:extLst>
          </p:cNvPr>
          <p:cNvSpPr txBox="1"/>
          <p:nvPr/>
        </p:nvSpPr>
        <p:spPr>
          <a:xfrm>
            <a:off x="492125" y="332105"/>
            <a:ext cx="9265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KVServe：</a:t>
            </a:r>
            <a:r>
              <a:rPr lang="zh-CN" altLang="en-US" sz="2800" b="1" kern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服务感知的在线决策器</a:t>
            </a:r>
            <a:endParaRPr lang="zh-CN" altLang="en-US" sz="2800" b="1" kern="0" dirty="0">
              <a:ln>
                <a:noFill/>
              </a:ln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B7D3987-0B75-FC74-70E6-A16D6F8E3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cxnSp>
        <p:nvCxnSpPr>
          <p:cNvPr id="1831" name="ulLong">
            <a:extLst>
              <a:ext uri="{FF2B5EF4-FFF2-40B4-BE49-F238E27FC236}">
                <a16:creationId xmlns:a16="http://schemas.microsoft.com/office/drawing/2014/main" id="{22128E02-82A2-4355-1A36-03C3BB6A6F2C}"/>
              </a:ext>
            </a:extLst>
          </p:cNvPr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>
            <a:extLst>
              <a:ext uri="{FF2B5EF4-FFF2-40B4-BE49-F238E27FC236}">
                <a16:creationId xmlns:a16="http://schemas.microsoft.com/office/drawing/2014/main" id="{57171D9D-B8FA-3323-A1CD-64787E1AD66C}"/>
              </a:ext>
            </a:extLst>
          </p:cNvPr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b220">
                <a:extLst>
                  <a:ext uri="{FF2B5EF4-FFF2-40B4-BE49-F238E27FC236}">
                    <a16:creationId xmlns:a16="http://schemas.microsoft.com/office/drawing/2014/main" id="{069BC707-2B5B-A5D0-3B4B-31622AD5D8CF}"/>
                  </a:ext>
                </a:extLst>
              </p:cNvPr>
              <p:cNvSpPr txBox="1"/>
              <p:nvPr/>
            </p:nvSpPr>
            <p:spPr>
              <a:xfrm>
                <a:off x="6322489" y="1254171"/>
                <a:ext cx="5363820" cy="5271713"/>
              </a:xfrm>
              <a:prstGeom prst="rect">
                <a:avLst/>
              </a:prstGeom>
              <a:noFill/>
            </p:spPr>
            <p:txBody>
              <a:bodyPr wrap="square" lIns="0" tIns="0" rIns="0" bIns="0" anchor="t"/>
              <a:lstStyle/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r>
                  <a:rPr lang="zh-CN" altLang="en-US" b="1" i="0" dirty="0">
                    <a:solidFill>
                      <a:srgbClr val="053E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服务上下文感知</a:t>
                </a:r>
                <a:endParaRPr lang="en-US" altLang="zh-CN" b="1" i="0" dirty="0">
                  <a:solidFill>
                    <a:srgbClr val="053E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r>
                  <a:rPr lang="zh-CN" altLang="en-US" sz="1600" dirty="0"/>
                  <a:t>根据 </a:t>
                </a:r>
                <a:r>
                  <a:rPr lang="en-US" altLang="zh-CN" sz="1600" dirty="0"/>
                  <a:t>workload</a:t>
                </a:r>
                <a:r>
                  <a:rPr lang="zh-CN" altLang="en-US" sz="1600" dirty="0"/>
                  <a:t>、有效带宽、</a:t>
                </a:r>
                <a:r>
                  <a:rPr lang="en-US" altLang="zh-CN" sz="1600" dirty="0"/>
                  <a:t>SLO </a:t>
                </a:r>
                <a:r>
                  <a:rPr lang="zh-CN" altLang="en-US" sz="1600" dirty="0"/>
                  <a:t>和精度预算，动态选择当前请求的压缩配置。</a:t>
                </a:r>
                <a:endParaRPr lang="en-US" altLang="zh-CN" sz="1600" dirty="0"/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endParaRPr lang="en-US" altLang="zh-CN" b="1" dirty="0">
                  <a:solidFill>
                    <a:srgbClr val="053E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r>
                  <a:rPr lang="zh-CN" altLang="en-US" b="1" i="0" dirty="0">
                    <a:solidFill>
                      <a:srgbClr val="053E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收益阈值过滤</a:t>
                </a:r>
                <a:endParaRPr lang="en-US" altLang="zh-CN" b="1" i="0" dirty="0">
                  <a:solidFill>
                    <a:srgbClr val="053E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r>
                  <a:rPr lang="zh-CN" altLang="en-US" sz="1600" dirty="0"/>
                  <a:t>通过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/>
                  <a:t>判断压缩是否真正带来加速，过滤高带宽下可能造成负优化的配置。</a:t>
                </a:r>
                <a:endParaRPr lang="en-US" altLang="zh-CN" sz="1600" dirty="0"/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endParaRPr lang="en-US" altLang="zh-CN" b="1" dirty="0">
                  <a:solidFill>
                    <a:srgbClr val="053E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r>
                  <a:rPr lang="zh-CN" altLang="en-US" b="1" i="0" dirty="0">
                    <a:solidFill>
                      <a:srgbClr val="053E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分段最优查表</a:t>
                </a:r>
                <a:endParaRPr lang="en-US" altLang="zh-CN" b="1" i="0" dirty="0">
                  <a:solidFill>
                    <a:srgbClr val="053E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r>
                  <a:rPr lang="zh-CN" altLang="en-US" sz="1600" dirty="0"/>
                  <a:t>将不同 </a:t>
                </a:r>
                <a:r>
                  <a:rPr lang="en-US" altLang="zh-CN" sz="1600" dirty="0"/>
                  <a:t>profile </a:t>
                </a:r>
                <a:r>
                  <a:rPr lang="zh-CN" altLang="en-US" sz="1600" dirty="0"/>
                  <a:t>的延迟表示为 </a:t>
                </a:r>
                <a:r>
                  <a:rPr lang="en-US" altLang="zh-CN" sz="1600" dirty="0"/>
                  <a:t>x=1/B </a:t>
                </a:r>
                <a:r>
                  <a:rPr lang="zh-CN" altLang="en-US" sz="1600" dirty="0"/>
                  <a:t>上的直线，利用 </a:t>
                </a:r>
                <a:r>
                  <a:rPr lang="en-US" altLang="zh-CN" sz="1600" dirty="0"/>
                  <a:t>lower envelope </a:t>
                </a:r>
                <a:r>
                  <a:rPr lang="zh-CN" altLang="en-US" sz="1600" dirty="0"/>
                  <a:t>实现 </a:t>
                </a:r>
                <a:r>
                  <a:rPr lang="en-US" altLang="zh-CN" sz="1600" dirty="0"/>
                  <a:t>O(1) </a:t>
                </a:r>
                <a:r>
                  <a:rPr lang="zh-CN" altLang="en-US" sz="1600" dirty="0"/>
                  <a:t>在线选择。</a:t>
                </a:r>
                <a:endParaRPr lang="en-US" altLang="zh-CN" sz="1600" dirty="0"/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endParaRPr lang="en-US" altLang="zh-CN" b="1" dirty="0">
                  <a:solidFill>
                    <a:srgbClr val="053E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r>
                  <a:rPr lang="zh-CN" altLang="en-US" b="1" i="0" dirty="0">
                    <a:solidFill>
                      <a:srgbClr val="053E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残差 </a:t>
                </a:r>
                <a:r>
                  <a:rPr lang="en-US" altLang="zh-CN" b="1" i="0" dirty="0">
                    <a:solidFill>
                      <a:srgbClr val="053E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Bandit </a:t>
                </a:r>
                <a:r>
                  <a:rPr lang="zh-CN" altLang="en-US" b="1" i="0" dirty="0">
                    <a:solidFill>
                      <a:srgbClr val="053E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修正</a:t>
                </a:r>
                <a:endParaRPr lang="en-US" altLang="zh-CN" b="1" i="0" dirty="0">
                  <a:solidFill>
                    <a:srgbClr val="053E8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120"/>
                  </a:spcAft>
                  <a:buNone/>
                </a:pPr>
                <a:r>
                  <a:rPr lang="zh-CN" altLang="en-US" sz="1600" dirty="0"/>
                  <a:t>围绕理论最优 </a:t>
                </a:r>
                <a:r>
                  <a:rPr lang="en-US" altLang="zh-CN" sz="1600" dirty="0"/>
                  <a:t>profile </a:t>
                </a:r>
                <a:r>
                  <a:rPr lang="zh-CN" altLang="en-US" sz="1600" dirty="0"/>
                  <a:t>及其邻居构造小候选集，用运行时观测残差修正离线模型偏差。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10" name="tb220">
                <a:extLst>
                  <a:ext uri="{FF2B5EF4-FFF2-40B4-BE49-F238E27FC236}">
                    <a16:creationId xmlns:a16="http://schemas.microsoft.com/office/drawing/2014/main" id="{069BC707-2B5B-A5D0-3B4B-31622AD5D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89" y="1254171"/>
                <a:ext cx="5363820" cy="5271713"/>
              </a:xfrm>
              <a:prstGeom prst="rect">
                <a:avLst/>
              </a:prstGeom>
              <a:blipFill>
                <a:blip r:embed="rId3"/>
                <a:stretch>
                  <a:fillRect l="-2594" t="-1199" r="-1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9E210E99-AE7D-10DF-F5D8-115B77E87818}"/>
              </a:ext>
            </a:extLst>
          </p:cNvPr>
          <p:cNvSpPr txBox="1"/>
          <p:nvPr/>
        </p:nvSpPr>
        <p:spPr>
          <a:xfrm>
            <a:off x="2549236" y="12326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决策过程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7B8705-349A-8DF7-BF47-812A3C6935EF}"/>
              </a:ext>
            </a:extLst>
          </p:cNvPr>
          <p:cNvSpPr txBox="1"/>
          <p:nvPr/>
        </p:nvSpPr>
        <p:spPr>
          <a:xfrm>
            <a:off x="2318404" y="38414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</a:rPr>
              <a:t>在线学习模型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E6A126-5ABA-1A89-0F71-18DC0DC64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67" y="1541049"/>
            <a:ext cx="4605129" cy="21106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E6619C4-5314-6CE5-DD01-6D6C2B65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67" y="4255033"/>
            <a:ext cx="4956665" cy="249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51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2090" y="331991"/>
            <a:ext cx="1010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压缩率与推理质量</a:t>
            </a:r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评估</a:t>
            </a:r>
            <a:endParaRPr lang="zh-CN" altLang="en-US" sz="2800" b="1" kern="0" dirty="0">
              <a:ln>
                <a:noFill/>
              </a:ln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cxnSp>
        <p:nvCxnSpPr>
          <p:cNvPr id="1831" name="ulLong"/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/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b240"/>
          <p:cNvSpPr txBox="1"/>
          <p:nvPr/>
        </p:nvSpPr>
        <p:spPr>
          <a:xfrm>
            <a:off x="400050" y="1061085"/>
            <a:ext cx="11419840" cy="5346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lvl="0" indent="-28575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 在压缩算法库中针对工作负载进行离线搜索，求解出的最优配置超越了现有的</a:t>
            </a:r>
            <a:r>
              <a:rPr lang="en-US" altLang="zh-CN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SOTA </a:t>
            </a: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</a:p>
        </p:txBody>
      </p:sp>
      <p:sp>
        <p:nvSpPr>
          <p:cNvPr id="251" name="tb251"/>
          <p:cNvSpPr txBox="1"/>
          <p:nvPr/>
        </p:nvSpPr>
        <p:spPr>
          <a:xfrm>
            <a:off x="1605280" y="1965004"/>
            <a:ext cx="7953058" cy="5346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压缩率与准确率：平均准确率 </a:t>
            </a:r>
            <a:r>
              <a:rPr lang="zh-CN" altLang="en-US" sz="16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100.35%</a:t>
            </a: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，压缩率 </a:t>
            </a:r>
            <a:r>
              <a:rPr lang="zh-CN" altLang="en-US" sz="16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8.28x</a:t>
            </a: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（超 TurboQuant 6x）</a:t>
            </a:r>
            <a:endParaRPr lang="en-US" altLang="zh-CN" sz="1600" b="1" i="0" dirty="0">
              <a:solidFill>
                <a:srgbClr val="262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在六项任务上都超越了现有</a:t>
            </a:r>
            <a:r>
              <a:rPr lang="en-US" altLang="zh-CN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SOTA</a:t>
            </a: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算法，并且在四项任务上正确率超越了</a:t>
            </a:r>
            <a:r>
              <a:rPr lang="en-US" altLang="zh-CN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bf16 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endParaRPr lang="zh-CN" altLang="en-US" sz="1600" b="1" i="0" dirty="0">
              <a:solidFill>
                <a:srgbClr val="262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90" y="2868923"/>
            <a:ext cx="10591564" cy="23888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4401-18A5-A529-B619-ABF4E6DD7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B47BD37-3A09-4ED3-6708-D260DA50E8F8}"/>
              </a:ext>
            </a:extLst>
          </p:cNvPr>
          <p:cNvSpPr txBox="1"/>
          <p:nvPr/>
        </p:nvSpPr>
        <p:spPr>
          <a:xfrm>
            <a:off x="492090" y="331991"/>
            <a:ext cx="1010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压缩率与推理性能</a:t>
            </a:r>
            <a:r>
              <a:rPr lang="zh-CN" altLang="en-US" sz="2800" b="1" kern="0" dirty="0">
                <a:ln>
                  <a:noFill/>
                </a:ln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评估</a:t>
            </a:r>
            <a:endParaRPr lang="zh-CN" altLang="en-US" sz="2800" b="1" kern="0" dirty="0">
              <a:ln>
                <a:noFill/>
              </a:ln>
              <a:solidFill>
                <a:srgbClr val="053E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C70F7EC9-E85E-5E31-3B9C-A839698B3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89" y="331991"/>
            <a:ext cx="1436861" cy="498827"/>
          </a:xfrm>
          <a:prstGeom prst="rect">
            <a:avLst/>
          </a:prstGeom>
        </p:spPr>
      </p:pic>
      <p:cxnSp>
        <p:nvCxnSpPr>
          <p:cNvPr id="1831" name="ulLong">
            <a:extLst>
              <a:ext uri="{FF2B5EF4-FFF2-40B4-BE49-F238E27FC236}">
                <a16:creationId xmlns:a16="http://schemas.microsoft.com/office/drawing/2014/main" id="{8C2ECAA0-C7F5-7DB1-3231-C1021001949F}"/>
              </a:ext>
            </a:extLst>
          </p:cNvPr>
          <p:cNvCxnSpPr/>
          <p:nvPr/>
        </p:nvCxn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2" name="ulShort">
            <a:extLst>
              <a:ext uri="{FF2B5EF4-FFF2-40B4-BE49-F238E27FC236}">
                <a16:creationId xmlns:a16="http://schemas.microsoft.com/office/drawing/2014/main" id="{5EF2457C-CBE9-8631-BD9B-7B8BBF1D10E1}"/>
              </a:ext>
            </a:extLst>
          </p:cNvPr>
          <p:cNvCxnSpPr/>
          <p:nvPr/>
        </p:nvCxn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b240">
            <a:extLst>
              <a:ext uri="{FF2B5EF4-FFF2-40B4-BE49-F238E27FC236}">
                <a16:creationId xmlns:a16="http://schemas.microsoft.com/office/drawing/2014/main" id="{351DC4A7-ECE7-69EE-20D5-18BC43F1C89E}"/>
              </a:ext>
            </a:extLst>
          </p:cNvPr>
          <p:cNvSpPr txBox="1"/>
          <p:nvPr/>
        </p:nvSpPr>
        <p:spPr>
          <a:xfrm>
            <a:off x="400000" y="941980"/>
            <a:ext cx="11419840" cy="5346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lvl="0" indent="-28575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Llama-8B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Qwen2.5-7B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2.5-32B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三种模型；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RTX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4090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5090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6000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H100</a:t>
            </a:r>
            <a:r>
              <a:rPr lang="zh-CN" altLang="en-US" sz="16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四种平台进行测试</a:t>
            </a:r>
            <a:br>
              <a:rPr lang="en-US" altLang="zh-CN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 率先将 KV 压缩从算法选择转化为</a:t>
            </a:r>
            <a:r>
              <a:rPr lang="zh-CN" altLang="en-US" sz="1600" b="1" i="0" dirty="0">
                <a:solidFill>
                  <a:srgbClr val="053E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服务状态驱动的动态控制问题</a:t>
            </a: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，在波动的带宽与负载下始终锁定最优性能边界</a:t>
            </a:r>
          </a:p>
        </p:txBody>
      </p:sp>
      <p:sp>
        <p:nvSpPr>
          <p:cNvPr id="252" name="tb252">
            <a:extLst>
              <a:ext uri="{FF2B5EF4-FFF2-40B4-BE49-F238E27FC236}">
                <a16:creationId xmlns:a16="http://schemas.microsoft.com/office/drawing/2014/main" id="{5F9038BB-CAC9-C01A-CD02-132C6FF35667}"/>
              </a:ext>
            </a:extLst>
          </p:cNvPr>
          <p:cNvSpPr txBox="1"/>
          <p:nvPr/>
        </p:nvSpPr>
        <p:spPr>
          <a:xfrm>
            <a:off x="6390000" y="4034762"/>
            <a:ext cx="5475660" cy="4197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在线调优：</a:t>
            </a: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结合理论与轻量级模型，自适应修正运行时偏差</a:t>
            </a:r>
          </a:p>
        </p:txBody>
      </p:sp>
      <p:sp>
        <p:nvSpPr>
          <p:cNvPr id="253" name="tb253">
            <a:extLst>
              <a:ext uri="{FF2B5EF4-FFF2-40B4-BE49-F238E27FC236}">
                <a16:creationId xmlns:a16="http://schemas.microsoft.com/office/drawing/2014/main" id="{96EDB112-CF5F-826B-5A28-76AD58A354DF}"/>
              </a:ext>
            </a:extLst>
          </p:cNvPr>
          <p:cNvSpPr txBox="1"/>
          <p:nvPr/>
        </p:nvSpPr>
        <p:spPr>
          <a:xfrm>
            <a:off x="830000" y="4034630"/>
            <a:ext cx="556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端到端延迟：PD 分离/前缀缓存最高加速比 </a:t>
            </a:r>
            <a:r>
              <a:rPr lang="zh-CN" altLang="en-US" sz="16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9.2x 和 32.8x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126B268-9A6F-194B-068B-49C419502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419" y="4454497"/>
            <a:ext cx="3912000" cy="1750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F9785BE-1D35-A795-CF2C-13F0EDEDB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00" y="4651640"/>
            <a:ext cx="6420000" cy="132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E0FF967-7199-A26A-C1CE-28F0233BC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439" y="1595755"/>
            <a:ext cx="8661099" cy="243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72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 txBox="1"/>
          <p:nvPr/>
        </p:nvSpPr>
        <p:spPr>
          <a:xfrm>
            <a:off x="429768" y="274320"/>
            <a:ext cx="11301984" cy="557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KVServe 的核心：动态 · 可插拔 · 可组合</a:t>
            </a:r>
          </a:p>
        </p:txBody>
      </p:sp>
      <p:sp>
        <p:nvSpPr>
          <p:cNvPr id="3" name="tb"/>
          <p:cNvSpPr txBox="1"/>
          <p:nvPr/>
        </p:nvSpPr>
        <p:spPr>
          <a:xfrm>
            <a:off x="429768" y="859536"/>
            <a:ext cx="11704320" cy="557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zh-CN" altLang="en-US" sz="13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服务感知 KV 压缩不是一个固定配方，而是一套按服务状态决策、且可被替换与组合的算法系统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算法池 × 离线搜索 × 在线决策　·　同一套思想后面的三种落地：更快的实现、更深的存储、更开放的框架</a:t>
            </a:r>
          </a:p>
        </p:txBody>
      </p:sp>
      <p:sp>
        <p:nvSpPr>
          <p:cNvPr id="4" name="tb"/>
          <p:cNvSpPr txBox="1"/>
          <p:nvPr/>
        </p:nvSpPr>
        <p:spPr>
          <a:xfrm>
            <a:off x="402336" y="1417320"/>
            <a:ext cx="3611880" cy="228600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39903" tIns="139903" rIns="139903" bIns="139903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服务感知 · 动态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480"/>
              </a:spcAft>
              <a:buNone/>
            </a:pP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决策</a:t>
            </a:r>
            <a:r>
              <a:rPr lang="zh-CN" altLang="en-US" sz="15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随着</a:t>
            </a: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服务状态变化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480"/>
              </a:spcAft>
              <a:buNone/>
            </a:pPr>
            <a:r>
              <a:rPr lang="zh-CN" altLang="en-US" sz="14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带宽、SLO、缓存命中率一变，最优压缩方法就变。离线搜索给候选，在线决策器持续选择，残差 bandit 修正理论模型的偏差。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证据：PD 分离 9.2× · 前缀缓存 32.8×</a:t>
            </a:r>
          </a:p>
        </p:txBody>
      </p:sp>
      <p:sp>
        <p:nvSpPr>
          <p:cNvPr id="5" name="tb"/>
          <p:cNvSpPr txBox="1"/>
          <p:nvPr/>
        </p:nvSpPr>
        <p:spPr>
          <a:xfrm>
            <a:off x="4197096" y="1417320"/>
            <a:ext cx="3611880" cy="228600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39903" tIns="139903" rIns="139903" bIns="139903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可插拔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480"/>
              </a:spcAft>
              <a:buNone/>
            </a:pP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算法是灵活组件，不是死代码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480"/>
              </a:spcAft>
              <a:buNone/>
            </a:pPr>
            <a:r>
              <a:rPr lang="zh-CN" altLang="en-US" sz="14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变换算子 / 量化器 / 编码器三段各自注册即可接入；换算法不改调度，换传输不改算法，也不动已训好的模型。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示例：Hadamard · MixHQ · nvCOMP</a:t>
            </a:r>
          </a:p>
        </p:txBody>
      </p:sp>
      <p:sp>
        <p:nvSpPr>
          <p:cNvPr id="6" name="tb"/>
          <p:cNvSpPr txBox="1"/>
          <p:nvPr/>
        </p:nvSpPr>
        <p:spPr>
          <a:xfrm>
            <a:off x="7991856" y="1417320"/>
            <a:ext cx="3611880" cy="228600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39903" tIns="139903" rIns="139903" bIns="139903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可组合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480"/>
              </a:spcAft>
              <a:buNone/>
            </a:pP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组合空间离线搜索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480"/>
              </a:spcAft>
              <a:buNone/>
            </a:pPr>
            <a:r>
              <a:rPr lang="zh-CN" altLang="en-US" sz="14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三个阶段自由组合后进入 3D Pareto 前沿，按质量与带宽约束取点，而不是挑一个固定配方。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证据：六任务平均 100.35% · 压缩率 8.28×</a:t>
            </a:r>
          </a:p>
        </p:txBody>
      </p:sp>
      <p:sp>
        <p:nvSpPr>
          <p:cNvPr id="7" name="tb"/>
          <p:cNvSpPr txBox="1"/>
          <p:nvPr/>
        </p:nvSpPr>
        <p:spPr>
          <a:xfrm>
            <a:off x="402336" y="3895344"/>
            <a:ext cx="1121968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同一套思想的两种落地 —— 也正是接下来的两节</a:t>
            </a:r>
          </a:p>
        </p:txBody>
      </p:sp>
      <p:sp>
        <p:nvSpPr>
          <p:cNvPr id="8" name="tb"/>
          <p:cNvSpPr txBox="1"/>
          <p:nvPr/>
        </p:nvSpPr>
        <p:spPr>
          <a:xfrm>
            <a:off x="402336" y="4279392"/>
            <a:ext cx="5577840" cy="128016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C8912F"/>
                </a:solidFill>
                <a:latin typeface="思源黑体 CN"/>
                <a:ea typeface="思源黑体 CN"/>
                <a:cs typeface="思源黑体 CN"/>
              </a:rPr>
              <a:t>接下来 · 更快的算法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FastKVComp：把压缩路径做到极致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同一套压缩语义重写成更快的实现：Decode 开销仅 +0.71%，端到端 JCT 最高降低 1.62×。</a:t>
            </a: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　→ 第 17–18 页</a:t>
            </a:r>
          </a:p>
        </p:txBody>
      </p:sp>
      <p:sp>
        <p:nvSpPr>
          <p:cNvPr id="9" name="tb"/>
          <p:cNvSpPr txBox="1"/>
          <p:nvPr/>
        </p:nvSpPr>
        <p:spPr>
          <a:xfrm>
            <a:off x="6245352" y="4279392"/>
            <a:ext cx="5888736" cy="128016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C8912F"/>
                </a:solidFill>
                <a:latin typeface="思源黑体 CN"/>
                <a:ea typeface="思源黑体 CN"/>
                <a:cs typeface="思源黑体 CN"/>
              </a:rPr>
              <a:t>接下来 · 存储层与框架层落地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KVServe-Kunpeng / Mooncake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把压缩下沉到多级 KV 缓存与共享存储池：DDR KV / rank −67.9%，Mooncake 链路 TTFT 1.53 s → 0.96 s。</a:t>
            </a: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　→ 第 19–22 页</a:t>
            </a:r>
          </a:p>
        </p:txBody>
      </p:sp>
      <p:sp>
        <p:nvSpPr>
          <p:cNvPr id="10" name="tb"/>
          <p:cNvSpPr txBox="1"/>
          <p:nvPr/>
        </p:nvSpPr>
        <p:spPr>
          <a:xfrm>
            <a:off x="402336" y="5742432"/>
            <a:ext cx="11219688" cy="603504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合起来才是服务感知：</a:t>
            </a:r>
            <a:r>
              <a:rPr lang="zh-CN" altLang="en-US" sz="125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算法选择随服务状态变化，而算法本身随时可被替换、可被组合 —— 这既是 KVServe 的接口，也是后面两节的出发点。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7200" b="1">
                <a:solidFill>
                  <a:srgbClr val="FFFFFF"/>
                </a:solidFill>
                <a:effectLst>
                  <a:outerShdw blurRad="40000" dist="25400" dir="2700000" algn="tl">
                    <a:srgbClr val="000000">
                      <a:alpha val="5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03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zh-CN" altLang="en-US" sz="2000" b="1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「从论文到工程</a:t>
            </a:r>
            <a:r>
              <a:rPr lang="zh-CN" altLang="en-US" sz="2000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落地</a:t>
            </a:r>
            <a:r>
              <a:rPr lang="zh-CN" altLang="en-US" sz="2000" b="1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 —— 同一思想延伸到更快的实现、存储层与框架生态」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9D9B2-423F-47BF-6CF3-AE07B246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852FC25-AF9A-559F-674F-449059D075B6}"/>
              </a:ext>
            </a:extLst>
          </p:cNvPr>
          <p:cNvSpPr txBox="1"/>
          <p:nvPr/>
        </p:nvSpPr>
        <p:spPr>
          <a:xfrm>
            <a:off x="492090" y="144790"/>
            <a:ext cx="10100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A2540"/>
                </a:solidFill>
                <a:uLnTx/>
                <a:uFillTx/>
                <a:latin typeface="微软雅黑"/>
                <a:ea typeface="微软雅黑"/>
                <a:cs typeface="微软雅黑"/>
                <a:sym typeface="+mn-ea"/>
              </a:rPr>
              <a:t>FastKVComp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A2540"/>
                </a:solidFill>
                <a:uLnTx/>
                <a:uFillTx/>
                <a:latin typeface="微软雅黑"/>
                <a:ea typeface="微软雅黑"/>
                <a:cs typeface="微软雅黑"/>
                <a:sym typeface="+mn-ea"/>
              </a:rPr>
              <a:t>：KV 压缩路径的极致性能优化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b240">
            <a:extLst>
              <a:ext uri="{FF2B5EF4-FFF2-40B4-BE49-F238E27FC236}">
                <a16:creationId xmlns:a16="http://schemas.microsoft.com/office/drawing/2014/main" id="{5051F1C0-FDC0-ED47-047C-730D05BA3DA2}"/>
              </a:ext>
            </a:extLst>
          </p:cNvPr>
          <p:cNvSpPr txBox="1"/>
          <p:nvPr/>
        </p:nvSpPr>
        <p:spPr>
          <a:xfrm>
            <a:off x="400050" y="929029"/>
            <a:ext cx="117919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KVServe的压缩路径目前仍存在性能优化机会，限制了其在更快的高速互联网络（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Infiniband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）中的拓展机会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262C3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BB1BD1F-5F79-0F2E-7190-3B72F8A1869B}"/>
              </a:ext>
            </a:extLst>
          </p:cNvPr>
          <p:cNvGrpSpPr/>
          <p:nvPr/>
        </p:nvGrpSpPr>
        <p:grpSpPr>
          <a:xfrm>
            <a:off x="6667244" y="4574877"/>
            <a:ext cx="6334126" cy="1404925"/>
            <a:chOff x="6834393" y="4388175"/>
            <a:chExt cx="6334126" cy="1404925"/>
          </a:xfrm>
        </p:grpSpPr>
        <p:sp>
          <p:nvSpPr>
            <p:cNvPr id="13" name="Rounded Rectangle 13">
              <a:extLst>
                <a:ext uri="{FF2B5EF4-FFF2-40B4-BE49-F238E27FC236}">
                  <a16:creationId xmlns:a16="http://schemas.microsoft.com/office/drawing/2014/main" id="{05894492-54F0-9430-A228-531954CB6EA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834393" y="4388175"/>
              <a:ext cx="5131465" cy="1404925"/>
            </a:xfrm>
            <a:prstGeom prst="roundRect">
              <a:avLst/>
            </a:prstGeom>
            <a:solidFill>
              <a:srgbClr val="F5F7FA"/>
            </a:solidFill>
            <a:ln w="12700">
              <a:solidFill>
                <a:srgbClr val="E0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89354F-D20F-6388-FA54-341AD82430B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024894" y="4483425"/>
              <a:ext cx="285750" cy="2857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DD6BF8-4562-37D0-660E-6B9280331B97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7453519" y="4464375"/>
              <a:ext cx="5715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1E2B4D"/>
                  </a:solidFill>
                  <a:latin typeface="微软雅黑" panose="020B0503020204020204" charset="-122"/>
                  <a:ea typeface="微软雅黑" panose="020B0503020204020204" charset="-122"/>
                </a:rPr>
                <a:t>替换成可扩展性的无损编码后端，释放吞吐上限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0869CF-2E11-2052-0713-26FE0E9D1EC9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7453519" y="4769175"/>
              <a:ext cx="4208821" cy="89471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 </a:t>
              </a:r>
              <a:r>
                <a:rPr lang="en" altLang="zh-CN" sz="1400" b="0" dirty="0" err="1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KVServe</a:t>
              </a:r>
              <a:r>
                <a:rPr lang="en" altLang="zh-C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经既有路径调用 </a:t>
              </a:r>
              <a:r>
                <a:rPr lang="en" altLang="zh-CN" sz="1400" b="0" dirty="0" err="1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nvCOMP</a:t>
              </a:r>
              <a:r>
                <a:rPr lang="zh-CN" altLang="e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算法选择有限，难以拓展。实测无损阶段端到端吞吐</a:t>
              </a:r>
              <a:r>
                <a:rPr lang="zh-CN" altLang="en-US" sz="1400" b="1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不足 </a:t>
              </a:r>
              <a:r>
                <a:rPr lang="en-US" altLang="zh-CN" sz="1400" b="1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100 </a:t>
              </a:r>
              <a:r>
                <a:rPr lang="en" altLang="zh-CN" sz="1400" b="1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GB/s</a:t>
              </a:r>
              <a:r>
                <a:rPr lang="zh-CN" altLang="e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需要更可组合的高性能原语。</a:t>
              </a:r>
              <a:endParaRPr sz="1400" b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E911D7C-B709-D422-628D-A385995CB4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4869" y="1332188"/>
            <a:ext cx="8071413" cy="2984605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11117EC6-3E42-2F3F-89E7-DABB3F8F4CC2}"/>
              </a:ext>
            </a:extLst>
          </p:cNvPr>
          <p:cNvGrpSpPr/>
          <p:nvPr/>
        </p:nvGrpSpPr>
        <p:grpSpPr>
          <a:xfrm>
            <a:off x="690769" y="4574877"/>
            <a:ext cx="6334125" cy="1404925"/>
            <a:chOff x="7310644" y="3546164"/>
            <a:chExt cx="6334125" cy="1404925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B4B760B-3498-6E20-26F8-5C3DB6296156}"/>
                </a:ext>
              </a:extLst>
            </p:cNvPr>
            <p:cNvGrpSpPr/>
            <p:nvPr/>
          </p:nvGrpSpPr>
          <p:grpSpPr>
            <a:xfrm>
              <a:off x="7310644" y="3546164"/>
              <a:ext cx="6334125" cy="1404925"/>
              <a:chOff x="6834394" y="2959425"/>
              <a:chExt cx="6334125" cy="1404925"/>
            </a:xfrm>
          </p:grpSpPr>
          <p:sp>
            <p:nvSpPr>
              <p:cNvPr id="9" name="Rounded Rectangle 9">
                <a:extLst>
                  <a:ext uri="{FF2B5EF4-FFF2-40B4-BE49-F238E27FC236}">
                    <a16:creationId xmlns:a16="http://schemas.microsoft.com/office/drawing/2014/main" id="{DACABA67-8E0B-E98D-4900-BC91D3A4BC23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6834394" y="2959425"/>
                <a:ext cx="5277412" cy="1404925"/>
              </a:xfrm>
              <a:prstGeom prst="roundRect">
                <a:avLst/>
              </a:prstGeom>
              <a:solidFill>
                <a:srgbClr val="F5F7FA"/>
              </a:solidFill>
              <a:ln w="12700">
                <a:solidFill>
                  <a:srgbClr val="E0E4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8A26A0ED-1814-6C12-8756-3E4E86B7CA09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453519" y="3035625"/>
                <a:ext cx="5715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1E2B4D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融合数据变换与量化操作，节省访存时间</a:t>
                </a:r>
                <a:endParaRPr sz="1600" b="1" dirty="0">
                  <a:solidFill>
                    <a:srgbClr val="1E2B4D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81AF4BFB-1D87-B163-5AA8-A96E240DEF1B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453519" y="3340425"/>
                <a:ext cx="420882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原路径把 </a:t>
                </a:r>
                <a:r>
                  <a:rPr lang="en" altLang="zh-CN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Transform </a:t>
                </a:r>
                <a:r>
                  <a:rPr lang="zh-CN" altLang="en-US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与 </a:t>
                </a:r>
                <a:r>
                  <a:rPr lang="en" altLang="zh-CN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Quantization </a:t>
                </a:r>
                <a:r>
                  <a:rPr lang="zh-CN" altLang="en-US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拆成两个 </a:t>
                </a:r>
                <a:r>
                  <a:rPr lang="en" altLang="zh-CN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GPU kernel</a:t>
                </a:r>
                <a:r>
                  <a:rPr lang="zh-CN" altLang="en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：</a:t>
                </a:r>
                <a:r>
                  <a:rPr lang="zh-CN" altLang="en-US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前者把完整中间张量写回 </a:t>
                </a:r>
                <a:r>
                  <a:rPr lang="en" altLang="zh-CN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HBM</a:t>
                </a:r>
                <a:r>
                  <a:rPr lang="zh-CN" altLang="en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，</a:t>
                </a:r>
                <a:r>
                  <a:rPr lang="zh-CN" altLang="en-US" sz="1400" b="0" dirty="0">
                    <a:solidFill>
                      <a:srgbClr val="555F7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后者再读回后量化。中间结果只服务下一阶段，却多付一次写读，并叠加两次启动与同步开销。</a:t>
                </a:r>
                <a:endParaRPr sz="12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0" name="Oval 6">
              <a:extLst>
                <a:ext uri="{FF2B5EF4-FFF2-40B4-BE49-F238E27FC236}">
                  <a16:creationId xmlns:a16="http://schemas.microsoft.com/office/drawing/2014/main" id="{73EF5BEF-0D76-3DFC-68D8-6E61DE645376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7537464" y="3664456"/>
              <a:ext cx="285750" cy="2857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9000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78B1-3664-8657-D7D7-3043D2F18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AC30B07-1FA3-63B3-60C6-707FE5750EBC}"/>
              </a:ext>
            </a:extLst>
          </p:cNvPr>
          <p:cNvSpPr txBox="1"/>
          <p:nvPr/>
        </p:nvSpPr>
        <p:spPr>
          <a:xfrm>
            <a:off x="492090" y="144790"/>
            <a:ext cx="10100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zh-CN" altLang="en-US" sz="2800" b="1" kern="0" dirty="0" err="1">
                <a:solidFill>
                  <a:srgbClr val="0A2540"/>
                </a:solidFill>
                <a:latin typeface="微软雅黑"/>
                <a:ea typeface="微软雅黑"/>
                <a:cs typeface="微软雅黑"/>
                <a:sym typeface="+mn-ea"/>
              </a:rPr>
              <a:t>FastKVComp</a:t>
            </a:r>
            <a:r>
              <a:rPr lang="zh-CN" altLang="en-US" sz="2800" b="1" kern="0" dirty="0">
                <a:solidFill>
                  <a:srgbClr val="0A2540"/>
                </a:solidFill>
                <a:latin typeface="微软雅黑"/>
                <a:ea typeface="微软雅黑"/>
                <a:cs typeface="微软雅黑"/>
                <a:sym typeface="+mn-ea"/>
              </a:rPr>
              <a:t>：压缩性能与端到端收益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b240">
            <a:extLst>
              <a:ext uri="{FF2B5EF4-FFF2-40B4-BE49-F238E27FC236}">
                <a16:creationId xmlns:a16="http://schemas.microsoft.com/office/drawing/2014/main" id="{3DA6CBD1-2599-C3CE-B566-23AAE21648D4}"/>
              </a:ext>
            </a:extLst>
          </p:cNvPr>
          <p:cNvSpPr txBox="1"/>
          <p:nvPr/>
        </p:nvSpPr>
        <p:spPr>
          <a:xfrm>
            <a:off x="492090" y="930275"/>
            <a:ext cx="11699910" cy="5232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测试环境为 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RTX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6000p 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H100 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异构节点，互联带宽为 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200Gb/s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IB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。包含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Qwen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7B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 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模型和三类数据集</a:t>
            </a:r>
            <a:endParaRPr lang="en-US" altLang="zh-CN" sz="1600" b="1" dirty="0">
              <a:solidFill>
                <a:srgbClr val="262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5D9800-3904-B258-B627-CFFF9EC60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33" y="1814691"/>
            <a:ext cx="7130547" cy="1688047"/>
          </a:xfrm>
          <a:prstGeom prst="rect">
            <a:avLst/>
          </a:prstGeom>
        </p:spPr>
      </p:pic>
      <p:sp>
        <p:nvSpPr>
          <p:cNvPr id="5" name="hdr200">
            <a:extLst>
              <a:ext uri="{FF2B5EF4-FFF2-40B4-BE49-F238E27FC236}">
                <a16:creationId xmlns:a16="http://schemas.microsoft.com/office/drawing/2014/main" id="{2FFDAF00-70BA-4CC8-24AC-E3FEDCD499CA}"/>
              </a:ext>
            </a:extLst>
          </p:cNvPr>
          <p:cNvSpPr/>
          <p:nvPr/>
        </p:nvSpPr>
        <p:spPr>
          <a:xfrm>
            <a:off x="2292033" y="1457407"/>
            <a:ext cx="3673493" cy="300948"/>
          </a:xfrm>
          <a:prstGeom prst="roundRect">
            <a:avLst>
              <a:gd name="adj" fmla="val 16000"/>
            </a:avLst>
          </a:prstGeom>
          <a:solidFill>
            <a:srgbClr val="0C4994">
              <a:alpha val="85912"/>
            </a:srgbClr>
          </a:solidFill>
          <a:ln>
            <a:noFill/>
          </a:ln>
        </p:spPr>
        <p:txBody>
          <a:bodyPr lIns="36000" rIns="36000" rtlCol="0" anchor="ctr"/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Kernel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LC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无损压缩性能评估</a:t>
            </a:r>
          </a:p>
        </p:txBody>
      </p:sp>
      <p:sp>
        <p:nvSpPr>
          <p:cNvPr id="6" name="tb220">
            <a:extLst>
              <a:ext uri="{FF2B5EF4-FFF2-40B4-BE49-F238E27FC236}">
                <a16:creationId xmlns:a16="http://schemas.microsoft.com/office/drawing/2014/main" id="{F44C3EE5-0489-469D-BE7B-66E00EBAD37C}"/>
              </a:ext>
            </a:extLst>
          </p:cNvPr>
          <p:cNvSpPr txBox="1"/>
          <p:nvPr/>
        </p:nvSpPr>
        <p:spPr>
          <a:xfrm>
            <a:off x="7671917" y="2063216"/>
            <a:ext cx="3959644" cy="13657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lvl="0" indent="-228600"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</a:t>
            </a:r>
            <a:r>
              <a:rPr lang="en-US" altLang="zh-CN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Kernel </a:t>
            </a: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将变换与量化计算速度提升 </a:t>
            </a:r>
            <a:r>
              <a:rPr lang="en-US" altLang="zh-CN" sz="15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3.9</a:t>
            </a:r>
            <a:r>
              <a:rPr lang="zh-CN" altLang="en-US" sz="15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</a:t>
            </a:r>
            <a:r>
              <a:rPr lang="en-US" altLang="zh-CN" sz="1500" b="1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5.8x</a:t>
            </a: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，降低 </a:t>
            </a:r>
            <a:r>
              <a:rPr lang="en-US" altLang="zh-CN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 </a:t>
            </a: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左右的延迟</a:t>
            </a:r>
            <a:endParaRPr lang="en-US" altLang="zh-CN" sz="1500" b="0" i="0" dirty="0">
              <a:solidFill>
                <a:srgbClr val="262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0" indent="-228600"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lang="en-US" altLang="zh-CN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LC </a:t>
            </a:r>
            <a:r>
              <a:rPr lang="zh-CN" altLang="en-US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无损压缩后端将压缩吞吐从 </a:t>
            </a:r>
            <a:r>
              <a:rPr lang="en-US" altLang="zh-CN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90GB/s </a:t>
            </a:r>
            <a:r>
              <a:rPr lang="zh-CN" altLang="en-US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提升到</a:t>
            </a:r>
            <a:r>
              <a:rPr lang="en-US" altLang="zh-CN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500+GB/s</a:t>
            </a:r>
            <a:r>
              <a:rPr lang="zh-CN" altLang="en-US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，带来极大的性能提升</a:t>
            </a:r>
            <a:endParaRPr lang="zh-CN" altLang="en-US" sz="1500" b="0" i="0" dirty="0">
              <a:solidFill>
                <a:srgbClr val="262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hdr200">
            <a:extLst>
              <a:ext uri="{FF2B5EF4-FFF2-40B4-BE49-F238E27FC236}">
                <a16:creationId xmlns:a16="http://schemas.microsoft.com/office/drawing/2014/main" id="{FEE76400-DA28-6C7D-E10F-9788C96C36F8}"/>
              </a:ext>
            </a:extLst>
          </p:cNvPr>
          <p:cNvSpPr/>
          <p:nvPr/>
        </p:nvSpPr>
        <p:spPr>
          <a:xfrm>
            <a:off x="2292033" y="3690712"/>
            <a:ext cx="3673493" cy="346444"/>
          </a:xfrm>
          <a:prstGeom prst="roundRect">
            <a:avLst>
              <a:gd name="adj" fmla="val 16000"/>
            </a:avLst>
          </a:prstGeom>
          <a:solidFill>
            <a:srgbClr val="0C4994">
              <a:alpha val="84053"/>
            </a:srgbClr>
          </a:solidFill>
          <a:ln>
            <a:noFill/>
          </a:ln>
        </p:spPr>
        <p:txBody>
          <a:bodyPr lIns="36000" rIns="36000" rtlCol="0" anchor="ctr"/>
          <a:lstStyle/>
          <a:p>
            <a:pPr algn="ctr"/>
            <a:r>
              <a:rPr lang="en-US" altLang="zh-CN" sz="14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FastKVComp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端到端性能评估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B2BE74A-4241-3530-7947-1ADDB0586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89" y="4132686"/>
            <a:ext cx="6806579" cy="2200418"/>
          </a:xfrm>
          <a:prstGeom prst="rect">
            <a:avLst/>
          </a:prstGeom>
        </p:spPr>
      </p:pic>
      <p:sp>
        <p:nvSpPr>
          <p:cNvPr id="9" name="tb220">
            <a:extLst>
              <a:ext uri="{FF2B5EF4-FFF2-40B4-BE49-F238E27FC236}">
                <a16:creationId xmlns:a16="http://schemas.microsoft.com/office/drawing/2014/main" id="{BD79FCED-C21E-A53F-058E-D4AB23638DC7}"/>
              </a:ext>
            </a:extLst>
          </p:cNvPr>
          <p:cNvSpPr txBox="1"/>
          <p:nvPr/>
        </p:nvSpPr>
        <p:spPr>
          <a:xfrm>
            <a:off x="7671917" y="4234916"/>
            <a:ext cx="3959644" cy="13657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lvl="0" indent="-228600"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lang="zh-CN" altLang="en-US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优化后的</a:t>
            </a:r>
            <a:r>
              <a:rPr lang="en-US" altLang="zh-CN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通信压缩</a:t>
            </a: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lang="en-US" altLang="zh-CN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200Gb/s </a:t>
            </a: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500" b="0" i="0" dirty="0" err="1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Infiniband</a:t>
            </a:r>
            <a:r>
              <a:rPr lang="en-US" altLang="zh-CN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0" i="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互联下仍有可观的性能收益</a:t>
            </a:r>
            <a:endParaRPr lang="en-US" altLang="zh-CN" sz="1500" b="0" i="0" dirty="0">
              <a:solidFill>
                <a:srgbClr val="262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0" indent="-228600"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lang="en-US" altLang="zh-CN" sz="1500" dirty="0" err="1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FastKVComp</a:t>
            </a:r>
            <a:r>
              <a:rPr lang="zh-CN" altLang="en-US" sz="1500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zh-CN" altLang="en-US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作业完成时间（</a:t>
            </a:r>
            <a:r>
              <a:rPr lang="en-US" altLang="zh-CN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JCT</a:t>
            </a:r>
            <a:r>
              <a:rPr lang="zh-CN" altLang="en-US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最高降低 </a:t>
            </a:r>
            <a:r>
              <a:rPr lang="en-US" altLang="zh-CN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1.62x</a:t>
            </a:r>
            <a:r>
              <a:rPr lang="zh-CN" altLang="en-US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，推理吞吐最高提升 </a:t>
            </a:r>
            <a:r>
              <a:rPr lang="en-US" altLang="zh-CN" sz="15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1.63x</a:t>
            </a:r>
            <a:endParaRPr lang="zh-CN" altLang="en-US" sz="1500" b="1" i="0" dirty="0">
              <a:solidFill>
                <a:srgbClr val="262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8180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137827"/>
            <a:ext cx="9238811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KVServe-Kunpeng：落地深超鲲鹏平台，优化多级KV缓存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1051447"/>
            <a:ext cx="11384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dirty="0">
                <a:solidFill>
                  <a:srgbClr val="262C38"/>
                </a:solidFill>
                <a:latin typeface="微软雅黑"/>
              </a:rPr>
              <a:t>■  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</a:rPr>
              <a:t>优化思路：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</a:rPr>
              <a:t>cache 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</a:rPr>
              <a:t>混合精度量化，实现容量和精度的折中</a:t>
            </a:r>
            <a:endParaRPr sz="1600" b="1" dirty="0">
              <a:solidFill>
                <a:srgbClr val="262C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1790325"/>
            <a:ext cx="6812280" cy="402336"/>
          </a:xfrm>
          <a:prstGeom prst="roundRect">
            <a:avLst/>
          </a:prstGeom>
          <a:solidFill>
            <a:srgbClr val="1958A6"/>
          </a:solidFill>
          <a:ln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端到端量化路径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238381"/>
            <a:ext cx="665683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>
                <a:solidFill>
                  <a:srgbClr val="555F70"/>
                </a:solidFill>
                <a:latin typeface="微软雅黑"/>
              </a:rPr>
              <a:t>Prefill 写入即压缩，cache round-trip 保持量化数据、scale / zero-point 与精度元数据一致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2686437"/>
            <a:ext cx="1078992" cy="7863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262C38"/>
                </a:solidFill>
                <a:latin typeface="微软雅黑"/>
              </a:rPr>
              <a:t>Prefill
BF16 KV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72768" y="3079629"/>
            <a:ext cx="301751" cy="0"/>
          </a:xfrm>
          <a:prstGeom prst="line">
            <a:avLst/>
          </a:prstGeom>
          <a:ln w="25400">
            <a:solidFill>
              <a:srgbClr val="053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01952" y="2594997"/>
            <a:ext cx="1993392" cy="987552"/>
          </a:xfrm>
          <a:prstGeom prst="roundRect">
            <a:avLst/>
          </a:prstGeom>
          <a:solidFill>
            <a:srgbClr val="E9F1FB"/>
          </a:solidFill>
          <a:ln w="15240"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29968" y="2686437"/>
            <a:ext cx="17190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053E8B"/>
                </a:solidFill>
                <a:latin typeface="微软雅黑"/>
              </a:rPr>
              <a:t>分层混合精度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56" y="2979045"/>
            <a:ext cx="73152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053E8B"/>
                </a:solidFill>
                <a:latin typeface="微软雅黑"/>
              </a:rPr>
              <a:t>前 16 层
INT8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979045"/>
            <a:ext cx="73152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C00000"/>
                </a:solidFill>
                <a:latin typeface="微软雅黑"/>
              </a:rPr>
              <a:t>后 45 层
INT4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13632" y="3079629"/>
            <a:ext cx="292608" cy="0"/>
          </a:xfrm>
          <a:prstGeom prst="line">
            <a:avLst/>
          </a:prstGeom>
          <a:ln w="25400">
            <a:solidFill>
              <a:srgbClr val="053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33672" y="2686437"/>
            <a:ext cx="1417320" cy="78638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20" b="1">
                <a:solidFill>
                  <a:srgbClr val="262C38"/>
                </a:solidFill>
                <a:latin typeface="微软雅黑"/>
              </a:rPr>
              <a:t>DDR backing
data + scale + zero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3079629"/>
            <a:ext cx="292608" cy="0"/>
          </a:xfrm>
          <a:prstGeom prst="line">
            <a:avLst/>
          </a:prstGeom>
          <a:ln w="25400">
            <a:solidFill>
              <a:srgbClr val="053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2686437"/>
            <a:ext cx="1097280" cy="786384"/>
          </a:xfrm>
          <a:prstGeom prst="roundRect">
            <a:avLst/>
          </a:prstGeom>
          <a:solidFill>
            <a:srgbClr val="FCEEEE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80" b="1">
                <a:solidFill>
                  <a:srgbClr val="262C38"/>
                </a:solidFill>
                <a:latin typeface="微软雅黑"/>
              </a:rPr>
              <a:t>FlashMLA Decode
row-block 解量化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38581"/>
            <a:ext cx="6812280" cy="402336"/>
          </a:xfrm>
          <a:prstGeom prst="roundRect">
            <a:avLst/>
          </a:prstGeom>
          <a:solidFill>
            <a:srgbClr val="1958A6"/>
          </a:solidFill>
          <a:ln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容量 / 性能实测（Q16）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295781"/>
            <a:ext cx="2514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50" b="1">
                <a:solidFill>
                  <a:srgbClr val="262C38"/>
                </a:solidFill>
                <a:latin typeface="微软雅黑"/>
              </a:rPr>
              <a:t>DDR KV / 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70685"/>
            <a:ext cx="50292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555F70"/>
                </a:solidFill>
                <a:latin typeface="微软雅黑"/>
              </a:rPr>
              <a:t>BF16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" y="4707261"/>
            <a:ext cx="2377440" cy="219456"/>
          </a:xfrm>
          <a:prstGeom prst="rect">
            <a:avLst/>
          </a:prstGeom>
          <a:solidFill>
            <a:srgbClr val="D9DDE5"/>
          </a:solidFill>
          <a:ln>
            <a:solidFill>
              <a:srgbClr val="D9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4643253"/>
            <a:ext cx="80467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130" b="1">
                <a:solidFill>
                  <a:srgbClr val="262C38"/>
                </a:solidFill>
                <a:latin typeface="微软雅黑"/>
              </a:rPr>
              <a:t>1367.2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82165"/>
            <a:ext cx="50292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053E8B"/>
                </a:solidFill>
                <a:latin typeface="微软雅黑"/>
              </a:rPr>
              <a:t>Q16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" y="5118741"/>
            <a:ext cx="758952" cy="21945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240" y="5054733"/>
            <a:ext cx="841248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>
                <a:solidFill>
                  <a:srgbClr val="C00000"/>
                </a:solidFill>
                <a:latin typeface="微软雅黑"/>
              </a:rPr>
              <a:t>438.6 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118741"/>
            <a:ext cx="10515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1550" b="1">
                <a:solidFill>
                  <a:srgbClr val="C00000"/>
                </a:solidFill>
                <a:latin typeface="微软雅黑"/>
              </a:rPr>
              <a:t>−67.9%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85085"/>
            <a:ext cx="36118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40" b="0">
                <a:solidFill>
                  <a:srgbClr val="555F70"/>
                </a:solidFill>
                <a:latin typeface="微软雅黑"/>
              </a:rPr>
              <a:t>Q0 全 INT4 可节省 74.5%，但 Decode 开销增至 +3.49%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473110"/>
              </p:ext>
            </p:extLst>
          </p:nvPr>
        </p:nvGraphicFramePr>
        <p:xfrm>
          <a:off x="4224528" y="4387221"/>
          <a:ext cx="2871216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C38"/>
                          </a:solidFill>
                          <a:latin typeface="微软雅黑"/>
                        </a:rPr>
                        <a:t>BF16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C38"/>
                          </a:solidFill>
                          <a:latin typeface="微软雅黑"/>
                        </a:rPr>
                        <a:t>Q16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C38"/>
                          </a:solidFill>
                          <a:latin typeface="微软雅黑"/>
                        </a:rPr>
                        <a:t>开销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C38"/>
                          </a:solidFill>
                          <a:latin typeface="微软雅黑"/>
                        </a:rPr>
                        <a:t>Prefill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C38"/>
                          </a:solidFill>
                          <a:latin typeface="微软雅黑"/>
                        </a:rPr>
                        <a:t>1969.2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C38"/>
                          </a:solidFill>
                          <a:latin typeface="微软雅黑"/>
                        </a:rPr>
                        <a:t>1979.7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00000"/>
                          </a:solidFill>
                          <a:latin typeface="微软雅黑"/>
                        </a:rPr>
                        <a:t>+0.53%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C38"/>
                          </a:solidFill>
                          <a:latin typeface="微软雅黑"/>
                        </a:rPr>
                        <a:t>Decode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C38"/>
                          </a:solidFill>
                          <a:latin typeface="微软雅黑"/>
                        </a:rPr>
                        <a:t>1151.8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C38"/>
                          </a:solidFill>
                          <a:latin typeface="微软雅黑"/>
                        </a:rPr>
                        <a:t>1159.9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00000"/>
                          </a:solidFill>
                          <a:latin typeface="微软雅黑"/>
                        </a:rPr>
                        <a:t>+0.71%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224528" y="5493645"/>
            <a:ext cx="28712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40" b="0">
                <a:solidFill>
                  <a:srgbClr val="555F70"/>
                </a:solidFill>
                <a:latin typeface="微软雅黑"/>
              </a:rPr>
              <a:t>Decode 吞吐 55.18 tok/s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790325"/>
            <a:ext cx="4416552" cy="402336"/>
          </a:xfrm>
          <a:prstGeom prst="roundRect">
            <a:avLst/>
          </a:prstGeom>
          <a:solidFill>
            <a:srgbClr val="1958A6"/>
          </a:solidFill>
          <a:ln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阶段结论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311533"/>
            <a:ext cx="41605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053E8B"/>
                </a:solidFill>
                <a:latin typeface="微软雅黑"/>
              </a:rPr>
              <a:t>•  </a:t>
            </a:r>
            <a:r>
              <a:rPr sz="1600" b="1" dirty="0" err="1">
                <a:solidFill>
                  <a:srgbClr val="053E8B"/>
                </a:solidFill>
                <a:latin typeface="微软雅黑"/>
              </a:rPr>
              <a:t>基线：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Prefill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1070.79 input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tok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/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s，Decode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57.46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tok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/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s，后续比较沿用统一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backend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与统计口径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469805"/>
            <a:ext cx="41605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053E8B"/>
                </a:solidFill>
                <a:latin typeface="微软雅黑"/>
              </a:rPr>
              <a:t>•  主候选：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Q16 = 16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层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INT8 + 45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层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INT4，在容量收益和 Decode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开销之间最均衡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4615821"/>
            <a:ext cx="41605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053E8B"/>
                </a:solidFill>
                <a:latin typeface="微软雅黑"/>
              </a:rPr>
              <a:t>•  </a:t>
            </a:r>
            <a:r>
              <a:rPr sz="1600" b="1" dirty="0" err="1">
                <a:solidFill>
                  <a:srgbClr val="053E8B"/>
                </a:solidFill>
                <a:latin typeface="微软雅黑"/>
              </a:rPr>
              <a:t>收益：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DDR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KV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从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1367.2 MB/rank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降至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438.6 MB/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rank；Prefill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/ Decode </a:t>
            </a:r>
            <a:r>
              <a:rPr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开销仅</a:t>
            </a:r>
            <a:r>
              <a:rPr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</a:rPr>
              <a:t> +0.53% / +0.71%。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EA25-8168-F90D-51C3-4C80C6BE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63D6B-CCBB-5C53-617C-1A36E42C84CE}"/>
              </a:ext>
            </a:extLst>
          </p:cNvPr>
          <p:cNvSpPr txBox="1"/>
          <p:nvPr/>
        </p:nvSpPr>
        <p:spPr>
          <a:xfrm>
            <a:off x="493776" y="137827"/>
            <a:ext cx="8281819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KVServe-Kunpeng：</a:t>
            </a:r>
            <a:r>
              <a:rPr lang="en-US" altLang="zh-CN" sz="260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CPU</a:t>
            </a:r>
            <a:r>
              <a:rPr lang="zh-CN" altLang="en-US" sz="260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260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KV</a:t>
            </a:r>
            <a:r>
              <a:rPr lang="zh-CN" altLang="en-US" sz="260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260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Cache</a:t>
            </a:r>
            <a:r>
              <a:rPr lang="zh-CN" altLang="en-US" sz="2600" b="1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压缩的原生加速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2" name="ulLong">
            <a:extLst>
              <a:ext uri="{FF2B5EF4-FFF2-40B4-BE49-F238E27FC236}">
                <a16:creationId xmlns:a16="http://schemas.microsoft.com/office/drawing/2014/main" id="{2D7EFA80-6BB2-2491-2DAD-94219182EE35}"/>
              </a:ext>
            </a:extLst>
          </p:cNvPr>
          <p:cNvSpPr>
            <a:spLocks noGrp="1"/>
          </p:cNvSpPr>
          <p:nvPr/>
        </p:nvSpPr>
        <p:spPr>
          <a:xfrm>
            <a:off x="745067" y="898343"/>
            <a:ext cx="11008783" cy="0"/>
          </a:xfrm>
          <a:prstGeom prst="line">
            <a:avLst/>
          </a:prstGeom>
          <a:ln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3" name="ulShort">
            <a:extLst>
              <a:ext uri="{FF2B5EF4-FFF2-40B4-BE49-F238E27FC236}">
                <a16:creationId xmlns:a16="http://schemas.microsoft.com/office/drawing/2014/main" id="{C9DE63D2-39B7-BF53-C1D3-E0341CD12B13}"/>
              </a:ext>
            </a:extLst>
          </p:cNvPr>
          <p:cNvSpPr>
            <a:spLocks noGrp="1"/>
          </p:cNvSpPr>
          <p:nvPr/>
        </p:nvSpPr>
        <p:spPr>
          <a:xfrm>
            <a:off x="427106" y="897970"/>
            <a:ext cx="589713" cy="0"/>
          </a:xfrm>
          <a:prstGeom prst="line">
            <a:avLst/>
          </a:prstGeom>
          <a:ln w="38100">
            <a:solidFill>
              <a:srgbClr val="053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5" name="tb251">
            <a:extLst>
              <a:ext uri="{FF2B5EF4-FFF2-40B4-BE49-F238E27FC236}">
                <a16:creationId xmlns:a16="http://schemas.microsoft.com/office/drawing/2014/main" id="{C7806A3A-5AA6-32C7-0668-C0FFA87F4C48}"/>
              </a:ext>
            </a:extLst>
          </p:cNvPr>
          <p:cNvSpPr>
            <a:spLocks noGrp="1"/>
          </p:cNvSpPr>
          <p:nvPr/>
        </p:nvSpPr>
        <p:spPr>
          <a:xfrm>
            <a:off x="7482205" y="1872925"/>
            <a:ext cx="3846195" cy="4197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400" b="1" i="0" dirty="0" err="1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核心目标：将局部</a:t>
            </a:r>
            <a:r>
              <a:rPr sz="1400" b="1" i="0" dirty="0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 Hadamard </a:t>
            </a:r>
            <a:r>
              <a:rPr sz="1400" b="1" i="0" dirty="0" err="1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子问题“原地”保留在</a:t>
            </a:r>
            <a:r>
              <a:rPr sz="1400" b="1" i="0" dirty="0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 ZA </a:t>
            </a:r>
            <a:r>
              <a:rPr sz="1400" b="1" i="0" dirty="0" err="1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中完成</a:t>
            </a:r>
            <a:endParaRPr sz="1400" b="1" i="0" dirty="0">
              <a:solidFill>
                <a:srgbClr val="262C38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sz="1400" b="1" i="0" dirty="0">
              <a:solidFill>
                <a:srgbClr val="262C38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400" b="1" i="0" dirty="0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单batch情况最高可加速</a:t>
            </a:r>
            <a:r>
              <a:rPr sz="14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14x</a:t>
            </a:r>
            <a:r>
              <a:rPr sz="1400" b="1" i="0" dirty="0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；32batch情况最高可加速</a:t>
            </a:r>
            <a:r>
              <a:rPr sz="1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1.73x</a:t>
            </a:r>
          </a:p>
        </p:txBody>
      </p:sp>
      <p:pic>
        <p:nvPicPr>
          <p:cNvPr id="36" name="图片 2">
            <a:extLst>
              <a:ext uri="{FF2B5EF4-FFF2-40B4-BE49-F238E27FC236}">
                <a16:creationId xmlns:a16="http://schemas.microsoft.com/office/drawing/2014/main" id="{B7AF4594-445B-11EF-DA0D-8BAE2D9636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92"/>
          <a:stretch>
            <a:fillRect/>
          </a:stretch>
        </p:blipFill>
        <p:spPr>
          <a:xfrm>
            <a:off x="342900" y="1436785"/>
            <a:ext cx="3355857" cy="1853018"/>
          </a:xfrm>
          <a:prstGeom prst="rect">
            <a:avLst/>
          </a:prstGeom>
        </p:spPr>
      </p:pic>
      <p:pic>
        <p:nvPicPr>
          <p:cNvPr id="37" name="图片 7">
            <a:extLst>
              <a:ext uri="{FF2B5EF4-FFF2-40B4-BE49-F238E27FC236}">
                <a16:creationId xmlns:a16="http://schemas.microsoft.com/office/drawing/2014/main" id="{7108F44B-9FEF-7306-A80D-B874F6E1E5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71"/>
          <a:stretch>
            <a:fillRect/>
          </a:stretch>
        </p:blipFill>
        <p:spPr>
          <a:xfrm>
            <a:off x="3748757" y="1436785"/>
            <a:ext cx="3374792" cy="1853020"/>
          </a:xfrm>
          <a:prstGeom prst="rect">
            <a:avLst/>
          </a:prstGeom>
        </p:spPr>
      </p:pic>
      <p:sp>
        <p:nvSpPr>
          <p:cNvPr id="38" name="tb251">
            <a:extLst>
              <a:ext uri="{FF2B5EF4-FFF2-40B4-BE49-F238E27FC236}">
                <a16:creationId xmlns:a16="http://schemas.microsoft.com/office/drawing/2014/main" id="{4E2FFDFE-D67E-3D6B-EA30-AC08FE35DE0A}"/>
              </a:ext>
            </a:extLst>
          </p:cNvPr>
          <p:cNvSpPr>
            <a:spLocks noGrp="1"/>
          </p:cNvSpPr>
          <p:nvPr/>
        </p:nvSpPr>
        <p:spPr>
          <a:xfrm>
            <a:off x="400000" y="1030000"/>
            <a:ext cx="6307455" cy="4197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FWHT变换算子</a:t>
            </a:r>
          </a:p>
        </p:txBody>
      </p:sp>
      <p:pic>
        <p:nvPicPr>
          <p:cNvPr id="39" name="图片 11">
            <a:extLst>
              <a:ext uri="{FF2B5EF4-FFF2-40B4-BE49-F238E27FC236}">
                <a16:creationId xmlns:a16="http://schemas.microsoft.com/office/drawing/2014/main" id="{1B3D9F33-3701-0355-D663-0495C1401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9" y="3938187"/>
            <a:ext cx="5508507" cy="2021470"/>
          </a:xfrm>
          <a:prstGeom prst="rect">
            <a:avLst/>
          </a:prstGeom>
        </p:spPr>
      </p:pic>
      <p:sp>
        <p:nvSpPr>
          <p:cNvPr id="40" name="tb251">
            <a:extLst>
              <a:ext uri="{FF2B5EF4-FFF2-40B4-BE49-F238E27FC236}">
                <a16:creationId xmlns:a16="http://schemas.microsoft.com/office/drawing/2014/main" id="{B17055BC-D683-A55A-D55C-85839B7481A5}"/>
              </a:ext>
            </a:extLst>
          </p:cNvPr>
          <p:cNvSpPr>
            <a:spLocks noGrp="1"/>
          </p:cNvSpPr>
          <p:nvPr/>
        </p:nvSpPr>
        <p:spPr>
          <a:xfrm>
            <a:off x="400000" y="3540000"/>
            <a:ext cx="6307455" cy="41973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量化与解量化算子</a:t>
            </a:r>
          </a:p>
        </p:txBody>
      </p:sp>
      <p:pic>
        <p:nvPicPr>
          <p:cNvPr id="41" name="图片 15">
            <a:extLst>
              <a:ext uri="{FF2B5EF4-FFF2-40B4-BE49-F238E27FC236}">
                <a16:creationId xmlns:a16="http://schemas.microsoft.com/office/drawing/2014/main" id="{28DB385C-D465-C323-C6AB-4BBE148B1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205" y="3738875"/>
            <a:ext cx="3872230" cy="640080"/>
          </a:xfrm>
          <a:prstGeom prst="rect">
            <a:avLst/>
          </a:prstGeom>
        </p:spPr>
      </p:pic>
      <p:pic>
        <p:nvPicPr>
          <p:cNvPr id="42" name="图片 17">
            <a:extLst>
              <a:ext uri="{FF2B5EF4-FFF2-40B4-BE49-F238E27FC236}">
                <a16:creationId xmlns:a16="http://schemas.microsoft.com/office/drawing/2014/main" id="{7400EF61-5301-489F-8A28-BB28D8D25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205" y="4895210"/>
            <a:ext cx="3882390" cy="641985"/>
          </a:xfrm>
          <a:prstGeom prst="rect">
            <a:avLst/>
          </a:prstGeom>
        </p:spPr>
      </p:pic>
      <p:sp>
        <p:nvSpPr>
          <p:cNvPr id="43" name="tb251">
            <a:extLst>
              <a:ext uri="{FF2B5EF4-FFF2-40B4-BE49-F238E27FC236}">
                <a16:creationId xmlns:a16="http://schemas.microsoft.com/office/drawing/2014/main" id="{46ED92FD-01BC-F6BB-914F-9668F2755258}"/>
              </a:ext>
            </a:extLst>
          </p:cNvPr>
          <p:cNvSpPr>
            <a:spLocks noGrp="1"/>
          </p:cNvSpPr>
          <p:nvPr/>
        </p:nvSpPr>
        <p:spPr>
          <a:xfrm>
            <a:off x="7482205" y="3360000"/>
            <a:ext cx="4443695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单机Prefill阶段延迟</a:t>
            </a:r>
          </a:p>
        </p:txBody>
      </p:sp>
      <p:sp>
        <p:nvSpPr>
          <p:cNvPr id="44" name="tb251">
            <a:extLst>
              <a:ext uri="{FF2B5EF4-FFF2-40B4-BE49-F238E27FC236}">
                <a16:creationId xmlns:a16="http://schemas.microsoft.com/office/drawing/2014/main" id="{3E7B760C-539E-CDD8-4ACF-960BFE810D1A}"/>
              </a:ext>
            </a:extLst>
          </p:cNvPr>
          <p:cNvSpPr>
            <a:spLocks noGrp="1"/>
          </p:cNvSpPr>
          <p:nvPr/>
        </p:nvSpPr>
        <p:spPr>
          <a:xfrm>
            <a:off x="7482205" y="4530000"/>
            <a:ext cx="4443123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单机Decode阶段延迟</a:t>
            </a:r>
          </a:p>
        </p:txBody>
      </p:sp>
      <p:sp>
        <p:nvSpPr>
          <p:cNvPr id="46" name="灯片编号占位符 4">
            <a:extLst>
              <a:ext uri="{FF2B5EF4-FFF2-40B4-BE49-F238E27FC236}">
                <a16:creationId xmlns:a16="http://schemas.microsoft.com/office/drawing/2014/main" id="{BB22D128-228D-7D7C-CB73-4CBEC82725FB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394428-F1DC-E5F6-DB0C-7DE31F3D8A23}" type="slidenum">
              <a:rPr lang="en-US" altLang="zh-CN" sz="1200" smtClean="0">
                <a:solidFill>
                  <a:prstClr val="black">
                    <a:tint val="75000"/>
                  </a:prstClr>
                </a:solidFill>
                <a:latin typeface="Arial"/>
                <a:ea typeface="Arial"/>
                <a:cs typeface="Arial"/>
              </a:rPr>
              <a:pPr algn="r"/>
              <a:t>23</a:t>
            </a:fld>
            <a:endParaRPr lang="en-US" altLang="zh-CN" sz="1200">
              <a:solidFill>
                <a:prstClr val="black">
                  <a:tint val="75000"/>
                </a:prstClr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237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122438"/>
            <a:ext cx="6721712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zh-CN" altLang="en-US" sz="2800" b="1" kern="0" dirty="0">
                <a:solidFill>
                  <a:srgbClr val="0A2540"/>
                </a:solidFill>
                <a:latin typeface="微软雅黑"/>
                <a:ea typeface="微软雅黑"/>
                <a:cs typeface="微软雅黑"/>
              </a:rPr>
              <a:t>Kvserve-Kunpeng： 多级缓存前缀复用</a:t>
            </a:r>
            <a:endParaRPr sz="28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871460"/>
            <a:ext cx="11384280" cy="815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dirty="0">
                <a:solidFill>
                  <a:srgbClr val="262C38"/>
                </a:solidFill>
                <a:latin typeface="微软雅黑"/>
              </a:rPr>
              <a:t>■  </a:t>
            </a:r>
            <a:r>
              <a:rPr sz="1550" b="1" dirty="0" err="1">
                <a:solidFill>
                  <a:srgbClr val="262C38"/>
                </a:solidFill>
                <a:latin typeface="微软雅黑"/>
              </a:rPr>
              <a:t>已</a:t>
            </a:r>
            <a:r>
              <a:rPr lang="zh-CN" altLang="en-US" sz="1550" b="1" dirty="0">
                <a:solidFill>
                  <a:srgbClr val="262C38"/>
                </a:solidFill>
                <a:latin typeface="微软雅黑"/>
              </a:rPr>
              <a:t>实现</a:t>
            </a:r>
            <a:r>
              <a:rPr sz="1550" b="1" dirty="0">
                <a:solidFill>
                  <a:srgbClr val="262C38"/>
                </a:solidFill>
                <a:latin typeface="微软雅黑"/>
              </a:rPr>
              <a:t> Qwen3-14B </a:t>
            </a:r>
            <a:r>
              <a:rPr sz="1550" b="1" dirty="0" err="1">
                <a:solidFill>
                  <a:srgbClr val="262C38"/>
                </a:solidFill>
                <a:latin typeface="微软雅黑"/>
              </a:rPr>
              <a:t>连续批处理与</a:t>
            </a:r>
            <a:r>
              <a:rPr sz="1550" b="1" dirty="0">
                <a:solidFill>
                  <a:srgbClr val="262C38"/>
                </a:solidFill>
                <a:latin typeface="微软雅黑"/>
              </a:rPr>
              <a:t> </a:t>
            </a:r>
            <a:r>
              <a:rPr sz="1550" b="1" dirty="0">
                <a:solidFill>
                  <a:srgbClr val="C00000"/>
                </a:solidFill>
                <a:latin typeface="微软雅黑"/>
              </a:rPr>
              <a:t>DDR + SSD</a:t>
            </a:r>
            <a:r>
              <a:rPr sz="1550" b="1" dirty="0">
                <a:solidFill>
                  <a:srgbClr val="262C38"/>
                </a:solidFill>
                <a:latin typeface="微软雅黑"/>
              </a:rPr>
              <a:t> 多级缓存；14 </a:t>
            </a:r>
            <a:r>
              <a:rPr sz="1550" b="1" dirty="0" err="1">
                <a:solidFill>
                  <a:srgbClr val="262C38"/>
                </a:solidFill>
                <a:latin typeface="微软雅黑"/>
              </a:rPr>
              <a:t>请求中复用</a:t>
            </a:r>
            <a:r>
              <a:rPr sz="1550" b="1" dirty="0">
                <a:solidFill>
                  <a:srgbClr val="262C38"/>
                </a:solidFill>
                <a:latin typeface="微软雅黑"/>
              </a:rPr>
              <a:t> 33.9% prompt </a:t>
            </a:r>
            <a:r>
              <a:rPr sz="1550" b="1" dirty="0" err="1">
                <a:solidFill>
                  <a:srgbClr val="262C38"/>
                </a:solidFill>
                <a:latin typeface="微软雅黑"/>
              </a:rPr>
              <a:t>token，输出字节级一致</a:t>
            </a:r>
            <a:endParaRPr lang="en-US" sz="1550" b="1" dirty="0">
              <a:solidFill>
                <a:srgbClr val="262C38"/>
              </a:solidFill>
              <a:latin typeface="微软雅黑"/>
            </a:endParaRPr>
          </a:p>
          <a:p>
            <a:r>
              <a:rPr lang="zh-CN" altLang="en-US" sz="1550" b="1" dirty="0">
                <a:solidFill>
                  <a:srgbClr val="262C38"/>
                </a:solidFill>
                <a:latin typeface="微软雅黑"/>
              </a:rPr>
              <a:t>■  双路基线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</a:rPr>
              <a:t>结果：打</a:t>
            </a:r>
            <a:r>
              <a:rPr lang="zh-CN" altLang="en-US" sz="1550" b="1" dirty="0">
                <a:solidFill>
                  <a:srgbClr val="262C38"/>
                </a:solidFill>
                <a:latin typeface="微软雅黑"/>
              </a:rPr>
              <a:t>通 </a:t>
            </a:r>
            <a:r>
              <a:rPr lang="en" altLang="zh-CN" sz="1550" b="1" dirty="0">
                <a:solidFill>
                  <a:srgbClr val="262C38"/>
                </a:solidFill>
                <a:latin typeface="微软雅黑"/>
              </a:rPr>
              <a:t>Prefill → DDR → Decode </a:t>
            </a:r>
            <a:r>
              <a:rPr lang="zh-CN" altLang="en-US" sz="1550" b="1" dirty="0">
                <a:solidFill>
                  <a:srgbClr val="262C38"/>
                </a:solidFill>
                <a:latin typeface="微软雅黑"/>
              </a:rPr>
              <a:t>量化链路，</a:t>
            </a:r>
            <a:r>
              <a:rPr lang="en" altLang="zh-CN" sz="1550" b="1" dirty="0">
                <a:solidFill>
                  <a:srgbClr val="262C38"/>
                </a:solidFill>
                <a:latin typeface="微软雅黑"/>
              </a:rPr>
              <a:t>KV </a:t>
            </a:r>
            <a:r>
              <a:rPr lang="zh-CN" altLang="en-US" sz="1600" b="1" dirty="0">
                <a:solidFill>
                  <a:srgbClr val="262C38"/>
                </a:solidFill>
                <a:latin typeface="微软雅黑" panose="020B0503020204020204" charset="-122"/>
                <a:ea typeface="微软雅黑" panose="020B0503020204020204" charset="-122"/>
              </a:rPr>
              <a:t>缓存压力降低 </a:t>
            </a:r>
            <a:r>
              <a:rPr lang="en-US" altLang="zh-CN" sz="1550" b="1" dirty="0">
                <a:solidFill>
                  <a:srgbClr val="C00000"/>
                </a:solidFill>
                <a:latin typeface="微软雅黑"/>
              </a:rPr>
              <a:t>67.9%</a:t>
            </a:r>
            <a:r>
              <a:rPr lang="zh-CN" altLang="en-US" sz="1550" b="1" dirty="0">
                <a:solidFill>
                  <a:srgbClr val="262C38"/>
                </a:solidFill>
                <a:latin typeface="微软雅黑"/>
              </a:rPr>
              <a:t>，</a:t>
            </a:r>
            <a:r>
              <a:rPr lang="en" altLang="zh-CN" sz="1550" b="1" dirty="0">
                <a:solidFill>
                  <a:srgbClr val="262C38"/>
                </a:solidFill>
                <a:latin typeface="微软雅黑"/>
              </a:rPr>
              <a:t>Decode </a:t>
            </a:r>
            <a:r>
              <a:rPr lang="zh-CN" altLang="en-US" sz="1550" b="1" dirty="0">
                <a:solidFill>
                  <a:srgbClr val="262C38"/>
                </a:solidFill>
                <a:latin typeface="微软雅黑"/>
              </a:rPr>
              <a:t>开销仅 </a:t>
            </a:r>
            <a:r>
              <a:rPr lang="en-US" altLang="zh-CN" sz="1550" b="1" dirty="0">
                <a:solidFill>
                  <a:srgbClr val="262C38"/>
                </a:solidFill>
                <a:latin typeface="微软雅黑"/>
              </a:rPr>
              <a:t>+0.71%</a:t>
            </a:r>
            <a:endParaRPr lang="zh-CN" altLang="en-US" sz="1550" b="1" dirty="0">
              <a:solidFill>
                <a:srgbClr val="262C38"/>
              </a:solidFill>
              <a:latin typeface="微软雅黑"/>
            </a:endParaRPr>
          </a:p>
          <a:p>
            <a:pPr algn="l"/>
            <a:endParaRPr sz="1550" b="1" dirty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1719072"/>
            <a:ext cx="6565392" cy="402336"/>
          </a:xfrm>
          <a:prstGeom prst="roundRect">
            <a:avLst/>
          </a:prstGeom>
          <a:solidFill>
            <a:srgbClr val="1958A6"/>
          </a:solidFill>
          <a:ln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Qwen3 + 连续批处理 + 多级缓存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5472" y="1719072"/>
            <a:ext cx="4608576" cy="402336"/>
          </a:xfrm>
          <a:prstGeom prst="roundRect">
            <a:avLst/>
          </a:prstGeom>
          <a:solidFill>
            <a:srgbClr val="1958A6"/>
          </a:solidFill>
          <a:ln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实测结果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973908"/>
            <a:ext cx="1170432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80" b="1">
                <a:solidFill>
                  <a:srgbClr val="262C38"/>
                </a:solidFill>
                <a:latin typeface="微软雅黑"/>
              </a:rPr>
              <a:t>请求回放
QPS admission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19072" y="3303092"/>
            <a:ext cx="310896" cy="0"/>
          </a:xfrm>
          <a:prstGeom prst="line">
            <a:avLst/>
          </a:prstGeom>
          <a:ln w="25400">
            <a:solidFill>
              <a:srgbClr val="053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57400" y="2973908"/>
            <a:ext cx="1389888" cy="658368"/>
          </a:xfrm>
          <a:prstGeom prst="roundRect">
            <a:avLst/>
          </a:prstGeom>
          <a:solidFill>
            <a:srgbClr val="E9F1FB"/>
          </a:solidFill>
          <a:ln w="12700"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053E8B"/>
                </a:solidFill>
                <a:latin typeface="微软雅黑"/>
              </a:rPr>
              <a:t>SLOT 调度器
slot / 回收 / refill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3303092"/>
            <a:ext cx="310895" cy="0"/>
          </a:xfrm>
          <a:prstGeom prst="line">
            <a:avLst/>
          </a:prstGeom>
          <a:ln w="25400">
            <a:solidFill>
              <a:srgbClr val="053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13048" y="2855036"/>
            <a:ext cx="1481328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20" b="1">
                <a:solidFill>
                  <a:srgbClr val="262C38"/>
                </a:solidFill>
                <a:latin typeface="微软雅黑"/>
              </a:rPr>
              <a:t>Qwen3 Runtime
TP8 × DP2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21808" y="3303092"/>
            <a:ext cx="310896" cy="0"/>
          </a:xfrm>
          <a:prstGeom prst="line">
            <a:avLst/>
          </a:prstGeom>
          <a:ln w="25400">
            <a:solidFill>
              <a:srgbClr val="053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0136" y="2973908"/>
            <a:ext cx="105156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262C38"/>
                </a:solidFill>
                <a:latin typeface="微软雅黑"/>
              </a:rPr>
              <a:t>Token 输出
JSONL flush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34612"/>
            <a:ext cx="4956048" cy="1280160"/>
          </a:xfrm>
          <a:prstGeom prst="roundRect">
            <a:avLst/>
          </a:prstGeom>
          <a:solidFill>
            <a:srgbClr val="F8FBF7"/>
          </a:solidFill>
          <a:ln w="15240">
            <a:solidFill>
              <a:srgbClr val="5E8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27632" y="4135196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80" b="1">
                <a:solidFill>
                  <a:srgbClr val="262C38"/>
                </a:solidFill>
                <a:latin typeface="微软雅黑"/>
              </a:rPr>
              <a:t>64-token parent-chain hash → 恢复最长命中前缀，未命中后缀重算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5648" y="4564964"/>
            <a:ext cx="1847088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262C38"/>
                </a:solidFill>
                <a:latin typeface="微软雅黑"/>
              </a:rPr>
              <a:t>DDR LRU
热前缀直接恢复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4564964"/>
            <a:ext cx="199339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30" b="1">
                <a:solidFill>
                  <a:srgbClr val="262C38"/>
                </a:solidFill>
                <a:latin typeface="微软雅黑"/>
              </a:rPr>
              <a:t>SSD LRU
异步读取 → 提升 DDR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572000" y="3760292"/>
            <a:ext cx="0" cy="274320"/>
          </a:xfrm>
          <a:prstGeom prst="line">
            <a:avLst/>
          </a:prstGeom>
          <a:ln w="22860">
            <a:solidFill>
              <a:srgbClr val="5E82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815156"/>
            <a:ext cx="78638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5E824E"/>
                </a:solidFill>
                <a:latin typeface="微软雅黑"/>
              </a:rPr>
              <a:t>hit / 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969" y="2472708"/>
            <a:ext cx="360701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 dirty="0">
                <a:solidFill>
                  <a:srgbClr val="053E8B"/>
                </a:solidFill>
                <a:latin typeface="微软雅黑"/>
              </a:rPr>
              <a:t>Prompt token 复用：</a:t>
            </a:r>
            <a:r>
              <a:rPr sz="2000" b="1" dirty="0">
                <a:solidFill>
                  <a:srgbClr val="C00000"/>
                </a:solidFill>
                <a:latin typeface="微软雅黑"/>
              </a:rPr>
              <a:t>33.9%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969" y="3016976"/>
            <a:ext cx="386836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b="1" dirty="0">
                <a:solidFill>
                  <a:srgbClr val="053E8B"/>
                </a:solidFill>
                <a:latin typeface="微软雅黑"/>
              </a:rPr>
              <a:t>请求命中：</a:t>
            </a:r>
            <a:r>
              <a:rPr b="1" dirty="0">
                <a:solidFill>
                  <a:srgbClr val="C00000"/>
                </a:solidFill>
                <a:latin typeface="微软雅黑"/>
              </a:rPr>
              <a:t>6 hit / 8 miss = 42.9%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969" y="3575626"/>
            <a:ext cx="507703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b="1">
                <a:solidFill>
                  <a:srgbClr val="053E8B"/>
                </a:solidFill>
                <a:latin typeface="微软雅黑"/>
              </a:rPr>
              <a:t>平均 Decode：</a:t>
            </a:r>
            <a:r>
              <a:rPr b="1">
                <a:solidFill>
                  <a:srgbClr val="C00000"/>
                </a:solidFill>
                <a:latin typeface="微软雅黑"/>
              </a:rPr>
              <a:t>117.1 → 114.6 ms（−2.1%）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3257" y="4261426"/>
            <a:ext cx="382348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b="1" dirty="0">
                <a:solidFill>
                  <a:srgbClr val="053E8B"/>
                </a:solidFill>
                <a:latin typeface="微软雅黑"/>
              </a:rPr>
              <a:t>输出正确性：SHA-256 </a:t>
            </a:r>
            <a:r>
              <a:rPr b="1" dirty="0" err="1">
                <a:solidFill>
                  <a:srgbClr val="053E8B"/>
                </a:solidFill>
                <a:latin typeface="微软雅黑"/>
              </a:rPr>
              <a:t>字节级一致</a:t>
            </a:r>
            <a:endParaRPr b="1" dirty="0">
              <a:solidFill>
                <a:srgbClr val="053E8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C4FF-A96C-AA3B-84E2-86CBCA69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olhdrL">
            <a:extLst>
              <a:ext uri="{FF2B5EF4-FFF2-40B4-BE49-F238E27FC236}">
                <a16:creationId xmlns:a16="http://schemas.microsoft.com/office/drawing/2014/main" id="{1E2E9465-AF84-C597-433A-CB5F7F3BFB3C}"/>
              </a:ext>
            </a:extLst>
          </p:cNvPr>
          <p:cNvSpPr/>
          <p:nvPr/>
        </p:nvSpPr>
        <p:spPr>
          <a:xfrm>
            <a:off x="400050" y="1420812"/>
            <a:ext cx="6080760" cy="380000"/>
          </a:xfrm>
          <a:prstGeom prst="roundRect">
            <a:avLst>
              <a:gd name="adj" fmla="val 16000"/>
            </a:avLst>
          </a:prstGeom>
          <a:solidFill>
            <a:srgbClr val="0C4994"/>
          </a:solidFill>
          <a:ln>
            <a:noFill/>
          </a:ln>
        </p:spPr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vLLM 集成方案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5676294-15BF-E56D-6721-CD93565701E9}"/>
              </a:ext>
            </a:extLst>
          </p:cNvPr>
          <p:cNvSpPr txBox="1"/>
          <p:nvPr/>
        </p:nvSpPr>
        <p:spPr>
          <a:xfrm>
            <a:off x="492090" y="144790"/>
            <a:ext cx="10100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A2540"/>
                </a:solidFill>
                <a:uLnTx/>
                <a:uFillTx/>
                <a:latin typeface="微软雅黑"/>
                <a:ea typeface="微软雅黑"/>
                <a:cs typeface="微软雅黑"/>
                <a:sym typeface="+mn-ea"/>
              </a:rPr>
              <a:t>KVServe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A2540"/>
                </a:solidFill>
                <a:uLnTx/>
                <a:uFillTx/>
                <a:latin typeface="微软雅黑"/>
                <a:ea typeface="微软雅黑"/>
                <a:cs typeface="微软雅黑"/>
                <a:sym typeface="+mn-ea"/>
              </a:rPr>
              <a:t> 与推理框架集成：</a:t>
            </a:r>
            <a:r>
              <a: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A2540"/>
                </a:solidFill>
                <a:uLnTx/>
                <a:uFillTx/>
                <a:latin typeface="微软雅黑"/>
                <a:ea typeface="微软雅黑"/>
                <a:cs typeface="微软雅黑"/>
                <a:sym typeface="+mn-ea"/>
              </a:rPr>
              <a:t>vLLM+MoonCake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tb250">
            <a:extLst>
              <a:ext uri="{FF2B5EF4-FFF2-40B4-BE49-F238E27FC236}">
                <a16:creationId xmlns:a16="http://schemas.microsoft.com/office/drawing/2014/main" id="{05904BD0-0F7D-C32D-88EA-1A19BC03D133}"/>
              </a:ext>
            </a:extLst>
          </p:cNvPr>
          <p:cNvSpPr txBox="1"/>
          <p:nvPr/>
        </p:nvSpPr>
        <p:spPr>
          <a:xfrm>
            <a:off x="492090" y="1881350"/>
            <a:ext cx="6080760" cy="4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作为灵活插件接入，配合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Mooncake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进行高效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传输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62C3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典型应用场景：跨节点、跨集群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分离推理（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Prefill-as-a-service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pic>
        <p:nvPicPr>
          <p:cNvPr id="14" name="图片 13" descr="图形用户界面  AI 生成的内容可能不正确。">
            <a:extLst>
              <a:ext uri="{FF2B5EF4-FFF2-40B4-BE49-F238E27FC236}">
                <a16:creationId xmlns:a16="http://schemas.microsoft.com/office/drawing/2014/main" id="{D5BFA622-C8DE-BC63-4AC2-5F8A870A53A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9381"/>
          <a:stretch>
            <a:fillRect/>
          </a:stretch>
        </p:blipFill>
        <p:spPr>
          <a:xfrm>
            <a:off x="400050" y="2321350"/>
            <a:ext cx="5931268" cy="4032133"/>
          </a:xfrm>
          <a:prstGeom prst="rect">
            <a:avLst/>
          </a:prstGeom>
        </p:spPr>
      </p:pic>
      <p:sp>
        <p:nvSpPr>
          <p:cNvPr id="2" name="tb240">
            <a:extLst>
              <a:ext uri="{FF2B5EF4-FFF2-40B4-BE49-F238E27FC236}">
                <a16:creationId xmlns:a16="http://schemas.microsoft.com/office/drawing/2014/main" id="{C04D8B12-3BB4-DC6C-9C14-31C4A824876B}"/>
              </a:ext>
            </a:extLst>
          </p:cNvPr>
          <p:cNvSpPr txBox="1"/>
          <p:nvPr/>
        </p:nvSpPr>
        <p:spPr>
          <a:xfrm>
            <a:off x="400050" y="930274"/>
            <a:ext cx="117919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KVServe 已基于 vLLM 0.3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.0 打通 Mooncake P/D 压缩；可插拔 KV 压缩 RFC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/PR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已提交上游（vLLM #59538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#61085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C3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57DA0504-51A3-51A2-C630-B1A832553A3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834394" y="1530675"/>
            <a:ext cx="5063920" cy="128587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91BD931F-9CE2-A3E5-AFB5-2BE616D7B5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024894" y="1625925"/>
            <a:ext cx="285750" cy="2857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0AD6FE9-ED13-810B-6F1B-A49D6573524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453519" y="1606875"/>
            <a:ext cx="5715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1E2B4D"/>
                </a:solidFill>
                <a:latin typeface="微软雅黑" panose="020B0503020204020204" charset="-122"/>
                <a:ea typeface="微软雅黑" panose="020B0503020204020204" charset="-122"/>
              </a:rPr>
              <a:t>接入 vLLM 0.3</a:t>
            </a:r>
            <a:r>
              <a:rPr lang="en-US" altLang="zh-CN" sz="1600" b="1" dirty="0">
                <a:solidFill>
                  <a:srgbClr val="1E2B4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b="1" dirty="0">
                <a:solidFill>
                  <a:srgbClr val="1E2B4D"/>
                </a:solidFill>
                <a:latin typeface="微软雅黑" panose="020B0503020204020204" charset="-122"/>
                <a:ea typeface="微软雅黑" panose="020B0503020204020204" charset="-122"/>
              </a:rPr>
              <a:t>.0 Mooncake P/D（插件）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D2AD34-BFAB-BF06-7D92-A9D8AAF0B47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453519" y="1911675"/>
            <a:ext cx="40220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 err="1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</a:rPr>
              <a:t>由外置实验 connector 转入 vLLM 解耦推理已广泛采用的 Mooncake 传输层；RFC 处于开放讨论，计划分两阶段进入上游主路径。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2CCE4D1-BF21-7E9A-4115-92C3B352AD5B}"/>
              </a:ext>
            </a:extLst>
          </p:cNvPr>
          <p:cNvGrpSpPr/>
          <p:nvPr/>
        </p:nvGrpSpPr>
        <p:grpSpPr>
          <a:xfrm>
            <a:off x="6834394" y="3145788"/>
            <a:ext cx="6334125" cy="1285875"/>
            <a:chOff x="6834394" y="2959425"/>
            <a:chExt cx="6334125" cy="1285875"/>
          </a:xfrm>
        </p:grpSpPr>
        <p:sp>
          <p:nvSpPr>
            <p:cNvPr id="9" name="Rounded Rectangle 9">
              <a:extLst>
                <a:ext uri="{FF2B5EF4-FFF2-40B4-BE49-F238E27FC236}">
                  <a16:creationId xmlns:a16="http://schemas.microsoft.com/office/drawing/2014/main" id="{F93E7159-7B03-BFCF-4E32-746232751C8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834394" y="2959425"/>
              <a:ext cx="5063920" cy="1285875"/>
            </a:xfrm>
            <a:prstGeom prst="roundRect">
              <a:avLst/>
            </a:prstGeom>
            <a:solidFill>
              <a:srgbClr val="F5F7FA"/>
            </a:solidFill>
            <a:ln w="12700">
              <a:solidFill>
                <a:srgbClr val="E0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101BC79C-3E1B-F2CC-4B47-11AE6587A92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024894" y="3054675"/>
              <a:ext cx="285750" cy="2857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0BD5205-79B0-5A98-FB86-21ABD1752AF3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7453519" y="3035625"/>
              <a:ext cx="5715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1E2B4D"/>
                  </a:solidFill>
                  <a:latin typeface="微软雅黑" panose="020B0503020204020204" charset="-122"/>
                  <a:ea typeface="微软雅黑" panose="020B0503020204020204" charset="-122"/>
                </a:rPr>
                <a:t>适配 混合注意力架构与共享缓存</a:t>
              </a:r>
              <a:endParaRPr sz="1600" b="1" dirty="0">
                <a:solidFill>
                  <a:srgbClr val="1E2B4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7C9B411-C0BC-AF50-31F0-B62DC79068CB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7453519" y="3340425"/>
              <a:ext cx="420882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Full Attention 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走压缩，</a:t>
              </a:r>
              <a:r>
                <a:rPr lang="en" altLang="zh-C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Mamba/GDN 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保持原始 </a:t>
              </a:r>
              <a:r>
                <a:rPr lang="en" altLang="zh-C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RDMA</a:t>
              </a:r>
              <a:r>
                <a:rPr lang="zh-CN" altLang="e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带宽用在真正占流量的 </a:t>
              </a:r>
              <a:r>
                <a:rPr lang="en" altLang="zh-C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KV 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</a:rPr>
                <a:t>页上。</a:t>
              </a:r>
              <a:endParaRPr sz="1200" b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84999DC-1FC0-4B86-C457-CE6D53EC2E24}"/>
              </a:ext>
            </a:extLst>
          </p:cNvPr>
          <p:cNvGrpSpPr/>
          <p:nvPr/>
        </p:nvGrpSpPr>
        <p:grpSpPr>
          <a:xfrm>
            <a:off x="6834394" y="4693927"/>
            <a:ext cx="6334125" cy="1285875"/>
            <a:chOff x="6834394" y="4388175"/>
            <a:chExt cx="6334125" cy="1285875"/>
          </a:xfrm>
        </p:grpSpPr>
        <p:sp>
          <p:nvSpPr>
            <p:cNvPr id="13" name="Rounded Rectangle 13">
              <a:extLst>
                <a:ext uri="{FF2B5EF4-FFF2-40B4-BE49-F238E27FC236}">
                  <a16:creationId xmlns:a16="http://schemas.microsoft.com/office/drawing/2014/main" id="{E07D17DE-82B0-0267-9DCC-A1BA61B2763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834394" y="4388175"/>
              <a:ext cx="5063920" cy="1285875"/>
            </a:xfrm>
            <a:prstGeom prst="roundRect">
              <a:avLst/>
            </a:prstGeom>
            <a:solidFill>
              <a:srgbClr val="F5F7FA"/>
            </a:solidFill>
            <a:ln w="12700">
              <a:solidFill>
                <a:srgbClr val="E0E4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C7CB488-DF33-1942-6D31-C2B14E140F5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024894" y="4483425"/>
              <a:ext cx="285750" cy="2857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7B14327-22B5-BD75-0430-DB1F91E8BFA7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7453519" y="4464375"/>
              <a:ext cx="5715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1E2B4D"/>
                  </a:solidFill>
                  <a:latin typeface="微软雅黑" panose="020B0503020204020204" charset="-122"/>
                  <a:ea typeface="微软雅黑" panose="020B0503020204020204" charset="-122"/>
                </a:rPr>
                <a:t>压缩内嵌于</a:t>
              </a:r>
              <a:r>
                <a:rPr lang="en-US" altLang="zh-CN" sz="1600" b="1" dirty="0">
                  <a:solidFill>
                    <a:srgbClr val="1E2B4D"/>
                  </a:solidFill>
                  <a:latin typeface="微软雅黑" panose="020B0503020204020204" charset="-122"/>
                  <a:ea typeface="微软雅黑" panose="020B0503020204020204" charset="-122"/>
                </a:rPr>
                <a:t> Mooncake</a:t>
              </a:r>
              <a:r>
                <a:rPr lang="zh-CN" altLang="en-US" sz="1600" b="1" dirty="0">
                  <a:solidFill>
                    <a:srgbClr val="1E2B4D"/>
                  </a:solidFill>
                  <a:latin typeface="微软雅黑" panose="020B0503020204020204" charset="-122"/>
                  <a:ea typeface="微软雅黑" panose="020B0503020204020204" charset="-122"/>
                </a:rPr>
                <a:t> 传输平面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170A56-32EA-590F-B43E-98311AFCE10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7453519" y="4769175"/>
              <a:ext cx="4208821" cy="89471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 </a:t>
              </a:r>
              <a:r>
                <a:rPr lang="en" altLang="zh-C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Mooncake RDMA 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与握手承载压缩流水，压缩成为 </a:t>
              </a:r>
              <a:r>
                <a:rPr lang="en" altLang="zh-CN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connector </a:t>
              </a:r>
              <a:r>
                <a:rPr lang="zh-CN" altLang="en-US" sz="1400" b="0" dirty="0">
                  <a:solidFill>
                    <a:srgbClr val="555F7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上的一个阶段，而不是并行的第二套通信系统。</a:t>
              </a:r>
              <a:endParaRPr sz="1400" b="0" dirty="0">
                <a:solidFill>
                  <a:srgbClr val="555F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0831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4423-2AB5-04E6-2B20-D8D5AEBB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D2F2D65-5757-4E89-812C-E77D80A56910}"/>
              </a:ext>
            </a:extLst>
          </p:cNvPr>
          <p:cNvSpPr txBox="1"/>
          <p:nvPr/>
        </p:nvSpPr>
        <p:spPr>
          <a:xfrm>
            <a:off x="492090" y="144790"/>
            <a:ext cx="10100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A2540"/>
                </a:solidFill>
                <a:uLnTx/>
                <a:uFillTx/>
                <a:latin typeface="微软雅黑"/>
                <a:ea typeface="微软雅黑"/>
                <a:cs typeface="微软雅黑"/>
                <a:sym typeface="+mn-ea"/>
              </a:rPr>
              <a:t>KVServe</a:t>
            </a:r>
            <a:r>
              <a:rPr lang="zh-CN" altLang="en-US" sz="2800" b="1" kern="0" dirty="0">
                <a:solidFill>
                  <a:srgbClr val="0A2540"/>
                </a:solidFill>
                <a:latin typeface="微软雅黑"/>
                <a:ea typeface="微软雅黑"/>
                <a:cs typeface="微软雅黑"/>
                <a:sym typeface="+mn-ea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A2540"/>
                </a:solidFill>
                <a:uLnTx/>
                <a:uFillTx/>
                <a:latin typeface="微软雅黑"/>
                <a:ea typeface="微软雅黑"/>
                <a:cs typeface="微软雅黑"/>
                <a:sym typeface="+mn-ea"/>
              </a:rPr>
              <a:t>MoonCake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A2540"/>
                </a:solidFill>
                <a:uLnTx/>
                <a:uFillTx/>
                <a:latin typeface="微软雅黑"/>
                <a:ea typeface="微软雅黑"/>
                <a:cs typeface="微软雅黑"/>
                <a:sym typeface="+mn-ea"/>
              </a:rPr>
              <a:t> 端到端性能收益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b240">
            <a:extLst>
              <a:ext uri="{FF2B5EF4-FFF2-40B4-BE49-F238E27FC236}">
                <a16:creationId xmlns:a16="http://schemas.microsoft.com/office/drawing/2014/main" id="{709D346A-40CD-AA84-4BBA-5566D604F400}"/>
              </a:ext>
            </a:extLst>
          </p:cNvPr>
          <p:cNvSpPr txBox="1"/>
          <p:nvPr/>
        </p:nvSpPr>
        <p:spPr>
          <a:xfrm>
            <a:off x="402336" y="799142"/>
            <a:ext cx="10707832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1600" b="1" dirty="0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5090 双节点 · 50 Gb/s · vLLM 0.26.0 · Llama-3.1-8B · HotpotQA</a:t>
            </a:r>
          </a:p>
          <a:p>
            <a:pPr marL="285750" marR="0" lvl="0" indent="-28575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1600" b="1" dirty="0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TTFT：并发 1 时 1.53 s → 0.96 s；并发 8 / 16 分别降至 4.87 s / 9.56 s，对应约 </a:t>
            </a:r>
            <a:r>
              <a:rPr lang="zh-CN" altLang="en-US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2.4× </a:t>
            </a:r>
            <a:r>
              <a:rPr lang="zh-CN" altLang="en-US" sz="1600" b="1" dirty="0">
                <a:solidFill>
                  <a:srgbClr val="262C38"/>
                </a:solidFill>
                <a:latin typeface="微软雅黑"/>
                <a:ea typeface="微软雅黑"/>
                <a:cs typeface="微软雅黑"/>
              </a:rPr>
              <a:t>的首 token 时延下降；服务端 TPOT 稳定在约 5.2–5.5 ms/token，与基线持平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B6A2EE6-A191-505F-C01C-A96DABE31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11349"/>
            <a:ext cx="7772400" cy="44455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2336" y="5980176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95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0.30.0 + 200 Gb/s 复测（HotpotQA，200 请求，max_tokens=32）：TTFT −19.2%～−28.6%；Llama-3.1-8B TP2 并发 1 批次完成快 1.40×</a:t>
            </a:r>
          </a:p>
        </p:txBody>
      </p:sp>
    </p:spTree>
    <p:extLst>
      <p:ext uri="{BB962C8B-B14F-4D97-AF65-F5344CB8AC3E}">
        <p14:creationId xmlns:p14="http://schemas.microsoft.com/office/powerpoint/2010/main" val="1780985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7200" b="1">
                <a:solidFill>
                  <a:srgbClr val="FFFFFF"/>
                </a:solidFill>
                <a:effectLst>
                  <a:outerShdw blurRad="40000" dist="25400" dir="2700000" algn="tl">
                    <a:srgbClr val="000000">
                      <a:alpha val="5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04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803988" y="2777869"/>
            <a:ext cx="8887193" cy="860046"/>
          </a:xfrm>
        </p:spPr>
        <p:txBody>
          <a:bodyPr/>
          <a:lstStyle/>
          <a:p>
            <a:r>
              <a:rPr lang="zh-CN" altLang="en-US" sz="2000" b="1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「</a:t>
            </a:r>
            <a:r>
              <a:rPr lang="en-US" altLang="zh-CN" sz="2000" b="1" dirty="0" err="1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KVServe</a:t>
            </a:r>
            <a:r>
              <a:rPr lang="zh-CN" altLang="en-US" sz="2000" b="1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是一个开源、开放的项目： 欢迎开发者试用并</a:t>
            </a:r>
            <a:r>
              <a:rPr lang="zh-CN" altLang="en-US" sz="2000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共同推进</a:t>
            </a:r>
            <a:r>
              <a:rPr lang="zh-CN" altLang="en-US" sz="2000" b="1" dirty="0"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430000" y="270000"/>
            <a:ext cx="11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扩展点：三个可替换阶段 + 一个统一的范式</a:t>
            </a:r>
          </a:p>
        </p:txBody>
      </p:sp>
      <p:sp>
        <p:nvSpPr>
          <p:cNvPr id="12" name="tb"/>
          <p:cNvSpPr txBox="1"/>
          <p:nvPr/>
        </p:nvSpPr>
        <p:spPr>
          <a:xfrm>
            <a:off x="430000" y="860000"/>
            <a:ext cx="11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zh-CN" altLang="en-US" sz="13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压缩流水线由可插拔阶段组成，任意组合都</a:t>
            </a:r>
            <a:r>
              <a:rPr lang="zh-CN" altLang="en-US" sz="1300" b="1" dirty="0"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能</a:t>
            </a:r>
            <a:r>
              <a:rPr lang="zh-CN" altLang="en-US" sz="13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进入离线搜索空间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仓库路径：kvserve_v1/compression · kvserve_v1/connector</a:t>
            </a:r>
          </a:p>
        </p:txBody>
      </p:sp>
      <p:pic>
        <p:nvPicPr>
          <p:cNvPr id="13" name="fig_pipel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444752"/>
            <a:ext cx="11155680" cy="2377443"/>
          </a:xfrm>
          <a:prstGeom prst="rect">
            <a:avLst/>
          </a:prstGeom>
        </p:spPr>
      </p:pic>
      <p:sp>
        <p:nvSpPr>
          <p:cNvPr id="14" name="tb"/>
          <p:cNvSpPr txBox="1"/>
          <p:nvPr/>
        </p:nvSpPr>
        <p:spPr>
          <a:xfrm>
            <a:off x="402336" y="3822191"/>
            <a:ext cx="3611880" cy="173736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txBody>
          <a:bodyPr wrap="square" lIns="140000" tIns="140000" rIns="140000" bIns="14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20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替换什么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变换算子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旋转 / 正交变换，改善量化时的可分布性；也可以留空，只做量化。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示例：Hadamard · 随机旋转</a:t>
            </a:r>
          </a:p>
        </p:txBody>
      </p:sp>
      <p:sp>
        <p:nvSpPr>
          <p:cNvPr id="15" name="tb"/>
          <p:cNvSpPr txBox="1"/>
          <p:nvPr/>
        </p:nvSpPr>
        <p:spPr>
          <a:xfrm>
            <a:off x="4197096" y="3822191"/>
            <a:ext cx="3611880" cy="173736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txBody>
          <a:bodyPr wrap="square" lIns="140000" tIns="140000" rIns="140000" bIns="14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20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替换什么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量化器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按 Head 或 Layer 混合精度；实现 quantize / dequantize 即可接入。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示例：MixHQ · KIVI · CacheGen</a:t>
            </a:r>
          </a:p>
        </p:txBody>
      </p:sp>
      <p:sp>
        <p:nvSpPr>
          <p:cNvPr id="16" name="tb"/>
          <p:cNvSpPr txBox="1"/>
          <p:nvPr/>
        </p:nvSpPr>
        <p:spPr>
          <a:xfrm>
            <a:off x="7991856" y="3822191"/>
            <a:ext cx="3611880" cy="173736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txBody>
          <a:bodyPr wrap="square" lIns="140000" tIns="140000" rIns="140000" bIns="14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20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替换什么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5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编码器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nvCOMP（ANS）与 LC 无损后端；新的无损后端可以继续加。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示例：nvCOMP ANS · LC codec</a:t>
            </a:r>
          </a:p>
        </p:txBody>
      </p:sp>
      <p:sp>
        <p:nvSpPr>
          <p:cNvPr id="17" name="tb"/>
          <p:cNvSpPr txBox="1"/>
          <p:nvPr/>
        </p:nvSpPr>
        <p:spPr>
          <a:xfrm>
            <a:off x="402336" y="5614416"/>
            <a:ext cx="11220000" cy="960120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3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连接器契约：</a:t>
            </a:r>
            <a:r>
              <a:rPr lang="zh-CN" altLang="en-US" sz="13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压缩内嵌于 vLLM / Mooncake connector，是传输上的一个阶段，而不是并行的第二套通信系统。</a:t>
            </a:r>
          </a:p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结果：</a:t>
            </a:r>
            <a:r>
              <a:rPr lang="zh-CN" altLang="en-US" sz="13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算法实现、阶段组合、传输平面三者解耦 —— 换算法不需要改调度，换传输不需要改算法。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430000" y="270000"/>
            <a:ext cx="11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第一步 · 定义一个压缩器：两个方法就够</a:t>
            </a:r>
          </a:p>
        </p:txBody>
      </p:sp>
      <p:sp>
        <p:nvSpPr>
          <p:cNvPr id="12" name="tb"/>
          <p:cNvSpPr txBox="1"/>
          <p:nvPr/>
        </p:nvSpPr>
        <p:spPr>
          <a:xfrm>
            <a:off x="430000" y="860000"/>
            <a:ext cx="11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zh-CN" altLang="en-US" sz="13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示例逐字来自仓库 examples/README.md（v1 分支）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examples/README.md · Custom Compression Component</a:t>
            </a:r>
          </a:p>
        </p:txBody>
      </p:sp>
      <p:sp>
        <p:nvSpPr>
          <p:cNvPr id="13" name="panel"/>
          <p:cNvSpPr/>
          <p:nvPr/>
        </p:nvSpPr>
        <p:spPr>
          <a:xfrm>
            <a:off x="402336" y="1417320"/>
            <a:ext cx="7223760" cy="329184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b"/>
          <p:cNvSpPr txBox="1"/>
          <p:nvPr/>
        </p:nvSpPr>
        <p:spPr>
          <a:xfrm>
            <a:off x="402336" y="1417320"/>
            <a:ext cx="7223760" cy="329184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50000" rIns="150000" bIns="15000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35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my_quantizer.py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6B7A8D"/>
                </a:solidFill>
                <a:latin typeface="Consolas"/>
                <a:ea typeface="Consolas"/>
                <a:cs typeface="Consolas"/>
              </a:rPr>
              <a:t># 只要实现 quantize / dequantize 两个方法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2E6FD9"/>
                </a:solidFill>
                <a:latin typeface="Consolas"/>
                <a:ea typeface="Consolas"/>
                <a:cs typeface="Consolas"/>
              </a:rPr>
              <a:t>class MyQuantizer: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2E6FD9"/>
                </a:solidFill>
                <a:latin typeface="Consolas"/>
                <a:ea typeface="Consolas"/>
                <a:cs typeface="Consolas"/>
              </a:rPr>
              <a:t>    def __init__(self, **kwargs):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    self.scale = kwargs.get("scale", 1.0)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150" b="0" i="0" dirty="0">
              <a:ln>
                <a:noFill/>
              </a:ln>
              <a:solidFill>
                <a:srgbClr val="1F2D3D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2E6FD9"/>
                </a:solidFill>
                <a:latin typeface="Consolas"/>
                <a:ea typeface="Consolas"/>
                <a:cs typeface="Consolas"/>
              </a:rPr>
              <a:t>    def update_params(self, **kwargs):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    self.scale = kwargs.get("scale", self.scale)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150" b="0" i="0" dirty="0">
              <a:ln>
                <a:noFill/>
              </a:ln>
              <a:solidFill>
                <a:srgbClr val="1F2D3D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2E6FD9"/>
                </a:solidFill>
                <a:latin typeface="Consolas"/>
                <a:ea typeface="Consolas"/>
                <a:cs typeface="Consolas"/>
              </a:rPr>
              <a:t>    def quantize(self, layer_id, tensor, **kwargs):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6B7A8D"/>
                </a:solidFill>
                <a:latin typeface="Consolas"/>
                <a:ea typeface="Consolas"/>
                <a:cs typeface="Consolas"/>
              </a:rPr>
              <a:t>        # tensor: [2, num_blocks, block_size, num_kv_heads, head_size]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    meta = {"original_dtype": str(tensor.dtype).replace("torch.", "")}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    return tensor, meta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150" b="0" i="0" dirty="0">
              <a:ln>
                <a:noFill/>
              </a:ln>
              <a:solidFill>
                <a:srgbClr val="1F2D3D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2E6FD9"/>
                </a:solidFill>
                <a:latin typeface="Consolas"/>
                <a:ea typeface="Consolas"/>
                <a:cs typeface="Consolas"/>
              </a:rPr>
              <a:t>    def dequantize(self, layer_id, tensor, meta, **kwargs):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    return tensor</a:t>
            </a:r>
          </a:p>
        </p:txBody>
      </p:sp>
      <p:sp>
        <p:nvSpPr>
          <p:cNvPr id="15" name="tb"/>
          <p:cNvSpPr txBox="1"/>
          <p:nvPr/>
        </p:nvSpPr>
        <p:spPr>
          <a:xfrm>
            <a:off x="402336" y="4818888"/>
            <a:ext cx="7223760" cy="1143000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35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契约只有三件事：</a:t>
            </a:r>
            <a:r>
              <a:rPr lang="zh-CN" altLang="en-US" sz="135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拿到一块 KV → 返回 (压缩后张量, 元数据) → 能按元数据恢复；其余一切（缓存映射、跨层调度、传输）都由框架处理。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对应到代码：</a:t>
            </a:r>
            <a:r>
              <a:rPr lang="zh-CN" altLang="en-US" sz="135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只有 quantize() 与 dequantize() 两个方法需要你写。</a:t>
            </a:r>
          </a:p>
        </p:txBody>
      </p:sp>
      <p:sp>
        <p:nvSpPr>
          <p:cNvPr id="16" name="tb"/>
          <p:cNvSpPr txBox="1"/>
          <p:nvPr/>
        </p:nvSpPr>
        <p:spPr>
          <a:xfrm>
            <a:off x="7818120" y="1417320"/>
            <a:ext cx="3931920" cy="192024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张量契约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单层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0" i="0" dirty="0">
                <a:ln>
                  <a:noFill/>
                </a:ln>
                <a:solidFill>
                  <a:srgbClr val="3D4A5C"/>
                </a:solidFill>
                <a:latin typeface="Consolas"/>
                <a:ea typeface="Consolas"/>
                <a:cs typeface="Consolas"/>
              </a:rPr>
              <a:t>[2, num_blocks, block_size,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050" b="0" i="0" dirty="0">
                <a:ln>
                  <a:noFill/>
                </a:ln>
                <a:solidFill>
                  <a:srgbClr val="3D4A5C"/>
                </a:solidFill>
                <a:latin typeface="Consolas"/>
                <a:ea typeface="Consolas"/>
                <a:cs typeface="Consolas"/>
              </a:rPr>
              <a:t> num_kv_heads, head_size]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150" b="1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全部层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0" i="0" dirty="0">
                <a:ln>
                  <a:noFill/>
                </a:ln>
                <a:solidFill>
                  <a:srgbClr val="3D4A5C"/>
                </a:solidFill>
                <a:latin typeface="Consolas"/>
                <a:ea typeface="Consolas"/>
                <a:cs typeface="Consolas"/>
              </a:rPr>
              <a:t>[num_layers, 2, num_blocks, block_size,</a:t>
            </a:r>
          </a:p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0" i="0" dirty="0">
                <a:ln>
                  <a:noFill/>
                </a:ln>
                <a:solidFill>
                  <a:srgbClr val="3D4A5C"/>
                </a:solidFill>
                <a:latin typeface="Consolas"/>
                <a:ea typeface="Consolas"/>
                <a:cs typeface="Consolas"/>
              </a:rPr>
              <a:t> num_kv_heads, head_size]</a:t>
            </a:r>
          </a:p>
        </p:txBody>
      </p:sp>
      <p:sp>
        <p:nvSpPr>
          <p:cNvPr id="17" name="tb"/>
          <p:cNvSpPr txBox="1"/>
          <p:nvPr/>
        </p:nvSpPr>
        <p:spPr>
          <a:xfrm>
            <a:off x="7818120" y="3465576"/>
            <a:ext cx="3931920" cy="1572768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txBody>
          <a:bodyPr wrap="square" lIns="150000" tIns="150000" rIns="150000" bIns="15000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关键：作用域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•  只在 vLLM 托管的 KV block 上工作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•  不触碰 vLLM 调度器状态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•  无需改 KV block 管理与内存分配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•  本示例是恒等变换，仅演示契约</a:t>
            </a:r>
          </a:p>
        </p:txBody>
      </p:sp>
      <p:sp>
        <p:nvSpPr>
          <p:cNvPr id="18" name="tb"/>
          <p:cNvSpPr txBox="1"/>
          <p:nvPr/>
        </p:nvSpPr>
        <p:spPr>
          <a:xfrm>
            <a:off x="7818120" y="5166360"/>
            <a:ext cx="3931920" cy="795528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50000" tIns="150000" rIns="150000" bIns="150000" anchor="t">
            <a:normAutofit fontScale="92500" lnSpcReduction="10000"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常见误用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别把压缩塞进 KV block 分配路径。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430000" y="270000"/>
            <a:ext cx="11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第二步 · 修改接入：注册进候选库</a:t>
            </a:r>
          </a:p>
        </p:txBody>
      </p:sp>
      <p:sp>
        <p:nvSpPr>
          <p:cNvPr id="12" name="tb"/>
          <p:cNvSpPr txBox="1"/>
          <p:nvPr/>
        </p:nvSpPr>
        <p:spPr>
          <a:xfrm>
            <a:off x="430000" y="860000"/>
            <a:ext cx="11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zh-CN" altLang="en-US" sz="13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在 KVCompressionAdapter._build_manager() 里选择你的实现，再在压缩档里启用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examples/README.md · 无需改动 vLLM 调度与 KV block 管理</a:t>
            </a:r>
          </a:p>
        </p:txBody>
      </p:sp>
      <p:sp>
        <p:nvSpPr>
          <p:cNvPr id="13" name="panel"/>
          <p:cNvSpPr/>
          <p:nvPr/>
        </p:nvSpPr>
        <p:spPr>
          <a:xfrm>
            <a:off x="402336" y="1417320"/>
            <a:ext cx="7223760" cy="329184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b"/>
          <p:cNvSpPr txBox="1"/>
          <p:nvPr/>
        </p:nvSpPr>
        <p:spPr>
          <a:xfrm>
            <a:off x="402336" y="1417320"/>
            <a:ext cx="7223760" cy="3291840"/>
          </a:xfrm>
          <a:prstGeom prst="rect">
            <a:avLst/>
          </a:prstGeom>
          <a:noFill/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35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compression manager · 适配层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6B7A8D"/>
                </a:solidFill>
                <a:latin typeface="Consolas"/>
                <a:ea typeface="Consolas"/>
                <a:cs typeface="Consolas"/>
              </a:rPr>
              <a:t># 1) 注册：在 KVCompressionAdapter._build_manager() 中选择实现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if cfg_dict.get("quantizer_impl") == "my_quantizer":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from my_package import MyQuantizer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quantizer_cls = MyQuantizer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150" b="0" i="0" dirty="0">
              <a:ln>
                <a:noFill/>
              </a:ln>
              <a:solidFill>
                <a:srgbClr val="1F2D3D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6B7A8D"/>
                </a:solidFill>
                <a:latin typeface="Consolas"/>
                <a:ea typeface="Consolas"/>
                <a:cs typeface="Consolas"/>
              </a:rPr>
              <a:t># 2) 启用：压缩档（也可经 kv_connector_extra_config 传入）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"compression": {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"enabled": True,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"pipeline": ["quantizer", "codec"],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"quantizer_impl": "my_quantizer",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"quantizer_config": {"scale": 1.0},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"codec_config": {"codec_type": "nvcomp",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                     "nvcomp_algorithm": "ANS"},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50" b="0" i="0" dirty="0">
                <a:ln>
                  <a:noFill/>
                </a:ln>
                <a:solidFill>
                  <a:srgbClr val="1F2D3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5" name="tb"/>
          <p:cNvSpPr txBox="1"/>
          <p:nvPr/>
        </p:nvSpPr>
        <p:spPr>
          <a:xfrm>
            <a:off x="402336" y="4818888"/>
            <a:ext cx="7223760" cy="1143000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35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接入后无需改动 </a:t>
            </a:r>
            <a:r>
              <a:rPr lang="zh-CN" altLang="en-US" sz="135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vLLM 调度与 KV block 管理</a:t>
            </a:r>
            <a:r>
              <a:rPr lang="zh-CN" altLang="en-US" sz="135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；在线决策器会把它当成一个普通候选，不划算时仍退回 raw 传输。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换句话说：</a:t>
            </a:r>
            <a:r>
              <a:rPr lang="zh-CN" altLang="en-US" sz="135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你只扩展候选库，调度与内存管理保持原样。</a:t>
            </a:r>
          </a:p>
        </p:txBody>
      </p:sp>
      <p:sp>
        <p:nvSpPr>
          <p:cNvPr id="16" name="tb"/>
          <p:cNvSpPr txBox="1"/>
          <p:nvPr/>
        </p:nvSpPr>
        <p:spPr>
          <a:xfrm>
            <a:off x="7818120" y="1417320"/>
            <a:ext cx="3931920" cy="201168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改完之后自动获得什么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•  新算法进入离线搜索的候选空间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•  与 Transformer / Codec 自由组合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•  在线决策器可自动选中它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•  不划算时仍可退回 raw 传输</a:t>
            </a:r>
          </a:p>
        </p:txBody>
      </p:sp>
      <p:sp>
        <p:nvSpPr>
          <p:cNvPr id="17" name="tb"/>
          <p:cNvSpPr txBox="1"/>
          <p:nvPr/>
        </p:nvSpPr>
        <p:spPr>
          <a:xfrm>
            <a:off x="7818120" y="3538728"/>
            <a:ext cx="3931920" cy="1508760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为什么只有这几行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压缩被收敛成一个窄接口：连接器负责缓存映射与请求协调，压缩框架负责组合与执行，算法方只提供实现。</a:t>
            </a:r>
          </a:p>
        </p:txBody>
      </p:sp>
      <p:sp>
        <p:nvSpPr>
          <p:cNvPr id="18" name="tb"/>
          <p:cNvSpPr txBox="1"/>
          <p:nvPr/>
        </p:nvSpPr>
        <p:spPr>
          <a:xfrm>
            <a:off x="7818120" y="5138928"/>
            <a:ext cx="3931920" cy="82296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50000" tIns="150000" rIns="150000" bIns="15000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提示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注册只改 _build_manager() 一处。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/>
          <p:nvPr/>
        </p:nvSpPr>
        <p:spPr>
          <a:xfrm>
            <a:off x="430000" y="270000"/>
            <a:ext cx="11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开发者可以从哪些点切入</a:t>
            </a:r>
            <a:endParaRPr lang="zh-CN" altLang="en-US" sz="2600" b="1" i="0" dirty="0">
              <a:ln>
                <a:noFill/>
              </a:ln>
              <a:solidFill>
                <a:srgbClr val="0A2540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12" name="tb"/>
          <p:cNvSpPr txBox="1"/>
          <p:nvPr/>
        </p:nvSpPr>
        <p:spPr>
          <a:xfrm>
            <a:off x="430000" y="860000"/>
            <a:ext cx="117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zh-CN" altLang="en-US" sz="13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仓库已提供 vLLM 连接器配置示例、组件扩展说明、最小自定义量化器示例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dirty="0">
                <a:ln>
                  <a:noFill/>
                </a:ln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github.com/hpdps-group/KVServe</a:t>
            </a:r>
          </a:p>
        </p:txBody>
      </p:sp>
      <p:sp>
        <p:nvSpPr>
          <p:cNvPr id="13" name="tb"/>
          <p:cNvSpPr txBox="1"/>
          <p:nvPr/>
        </p:nvSpPr>
        <p:spPr>
          <a:xfrm>
            <a:off x="393192" y="1417320"/>
            <a:ext cx="3246120" cy="141732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1｜维护推理服务？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用真实负载帮我们验证：带宽 / SLO / 质量三重约束下的画像，比再加一个合成 benchmark 更有价值。欢迎提供 trace 片段。</a:t>
            </a:r>
          </a:p>
        </p:txBody>
      </p:sp>
      <p:sp>
        <p:nvSpPr>
          <p:cNvPr id="14" name="tb"/>
          <p:cNvSpPr txBox="1"/>
          <p:nvPr/>
        </p:nvSpPr>
        <p:spPr>
          <a:xfrm>
            <a:off x="3822192" y="1417320"/>
            <a:ext cx="3246120" cy="141732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2｜研究压缩算法？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把新方法接进候选库：Transformer / Quantizer / Codec 三阶段可独立替换，自动进入离线搜索空间并被在线决策器选中。</a:t>
            </a:r>
          </a:p>
        </p:txBody>
      </p:sp>
      <p:sp>
        <p:nvSpPr>
          <p:cNvPr id="15" name="tb"/>
          <p:cNvSpPr txBox="1"/>
          <p:nvPr/>
        </p:nvSpPr>
        <p:spPr>
          <a:xfrm>
            <a:off x="393192" y="2999232"/>
            <a:ext cx="3246120" cy="141732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3｜熟悉 Kernel 或框架？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一起拓展执行后端与连接器：TileLang 融合算子、LC 无损后端、Mooncake Store 传输与 vLLM 连接器。</a:t>
            </a:r>
          </a:p>
        </p:txBody>
      </p:sp>
      <p:sp>
        <p:nvSpPr>
          <p:cNvPr id="16" name="tb"/>
          <p:cNvSpPr txBox="1"/>
          <p:nvPr/>
        </p:nvSpPr>
        <p:spPr>
          <a:xfrm>
            <a:off x="3822192" y="2999232"/>
            <a:ext cx="3246120" cy="1417320"/>
          </a:xfrm>
          <a:prstGeom prst="roundRect">
            <a:avLst/>
          </a:prstGeom>
          <a:solidFill>
            <a:srgbClr val="EEF3FB"/>
          </a:solidFill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4｜只想先跑起来？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仓库已含 vLLM 连接器配置示例、组件扩展说明与最小自定义量化器示例，5 分钟即可跑通。</a:t>
            </a:r>
          </a:p>
        </p:txBody>
      </p:sp>
      <p:sp>
        <p:nvSpPr>
          <p:cNvPr id="17" name="panel"/>
          <p:cNvSpPr/>
          <p:nvPr/>
        </p:nvSpPr>
        <p:spPr>
          <a:xfrm>
            <a:off x="393192" y="4590288"/>
            <a:ext cx="6675120" cy="1170432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b"/>
          <p:cNvSpPr txBox="1"/>
          <p:nvPr/>
        </p:nvSpPr>
        <p:spPr>
          <a:xfrm>
            <a:off x="393192" y="4590288"/>
            <a:ext cx="6675120" cy="1170432"/>
          </a:xfrm>
          <a:prstGeom prst="rect">
            <a:avLst/>
          </a:prstGeom>
          <a:noFill/>
          <a:ln>
            <a:noFill/>
          </a:ln>
        </p:spPr>
        <p:txBody>
          <a:bodyPr wrap="square" lIns="150000" tIns="150000" rIns="150000" bIns="15000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5 分钟</a:t>
            </a:r>
            <a:r>
              <a:rPr lang="zh-CN" altLang="en-US" sz="14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 </a:t>
            </a:r>
            <a:r>
              <a:rPr lang="en-US" altLang="zh-CN" sz="14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Start</a:t>
            </a:r>
            <a:r>
              <a:rPr lang="zh-CN" altLang="en-US" sz="14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 </a:t>
            </a:r>
            <a:r>
              <a:rPr lang="en-US" altLang="zh-CN" sz="14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up</a:t>
            </a:r>
            <a:r>
              <a:rPr lang="zh-CN" altLang="en-US" sz="14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 例子</a:t>
            </a:r>
            <a:endParaRPr lang="zh-CN" altLang="en-US" sz="1400" b="1" i="0" dirty="0">
              <a:ln>
                <a:noFill/>
              </a:ln>
              <a:solidFill>
                <a:srgbClr val="0A2540"/>
              </a:solidFill>
              <a:latin typeface="思源黑体 CN"/>
              <a:ea typeface="思源黑体 CN"/>
              <a:cs typeface="思源黑体 CN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克隆仓库　→　pip install -e .　→　跑 tests/test_kvserve.py　→　换掉一个示例量化器，即可看到差异。</a:t>
            </a:r>
          </a:p>
        </p:txBody>
      </p:sp>
      <p:sp>
        <p:nvSpPr>
          <p:cNvPr id="19" name="panel"/>
          <p:cNvSpPr/>
          <p:nvPr/>
        </p:nvSpPr>
        <p:spPr>
          <a:xfrm>
            <a:off x="7251192" y="830000"/>
            <a:ext cx="4498848" cy="5168000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b"/>
          <p:cNvSpPr txBox="1"/>
          <p:nvPr/>
        </p:nvSpPr>
        <p:spPr>
          <a:xfrm>
            <a:off x="7231152" y="961460"/>
            <a:ext cx="4498848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zh-CN" altLang="en-US" sz="1600" b="1" i="0" dirty="0">
                <a:ln>
                  <a:noFill/>
                </a:ln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扫码直达仓库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ln>
                  <a:noFill/>
                </a:ln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Start here · 参与指南</a:t>
            </a:r>
          </a:p>
        </p:txBody>
      </p:sp>
      <p:pic>
        <p:nvPicPr>
          <p:cNvPr id="21" name="q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495" y="1521460"/>
            <a:ext cx="1727969" cy="1727969"/>
          </a:xfrm>
          <a:prstGeom prst="rect">
            <a:avLst/>
          </a:prstGeom>
        </p:spPr>
      </p:pic>
      <p:sp>
        <p:nvSpPr>
          <p:cNvPr id="22" name="tb"/>
          <p:cNvSpPr txBox="1"/>
          <p:nvPr/>
        </p:nvSpPr>
        <p:spPr>
          <a:xfrm>
            <a:off x="7299960" y="5439340"/>
            <a:ext cx="44988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hpdps-group/KVServe </a:t>
            </a:r>
            <a:r>
              <a:rPr lang="zh-CN" altLang="en-US" sz="1400" b="1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· 中科院计算所 刘泽栋 </a:t>
            </a:r>
            <a:endParaRPr lang="en-US" altLang="zh-CN" sz="1400" b="1" i="0" dirty="0">
              <a:ln>
                <a:noFill/>
              </a:ln>
              <a:solidFill>
                <a:srgbClr val="3D4A5C"/>
              </a:solidFill>
              <a:latin typeface="思源黑体 CN"/>
              <a:ea typeface="思源黑体 CN"/>
              <a:cs typeface="思源黑体 C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ln>
                  <a:noFill/>
                </a:ln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欢迎在 GOSIM 现场交流</a:t>
            </a:r>
          </a:p>
        </p:txBody>
      </p:sp>
      <p:pic>
        <p:nvPicPr>
          <p:cNvPr id="3" name="图片 2" descr="QR 代码&#10;&#10;AI 生成的内容可能不正确。">
            <a:extLst>
              <a:ext uri="{FF2B5EF4-FFF2-40B4-BE49-F238E27FC236}">
                <a16:creationId xmlns:a16="http://schemas.microsoft.com/office/drawing/2014/main" id="{2C961B0E-BAC1-8A03-19A1-0489731B33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035" b="4423"/>
          <a:stretch>
            <a:fillRect/>
          </a:stretch>
        </p:blipFill>
        <p:spPr>
          <a:xfrm>
            <a:off x="8532529" y="3390614"/>
            <a:ext cx="2087900" cy="19075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>
          <a:xfrm>
            <a:off x="402336" y="969264"/>
            <a:ext cx="11384280" cy="987552"/>
          </a:xfrm>
        </p:spPr>
        <p:txBody>
          <a:bodyPr anchor="t"/>
          <a:lstStyle/>
          <a:p>
            <a:r>
              <a:rPr lang="zh-CN" altLang="en-US" sz="4000" b="1" dirty="0">
                <a:solidFill>
                  <a:srgbClr val="FFFFFF"/>
                </a:solidFill>
                <a:effectLst>
                  <a:outerShdw blurRad="40000" dist="25400" dir="2700000" algn="tl">
                    <a:srgbClr val="000000">
                      <a:alpha val="5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Thanks!</a:t>
            </a:r>
          </a:p>
          <a:p>
            <a:pPr>
              <a:spcAft>
                <a:spcPts val="0"/>
              </a:spcAft>
            </a:pPr>
            <a:r>
              <a:rPr lang="zh-CN" altLang="en-US" sz="1500" b="1" dirty="0">
                <a:solidFill>
                  <a:srgbClr val="D7E3F4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欢迎在 GOSIM 现场交流　·　github.com/hpdps-group/KVServe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2103120"/>
            <a:ext cx="11384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600" b="1" dirty="0">
                <a:solidFill>
                  <a:srgbClr val="FFFFFF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HPDPS 研究组 · 相关项目</a:t>
            </a:r>
            <a:r>
              <a:rPr lang="zh-CN" altLang="en-US" sz="1150" b="0" dirty="0">
                <a:solidFill>
                  <a:srgbClr val="D7E3F4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　　同一套「压缩」思路在</a:t>
            </a:r>
            <a:r>
              <a:rPr lang="en-US" altLang="zh-CN" sz="1150" b="0" dirty="0">
                <a:solidFill>
                  <a:srgbClr val="D7E3F4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AI</a:t>
            </a:r>
            <a:r>
              <a:rPr lang="zh-CN" altLang="en-US" sz="1150" b="0" dirty="0">
                <a:solidFill>
                  <a:srgbClr val="D7E3F4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训推</a:t>
            </a:r>
            <a:r>
              <a:rPr lang="en-US" altLang="zh-CN" sz="1150" b="0" dirty="0">
                <a:solidFill>
                  <a:srgbClr val="D7E3F4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Infra</a:t>
            </a:r>
            <a:r>
              <a:rPr lang="zh-CN" altLang="en-US" sz="1150" b="0" dirty="0">
                <a:solidFill>
                  <a:srgbClr val="D7E3F4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思源黑体 CN"/>
                <a:ea typeface="思源黑体 CN"/>
                <a:cs typeface="思源黑体 CN"/>
              </a:rPr>
              <a:t>的其他应用：通信 · 张量 · 权重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2615184"/>
            <a:ext cx="11384280" cy="27432"/>
          </a:xfrm>
          <a:prstGeom prst="rect">
            <a:avLst/>
          </a:prstGeom>
          <a:solidFill>
            <a:srgbClr val="FFFFFF">
              <a:alpha val="42000"/>
            </a:srgbClr>
          </a:solidFill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2336" y="2779776"/>
            <a:ext cx="3657600" cy="1572768"/>
          </a:xfrm>
          <a:prstGeom prst="roundRect">
            <a:avLst/>
          </a:prstGeom>
          <a:solidFill>
            <a:srgbClr val="F4F8FE">
              <a:alpha val="94000"/>
            </a:srgbClr>
          </a:solidFill>
        </p:spPr>
        <p:txBody>
          <a:bodyPr wrap="square" lIns="146304" tIns="128016" rIns="146304" bIns="128016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COCCL</a:t>
            </a:r>
            <a:r>
              <a:rPr lang="zh-CN" altLang="en-US" sz="1200" b="1" dirty="0"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　</a:t>
            </a:r>
            <a:r>
              <a:rPr lang="zh-CN" altLang="en-US" sz="1600" b="1" dirty="0"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压缩通信库</a:t>
            </a:r>
          </a:p>
          <a:p>
            <a:pPr>
              <a:spcAft>
                <a:spcPts val="0"/>
              </a:spcAft>
            </a:pPr>
            <a:r>
              <a:rPr lang="zh-CN" altLang="en-US" sz="1150" b="0" dirty="0"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基于 NCCL 的可压缩集合通信库：压缩与精度协同感知，minmaxUint8 下集合通信约 3× 加速，支持各类聚合原语。</a:t>
            </a:r>
          </a:p>
          <a:p>
            <a:pPr>
              <a:spcAft>
                <a:spcPts val="0"/>
              </a:spcAft>
            </a:pPr>
            <a:r>
              <a:rPr lang="zh-CN" altLang="en-US" sz="12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PPoPP </a:t>
            </a:r>
            <a:r>
              <a:rPr lang="en-US" altLang="zh-CN" sz="12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20</a:t>
            </a:r>
            <a:r>
              <a:rPr lang="zh-CN" altLang="en-US" sz="12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26　</a:t>
            </a:r>
            <a:r>
              <a:rPr lang="zh-CN" altLang="en-US" sz="10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·　github.com/hpdps-group/COCCL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5676" y="2779776"/>
            <a:ext cx="3657600" cy="1572768"/>
          </a:xfrm>
          <a:prstGeom prst="roundRect">
            <a:avLst/>
          </a:prstGeom>
          <a:solidFill>
            <a:srgbClr val="F4F8FE">
              <a:alpha val="94000"/>
            </a:srgbClr>
          </a:solidFill>
        </p:spPr>
        <p:txBody>
          <a:bodyPr wrap="square" lIns="146304" tIns="128016" rIns="146304" bIns="128016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TACO</a:t>
            </a:r>
            <a:r>
              <a:rPr lang="zh-CN" altLang="en-US" sz="1200" b="1" dirty="0"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　</a:t>
            </a:r>
            <a:r>
              <a:rPr lang="zh-CN" altLang="en-US" sz="1600" b="1" dirty="0"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张量压缩</a:t>
            </a:r>
            <a:endParaRPr lang="zh-CN" altLang="en-US" sz="1200" b="1" dirty="0">
              <a:solidFill>
                <a:srgbClr val="2E6FD9"/>
              </a:solidFill>
              <a:latin typeface="思源黑体 CN"/>
              <a:ea typeface="思源黑体 CN"/>
              <a:cs typeface="思源黑体 CN"/>
            </a:endParaRPr>
          </a:p>
          <a:p>
            <a:pPr>
              <a:spcAft>
                <a:spcPts val="0"/>
              </a:spcAft>
            </a:pPr>
            <a:r>
              <a:rPr lang="zh-CN" altLang="en-US" sz="1150" b="0" dirty="0"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面向张量并行的中间张量压缩：自适应尺度 Hadamard 变换 + 双尺度量化，与 COCCL 协同，端到端吞吐最高 1.87×，精度近无损。</a:t>
            </a:r>
          </a:p>
          <a:p>
            <a:pPr>
              <a:spcAft>
                <a:spcPts val="0"/>
              </a:spcAft>
            </a:pPr>
            <a:r>
              <a:rPr lang="zh-CN" altLang="en-US" sz="12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HPDC 2026　</a:t>
            </a:r>
            <a:r>
              <a:rPr lang="zh-CN" altLang="en-US" sz="10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·　arXiv:2604.24088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9015" y="2779776"/>
            <a:ext cx="3657600" cy="1572768"/>
          </a:xfrm>
          <a:prstGeom prst="roundRect">
            <a:avLst/>
          </a:prstGeom>
          <a:solidFill>
            <a:srgbClr val="F4F8FE">
              <a:alpha val="94000"/>
            </a:srgbClr>
          </a:solidFill>
        </p:spPr>
        <p:txBody>
          <a:bodyPr wrap="square" lIns="146304" tIns="128016" rIns="146304" bIns="128016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 dirty="0">
                <a:solidFill>
                  <a:srgbClr val="0A2540"/>
                </a:solidFill>
                <a:latin typeface="思源黑体 CN"/>
                <a:ea typeface="思源黑体 CN"/>
                <a:cs typeface="思源黑体 CN"/>
              </a:rPr>
              <a:t>ENEC</a:t>
            </a:r>
            <a:r>
              <a:rPr lang="zh-CN" altLang="en-US" sz="1200" b="1" dirty="0"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　</a:t>
            </a:r>
            <a:r>
              <a:rPr lang="zh-CN" altLang="en-US" sz="1600" b="1" dirty="0">
                <a:solidFill>
                  <a:srgbClr val="2E6FD9"/>
                </a:solidFill>
                <a:latin typeface="思源黑体 CN"/>
                <a:ea typeface="思源黑体 CN"/>
                <a:cs typeface="思源黑体 CN"/>
              </a:rPr>
              <a:t>权重压缩</a:t>
            </a:r>
            <a:endParaRPr lang="zh-CN" altLang="en-US" sz="1200" b="1" dirty="0">
              <a:solidFill>
                <a:srgbClr val="2E6FD9"/>
              </a:solidFill>
              <a:latin typeface="思源黑体 CN"/>
              <a:ea typeface="思源黑体 CN"/>
              <a:cs typeface="思源黑体 CN"/>
            </a:endParaRPr>
          </a:p>
          <a:p>
            <a:pPr>
              <a:spcAft>
                <a:spcPts val="0"/>
              </a:spcAft>
            </a:pPr>
            <a:r>
              <a:rPr lang="zh-CN" altLang="en-US" sz="1150" b="0" dirty="0">
                <a:solidFill>
                  <a:srgbClr val="3D4A5C"/>
                </a:solidFill>
                <a:latin typeface="思源黑体 CN"/>
                <a:ea typeface="思源黑体 CN"/>
                <a:cs typeface="思源黑体 CN"/>
              </a:rPr>
              <a:t>面向昇腾 NPU 的无损模型权重压缩器：提供 NPU kernel 实现，以及压缩率与吞吐的测试工具链。</a:t>
            </a:r>
          </a:p>
          <a:p>
            <a:pPr>
              <a:spcAft>
                <a:spcPts val="0"/>
              </a:spcAft>
            </a:pPr>
            <a:r>
              <a:rPr lang="en-US" altLang="zh-CN" sz="12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ISCA</a:t>
            </a:r>
            <a:r>
              <a:rPr lang="zh-CN" altLang="en-US" sz="12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 </a:t>
            </a:r>
            <a:r>
              <a:rPr lang="en-US" altLang="zh-CN" sz="12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2026</a:t>
            </a:r>
            <a:r>
              <a:rPr lang="zh-CN" altLang="en-US" sz="1200" dirty="0">
                <a:solidFill>
                  <a:srgbClr val="6B7A8D"/>
                </a:solidFill>
                <a:cs typeface="思源黑体 CN"/>
              </a:rPr>
              <a:t>　</a:t>
            </a:r>
            <a:r>
              <a:rPr lang="zh-CN" altLang="en-US" sz="1000" dirty="0">
                <a:solidFill>
                  <a:srgbClr val="6B7A8D"/>
                </a:solidFill>
                <a:cs typeface="思源黑体 CN"/>
              </a:rPr>
              <a:t>·　github.com</a:t>
            </a:r>
            <a:r>
              <a:rPr lang="zh-CN" altLang="en-US" sz="1000" b="0" dirty="0">
                <a:solidFill>
                  <a:srgbClr val="6B7A8D"/>
                </a:solidFill>
                <a:latin typeface="思源黑体 CN"/>
                <a:ea typeface="思源黑体 CN"/>
                <a:cs typeface="思源黑体 CN"/>
              </a:rPr>
              <a:t>/hpdps-group/ENEC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" y="4489704"/>
            <a:ext cx="11384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25400" dir="2700000" algn="tl">
                    <a:srgbClr val="000000">
                      <a:alpha val="7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思源黑体 CN"/>
              </a:rPr>
              <a:t>KVServe · COCCL · TACO · ENEC 均出自 HPDPS 研究组（中国科学院计算技术研究所 · 陶鼎文研究员领导）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FkMzZlZGMwYWUyOWM3ZjMwYWJhNDI1OTFhYzRhM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6.25,&quot;left&quot;:408.75,&quot;top&quot;:127.5,&quot;width&quot;:510}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4861</Words>
  <Application>Microsoft Macintosh PowerPoint</Application>
  <PresentationFormat>宽屏</PresentationFormat>
  <Paragraphs>385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思源黑体 CN</vt:lpstr>
      <vt:lpstr>微软雅黑</vt:lpstr>
      <vt:lpstr>微软雅黑</vt:lpstr>
      <vt:lpstr>Source Han Sans CN Bold</vt:lpstr>
      <vt:lpstr>Arial</vt:lpstr>
      <vt:lpstr>Calibri</vt:lpstr>
      <vt:lpstr>Cambria Math</vt:lpstr>
      <vt:lpstr>Consolas</vt:lpstr>
      <vt:lpstr>Wingdings</vt:lpstr>
      <vt:lpstr>GOSIM-默认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5_Office 主题​​</vt:lpstr>
      <vt:lpstr>PowerPoint 演示文稿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04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旭 张</dc:creator>
  <cp:lastModifiedBy>c89459</cp:lastModifiedBy>
  <cp:revision>80</cp:revision>
  <dcterms:created xsi:type="dcterms:W3CDTF">2026-08-17T10:01:39Z</dcterms:created>
  <dcterms:modified xsi:type="dcterms:W3CDTF">2026-10-17T06:53:52Z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8D28AD5E08B6D7AE20CF826A5EE4915C_43</vt:lpwstr>
  </property>
  <property fmtid="{D5CDD505-2E9C-101B-9397-08002B2CF9AE}" pid="3" name="KSOProductBuildVer">
    <vt:lpwstr>2052-6.10.1.8873</vt:lpwstr>
  </property>
</Properties>
</file>